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23" r:id="rId2"/>
  </p:sldMasterIdLst>
  <p:notesMasterIdLst>
    <p:notesMasterId r:id="rId93"/>
  </p:notesMasterIdLst>
  <p:handoutMasterIdLst>
    <p:handoutMasterId r:id="rId94"/>
  </p:handoutMasterIdLst>
  <p:sldIdLst>
    <p:sldId id="609" r:id="rId3"/>
    <p:sldId id="736" r:id="rId4"/>
    <p:sldId id="749" r:id="rId5"/>
    <p:sldId id="751" r:id="rId6"/>
    <p:sldId id="861" r:id="rId7"/>
    <p:sldId id="783" r:id="rId8"/>
    <p:sldId id="873" r:id="rId9"/>
    <p:sldId id="784" r:id="rId10"/>
    <p:sldId id="884" r:id="rId11"/>
    <p:sldId id="755" r:id="rId12"/>
    <p:sldId id="756" r:id="rId13"/>
    <p:sldId id="757" r:id="rId14"/>
    <p:sldId id="758" r:id="rId15"/>
    <p:sldId id="759" r:id="rId16"/>
    <p:sldId id="829" r:id="rId17"/>
    <p:sldId id="760" r:id="rId18"/>
    <p:sldId id="824" r:id="rId19"/>
    <p:sldId id="761" r:id="rId20"/>
    <p:sldId id="830" r:id="rId21"/>
    <p:sldId id="833" r:id="rId22"/>
    <p:sldId id="849" r:id="rId23"/>
    <p:sldId id="825" r:id="rId24"/>
    <p:sldId id="850" r:id="rId25"/>
    <p:sldId id="762" r:id="rId26"/>
    <p:sldId id="826" r:id="rId27"/>
    <p:sldId id="870" r:id="rId28"/>
    <p:sldId id="827" r:id="rId29"/>
    <p:sldId id="874" r:id="rId30"/>
    <p:sldId id="878" r:id="rId31"/>
    <p:sldId id="879" r:id="rId32"/>
    <p:sldId id="888" r:id="rId33"/>
    <p:sldId id="880" r:id="rId34"/>
    <p:sldId id="890" r:id="rId35"/>
    <p:sldId id="891" r:id="rId36"/>
    <p:sldId id="892" r:id="rId37"/>
    <p:sldId id="881" r:id="rId38"/>
    <p:sldId id="834" r:id="rId39"/>
    <p:sldId id="766" r:id="rId40"/>
    <p:sldId id="767" r:id="rId41"/>
    <p:sldId id="768" r:id="rId42"/>
    <p:sldId id="851" r:id="rId43"/>
    <p:sldId id="835" r:id="rId44"/>
    <p:sldId id="769" r:id="rId45"/>
    <p:sldId id="882" r:id="rId46"/>
    <p:sldId id="770" r:id="rId47"/>
    <p:sldId id="853" r:id="rId48"/>
    <p:sldId id="836" r:id="rId49"/>
    <p:sldId id="771" r:id="rId50"/>
    <p:sldId id="772" r:id="rId51"/>
    <p:sldId id="854" r:id="rId52"/>
    <p:sldId id="742" r:id="rId53"/>
    <p:sldId id="864" r:id="rId54"/>
    <p:sldId id="837" r:id="rId55"/>
    <p:sldId id="838" r:id="rId56"/>
    <p:sldId id="843" r:id="rId57"/>
    <p:sldId id="840" r:id="rId58"/>
    <p:sldId id="845" r:id="rId59"/>
    <p:sldId id="846" r:id="rId60"/>
    <p:sldId id="847" r:id="rId61"/>
    <p:sldId id="841" r:id="rId62"/>
    <p:sldId id="842" r:id="rId63"/>
    <p:sldId id="844" r:id="rId64"/>
    <p:sldId id="808" r:id="rId65"/>
    <p:sldId id="801" r:id="rId66"/>
    <p:sldId id="802" r:id="rId67"/>
    <p:sldId id="889" r:id="rId68"/>
    <p:sldId id="809" r:id="rId69"/>
    <p:sldId id="810" r:id="rId70"/>
    <p:sldId id="863" r:id="rId71"/>
    <p:sldId id="866" r:id="rId72"/>
    <p:sldId id="867" r:id="rId73"/>
    <p:sldId id="893" r:id="rId74"/>
    <p:sldId id="868" r:id="rId75"/>
    <p:sldId id="869" r:id="rId76"/>
    <p:sldId id="885" r:id="rId77"/>
    <p:sldId id="886" r:id="rId78"/>
    <p:sldId id="887" r:id="rId79"/>
    <p:sldId id="811" r:id="rId80"/>
    <p:sldId id="812" r:id="rId81"/>
    <p:sldId id="817" r:id="rId82"/>
    <p:sldId id="818" r:id="rId83"/>
    <p:sldId id="814" r:id="rId84"/>
    <p:sldId id="816" r:id="rId85"/>
    <p:sldId id="819" r:id="rId86"/>
    <p:sldId id="894" r:id="rId87"/>
    <p:sldId id="895" r:id="rId88"/>
    <p:sldId id="859" r:id="rId89"/>
    <p:sldId id="820" r:id="rId90"/>
    <p:sldId id="821" r:id="rId91"/>
    <p:sldId id="822" r:id="rId92"/>
  </p:sldIdLst>
  <p:sldSz cx="12188825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148D4357-E11A-4DE5-81E4-49C6B73B5D81}">
          <p14:sldIdLst>
            <p14:sldId id="609"/>
            <p14:sldId id="736"/>
            <p14:sldId id="749"/>
            <p14:sldId id="751"/>
            <p14:sldId id="861"/>
            <p14:sldId id="783"/>
            <p14:sldId id="873"/>
            <p14:sldId id="784"/>
            <p14:sldId id="884"/>
            <p14:sldId id="755"/>
            <p14:sldId id="756"/>
            <p14:sldId id="757"/>
            <p14:sldId id="758"/>
            <p14:sldId id="759"/>
            <p14:sldId id="829"/>
            <p14:sldId id="760"/>
            <p14:sldId id="824"/>
            <p14:sldId id="761"/>
            <p14:sldId id="830"/>
            <p14:sldId id="833"/>
            <p14:sldId id="849"/>
            <p14:sldId id="825"/>
            <p14:sldId id="850"/>
            <p14:sldId id="762"/>
            <p14:sldId id="826"/>
            <p14:sldId id="870"/>
            <p14:sldId id="827"/>
            <p14:sldId id="874"/>
            <p14:sldId id="878"/>
            <p14:sldId id="879"/>
            <p14:sldId id="888"/>
            <p14:sldId id="880"/>
            <p14:sldId id="890"/>
            <p14:sldId id="891"/>
            <p14:sldId id="892"/>
            <p14:sldId id="881"/>
            <p14:sldId id="834"/>
            <p14:sldId id="766"/>
            <p14:sldId id="767"/>
            <p14:sldId id="768"/>
            <p14:sldId id="851"/>
            <p14:sldId id="835"/>
            <p14:sldId id="769"/>
            <p14:sldId id="882"/>
            <p14:sldId id="770"/>
            <p14:sldId id="853"/>
            <p14:sldId id="836"/>
            <p14:sldId id="771"/>
            <p14:sldId id="772"/>
            <p14:sldId id="854"/>
            <p14:sldId id="742"/>
            <p14:sldId id="864"/>
            <p14:sldId id="837"/>
            <p14:sldId id="838"/>
            <p14:sldId id="843"/>
            <p14:sldId id="840"/>
            <p14:sldId id="845"/>
            <p14:sldId id="846"/>
            <p14:sldId id="847"/>
            <p14:sldId id="841"/>
            <p14:sldId id="842"/>
            <p14:sldId id="844"/>
            <p14:sldId id="808"/>
            <p14:sldId id="801"/>
            <p14:sldId id="802"/>
            <p14:sldId id="889"/>
            <p14:sldId id="809"/>
            <p14:sldId id="810"/>
            <p14:sldId id="863"/>
            <p14:sldId id="866"/>
            <p14:sldId id="867"/>
            <p14:sldId id="893"/>
            <p14:sldId id="868"/>
            <p14:sldId id="869"/>
            <p14:sldId id="885"/>
            <p14:sldId id="886"/>
            <p14:sldId id="887"/>
            <p14:sldId id="811"/>
            <p14:sldId id="812"/>
            <p14:sldId id="817"/>
            <p14:sldId id="818"/>
            <p14:sldId id="814"/>
            <p14:sldId id="816"/>
            <p14:sldId id="819"/>
            <p14:sldId id="894"/>
            <p14:sldId id="895"/>
          </p14:sldIdLst>
        </p14:section>
        <p14:section name="Summary" id="{1888D697-2B49-43A6-BDC2-719250E583B8}">
          <p14:sldIdLst>
            <p14:sldId id="859"/>
            <p14:sldId id="820"/>
            <p14:sldId id="821"/>
            <p14:sldId id="82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5" pos="38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FFF"/>
    <a:srgbClr val="F0F5FA"/>
    <a:srgbClr val="444444"/>
    <a:srgbClr val="FFA72A"/>
    <a:srgbClr val="FFF0D9"/>
    <a:srgbClr val="1A8AFA"/>
    <a:srgbClr val="0097CC"/>
    <a:srgbClr val="603A14"/>
    <a:srgbClr val="E85C0E"/>
    <a:srgbClr val="BAB398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08" autoAdjust="0"/>
    <p:restoredTop sz="92982" autoAdjust="0"/>
  </p:normalViewPr>
  <p:slideViewPr>
    <p:cSldViewPr>
      <p:cViewPr varScale="1">
        <p:scale>
          <a:sx n="103" d="100"/>
          <a:sy n="103" d="100"/>
        </p:scale>
        <p:origin x="816" y="102"/>
      </p:cViewPr>
      <p:guideLst>
        <p:guide orient="horz" pos="2160"/>
        <p:guide pos="3839"/>
      </p:guideLst>
    </p:cSldViewPr>
  </p:slideViewPr>
  <p:outlineViewPr>
    <p:cViewPr>
      <p:scale>
        <a:sx n="33" d="100"/>
        <a:sy n="33" d="100"/>
      </p:scale>
      <p:origin x="0" y="-1028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66" d="100"/>
          <a:sy n="66" d="100"/>
        </p:scale>
        <p:origin x="3134" y="101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76" Type="http://schemas.openxmlformats.org/officeDocument/2006/relationships/slide" Target="slides/slide74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97" Type="http://schemas.openxmlformats.org/officeDocument/2006/relationships/theme" Target="theme/theme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87" Type="http://schemas.openxmlformats.org/officeDocument/2006/relationships/slide" Target="slides/slide85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90" Type="http://schemas.openxmlformats.org/officeDocument/2006/relationships/slide" Target="slides/slide88.xml"/><Relationship Id="rId95" Type="http://schemas.openxmlformats.org/officeDocument/2006/relationships/presProps" Target="presProp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93" Type="http://schemas.openxmlformats.org/officeDocument/2006/relationships/notesMaster" Target="notesMasters/notesMaster1.xml"/><Relationship Id="rId98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/Relationships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hyperlink" Target="http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pPr/>
              <a:t>10/4/2023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47999"/>
            <a:ext cx="6165000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2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3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  <a:endParaRPr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6165000" y="8748000"/>
            <a:ext cx="691412" cy="394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 sz="1000"/>
              <a:pPr/>
              <a:t>‹Nº›</a:t>
            </a:fld>
            <a:endParaRPr sz="1000" dirty="0"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hyperlink" Target="http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00"/>
            </a:lvl1pPr>
          </a:lstStyle>
          <a:p>
            <a:fld id="{F2D8D46A-B586-417D-BFBD-8C8FE0AAF762}" type="datetimeFigureOut">
              <a:rPr lang="en-US" smtClean="0"/>
              <a:pPr/>
              <a:t>10/4/2023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81000" y="4343400"/>
            <a:ext cx="60960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2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3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08999" y="8747999"/>
            <a:ext cx="547413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3EBA5BD7-F043-4D1B-AA17-CD412FC534DE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17780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36195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53975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71755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FA6BEF-0D01-42CD-AF49-6C72D33EA44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1269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Shape 28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Shape 28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27308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40789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Los eventos reciben una instrucción a ejecutar cuando el usuario dispare el detonante. </a:t>
            </a:r>
          </a:p>
          <a:p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58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6957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altLang="es-ES" dirty="0"/>
              <a:t>Pero el caso uso más repetido de las repeticiones es el de mostrar tablas o listas de datos.</a:t>
            </a:r>
          </a:p>
          <a:p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64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02885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es-E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famosa directiva estructural </a:t>
            </a:r>
            <a:r>
              <a:rPr lang="es-ES" sz="16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</a:t>
            </a:r>
            <a:r>
              <a:rPr lang="es-ES" sz="16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ngFor</a:t>
            </a:r>
            <a:r>
              <a:rPr lang="es-ES" sz="16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</a:t>
            </a:r>
            <a:r>
              <a:rPr lang="es-ES" sz="16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</a:t>
            </a:r>
            <a:r>
              <a:rPr lang="es-ES" sz="16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6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operation</a:t>
            </a:r>
            <a:r>
              <a:rPr lang="es-ES" sz="16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6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ES" sz="16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6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operations</a:t>
            </a:r>
            <a:r>
              <a:rPr lang="es-ES" sz="16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es-E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fontAlgn="base"/>
            <a:r>
              <a:rPr lang="es-E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Las interpolaciones con tuberías como </a:t>
            </a:r>
            <a:r>
              <a:rPr lang="es-ES" sz="16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operation.amount</a:t>
            </a:r>
            <a:r>
              <a:rPr lang="es-ES" sz="16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| number:'7.2-2'</a:t>
            </a:r>
            <a:r>
              <a:rPr lang="es-E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fontAlgn="base"/>
            <a:r>
              <a:rPr lang="es-E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subscripción a eventos de</a:t>
            </a:r>
            <a:r>
              <a:rPr lang="es-ES" sz="16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</a:t>
            </a:r>
            <a:r>
              <a:rPr lang="es-ES" sz="16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click</a:t>
            </a:r>
            <a:r>
              <a:rPr lang="es-ES" sz="16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)="</a:t>
            </a:r>
            <a:r>
              <a:rPr lang="es-ES" sz="16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deleteOperation</a:t>
            </a:r>
            <a:r>
              <a:rPr lang="es-ES" sz="16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s-ES" sz="16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operation</a:t>
            </a:r>
            <a:r>
              <a:rPr lang="es-ES" sz="16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)".</a:t>
            </a:r>
          </a:p>
          <a:p>
            <a:br>
              <a:rPr lang="es-ES" dirty="0"/>
            </a:br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65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69941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Todas estas directivas permiten crear interfaces de usuario dinámicas y conducidas por los datos</a:t>
            </a:r>
          </a:p>
          <a:p>
            <a:pPr lvl="1"/>
            <a:r>
              <a:rPr lang="es-ES" dirty="0"/>
              <a:t>Es hora de que veas cómo manejar esos datos. </a:t>
            </a:r>
          </a:p>
          <a:p>
            <a:pPr lvl="2"/>
            <a:r>
              <a:rPr lang="es-ES" dirty="0"/>
              <a:t>En el ejemplo puedes ver que la uso para mostrar la tabla sólo si tiene registros. </a:t>
            </a:r>
          </a:p>
          <a:p>
            <a:pPr lvl="2"/>
            <a:r>
              <a:rPr lang="es-ES" dirty="0"/>
              <a:t>En otro aparecerá el mensaje “No </a:t>
            </a:r>
            <a:r>
              <a:rPr lang="es-ES" dirty="0" err="1"/>
              <a:t>operations</a:t>
            </a:r>
            <a:r>
              <a:rPr lang="es-ES" dirty="0"/>
              <a:t> </a:t>
            </a:r>
            <a:r>
              <a:rPr lang="es-ES" dirty="0" err="1"/>
              <a:t>yet</a:t>
            </a:r>
            <a:r>
              <a:rPr lang="es-ES" dirty="0"/>
              <a:t>”.</a:t>
            </a:r>
          </a:p>
          <a:p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69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9207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es-E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Como te digo, este fichero sólo aporta estructura a los datos. Más adelante te contaré dónde codificar los métodos de manejo de datos.</a:t>
            </a:r>
          </a:p>
          <a:p>
            <a:br>
              <a:rPr lang="es-ES" dirty="0"/>
            </a:br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79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7689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Ya tenemos una aplicación en Angular que recoge y muestra </a:t>
            </a:r>
            <a:r>
              <a:rPr lang="es-ES"/>
              <a:t>datos.</a:t>
            </a:r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84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41221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90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44970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átula limp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06901E58-A1D8-A10A-D9D8-CE1515AF66D5}"/>
              </a:ext>
            </a:extLst>
          </p:cNvPr>
          <p:cNvSpPr/>
          <p:nvPr/>
        </p:nvSpPr>
        <p:spPr>
          <a:xfrm>
            <a:off x="5158485" y="1"/>
            <a:ext cx="7030341" cy="6858000"/>
          </a:xfrm>
          <a:prstGeom prst="rect">
            <a:avLst/>
          </a:prstGeom>
          <a:solidFill>
            <a:srgbClr val="1B1D39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1218834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1799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1927" y="2003899"/>
            <a:ext cx="5759538" cy="2879387"/>
          </a:xfrm>
        </p:spPr>
        <p:txBody>
          <a:bodyPr anchor="ctr" anchorCtr="1">
            <a:noAutofit/>
          </a:bodyPr>
          <a:lstStyle>
            <a:lvl1pPr algn="ctr">
              <a:defRPr sz="3999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pic>
        <p:nvPicPr>
          <p:cNvPr id="8" name="techie.png" descr="techie.png">
            <a:extLst>
              <a:ext uri="{FF2B5EF4-FFF2-40B4-BE49-F238E27FC236}">
                <a16:creationId xmlns:a16="http://schemas.microsoft.com/office/drawing/2014/main" id="{1153B63E-98A5-BBEE-9C6B-1057BEDC76E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8100000">
            <a:off x="4306441" y="2849298"/>
            <a:ext cx="1336200" cy="1336548"/>
          </a:xfrm>
          <a:prstGeom prst="rect">
            <a:avLst/>
          </a:prstGeom>
          <a:ln w="12700">
            <a:miter lim="400000"/>
          </a:ln>
        </p:spPr>
      </p:pic>
      <p:pic>
        <p:nvPicPr>
          <p:cNvPr id="11" name="LOGO-FINAL.png" descr="LOGO-FINAL.png">
            <a:extLst>
              <a:ext uri="{FF2B5EF4-FFF2-40B4-BE49-F238E27FC236}">
                <a16:creationId xmlns:a16="http://schemas.microsoft.com/office/drawing/2014/main" id="{40C008DC-BE4A-D4B5-81FB-D8FC4CA2A7F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7362" y="3037100"/>
            <a:ext cx="3933202" cy="78380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7970030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átula con imagen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06901E58-A1D8-A10A-D9D8-CE1515AF66D5}"/>
              </a:ext>
            </a:extLst>
          </p:cNvPr>
          <p:cNvSpPr/>
          <p:nvPr/>
        </p:nvSpPr>
        <p:spPr>
          <a:xfrm>
            <a:off x="5158485" y="-8466"/>
            <a:ext cx="7030341" cy="6858000"/>
          </a:xfrm>
          <a:prstGeom prst="rect">
            <a:avLst/>
          </a:prstGeom>
          <a:solidFill>
            <a:srgbClr val="1B1D39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l" defTabSz="1218834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1799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1927" y="2003899"/>
            <a:ext cx="5759538" cy="2879387"/>
          </a:xfrm>
        </p:spPr>
        <p:txBody>
          <a:bodyPr anchor="ctr" anchorCtr="1">
            <a:noAutofit/>
          </a:bodyPr>
          <a:lstStyle>
            <a:lvl1pPr algn="ctr">
              <a:defRPr sz="3999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pic>
        <p:nvPicPr>
          <p:cNvPr id="8" name="techie.png" descr="techie.png">
            <a:extLst>
              <a:ext uri="{FF2B5EF4-FFF2-40B4-BE49-F238E27FC236}">
                <a16:creationId xmlns:a16="http://schemas.microsoft.com/office/drawing/2014/main" id="{1153B63E-98A5-BBEE-9C6B-1057BEDC76E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8100000">
            <a:off x="4306441" y="2849298"/>
            <a:ext cx="1336200" cy="1336548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Imagen 4" descr="Dibujo en blanco y negro&#10;&#10;Descripción generada automáticamente con confianza baja">
            <a:extLst>
              <a:ext uri="{FF2B5EF4-FFF2-40B4-BE49-F238E27FC236}">
                <a16:creationId xmlns:a16="http://schemas.microsoft.com/office/drawing/2014/main" id="{64B3FB7A-0102-D659-3C30-C1C4C3659A51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62983" y="5840440"/>
            <a:ext cx="2457425" cy="469081"/>
          </a:xfrm>
          <a:prstGeom prst="rect">
            <a:avLst/>
          </a:prstGeom>
        </p:spPr>
      </p:pic>
      <p:pic>
        <p:nvPicPr>
          <p:cNvPr id="6" name="Imagen 5" descr="Dibujo en blanco y negro&#10;&#10;Descripción generada automáticamente con confianza baja">
            <a:extLst>
              <a:ext uri="{FF2B5EF4-FFF2-40B4-BE49-F238E27FC236}">
                <a16:creationId xmlns:a16="http://schemas.microsoft.com/office/drawing/2014/main" id="{E0D610C9-30BB-C209-BCCA-3BCE95C72D7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62983" y="5840440"/>
            <a:ext cx="2457425" cy="46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9291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parador">
    <p:bg>
      <p:bgPr>
        <a:solidFill>
          <a:srgbClr val="1C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Dibujo en blanco y negro&#10;&#10;Descripción generada automáticamente con confianza baja">
            <a:extLst>
              <a:ext uri="{FF2B5EF4-FFF2-40B4-BE49-F238E27FC236}">
                <a16:creationId xmlns:a16="http://schemas.microsoft.com/office/drawing/2014/main" id="{AE9D3631-5A5C-021D-E659-1D384017DBB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87468" y="6329921"/>
            <a:ext cx="1345323" cy="256799"/>
          </a:xfrm>
          <a:prstGeom prst="rect">
            <a:avLst/>
          </a:prstGeom>
        </p:spPr>
      </p:pic>
      <p:sp>
        <p:nvSpPr>
          <p:cNvPr id="4" name="Google Shape;48;p8">
            <a:extLst>
              <a:ext uri="{FF2B5EF4-FFF2-40B4-BE49-F238E27FC236}">
                <a16:creationId xmlns:a16="http://schemas.microsoft.com/office/drawing/2014/main" id="{3F57A50C-DED0-9A4A-F7C8-CD569FF06F43}"/>
              </a:ext>
            </a:extLst>
          </p:cNvPr>
          <p:cNvSpPr/>
          <p:nvPr/>
        </p:nvSpPr>
        <p:spPr>
          <a:xfrm>
            <a:off x="950719" y="-69"/>
            <a:ext cx="10287322" cy="68580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3599" y="0"/>
                </a:lnTo>
                <a:lnTo>
                  <a:pt x="21600" y="0"/>
                </a:lnTo>
                <a:lnTo>
                  <a:pt x="18001" y="2160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 sz="1799" dirty="0"/>
          </a:p>
        </p:txBody>
      </p:sp>
      <p:pic>
        <p:nvPicPr>
          <p:cNvPr id="5" name="techie.png" descr="techie.png">
            <a:extLst>
              <a:ext uri="{FF2B5EF4-FFF2-40B4-BE49-F238E27FC236}">
                <a16:creationId xmlns:a16="http://schemas.microsoft.com/office/drawing/2014/main" id="{4B8A62A0-CE43-5FE0-5996-117855E8780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07818" y="775699"/>
            <a:ext cx="1180194" cy="118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techie.png" descr="techie.png">
            <a:extLst>
              <a:ext uri="{FF2B5EF4-FFF2-40B4-BE49-F238E27FC236}">
                <a16:creationId xmlns:a16="http://schemas.microsoft.com/office/drawing/2014/main" id="{F34A3DA2-C704-C58B-4D16-8D97BC00AAB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9102611" y="4975166"/>
            <a:ext cx="1180194" cy="1180501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F3F2153-8EA8-5CEA-0F22-9F81F2479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9931" y="1268413"/>
            <a:ext cx="7444903" cy="1349282"/>
          </a:xfrm>
        </p:spPr>
        <p:txBody>
          <a:bodyPr anchor="ctr" anchorCtr="1">
            <a:normAutofit/>
          </a:bodyPr>
          <a:lstStyle>
            <a:lvl1pPr algn="ctr">
              <a:defRPr sz="3299"/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43151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3F21244-DF76-B9A4-1238-3157FB675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2" y="457201"/>
            <a:ext cx="11201400" cy="533400"/>
          </a:xfrm>
          <a:prstGeom prst="rect">
            <a:avLst/>
          </a:prstGeo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86D7AF6-E8C0-B5DD-B9A1-3CA8783711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012" y="1066800"/>
            <a:ext cx="11201400" cy="544830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399">
                <a:solidFill>
                  <a:schemeClr val="accent2">
                    <a:lumMod val="75000"/>
                  </a:schemeClr>
                </a:solidFill>
              </a:defRPr>
            </a:lvl1pPr>
            <a:lvl2pPr>
              <a:buFont typeface="Arial" panose="020B0604020202020204" pitchFamily="34" charset="0"/>
              <a:buChar char="•"/>
              <a:defRPr sz="1999">
                <a:solidFill>
                  <a:schemeClr val="accent2">
                    <a:lumMod val="75000"/>
                  </a:schemeClr>
                </a:solidFill>
              </a:defRPr>
            </a:lvl2pPr>
            <a:lvl3pPr>
              <a:buFont typeface="Arial" panose="020B0604020202020204" pitchFamily="34" charset="0"/>
              <a:buChar char="•"/>
              <a:defRPr sz="1799">
                <a:solidFill>
                  <a:schemeClr val="accent2">
                    <a:lumMod val="75000"/>
                  </a:schemeClr>
                </a:solidFill>
              </a:defRPr>
            </a:lvl3pPr>
            <a:lvl4pPr>
              <a:buFont typeface="Arial" panose="020B0604020202020204" pitchFamily="34" charset="0"/>
              <a:buChar char="•"/>
              <a:defRPr sz="1600">
                <a:solidFill>
                  <a:schemeClr val="accent2">
                    <a:lumMod val="75000"/>
                  </a:schemeClr>
                </a:solidFill>
              </a:defRPr>
            </a:lvl4pPr>
            <a:lvl5pPr>
              <a:buFont typeface="Arial" panose="020B0604020202020204" pitchFamily="34" charset="0"/>
              <a:buChar char="•"/>
              <a:defRPr sz="1400">
                <a:solidFill>
                  <a:schemeClr val="accent2">
                    <a:lumMod val="75000"/>
                  </a:schemeClr>
                </a:solidFill>
              </a:defRPr>
            </a:lvl5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5592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2833" y="4406902"/>
            <a:ext cx="10360501" cy="1362075"/>
          </a:xfrm>
          <a:prstGeom prst="rect">
            <a:avLst/>
          </a:prstGeom>
        </p:spPr>
        <p:txBody>
          <a:bodyPr/>
          <a:lstStyle>
            <a:lvl1pPr algn="l">
              <a:defRPr sz="3999" b="1" cap="all"/>
            </a:lvl1pPr>
          </a:lstStyle>
          <a:p>
            <a:r>
              <a:rPr lang="es-ES" dirty="0"/>
              <a:t>Haga clic para modificar el estilo de título del patrón</a:t>
            </a:r>
            <a:endParaRPr lang="es-MX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2833" y="2906713"/>
            <a:ext cx="10360501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999"/>
            </a:lvl1pPr>
            <a:lvl2pPr marL="457063" indent="0">
              <a:buNone/>
              <a:defRPr sz="1799"/>
            </a:lvl2pPr>
            <a:lvl3pPr marL="914126" indent="0">
              <a:buNone/>
              <a:defRPr sz="1600"/>
            </a:lvl3pPr>
            <a:lvl4pPr marL="1371189" indent="0">
              <a:buNone/>
              <a:defRPr sz="1400"/>
            </a:lvl4pPr>
            <a:lvl5pPr marL="1828251" indent="0">
              <a:buNone/>
              <a:defRPr sz="1400"/>
            </a:lvl5pPr>
            <a:lvl6pPr marL="2285314" indent="0">
              <a:buNone/>
              <a:defRPr sz="1400"/>
            </a:lvl6pPr>
            <a:lvl7pPr marL="2742377" indent="0">
              <a:buNone/>
              <a:defRPr sz="1400"/>
            </a:lvl7pPr>
            <a:lvl8pPr marL="3199440" indent="0">
              <a:buNone/>
              <a:defRPr sz="1400"/>
            </a:lvl8pPr>
            <a:lvl9pPr marL="3656503" indent="0">
              <a:buNone/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4085868159"/>
      </p:ext>
    </p:extLst>
  </p:cSld>
  <p:clrMapOvr>
    <a:masterClrMapping/>
  </p:clrMapOvr>
  <p:transition spd="med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>
            <a:extLst>
              <a:ext uri="{FF2B5EF4-FFF2-40B4-BE49-F238E27FC236}">
                <a16:creationId xmlns:a16="http://schemas.microsoft.com/office/drawing/2014/main" id="{25682E51-C6CE-76F7-769C-C200EAF00254}"/>
              </a:ext>
            </a:extLst>
          </p:cNvPr>
          <p:cNvSpPr/>
          <p:nvPr userDrawn="1"/>
        </p:nvSpPr>
        <p:spPr>
          <a:xfrm>
            <a:off x="-1" y="0"/>
            <a:ext cx="12188825" cy="6858000"/>
          </a:xfrm>
          <a:custGeom>
            <a:avLst/>
            <a:gdLst/>
            <a:ahLst/>
            <a:cxnLst/>
            <a:rect l="l" t="t" r="r" b="b"/>
            <a:pathLst>
              <a:path w="13004800" h="9753600">
                <a:moveTo>
                  <a:pt x="0" y="0"/>
                </a:moveTo>
                <a:lnTo>
                  <a:pt x="13004800" y="0"/>
                </a:lnTo>
                <a:lnTo>
                  <a:pt x="13004800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</p:spTree>
    <p:extLst>
      <p:ext uri="{BB962C8B-B14F-4D97-AF65-F5344CB8AC3E}">
        <p14:creationId xmlns:p14="http://schemas.microsoft.com/office/powerpoint/2010/main" val="2283732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 -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543006" y="2084187"/>
            <a:ext cx="5551407" cy="1793090"/>
          </a:xfrm>
          <a:noFill/>
        </p:spPr>
        <p:txBody>
          <a:bodyPr lIns="146304" tIns="91440" rIns="146304" bIns="91440" anchor="t" anchorCtr="0"/>
          <a:lstStyle>
            <a:lvl1pPr>
              <a:defRPr lang="en-US" dirty="0">
                <a:solidFill>
                  <a:schemeClr val="bg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43006" y="3878574"/>
            <a:ext cx="5551408" cy="1792326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lang="en-US" dirty="0">
                <a:solidFill>
                  <a:schemeClr val="bg1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22126546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1813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idx="1" hasCustomPrompt="1"/>
          </p:nvPr>
        </p:nvSpPr>
        <p:spPr>
          <a:xfrm>
            <a:off x="190413" y="1151121"/>
            <a:ext cx="11804822" cy="5570355"/>
          </a:xfrm>
        </p:spPr>
        <p:txBody>
          <a:bodyPr/>
          <a:lstStyle>
            <a:lvl1pPr>
              <a:defRPr sz="3400">
                <a:solidFill>
                  <a:srgbClr val="444444"/>
                </a:solidFill>
              </a:defRPr>
            </a:lvl1pPr>
            <a:lvl2pPr>
              <a:defRPr sz="3200">
                <a:solidFill>
                  <a:srgbClr val="444444"/>
                </a:solidFill>
              </a:defRPr>
            </a:lvl2pPr>
            <a:lvl3pPr>
              <a:defRPr sz="3000">
                <a:solidFill>
                  <a:srgbClr val="444444"/>
                </a:solidFill>
              </a:defRPr>
            </a:lvl3pPr>
            <a:lvl4pPr>
              <a:defRPr sz="2800">
                <a:solidFill>
                  <a:srgbClr val="444444"/>
                </a:solidFill>
              </a:defRPr>
            </a:lvl4pPr>
            <a:lvl5pPr>
              <a:defRPr sz="2600">
                <a:solidFill>
                  <a:srgbClr val="444444"/>
                </a:solidFill>
              </a:defRPr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Level`</a:t>
            </a:r>
            <a:endParaRPr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88815" y="40341"/>
            <a:ext cx="11804822" cy="1110780"/>
          </a:xfrm>
        </p:spPr>
        <p:txBody>
          <a:bodyPr/>
          <a:lstStyle>
            <a:lvl1pPr>
              <a:defRPr>
                <a:solidFill>
                  <a:srgbClr val="444444"/>
                </a:solidFill>
                <a:effectLst/>
              </a:defRPr>
            </a:lvl1pPr>
          </a:lstStyle>
          <a:p>
            <a:r>
              <a:rPr lang="en-US" dirty="0"/>
              <a:t>Slide Title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49806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674E8B-8D72-4460-AA08-577B92352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444444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956569891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4619" y="1268412"/>
            <a:ext cx="11299332" cy="48609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pic>
        <p:nvPicPr>
          <p:cNvPr id="9" name="LOGO-FINAL.png" descr="LOGO-FINAL.png">
            <a:extLst>
              <a:ext uri="{FF2B5EF4-FFF2-40B4-BE49-F238E27FC236}">
                <a16:creationId xmlns:a16="http://schemas.microsoft.com/office/drawing/2014/main" id="{FD1127DC-3633-9F91-EAC6-DF84F02D8D8F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66564" y="6323743"/>
            <a:ext cx="1391279" cy="277252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techie.png" descr="techie.png">
            <a:extLst>
              <a:ext uri="{FF2B5EF4-FFF2-40B4-BE49-F238E27FC236}">
                <a16:creationId xmlns:a16="http://schemas.microsoft.com/office/drawing/2014/main" id="{E9C3B265-6261-C31F-6626-0F2960C3D376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5670" y="206462"/>
            <a:ext cx="437900" cy="438014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4619" y="381000"/>
            <a:ext cx="11298538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5639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</p:sldLayoutIdLst>
  <p:hf hdr="0" ftr="0" dt="0"/>
  <p:txStyles>
    <p:titleStyle>
      <a:lvl1pPr algn="l" defTabSz="914126" rtl="0" eaLnBrk="1" latinLnBrk="0" hangingPunct="1">
        <a:lnSpc>
          <a:spcPct val="90000"/>
        </a:lnSpc>
        <a:spcBef>
          <a:spcPct val="0"/>
        </a:spcBef>
        <a:buNone/>
        <a:defRPr sz="34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0" hangingPunct="1">
        <a:lnSpc>
          <a:spcPct val="90000"/>
        </a:lnSpc>
        <a:spcBef>
          <a:spcPts val="1000"/>
        </a:spcBef>
        <a:buClr>
          <a:srgbClr val="F5C200"/>
        </a:buClr>
        <a:buFont typeface="Arial" panose="020B0604020202020204" pitchFamily="34" charset="0"/>
        <a:buChar char="•"/>
        <a:defRPr sz="2799" kern="1200">
          <a:solidFill>
            <a:srgbClr val="1C1E3B"/>
          </a:solidFill>
          <a:latin typeface="+mn-lt"/>
          <a:ea typeface="+mn-ea"/>
          <a:cs typeface="+mn-cs"/>
        </a:defRPr>
      </a:lvl1pPr>
      <a:lvl2pPr marL="685594" indent="-228531" algn="l" defTabSz="914126" rtl="0" eaLnBrk="1" latinLnBrk="0" hangingPunct="1">
        <a:lnSpc>
          <a:spcPct val="90000"/>
        </a:lnSpc>
        <a:spcBef>
          <a:spcPts val="500"/>
        </a:spcBef>
        <a:buClr>
          <a:srgbClr val="F5C200"/>
        </a:buClr>
        <a:buFont typeface="Arial" panose="020B0604020202020204" pitchFamily="34" charset="0"/>
        <a:buChar char="•"/>
        <a:defRPr sz="2399" kern="1200">
          <a:solidFill>
            <a:srgbClr val="1C1E3B"/>
          </a:solidFill>
          <a:latin typeface="Lexend Light" pitchFamily="2" charset="0"/>
          <a:ea typeface="+mn-ea"/>
          <a:cs typeface="+mn-cs"/>
        </a:defRPr>
      </a:lvl2pPr>
      <a:lvl3pPr marL="1142657" indent="-228531" algn="l" defTabSz="914126" rtl="0" eaLnBrk="1" latinLnBrk="0" hangingPunct="1">
        <a:lnSpc>
          <a:spcPct val="90000"/>
        </a:lnSpc>
        <a:spcBef>
          <a:spcPts val="500"/>
        </a:spcBef>
        <a:buClr>
          <a:srgbClr val="F5C200"/>
        </a:buClr>
        <a:buFont typeface="Arial" panose="020B0604020202020204" pitchFamily="34" charset="0"/>
        <a:buChar char="•"/>
        <a:defRPr sz="1999" kern="1200">
          <a:solidFill>
            <a:srgbClr val="1C1E3B"/>
          </a:solidFill>
          <a:latin typeface="Lexend Light" pitchFamily="2" charset="0"/>
          <a:ea typeface="+mn-ea"/>
          <a:cs typeface="+mn-cs"/>
        </a:defRPr>
      </a:lvl3pPr>
      <a:lvl4pPr marL="1599720" indent="-228531" algn="l" defTabSz="914126" rtl="0" eaLnBrk="1" latinLnBrk="0" hangingPunct="1">
        <a:lnSpc>
          <a:spcPct val="90000"/>
        </a:lnSpc>
        <a:spcBef>
          <a:spcPts val="500"/>
        </a:spcBef>
        <a:buClr>
          <a:srgbClr val="F5C200"/>
        </a:buClr>
        <a:buFont typeface="Arial" panose="020B0604020202020204" pitchFamily="34" charset="0"/>
        <a:buChar char="•"/>
        <a:defRPr sz="1799" kern="1200">
          <a:solidFill>
            <a:srgbClr val="1C1E3B"/>
          </a:solidFill>
          <a:latin typeface="Lexend Light" pitchFamily="2" charset="0"/>
          <a:ea typeface="+mn-ea"/>
          <a:cs typeface="+mn-cs"/>
        </a:defRPr>
      </a:lvl4pPr>
      <a:lvl5pPr marL="2056783" indent="-228531" algn="l" defTabSz="914126" rtl="0" eaLnBrk="1" latinLnBrk="0" hangingPunct="1">
        <a:lnSpc>
          <a:spcPct val="90000"/>
        </a:lnSpc>
        <a:spcBef>
          <a:spcPts val="500"/>
        </a:spcBef>
        <a:buClr>
          <a:srgbClr val="F5C200"/>
        </a:buClr>
        <a:buFont typeface="Arial" panose="020B0604020202020204" pitchFamily="34" charset="0"/>
        <a:buChar char="•"/>
        <a:defRPr sz="1799" kern="1200">
          <a:solidFill>
            <a:srgbClr val="1C1E3B"/>
          </a:solidFill>
          <a:latin typeface="Lexend Light" pitchFamily="2" charset="0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45">
          <p15:clr>
            <a:srgbClr val="F26B43"/>
          </p15:clr>
        </p15:guide>
        <p15:guide id="2" pos="423">
          <p15:clr>
            <a:srgbClr val="F26B43"/>
          </p15:clr>
        </p15:guide>
        <p15:guide id="3" pos="14938">
          <p15:clr>
            <a:srgbClr val="F26B43"/>
          </p15:clr>
        </p15:guide>
        <p15:guide id="4" orient="horz" pos="1598">
          <p15:clr>
            <a:srgbClr val="F26B43"/>
          </p15:clr>
        </p15:guide>
        <p15:guide id="5" orient="horz" pos="794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hyperlink" Target="https://angular.io/api/common/NgIf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1927" y="2003899"/>
            <a:ext cx="5759538" cy="2879387"/>
          </a:xfrm>
        </p:spPr>
        <p:txBody>
          <a:bodyPr>
            <a:normAutofit/>
          </a:bodyPr>
          <a:lstStyle/>
          <a:p>
            <a:r>
              <a:rPr lang="en-US"/>
              <a:t>Angular</a:t>
            </a:r>
            <a:br>
              <a:rPr lang="en-US" dirty="0"/>
            </a:br>
            <a:r>
              <a:rPr lang="es-ES" dirty="0" err="1"/>
              <a:t>Templates</a:t>
            </a:r>
            <a:r>
              <a:rPr lang="es-ES" dirty="0"/>
              <a:t> and </a:t>
            </a:r>
            <a:r>
              <a:rPr lang="es-ES" dirty="0" err="1"/>
              <a:t>Forms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0845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724AEE84-7BD4-48C3-9536-8DDFCADA4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 err="1"/>
              <a:t>Intro</a:t>
            </a:r>
            <a:endParaRPr lang="es-ES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7A4B2511-A2C5-4EB2-9B17-747423D52D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s-ES" altLang="es-ES" sz="2800" dirty="0">
                <a:solidFill>
                  <a:srgbClr val="444444"/>
                </a:solidFill>
                <a:latin typeface="Open Sans"/>
              </a:rPr>
              <a:t>Las </a:t>
            </a:r>
            <a:r>
              <a:rPr lang="es-ES" altLang="es-ES" sz="2800" b="1" dirty="0">
                <a:solidFill>
                  <a:srgbClr val="444444"/>
                </a:solidFill>
                <a:latin typeface="inherit"/>
              </a:rPr>
              <a:t>aplicaciones Angular son excelentes para el tratamiento de datos</a:t>
            </a:r>
            <a:r>
              <a:rPr lang="es-ES" altLang="es-ES" sz="2800" dirty="0">
                <a:solidFill>
                  <a:srgbClr val="444444"/>
                </a:solidFill>
                <a:latin typeface="Open Sans"/>
              </a:rPr>
              <a:t> en el navegador. La recogida de información mediante formularios y la presentación de páginas dinámicas fue su razón de ser.</a:t>
            </a:r>
            <a:endParaRPr lang="es-ES" altLang="es-ES" sz="800" dirty="0"/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s-ES" altLang="es-ES" sz="2800" dirty="0">
                <a:solidFill>
                  <a:srgbClr val="444444"/>
                </a:solidFill>
                <a:latin typeface="Open Sans"/>
              </a:rPr>
              <a:t>Vamos a ver cómo la librería </a:t>
            </a:r>
            <a:r>
              <a:rPr lang="es-ES" altLang="es-ES" sz="2800" dirty="0">
                <a:solidFill>
                  <a:srgbClr val="428AC7"/>
                </a:solidFill>
                <a:latin typeface="Source Code Pro"/>
              </a:rPr>
              <a:t>@angular/</a:t>
            </a:r>
            <a:r>
              <a:rPr lang="es-ES" altLang="es-ES" sz="2800" dirty="0" err="1">
                <a:solidFill>
                  <a:srgbClr val="428AC7"/>
                </a:solidFill>
                <a:latin typeface="Source Code Pro"/>
              </a:rPr>
              <a:t>forms</a:t>
            </a:r>
            <a:r>
              <a:rPr lang="es-ES" altLang="es-ES" sz="2800" dirty="0">
                <a:solidFill>
                  <a:srgbClr val="444444"/>
                </a:solidFill>
                <a:latin typeface="Open Sans"/>
              </a:rPr>
              <a:t> enlaza </a:t>
            </a:r>
            <a:r>
              <a:rPr lang="es-ES" altLang="es-ES" sz="2800" b="1" dirty="0">
                <a:solidFill>
                  <a:srgbClr val="444444"/>
                </a:solidFill>
                <a:latin typeface="inherit"/>
              </a:rPr>
              <a:t>las vistas, los controladores y los modelos</a:t>
            </a:r>
            <a:r>
              <a:rPr lang="es-ES" altLang="es-ES" sz="2800" dirty="0">
                <a:solidFill>
                  <a:srgbClr val="444444"/>
                </a:solidFill>
                <a:latin typeface="Open Sans"/>
              </a:rPr>
              <a:t> y cómo se hace la presentación de datos en </a:t>
            </a:r>
            <a:r>
              <a:rPr lang="es-ES" altLang="es-ES" sz="2800" b="1" dirty="0">
                <a:solidFill>
                  <a:srgbClr val="444444"/>
                </a:solidFill>
                <a:latin typeface="inherit"/>
              </a:rPr>
              <a:t>listas y tablas</a:t>
            </a:r>
            <a:r>
              <a:rPr lang="es-ES" altLang="es-ES" sz="2800" dirty="0">
                <a:solidFill>
                  <a:srgbClr val="444444"/>
                </a:solidFill>
                <a:latin typeface="Open Sans"/>
              </a:rPr>
              <a:t>.</a:t>
            </a:r>
            <a:endParaRPr lang="es-ES" altLang="es-ES" sz="800" dirty="0"/>
          </a:p>
          <a:p>
            <a:pPr marL="0" indent="0">
              <a:buNone/>
            </a:pPr>
            <a:endParaRPr lang="es-ES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E5E510F-0850-4FB4-9D70-3F5E0B1EC8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438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9215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464BDDC6-1FAD-4039-9BA9-46D3BA601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altLang="es-ES" sz="4400" dirty="0">
                <a:latin typeface="inherit"/>
              </a:rPr>
              <a:t>Estilos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C1F7363-FD28-4DBC-A673-DE10D82C8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Editamos el fichero </a:t>
            </a:r>
            <a:r>
              <a:rPr lang="es-ES" b="1" dirty="0" err="1"/>
              <a:t>nav.component.ts</a:t>
            </a:r>
            <a:r>
              <a:rPr lang="es-ES" dirty="0"/>
              <a:t>: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0240E0C-89C7-4887-8140-117D38105DD7}"/>
              </a:ext>
            </a:extLst>
          </p:cNvPr>
          <p:cNvSpPr/>
          <p:nvPr/>
        </p:nvSpPr>
        <p:spPr>
          <a:xfrm>
            <a:off x="10216035" y="180232"/>
            <a:ext cx="182197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LAB1a </a:t>
            </a:r>
            <a:endParaRPr lang="es-ES" sz="4800" dirty="0">
              <a:solidFill>
                <a:srgbClr val="FF0000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31CA41E-C625-4081-A833-4EC259AE0609}"/>
              </a:ext>
            </a:extLst>
          </p:cNvPr>
          <p:cNvSpPr/>
          <p:nvPr/>
        </p:nvSpPr>
        <p:spPr>
          <a:xfrm>
            <a:off x="10366848" y="874318"/>
            <a:ext cx="16374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/>
              <a:t>C:\Labs\T4\EX1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8C3838B-89EA-4867-8C7C-4D118786C0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1412" y="2345591"/>
            <a:ext cx="9599611" cy="378565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…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 &lt;nav&gt;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      &lt;ul class="</a:t>
            </a:r>
            <a:r>
              <a:rPr lang="en-US" sz="16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row</a:t>
            </a:r>
            <a:r>
              <a:rPr lang="en-US" sz="1600" b="1" noProof="1">
                <a:latin typeface="Consolas" pitchFamily="49" charset="0"/>
                <a:cs typeface="Consolas" pitchFamily="49" charset="0"/>
              </a:rPr>
              <a:t>"&gt;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        &lt;li class="</a:t>
            </a:r>
            <a:r>
              <a:rPr lang="en-US" sz="16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button button-outline</a:t>
            </a:r>
            <a:r>
              <a:rPr lang="en-US" sz="1600" b="1" noProof="1">
                <a:latin typeface="Consolas" pitchFamily="49" charset="0"/>
                <a:cs typeface="Consolas" pitchFamily="49" charset="0"/>
              </a:rPr>
              <a:t>"&gt;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          &lt;cf-title&gt;&lt;/cf-title&gt;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        &lt;/li&gt;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        &lt;li class="</a:t>
            </a:r>
            <a:r>
              <a:rPr lang="en-US" sz="16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button button-outline</a:t>
            </a:r>
            <a:r>
              <a:rPr lang="en-US" sz="1600" b="1" noProof="1">
                <a:latin typeface="Consolas" pitchFamily="49" charset="0"/>
                <a:cs typeface="Consolas" pitchFamily="49" charset="0"/>
              </a:rPr>
              <a:t>"&gt;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          &lt;a routerLink="/operations"&gt;Operations&lt;/a&gt;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        &lt;/li&gt;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        &lt;li class="</a:t>
            </a:r>
            <a:r>
              <a:rPr lang="en-US" sz="16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button button-outline</a:t>
            </a:r>
            <a:r>
              <a:rPr lang="en-US" sz="1600" b="1" noProof="1">
                <a:latin typeface="Consolas" pitchFamily="49" charset="0"/>
                <a:cs typeface="Consolas" pitchFamily="49" charset="0"/>
              </a:rPr>
              <a:t>"&gt;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          &lt;a routerLink="/about"&gt;About Us&lt;/a&gt;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        &lt;/li&gt;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      &lt;/ul&gt;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 &lt;/nav&gt;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697570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464BDDC6-1FAD-4039-9BA9-46D3BA601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altLang="es-ES" sz="4400" dirty="0">
                <a:latin typeface="inherit"/>
              </a:rPr>
              <a:t>Estilos – El malo y el feo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C1F7363-FD28-4DBC-A673-DE10D82C8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Editamos el fichero </a:t>
            </a:r>
            <a:r>
              <a:rPr lang="es-ES" b="1" dirty="0" err="1"/>
              <a:t>footer.component.ts</a:t>
            </a:r>
            <a:r>
              <a:rPr lang="es-ES" dirty="0"/>
              <a:t>: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0240E0C-89C7-4887-8140-117D38105DD7}"/>
              </a:ext>
            </a:extLst>
          </p:cNvPr>
          <p:cNvSpPr/>
          <p:nvPr/>
        </p:nvSpPr>
        <p:spPr>
          <a:xfrm>
            <a:off x="10216035" y="180232"/>
            <a:ext cx="182197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LAB1b </a:t>
            </a:r>
            <a:endParaRPr lang="es-ES" sz="4800" dirty="0">
              <a:solidFill>
                <a:srgbClr val="FF0000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31CA41E-C625-4081-A833-4EC259AE0609}"/>
              </a:ext>
            </a:extLst>
          </p:cNvPr>
          <p:cNvSpPr/>
          <p:nvPr/>
        </p:nvSpPr>
        <p:spPr>
          <a:xfrm>
            <a:off x="10366848" y="874318"/>
            <a:ext cx="16374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/>
              <a:t>C:\Labs\T4\EX1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8C3838B-89EA-4867-8C7C-4D118786C0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1412" y="2345591"/>
            <a:ext cx="9599611" cy="3293209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…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 template: `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 &lt;footer&gt;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      &lt;a href="https://.../"&gt;Tutorial&lt;/a&gt; by &lt;a href="https://..."&gt;…&lt;/a&gt;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 &lt;/footer&gt;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 `,  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  styles: [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    `    </a:t>
            </a:r>
            <a:r>
              <a:rPr lang="en-US" sz="16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footer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      		border-top: .1rem solid;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      		text-align: center;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    	}  </a:t>
            </a:r>
            <a:r>
              <a:rPr lang="en-US" sz="1600" b="1" noProof="1">
                <a:latin typeface="Consolas" pitchFamily="49" charset="0"/>
                <a:cs typeface="Consolas" pitchFamily="49" charset="0"/>
              </a:rPr>
              <a:t>`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  ]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262945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Formularios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8550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5434A9-5110-48CA-856D-8AEDBAD3B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Formularios</a:t>
            </a: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D0FE447C-05CD-4359-B533-F0CF7222B5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s-ES" b="1" dirty="0">
                <a:solidFill>
                  <a:srgbClr val="444444"/>
                </a:solidFill>
                <a:latin typeface="inherit"/>
              </a:rPr>
              <a:t>Los formularios son el punto de entrada</a:t>
            </a:r>
            <a:r>
              <a:rPr lang="es-ES" dirty="0">
                <a:solidFill>
                  <a:srgbClr val="444444"/>
                </a:solidFill>
                <a:latin typeface="Open Sans"/>
              </a:rPr>
              <a:t> de información a nuestros sistemas. Llevan con nosotros desde el inicio de la propia informática y se han comido una buena parte del tiempo de programación. </a:t>
            </a:r>
          </a:p>
          <a:p>
            <a:pPr fontAlgn="base"/>
            <a:r>
              <a:rPr lang="es-ES" dirty="0">
                <a:solidFill>
                  <a:srgbClr val="444444"/>
                </a:solidFill>
                <a:latin typeface="Open Sans"/>
              </a:rPr>
              <a:t>En </a:t>
            </a:r>
            <a:r>
              <a:rPr lang="es-ES" i="1" dirty="0">
                <a:solidFill>
                  <a:srgbClr val="444444"/>
                </a:solidFill>
                <a:latin typeface="inherit"/>
              </a:rPr>
              <a:t>Angular</a:t>
            </a:r>
            <a:r>
              <a:rPr lang="es-ES" dirty="0">
                <a:solidFill>
                  <a:srgbClr val="444444"/>
                </a:solidFill>
                <a:latin typeface="Open Sans"/>
              </a:rPr>
              <a:t> han prestado una atención a ellos facilitando su desarrollo, </a:t>
            </a:r>
            <a:r>
              <a:rPr lang="es-ES" b="1" dirty="0">
                <a:solidFill>
                  <a:srgbClr val="444444"/>
                </a:solidFill>
                <a:latin typeface="inherit"/>
              </a:rPr>
              <a:t>desde pantallas simples a complejos procesos</a:t>
            </a:r>
            <a:r>
              <a:rPr lang="es-ES" dirty="0">
                <a:solidFill>
                  <a:srgbClr val="444444"/>
                </a:solidFill>
                <a:latin typeface="Open Sans"/>
              </a:rPr>
              <a:t>.</a:t>
            </a:r>
          </a:p>
          <a:p>
            <a:pPr fontAlgn="base"/>
            <a:r>
              <a:rPr lang="es-ES" dirty="0">
                <a:latin typeface="Open Sans"/>
              </a:rPr>
              <a:t>En </a:t>
            </a:r>
            <a:r>
              <a:rPr lang="es-ES" i="1" dirty="0">
                <a:latin typeface="inherit"/>
              </a:rPr>
              <a:t>Angular</a:t>
            </a:r>
            <a:r>
              <a:rPr lang="es-ES" dirty="0">
                <a:latin typeface="Open Sans"/>
              </a:rPr>
              <a:t> tenemos </a:t>
            </a:r>
            <a:r>
              <a:rPr lang="es-ES" b="1" dirty="0" err="1">
                <a:latin typeface="Open Sans"/>
              </a:rPr>
              <a:t>FormsModule</a:t>
            </a:r>
            <a:r>
              <a:rPr lang="es-ES" dirty="0">
                <a:latin typeface="Open Sans"/>
              </a:rPr>
              <a:t> dedicado todo lo requerido para realizar formularios complejos.</a:t>
            </a:r>
            <a:endParaRPr lang="es-ES" dirty="0">
              <a:solidFill>
                <a:srgbClr val="444444"/>
              </a:solidFill>
              <a:latin typeface="Open Sans"/>
            </a:endParaRPr>
          </a:p>
          <a:p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47562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Shape 292"/>
          <p:cNvSpPr txBox="1"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" dirty="0"/>
              <a:t>Creando </a:t>
            </a:r>
            <a:r>
              <a:rPr lang="es-ES" dirty="0"/>
              <a:t>f</a:t>
            </a:r>
            <a:r>
              <a:rPr lang="es" dirty="0"/>
              <a:t>ormularios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7ABC64-20C0-4C2E-A741-E5C46A39A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s" dirty="0"/>
              <a:t>Angular provee dos tipos de formularios:</a:t>
            </a:r>
          </a:p>
          <a:p>
            <a:pPr marL="609448" indent="-457086">
              <a:spcAft>
                <a:spcPts val="1333"/>
              </a:spcAft>
              <a:buSzPct val="100000"/>
              <a:buChar char="●"/>
            </a:pPr>
            <a:r>
              <a:rPr lang="es" b="1" i="1" dirty="0"/>
              <a:t>Templated-based Forms</a:t>
            </a:r>
            <a:r>
              <a:rPr lang="es" dirty="0"/>
              <a:t>: se basa en directivas, eventos, y </a:t>
            </a:r>
            <a:r>
              <a:rPr lang="es" i="1" dirty="0"/>
              <a:t>binding bidireccional</a:t>
            </a:r>
            <a:r>
              <a:rPr lang="es" dirty="0"/>
              <a:t> para hacer seguimiento sobre los valores y validez de los datos ingresados en los formularios… se basa en la sintaxis de templates, y es similar a cómo lo haríamos en HTML/JS normal.</a:t>
            </a:r>
          </a:p>
          <a:p>
            <a:pPr marL="609448" indent="-457086">
              <a:spcAft>
                <a:spcPts val="1333"/>
              </a:spcAft>
              <a:buSzPct val="100000"/>
              <a:buChar char="●"/>
            </a:pPr>
            <a:r>
              <a:rPr lang="es" b="1" i="1" dirty="0"/>
              <a:t>Reactive Forms</a:t>
            </a:r>
            <a:r>
              <a:rPr lang="es" dirty="0"/>
              <a:t>: se trata de construir programáticamente, usando el API de formularios reactivos. Permite centralizar los campos, validaciones y detalles en una sola entidad de código.</a:t>
            </a:r>
          </a:p>
        </p:txBody>
      </p:sp>
    </p:spTree>
    <p:extLst>
      <p:ext uri="{BB962C8B-B14F-4D97-AF65-F5344CB8AC3E}">
        <p14:creationId xmlns:p14="http://schemas.microsoft.com/office/powerpoint/2010/main" val="42630980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464BDDC6-1FAD-4039-9BA9-46D3BA601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Formularios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C1F7363-FD28-4DBC-A673-DE10D82C8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En el fichero </a:t>
            </a:r>
            <a:r>
              <a:rPr lang="es-ES" b="1" dirty="0" err="1"/>
              <a:t>operations.module.ts</a:t>
            </a:r>
            <a:r>
              <a:rPr lang="es-ES" b="1" dirty="0"/>
              <a:t> </a:t>
            </a:r>
            <a:r>
              <a:rPr lang="es-ES" dirty="0"/>
              <a:t>: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0240E0C-89C7-4887-8140-117D38105DD7}"/>
              </a:ext>
            </a:extLst>
          </p:cNvPr>
          <p:cNvSpPr/>
          <p:nvPr/>
        </p:nvSpPr>
        <p:spPr>
          <a:xfrm>
            <a:off x="10216035" y="180232"/>
            <a:ext cx="182197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LAB1c </a:t>
            </a:r>
            <a:endParaRPr lang="es-ES" sz="4800" dirty="0">
              <a:solidFill>
                <a:srgbClr val="FF0000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31CA41E-C625-4081-A833-4EC259AE0609}"/>
              </a:ext>
            </a:extLst>
          </p:cNvPr>
          <p:cNvSpPr/>
          <p:nvPr/>
        </p:nvSpPr>
        <p:spPr>
          <a:xfrm>
            <a:off x="10366848" y="874318"/>
            <a:ext cx="16374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/>
              <a:t>C:\Labs\T4\EX1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8C3838B-89EA-4867-8C7C-4D118786C0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1412" y="1600200"/>
            <a:ext cx="9599611" cy="440120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s-ES" sz="1400" b="1" dirty="0" err="1">
                <a:latin typeface="Consolas" panose="020B0609020204030204" pitchFamily="49" charset="0"/>
              </a:rPr>
              <a:t>import</a:t>
            </a:r>
            <a:r>
              <a:rPr lang="es-ES" sz="1400" b="1" dirty="0">
                <a:latin typeface="Consolas" panose="020B0609020204030204" pitchFamily="49" charset="0"/>
              </a:rPr>
              <a:t> { </a:t>
            </a:r>
            <a:r>
              <a:rPr lang="es-ES" sz="1400" b="1" dirty="0" err="1">
                <a:latin typeface="Consolas" panose="020B0609020204030204" pitchFamily="49" charset="0"/>
              </a:rPr>
              <a:t>NgModule</a:t>
            </a:r>
            <a:r>
              <a:rPr lang="es-ES" sz="1400" b="1" dirty="0">
                <a:latin typeface="Consolas" panose="020B0609020204030204" pitchFamily="49" charset="0"/>
              </a:rPr>
              <a:t> } </a:t>
            </a:r>
            <a:r>
              <a:rPr lang="es-ES" sz="1400" b="1" dirty="0" err="1">
                <a:latin typeface="Consolas" panose="020B0609020204030204" pitchFamily="49" charset="0"/>
              </a:rPr>
              <a:t>from</a:t>
            </a:r>
            <a:r>
              <a:rPr lang="es-ES" sz="1400" b="1" dirty="0">
                <a:latin typeface="Consolas" panose="020B0609020204030204" pitchFamily="49" charset="0"/>
              </a:rPr>
              <a:t> "@angular/</a:t>
            </a:r>
            <a:r>
              <a:rPr lang="es-ES" sz="1400" b="1" dirty="0" err="1">
                <a:latin typeface="Consolas" panose="020B0609020204030204" pitchFamily="49" charset="0"/>
              </a:rPr>
              <a:t>core</a:t>
            </a:r>
            <a:r>
              <a:rPr lang="es-ES" sz="1400" b="1" dirty="0">
                <a:latin typeface="Consolas" panose="020B0609020204030204" pitchFamily="49" charset="0"/>
              </a:rPr>
              <a:t>";</a:t>
            </a:r>
          </a:p>
          <a:p>
            <a:r>
              <a:rPr lang="es-ES" sz="1400" b="1" dirty="0" err="1">
                <a:latin typeface="Consolas" panose="020B0609020204030204" pitchFamily="49" charset="0"/>
              </a:rPr>
              <a:t>import</a:t>
            </a:r>
            <a:r>
              <a:rPr lang="es-ES" sz="1400" b="1" dirty="0">
                <a:latin typeface="Consolas" panose="020B0609020204030204" pitchFamily="49" charset="0"/>
              </a:rPr>
              <a:t> { </a:t>
            </a:r>
            <a:r>
              <a:rPr lang="es-ES" sz="1400" b="1" dirty="0" err="1">
                <a:latin typeface="Consolas" panose="020B0609020204030204" pitchFamily="49" charset="0"/>
              </a:rPr>
              <a:t>CommonModule</a:t>
            </a:r>
            <a:r>
              <a:rPr lang="es-ES" sz="1400" b="1" dirty="0">
                <a:latin typeface="Consolas" panose="020B0609020204030204" pitchFamily="49" charset="0"/>
              </a:rPr>
              <a:t> } </a:t>
            </a:r>
            <a:r>
              <a:rPr lang="es-ES" sz="1400" b="1" dirty="0" err="1">
                <a:latin typeface="Consolas" panose="020B0609020204030204" pitchFamily="49" charset="0"/>
              </a:rPr>
              <a:t>from</a:t>
            </a:r>
            <a:r>
              <a:rPr lang="es-ES" sz="1400" b="1" dirty="0">
                <a:latin typeface="Consolas" panose="020B0609020204030204" pitchFamily="49" charset="0"/>
              </a:rPr>
              <a:t> "@angular/</a:t>
            </a:r>
            <a:r>
              <a:rPr lang="es-ES" sz="1400" b="1" dirty="0" err="1">
                <a:latin typeface="Consolas" panose="020B0609020204030204" pitchFamily="49" charset="0"/>
              </a:rPr>
              <a:t>common</a:t>
            </a:r>
            <a:r>
              <a:rPr lang="es-ES" sz="1400" b="1" dirty="0">
                <a:latin typeface="Consolas" panose="020B0609020204030204" pitchFamily="49" charset="0"/>
              </a:rPr>
              <a:t>";</a:t>
            </a:r>
          </a:p>
          <a:p>
            <a:r>
              <a:rPr lang="es-E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import</a:t>
            </a:r>
            <a:r>
              <a:rPr lang="es-E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 { </a:t>
            </a:r>
            <a:r>
              <a:rPr lang="es-E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FormsModule</a:t>
            </a:r>
            <a:r>
              <a:rPr lang="es-E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 } </a:t>
            </a:r>
            <a:r>
              <a:rPr lang="es-E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from</a:t>
            </a:r>
            <a:r>
              <a:rPr lang="es-E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 "@angular/</a:t>
            </a:r>
            <a:r>
              <a:rPr lang="es-E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forms</a:t>
            </a:r>
            <a:r>
              <a:rPr lang="es-E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";</a:t>
            </a:r>
          </a:p>
          <a:p>
            <a:br>
              <a:rPr lang="es-ES" sz="1400" b="1" dirty="0">
                <a:latin typeface="Consolas" panose="020B0609020204030204" pitchFamily="49" charset="0"/>
              </a:rPr>
            </a:br>
            <a:r>
              <a:rPr lang="es-ES" sz="1400" b="1" dirty="0" err="1">
                <a:latin typeface="Consolas" panose="020B0609020204030204" pitchFamily="49" charset="0"/>
              </a:rPr>
              <a:t>import</a:t>
            </a:r>
            <a:r>
              <a:rPr lang="es-ES" sz="1400" b="1" dirty="0">
                <a:latin typeface="Consolas" panose="020B0609020204030204" pitchFamily="49" charset="0"/>
              </a:rPr>
              <a:t> { </a:t>
            </a:r>
            <a:r>
              <a:rPr lang="es-ES" sz="1400" b="1" dirty="0" err="1">
                <a:latin typeface="Consolas" panose="020B0609020204030204" pitchFamily="49" charset="0"/>
              </a:rPr>
              <a:t>OperationsRoutingModule</a:t>
            </a:r>
            <a:r>
              <a:rPr lang="es-ES" sz="1400" b="1" dirty="0">
                <a:latin typeface="Consolas" panose="020B0609020204030204" pitchFamily="49" charset="0"/>
              </a:rPr>
              <a:t> } </a:t>
            </a:r>
            <a:r>
              <a:rPr lang="es-ES" sz="1400" b="1" dirty="0" err="1">
                <a:latin typeface="Consolas" panose="020B0609020204030204" pitchFamily="49" charset="0"/>
              </a:rPr>
              <a:t>from</a:t>
            </a:r>
            <a:r>
              <a:rPr lang="es-ES" sz="1400" b="1" dirty="0">
                <a:latin typeface="Consolas" panose="020B0609020204030204" pitchFamily="49" charset="0"/>
              </a:rPr>
              <a:t> "./</a:t>
            </a:r>
            <a:r>
              <a:rPr lang="es-ES" sz="1400" b="1" dirty="0" err="1">
                <a:latin typeface="Consolas" panose="020B0609020204030204" pitchFamily="49" charset="0"/>
              </a:rPr>
              <a:t>operations.routing</a:t>
            </a:r>
            <a:r>
              <a:rPr lang="es-ES" sz="1400" b="1" dirty="0">
                <a:latin typeface="Consolas" panose="020B0609020204030204" pitchFamily="49" charset="0"/>
              </a:rPr>
              <a:t>";</a:t>
            </a:r>
          </a:p>
          <a:p>
            <a:r>
              <a:rPr lang="es-ES" sz="1400" b="1" dirty="0" err="1">
                <a:latin typeface="Consolas" panose="020B0609020204030204" pitchFamily="49" charset="0"/>
              </a:rPr>
              <a:t>import</a:t>
            </a:r>
            <a:r>
              <a:rPr lang="es-ES" sz="1400" b="1" dirty="0">
                <a:latin typeface="Consolas" panose="020B0609020204030204" pitchFamily="49" charset="0"/>
              </a:rPr>
              <a:t> { </a:t>
            </a:r>
            <a:r>
              <a:rPr lang="es-ES" sz="1400" b="1" dirty="0" err="1">
                <a:latin typeface="Consolas" panose="020B0609020204030204" pitchFamily="49" charset="0"/>
              </a:rPr>
              <a:t>OperationsComponent</a:t>
            </a:r>
            <a:r>
              <a:rPr lang="es-ES" sz="1400" b="1" dirty="0">
                <a:latin typeface="Consolas" panose="020B0609020204030204" pitchFamily="49" charset="0"/>
              </a:rPr>
              <a:t> } </a:t>
            </a:r>
            <a:r>
              <a:rPr lang="es-ES" sz="1400" b="1" dirty="0" err="1">
                <a:latin typeface="Consolas" panose="020B0609020204030204" pitchFamily="49" charset="0"/>
              </a:rPr>
              <a:t>from</a:t>
            </a:r>
            <a:r>
              <a:rPr lang="es-ES" sz="1400" b="1" dirty="0">
                <a:latin typeface="Consolas" panose="020B0609020204030204" pitchFamily="49" charset="0"/>
              </a:rPr>
              <a:t> "./</a:t>
            </a:r>
            <a:r>
              <a:rPr lang="es-ES" sz="1400" b="1" dirty="0" err="1">
                <a:latin typeface="Consolas" panose="020B0609020204030204" pitchFamily="49" charset="0"/>
              </a:rPr>
              <a:t>operations.component</a:t>
            </a:r>
            <a:r>
              <a:rPr lang="es-ES" sz="1400" b="1" dirty="0">
                <a:latin typeface="Consolas" panose="020B0609020204030204" pitchFamily="49" charset="0"/>
              </a:rPr>
              <a:t>";</a:t>
            </a:r>
          </a:p>
          <a:p>
            <a:r>
              <a:rPr lang="es-ES" sz="1400" b="1" dirty="0" err="1">
                <a:latin typeface="Consolas" panose="020B0609020204030204" pitchFamily="49" charset="0"/>
              </a:rPr>
              <a:t>import</a:t>
            </a:r>
            <a:r>
              <a:rPr lang="es-ES" sz="1400" b="1" dirty="0">
                <a:latin typeface="Consolas" panose="020B0609020204030204" pitchFamily="49" charset="0"/>
              </a:rPr>
              <a:t> { </a:t>
            </a:r>
            <a:r>
              <a:rPr lang="es-ES" sz="1400" b="1" dirty="0" err="1">
                <a:latin typeface="Consolas" panose="020B0609020204030204" pitchFamily="49" charset="0"/>
              </a:rPr>
              <a:t>NewComponent</a:t>
            </a:r>
            <a:r>
              <a:rPr lang="es-ES" sz="1400" b="1" dirty="0">
                <a:latin typeface="Consolas" panose="020B0609020204030204" pitchFamily="49" charset="0"/>
              </a:rPr>
              <a:t> } </a:t>
            </a:r>
            <a:r>
              <a:rPr lang="es-ES" sz="1400" b="1" dirty="0" err="1">
                <a:latin typeface="Consolas" panose="020B0609020204030204" pitchFamily="49" charset="0"/>
              </a:rPr>
              <a:t>from</a:t>
            </a:r>
            <a:r>
              <a:rPr lang="es-ES" sz="1400" b="1" dirty="0">
                <a:latin typeface="Consolas" panose="020B0609020204030204" pitchFamily="49" charset="0"/>
              </a:rPr>
              <a:t> "./</a:t>
            </a:r>
            <a:r>
              <a:rPr lang="es-ES" sz="1400" b="1" dirty="0" err="1">
                <a:latin typeface="Consolas" panose="020B0609020204030204" pitchFamily="49" charset="0"/>
              </a:rPr>
              <a:t>new.component</a:t>
            </a:r>
            <a:r>
              <a:rPr lang="es-ES" sz="1400" b="1" dirty="0">
                <a:latin typeface="Consolas" panose="020B0609020204030204" pitchFamily="49" charset="0"/>
              </a:rPr>
              <a:t>";</a:t>
            </a:r>
          </a:p>
          <a:p>
            <a:r>
              <a:rPr lang="es-ES" sz="1400" b="1" dirty="0" err="1">
                <a:latin typeface="Consolas" panose="020B0609020204030204" pitchFamily="49" charset="0"/>
              </a:rPr>
              <a:t>import</a:t>
            </a:r>
            <a:r>
              <a:rPr lang="es-ES" sz="1400" b="1" dirty="0">
                <a:latin typeface="Consolas" panose="020B0609020204030204" pitchFamily="49" charset="0"/>
              </a:rPr>
              <a:t> { </a:t>
            </a:r>
            <a:r>
              <a:rPr lang="es-ES" sz="1400" b="1" dirty="0" err="1">
                <a:latin typeface="Consolas" panose="020B0609020204030204" pitchFamily="49" charset="0"/>
              </a:rPr>
              <a:t>ListComponent</a:t>
            </a:r>
            <a:r>
              <a:rPr lang="es-ES" sz="1400" b="1" dirty="0">
                <a:latin typeface="Consolas" panose="020B0609020204030204" pitchFamily="49" charset="0"/>
              </a:rPr>
              <a:t> } </a:t>
            </a:r>
            <a:r>
              <a:rPr lang="es-ES" sz="1400" b="1" dirty="0" err="1">
                <a:latin typeface="Consolas" panose="020B0609020204030204" pitchFamily="49" charset="0"/>
              </a:rPr>
              <a:t>from</a:t>
            </a:r>
            <a:r>
              <a:rPr lang="es-ES" sz="1400" b="1" dirty="0">
                <a:latin typeface="Consolas" panose="020B0609020204030204" pitchFamily="49" charset="0"/>
              </a:rPr>
              <a:t> "./</a:t>
            </a:r>
            <a:r>
              <a:rPr lang="es-ES" sz="1400" b="1" dirty="0" err="1">
                <a:latin typeface="Consolas" panose="020B0609020204030204" pitchFamily="49" charset="0"/>
              </a:rPr>
              <a:t>list.component</a:t>
            </a:r>
            <a:r>
              <a:rPr lang="es-ES" sz="1400" b="1" dirty="0">
                <a:latin typeface="Consolas" panose="020B0609020204030204" pitchFamily="49" charset="0"/>
              </a:rPr>
              <a:t>";</a:t>
            </a:r>
          </a:p>
          <a:p>
            <a:r>
              <a:rPr lang="es-ES" sz="1400" b="1" dirty="0" err="1">
                <a:latin typeface="Consolas" panose="020B0609020204030204" pitchFamily="49" charset="0"/>
              </a:rPr>
              <a:t>import</a:t>
            </a:r>
            <a:r>
              <a:rPr lang="es-ES" sz="1400" b="1" dirty="0">
                <a:latin typeface="Consolas" panose="020B0609020204030204" pitchFamily="49" charset="0"/>
              </a:rPr>
              <a:t> { </a:t>
            </a:r>
            <a:r>
              <a:rPr lang="es-ES" sz="1400" b="1" dirty="0" err="1">
                <a:latin typeface="Consolas" panose="020B0609020204030204" pitchFamily="49" charset="0"/>
              </a:rPr>
              <a:t>ItemComponent</a:t>
            </a:r>
            <a:r>
              <a:rPr lang="es-ES" sz="1400" b="1" dirty="0">
                <a:latin typeface="Consolas" panose="020B0609020204030204" pitchFamily="49" charset="0"/>
              </a:rPr>
              <a:t> } </a:t>
            </a:r>
            <a:r>
              <a:rPr lang="es-ES" sz="1400" b="1" dirty="0" err="1">
                <a:latin typeface="Consolas" panose="020B0609020204030204" pitchFamily="49" charset="0"/>
              </a:rPr>
              <a:t>from</a:t>
            </a:r>
            <a:r>
              <a:rPr lang="es-ES" sz="1400" b="1" dirty="0">
                <a:latin typeface="Consolas" panose="020B0609020204030204" pitchFamily="49" charset="0"/>
              </a:rPr>
              <a:t> "./</a:t>
            </a:r>
            <a:r>
              <a:rPr lang="es-ES" sz="1400" b="1" dirty="0" err="1">
                <a:latin typeface="Consolas" panose="020B0609020204030204" pitchFamily="49" charset="0"/>
              </a:rPr>
              <a:t>item.component</a:t>
            </a:r>
            <a:r>
              <a:rPr lang="es-ES" sz="1400" b="1" dirty="0">
                <a:latin typeface="Consolas" panose="020B0609020204030204" pitchFamily="49" charset="0"/>
              </a:rPr>
              <a:t>";</a:t>
            </a:r>
          </a:p>
          <a:p>
            <a:br>
              <a:rPr lang="es-ES" sz="1400" b="1" dirty="0">
                <a:latin typeface="Consolas" panose="020B0609020204030204" pitchFamily="49" charset="0"/>
              </a:rPr>
            </a:br>
            <a:r>
              <a:rPr lang="es-ES" sz="1400" b="1" dirty="0">
                <a:latin typeface="Consolas" panose="020B0609020204030204" pitchFamily="49" charset="0"/>
              </a:rPr>
              <a:t>@</a:t>
            </a:r>
            <a:r>
              <a:rPr lang="es-ES" sz="1400" b="1" dirty="0" err="1">
                <a:latin typeface="Consolas" panose="020B0609020204030204" pitchFamily="49" charset="0"/>
              </a:rPr>
              <a:t>NgModule</a:t>
            </a:r>
            <a:r>
              <a:rPr lang="es-ES" sz="1400" b="1" dirty="0">
                <a:latin typeface="Consolas" panose="020B0609020204030204" pitchFamily="49" charset="0"/>
              </a:rPr>
              <a:t>({</a:t>
            </a:r>
          </a:p>
          <a:p>
            <a:pPr lvl="1"/>
            <a:r>
              <a:rPr lang="es-ES" sz="1400" b="1" dirty="0" err="1">
                <a:latin typeface="Consolas" panose="020B0609020204030204" pitchFamily="49" charset="0"/>
              </a:rPr>
              <a:t>imports</a:t>
            </a:r>
            <a:r>
              <a:rPr lang="es-ES" sz="1400" b="1" dirty="0">
                <a:latin typeface="Consolas" panose="020B0609020204030204" pitchFamily="49" charset="0"/>
              </a:rPr>
              <a:t>: [</a:t>
            </a:r>
            <a:r>
              <a:rPr lang="es-ES" sz="1400" b="1" dirty="0" err="1">
                <a:latin typeface="Consolas" panose="020B0609020204030204" pitchFamily="49" charset="0"/>
              </a:rPr>
              <a:t>CommonModule</a:t>
            </a:r>
            <a:r>
              <a:rPr lang="es-ES" sz="1400" b="1" dirty="0">
                <a:latin typeface="Consolas" panose="020B0609020204030204" pitchFamily="49" charset="0"/>
              </a:rPr>
              <a:t>, </a:t>
            </a:r>
            <a:r>
              <a:rPr lang="es-E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FormsModule</a:t>
            </a:r>
            <a:r>
              <a:rPr lang="es-ES" sz="1400" b="1" dirty="0">
                <a:latin typeface="Consolas" panose="020B0609020204030204" pitchFamily="49" charset="0"/>
              </a:rPr>
              <a:t>, </a:t>
            </a:r>
            <a:r>
              <a:rPr lang="es-ES" sz="1400" b="1" dirty="0" err="1">
                <a:latin typeface="Consolas" panose="020B0609020204030204" pitchFamily="49" charset="0"/>
              </a:rPr>
              <a:t>OperationsRoutingModule</a:t>
            </a:r>
            <a:r>
              <a:rPr lang="es-ES" sz="1400" b="1" dirty="0">
                <a:latin typeface="Consolas" panose="020B0609020204030204" pitchFamily="49" charset="0"/>
              </a:rPr>
              <a:t>],</a:t>
            </a:r>
          </a:p>
          <a:p>
            <a:pPr lvl="1"/>
            <a:r>
              <a:rPr lang="es-ES" sz="1400" b="1" dirty="0" err="1">
                <a:latin typeface="Consolas" panose="020B0609020204030204" pitchFamily="49" charset="0"/>
              </a:rPr>
              <a:t>declarations</a:t>
            </a:r>
            <a:r>
              <a:rPr lang="es-ES" sz="1400" b="1" dirty="0">
                <a:latin typeface="Consolas" panose="020B0609020204030204" pitchFamily="49" charset="0"/>
              </a:rPr>
              <a:t>: [</a:t>
            </a:r>
          </a:p>
          <a:p>
            <a:pPr lvl="2"/>
            <a:r>
              <a:rPr lang="es-ES" sz="1400" b="1" dirty="0" err="1">
                <a:latin typeface="Consolas" panose="020B0609020204030204" pitchFamily="49" charset="0"/>
              </a:rPr>
              <a:t>OperationsComponent</a:t>
            </a:r>
            <a:r>
              <a:rPr lang="es-ES" sz="1400" b="1" dirty="0">
                <a:latin typeface="Consolas" panose="020B0609020204030204" pitchFamily="49" charset="0"/>
              </a:rPr>
              <a:t>,</a:t>
            </a:r>
          </a:p>
          <a:p>
            <a:pPr lvl="3"/>
            <a:r>
              <a:rPr lang="es-ES" sz="1400" b="1" dirty="0" err="1">
                <a:latin typeface="Consolas" panose="020B0609020204030204" pitchFamily="49" charset="0"/>
              </a:rPr>
              <a:t>NewComponent</a:t>
            </a:r>
            <a:r>
              <a:rPr lang="es-ES" sz="1400" b="1" dirty="0">
                <a:latin typeface="Consolas" panose="020B0609020204030204" pitchFamily="49" charset="0"/>
              </a:rPr>
              <a:t>,</a:t>
            </a:r>
          </a:p>
          <a:p>
            <a:pPr lvl="3"/>
            <a:r>
              <a:rPr lang="es-ES" sz="1400" b="1" dirty="0" err="1">
                <a:latin typeface="Consolas" panose="020B0609020204030204" pitchFamily="49" charset="0"/>
              </a:rPr>
              <a:t>ListComponent</a:t>
            </a:r>
            <a:r>
              <a:rPr lang="es-ES" sz="1400" b="1" dirty="0">
                <a:latin typeface="Consolas" panose="020B0609020204030204" pitchFamily="49" charset="0"/>
              </a:rPr>
              <a:t>,</a:t>
            </a:r>
          </a:p>
          <a:p>
            <a:pPr lvl="3"/>
            <a:r>
              <a:rPr lang="es-ES" sz="1400" b="1" dirty="0" err="1">
                <a:latin typeface="Consolas" panose="020B0609020204030204" pitchFamily="49" charset="0"/>
              </a:rPr>
              <a:t>ItemComponent</a:t>
            </a:r>
            <a:endParaRPr lang="es-ES" sz="1400" b="1" dirty="0">
              <a:latin typeface="Consolas" panose="020B0609020204030204" pitchFamily="49" charset="0"/>
            </a:endParaRPr>
          </a:p>
          <a:p>
            <a:pPr lvl="2"/>
            <a:r>
              <a:rPr lang="es-ES" sz="1400" b="1" dirty="0">
                <a:latin typeface="Consolas" panose="020B0609020204030204" pitchFamily="49" charset="0"/>
              </a:rPr>
              <a:t>]</a:t>
            </a:r>
          </a:p>
          <a:p>
            <a:r>
              <a:rPr lang="es-ES" sz="1400" b="1" dirty="0">
                <a:latin typeface="Consolas" panose="020B0609020204030204" pitchFamily="49" charset="0"/>
              </a:rPr>
              <a:t>})</a:t>
            </a:r>
          </a:p>
          <a:p>
            <a:r>
              <a:rPr lang="es-ES" sz="1400" b="1" dirty="0" err="1">
                <a:latin typeface="Consolas" panose="020B0609020204030204" pitchFamily="49" charset="0"/>
              </a:rPr>
              <a:t>export</a:t>
            </a:r>
            <a:r>
              <a:rPr lang="es-ES" sz="1400" b="1" dirty="0">
                <a:latin typeface="Consolas" panose="020B0609020204030204" pitchFamily="49" charset="0"/>
              </a:rPr>
              <a:t> </a:t>
            </a:r>
            <a:r>
              <a:rPr lang="es-ES" sz="1400" b="1" dirty="0" err="1">
                <a:latin typeface="Consolas" panose="020B0609020204030204" pitchFamily="49" charset="0"/>
              </a:rPr>
              <a:t>class</a:t>
            </a:r>
            <a:r>
              <a:rPr lang="es-ES" sz="1400" b="1" dirty="0">
                <a:latin typeface="Consolas" panose="020B0609020204030204" pitchFamily="49" charset="0"/>
              </a:rPr>
              <a:t> </a:t>
            </a:r>
            <a:r>
              <a:rPr lang="es-ES" sz="1400" b="1" dirty="0" err="1">
                <a:latin typeface="Consolas" panose="020B0609020204030204" pitchFamily="49" charset="0"/>
              </a:rPr>
              <a:t>OperationsModule</a:t>
            </a:r>
            <a:r>
              <a:rPr lang="es-ES" sz="1400" b="1" dirty="0">
                <a:latin typeface="Consolas" panose="020B0609020204030204" pitchFamily="49" charset="0"/>
              </a:rPr>
              <a:t> {}</a:t>
            </a:r>
          </a:p>
        </p:txBody>
      </p:sp>
    </p:spTree>
    <p:extLst>
      <p:ext uri="{BB962C8B-B14F-4D97-AF65-F5344CB8AC3E}">
        <p14:creationId xmlns:p14="http://schemas.microsoft.com/office/powerpoint/2010/main" val="37831774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464BDDC6-1FAD-4039-9BA9-46D3BA601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Formularios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C1F7363-FD28-4DBC-A673-DE10D82C8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Ejemplo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8C3838B-89EA-4867-8C7C-4D118786C0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1412" y="1676400"/>
            <a:ext cx="10590211" cy="3693319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s-ES" b="1" dirty="0">
                <a:latin typeface="Consolas" panose="020B0609020204030204" pitchFamily="49" charset="0"/>
              </a:rPr>
              <a:t>&lt;</a:t>
            </a:r>
            <a:r>
              <a:rPr lang="es-ES" b="1" dirty="0" err="1">
                <a:latin typeface="Consolas" panose="020B0609020204030204" pitchFamily="49" charset="0"/>
              </a:rPr>
              <a:t>form</a:t>
            </a:r>
            <a:r>
              <a:rPr lang="es-ES" b="1" dirty="0">
                <a:latin typeface="Consolas" panose="020B0609020204030204" pitchFamily="49" charset="0"/>
              </a:rPr>
              <a:t> (</a:t>
            </a:r>
            <a:r>
              <a:rPr lang="es-ES" b="1" dirty="0" err="1">
                <a:latin typeface="Consolas" panose="020B0609020204030204" pitchFamily="49" charset="0"/>
              </a:rPr>
              <a:t>ngSubmit</a:t>
            </a:r>
            <a:r>
              <a:rPr lang="es-ES" b="1" dirty="0">
                <a:latin typeface="Consolas" panose="020B0609020204030204" pitchFamily="49" charset="0"/>
              </a:rPr>
              <a:t>)="</a:t>
            </a:r>
            <a:r>
              <a:rPr lang="es-ES" b="1" dirty="0" err="1">
                <a:latin typeface="Consolas" panose="020B0609020204030204" pitchFamily="49" charset="0"/>
              </a:rPr>
              <a:t>onSubmit</a:t>
            </a:r>
            <a:r>
              <a:rPr lang="es-ES" b="1" dirty="0">
                <a:latin typeface="Consolas" panose="020B0609020204030204" pitchFamily="49" charset="0"/>
              </a:rPr>
              <a:t>(</a:t>
            </a:r>
            <a:r>
              <a:rPr lang="es-ES" b="1" dirty="0" err="1">
                <a:latin typeface="Consolas" panose="020B0609020204030204" pitchFamily="49" charset="0"/>
              </a:rPr>
              <a:t>contactForm</a:t>
            </a:r>
            <a:r>
              <a:rPr lang="es-ES" b="1" dirty="0">
                <a:latin typeface="Consolas" panose="020B0609020204030204" pitchFamily="49" charset="0"/>
              </a:rPr>
              <a:t>);" </a:t>
            </a:r>
            <a:r>
              <a:rPr lang="es-ES" b="1" dirty="0">
                <a:solidFill>
                  <a:srgbClr val="FF0000"/>
                </a:solidFill>
                <a:latin typeface="Consolas" panose="020B0609020204030204" pitchFamily="49" charset="0"/>
              </a:rPr>
              <a:t>#</a:t>
            </a:r>
            <a:r>
              <a:rPr lang="es-ES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contactForm</a:t>
            </a:r>
            <a:r>
              <a:rPr lang="es-ES" b="1" dirty="0">
                <a:solidFill>
                  <a:srgbClr val="FF0000"/>
                </a:solidFill>
                <a:latin typeface="Consolas" panose="020B0609020204030204" pitchFamily="49" charset="0"/>
              </a:rPr>
              <a:t>="</a:t>
            </a:r>
            <a:r>
              <a:rPr lang="es-ES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ngForm</a:t>
            </a:r>
            <a:r>
              <a:rPr lang="es-ES" b="1" dirty="0">
                <a:solidFill>
                  <a:srgbClr val="FF0000"/>
                </a:solidFill>
                <a:latin typeface="Consolas" panose="020B0609020204030204" pitchFamily="49" charset="0"/>
              </a:rPr>
              <a:t>"</a:t>
            </a:r>
            <a:r>
              <a:rPr lang="es-ES" b="1" dirty="0">
                <a:latin typeface="Consolas" panose="020B0609020204030204" pitchFamily="49" charset="0"/>
              </a:rPr>
              <a:t>&gt;</a:t>
            </a:r>
          </a:p>
          <a:p>
            <a:r>
              <a:rPr lang="es-ES" b="1" dirty="0">
                <a:latin typeface="Consolas" panose="020B0609020204030204" pitchFamily="49" charset="0"/>
              </a:rPr>
              <a:t>   &lt;input </a:t>
            </a:r>
            <a:r>
              <a:rPr lang="es-ES" b="1" dirty="0" err="1">
                <a:latin typeface="Consolas" panose="020B0609020204030204" pitchFamily="49" charset="0"/>
              </a:rPr>
              <a:t>matInput</a:t>
            </a:r>
            <a:r>
              <a:rPr lang="es-ES" b="1" dirty="0">
                <a:latin typeface="Consolas" panose="020B0609020204030204" pitchFamily="49" charset="0"/>
              </a:rPr>
              <a:t> </a:t>
            </a:r>
            <a:r>
              <a:rPr lang="es-ES" b="1" dirty="0" err="1">
                <a:latin typeface="Consolas" panose="020B0609020204030204" pitchFamily="49" charset="0"/>
              </a:rPr>
              <a:t>placeholder</a:t>
            </a:r>
            <a:r>
              <a:rPr lang="es-ES" b="1" dirty="0">
                <a:latin typeface="Consolas" panose="020B0609020204030204" pitchFamily="49" charset="0"/>
              </a:rPr>
              <a:t>="Nombre" </a:t>
            </a:r>
            <a:r>
              <a:rPr lang="es-ES" b="1" dirty="0">
                <a:solidFill>
                  <a:srgbClr val="FF0000"/>
                </a:solidFill>
                <a:latin typeface="Consolas" panose="020B0609020204030204" pitchFamily="49" charset="0"/>
              </a:rPr>
              <a:t>#nombre </a:t>
            </a:r>
            <a:r>
              <a:rPr lang="es-ES" b="1" dirty="0" err="1">
                <a:latin typeface="Consolas" panose="020B0609020204030204" pitchFamily="49" charset="0"/>
              </a:rPr>
              <a:t>maxlength</a:t>
            </a:r>
            <a:r>
              <a:rPr lang="es-ES" b="1" dirty="0">
                <a:latin typeface="Consolas" panose="020B0609020204030204" pitchFamily="49" charset="0"/>
              </a:rPr>
              <a:t>="80" </a:t>
            </a:r>
            <a:br>
              <a:rPr lang="es-ES" b="1" dirty="0">
                <a:latin typeface="Consolas" panose="020B0609020204030204" pitchFamily="49" charset="0"/>
              </a:rPr>
            </a:br>
            <a:r>
              <a:rPr lang="es-ES" b="1" dirty="0">
                <a:latin typeface="Consolas" panose="020B0609020204030204" pitchFamily="49" charset="0"/>
              </a:rPr>
              <a:t>	</a:t>
            </a:r>
            <a:r>
              <a:rPr lang="es-ES" b="1" dirty="0">
                <a:solidFill>
                  <a:srgbClr val="FF0000"/>
                </a:solidFill>
                <a:latin typeface="Consolas" panose="020B0609020204030204" pitchFamily="49" charset="0"/>
              </a:rPr>
              <a:t>[(</a:t>
            </a:r>
            <a:r>
              <a:rPr lang="es-ES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ngModel</a:t>
            </a:r>
            <a:r>
              <a:rPr lang="es-ES" b="1" dirty="0">
                <a:solidFill>
                  <a:srgbClr val="FF0000"/>
                </a:solidFill>
                <a:latin typeface="Consolas" panose="020B0609020204030204" pitchFamily="49" charset="0"/>
              </a:rPr>
              <a:t>)]="ContactModel.name" </a:t>
            </a:r>
            <a:r>
              <a:rPr lang="es-ES" b="1" dirty="0" err="1">
                <a:latin typeface="Consolas" panose="020B0609020204030204" pitchFamily="49" charset="0"/>
              </a:rPr>
              <a:t>name</a:t>
            </a:r>
            <a:r>
              <a:rPr lang="es-ES" b="1" dirty="0">
                <a:latin typeface="Consolas" panose="020B0609020204030204" pitchFamily="49" charset="0"/>
              </a:rPr>
              <a:t>="</a:t>
            </a:r>
            <a:r>
              <a:rPr lang="es-ES" b="1" dirty="0" err="1">
                <a:latin typeface="Consolas" panose="020B0609020204030204" pitchFamily="49" charset="0"/>
              </a:rPr>
              <a:t>Name</a:t>
            </a:r>
            <a:r>
              <a:rPr lang="es-ES" b="1" dirty="0">
                <a:latin typeface="Consolas" panose="020B0609020204030204" pitchFamily="49" charset="0"/>
              </a:rPr>
              <a:t>" </a:t>
            </a:r>
            <a:r>
              <a:rPr lang="es-ES" b="1" dirty="0" err="1">
                <a:latin typeface="Consolas" panose="020B0609020204030204" pitchFamily="49" charset="0"/>
              </a:rPr>
              <a:t>required</a:t>
            </a:r>
            <a:r>
              <a:rPr lang="es-ES" b="1" dirty="0">
                <a:latin typeface="Consolas" panose="020B0609020204030204" pitchFamily="49" charset="0"/>
              </a:rPr>
              <a:t>&gt;</a:t>
            </a:r>
          </a:p>
          <a:p>
            <a:r>
              <a:rPr lang="es-ES" b="1" dirty="0">
                <a:latin typeface="Consolas" panose="020B0609020204030204" pitchFamily="49" charset="0"/>
              </a:rPr>
              <a:t>   &lt;input </a:t>
            </a:r>
            <a:r>
              <a:rPr lang="es-ES" b="1" dirty="0" err="1">
                <a:latin typeface="Consolas" panose="020B0609020204030204" pitchFamily="49" charset="0"/>
              </a:rPr>
              <a:t>matInput</a:t>
            </a:r>
            <a:r>
              <a:rPr lang="es-ES" b="1" dirty="0">
                <a:latin typeface="Consolas" panose="020B0609020204030204" pitchFamily="49" charset="0"/>
              </a:rPr>
              <a:t> </a:t>
            </a:r>
            <a:r>
              <a:rPr lang="es-ES" b="1" dirty="0" err="1">
                <a:latin typeface="Consolas" panose="020B0609020204030204" pitchFamily="49" charset="0"/>
              </a:rPr>
              <a:t>placeholder</a:t>
            </a:r>
            <a:r>
              <a:rPr lang="es-ES" b="1" dirty="0">
                <a:latin typeface="Consolas" panose="020B0609020204030204" pitchFamily="49" charset="0"/>
              </a:rPr>
              <a:t>="Email" </a:t>
            </a:r>
            <a:r>
              <a:rPr lang="es-ES" b="1" dirty="0" err="1">
                <a:latin typeface="Consolas" panose="020B0609020204030204" pitchFamily="49" charset="0"/>
              </a:rPr>
              <a:t>type</a:t>
            </a:r>
            <a:r>
              <a:rPr lang="es-ES" b="1" dirty="0">
                <a:latin typeface="Consolas" panose="020B0609020204030204" pitchFamily="49" charset="0"/>
              </a:rPr>
              <a:t>="email" </a:t>
            </a:r>
            <a:br>
              <a:rPr lang="es-ES" b="1" dirty="0">
                <a:latin typeface="Consolas" panose="020B0609020204030204" pitchFamily="49" charset="0"/>
              </a:rPr>
            </a:br>
            <a:r>
              <a:rPr lang="es-ES" b="1" dirty="0">
                <a:latin typeface="Consolas" panose="020B0609020204030204" pitchFamily="49" charset="0"/>
              </a:rPr>
              <a:t>	[(</a:t>
            </a:r>
            <a:r>
              <a:rPr lang="es-ES" b="1" dirty="0" err="1">
                <a:latin typeface="Consolas" panose="020B0609020204030204" pitchFamily="49" charset="0"/>
              </a:rPr>
              <a:t>ngModel</a:t>
            </a:r>
            <a:r>
              <a:rPr lang="es-ES" b="1" dirty="0">
                <a:latin typeface="Consolas" panose="020B0609020204030204" pitchFamily="49" charset="0"/>
              </a:rPr>
              <a:t>)]="</a:t>
            </a:r>
            <a:r>
              <a:rPr lang="es-ES" b="1" dirty="0" err="1">
                <a:latin typeface="Consolas" panose="020B0609020204030204" pitchFamily="49" charset="0"/>
              </a:rPr>
              <a:t>ContactModel.email</a:t>
            </a:r>
            <a:r>
              <a:rPr lang="es-ES" b="1" dirty="0">
                <a:latin typeface="Consolas" panose="020B0609020204030204" pitchFamily="49" charset="0"/>
              </a:rPr>
              <a:t>" </a:t>
            </a:r>
            <a:r>
              <a:rPr lang="es-ES" b="1" dirty="0" err="1">
                <a:latin typeface="Consolas" panose="020B0609020204030204" pitchFamily="49" charset="0"/>
              </a:rPr>
              <a:t>name</a:t>
            </a:r>
            <a:r>
              <a:rPr lang="es-ES" b="1" dirty="0">
                <a:latin typeface="Consolas" panose="020B0609020204030204" pitchFamily="49" charset="0"/>
              </a:rPr>
              <a:t>="Email" </a:t>
            </a:r>
            <a:r>
              <a:rPr lang="es-ES" b="1" dirty="0" err="1">
                <a:latin typeface="Consolas" panose="020B0609020204030204" pitchFamily="49" charset="0"/>
              </a:rPr>
              <a:t>required</a:t>
            </a:r>
            <a:r>
              <a:rPr lang="es-ES" b="1" dirty="0">
                <a:latin typeface="Consolas" panose="020B0609020204030204" pitchFamily="49" charset="0"/>
              </a:rPr>
              <a:t>&gt;</a:t>
            </a:r>
          </a:p>
          <a:p>
            <a:r>
              <a:rPr lang="es-ES" b="1" dirty="0">
                <a:latin typeface="Consolas" panose="020B0609020204030204" pitchFamily="49" charset="0"/>
              </a:rPr>
              <a:t>   &lt;input </a:t>
            </a:r>
            <a:r>
              <a:rPr lang="es-ES" b="1" dirty="0" err="1">
                <a:latin typeface="Consolas" panose="020B0609020204030204" pitchFamily="49" charset="0"/>
              </a:rPr>
              <a:t>matInput</a:t>
            </a:r>
            <a:r>
              <a:rPr lang="es-ES" b="1" dirty="0">
                <a:latin typeface="Consolas" panose="020B0609020204030204" pitchFamily="49" charset="0"/>
              </a:rPr>
              <a:t> </a:t>
            </a:r>
            <a:r>
              <a:rPr lang="es-ES" b="1" dirty="0" err="1">
                <a:latin typeface="Consolas" panose="020B0609020204030204" pitchFamily="49" charset="0"/>
              </a:rPr>
              <a:t>placeholder</a:t>
            </a:r>
            <a:r>
              <a:rPr lang="es-ES" b="1" dirty="0">
                <a:latin typeface="Consolas" panose="020B0609020204030204" pitchFamily="49" charset="0"/>
              </a:rPr>
              <a:t>="Teléfono" </a:t>
            </a:r>
            <a:r>
              <a:rPr lang="es-ES" b="1" dirty="0">
                <a:solidFill>
                  <a:srgbClr val="FF0000"/>
                </a:solidFill>
                <a:latin typeface="Consolas" panose="020B0609020204030204" pitchFamily="49" charset="0"/>
              </a:rPr>
              <a:t>#</a:t>
            </a:r>
            <a:r>
              <a:rPr lang="es-ES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tel</a:t>
            </a:r>
            <a:r>
              <a:rPr lang="es-ES" b="1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s-ES" b="1" dirty="0" err="1">
                <a:latin typeface="Consolas" panose="020B0609020204030204" pitchFamily="49" charset="0"/>
              </a:rPr>
              <a:t>type</a:t>
            </a:r>
            <a:r>
              <a:rPr lang="es-ES" b="1" dirty="0">
                <a:latin typeface="Consolas" panose="020B0609020204030204" pitchFamily="49" charset="0"/>
              </a:rPr>
              <a:t>="</a:t>
            </a:r>
            <a:r>
              <a:rPr lang="es-ES" b="1" dirty="0" err="1">
                <a:latin typeface="Consolas" panose="020B0609020204030204" pitchFamily="49" charset="0"/>
              </a:rPr>
              <a:t>tel</a:t>
            </a:r>
            <a:r>
              <a:rPr lang="es-ES" b="1" dirty="0">
                <a:latin typeface="Consolas" panose="020B0609020204030204" pitchFamily="49" charset="0"/>
              </a:rPr>
              <a:t>" </a:t>
            </a:r>
            <a:br>
              <a:rPr lang="es-ES" b="1" dirty="0">
                <a:latin typeface="Consolas" panose="020B0609020204030204" pitchFamily="49" charset="0"/>
              </a:rPr>
            </a:br>
            <a:r>
              <a:rPr lang="es-ES" b="1" dirty="0">
                <a:latin typeface="Consolas" panose="020B0609020204030204" pitchFamily="49" charset="0"/>
              </a:rPr>
              <a:t>	[(</a:t>
            </a:r>
            <a:r>
              <a:rPr lang="es-ES" b="1" dirty="0" err="1">
                <a:latin typeface="Consolas" panose="020B0609020204030204" pitchFamily="49" charset="0"/>
              </a:rPr>
              <a:t>ngModel</a:t>
            </a:r>
            <a:r>
              <a:rPr lang="es-ES" b="1" dirty="0">
                <a:latin typeface="Consolas" panose="020B0609020204030204" pitchFamily="49" charset="0"/>
              </a:rPr>
              <a:t>)]="</a:t>
            </a:r>
            <a:r>
              <a:rPr lang="es-ES" b="1" dirty="0" err="1">
                <a:latin typeface="Consolas" panose="020B0609020204030204" pitchFamily="49" charset="0"/>
              </a:rPr>
              <a:t>ContactModel.phone</a:t>
            </a:r>
            <a:r>
              <a:rPr lang="es-ES" b="1" dirty="0">
                <a:latin typeface="Consolas" panose="020B0609020204030204" pitchFamily="49" charset="0"/>
              </a:rPr>
              <a:t>" </a:t>
            </a:r>
            <a:r>
              <a:rPr lang="es-ES" b="1" dirty="0" err="1">
                <a:latin typeface="Consolas" panose="020B0609020204030204" pitchFamily="49" charset="0"/>
              </a:rPr>
              <a:t>name</a:t>
            </a:r>
            <a:r>
              <a:rPr lang="es-ES" b="1" dirty="0">
                <a:latin typeface="Consolas" panose="020B0609020204030204" pitchFamily="49" charset="0"/>
              </a:rPr>
              <a:t>="</a:t>
            </a:r>
            <a:r>
              <a:rPr lang="es-ES" b="1" dirty="0" err="1">
                <a:latin typeface="Consolas" panose="020B0609020204030204" pitchFamily="49" charset="0"/>
              </a:rPr>
              <a:t>Phone</a:t>
            </a:r>
            <a:r>
              <a:rPr lang="es-ES" b="1" dirty="0">
                <a:latin typeface="Consolas" panose="020B0609020204030204" pitchFamily="49" charset="0"/>
              </a:rPr>
              <a:t>" </a:t>
            </a:r>
            <a:r>
              <a:rPr lang="es-ES" b="1" dirty="0" err="1">
                <a:latin typeface="Consolas" panose="020B0609020204030204" pitchFamily="49" charset="0"/>
              </a:rPr>
              <a:t>maxlength</a:t>
            </a:r>
            <a:r>
              <a:rPr lang="es-ES" b="1" dirty="0">
                <a:latin typeface="Consolas" panose="020B0609020204030204" pitchFamily="49" charset="0"/>
              </a:rPr>
              <a:t>="16"&gt;</a:t>
            </a:r>
          </a:p>
          <a:p>
            <a:r>
              <a:rPr lang="es-ES" b="1" dirty="0">
                <a:latin typeface="Consolas" panose="020B0609020204030204" pitchFamily="49" charset="0"/>
              </a:rPr>
              <a:t>   &lt;input </a:t>
            </a:r>
            <a:r>
              <a:rPr lang="es-ES" b="1" dirty="0" err="1">
                <a:latin typeface="Consolas" panose="020B0609020204030204" pitchFamily="49" charset="0"/>
              </a:rPr>
              <a:t>matInput</a:t>
            </a:r>
            <a:r>
              <a:rPr lang="es-ES" b="1" dirty="0">
                <a:latin typeface="Consolas" panose="020B0609020204030204" pitchFamily="49" charset="0"/>
              </a:rPr>
              <a:t> </a:t>
            </a:r>
            <a:r>
              <a:rPr lang="es-ES" b="1" dirty="0" err="1">
                <a:latin typeface="Consolas" panose="020B0609020204030204" pitchFamily="49" charset="0"/>
              </a:rPr>
              <a:t>placeholder</a:t>
            </a:r>
            <a:r>
              <a:rPr lang="es-ES" b="1" dirty="0">
                <a:latin typeface="Consolas" panose="020B0609020204030204" pitchFamily="49" charset="0"/>
              </a:rPr>
              <a:t>="Asunto" </a:t>
            </a:r>
            <a:r>
              <a:rPr lang="es-ES" b="1" dirty="0">
                <a:solidFill>
                  <a:srgbClr val="FF0000"/>
                </a:solidFill>
                <a:latin typeface="Consolas" panose="020B0609020204030204" pitchFamily="49" charset="0"/>
              </a:rPr>
              <a:t>#asunto </a:t>
            </a:r>
            <a:r>
              <a:rPr lang="es-ES" b="1" dirty="0" err="1">
                <a:latin typeface="Consolas" panose="020B0609020204030204" pitchFamily="49" charset="0"/>
              </a:rPr>
              <a:t>maxlength</a:t>
            </a:r>
            <a:r>
              <a:rPr lang="es-ES" b="1" dirty="0">
                <a:latin typeface="Consolas" panose="020B0609020204030204" pitchFamily="49" charset="0"/>
              </a:rPr>
              <a:t>="60" </a:t>
            </a:r>
            <a:br>
              <a:rPr lang="es-ES" b="1" dirty="0">
                <a:latin typeface="Consolas" panose="020B0609020204030204" pitchFamily="49" charset="0"/>
              </a:rPr>
            </a:br>
            <a:r>
              <a:rPr lang="es-ES" b="1" dirty="0">
                <a:latin typeface="Consolas" panose="020B0609020204030204" pitchFamily="49" charset="0"/>
              </a:rPr>
              <a:t>	[(</a:t>
            </a:r>
            <a:r>
              <a:rPr lang="es-ES" b="1" dirty="0" err="1">
                <a:latin typeface="Consolas" panose="020B0609020204030204" pitchFamily="49" charset="0"/>
              </a:rPr>
              <a:t>ngModel</a:t>
            </a:r>
            <a:r>
              <a:rPr lang="es-ES" b="1" dirty="0">
                <a:latin typeface="Consolas" panose="020B0609020204030204" pitchFamily="49" charset="0"/>
              </a:rPr>
              <a:t>)]="</a:t>
            </a:r>
            <a:r>
              <a:rPr lang="es-ES" b="1" dirty="0" err="1">
                <a:latin typeface="Consolas" panose="020B0609020204030204" pitchFamily="49" charset="0"/>
              </a:rPr>
              <a:t>ContactModel.subject</a:t>
            </a:r>
            <a:r>
              <a:rPr lang="es-ES" b="1" dirty="0">
                <a:latin typeface="Consolas" panose="020B0609020204030204" pitchFamily="49" charset="0"/>
              </a:rPr>
              <a:t>" </a:t>
            </a:r>
            <a:r>
              <a:rPr lang="es-ES" b="1" dirty="0" err="1">
                <a:latin typeface="Consolas" panose="020B0609020204030204" pitchFamily="49" charset="0"/>
              </a:rPr>
              <a:t>name</a:t>
            </a:r>
            <a:r>
              <a:rPr lang="es-ES" b="1" dirty="0">
                <a:latin typeface="Consolas" panose="020B0609020204030204" pitchFamily="49" charset="0"/>
              </a:rPr>
              <a:t>="</a:t>
            </a:r>
            <a:r>
              <a:rPr lang="es-ES" b="1" dirty="0" err="1">
                <a:latin typeface="Consolas" panose="020B0609020204030204" pitchFamily="49" charset="0"/>
              </a:rPr>
              <a:t>Subject</a:t>
            </a:r>
            <a:r>
              <a:rPr lang="es-ES" b="1" dirty="0">
                <a:latin typeface="Consolas" panose="020B0609020204030204" pitchFamily="49" charset="0"/>
              </a:rPr>
              <a:t>" </a:t>
            </a:r>
            <a:r>
              <a:rPr lang="es-ES" b="1" dirty="0" err="1">
                <a:latin typeface="Consolas" panose="020B0609020204030204" pitchFamily="49" charset="0"/>
              </a:rPr>
              <a:t>required</a:t>
            </a:r>
            <a:r>
              <a:rPr lang="es-ES" b="1" dirty="0">
                <a:latin typeface="Consolas" panose="020B0609020204030204" pitchFamily="49" charset="0"/>
              </a:rPr>
              <a:t>&gt;</a:t>
            </a:r>
          </a:p>
          <a:p>
            <a:r>
              <a:rPr lang="es-ES" b="1" dirty="0">
                <a:latin typeface="Consolas" panose="020B0609020204030204" pitchFamily="49" charset="0"/>
              </a:rPr>
              <a:t>   &lt;</a:t>
            </a:r>
            <a:r>
              <a:rPr lang="es-ES" b="1" dirty="0" err="1">
                <a:latin typeface="Consolas" panose="020B0609020204030204" pitchFamily="49" charset="0"/>
              </a:rPr>
              <a:t>textarea</a:t>
            </a:r>
            <a:r>
              <a:rPr lang="es-ES" b="1" dirty="0">
                <a:latin typeface="Consolas" panose="020B0609020204030204" pitchFamily="49" charset="0"/>
              </a:rPr>
              <a:t> </a:t>
            </a:r>
            <a:r>
              <a:rPr lang="es-ES" b="1" dirty="0" err="1">
                <a:latin typeface="Consolas" panose="020B0609020204030204" pitchFamily="49" charset="0"/>
              </a:rPr>
              <a:t>matInput</a:t>
            </a:r>
            <a:r>
              <a:rPr lang="es-ES" b="1" dirty="0">
                <a:latin typeface="Consolas" panose="020B0609020204030204" pitchFamily="49" charset="0"/>
              </a:rPr>
              <a:t> </a:t>
            </a:r>
            <a:r>
              <a:rPr lang="es-ES" b="1" dirty="0" err="1">
                <a:latin typeface="Consolas" panose="020B0609020204030204" pitchFamily="49" charset="0"/>
              </a:rPr>
              <a:t>placeholder</a:t>
            </a:r>
            <a:r>
              <a:rPr lang="es-ES" b="1" dirty="0">
                <a:latin typeface="Consolas" panose="020B0609020204030204" pitchFamily="49" charset="0"/>
              </a:rPr>
              <a:t>="Mensaje" </a:t>
            </a:r>
            <a:r>
              <a:rPr lang="es-ES" b="1" dirty="0">
                <a:solidFill>
                  <a:srgbClr val="FF0000"/>
                </a:solidFill>
                <a:latin typeface="Consolas" panose="020B0609020204030204" pitchFamily="49" charset="0"/>
              </a:rPr>
              <a:t>#</a:t>
            </a:r>
            <a:r>
              <a:rPr lang="es-ES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msn</a:t>
            </a:r>
            <a:r>
              <a:rPr lang="es-ES" b="1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s-ES" b="1" dirty="0" err="1">
                <a:latin typeface="Consolas" panose="020B0609020204030204" pitchFamily="49" charset="0"/>
              </a:rPr>
              <a:t>maxlength</a:t>
            </a:r>
            <a:r>
              <a:rPr lang="es-ES" b="1" dirty="0">
                <a:latin typeface="Consolas" panose="020B0609020204030204" pitchFamily="49" charset="0"/>
              </a:rPr>
              <a:t>="300" </a:t>
            </a:r>
            <a:br>
              <a:rPr lang="es-ES" b="1" dirty="0">
                <a:latin typeface="Consolas" panose="020B0609020204030204" pitchFamily="49" charset="0"/>
              </a:rPr>
            </a:br>
            <a:r>
              <a:rPr lang="es-ES" b="1" dirty="0">
                <a:latin typeface="Consolas" panose="020B0609020204030204" pitchFamily="49" charset="0"/>
              </a:rPr>
              <a:t>	[(</a:t>
            </a:r>
            <a:r>
              <a:rPr lang="es-ES" b="1" dirty="0" err="1">
                <a:latin typeface="Consolas" panose="020B0609020204030204" pitchFamily="49" charset="0"/>
              </a:rPr>
              <a:t>ngModel</a:t>
            </a:r>
            <a:r>
              <a:rPr lang="es-ES" b="1" dirty="0">
                <a:latin typeface="Consolas" panose="020B0609020204030204" pitchFamily="49" charset="0"/>
              </a:rPr>
              <a:t>)]="</a:t>
            </a:r>
            <a:r>
              <a:rPr lang="es-ES" b="1" dirty="0" err="1">
                <a:latin typeface="Consolas" panose="020B0609020204030204" pitchFamily="49" charset="0"/>
              </a:rPr>
              <a:t>ContactModel.msn</a:t>
            </a:r>
            <a:r>
              <a:rPr lang="es-ES" b="1" dirty="0">
                <a:latin typeface="Consolas" panose="020B0609020204030204" pitchFamily="49" charset="0"/>
              </a:rPr>
              <a:t>" </a:t>
            </a:r>
            <a:r>
              <a:rPr lang="es-ES" b="1" dirty="0" err="1">
                <a:latin typeface="Consolas" panose="020B0609020204030204" pitchFamily="49" charset="0"/>
              </a:rPr>
              <a:t>name</a:t>
            </a:r>
            <a:r>
              <a:rPr lang="es-ES" b="1" dirty="0">
                <a:latin typeface="Consolas" panose="020B0609020204030204" pitchFamily="49" charset="0"/>
              </a:rPr>
              <a:t>="</a:t>
            </a:r>
            <a:r>
              <a:rPr lang="es-ES" b="1" dirty="0" err="1">
                <a:latin typeface="Consolas" panose="020B0609020204030204" pitchFamily="49" charset="0"/>
              </a:rPr>
              <a:t>Msn</a:t>
            </a:r>
            <a:r>
              <a:rPr lang="es-ES" b="1" dirty="0">
                <a:latin typeface="Consolas" panose="020B0609020204030204" pitchFamily="49" charset="0"/>
              </a:rPr>
              <a:t>" </a:t>
            </a:r>
            <a:r>
              <a:rPr lang="es-ES" b="1" dirty="0" err="1">
                <a:latin typeface="Consolas" panose="020B0609020204030204" pitchFamily="49" charset="0"/>
              </a:rPr>
              <a:t>cols</a:t>
            </a:r>
            <a:r>
              <a:rPr lang="es-ES" b="1" dirty="0">
                <a:latin typeface="Consolas" panose="020B0609020204030204" pitchFamily="49" charset="0"/>
              </a:rPr>
              <a:t>="25"&gt;&lt;/</a:t>
            </a:r>
            <a:r>
              <a:rPr lang="es-ES" b="1" dirty="0" err="1">
                <a:latin typeface="Consolas" panose="020B0609020204030204" pitchFamily="49" charset="0"/>
              </a:rPr>
              <a:t>textarea</a:t>
            </a:r>
            <a:r>
              <a:rPr lang="es-ES" b="1" dirty="0">
                <a:latin typeface="Consolas" panose="020B0609020204030204" pitchFamily="49" charset="0"/>
              </a:rPr>
              <a:t>&gt;</a:t>
            </a:r>
          </a:p>
          <a:p>
            <a:r>
              <a:rPr lang="es-ES" b="1" dirty="0">
                <a:latin typeface="Consolas" panose="020B0609020204030204" pitchFamily="49" charset="0"/>
              </a:rPr>
              <a:t>   &lt;</a:t>
            </a:r>
            <a:r>
              <a:rPr lang="es-ES" b="1" dirty="0" err="1">
                <a:latin typeface="Consolas" panose="020B0609020204030204" pitchFamily="49" charset="0"/>
              </a:rPr>
              <a:t>button</a:t>
            </a:r>
            <a:r>
              <a:rPr lang="es-ES" b="1" dirty="0">
                <a:latin typeface="Consolas" panose="020B0609020204030204" pitchFamily="49" charset="0"/>
              </a:rPr>
              <a:t> </a:t>
            </a:r>
            <a:r>
              <a:rPr lang="es-ES" b="1" dirty="0">
                <a:solidFill>
                  <a:srgbClr val="FF0000"/>
                </a:solidFill>
                <a:latin typeface="Consolas" panose="020B0609020204030204" pitchFamily="49" charset="0"/>
              </a:rPr>
              <a:t>[</a:t>
            </a:r>
            <a:r>
              <a:rPr lang="es-ES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disabled</a:t>
            </a:r>
            <a:r>
              <a:rPr lang="es-ES" b="1" dirty="0">
                <a:solidFill>
                  <a:srgbClr val="FF0000"/>
                </a:solidFill>
                <a:latin typeface="Consolas" panose="020B0609020204030204" pitchFamily="49" charset="0"/>
              </a:rPr>
              <a:t>]="!</a:t>
            </a:r>
            <a:r>
              <a:rPr lang="es-ES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contactForm.form.valid</a:t>
            </a:r>
            <a:r>
              <a:rPr lang="es-ES" b="1" dirty="0">
                <a:solidFill>
                  <a:srgbClr val="FF0000"/>
                </a:solidFill>
                <a:latin typeface="Consolas" panose="020B0609020204030204" pitchFamily="49" charset="0"/>
              </a:rPr>
              <a:t>"</a:t>
            </a:r>
            <a:r>
              <a:rPr lang="es-ES" b="1" dirty="0">
                <a:latin typeface="Consolas" panose="020B0609020204030204" pitchFamily="49" charset="0"/>
              </a:rPr>
              <a:t>&gt;Enviar&lt;/</a:t>
            </a:r>
            <a:r>
              <a:rPr lang="es-ES" b="1" dirty="0" err="1">
                <a:latin typeface="Consolas" panose="020B0609020204030204" pitchFamily="49" charset="0"/>
              </a:rPr>
              <a:t>button</a:t>
            </a:r>
            <a:r>
              <a:rPr lang="es-ES" b="1" dirty="0">
                <a:latin typeface="Consolas" panose="020B0609020204030204" pitchFamily="49" charset="0"/>
              </a:rPr>
              <a:t>&gt;</a:t>
            </a:r>
          </a:p>
          <a:p>
            <a:r>
              <a:rPr lang="es-ES" b="1" dirty="0">
                <a:latin typeface="Consolas" panose="020B0609020204030204" pitchFamily="49" charset="0"/>
              </a:rPr>
              <a:t>&lt;/</a:t>
            </a:r>
            <a:r>
              <a:rPr lang="es-ES" b="1" dirty="0" err="1">
                <a:latin typeface="Consolas" panose="020B0609020204030204" pitchFamily="49" charset="0"/>
              </a:rPr>
              <a:t>form</a:t>
            </a:r>
            <a:r>
              <a:rPr lang="es-ES" b="1" dirty="0">
                <a:latin typeface="Consolas" panose="020B0609020204030204" pitchFamily="49" charset="0"/>
              </a:rPr>
              <a:t>&gt;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784316C-B806-D2C3-0850-8DC9C5D9DBC3}"/>
              </a:ext>
            </a:extLst>
          </p:cNvPr>
          <p:cNvSpPr txBox="1"/>
          <p:nvPr/>
        </p:nvSpPr>
        <p:spPr>
          <a:xfrm>
            <a:off x="6932612" y="160973"/>
            <a:ext cx="4495800" cy="135421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s-ES" sz="1600" b="1" dirty="0">
                <a:solidFill>
                  <a:schemeClr val="bg1"/>
                </a:solidFill>
                <a:latin typeface="Consolas" panose="020B0609020204030204" pitchFamily="49" charset="0"/>
              </a:rPr>
              <a:t>{{}} 	 &gt; Propiedades</a:t>
            </a:r>
          </a:p>
          <a:p>
            <a:r>
              <a:rPr lang="es-ES" sz="1600" b="1" dirty="0">
                <a:solidFill>
                  <a:schemeClr val="bg1"/>
                </a:solidFill>
                <a:latin typeface="Consolas" panose="020B0609020204030204" pitchFamily="49" charset="0"/>
              </a:rPr>
              <a:t>[]	 &gt; Propiedades</a:t>
            </a:r>
          </a:p>
          <a:p>
            <a:r>
              <a:rPr lang="es-ES" sz="1600" b="1" dirty="0">
                <a:solidFill>
                  <a:schemeClr val="bg1"/>
                </a:solidFill>
                <a:latin typeface="Consolas" panose="020B0609020204030204" pitchFamily="49" charset="0"/>
              </a:rPr>
              <a:t>()	 &gt; Eventos</a:t>
            </a:r>
          </a:p>
          <a:p>
            <a:r>
              <a:rPr lang="es-ES" sz="1600" b="1" dirty="0">
                <a:solidFill>
                  <a:schemeClr val="bg1"/>
                </a:solidFill>
                <a:latin typeface="Consolas" panose="020B0609020204030204" pitchFamily="49" charset="0"/>
              </a:rPr>
              <a:t>[()]	 &gt; Bidireccional</a:t>
            </a:r>
          </a:p>
          <a:p>
            <a:r>
              <a:rPr lang="es-ES" sz="1600" b="1" dirty="0">
                <a:solidFill>
                  <a:schemeClr val="bg1"/>
                </a:solidFill>
                <a:latin typeface="Consolas" panose="020B0609020204030204" pitchFamily="49" charset="0"/>
              </a:rPr>
              <a:t>#nombre 	 &gt; Crea una variable</a:t>
            </a:r>
            <a:endParaRPr lang="es-E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1296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Plantillas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&lt;html&gt;</a:t>
            </a:r>
          </a:p>
        </p:txBody>
      </p:sp>
    </p:spTree>
    <p:extLst>
      <p:ext uri="{BB962C8B-B14F-4D97-AF65-F5344CB8AC3E}">
        <p14:creationId xmlns:p14="http://schemas.microsoft.com/office/powerpoint/2010/main" val="20998000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Plantilla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4C4AED4-DC8B-4A67-914F-FDF1E95506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Una plantilla es código HTML que </a:t>
            </a:r>
            <a:r>
              <a:rPr lang="es-ES" b="1" dirty="0"/>
              <a:t>le dice a Angular cómo pintar un componente</a:t>
            </a:r>
          </a:p>
          <a:p>
            <a:r>
              <a:rPr lang="es-ES" dirty="0"/>
              <a:t>Las plantillas incluyen </a:t>
            </a:r>
            <a:r>
              <a:rPr lang="es-ES" b="1" dirty="0"/>
              <a:t>enlaces a datos (</a:t>
            </a:r>
            <a:r>
              <a:rPr lang="en-US" b="1" dirty="0"/>
              <a:t>data bindings)</a:t>
            </a:r>
            <a:r>
              <a:rPr lang="es-ES" dirty="0"/>
              <a:t>, así como a otros componentes y directivas</a:t>
            </a:r>
          </a:p>
          <a:p>
            <a:r>
              <a:rPr lang="es-ES" dirty="0"/>
              <a:t>Angular aprovecha los eventos y propiedades nativas de DOM que reducen drásticamente la necesidad de la típica tonelada de directivas integradas</a:t>
            </a:r>
          </a:p>
          <a:p>
            <a:r>
              <a:rPr lang="es-ES" dirty="0"/>
              <a:t>Angular aprovecha DOM para hacer cosas realmente interesantes con la encapsulación de vistas</a:t>
            </a:r>
          </a:p>
        </p:txBody>
      </p:sp>
    </p:spTree>
    <p:extLst>
      <p:ext uri="{BB962C8B-B14F-4D97-AF65-F5344CB8AC3E}">
        <p14:creationId xmlns:p14="http://schemas.microsoft.com/office/powerpoint/2010/main" val="4725212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18866" y="5911453"/>
            <a:ext cx="2694533" cy="7789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lang="es-ES" sz="5062" b="1" spc="-489" dirty="0">
                <a:solidFill>
                  <a:srgbClr val="3E82F7"/>
                </a:solidFill>
                <a:latin typeface="Trebuchet MS"/>
                <a:cs typeface="Trebuchet MS"/>
              </a:rPr>
              <a:t>Plantilla</a:t>
            </a:r>
            <a:endParaRPr sz="5062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067123" y="2107406"/>
            <a:ext cx="8063508" cy="26431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66"/>
          </a:p>
        </p:txBody>
      </p:sp>
    </p:spTree>
    <p:extLst>
      <p:ext uri="{BB962C8B-B14F-4D97-AF65-F5344CB8AC3E}">
        <p14:creationId xmlns:p14="http://schemas.microsoft.com/office/powerpoint/2010/main" val="19972136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1" y="0"/>
            <a:ext cx="12188825" cy="6858000"/>
          </a:xfrm>
          <a:custGeom>
            <a:avLst/>
            <a:gdLst/>
            <a:ahLst/>
            <a:cxnLst/>
            <a:rect l="l" t="t" r="r" b="b"/>
            <a:pathLst>
              <a:path w="13004800" h="9753600">
                <a:moveTo>
                  <a:pt x="0" y="0"/>
                </a:moveTo>
                <a:lnTo>
                  <a:pt x="13004800" y="0"/>
                </a:lnTo>
                <a:lnTo>
                  <a:pt x="13004800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3" name="object 3"/>
          <p:cNvSpPr/>
          <p:nvPr/>
        </p:nvSpPr>
        <p:spPr>
          <a:xfrm>
            <a:off x="1715293" y="1660922"/>
            <a:ext cx="1806476" cy="294680"/>
          </a:xfrm>
          <a:custGeom>
            <a:avLst/>
            <a:gdLst/>
            <a:ahLst/>
            <a:cxnLst/>
            <a:rect l="l" t="t" r="r" b="b"/>
            <a:pathLst>
              <a:path w="2569210" h="419100">
                <a:moveTo>
                  <a:pt x="0" y="0"/>
                </a:moveTo>
                <a:lnTo>
                  <a:pt x="2569070" y="0"/>
                </a:lnTo>
                <a:lnTo>
                  <a:pt x="256907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4" name="object 4"/>
          <p:cNvSpPr/>
          <p:nvPr/>
        </p:nvSpPr>
        <p:spPr>
          <a:xfrm>
            <a:off x="1715294" y="1955601"/>
            <a:ext cx="3763417" cy="294680"/>
          </a:xfrm>
          <a:custGeom>
            <a:avLst/>
            <a:gdLst/>
            <a:ahLst/>
            <a:cxnLst/>
            <a:rect l="l" t="t" r="r" b="b"/>
            <a:pathLst>
              <a:path w="5352415" h="419100">
                <a:moveTo>
                  <a:pt x="0" y="0"/>
                </a:moveTo>
                <a:lnTo>
                  <a:pt x="5352224" y="0"/>
                </a:lnTo>
                <a:lnTo>
                  <a:pt x="5352224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5" name="object 5"/>
          <p:cNvSpPr/>
          <p:nvPr/>
        </p:nvSpPr>
        <p:spPr>
          <a:xfrm>
            <a:off x="1715293" y="2250281"/>
            <a:ext cx="7827764" cy="294680"/>
          </a:xfrm>
          <a:custGeom>
            <a:avLst/>
            <a:gdLst/>
            <a:ahLst/>
            <a:cxnLst/>
            <a:rect l="l" t="t" r="r" b="b"/>
            <a:pathLst>
              <a:path w="11132820" h="419100">
                <a:moveTo>
                  <a:pt x="0" y="0"/>
                </a:moveTo>
                <a:lnTo>
                  <a:pt x="11132642" y="0"/>
                </a:lnTo>
                <a:lnTo>
                  <a:pt x="11132642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6" name="object 6"/>
          <p:cNvSpPr/>
          <p:nvPr/>
        </p:nvSpPr>
        <p:spPr>
          <a:xfrm>
            <a:off x="1715293" y="2544961"/>
            <a:ext cx="1806476" cy="294680"/>
          </a:xfrm>
          <a:custGeom>
            <a:avLst/>
            <a:gdLst/>
            <a:ahLst/>
            <a:cxnLst/>
            <a:rect l="l" t="t" r="r" b="b"/>
            <a:pathLst>
              <a:path w="2569210" h="419100">
                <a:moveTo>
                  <a:pt x="0" y="0"/>
                </a:moveTo>
                <a:lnTo>
                  <a:pt x="2569070" y="0"/>
                </a:lnTo>
                <a:lnTo>
                  <a:pt x="256907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7" name="object 7"/>
          <p:cNvSpPr/>
          <p:nvPr/>
        </p:nvSpPr>
        <p:spPr>
          <a:xfrm>
            <a:off x="1715293" y="2839640"/>
            <a:ext cx="2559248" cy="294680"/>
          </a:xfrm>
          <a:custGeom>
            <a:avLst/>
            <a:gdLst/>
            <a:ahLst/>
            <a:cxnLst/>
            <a:rect l="l" t="t" r="r" b="b"/>
            <a:pathLst>
              <a:path w="3639820" h="419100">
                <a:moveTo>
                  <a:pt x="0" y="0"/>
                </a:moveTo>
                <a:lnTo>
                  <a:pt x="3639515" y="0"/>
                </a:lnTo>
                <a:lnTo>
                  <a:pt x="3639515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8" name="object 8"/>
          <p:cNvSpPr/>
          <p:nvPr/>
        </p:nvSpPr>
        <p:spPr>
          <a:xfrm>
            <a:off x="1715293" y="3134320"/>
            <a:ext cx="3312021" cy="294680"/>
          </a:xfrm>
          <a:custGeom>
            <a:avLst/>
            <a:gdLst/>
            <a:ahLst/>
            <a:cxnLst/>
            <a:rect l="l" t="t" r="r" b="b"/>
            <a:pathLst>
              <a:path w="4710430" h="419100">
                <a:moveTo>
                  <a:pt x="0" y="0"/>
                </a:moveTo>
                <a:lnTo>
                  <a:pt x="4709960" y="0"/>
                </a:lnTo>
                <a:lnTo>
                  <a:pt x="470996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9" name="object 9"/>
          <p:cNvSpPr/>
          <p:nvPr/>
        </p:nvSpPr>
        <p:spPr>
          <a:xfrm>
            <a:off x="1715293" y="3429000"/>
            <a:ext cx="5268961" cy="294680"/>
          </a:xfrm>
          <a:custGeom>
            <a:avLst/>
            <a:gdLst/>
            <a:ahLst/>
            <a:cxnLst/>
            <a:rect l="l" t="t" r="r" b="b"/>
            <a:pathLst>
              <a:path w="7493634" h="419100">
                <a:moveTo>
                  <a:pt x="0" y="0"/>
                </a:moveTo>
                <a:lnTo>
                  <a:pt x="7493127" y="0"/>
                </a:lnTo>
                <a:lnTo>
                  <a:pt x="7493127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0" name="object 10"/>
          <p:cNvSpPr/>
          <p:nvPr/>
        </p:nvSpPr>
        <p:spPr>
          <a:xfrm>
            <a:off x="1715293" y="3723680"/>
            <a:ext cx="2860179" cy="294680"/>
          </a:xfrm>
          <a:custGeom>
            <a:avLst/>
            <a:gdLst/>
            <a:ahLst/>
            <a:cxnLst/>
            <a:rect l="l" t="t" r="r" b="b"/>
            <a:pathLst>
              <a:path w="4067810" h="419100">
                <a:moveTo>
                  <a:pt x="0" y="0"/>
                </a:moveTo>
                <a:lnTo>
                  <a:pt x="4067695" y="0"/>
                </a:lnTo>
                <a:lnTo>
                  <a:pt x="4067695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1" name="object 11"/>
          <p:cNvSpPr/>
          <p:nvPr/>
        </p:nvSpPr>
        <p:spPr>
          <a:xfrm>
            <a:off x="1715293" y="4018359"/>
            <a:ext cx="2709714" cy="294680"/>
          </a:xfrm>
          <a:custGeom>
            <a:avLst/>
            <a:gdLst/>
            <a:ahLst/>
            <a:cxnLst/>
            <a:rect l="l" t="t" r="r" b="b"/>
            <a:pathLst>
              <a:path w="3853815" h="419100">
                <a:moveTo>
                  <a:pt x="0" y="0"/>
                </a:moveTo>
                <a:lnTo>
                  <a:pt x="3853611" y="0"/>
                </a:lnTo>
                <a:lnTo>
                  <a:pt x="3853611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2" name="object 12"/>
          <p:cNvSpPr/>
          <p:nvPr/>
        </p:nvSpPr>
        <p:spPr>
          <a:xfrm>
            <a:off x="1715293" y="4313039"/>
            <a:ext cx="752773" cy="294680"/>
          </a:xfrm>
          <a:custGeom>
            <a:avLst/>
            <a:gdLst/>
            <a:ahLst/>
            <a:cxnLst/>
            <a:rect l="l" t="t" r="r" b="b"/>
            <a:pathLst>
              <a:path w="1070610" h="419100">
                <a:moveTo>
                  <a:pt x="0" y="0"/>
                </a:moveTo>
                <a:lnTo>
                  <a:pt x="1070444" y="0"/>
                </a:lnTo>
                <a:lnTo>
                  <a:pt x="1070444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3" name="object 13"/>
          <p:cNvSpPr/>
          <p:nvPr/>
        </p:nvSpPr>
        <p:spPr>
          <a:xfrm>
            <a:off x="1715294" y="4607719"/>
            <a:ext cx="602307" cy="294680"/>
          </a:xfrm>
          <a:custGeom>
            <a:avLst/>
            <a:gdLst/>
            <a:ahLst/>
            <a:cxnLst/>
            <a:rect l="l" t="t" r="r" b="b"/>
            <a:pathLst>
              <a:path w="856615" h="419100">
                <a:moveTo>
                  <a:pt x="0" y="0"/>
                </a:moveTo>
                <a:lnTo>
                  <a:pt x="856357" y="0"/>
                </a:lnTo>
                <a:lnTo>
                  <a:pt x="856357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4" name="object 14"/>
          <p:cNvSpPr/>
          <p:nvPr/>
        </p:nvSpPr>
        <p:spPr>
          <a:xfrm>
            <a:off x="1715294" y="4902398"/>
            <a:ext cx="301377" cy="294680"/>
          </a:xfrm>
          <a:custGeom>
            <a:avLst/>
            <a:gdLst/>
            <a:ahLst/>
            <a:cxnLst/>
            <a:rect l="l" t="t" r="r" b="b"/>
            <a:pathLst>
              <a:path w="428625" h="419100">
                <a:moveTo>
                  <a:pt x="0" y="0"/>
                </a:moveTo>
                <a:lnTo>
                  <a:pt x="428177" y="0"/>
                </a:lnTo>
                <a:lnTo>
                  <a:pt x="428177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709936" y="1646477"/>
            <a:ext cx="1824782" cy="30303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8929">
              <a:lnSpc>
                <a:spcPct val="100000"/>
              </a:lnSpc>
            </a:pP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@Component({</a:t>
            </a:r>
            <a:endParaRPr sz="1969">
              <a:latin typeface="Lucida Console"/>
              <a:cs typeface="Lucida Consol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010998" y="1937742"/>
            <a:ext cx="1372939" cy="3030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969" spc="-4" dirty="0">
                <a:solidFill>
                  <a:srgbClr val="A98BB9"/>
                </a:solidFill>
                <a:latin typeface="Lucida Console"/>
                <a:cs typeface="Lucida Console"/>
              </a:rPr>
              <a:t>selecto</a:t>
            </a:r>
            <a:r>
              <a:rPr sz="1969" spc="-7" dirty="0">
                <a:solidFill>
                  <a:srgbClr val="A98BB9"/>
                </a:solidFill>
                <a:latin typeface="Lucida Console"/>
                <a:cs typeface="Lucida Console"/>
              </a:rPr>
              <a:t>r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:</a:t>
            </a:r>
            <a:endParaRPr sz="1969">
              <a:latin typeface="Lucida Console"/>
              <a:cs typeface="Lucida Consol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516313" y="1937742"/>
            <a:ext cx="1974800" cy="3030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lang="es-ES"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'</a:t>
            </a:r>
            <a:r>
              <a:rPr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experiment</a:t>
            </a:r>
            <a:r>
              <a:rPr lang="es-ES"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'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,</a:t>
            </a:r>
            <a:endParaRPr sz="1969" dirty="0">
              <a:latin typeface="Lucida Console"/>
              <a:cs typeface="Lucida Consol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010997" y="2232422"/>
            <a:ext cx="1824335" cy="3030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969" spc="-4" dirty="0">
                <a:solidFill>
                  <a:srgbClr val="A98BB9"/>
                </a:solidFill>
                <a:latin typeface="Lucida Console"/>
                <a:cs typeface="Lucida Console"/>
              </a:rPr>
              <a:t>templateUrl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:</a:t>
            </a:r>
            <a:endParaRPr sz="1969">
              <a:latin typeface="Lucida Console"/>
              <a:cs typeface="Lucida Consol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967905" y="2232422"/>
            <a:ext cx="5587752" cy="3030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lang="es-ES" sz="1969" spc="-4" dirty="0">
                <a:solidFill>
                  <a:srgbClr val="FF0000"/>
                </a:solidFill>
                <a:latin typeface="Lucida Console"/>
                <a:cs typeface="Lucida Console"/>
              </a:rPr>
              <a:t>'</a:t>
            </a:r>
            <a:r>
              <a:rPr sz="1969" spc="-4" dirty="0">
                <a:solidFill>
                  <a:srgbClr val="FF0000"/>
                </a:solidFill>
                <a:latin typeface="Lucida Console"/>
                <a:cs typeface="Lucida Console"/>
              </a:rPr>
              <a:t>./experiment.detail.component.html</a:t>
            </a:r>
            <a:r>
              <a:rPr lang="es-ES" sz="1969" spc="-4" dirty="0">
                <a:solidFill>
                  <a:srgbClr val="FF0000"/>
                </a:solidFill>
                <a:latin typeface="Lucida Console"/>
                <a:cs typeface="Lucida Console"/>
              </a:rPr>
              <a:t>'</a:t>
            </a:r>
            <a:r>
              <a:rPr sz="1969" spc="-4" dirty="0">
                <a:solidFill>
                  <a:srgbClr val="FF0000"/>
                </a:solidFill>
                <a:latin typeface="Lucida Console"/>
                <a:cs typeface="Lucida Console"/>
              </a:rPr>
              <a:t>,</a:t>
            </a:r>
            <a:endParaRPr sz="1969" dirty="0">
              <a:solidFill>
                <a:srgbClr val="FF0000"/>
              </a:solidFill>
              <a:latin typeface="Lucida Console"/>
              <a:cs typeface="Lucida Consol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010998" y="2527102"/>
            <a:ext cx="2276177" cy="589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>
              <a:lnSpc>
                <a:spcPts val="2341"/>
              </a:lnSpc>
            </a:pPr>
            <a:r>
              <a:rPr sz="1969" spc="-4" dirty="0">
                <a:solidFill>
                  <a:srgbClr val="A98BB9"/>
                </a:solidFill>
                <a:latin typeface="Lucida Console"/>
                <a:cs typeface="Lucida Console"/>
              </a:rPr>
              <a:t>styles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:</a:t>
            </a:r>
            <a:r>
              <a:rPr sz="1969" spc="-60" dirty="0">
                <a:solidFill>
                  <a:srgbClr val="B7C4D1"/>
                </a:solidFill>
                <a:latin typeface="Lucida Console"/>
                <a:cs typeface="Lucida Console"/>
              </a:rPr>
              <a:t> 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[</a:t>
            </a:r>
            <a:r>
              <a:rPr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`</a:t>
            </a:r>
            <a:endParaRPr sz="1969">
              <a:latin typeface="Lucida Console"/>
              <a:cs typeface="Lucida Console"/>
            </a:endParaRPr>
          </a:p>
          <a:p>
            <a:pPr marL="309849">
              <a:lnSpc>
                <a:spcPts val="2341"/>
              </a:lnSpc>
            </a:pPr>
            <a:r>
              <a:rPr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.experiment</a:t>
            </a:r>
            <a:r>
              <a:rPr sz="1969" spc="-42" dirty="0">
                <a:solidFill>
                  <a:srgbClr val="7C976C"/>
                </a:solidFill>
                <a:latin typeface="Lucida Console"/>
                <a:cs typeface="Lucida Console"/>
              </a:rPr>
              <a:t> </a:t>
            </a:r>
            <a:r>
              <a:rPr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{</a:t>
            </a:r>
            <a:endParaRPr sz="1969">
              <a:latin typeface="Lucida Console"/>
              <a:cs typeface="Lucida Console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075706" y="3411141"/>
            <a:ext cx="921544" cy="3030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solid;</a:t>
            </a:r>
            <a:endParaRPr sz="1969">
              <a:latin typeface="Lucida Console"/>
              <a:cs typeface="Lucida Console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613198" y="3130748"/>
            <a:ext cx="3329880" cy="1179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 marR="3572">
              <a:lnSpc>
                <a:spcPts val="2320"/>
              </a:lnSpc>
              <a:tabLst>
                <a:tab pos="1363514" algn="l"/>
              </a:tabLst>
            </a:pPr>
            <a:r>
              <a:rPr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cursor: pointer;  outline:	1px</a:t>
            </a:r>
            <a:r>
              <a:rPr sz="1969" spc="-46" dirty="0">
                <a:solidFill>
                  <a:srgbClr val="7C976C"/>
                </a:solidFill>
                <a:latin typeface="Lucida Console"/>
                <a:cs typeface="Lucida Console"/>
              </a:rPr>
              <a:t> </a:t>
            </a:r>
            <a:r>
              <a:rPr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lightgray  padding:	5px;</a:t>
            </a:r>
            <a:endParaRPr sz="1969">
              <a:latin typeface="Lucida Console"/>
              <a:cs typeface="Lucida Console"/>
            </a:endParaRPr>
          </a:p>
          <a:p>
            <a:pPr marL="8929">
              <a:lnSpc>
                <a:spcPts val="2250"/>
              </a:lnSpc>
            </a:pPr>
            <a:r>
              <a:rPr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margin:</a:t>
            </a:r>
            <a:r>
              <a:rPr sz="1969" spc="-46" dirty="0">
                <a:solidFill>
                  <a:srgbClr val="7C976C"/>
                </a:solidFill>
                <a:latin typeface="Lucida Console"/>
                <a:cs typeface="Lucida Console"/>
              </a:rPr>
              <a:t> </a:t>
            </a:r>
            <a:r>
              <a:rPr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5px;</a:t>
            </a:r>
            <a:endParaRPr sz="1969">
              <a:latin typeface="Lucida Console"/>
              <a:cs typeface="Lucida Console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709935" y="4295180"/>
            <a:ext cx="770632" cy="8848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3572" algn="r">
              <a:lnSpc>
                <a:spcPts val="2341"/>
              </a:lnSpc>
            </a:pPr>
            <a:r>
              <a:rPr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}</a:t>
            </a:r>
            <a:endParaRPr sz="1969">
              <a:latin typeface="Lucida Console"/>
              <a:cs typeface="Lucida Console"/>
            </a:endParaRPr>
          </a:p>
          <a:p>
            <a:pPr marL="309849">
              <a:lnSpc>
                <a:spcPts val="2320"/>
              </a:lnSpc>
            </a:pPr>
            <a:r>
              <a:rPr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`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]</a:t>
            </a:r>
            <a:endParaRPr sz="1969">
              <a:latin typeface="Lucida Console"/>
              <a:cs typeface="Lucida Console"/>
            </a:endParaRPr>
          </a:p>
          <a:p>
            <a:pPr marL="8929">
              <a:lnSpc>
                <a:spcPts val="2341"/>
              </a:lnSpc>
            </a:pP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})</a:t>
            </a:r>
            <a:endParaRPr sz="1969">
              <a:latin typeface="Lucida Console"/>
              <a:cs typeface="Lucida Console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718866" y="5929312"/>
            <a:ext cx="2694533" cy="7789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lang="es-ES" sz="5062" b="1" spc="-489" dirty="0">
                <a:solidFill>
                  <a:srgbClr val="53585F"/>
                </a:solidFill>
                <a:latin typeface="Trebuchet MS"/>
                <a:cs typeface="Trebuchet MS"/>
              </a:rPr>
              <a:t>Plantilla</a:t>
            </a:r>
            <a:endParaRPr sz="5062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7254157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1" y="0"/>
            <a:ext cx="12188825" cy="6858000"/>
          </a:xfrm>
          <a:custGeom>
            <a:avLst/>
            <a:gdLst/>
            <a:ahLst/>
            <a:cxnLst/>
            <a:rect l="l" t="t" r="r" b="b"/>
            <a:pathLst>
              <a:path w="13004800" h="9753600">
                <a:moveTo>
                  <a:pt x="0" y="0"/>
                </a:moveTo>
                <a:lnTo>
                  <a:pt x="13004800" y="0"/>
                </a:lnTo>
                <a:lnTo>
                  <a:pt x="13004800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3" name="object 3"/>
          <p:cNvSpPr/>
          <p:nvPr/>
        </p:nvSpPr>
        <p:spPr>
          <a:xfrm>
            <a:off x="1715293" y="776883"/>
            <a:ext cx="1806476" cy="294680"/>
          </a:xfrm>
          <a:custGeom>
            <a:avLst/>
            <a:gdLst/>
            <a:ahLst/>
            <a:cxnLst/>
            <a:rect l="l" t="t" r="r" b="b"/>
            <a:pathLst>
              <a:path w="2569210" h="419100">
                <a:moveTo>
                  <a:pt x="0" y="0"/>
                </a:moveTo>
                <a:lnTo>
                  <a:pt x="2569070" y="0"/>
                </a:lnTo>
                <a:lnTo>
                  <a:pt x="256907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4" name="object 4"/>
          <p:cNvSpPr/>
          <p:nvPr/>
        </p:nvSpPr>
        <p:spPr>
          <a:xfrm>
            <a:off x="1715294" y="1071562"/>
            <a:ext cx="3763417" cy="294680"/>
          </a:xfrm>
          <a:custGeom>
            <a:avLst/>
            <a:gdLst/>
            <a:ahLst/>
            <a:cxnLst/>
            <a:rect l="l" t="t" r="r" b="b"/>
            <a:pathLst>
              <a:path w="5352415" h="419100">
                <a:moveTo>
                  <a:pt x="0" y="0"/>
                </a:moveTo>
                <a:lnTo>
                  <a:pt x="5352224" y="0"/>
                </a:lnTo>
                <a:lnTo>
                  <a:pt x="5352224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5" name="object 5"/>
          <p:cNvSpPr/>
          <p:nvPr/>
        </p:nvSpPr>
        <p:spPr>
          <a:xfrm>
            <a:off x="1715294" y="1366242"/>
            <a:ext cx="1956941" cy="294680"/>
          </a:xfrm>
          <a:custGeom>
            <a:avLst/>
            <a:gdLst/>
            <a:ahLst/>
            <a:cxnLst/>
            <a:rect l="l" t="t" r="r" b="b"/>
            <a:pathLst>
              <a:path w="2783205" h="419100">
                <a:moveTo>
                  <a:pt x="0" y="0"/>
                </a:moveTo>
                <a:lnTo>
                  <a:pt x="2783154" y="0"/>
                </a:lnTo>
                <a:lnTo>
                  <a:pt x="2783154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6" name="object 6"/>
          <p:cNvSpPr/>
          <p:nvPr/>
        </p:nvSpPr>
        <p:spPr>
          <a:xfrm>
            <a:off x="1715294" y="1660922"/>
            <a:ext cx="7677299" cy="294680"/>
          </a:xfrm>
          <a:custGeom>
            <a:avLst/>
            <a:gdLst/>
            <a:ahLst/>
            <a:cxnLst/>
            <a:rect l="l" t="t" r="r" b="b"/>
            <a:pathLst>
              <a:path w="10918825" h="419100">
                <a:moveTo>
                  <a:pt x="0" y="0"/>
                </a:moveTo>
                <a:lnTo>
                  <a:pt x="10918558" y="0"/>
                </a:lnTo>
                <a:lnTo>
                  <a:pt x="10918558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>
              <a:solidFill>
                <a:srgbClr val="FF0000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1715293" y="1955601"/>
            <a:ext cx="5118497" cy="294680"/>
          </a:xfrm>
          <a:custGeom>
            <a:avLst/>
            <a:gdLst/>
            <a:ahLst/>
            <a:cxnLst/>
            <a:rect l="l" t="t" r="r" b="b"/>
            <a:pathLst>
              <a:path w="7279640" h="419100">
                <a:moveTo>
                  <a:pt x="0" y="0"/>
                </a:moveTo>
                <a:lnTo>
                  <a:pt x="7279030" y="0"/>
                </a:lnTo>
                <a:lnTo>
                  <a:pt x="727903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>
              <a:solidFill>
                <a:srgbClr val="FF0000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1715294" y="2250281"/>
            <a:ext cx="5870823" cy="294680"/>
          </a:xfrm>
          <a:custGeom>
            <a:avLst/>
            <a:gdLst/>
            <a:ahLst/>
            <a:cxnLst/>
            <a:rect l="l" t="t" r="r" b="b"/>
            <a:pathLst>
              <a:path w="8349615" h="419100">
                <a:moveTo>
                  <a:pt x="0" y="0"/>
                </a:moveTo>
                <a:lnTo>
                  <a:pt x="8349475" y="0"/>
                </a:lnTo>
                <a:lnTo>
                  <a:pt x="8349475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>
              <a:solidFill>
                <a:srgbClr val="FF0000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1715293" y="2544961"/>
            <a:ext cx="7827764" cy="294680"/>
          </a:xfrm>
          <a:custGeom>
            <a:avLst/>
            <a:gdLst/>
            <a:ahLst/>
            <a:cxnLst/>
            <a:rect l="l" t="t" r="r" b="b"/>
            <a:pathLst>
              <a:path w="11132820" h="419100">
                <a:moveTo>
                  <a:pt x="0" y="0"/>
                </a:moveTo>
                <a:lnTo>
                  <a:pt x="11132642" y="0"/>
                </a:lnTo>
                <a:lnTo>
                  <a:pt x="11132642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>
              <a:solidFill>
                <a:srgbClr val="FF0000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715293" y="2839640"/>
            <a:ext cx="1204615" cy="294680"/>
          </a:xfrm>
          <a:custGeom>
            <a:avLst/>
            <a:gdLst/>
            <a:ahLst/>
            <a:cxnLst/>
            <a:rect l="l" t="t" r="r" b="b"/>
            <a:pathLst>
              <a:path w="1713230" h="419100">
                <a:moveTo>
                  <a:pt x="0" y="0"/>
                </a:moveTo>
                <a:lnTo>
                  <a:pt x="1712709" y="0"/>
                </a:lnTo>
                <a:lnTo>
                  <a:pt x="1712709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>
              <a:solidFill>
                <a:srgbClr val="FF0000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715294" y="3134320"/>
            <a:ext cx="602307" cy="294680"/>
          </a:xfrm>
          <a:custGeom>
            <a:avLst/>
            <a:gdLst/>
            <a:ahLst/>
            <a:cxnLst/>
            <a:rect l="l" t="t" r="r" b="b"/>
            <a:pathLst>
              <a:path w="856615" h="419100">
                <a:moveTo>
                  <a:pt x="0" y="0"/>
                </a:moveTo>
                <a:lnTo>
                  <a:pt x="856357" y="0"/>
                </a:lnTo>
                <a:lnTo>
                  <a:pt x="856357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2" name="object 12"/>
          <p:cNvSpPr/>
          <p:nvPr/>
        </p:nvSpPr>
        <p:spPr>
          <a:xfrm>
            <a:off x="1715293" y="3429000"/>
            <a:ext cx="1806476" cy="294680"/>
          </a:xfrm>
          <a:custGeom>
            <a:avLst/>
            <a:gdLst/>
            <a:ahLst/>
            <a:cxnLst/>
            <a:rect l="l" t="t" r="r" b="b"/>
            <a:pathLst>
              <a:path w="2569210" h="419100">
                <a:moveTo>
                  <a:pt x="0" y="0"/>
                </a:moveTo>
                <a:lnTo>
                  <a:pt x="2569070" y="0"/>
                </a:lnTo>
                <a:lnTo>
                  <a:pt x="256907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>
              <a:solidFill>
                <a:srgbClr val="FF0000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715293" y="3723680"/>
            <a:ext cx="2559248" cy="294680"/>
          </a:xfrm>
          <a:custGeom>
            <a:avLst/>
            <a:gdLst/>
            <a:ahLst/>
            <a:cxnLst/>
            <a:rect l="l" t="t" r="r" b="b"/>
            <a:pathLst>
              <a:path w="3639820" h="419100">
                <a:moveTo>
                  <a:pt x="0" y="0"/>
                </a:moveTo>
                <a:lnTo>
                  <a:pt x="3639515" y="0"/>
                </a:lnTo>
                <a:lnTo>
                  <a:pt x="3639515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>
              <a:solidFill>
                <a:srgbClr val="FF0000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715293" y="4018359"/>
            <a:ext cx="3312021" cy="294680"/>
          </a:xfrm>
          <a:custGeom>
            <a:avLst/>
            <a:gdLst/>
            <a:ahLst/>
            <a:cxnLst/>
            <a:rect l="l" t="t" r="r" b="b"/>
            <a:pathLst>
              <a:path w="4710430" h="419100">
                <a:moveTo>
                  <a:pt x="0" y="0"/>
                </a:moveTo>
                <a:lnTo>
                  <a:pt x="4709960" y="0"/>
                </a:lnTo>
                <a:lnTo>
                  <a:pt x="470996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>
              <a:solidFill>
                <a:srgbClr val="FF0000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715293" y="4313039"/>
            <a:ext cx="5268961" cy="294680"/>
          </a:xfrm>
          <a:custGeom>
            <a:avLst/>
            <a:gdLst/>
            <a:ahLst/>
            <a:cxnLst/>
            <a:rect l="l" t="t" r="r" b="b"/>
            <a:pathLst>
              <a:path w="7493634" h="419100">
                <a:moveTo>
                  <a:pt x="0" y="0"/>
                </a:moveTo>
                <a:lnTo>
                  <a:pt x="7493127" y="0"/>
                </a:lnTo>
                <a:lnTo>
                  <a:pt x="7493127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>
              <a:solidFill>
                <a:srgbClr val="FF0000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715293" y="4607719"/>
            <a:ext cx="2860179" cy="294680"/>
          </a:xfrm>
          <a:custGeom>
            <a:avLst/>
            <a:gdLst/>
            <a:ahLst/>
            <a:cxnLst/>
            <a:rect l="l" t="t" r="r" b="b"/>
            <a:pathLst>
              <a:path w="4067810" h="419100">
                <a:moveTo>
                  <a:pt x="0" y="0"/>
                </a:moveTo>
                <a:lnTo>
                  <a:pt x="4067695" y="0"/>
                </a:lnTo>
                <a:lnTo>
                  <a:pt x="4067695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>
              <a:solidFill>
                <a:srgbClr val="FF0000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715293" y="4902398"/>
            <a:ext cx="2709714" cy="294680"/>
          </a:xfrm>
          <a:custGeom>
            <a:avLst/>
            <a:gdLst/>
            <a:ahLst/>
            <a:cxnLst/>
            <a:rect l="l" t="t" r="r" b="b"/>
            <a:pathLst>
              <a:path w="3853815" h="419100">
                <a:moveTo>
                  <a:pt x="0" y="0"/>
                </a:moveTo>
                <a:lnTo>
                  <a:pt x="3853611" y="0"/>
                </a:lnTo>
                <a:lnTo>
                  <a:pt x="3853611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>
              <a:solidFill>
                <a:srgbClr val="FF0000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715293" y="5197078"/>
            <a:ext cx="752773" cy="294680"/>
          </a:xfrm>
          <a:custGeom>
            <a:avLst/>
            <a:gdLst/>
            <a:ahLst/>
            <a:cxnLst/>
            <a:rect l="l" t="t" r="r" b="b"/>
            <a:pathLst>
              <a:path w="1070610" h="419100">
                <a:moveTo>
                  <a:pt x="0" y="0"/>
                </a:moveTo>
                <a:lnTo>
                  <a:pt x="1070444" y="0"/>
                </a:lnTo>
                <a:lnTo>
                  <a:pt x="1070444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>
              <a:solidFill>
                <a:srgbClr val="FF0000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715294" y="5491758"/>
            <a:ext cx="602307" cy="294680"/>
          </a:xfrm>
          <a:custGeom>
            <a:avLst/>
            <a:gdLst/>
            <a:ahLst/>
            <a:cxnLst/>
            <a:rect l="l" t="t" r="r" b="b"/>
            <a:pathLst>
              <a:path w="856615" h="419100">
                <a:moveTo>
                  <a:pt x="0" y="0"/>
                </a:moveTo>
                <a:lnTo>
                  <a:pt x="856357" y="0"/>
                </a:lnTo>
                <a:lnTo>
                  <a:pt x="856357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20" name="object 20"/>
          <p:cNvSpPr/>
          <p:nvPr/>
        </p:nvSpPr>
        <p:spPr>
          <a:xfrm>
            <a:off x="1715294" y="5786437"/>
            <a:ext cx="301377" cy="294680"/>
          </a:xfrm>
          <a:custGeom>
            <a:avLst/>
            <a:gdLst/>
            <a:ahLst/>
            <a:cxnLst/>
            <a:rect l="l" t="t" r="r" b="b"/>
            <a:pathLst>
              <a:path w="428625" h="419100">
                <a:moveTo>
                  <a:pt x="0" y="0"/>
                </a:moveTo>
                <a:lnTo>
                  <a:pt x="428177" y="0"/>
                </a:lnTo>
                <a:lnTo>
                  <a:pt x="428177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1709936" y="760226"/>
            <a:ext cx="1824782" cy="29495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8929">
              <a:lnSpc>
                <a:spcPts val="2341"/>
              </a:lnSpc>
            </a:pP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@Component({</a:t>
            </a:r>
            <a:endParaRPr sz="1969">
              <a:latin typeface="Lucida Console"/>
              <a:cs typeface="Lucida Console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010998" y="1067990"/>
            <a:ext cx="3480346" cy="8848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 marR="3572">
              <a:lnSpc>
                <a:spcPts val="2320"/>
              </a:lnSpc>
            </a:pPr>
            <a:r>
              <a:rPr sz="1969" spc="-4" dirty="0">
                <a:solidFill>
                  <a:srgbClr val="A98BB9"/>
                </a:solidFill>
                <a:latin typeface="Lucida Console"/>
                <a:cs typeface="Lucida Console"/>
              </a:rPr>
              <a:t>selector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:</a:t>
            </a:r>
            <a:r>
              <a:rPr sz="1969" spc="-25" dirty="0">
                <a:solidFill>
                  <a:srgbClr val="B7C4D1"/>
                </a:solidFill>
                <a:latin typeface="Lucida Console"/>
                <a:cs typeface="Lucida Console"/>
              </a:rPr>
              <a:t> </a:t>
            </a:r>
            <a:r>
              <a:rPr lang="es-ES"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'</a:t>
            </a:r>
            <a:r>
              <a:rPr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experiment</a:t>
            </a:r>
            <a:r>
              <a:rPr lang="es-ES"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'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,  </a:t>
            </a:r>
            <a:r>
              <a:rPr sz="1969" spc="-4" dirty="0">
                <a:solidFill>
                  <a:srgbClr val="A98BB9"/>
                </a:solidFill>
                <a:latin typeface="Lucida Console"/>
                <a:cs typeface="Lucida Console"/>
              </a:rPr>
              <a:t>template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:</a:t>
            </a:r>
            <a:r>
              <a:rPr sz="1969" spc="-53" dirty="0">
                <a:solidFill>
                  <a:srgbClr val="B7C4D1"/>
                </a:solidFill>
                <a:latin typeface="Lucida Console"/>
                <a:cs typeface="Lucida Console"/>
              </a:rPr>
              <a:t> </a:t>
            </a:r>
            <a:r>
              <a:rPr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`</a:t>
            </a:r>
            <a:endParaRPr sz="1969" dirty="0">
              <a:latin typeface="Lucida Console"/>
              <a:cs typeface="Lucida Console"/>
            </a:endParaRPr>
          </a:p>
          <a:p>
            <a:pPr marL="8929">
              <a:lnSpc>
                <a:spcPts val="2250"/>
              </a:lnSpc>
            </a:pPr>
            <a:r>
              <a:rPr sz="1969" b="1" spc="-4" dirty="0">
                <a:solidFill>
                  <a:srgbClr val="FF0000"/>
                </a:solidFill>
                <a:latin typeface="Lucida Console"/>
                <a:cs typeface="Lucida Console"/>
              </a:rPr>
              <a:t>&lt;div</a:t>
            </a:r>
            <a:r>
              <a:rPr sz="1969" b="1" spc="-18" dirty="0">
                <a:solidFill>
                  <a:srgbClr val="FF0000"/>
                </a:solidFill>
                <a:latin typeface="Lucida Console"/>
                <a:cs typeface="Lucida Console"/>
              </a:rPr>
              <a:t> </a:t>
            </a:r>
            <a:r>
              <a:rPr sz="1969" spc="-4" dirty="0">
                <a:solidFill>
                  <a:srgbClr val="FF0000"/>
                </a:solidFill>
                <a:latin typeface="Lucida Console"/>
                <a:cs typeface="Lucida Console"/>
              </a:rPr>
              <a:t>class=</a:t>
            </a:r>
            <a:r>
              <a:rPr lang="es-ES" sz="1969" spc="-4" dirty="0">
                <a:solidFill>
                  <a:srgbClr val="FF0000"/>
                </a:solidFill>
                <a:latin typeface="Lucida Console"/>
                <a:cs typeface="Lucida Console"/>
              </a:rPr>
              <a:t>"</a:t>
            </a:r>
            <a:r>
              <a:rPr sz="1969" spc="-4" dirty="0">
                <a:solidFill>
                  <a:srgbClr val="FF0000"/>
                </a:solidFill>
                <a:latin typeface="Lucida Console"/>
                <a:cs typeface="Lucida Console"/>
              </a:rPr>
              <a:t>experiment</a:t>
            </a:r>
            <a:r>
              <a:rPr lang="es-ES" sz="1969" spc="-4" dirty="0">
                <a:solidFill>
                  <a:srgbClr val="FF0000"/>
                </a:solidFill>
                <a:latin typeface="Lucida Console"/>
                <a:cs typeface="Lucida Console"/>
              </a:rPr>
              <a:t>"</a:t>
            </a:r>
            <a:endParaRPr sz="1969" dirty="0">
              <a:solidFill>
                <a:srgbClr val="FF0000"/>
              </a:solidFill>
              <a:latin typeface="Lucida Console"/>
              <a:cs typeface="Lucida Console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624075" y="1643063"/>
            <a:ext cx="3781723" cy="3030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969" spc="-4" dirty="0">
                <a:solidFill>
                  <a:srgbClr val="FF0000"/>
                </a:solidFill>
                <a:latin typeface="Lucida Console"/>
                <a:cs typeface="Lucida Console"/>
              </a:rPr>
              <a:t>(click)=</a:t>
            </a:r>
            <a:r>
              <a:rPr lang="es-ES" sz="1969" spc="-4" dirty="0">
                <a:solidFill>
                  <a:srgbClr val="FF0000"/>
                </a:solidFill>
                <a:latin typeface="Lucida Console"/>
                <a:cs typeface="Lucida Console"/>
              </a:rPr>
              <a:t>"</a:t>
            </a:r>
            <a:r>
              <a:rPr sz="1969" spc="-4" dirty="0" err="1">
                <a:solidFill>
                  <a:srgbClr val="FF0000"/>
                </a:solidFill>
                <a:latin typeface="Lucida Console"/>
                <a:cs typeface="Lucida Console"/>
              </a:rPr>
              <a:t>doExperiment</a:t>
            </a:r>
            <a:r>
              <a:rPr sz="1969" spc="-4" dirty="0">
                <a:solidFill>
                  <a:srgbClr val="FF0000"/>
                </a:solidFill>
                <a:latin typeface="Lucida Console"/>
                <a:cs typeface="Lucida Console"/>
              </a:rPr>
              <a:t>()</a:t>
            </a:r>
            <a:r>
              <a:rPr lang="es-ES" sz="1969" spc="-4" dirty="0">
                <a:solidFill>
                  <a:srgbClr val="FF0000"/>
                </a:solidFill>
                <a:latin typeface="Lucida Console"/>
                <a:cs typeface="Lucida Console"/>
              </a:rPr>
              <a:t>"</a:t>
            </a:r>
            <a:r>
              <a:rPr sz="1969" spc="-4" dirty="0">
                <a:solidFill>
                  <a:srgbClr val="FF0000"/>
                </a:solidFill>
                <a:latin typeface="Lucida Console"/>
                <a:cs typeface="Lucida Console"/>
              </a:rPr>
              <a:t>&gt;</a:t>
            </a:r>
            <a:endParaRPr sz="1969" dirty="0">
              <a:solidFill>
                <a:srgbClr val="FF0000"/>
              </a:solidFill>
              <a:latin typeface="Lucida Console"/>
              <a:cs typeface="Lucida Console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312111" y="1937742"/>
            <a:ext cx="3329880" cy="3030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969" spc="-4" dirty="0">
                <a:solidFill>
                  <a:srgbClr val="FF0000"/>
                </a:solidFill>
                <a:latin typeface="Lucida Console"/>
                <a:cs typeface="Lucida Console"/>
              </a:rPr>
              <a:t>&lt;h3&gt;{{</a:t>
            </a:r>
            <a:r>
              <a:rPr sz="1969" spc="-21" dirty="0">
                <a:solidFill>
                  <a:srgbClr val="FF0000"/>
                </a:solidFill>
                <a:latin typeface="Lucida Console"/>
                <a:cs typeface="Lucida Console"/>
              </a:rPr>
              <a:t> </a:t>
            </a:r>
            <a:r>
              <a:rPr sz="1969" spc="-4" dirty="0">
                <a:solidFill>
                  <a:srgbClr val="FF0000"/>
                </a:solidFill>
                <a:latin typeface="Lucida Console"/>
                <a:cs typeface="Lucida Console"/>
              </a:rPr>
              <a:t>experiment.name</a:t>
            </a:r>
            <a:endParaRPr sz="1969">
              <a:solidFill>
                <a:srgbClr val="FF0000"/>
              </a:solidFill>
              <a:latin typeface="Lucida Console"/>
              <a:cs typeface="Lucida Console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774618" y="1937742"/>
            <a:ext cx="1072009" cy="3030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969" spc="-4" dirty="0">
                <a:solidFill>
                  <a:srgbClr val="FF0000"/>
                </a:solidFill>
                <a:latin typeface="Lucida Console"/>
                <a:cs typeface="Lucida Console"/>
              </a:rPr>
              <a:t>}}&lt;/h3&gt;</a:t>
            </a:r>
            <a:endParaRPr sz="1969">
              <a:solidFill>
                <a:srgbClr val="FF0000"/>
              </a:solidFill>
              <a:latin typeface="Lucida Console"/>
              <a:cs typeface="Lucida Console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010998" y="2232422"/>
            <a:ext cx="7545139" cy="1769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09849">
              <a:lnSpc>
                <a:spcPts val="2341"/>
              </a:lnSpc>
            </a:pPr>
            <a:r>
              <a:rPr sz="1969" spc="-4" dirty="0">
                <a:solidFill>
                  <a:srgbClr val="FF0000"/>
                </a:solidFill>
                <a:latin typeface="Lucida Console"/>
                <a:cs typeface="Lucida Console"/>
              </a:rPr>
              <a:t>&lt;p&gt;{{ experiment.description</a:t>
            </a:r>
            <a:r>
              <a:rPr sz="1969" spc="11" dirty="0">
                <a:solidFill>
                  <a:srgbClr val="FF0000"/>
                </a:solidFill>
                <a:latin typeface="Lucida Console"/>
                <a:cs typeface="Lucida Console"/>
              </a:rPr>
              <a:t> </a:t>
            </a:r>
            <a:r>
              <a:rPr sz="1969" spc="-4" dirty="0">
                <a:solidFill>
                  <a:srgbClr val="FF0000"/>
                </a:solidFill>
                <a:latin typeface="Lucida Console"/>
                <a:cs typeface="Lucida Console"/>
              </a:rPr>
              <a:t>}}&lt;/p&gt;</a:t>
            </a:r>
            <a:endParaRPr sz="1969" dirty="0">
              <a:solidFill>
                <a:srgbClr val="FF0000"/>
              </a:solidFill>
              <a:latin typeface="Lucida Console"/>
              <a:cs typeface="Lucida Console"/>
            </a:endParaRPr>
          </a:p>
          <a:p>
            <a:pPr marL="309849">
              <a:lnSpc>
                <a:spcPts val="2320"/>
              </a:lnSpc>
            </a:pPr>
            <a:r>
              <a:rPr sz="1969" spc="-4" dirty="0">
                <a:solidFill>
                  <a:srgbClr val="FF0000"/>
                </a:solidFill>
                <a:latin typeface="Lucida Console"/>
                <a:cs typeface="Lucida Console"/>
              </a:rPr>
              <a:t>&lt;p&gt;&lt;strong&gt;{{experiment.completed}}&lt;/strong&gt;&lt;/p&gt;</a:t>
            </a:r>
            <a:endParaRPr sz="1969" dirty="0">
              <a:solidFill>
                <a:srgbClr val="FF0000"/>
              </a:solidFill>
              <a:latin typeface="Lucida Console"/>
              <a:cs typeface="Lucida Console"/>
            </a:endParaRPr>
          </a:p>
          <a:p>
            <a:pPr marL="8929">
              <a:lnSpc>
                <a:spcPts val="2320"/>
              </a:lnSpc>
            </a:pPr>
            <a:r>
              <a:rPr sz="1969" spc="-4" dirty="0">
                <a:solidFill>
                  <a:srgbClr val="FF0000"/>
                </a:solidFill>
                <a:latin typeface="Lucida Console"/>
                <a:cs typeface="Lucida Console"/>
              </a:rPr>
              <a:t>&lt;/div&gt;</a:t>
            </a:r>
            <a:endParaRPr sz="1969" dirty="0">
              <a:solidFill>
                <a:srgbClr val="FF0000"/>
              </a:solidFill>
              <a:latin typeface="Lucida Console"/>
              <a:cs typeface="Lucida Console"/>
            </a:endParaRPr>
          </a:p>
          <a:p>
            <a:pPr marL="8929">
              <a:lnSpc>
                <a:spcPts val="2320"/>
              </a:lnSpc>
            </a:pPr>
            <a:r>
              <a:rPr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`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,</a:t>
            </a:r>
            <a:endParaRPr sz="1969" dirty="0">
              <a:latin typeface="Lucida Console"/>
              <a:cs typeface="Lucida Console"/>
            </a:endParaRPr>
          </a:p>
          <a:p>
            <a:pPr marL="8929">
              <a:lnSpc>
                <a:spcPts val="2320"/>
              </a:lnSpc>
            </a:pPr>
            <a:r>
              <a:rPr sz="1969" spc="-4" dirty="0">
                <a:solidFill>
                  <a:srgbClr val="A98BB9"/>
                </a:solidFill>
                <a:latin typeface="Lucida Console"/>
                <a:cs typeface="Lucida Console"/>
              </a:rPr>
              <a:t>styles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:</a:t>
            </a:r>
            <a:r>
              <a:rPr sz="1969" spc="-60" dirty="0">
                <a:solidFill>
                  <a:srgbClr val="B7C4D1"/>
                </a:solidFill>
                <a:latin typeface="Lucida Console"/>
                <a:cs typeface="Lucida Console"/>
              </a:rPr>
              <a:t> 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[</a:t>
            </a:r>
            <a:r>
              <a:rPr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`</a:t>
            </a:r>
            <a:endParaRPr sz="1969" dirty="0">
              <a:latin typeface="Lucida Console"/>
              <a:cs typeface="Lucida Console"/>
            </a:endParaRPr>
          </a:p>
          <a:p>
            <a:pPr marL="309849">
              <a:lnSpc>
                <a:spcPts val="2341"/>
              </a:lnSpc>
            </a:pPr>
            <a:r>
              <a:rPr sz="1969" spc="-4" dirty="0">
                <a:solidFill>
                  <a:srgbClr val="FF0000"/>
                </a:solidFill>
                <a:latin typeface="Lucida Console"/>
                <a:cs typeface="Lucida Console"/>
              </a:rPr>
              <a:t>.experiment</a:t>
            </a:r>
            <a:r>
              <a:rPr sz="1969" spc="-42" dirty="0">
                <a:solidFill>
                  <a:srgbClr val="FF0000"/>
                </a:solidFill>
                <a:latin typeface="Lucida Console"/>
                <a:cs typeface="Lucida Console"/>
              </a:rPr>
              <a:t> </a:t>
            </a:r>
            <a:r>
              <a:rPr sz="1969" spc="-4" dirty="0">
                <a:solidFill>
                  <a:srgbClr val="FF0000"/>
                </a:solidFill>
                <a:latin typeface="Lucida Console"/>
                <a:cs typeface="Lucida Console"/>
              </a:rPr>
              <a:t>{</a:t>
            </a:r>
            <a:endParaRPr sz="1969" dirty="0">
              <a:solidFill>
                <a:srgbClr val="FF0000"/>
              </a:solidFill>
              <a:latin typeface="Lucida Console"/>
              <a:cs typeface="Lucida Console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075706" y="4295180"/>
            <a:ext cx="921544" cy="3030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969" spc="-4" dirty="0">
                <a:solidFill>
                  <a:srgbClr val="FF0000"/>
                </a:solidFill>
                <a:latin typeface="Lucida Console"/>
                <a:cs typeface="Lucida Console"/>
              </a:rPr>
              <a:t>solid;</a:t>
            </a:r>
            <a:endParaRPr sz="1969">
              <a:solidFill>
                <a:srgbClr val="FF0000"/>
              </a:solidFill>
              <a:latin typeface="Lucida Console"/>
              <a:cs typeface="Lucida Console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613198" y="4014787"/>
            <a:ext cx="3329880" cy="1179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 marR="3572">
              <a:lnSpc>
                <a:spcPts val="2320"/>
              </a:lnSpc>
              <a:tabLst>
                <a:tab pos="1363514" algn="l"/>
              </a:tabLst>
            </a:pPr>
            <a:r>
              <a:rPr sz="1969" spc="-4" dirty="0">
                <a:solidFill>
                  <a:srgbClr val="FF0000"/>
                </a:solidFill>
                <a:latin typeface="Lucida Console"/>
                <a:cs typeface="Lucida Console"/>
              </a:rPr>
              <a:t>cursor: pointer;  outline:	1px</a:t>
            </a:r>
            <a:r>
              <a:rPr sz="1969" spc="-46" dirty="0">
                <a:solidFill>
                  <a:srgbClr val="FF0000"/>
                </a:solidFill>
                <a:latin typeface="Lucida Console"/>
                <a:cs typeface="Lucida Console"/>
              </a:rPr>
              <a:t> </a:t>
            </a:r>
            <a:r>
              <a:rPr sz="1969" spc="-4" dirty="0">
                <a:solidFill>
                  <a:srgbClr val="FF0000"/>
                </a:solidFill>
                <a:latin typeface="Lucida Console"/>
                <a:cs typeface="Lucida Console"/>
              </a:rPr>
              <a:t>lightgray  padding:	5px;</a:t>
            </a:r>
            <a:endParaRPr sz="1969" dirty="0">
              <a:solidFill>
                <a:srgbClr val="FF0000"/>
              </a:solidFill>
              <a:latin typeface="Lucida Console"/>
              <a:cs typeface="Lucida Console"/>
            </a:endParaRPr>
          </a:p>
          <a:p>
            <a:pPr marL="8929">
              <a:lnSpc>
                <a:spcPts val="2250"/>
              </a:lnSpc>
            </a:pPr>
            <a:r>
              <a:rPr sz="1969" spc="-4" dirty="0">
                <a:solidFill>
                  <a:srgbClr val="FF0000"/>
                </a:solidFill>
                <a:latin typeface="Lucida Console"/>
                <a:cs typeface="Lucida Console"/>
              </a:rPr>
              <a:t>margin:</a:t>
            </a:r>
            <a:r>
              <a:rPr sz="1969" spc="-46" dirty="0">
                <a:solidFill>
                  <a:srgbClr val="FF0000"/>
                </a:solidFill>
                <a:latin typeface="Lucida Console"/>
                <a:cs typeface="Lucida Console"/>
              </a:rPr>
              <a:t> </a:t>
            </a:r>
            <a:r>
              <a:rPr sz="1969" spc="-4" dirty="0">
                <a:solidFill>
                  <a:srgbClr val="FF0000"/>
                </a:solidFill>
                <a:latin typeface="Lucida Console"/>
                <a:cs typeface="Lucida Console"/>
              </a:rPr>
              <a:t>5px;</a:t>
            </a:r>
            <a:endParaRPr sz="1969" dirty="0">
              <a:solidFill>
                <a:srgbClr val="FF0000"/>
              </a:solidFill>
              <a:latin typeface="Lucida Console"/>
              <a:cs typeface="Lucida Console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709936" y="5179219"/>
            <a:ext cx="2703463" cy="15260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769">
              <a:lnSpc>
                <a:spcPts val="2341"/>
              </a:lnSpc>
            </a:pPr>
            <a:r>
              <a:rPr sz="1969" spc="-4" dirty="0">
                <a:solidFill>
                  <a:srgbClr val="FF0000"/>
                </a:solidFill>
                <a:latin typeface="Lucida Console"/>
                <a:cs typeface="Lucida Console"/>
              </a:rPr>
              <a:t>}</a:t>
            </a:r>
            <a:endParaRPr sz="1969" dirty="0">
              <a:solidFill>
                <a:srgbClr val="FF0000"/>
              </a:solidFill>
              <a:latin typeface="Lucida Console"/>
              <a:cs typeface="Lucida Console"/>
            </a:endParaRPr>
          </a:p>
          <a:p>
            <a:pPr marL="309849">
              <a:lnSpc>
                <a:spcPts val="2320"/>
              </a:lnSpc>
            </a:pPr>
            <a:r>
              <a:rPr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`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]</a:t>
            </a:r>
            <a:endParaRPr sz="1969" dirty="0">
              <a:latin typeface="Lucida Console"/>
              <a:cs typeface="Lucida Console"/>
            </a:endParaRPr>
          </a:p>
          <a:p>
            <a:pPr marL="8929">
              <a:lnSpc>
                <a:spcPts val="1793"/>
              </a:lnSpc>
            </a:pP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})</a:t>
            </a:r>
            <a:endParaRPr sz="1969" dirty="0">
              <a:latin typeface="Lucida Console"/>
              <a:cs typeface="Lucida Console"/>
            </a:endParaRPr>
          </a:p>
          <a:p>
            <a:pPr marL="17859">
              <a:lnSpc>
                <a:spcPts val="5526"/>
              </a:lnSpc>
            </a:pPr>
            <a:r>
              <a:rPr lang="es-ES" sz="5062" b="1" spc="-489" dirty="0">
                <a:solidFill>
                  <a:srgbClr val="53585F"/>
                </a:solidFill>
                <a:latin typeface="Trebuchet MS"/>
                <a:cs typeface="Trebuchet MS"/>
              </a:rPr>
              <a:t>Plantilla</a:t>
            </a:r>
            <a:endParaRPr lang="es-ES" sz="5062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5774984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885CD193-09F3-409C-9221-133AB8563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Data </a:t>
            </a:r>
            <a:r>
              <a:rPr lang="es-ES" dirty="0" err="1"/>
              <a:t>Binding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604637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/>
              <a:t>Data Binding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8FAD9E1-AA23-45A5-AC5C-2B6951EBE8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 dirty="0"/>
              <a:t>Permite que los datos fluyan del componente a la plantilla y viceversa</a:t>
            </a:r>
          </a:p>
          <a:p>
            <a:r>
              <a:rPr lang="es-ES" dirty="0"/>
              <a:t>Incluye: </a:t>
            </a:r>
          </a:p>
          <a:p>
            <a:pPr lvl="1"/>
            <a:r>
              <a:rPr lang="es-ES" b="1" dirty="0" err="1"/>
              <a:t>Interpolation</a:t>
            </a:r>
            <a:endParaRPr lang="es-ES" b="1" dirty="0"/>
          </a:p>
          <a:p>
            <a:pPr lvl="1"/>
            <a:r>
              <a:rPr lang="es-ES" b="1" dirty="0" err="1"/>
              <a:t>Binding</a:t>
            </a:r>
            <a:r>
              <a:rPr lang="es-ES" b="1" dirty="0"/>
              <a:t> de propiedades</a:t>
            </a:r>
          </a:p>
          <a:p>
            <a:pPr lvl="1"/>
            <a:r>
              <a:rPr lang="es-ES" b="1" dirty="0" err="1"/>
              <a:t>Binding</a:t>
            </a:r>
            <a:r>
              <a:rPr lang="es-ES" b="1" dirty="0"/>
              <a:t> de eventos</a:t>
            </a:r>
          </a:p>
          <a:p>
            <a:pPr lvl="1"/>
            <a:r>
              <a:rPr lang="es-ES" b="1" dirty="0" err="1"/>
              <a:t>Binding</a:t>
            </a:r>
            <a:r>
              <a:rPr lang="es-ES" b="1" dirty="0"/>
              <a:t> de dos vías </a:t>
            </a:r>
            <a:r>
              <a:rPr lang="es-ES" dirty="0"/>
              <a:t>(</a:t>
            </a:r>
            <a:r>
              <a:rPr lang="es-ES" dirty="0" err="1"/>
              <a:t>Binding</a:t>
            </a:r>
            <a:r>
              <a:rPr lang="es-ES" dirty="0"/>
              <a:t> de propiedades y de eventos combinadas)</a:t>
            </a:r>
          </a:p>
          <a:p>
            <a:r>
              <a:rPr lang="es-ES" dirty="0"/>
              <a:t>La sintaxis de los </a:t>
            </a:r>
            <a:r>
              <a:rPr lang="es-ES" dirty="0" err="1"/>
              <a:t>binding</a:t>
            </a:r>
            <a:r>
              <a:rPr lang="es-ES" dirty="0"/>
              <a:t> se ha expandido, pero el resultado es </a:t>
            </a:r>
            <a:r>
              <a:rPr lang="es-ES" b="1" dirty="0"/>
              <a:t>una huella en el </a:t>
            </a:r>
            <a:r>
              <a:rPr lang="es-ES" b="1" dirty="0" err="1"/>
              <a:t>framework</a:t>
            </a:r>
            <a:r>
              <a:rPr lang="es-ES" b="1" dirty="0"/>
              <a:t> mucho más pequeña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393077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AC0CB0E1-383B-4CF1-A0E2-034F8B0C3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altLang="es-ES" dirty="0" err="1"/>
              <a:t>Binding</a:t>
            </a:r>
            <a:endParaRPr lang="es-ES" dirty="0"/>
          </a:p>
        </p:txBody>
      </p:sp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086CBFDD-AF5C-46E8-BA2B-CFD816EDC1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altLang="es-ES" sz="2800" dirty="0">
                <a:solidFill>
                  <a:srgbClr val="444444"/>
                </a:solidFill>
                <a:latin typeface="Open Sans"/>
              </a:rPr>
              <a:t>La clave para entender cómo funciona </a:t>
            </a:r>
            <a:r>
              <a:rPr lang="es-ES" altLang="es-ES" sz="2800" i="1" dirty="0">
                <a:solidFill>
                  <a:srgbClr val="444444"/>
                </a:solidFill>
                <a:latin typeface="inherit"/>
              </a:rPr>
              <a:t>Angular</a:t>
            </a:r>
            <a:r>
              <a:rPr lang="es-ES" altLang="es-ES" sz="2800" dirty="0">
                <a:solidFill>
                  <a:srgbClr val="444444"/>
                </a:solidFill>
                <a:latin typeface="Open Sans"/>
              </a:rPr>
              <a:t> está en el concepto de </a:t>
            </a:r>
            <a:r>
              <a:rPr lang="es-ES" altLang="es-ES" sz="2800" b="1" dirty="0">
                <a:solidFill>
                  <a:srgbClr val="444444"/>
                </a:solidFill>
                <a:latin typeface="inherit"/>
              </a:rPr>
              <a:t>enlace entre elementos </a:t>
            </a:r>
            <a:r>
              <a:rPr lang="es-ES" altLang="es-ES" sz="2800" b="1" dirty="0" err="1">
                <a:solidFill>
                  <a:srgbClr val="444444"/>
                </a:solidFill>
                <a:latin typeface="inherit"/>
              </a:rPr>
              <a:t>html</a:t>
            </a:r>
            <a:r>
              <a:rPr lang="es-ES" altLang="es-ES" sz="2800" b="1" dirty="0">
                <a:solidFill>
                  <a:srgbClr val="444444"/>
                </a:solidFill>
                <a:latin typeface="inherit"/>
              </a:rPr>
              <a:t> de las vistas y propiedades de modelos</a:t>
            </a:r>
            <a:r>
              <a:rPr lang="es-ES" altLang="es-ES" sz="2800" dirty="0">
                <a:solidFill>
                  <a:srgbClr val="444444"/>
                </a:solidFill>
                <a:latin typeface="Open Sans"/>
              </a:rPr>
              <a:t> de datos, el llamado… </a:t>
            </a:r>
          </a:p>
          <a:p>
            <a:pPr marL="0" indent="0" algn="ctr">
              <a:buNone/>
            </a:pPr>
            <a:endParaRPr lang="es-ES" altLang="es-ES" sz="2800" dirty="0">
              <a:latin typeface="Open Sans"/>
            </a:endParaRPr>
          </a:p>
          <a:p>
            <a:pPr marL="0" indent="0" algn="ctr">
              <a:buNone/>
            </a:pPr>
            <a:r>
              <a:rPr lang="es-ES" altLang="es-ES" sz="6000" dirty="0" err="1">
                <a:solidFill>
                  <a:srgbClr val="428AC7"/>
                </a:solidFill>
                <a:latin typeface="Source Code Pro"/>
              </a:rPr>
              <a:t>binding</a:t>
            </a:r>
            <a:endParaRPr lang="es-ES" altLang="es-ES" sz="3600" dirty="0">
              <a:latin typeface="Arial" panose="020B0604020202020204" pitchFamily="34" charset="0"/>
            </a:endParaRPr>
          </a:p>
          <a:p>
            <a:endParaRPr lang="es-ES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E0903B38-0F29-4FCB-B2C8-EC41C20EC3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1560" y="90100"/>
            <a:ext cx="25705" cy="276999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696" tIns="0" rIns="12696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47062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18866" y="5911453"/>
            <a:ext cx="3722340" cy="7789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5062" b="1" spc="-35" dirty="0">
                <a:solidFill>
                  <a:srgbClr val="3E82F7"/>
                </a:solidFill>
                <a:latin typeface="Trebuchet MS"/>
                <a:cs typeface="Trebuchet MS"/>
              </a:rPr>
              <a:t>Data</a:t>
            </a:r>
            <a:r>
              <a:rPr sz="5062" b="1" spc="-320" dirty="0">
                <a:solidFill>
                  <a:srgbClr val="3E82F7"/>
                </a:solidFill>
                <a:latin typeface="Trebuchet MS"/>
                <a:cs typeface="Trebuchet MS"/>
              </a:rPr>
              <a:t> </a:t>
            </a:r>
            <a:r>
              <a:rPr sz="5062" b="1" spc="-18" dirty="0">
                <a:solidFill>
                  <a:srgbClr val="3E82F7"/>
                </a:solidFill>
                <a:latin typeface="Trebuchet MS"/>
                <a:cs typeface="Trebuchet MS"/>
              </a:rPr>
              <a:t>Binding</a:t>
            </a:r>
            <a:endParaRPr sz="5062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415506" y="928688"/>
            <a:ext cx="5357813" cy="50006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66"/>
          </a:p>
        </p:txBody>
      </p:sp>
    </p:spTree>
    <p:extLst>
      <p:ext uri="{BB962C8B-B14F-4D97-AF65-F5344CB8AC3E}">
        <p14:creationId xmlns:p14="http://schemas.microsoft.com/office/powerpoint/2010/main" val="3382670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 err="1"/>
              <a:t>Template</a:t>
            </a:r>
            <a:r>
              <a:rPr lang="es-ES" dirty="0"/>
              <a:t> </a:t>
            </a:r>
            <a:r>
              <a:rPr lang="es-ES" dirty="0" err="1"/>
              <a:t>Binding</a:t>
            </a:r>
            <a:endParaRPr lang="es-ES" dirty="0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A7C7173-BCF0-4C68-8972-7A8C3FED4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Interpolation</a:t>
            </a:r>
          </a:p>
          <a:p>
            <a:r>
              <a:rPr lang="en-US" dirty="0"/>
              <a:t>Property Binding</a:t>
            </a:r>
          </a:p>
          <a:p>
            <a:r>
              <a:rPr lang="en-US" dirty="0"/>
              <a:t>Method Binding</a:t>
            </a:r>
          </a:p>
          <a:p>
            <a:r>
              <a:rPr lang="en-US" dirty="0"/>
              <a:t>Two Way Binding</a:t>
            </a:r>
          </a:p>
          <a:p>
            <a:endParaRPr lang="es-ES" dirty="0"/>
          </a:p>
        </p:txBody>
      </p:sp>
      <p:pic>
        <p:nvPicPr>
          <p:cNvPr id="9" name="Изображение 8">
            <a:extLst>
              <a:ext uri="{FF2B5EF4-FFF2-40B4-BE49-F238E27FC236}">
                <a16:creationId xmlns:a16="http://schemas.microsoft.com/office/drawing/2014/main" id="{F986965A-6154-4AC3-9975-6375465B8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2396" y="4169142"/>
            <a:ext cx="3585816" cy="2193558"/>
          </a:xfrm>
          <a:prstGeom prst="rect">
            <a:avLst/>
          </a:prstGeom>
        </p:spPr>
      </p:pic>
      <p:pic>
        <p:nvPicPr>
          <p:cNvPr id="10" name="Изображение 9">
            <a:extLst>
              <a:ext uri="{FF2B5EF4-FFF2-40B4-BE49-F238E27FC236}">
                <a16:creationId xmlns:a16="http://schemas.microsoft.com/office/drawing/2014/main" id="{2E0FBD35-A3B6-4D7F-B188-A0E91893CF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0012" y="1616442"/>
            <a:ext cx="2359604" cy="2193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7726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BAAC78A2-C6EF-4B75-B3AA-D2F8B7810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Interpolation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95795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altLang="es-ES" dirty="0"/>
              <a:t>La interpolación entre {{ }}</a:t>
            </a:r>
            <a:endParaRPr lang="es-ES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66ADE894-190D-4FDA-B027-CAC7D58752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Nos permite realizar </a:t>
            </a:r>
            <a:r>
              <a:rPr lang="es-ES" b="1" dirty="0" err="1"/>
              <a:t>binding</a:t>
            </a:r>
            <a:r>
              <a:rPr lang="es-ES" b="1" dirty="0"/>
              <a:t> contra las propiedades </a:t>
            </a:r>
            <a:r>
              <a:rPr lang="es-ES" dirty="0"/>
              <a:t>de los componentes en nuestra plantilla</a:t>
            </a:r>
          </a:p>
          <a:p>
            <a:r>
              <a:rPr lang="es-ES" dirty="0"/>
              <a:t>Definido con la sintaxis </a:t>
            </a:r>
            <a:r>
              <a:rPr lang="es-ES" b="1" dirty="0"/>
              <a:t>doble llave</a:t>
            </a:r>
            <a:r>
              <a:rPr lang="es-ES" dirty="0"/>
              <a:t>:</a:t>
            </a:r>
          </a:p>
          <a:p>
            <a:pPr marL="0" indent="0">
              <a:buNone/>
            </a:pPr>
            <a:r>
              <a:rPr lang="es-ES" altLang="es-ES" sz="2800" dirty="0">
                <a:latin typeface="Open Sans"/>
              </a:rPr>
              <a:t>		</a:t>
            </a:r>
            <a:r>
              <a:rPr lang="es-ES" altLang="es-ES" sz="3200" dirty="0">
                <a:latin typeface="Open Sans"/>
              </a:rPr>
              <a:t>	</a:t>
            </a:r>
            <a:r>
              <a:rPr lang="en-US" altLang="es-ES" sz="2800" b="1" dirty="0">
                <a:solidFill>
                  <a:srgbClr val="428AC7"/>
                </a:solidFill>
                <a:latin typeface="Consolas" panose="020B0609020204030204" pitchFamily="49" charset="0"/>
              </a:rPr>
              <a:t>{{ </a:t>
            </a:r>
            <a:r>
              <a:rPr lang="en-US" altLang="es-ES" sz="2800" b="1" dirty="0" err="1">
                <a:solidFill>
                  <a:srgbClr val="428AC7"/>
                </a:solidFill>
                <a:latin typeface="Consolas" panose="020B0609020204030204" pitchFamily="49" charset="0"/>
              </a:rPr>
              <a:t>propertyValue</a:t>
            </a:r>
            <a:r>
              <a:rPr lang="en-US" altLang="es-ES" sz="2800" b="1" dirty="0">
                <a:solidFill>
                  <a:srgbClr val="428AC7"/>
                </a:solidFill>
                <a:latin typeface="Consolas" panose="020B0609020204030204" pitchFamily="49" charset="0"/>
              </a:rPr>
              <a:t> }}</a:t>
            </a:r>
          </a:p>
          <a:p>
            <a:endParaRPr lang="en-US" dirty="0"/>
          </a:p>
          <a:p>
            <a:r>
              <a:rPr lang="es-ES" dirty="0"/>
              <a:t>Podemos vincularnos </a:t>
            </a:r>
            <a:r>
              <a:rPr lang="es-ES" b="1" dirty="0"/>
              <a:t>también a los métodos</a:t>
            </a:r>
          </a:p>
          <a:p>
            <a:r>
              <a:rPr lang="en-US" dirty="0">
                <a:solidFill>
                  <a:srgbClr val="FF0000"/>
                </a:solidFill>
              </a:rPr>
              <a:t>Angular </a:t>
            </a:r>
            <a:r>
              <a:rPr lang="es-ES" dirty="0">
                <a:solidFill>
                  <a:srgbClr val="FF0000"/>
                </a:solidFill>
              </a:rPr>
              <a:t>convierte la interpolación en </a:t>
            </a:r>
            <a:r>
              <a:rPr lang="es-ES" dirty="0" err="1">
                <a:solidFill>
                  <a:srgbClr val="FF0000"/>
                </a:solidFill>
              </a:rPr>
              <a:t>binding</a:t>
            </a:r>
            <a:r>
              <a:rPr lang="es-ES" dirty="0">
                <a:solidFill>
                  <a:srgbClr val="FF0000"/>
                </a:solidFill>
              </a:rPr>
              <a:t> a propiedades</a:t>
            </a:r>
          </a:p>
          <a:p>
            <a:endParaRPr lang="en-U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27884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76381A-CCF7-43EE-923E-B7D764D81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altLang="es-ES" dirty="0"/>
              <a:t>La interpolación entre {{ }}</a:t>
            </a:r>
            <a:endParaRPr lang="es-ES" dirty="0"/>
          </a:p>
        </p:txBody>
      </p:sp>
      <p:sp>
        <p:nvSpPr>
          <p:cNvPr id="9" name="Marcador de contenido 8">
            <a:extLst>
              <a:ext uri="{FF2B5EF4-FFF2-40B4-BE49-F238E27FC236}">
                <a16:creationId xmlns:a16="http://schemas.microsoft.com/office/drawing/2014/main" id="{CF4FA7B4-B64D-4C43-85A2-4D757F27DE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altLang="es-ES" sz="2800" dirty="0">
                <a:latin typeface="Open Sans"/>
              </a:rPr>
              <a:t>En el fichero </a:t>
            </a:r>
            <a:r>
              <a:rPr lang="es-ES" altLang="es-ES" sz="2800" dirty="0" err="1">
                <a:solidFill>
                  <a:srgbClr val="428AC7"/>
                </a:solidFill>
                <a:latin typeface="Source Code Pro"/>
              </a:rPr>
              <a:t>home.component.ts</a:t>
            </a:r>
            <a:r>
              <a:rPr lang="es-ES" altLang="es-ES" sz="4000" dirty="0">
                <a:latin typeface="Open Sans"/>
              </a:rPr>
              <a:t> </a:t>
            </a:r>
            <a:r>
              <a:rPr lang="es-ES" altLang="es-ES" sz="2800" dirty="0">
                <a:latin typeface="Open Sans"/>
              </a:rPr>
              <a:t>tienes en su vista </a:t>
            </a:r>
            <a:r>
              <a:rPr lang="es-ES" altLang="es-ES" sz="2800" dirty="0" err="1">
                <a:latin typeface="Open Sans"/>
              </a:rPr>
              <a:t>html</a:t>
            </a:r>
            <a:r>
              <a:rPr lang="es-ES" altLang="es-ES" sz="2800" dirty="0">
                <a:latin typeface="Open Sans"/>
              </a:rPr>
              <a:t> la directiva: </a:t>
            </a:r>
          </a:p>
          <a:p>
            <a:pPr marL="0" indent="0">
              <a:buNone/>
            </a:pPr>
            <a:r>
              <a:rPr lang="es-ES" altLang="es-ES" sz="2800" dirty="0">
                <a:latin typeface="Open Sans"/>
              </a:rPr>
              <a:t>		</a:t>
            </a:r>
            <a:r>
              <a:rPr lang="es-ES" altLang="es-ES" sz="3200" dirty="0">
                <a:latin typeface="Open Sans"/>
              </a:rPr>
              <a:t>	</a:t>
            </a:r>
            <a:r>
              <a:rPr lang="en-US" altLang="es-ES" sz="2800" b="1" dirty="0">
                <a:solidFill>
                  <a:srgbClr val="428AC7"/>
                </a:solidFill>
                <a:latin typeface="Consolas" panose="020B0609020204030204" pitchFamily="49" charset="0"/>
              </a:rPr>
              <a:t>{{ now }}</a:t>
            </a:r>
          </a:p>
          <a:p>
            <a:pPr marL="0" indent="0">
              <a:buNone/>
            </a:pPr>
            <a:r>
              <a:rPr lang="en-US" altLang="es-ES" sz="2800" b="1" dirty="0">
                <a:solidFill>
                  <a:srgbClr val="428AC7"/>
                </a:solidFill>
                <a:latin typeface="Consolas" panose="020B0609020204030204" pitchFamily="49" charset="0"/>
              </a:rPr>
              <a:t>			{{ tomorrow }}</a:t>
            </a:r>
          </a:p>
          <a:p>
            <a:endParaRPr lang="es-ES" altLang="es-ES" sz="2800" dirty="0">
              <a:latin typeface="Open Sans"/>
            </a:endParaRPr>
          </a:p>
          <a:p>
            <a:r>
              <a:rPr lang="es-ES" altLang="es-ES" sz="2800" dirty="0">
                <a:latin typeface="Open Sans"/>
              </a:rPr>
              <a:t>Esas dobles llaves encierran expresiones que se evaluarán en tiempo de ejecución. Las llamamos </a:t>
            </a:r>
            <a:r>
              <a:rPr lang="es-ES" altLang="es-ES" sz="2800" b="1" dirty="0">
                <a:latin typeface="inherit"/>
              </a:rPr>
              <a:t>directivas de interpolación</a:t>
            </a:r>
            <a:r>
              <a:rPr lang="es-ES" altLang="es-ES" sz="2800" dirty="0">
                <a:latin typeface="Open Sans"/>
              </a:rPr>
              <a:t> y es la manera más cómoda y usual de mostrar contenido dinámico en Angular.</a:t>
            </a:r>
            <a:endParaRPr lang="es-ES" dirty="0"/>
          </a:p>
          <a:p>
            <a:endParaRPr lang="es-ES" altLang="es-E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57851DF-491A-4F7A-B6D1-790509C717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4380" y="90101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53327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15294" y="3303985"/>
            <a:ext cx="4258121" cy="250031"/>
          </a:xfrm>
          <a:custGeom>
            <a:avLst/>
            <a:gdLst/>
            <a:ahLst/>
            <a:cxnLst/>
            <a:rect l="l" t="t" r="r" b="b"/>
            <a:pathLst>
              <a:path w="6055995" h="355600">
                <a:moveTo>
                  <a:pt x="0" y="0"/>
                </a:moveTo>
                <a:lnTo>
                  <a:pt x="6055664" y="0"/>
                </a:lnTo>
                <a:lnTo>
                  <a:pt x="6055664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3" name="object 3"/>
          <p:cNvSpPr txBox="1"/>
          <p:nvPr/>
        </p:nvSpPr>
        <p:spPr>
          <a:xfrm>
            <a:off x="1709936" y="3286126"/>
            <a:ext cx="4275981" cy="2596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&lt;</a:t>
            </a:r>
            <a:r>
              <a:rPr sz="1687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span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&gt;{{interpolatedValue}}&lt;</a:t>
            </a:r>
            <a:r>
              <a:rPr sz="1687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span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&gt;</a:t>
            </a:r>
            <a:endParaRPr sz="1687">
              <a:latin typeface="Lucida Console"/>
              <a:cs typeface="Lucida Consol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18865" y="5929312"/>
            <a:ext cx="3724573" cy="7789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5062" b="1" spc="-130" dirty="0">
                <a:solidFill>
                  <a:srgbClr val="53585F"/>
                </a:solidFill>
                <a:latin typeface="Trebuchet MS"/>
                <a:cs typeface="Trebuchet MS"/>
              </a:rPr>
              <a:t>Interpolation</a:t>
            </a:r>
            <a:endParaRPr sz="5062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5062767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1" y="0"/>
            <a:ext cx="12188825" cy="6858000"/>
          </a:xfrm>
          <a:custGeom>
            <a:avLst/>
            <a:gdLst/>
            <a:ahLst/>
            <a:cxnLst/>
            <a:rect l="l" t="t" r="r" b="b"/>
            <a:pathLst>
              <a:path w="13004800" h="9753600">
                <a:moveTo>
                  <a:pt x="0" y="0"/>
                </a:moveTo>
                <a:lnTo>
                  <a:pt x="13004800" y="0"/>
                </a:lnTo>
                <a:lnTo>
                  <a:pt x="13004800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3" name="object 3"/>
          <p:cNvSpPr/>
          <p:nvPr/>
        </p:nvSpPr>
        <p:spPr>
          <a:xfrm>
            <a:off x="1715293" y="1071562"/>
            <a:ext cx="2709714" cy="294680"/>
          </a:xfrm>
          <a:custGeom>
            <a:avLst/>
            <a:gdLst/>
            <a:ahLst/>
            <a:cxnLst/>
            <a:rect l="l" t="t" r="r" b="b"/>
            <a:pathLst>
              <a:path w="3853815" h="419100">
                <a:moveTo>
                  <a:pt x="0" y="0"/>
                </a:moveTo>
                <a:lnTo>
                  <a:pt x="3853611" y="0"/>
                </a:lnTo>
                <a:lnTo>
                  <a:pt x="3853611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4" name="object 4"/>
          <p:cNvSpPr/>
          <p:nvPr/>
        </p:nvSpPr>
        <p:spPr>
          <a:xfrm>
            <a:off x="1715293" y="1366242"/>
            <a:ext cx="2258318" cy="294680"/>
          </a:xfrm>
          <a:custGeom>
            <a:avLst/>
            <a:gdLst/>
            <a:ahLst/>
            <a:cxnLst/>
            <a:rect l="l" t="t" r="r" b="b"/>
            <a:pathLst>
              <a:path w="3211829" h="419100">
                <a:moveTo>
                  <a:pt x="0" y="0"/>
                </a:moveTo>
                <a:lnTo>
                  <a:pt x="3211334" y="0"/>
                </a:lnTo>
                <a:lnTo>
                  <a:pt x="3211334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5" name="object 5"/>
          <p:cNvSpPr/>
          <p:nvPr/>
        </p:nvSpPr>
        <p:spPr>
          <a:xfrm>
            <a:off x="1715293" y="1660922"/>
            <a:ext cx="752773" cy="294680"/>
          </a:xfrm>
          <a:custGeom>
            <a:avLst/>
            <a:gdLst/>
            <a:ahLst/>
            <a:cxnLst/>
            <a:rect l="l" t="t" r="r" b="b"/>
            <a:pathLst>
              <a:path w="1070610" h="419100">
                <a:moveTo>
                  <a:pt x="0" y="0"/>
                </a:moveTo>
                <a:lnTo>
                  <a:pt x="1070444" y="0"/>
                </a:lnTo>
                <a:lnTo>
                  <a:pt x="1070444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6" name="object 6"/>
          <p:cNvSpPr/>
          <p:nvPr/>
        </p:nvSpPr>
        <p:spPr>
          <a:xfrm>
            <a:off x="1715293" y="1955601"/>
            <a:ext cx="7074991" cy="294680"/>
          </a:xfrm>
          <a:custGeom>
            <a:avLst/>
            <a:gdLst/>
            <a:ahLst/>
            <a:cxnLst/>
            <a:rect l="l" t="t" r="r" b="b"/>
            <a:pathLst>
              <a:path w="10062210" h="419100">
                <a:moveTo>
                  <a:pt x="0" y="0"/>
                </a:moveTo>
                <a:lnTo>
                  <a:pt x="10062197" y="0"/>
                </a:lnTo>
                <a:lnTo>
                  <a:pt x="10062197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7" name="object 7"/>
          <p:cNvSpPr/>
          <p:nvPr/>
        </p:nvSpPr>
        <p:spPr>
          <a:xfrm>
            <a:off x="1715293" y="2250281"/>
            <a:ext cx="6172200" cy="294680"/>
          </a:xfrm>
          <a:custGeom>
            <a:avLst/>
            <a:gdLst/>
            <a:ahLst/>
            <a:cxnLst/>
            <a:rect l="l" t="t" r="r" b="b"/>
            <a:pathLst>
              <a:path w="8778240" h="419100">
                <a:moveTo>
                  <a:pt x="0" y="0"/>
                </a:moveTo>
                <a:lnTo>
                  <a:pt x="8777655" y="0"/>
                </a:lnTo>
                <a:lnTo>
                  <a:pt x="8777655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8" name="object 8"/>
          <p:cNvSpPr/>
          <p:nvPr/>
        </p:nvSpPr>
        <p:spPr>
          <a:xfrm>
            <a:off x="1715293" y="2544961"/>
            <a:ext cx="752773" cy="294680"/>
          </a:xfrm>
          <a:custGeom>
            <a:avLst/>
            <a:gdLst/>
            <a:ahLst/>
            <a:cxnLst/>
            <a:rect l="l" t="t" r="r" b="b"/>
            <a:pathLst>
              <a:path w="1070610" h="419100">
                <a:moveTo>
                  <a:pt x="0" y="0"/>
                </a:moveTo>
                <a:lnTo>
                  <a:pt x="1070444" y="0"/>
                </a:lnTo>
                <a:lnTo>
                  <a:pt x="1070444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9" name="object 9"/>
          <p:cNvSpPr/>
          <p:nvPr/>
        </p:nvSpPr>
        <p:spPr>
          <a:xfrm>
            <a:off x="1715293" y="2839640"/>
            <a:ext cx="752773" cy="294680"/>
          </a:xfrm>
          <a:custGeom>
            <a:avLst/>
            <a:gdLst/>
            <a:ahLst/>
            <a:cxnLst/>
            <a:rect l="l" t="t" r="r" b="b"/>
            <a:pathLst>
              <a:path w="1070610" h="419100">
                <a:moveTo>
                  <a:pt x="0" y="0"/>
                </a:moveTo>
                <a:lnTo>
                  <a:pt x="1070444" y="0"/>
                </a:lnTo>
                <a:lnTo>
                  <a:pt x="1070444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0" name="object 10"/>
          <p:cNvSpPr/>
          <p:nvPr/>
        </p:nvSpPr>
        <p:spPr>
          <a:xfrm>
            <a:off x="1715293" y="3134320"/>
            <a:ext cx="8128695" cy="294680"/>
          </a:xfrm>
          <a:custGeom>
            <a:avLst/>
            <a:gdLst/>
            <a:ahLst/>
            <a:cxnLst/>
            <a:rect l="l" t="t" r="r" b="b"/>
            <a:pathLst>
              <a:path w="11560810" h="419100">
                <a:moveTo>
                  <a:pt x="0" y="0"/>
                </a:moveTo>
                <a:lnTo>
                  <a:pt x="11560822" y="0"/>
                </a:lnTo>
                <a:lnTo>
                  <a:pt x="11560822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1" name="object 11"/>
          <p:cNvSpPr/>
          <p:nvPr/>
        </p:nvSpPr>
        <p:spPr>
          <a:xfrm>
            <a:off x="1715294" y="3429000"/>
            <a:ext cx="4215259" cy="294680"/>
          </a:xfrm>
          <a:custGeom>
            <a:avLst/>
            <a:gdLst/>
            <a:ahLst/>
            <a:cxnLst/>
            <a:rect l="l" t="t" r="r" b="b"/>
            <a:pathLst>
              <a:path w="5995035" h="419100">
                <a:moveTo>
                  <a:pt x="0" y="0"/>
                </a:moveTo>
                <a:lnTo>
                  <a:pt x="5994501" y="0"/>
                </a:lnTo>
                <a:lnTo>
                  <a:pt x="5994501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2" name="object 12"/>
          <p:cNvSpPr/>
          <p:nvPr/>
        </p:nvSpPr>
        <p:spPr>
          <a:xfrm>
            <a:off x="1715293" y="3723680"/>
            <a:ext cx="3312021" cy="294680"/>
          </a:xfrm>
          <a:custGeom>
            <a:avLst/>
            <a:gdLst/>
            <a:ahLst/>
            <a:cxnLst/>
            <a:rect l="l" t="t" r="r" b="b"/>
            <a:pathLst>
              <a:path w="4710430" h="419100">
                <a:moveTo>
                  <a:pt x="0" y="0"/>
                </a:moveTo>
                <a:lnTo>
                  <a:pt x="4709960" y="0"/>
                </a:lnTo>
                <a:lnTo>
                  <a:pt x="470996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3" name="object 13"/>
          <p:cNvSpPr/>
          <p:nvPr/>
        </p:nvSpPr>
        <p:spPr>
          <a:xfrm>
            <a:off x="1715293" y="4018359"/>
            <a:ext cx="7526834" cy="294680"/>
          </a:xfrm>
          <a:custGeom>
            <a:avLst/>
            <a:gdLst/>
            <a:ahLst/>
            <a:cxnLst/>
            <a:rect l="l" t="t" r="r" b="b"/>
            <a:pathLst>
              <a:path w="10704830" h="419100">
                <a:moveTo>
                  <a:pt x="0" y="0"/>
                </a:moveTo>
                <a:lnTo>
                  <a:pt x="10704461" y="0"/>
                </a:lnTo>
                <a:lnTo>
                  <a:pt x="10704461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4" name="object 14"/>
          <p:cNvSpPr/>
          <p:nvPr/>
        </p:nvSpPr>
        <p:spPr>
          <a:xfrm>
            <a:off x="1715293" y="4313039"/>
            <a:ext cx="5569893" cy="294680"/>
          </a:xfrm>
          <a:custGeom>
            <a:avLst/>
            <a:gdLst/>
            <a:ahLst/>
            <a:cxnLst/>
            <a:rect l="l" t="t" r="r" b="b"/>
            <a:pathLst>
              <a:path w="7921625" h="419100">
                <a:moveTo>
                  <a:pt x="0" y="0"/>
                </a:moveTo>
                <a:lnTo>
                  <a:pt x="7921307" y="0"/>
                </a:lnTo>
                <a:lnTo>
                  <a:pt x="7921307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5" name="object 15"/>
          <p:cNvSpPr/>
          <p:nvPr/>
        </p:nvSpPr>
        <p:spPr>
          <a:xfrm>
            <a:off x="1715294" y="4607719"/>
            <a:ext cx="7978229" cy="294680"/>
          </a:xfrm>
          <a:custGeom>
            <a:avLst/>
            <a:gdLst/>
            <a:ahLst/>
            <a:cxnLst/>
            <a:rect l="l" t="t" r="r" b="b"/>
            <a:pathLst>
              <a:path w="11346815" h="419100">
                <a:moveTo>
                  <a:pt x="0" y="0"/>
                </a:moveTo>
                <a:lnTo>
                  <a:pt x="11346726" y="0"/>
                </a:lnTo>
                <a:lnTo>
                  <a:pt x="11346726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6" name="object 16"/>
          <p:cNvSpPr/>
          <p:nvPr/>
        </p:nvSpPr>
        <p:spPr>
          <a:xfrm>
            <a:off x="1715294" y="4902398"/>
            <a:ext cx="1956941" cy="294680"/>
          </a:xfrm>
          <a:custGeom>
            <a:avLst/>
            <a:gdLst/>
            <a:ahLst/>
            <a:cxnLst/>
            <a:rect l="l" t="t" r="r" b="b"/>
            <a:pathLst>
              <a:path w="2783205" h="419100">
                <a:moveTo>
                  <a:pt x="0" y="0"/>
                </a:moveTo>
                <a:lnTo>
                  <a:pt x="2783154" y="0"/>
                </a:lnTo>
                <a:lnTo>
                  <a:pt x="2783154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7" name="object 17"/>
          <p:cNvSpPr/>
          <p:nvPr/>
        </p:nvSpPr>
        <p:spPr>
          <a:xfrm>
            <a:off x="1715294" y="5197078"/>
            <a:ext cx="1355080" cy="294680"/>
          </a:xfrm>
          <a:custGeom>
            <a:avLst/>
            <a:gdLst/>
            <a:ahLst/>
            <a:cxnLst/>
            <a:rect l="l" t="t" r="r" b="b"/>
            <a:pathLst>
              <a:path w="1927225" h="419100">
                <a:moveTo>
                  <a:pt x="0" y="0"/>
                </a:moveTo>
                <a:lnTo>
                  <a:pt x="1926805" y="0"/>
                </a:lnTo>
                <a:lnTo>
                  <a:pt x="1926805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8" name="object 18"/>
          <p:cNvSpPr/>
          <p:nvPr/>
        </p:nvSpPr>
        <p:spPr>
          <a:xfrm>
            <a:off x="1715294" y="5491758"/>
            <a:ext cx="903238" cy="294680"/>
          </a:xfrm>
          <a:custGeom>
            <a:avLst/>
            <a:gdLst/>
            <a:ahLst/>
            <a:cxnLst/>
            <a:rect l="l" t="t" r="r" b="b"/>
            <a:pathLst>
              <a:path w="1284605" h="419100">
                <a:moveTo>
                  <a:pt x="0" y="0"/>
                </a:moveTo>
                <a:lnTo>
                  <a:pt x="1284541" y="0"/>
                </a:lnTo>
                <a:lnTo>
                  <a:pt x="1284541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1709936" y="1057118"/>
            <a:ext cx="2727573" cy="30303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8929">
              <a:lnSpc>
                <a:spcPct val="100000"/>
              </a:lnSpc>
            </a:pP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&lt;</a:t>
            </a:r>
            <a:r>
              <a:rPr sz="1969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h1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&gt;</a:t>
            </a:r>
            <a:r>
              <a:rPr sz="1969" spc="-4" dirty="0">
                <a:solidFill>
                  <a:srgbClr val="FF0000"/>
                </a:solidFill>
                <a:latin typeface="Lucida Console"/>
                <a:cs typeface="Lucida Console"/>
              </a:rPr>
              <a:t>{{title}}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&lt;/</a:t>
            </a:r>
            <a:r>
              <a:rPr sz="1969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h1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&gt;</a:t>
            </a:r>
            <a:endParaRPr sz="1969" dirty="0">
              <a:latin typeface="Lucida Console"/>
              <a:cs typeface="Lucida Consol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709936" y="1348383"/>
            <a:ext cx="7093297" cy="1769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>
              <a:lnSpc>
                <a:spcPts val="2341"/>
              </a:lnSpc>
            </a:pP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&lt;</a:t>
            </a:r>
            <a:r>
              <a:rPr sz="1969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p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&gt;</a:t>
            </a:r>
            <a:r>
              <a:rPr sz="1969" spc="-4" dirty="0">
                <a:solidFill>
                  <a:srgbClr val="FF0000"/>
                </a:solidFill>
                <a:latin typeface="Lucida Console"/>
                <a:cs typeface="Lucida Console"/>
              </a:rPr>
              <a:t>{{body}}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&lt;/</a:t>
            </a:r>
            <a:r>
              <a:rPr sz="1969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p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&gt;</a:t>
            </a:r>
            <a:endParaRPr sz="1969" dirty="0">
              <a:latin typeface="Lucida Console"/>
              <a:cs typeface="Lucida Console"/>
            </a:endParaRPr>
          </a:p>
          <a:p>
            <a:pPr marL="8929">
              <a:lnSpc>
                <a:spcPts val="2320"/>
              </a:lnSpc>
            </a:pP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&lt;</a:t>
            </a:r>
            <a:r>
              <a:rPr sz="1969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hr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/&gt;</a:t>
            </a:r>
            <a:endParaRPr sz="1969" dirty="0">
              <a:latin typeface="Lucida Console"/>
              <a:cs typeface="Lucida Console"/>
            </a:endParaRPr>
          </a:p>
          <a:p>
            <a:pPr marL="309849" marR="3572" indent="-301366">
              <a:lnSpc>
                <a:spcPts val="2320"/>
              </a:lnSpc>
              <a:spcBef>
                <a:spcPts val="91"/>
              </a:spcBef>
            </a:pP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&lt;</a:t>
            </a:r>
            <a:r>
              <a:rPr sz="1969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experiment 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*</a:t>
            </a:r>
            <a:r>
              <a:rPr sz="1969" spc="-4" dirty="0" err="1">
                <a:solidFill>
                  <a:srgbClr val="B7C4D1"/>
                </a:solidFill>
                <a:latin typeface="Lucida Console"/>
                <a:cs typeface="Lucida Console"/>
              </a:rPr>
              <a:t>ngFor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=</a:t>
            </a:r>
            <a:r>
              <a:rPr lang="es-ES"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"</a:t>
            </a:r>
            <a:r>
              <a:rPr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#experiment of experiments</a:t>
            </a:r>
            <a:r>
              <a:rPr lang="es-ES"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"</a:t>
            </a:r>
            <a:r>
              <a:rPr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  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[experiment]=</a:t>
            </a:r>
            <a:r>
              <a:rPr lang="es-ES"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"</a:t>
            </a:r>
            <a:r>
              <a:rPr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experiment</a:t>
            </a:r>
            <a:r>
              <a:rPr lang="es-ES"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"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&gt;&lt;/</a:t>
            </a:r>
            <a:r>
              <a:rPr sz="1969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experiment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&gt;</a:t>
            </a:r>
            <a:endParaRPr sz="1969" dirty="0">
              <a:latin typeface="Lucida Console"/>
              <a:cs typeface="Lucida Console"/>
            </a:endParaRPr>
          </a:p>
          <a:p>
            <a:pPr marL="8929">
              <a:lnSpc>
                <a:spcPts val="2229"/>
              </a:lnSpc>
            </a:pP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&lt;</a:t>
            </a:r>
            <a:r>
              <a:rPr sz="1969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hr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/&gt;</a:t>
            </a:r>
            <a:endParaRPr sz="1969" dirty="0">
              <a:latin typeface="Lucida Console"/>
              <a:cs typeface="Lucida Console"/>
            </a:endParaRPr>
          </a:p>
          <a:p>
            <a:pPr marL="8929">
              <a:lnSpc>
                <a:spcPts val="2341"/>
              </a:lnSpc>
            </a:pP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&lt;</a:t>
            </a:r>
            <a:r>
              <a:rPr sz="1969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div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&gt;</a:t>
            </a:r>
            <a:endParaRPr sz="1969" dirty="0">
              <a:latin typeface="Lucida Console"/>
              <a:cs typeface="Lucida Console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011023" y="3116461"/>
            <a:ext cx="5286821" cy="3030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&lt;</a:t>
            </a:r>
            <a:r>
              <a:rPr sz="1969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h2</a:t>
            </a:r>
            <a:r>
              <a:rPr sz="1969" b="1" dirty="0">
                <a:solidFill>
                  <a:srgbClr val="D78B40"/>
                </a:solidFill>
                <a:latin typeface="Lucida Sans Typewriter"/>
                <a:cs typeface="Lucida Sans Typewriter"/>
              </a:rPr>
              <a:t> 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class=</a:t>
            </a:r>
            <a:r>
              <a:rPr lang="es-ES"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"</a:t>
            </a:r>
            <a:r>
              <a:rPr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text-error</a:t>
            </a:r>
            <a:r>
              <a:rPr lang="es-ES"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"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&gt;Experiments:</a:t>
            </a:r>
            <a:endParaRPr sz="1969" dirty="0">
              <a:latin typeface="Lucida Console"/>
              <a:cs typeface="Lucida Console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430304" y="3116461"/>
            <a:ext cx="2426196" cy="3030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969" spc="-4" dirty="0">
                <a:solidFill>
                  <a:srgbClr val="FF0000"/>
                </a:solidFill>
                <a:latin typeface="Lucida Console"/>
                <a:cs typeface="Lucida Console"/>
              </a:rPr>
              <a:t>{{message}}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&lt;/</a:t>
            </a:r>
            <a:r>
              <a:rPr sz="1969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h2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&gt;</a:t>
            </a:r>
            <a:endParaRPr sz="1969" dirty="0">
              <a:latin typeface="Lucida Console"/>
              <a:cs typeface="Lucida Console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011023" y="3411141"/>
            <a:ext cx="3931741" cy="3030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&lt;</a:t>
            </a:r>
            <a:r>
              <a:rPr sz="1969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form</a:t>
            </a:r>
            <a:r>
              <a:rPr sz="1969" b="1" spc="-21" dirty="0">
                <a:solidFill>
                  <a:srgbClr val="D78B40"/>
                </a:solidFill>
                <a:latin typeface="Lucida Sans Typewriter"/>
                <a:cs typeface="Lucida Sans Typewriter"/>
              </a:rPr>
              <a:t> 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class=</a:t>
            </a:r>
            <a:r>
              <a:rPr lang="es-ES"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"</a:t>
            </a:r>
            <a:r>
              <a:rPr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form-inline</a:t>
            </a:r>
            <a:r>
              <a:rPr lang="es-ES"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"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&gt;</a:t>
            </a:r>
            <a:endParaRPr sz="1969" dirty="0">
              <a:latin typeface="Lucida Console"/>
              <a:cs typeface="Lucida Console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312111" y="3720108"/>
            <a:ext cx="3480346" cy="589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09849" marR="3572" indent="-301366">
              <a:lnSpc>
                <a:spcPts val="2320"/>
              </a:lnSpc>
            </a:pP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&lt;</a:t>
            </a:r>
            <a:r>
              <a:rPr sz="1969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input 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type=</a:t>
            </a:r>
            <a:r>
              <a:rPr lang="es-ES"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"</a:t>
            </a:r>
            <a:r>
              <a:rPr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text</a:t>
            </a:r>
            <a:r>
              <a:rPr lang="es-ES"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"</a:t>
            </a:r>
            <a:r>
              <a:rPr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  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[(</a:t>
            </a:r>
            <a:r>
              <a:rPr sz="1969" spc="-4" dirty="0" err="1">
                <a:solidFill>
                  <a:srgbClr val="B7C4D1"/>
                </a:solidFill>
                <a:latin typeface="Lucida Console"/>
                <a:cs typeface="Lucida Console"/>
              </a:rPr>
              <a:t>ngModel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)]</a:t>
            </a:r>
            <a:r>
              <a:rPr sz="1969" spc="-7" dirty="0">
                <a:solidFill>
                  <a:srgbClr val="B7C4D1"/>
                </a:solidFill>
                <a:latin typeface="Lucida Console"/>
                <a:cs typeface="Lucida Console"/>
              </a:rPr>
              <a:t>=</a:t>
            </a:r>
            <a:r>
              <a:rPr lang="es-ES"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"</a:t>
            </a:r>
            <a:r>
              <a:rPr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message</a:t>
            </a:r>
            <a:r>
              <a:rPr lang="es-ES"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"</a:t>
            </a:r>
            <a:endParaRPr sz="1969" dirty="0">
              <a:latin typeface="Lucida Console"/>
              <a:cs typeface="Lucida Console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924819" y="4000500"/>
            <a:ext cx="3329880" cy="3030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placeholder=</a:t>
            </a:r>
            <a:r>
              <a:rPr lang="es-ES"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"</a:t>
            </a:r>
            <a:r>
              <a:rPr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Message</a:t>
            </a:r>
            <a:r>
              <a:rPr lang="es-ES"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"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&gt;</a:t>
            </a:r>
            <a:endParaRPr sz="1969" dirty="0">
              <a:latin typeface="Lucida Console"/>
              <a:cs typeface="Lucida Console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312111" y="4309468"/>
            <a:ext cx="6189613" cy="589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09849" marR="3572" indent="-301366">
              <a:lnSpc>
                <a:spcPts val="2320"/>
              </a:lnSpc>
            </a:pP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&lt;</a:t>
            </a:r>
            <a:r>
              <a:rPr sz="1969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button 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type=</a:t>
            </a:r>
            <a:r>
              <a:rPr lang="es-ES"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"</a:t>
            </a:r>
            <a:r>
              <a:rPr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submit</a:t>
            </a:r>
            <a:r>
              <a:rPr lang="es-ES"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"</a:t>
            </a:r>
            <a:r>
              <a:rPr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 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class=</a:t>
            </a:r>
            <a:r>
              <a:rPr lang="es-ES"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"</a:t>
            </a:r>
            <a:r>
              <a:rPr sz="1969" spc="-4" dirty="0" err="1">
                <a:solidFill>
                  <a:srgbClr val="7C976C"/>
                </a:solidFill>
                <a:latin typeface="Lucida Console"/>
                <a:cs typeface="Lucida Console"/>
              </a:rPr>
              <a:t>btn</a:t>
            </a:r>
            <a:r>
              <a:rPr lang="es-ES"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"</a:t>
            </a:r>
            <a:r>
              <a:rPr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  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(click)=</a:t>
            </a:r>
            <a:r>
              <a:rPr lang="es-ES"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"</a:t>
            </a:r>
            <a:r>
              <a:rPr sz="1969" spc="-4" dirty="0" err="1">
                <a:solidFill>
                  <a:srgbClr val="7C976C"/>
                </a:solidFill>
                <a:latin typeface="Lucida Console"/>
                <a:cs typeface="Lucida Console"/>
              </a:rPr>
              <a:t>updateMessage</a:t>
            </a:r>
            <a:r>
              <a:rPr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(message)</a:t>
            </a:r>
            <a:r>
              <a:rPr lang="es-ES"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"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&gt;Update</a:t>
            </a:r>
            <a:endParaRPr sz="1969" dirty="0">
              <a:latin typeface="Lucida Console"/>
              <a:cs typeface="Lucida Console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634483" y="4589860"/>
            <a:ext cx="1072009" cy="3030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Message</a:t>
            </a:r>
            <a:endParaRPr sz="1969">
              <a:latin typeface="Lucida Console"/>
              <a:cs typeface="Lucida Console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709936" y="4884539"/>
            <a:ext cx="10099476" cy="1817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769">
              <a:lnSpc>
                <a:spcPts val="2341"/>
              </a:lnSpc>
            </a:pP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&lt;/</a:t>
            </a:r>
            <a:r>
              <a:rPr sz="1969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button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&gt;</a:t>
            </a:r>
            <a:endParaRPr sz="1969" dirty="0">
              <a:latin typeface="Lucida Console"/>
              <a:cs typeface="Lucida Console"/>
            </a:endParaRPr>
          </a:p>
          <a:p>
            <a:pPr marL="309849">
              <a:lnSpc>
                <a:spcPts val="2320"/>
              </a:lnSpc>
            </a:pP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&lt;/</a:t>
            </a:r>
            <a:r>
              <a:rPr sz="1969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form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&gt;</a:t>
            </a:r>
            <a:endParaRPr sz="1969" dirty="0">
              <a:latin typeface="Lucida Console"/>
              <a:cs typeface="Lucida Console"/>
            </a:endParaRPr>
          </a:p>
          <a:p>
            <a:pPr marL="8929">
              <a:lnSpc>
                <a:spcPts val="2341"/>
              </a:lnSpc>
            </a:pP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&lt;/</a:t>
            </a:r>
            <a:r>
              <a:rPr sz="1969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div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&gt;</a:t>
            </a:r>
            <a:endParaRPr sz="1969" dirty="0">
              <a:latin typeface="Lucida Console"/>
              <a:cs typeface="Lucida Console"/>
            </a:endParaRPr>
          </a:p>
          <a:p>
            <a:pPr marL="17859">
              <a:spcBef>
                <a:spcPts val="1223"/>
              </a:spcBef>
            </a:pPr>
            <a:r>
              <a:rPr lang="es-ES" sz="5062" b="1" spc="-35" dirty="0">
                <a:solidFill>
                  <a:srgbClr val="53585F"/>
                </a:solidFill>
                <a:latin typeface="Trebuchet MS"/>
                <a:cs typeface="Trebuchet MS"/>
              </a:rPr>
              <a:t>La interpolación entre {{}}</a:t>
            </a:r>
            <a:endParaRPr sz="5062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1900176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464BDDC6-1FAD-4039-9BA9-46D3BA601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altLang="es-ES" sz="4400" dirty="0">
                <a:latin typeface="inherit"/>
              </a:rPr>
              <a:t>Directivas de interpolación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C1F7363-FD28-4DBC-A673-DE10D82C8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Editamos el fichero </a:t>
            </a:r>
            <a:r>
              <a:rPr lang="es-ES" b="1" dirty="0" err="1"/>
              <a:t>new.component.ts</a:t>
            </a:r>
            <a:r>
              <a:rPr lang="es-ES" dirty="0"/>
              <a:t> y añadimos la siguiente directiva: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r>
              <a:rPr lang="es-ES" dirty="0"/>
              <a:t>La expresión interna hace referencia a variables que se obtienen de las propiedades de la clase controladora del componente. 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0240E0C-89C7-4887-8140-117D38105DD7}"/>
              </a:ext>
            </a:extLst>
          </p:cNvPr>
          <p:cNvSpPr/>
          <p:nvPr/>
        </p:nvSpPr>
        <p:spPr>
          <a:xfrm>
            <a:off x="10216035" y="180232"/>
            <a:ext cx="182197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LAB2a</a:t>
            </a:r>
            <a:endParaRPr lang="es-ES" sz="4800" dirty="0">
              <a:solidFill>
                <a:srgbClr val="FF0000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31CA41E-C625-4081-A833-4EC259AE0609}"/>
              </a:ext>
            </a:extLst>
          </p:cNvPr>
          <p:cNvSpPr/>
          <p:nvPr/>
        </p:nvSpPr>
        <p:spPr>
          <a:xfrm>
            <a:off x="10366848" y="874318"/>
            <a:ext cx="16374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/>
              <a:t>C:\Labs\T4\EX1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8C3838B-89EA-4867-8C7C-4D118786C0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1412" y="1524000"/>
            <a:ext cx="9599611" cy="255454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latin typeface="Consolas" pitchFamily="49" charset="0"/>
                <a:cs typeface="Consolas" pitchFamily="49" charset="0"/>
              </a:rPr>
              <a:t>@Component({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latin typeface="Consolas" pitchFamily="49" charset="0"/>
                <a:cs typeface="Consolas" pitchFamily="49" charset="0"/>
              </a:rPr>
              <a:t>  template: `&lt;h2&gt;</a:t>
            </a:r>
            <a:r>
              <a:rPr lang="en-US" sz="20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{{ title | uppercase }}</a:t>
            </a:r>
            <a:r>
              <a:rPr lang="en-US" sz="2000" b="1" noProof="1">
                <a:latin typeface="Consolas" pitchFamily="49" charset="0"/>
                <a:cs typeface="Consolas" pitchFamily="49" charset="0"/>
              </a:rPr>
              <a:t>&lt;/h2&gt;`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latin typeface="Consolas" pitchFamily="49" charset="0"/>
                <a:cs typeface="Consolas" pitchFamily="49" charset="0"/>
              </a:rPr>
              <a:t>})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latin typeface="Consolas" pitchFamily="49" charset="0"/>
                <a:cs typeface="Consolas" pitchFamily="49" charset="0"/>
              </a:rPr>
              <a:t>export class NewComponent implements OnInit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latin typeface="Consolas" pitchFamily="49" charset="0"/>
                <a:cs typeface="Consolas" pitchFamily="49" charset="0"/>
              </a:rPr>
              <a:t>  title = "Cash Flow";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latin typeface="Consolas" pitchFamily="49" charset="0"/>
                <a:cs typeface="Consolas" pitchFamily="49" charset="0"/>
              </a:rPr>
              <a:t>  constructor() {}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latin typeface="Consolas" pitchFamily="49" charset="0"/>
                <a:cs typeface="Consolas" pitchFamily="49" charset="0"/>
              </a:rPr>
              <a:t>  ngOnInit() {}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latin typeface="Consolas" pitchFamily="49" charset="0"/>
                <a:cs typeface="Consolas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646309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FBFD3CE6-3907-48BE-9D40-4FF356791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Las tuberías |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3DD40916-837A-4AB1-B12E-4E0C21186E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95334080"/>
      </p:ext>
    </p:extLst>
  </p:cSld>
  <p:clrMapOvr>
    <a:masterClrMapping/>
  </p:clrMapOvr>
  <p:transition spd="med"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A77FA1-8DEC-4D8C-BC0D-4F061F713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Las tuberías |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2430BCC4-324B-4F4B-9603-3C3ABF0B1F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Si queremos que la presentación del dato sea distinta a su valor real, podemos usar </a:t>
            </a:r>
            <a:r>
              <a:rPr lang="es-ES" b="1" dirty="0"/>
              <a:t>funciones de transformación</a:t>
            </a:r>
            <a:r>
              <a:rPr lang="es-ES" dirty="0"/>
              <a:t> especiales. Se llaman </a:t>
            </a:r>
            <a:r>
              <a:rPr lang="es-ES" b="1" dirty="0"/>
              <a:t>tuberías o pipes </a:t>
            </a:r>
            <a:r>
              <a:rPr lang="es-ES" dirty="0"/>
              <a:t>y se indican mediante el carácter </a:t>
            </a:r>
            <a:r>
              <a:rPr lang="es-ES" b="1" dirty="0"/>
              <a:t>|</a:t>
            </a:r>
            <a:r>
              <a:rPr lang="es-ES" dirty="0"/>
              <a:t>.</a:t>
            </a:r>
          </a:p>
          <a:p>
            <a:r>
              <a:rPr lang="es-ES" dirty="0"/>
              <a:t>El </a:t>
            </a:r>
            <a:r>
              <a:rPr lang="es-ES" dirty="0" err="1"/>
              <a:t>framework</a:t>
            </a:r>
            <a:r>
              <a:rPr lang="es-ES" dirty="0"/>
              <a:t> nos provee de casos básicos como </a:t>
            </a:r>
            <a:r>
              <a:rPr lang="es-ES" b="1" dirty="0" err="1"/>
              <a:t>uppercase</a:t>
            </a:r>
            <a:r>
              <a:rPr lang="es-ES" dirty="0"/>
              <a:t>, </a:t>
            </a:r>
            <a:r>
              <a:rPr lang="es-ES" b="1" dirty="0" err="1"/>
              <a:t>lowercase</a:t>
            </a:r>
            <a:r>
              <a:rPr lang="es-ES" dirty="0"/>
              <a:t>, </a:t>
            </a:r>
            <a:r>
              <a:rPr lang="es-ES" b="1" dirty="0"/>
              <a:t>date</a:t>
            </a:r>
            <a:r>
              <a:rPr lang="es-ES" dirty="0"/>
              <a:t>, </a:t>
            </a:r>
            <a:r>
              <a:rPr lang="es-ES" b="1" dirty="0" err="1"/>
              <a:t>number</a:t>
            </a:r>
            <a:r>
              <a:rPr lang="es-ES" dirty="0"/>
              <a:t>.... </a:t>
            </a:r>
          </a:p>
          <a:p>
            <a:r>
              <a:rPr lang="es-ES" dirty="0"/>
              <a:t>También dispones de un mecanismo para </a:t>
            </a:r>
            <a:r>
              <a:rPr lang="es-ES" b="1" dirty="0"/>
              <a:t>crear tus propios pipes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418736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Usando</a:t>
            </a:r>
            <a:r>
              <a:rPr lang="en-US" dirty="0"/>
              <a:t> pipes</a:t>
            </a:r>
            <a:endParaRPr lang="ru-RU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5D77D572-602F-4D9B-AA81-5CD8B28EB9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9012" y="1295400"/>
            <a:ext cx="9599611" cy="3046988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endParaRPr lang="en-US" sz="1600" b="1" dirty="0">
              <a:solidFill>
                <a:srgbClr val="000080"/>
              </a:solidFill>
              <a:latin typeface="Consolas" panose="020B0609020204030204" pitchFamily="49" charset="0"/>
            </a:endParaRPr>
          </a:p>
          <a:p>
            <a:r>
              <a:rPr lang="en-US" sz="1600" b="1" dirty="0">
                <a:solidFill>
                  <a:srgbClr val="000080"/>
                </a:solidFill>
                <a:latin typeface="Consolas" panose="020B0609020204030204" pitchFamily="49" charset="0"/>
              </a:rPr>
              <a:t>import </a:t>
            </a:r>
            <a:r>
              <a:rPr lang="en-US" sz="1600" dirty="0">
                <a:latin typeface="Consolas" panose="020B0609020204030204" pitchFamily="49" charset="0"/>
              </a:rPr>
              <a:t>{</a:t>
            </a:r>
            <a:r>
              <a:rPr lang="en-US" sz="1600" b="1" i="1" dirty="0">
                <a:solidFill>
                  <a:srgbClr val="660E7A"/>
                </a:solidFill>
                <a:latin typeface="Consolas" panose="020B0609020204030204" pitchFamily="49" charset="0"/>
              </a:rPr>
              <a:t>Component</a:t>
            </a:r>
            <a:r>
              <a:rPr lang="en-US" sz="1600" dirty="0">
                <a:latin typeface="Consolas" panose="020B0609020204030204" pitchFamily="49" charset="0"/>
              </a:rPr>
              <a:t>} </a:t>
            </a:r>
            <a:r>
              <a:rPr lang="en-US" sz="1600" b="1" dirty="0">
                <a:solidFill>
                  <a:srgbClr val="000080"/>
                </a:solidFill>
                <a:latin typeface="Consolas" panose="020B0609020204030204" pitchFamily="49" charset="0"/>
              </a:rPr>
              <a:t>from </a:t>
            </a:r>
            <a:r>
              <a:rPr lang="en-US" sz="1600" b="1" dirty="0">
                <a:solidFill>
                  <a:srgbClr val="008000"/>
                </a:solidFill>
                <a:latin typeface="Consolas" panose="020B0609020204030204" pitchFamily="49" charset="0"/>
              </a:rPr>
              <a:t>'@angular/core'</a:t>
            </a:r>
            <a:br>
              <a:rPr lang="en-US" sz="1600" b="1" dirty="0">
                <a:solidFill>
                  <a:srgbClr val="008000"/>
                </a:solidFill>
                <a:latin typeface="Consolas" panose="020B0609020204030204" pitchFamily="49" charset="0"/>
              </a:rPr>
            </a:br>
            <a:br>
              <a:rPr lang="en-US" sz="1600" b="1" dirty="0">
                <a:solidFill>
                  <a:srgbClr val="008000"/>
                </a:solidFill>
                <a:latin typeface="Consolas" panose="020B0609020204030204" pitchFamily="49" charset="0"/>
              </a:rPr>
            </a:br>
            <a:r>
              <a:rPr lang="en-US" sz="1600" dirty="0">
                <a:latin typeface="Consolas" panose="020B0609020204030204" pitchFamily="49" charset="0"/>
              </a:rPr>
              <a:t>@</a:t>
            </a:r>
            <a:r>
              <a:rPr lang="en-US" sz="1600" b="1" i="1" dirty="0">
                <a:solidFill>
                  <a:srgbClr val="660E7A"/>
                </a:solidFill>
                <a:latin typeface="Consolas" panose="020B0609020204030204" pitchFamily="49" charset="0"/>
              </a:rPr>
              <a:t>Component</a:t>
            </a:r>
            <a:r>
              <a:rPr lang="en-US" sz="1600" dirty="0">
                <a:latin typeface="Consolas" panose="020B0609020204030204" pitchFamily="49" charset="0"/>
              </a:rPr>
              <a:t>({</a:t>
            </a:r>
            <a:br>
              <a:rPr lang="en-US" sz="1600" dirty="0">
                <a:latin typeface="Consolas" panose="020B0609020204030204" pitchFamily="49" charset="0"/>
              </a:rPr>
            </a:br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b="1" dirty="0">
                <a:solidFill>
                  <a:srgbClr val="660E7A"/>
                </a:solidFill>
                <a:latin typeface="Consolas" panose="020B0609020204030204" pitchFamily="49" charset="0"/>
              </a:rPr>
              <a:t>selector</a:t>
            </a:r>
            <a:r>
              <a:rPr lang="en-US" sz="1600" dirty="0">
                <a:latin typeface="Consolas" panose="020B0609020204030204" pitchFamily="49" charset="0"/>
              </a:rPr>
              <a:t>: </a:t>
            </a:r>
            <a:r>
              <a:rPr lang="en-US" sz="1600" b="1" dirty="0">
                <a:solidFill>
                  <a:srgbClr val="008000"/>
                </a:solidFill>
                <a:latin typeface="Consolas" panose="020B0609020204030204" pitchFamily="49" charset="0"/>
              </a:rPr>
              <a:t>'hero-birthday'</a:t>
            </a:r>
            <a:r>
              <a:rPr lang="en-US" sz="1600" dirty="0">
                <a:latin typeface="Consolas" panose="020B0609020204030204" pitchFamily="49" charset="0"/>
              </a:rPr>
              <a:t>,</a:t>
            </a:r>
            <a:br>
              <a:rPr lang="en-US" sz="1600" dirty="0">
                <a:latin typeface="Consolas" panose="020B0609020204030204" pitchFamily="49" charset="0"/>
              </a:rPr>
            </a:br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b="1" dirty="0">
                <a:solidFill>
                  <a:srgbClr val="660E7A"/>
                </a:solidFill>
                <a:latin typeface="Consolas" panose="020B0609020204030204" pitchFamily="49" charset="0"/>
              </a:rPr>
              <a:t>template</a:t>
            </a:r>
            <a:r>
              <a:rPr lang="en-US" sz="1600" dirty="0">
                <a:latin typeface="Consolas" panose="020B0609020204030204" pitchFamily="49" charset="0"/>
              </a:rPr>
              <a:t>: </a:t>
            </a:r>
            <a:r>
              <a:rPr lang="en-US" sz="1600" b="1" dirty="0">
                <a:solidFill>
                  <a:srgbClr val="008000"/>
                </a:solidFill>
                <a:latin typeface="Consolas" panose="020B0609020204030204" pitchFamily="49" charset="0"/>
              </a:rPr>
              <a:t>`&lt;p&gt;The hero's birthday is </a:t>
            </a:r>
            <a:br>
              <a:rPr lang="en-US" sz="1600" b="1" dirty="0">
                <a:solidFill>
                  <a:srgbClr val="008000"/>
                </a:solidFill>
                <a:latin typeface="Consolas" panose="020B0609020204030204" pitchFamily="49" charset="0"/>
              </a:rPr>
            </a:br>
            <a:r>
              <a:rPr lang="en-US" sz="1600" b="1" dirty="0">
                <a:solidFill>
                  <a:srgbClr val="008000"/>
                </a:solidFill>
                <a:latin typeface="Consolas" panose="020B0609020204030204" pitchFamily="49" charset="0"/>
              </a:rPr>
              <a:t>               {{ birthday | date }}&lt;/p&gt;`</a:t>
            </a:r>
            <a:br>
              <a:rPr lang="en-US" sz="1600" b="1" dirty="0">
                <a:solidFill>
                  <a:srgbClr val="008000"/>
                </a:solidFill>
                <a:latin typeface="Consolas" panose="020B0609020204030204" pitchFamily="49" charset="0"/>
              </a:rPr>
            </a:br>
            <a:r>
              <a:rPr lang="en-US" sz="1600" dirty="0">
                <a:latin typeface="Consolas" panose="020B0609020204030204" pitchFamily="49" charset="0"/>
              </a:rPr>
              <a:t>})</a:t>
            </a:r>
            <a:br>
              <a:rPr lang="en-US" sz="1600" dirty="0">
                <a:latin typeface="Consolas" panose="020B0609020204030204" pitchFamily="49" charset="0"/>
              </a:rPr>
            </a:br>
            <a:r>
              <a:rPr lang="en-US" sz="1600" b="1" dirty="0">
                <a:solidFill>
                  <a:srgbClr val="000080"/>
                </a:solidFill>
                <a:latin typeface="Consolas" panose="020B0609020204030204" pitchFamily="49" charset="0"/>
              </a:rPr>
              <a:t>export class </a:t>
            </a:r>
            <a:r>
              <a:rPr lang="en-US" sz="1600" dirty="0" err="1">
                <a:latin typeface="Consolas" panose="020B0609020204030204" pitchFamily="49" charset="0"/>
              </a:rPr>
              <a:t>HeroBirthday</a:t>
            </a:r>
            <a:r>
              <a:rPr lang="en-US" sz="1600" dirty="0">
                <a:latin typeface="Consolas" panose="020B0609020204030204" pitchFamily="49" charset="0"/>
              </a:rPr>
              <a:t> {</a:t>
            </a:r>
            <a:br>
              <a:rPr lang="en-US" sz="1600" dirty="0">
                <a:latin typeface="Consolas" panose="020B0609020204030204" pitchFamily="49" charset="0"/>
              </a:rPr>
            </a:br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b="1" dirty="0">
                <a:solidFill>
                  <a:srgbClr val="660E7A"/>
                </a:solidFill>
                <a:latin typeface="Consolas" panose="020B0609020204030204" pitchFamily="49" charset="0"/>
              </a:rPr>
              <a:t>birthday </a:t>
            </a:r>
            <a:r>
              <a:rPr lang="en-US" sz="1600" dirty="0">
                <a:latin typeface="Consolas" panose="020B0609020204030204" pitchFamily="49" charset="0"/>
              </a:rPr>
              <a:t>= </a:t>
            </a:r>
            <a:r>
              <a:rPr lang="en-US" sz="1600" b="1" dirty="0">
                <a:solidFill>
                  <a:srgbClr val="000080"/>
                </a:solidFill>
                <a:latin typeface="Consolas" panose="020B0609020204030204" pitchFamily="49" charset="0"/>
              </a:rPr>
              <a:t>new </a:t>
            </a:r>
            <a:r>
              <a:rPr lang="en-US" sz="1600" b="1" i="1" dirty="0">
                <a:solidFill>
                  <a:srgbClr val="660E7A"/>
                </a:solidFill>
                <a:latin typeface="Consolas" panose="020B0609020204030204" pitchFamily="49" charset="0"/>
              </a:rPr>
              <a:t>Date</a:t>
            </a:r>
            <a:r>
              <a:rPr lang="en-US" sz="1600" dirty="0"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1988</a:t>
            </a:r>
            <a:r>
              <a:rPr lang="en-US" sz="1600" dirty="0"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3</a:t>
            </a:r>
            <a:r>
              <a:rPr lang="en-US" sz="1600" dirty="0"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15</a:t>
            </a:r>
            <a:r>
              <a:rPr lang="en-US" sz="1600" dirty="0">
                <a:latin typeface="Consolas" panose="020B0609020204030204" pitchFamily="49" charset="0"/>
              </a:rPr>
              <a:t>); </a:t>
            </a:r>
            <a:r>
              <a:rPr lang="en-US" sz="1600" i="1" dirty="0">
                <a:solidFill>
                  <a:srgbClr val="808080"/>
                </a:solidFill>
                <a:latin typeface="Consolas" panose="020B0609020204030204" pitchFamily="49" charset="0"/>
              </a:rPr>
              <a:t>// April 15, 1988</a:t>
            </a:r>
            <a:br>
              <a:rPr lang="en-US" sz="1600" i="1" dirty="0">
                <a:solidFill>
                  <a:srgbClr val="808080"/>
                </a:solidFill>
                <a:latin typeface="Consolas" panose="020B0609020204030204" pitchFamily="49" charset="0"/>
              </a:rPr>
            </a:br>
            <a:r>
              <a:rPr lang="en-US" sz="1600" dirty="0">
                <a:latin typeface="Consolas" panose="020B0609020204030204" pitchFamily="49" charset="0"/>
              </a:rPr>
              <a:t>}</a:t>
            </a:r>
            <a:br>
              <a:rPr lang="en-US" sz="1600" dirty="0">
                <a:latin typeface="Consolas" panose="020B0609020204030204" pitchFamily="49" charset="0"/>
              </a:rPr>
            </a:br>
            <a:endParaRPr lang="es-ES" sz="16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53028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Definiendo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pipe </a:t>
            </a:r>
            <a:r>
              <a:rPr lang="en-US" dirty="0" err="1"/>
              <a:t>personalizada</a:t>
            </a:r>
            <a:endParaRPr lang="ru-RU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5D77D572-602F-4D9B-AA81-5CD8B28EB9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9012" y="1524000"/>
            <a:ext cx="9599611" cy="36933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375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b="1" dirty="0">
                <a:solidFill>
                  <a:srgbClr val="000080"/>
                </a:solidFill>
                <a:latin typeface="Consolas" panose="020B0609020204030204" pitchFamily="49" charset="0"/>
              </a:rPr>
              <a:t>&gt; ng g pipe /lib/shared/pipes/</a:t>
            </a:r>
            <a:r>
              <a:rPr lang="en-US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exponentialstrength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D206E9F-6A98-4094-B022-7ED6FFA90F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9012" y="2338584"/>
            <a:ext cx="9599611" cy="4021614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375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b="1" dirty="0">
                <a:solidFill>
                  <a:srgbClr val="000080"/>
                </a:solidFill>
                <a:latin typeface="Consolas" panose="020B0609020204030204" pitchFamily="49" charset="0"/>
              </a:rPr>
              <a:t>import </a:t>
            </a:r>
            <a:r>
              <a:rPr lang="en-US" dirty="0">
                <a:latin typeface="Consolas" panose="020B0609020204030204" pitchFamily="49" charset="0"/>
              </a:rPr>
              <a:t>{</a:t>
            </a:r>
            <a:r>
              <a:rPr lang="en-US" b="1" i="1" dirty="0">
                <a:solidFill>
                  <a:srgbClr val="660E7A"/>
                </a:solidFill>
                <a:latin typeface="Consolas" panose="020B0609020204030204" pitchFamily="49" charset="0"/>
              </a:rPr>
              <a:t>Pipe</a:t>
            </a:r>
            <a:r>
              <a:rPr lang="en-US" dirty="0">
                <a:latin typeface="Consolas" panose="020B0609020204030204" pitchFamily="49" charset="0"/>
              </a:rPr>
              <a:t>} </a:t>
            </a:r>
            <a:r>
              <a:rPr lang="en-US" b="1" dirty="0">
                <a:solidFill>
                  <a:srgbClr val="000080"/>
                </a:solidFill>
                <a:latin typeface="Consolas" panose="020B0609020204030204" pitchFamily="49" charset="0"/>
              </a:rPr>
              <a:t>from </a:t>
            </a:r>
            <a:r>
              <a:rPr lang="en-US" b="1" dirty="0">
                <a:solidFill>
                  <a:srgbClr val="008000"/>
                </a:solidFill>
                <a:latin typeface="Consolas" panose="020B0609020204030204" pitchFamily="49" charset="0"/>
              </a:rPr>
              <a:t>'@angular/core'</a:t>
            </a:r>
            <a:r>
              <a:rPr lang="en-US" dirty="0">
                <a:latin typeface="Consolas" panose="020B0609020204030204" pitchFamily="49" charset="0"/>
              </a:rPr>
              <a:t>; </a:t>
            </a:r>
          </a:p>
          <a:p>
            <a:pPr>
              <a:spcAft>
                <a:spcPts val="375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i="1" dirty="0">
                <a:solidFill>
                  <a:srgbClr val="808080"/>
                </a:solidFill>
                <a:latin typeface="Consolas" panose="020B0609020204030204" pitchFamily="49" charset="0"/>
              </a:rPr>
              <a:t>/* Raise the value exponentially</a:t>
            </a:r>
            <a:br>
              <a:rPr lang="en-US" i="1" dirty="0">
                <a:solidFill>
                  <a:srgbClr val="808080"/>
                </a:solidFill>
                <a:latin typeface="Consolas" panose="020B0609020204030204" pitchFamily="49" charset="0"/>
              </a:rPr>
            </a:br>
            <a:r>
              <a:rPr lang="en-US" i="1" dirty="0">
                <a:solidFill>
                  <a:srgbClr val="808080"/>
                </a:solidFill>
                <a:latin typeface="Consolas" panose="020B0609020204030204" pitchFamily="49" charset="0"/>
              </a:rPr>
              <a:t> * Takes an exponent argument that defaults to 1.</a:t>
            </a:r>
            <a:br>
              <a:rPr lang="en-US" i="1" dirty="0">
                <a:solidFill>
                  <a:srgbClr val="808080"/>
                </a:solidFill>
                <a:latin typeface="Consolas" panose="020B0609020204030204" pitchFamily="49" charset="0"/>
              </a:rPr>
            </a:br>
            <a:r>
              <a:rPr lang="en-US" i="1" dirty="0">
                <a:solidFill>
                  <a:srgbClr val="808080"/>
                </a:solidFill>
                <a:latin typeface="Consolas" panose="020B0609020204030204" pitchFamily="49" charset="0"/>
              </a:rPr>
              <a:t> * Usage: value | </a:t>
            </a:r>
            <a:r>
              <a:rPr lang="en-US" i="1" dirty="0" err="1">
                <a:solidFill>
                  <a:srgbClr val="808080"/>
                </a:solidFill>
                <a:latin typeface="Consolas" panose="020B0609020204030204" pitchFamily="49" charset="0"/>
              </a:rPr>
              <a:t>exponentialStrength:exponent</a:t>
            </a:r>
            <a:br>
              <a:rPr lang="en-US" i="1" dirty="0">
                <a:solidFill>
                  <a:srgbClr val="808080"/>
                </a:solidFill>
                <a:latin typeface="Consolas" panose="020B0609020204030204" pitchFamily="49" charset="0"/>
              </a:rPr>
            </a:br>
            <a:r>
              <a:rPr lang="en-US" i="1" dirty="0">
                <a:solidFill>
                  <a:srgbClr val="808080"/>
                </a:solidFill>
                <a:latin typeface="Consolas" panose="020B0609020204030204" pitchFamily="49" charset="0"/>
              </a:rPr>
              <a:t> * Example:</a:t>
            </a:r>
            <a:br>
              <a:rPr lang="en-US" i="1" dirty="0">
                <a:solidFill>
                  <a:srgbClr val="808080"/>
                </a:solidFill>
                <a:latin typeface="Consolas" panose="020B0609020204030204" pitchFamily="49" charset="0"/>
              </a:rPr>
            </a:br>
            <a:r>
              <a:rPr lang="en-US" i="1" dirty="0">
                <a:solidFill>
                  <a:srgbClr val="808080"/>
                </a:solidFill>
                <a:latin typeface="Consolas" panose="020B0609020204030204" pitchFamily="49" charset="0"/>
              </a:rPr>
              <a:t> *   {{ 2 |  exponentialStrength:10}}</a:t>
            </a:r>
            <a:br>
              <a:rPr lang="en-US" i="1" dirty="0">
                <a:solidFill>
                  <a:srgbClr val="808080"/>
                </a:solidFill>
                <a:latin typeface="Consolas" panose="020B0609020204030204" pitchFamily="49" charset="0"/>
              </a:rPr>
            </a:br>
            <a:r>
              <a:rPr lang="en-US" i="1" dirty="0">
                <a:solidFill>
                  <a:srgbClr val="808080"/>
                </a:solidFill>
                <a:latin typeface="Consolas" panose="020B0609020204030204" pitchFamily="49" charset="0"/>
              </a:rPr>
              <a:t> *   formats to: 1024</a:t>
            </a:r>
            <a:br>
              <a:rPr lang="en-US" i="1" dirty="0">
                <a:solidFill>
                  <a:srgbClr val="808080"/>
                </a:solidFill>
                <a:latin typeface="Consolas" panose="020B0609020204030204" pitchFamily="49" charset="0"/>
              </a:rPr>
            </a:br>
            <a:r>
              <a:rPr lang="en-US" i="1" dirty="0">
                <a:solidFill>
                  <a:srgbClr val="808080"/>
                </a:solidFill>
                <a:latin typeface="Consolas" panose="020B0609020204030204" pitchFamily="49" charset="0"/>
              </a:rPr>
              <a:t> */</a:t>
            </a:r>
            <a:br>
              <a:rPr lang="en-US" i="1" dirty="0">
                <a:solidFill>
                  <a:srgbClr val="808080"/>
                </a:solidFill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@</a:t>
            </a:r>
            <a:r>
              <a:rPr lang="en-US" b="1" i="1" dirty="0">
                <a:solidFill>
                  <a:srgbClr val="660E7A"/>
                </a:solidFill>
                <a:latin typeface="Consolas" panose="020B0609020204030204" pitchFamily="49" charset="0"/>
              </a:rPr>
              <a:t>Pipe</a:t>
            </a:r>
            <a:r>
              <a:rPr lang="en-US" dirty="0">
                <a:latin typeface="Consolas" panose="020B0609020204030204" pitchFamily="49" charset="0"/>
              </a:rPr>
              <a:t>({</a:t>
            </a:r>
            <a:r>
              <a:rPr lang="en-US" b="1" dirty="0">
                <a:solidFill>
                  <a:srgbClr val="660E7A"/>
                </a:solidFill>
                <a:latin typeface="Consolas" panose="020B0609020204030204" pitchFamily="49" charset="0"/>
              </a:rPr>
              <a:t>name</a:t>
            </a:r>
            <a:r>
              <a:rPr lang="en-US" dirty="0">
                <a:latin typeface="Consolas" panose="020B0609020204030204" pitchFamily="49" charset="0"/>
              </a:rPr>
              <a:t>: </a:t>
            </a:r>
            <a:r>
              <a:rPr lang="en-US" b="1" dirty="0">
                <a:solidFill>
                  <a:srgbClr val="008000"/>
                </a:solidFill>
                <a:latin typeface="Consolas" panose="020B0609020204030204" pitchFamily="49" charset="0"/>
              </a:rPr>
              <a:t>'</a:t>
            </a:r>
            <a:r>
              <a:rPr lang="en-US" b="1" dirty="0" err="1">
                <a:solidFill>
                  <a:srgbClr val="008000"/>
                </a:solidFill>
                <a:latin typeface="Consolas" panose="020B0609020204030204" pitchFamily="49" charset="0"/>
              </a:rPr>
              <a:t>exponentialStrength</a:t>
            </a:r>
            <a:r>
              <a:rPr lang="en-US" b="1" dirty="0">
                <a:solidFill>
                  <a:srgbClr val="008000"/>
                </a:solidFill>
                <a:latin typeface="Consolas" panose="020B0609020204030204" pitchFamily="49" charset="0"/>
              </a:rPr>
              <a:t>'</a:t>
            </a:r>
            <a:r>
              <a:rPr lang="en-US" dirty="0">
                <a:latin typeface="Consolas" panose="020B0609020204030204" pitchFamily="49" charset="0"/>
              </a:rPr>
              <a:t>})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b="1" dirty="0">
                <a:solidFill>
                  <a:srgbClr val="000080"/>
                </a:solidFill>
                <a:latin typeface="Consolas" panose="020B0609020204030204" pitchFamily="49" charset="0"/>
              </a:rPr>
              <a:t>export class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ExponentialStrengthPipe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{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7A7A43"/>
                </a:solidFill>
                <a:latin typeface="Consolas" panose="020B0609020204030204" pitchFamily="49" charset="0"/>
              </a:rPr>
              <a:t>transform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</a:rPr>
              <a:t>value:</a:t>
            </a:r>
            <a:r>
              <a:rPr lang="en-US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number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</a:rPr>
              <a:t>args:</a:t>
            </a:r>
            <a:r>
              <a:rPr lang="en-US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string</a:t>
            </a:r>
            <a:r>
              <a:rPr lang="en-US" dirty="0">
                <a:latin typeface="Consolas" panose="020B0609020204030204" pitchFamily="49" charset="0"/>
              </a:rPr>
              <a:t>[]) : </a:t>
            </a:r>
            <a:r>
              <a:rPr lang="en-US" b="1" dirty="0">
                <a:solidFill>
                  <a:srgbClr val="000080"/>
                </a:solidFill>
                <a:latin typeface="Consolas" panose="020B0609020204030204" pitchFamily="49" charset="0"/>
              </a:rPr>
              <a:t>any </a:t>
            </a:r>
            <a:r>
              <a:rPr lang="en-US" dirty="0">
                <a:latin typeface="Consolas" panose="020B0609020204030204" pitchFamily="49" charset="0"/>
              </a:rPr>
              <a:t>{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      </a:t>
            </a:r>
            <a:r>
              <a:rPr lang="en-US" b="1" dirty="0">
                <a:solidFill>
                  <a:srgbClr val="000080"/>
                </a:solidFill>
                <a:latin typeface="Consolas" panose="020B0609020204030204" pitchFamily="49" charset="0"/>
              </a:rPr>
              <a:t>return </a:t>
            </a:r>
            <a:r>
              <a:rPr lang="en-US" b="1" i="1" dirty="0" err="1">
                <a:solidFill>
                  <a:srgbClr val="660E7A"/>
                </a:solidFill>
                <a:latin typeface="Consolas" panose="020B0609020204030204" pitchFamily="49" charset="0"/>
              </a:rPr>
              <a:t>Math</a:t>
            </a:r>
            <a:r>
              <a:rPr lang="en-US" dirty="0" err="1"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7A7A43"/>
                </a:solidFill>
                <a:latin typeface="Consolas" panose="020B0609020204030204" pitchFamily="49" charset="0"/>
              </a:rPr>
              <a:t>pow</a:t>
            </a:r>
            <a:r>
              <a:rPr lang="en-US" dirty="0">
                <a:latin typeface="Consolas" panose="020B0609020204030204" pitchFamily="49" charset="0"/>
              </a:rPr>
              <a:t>(value, </a:t>
            </a:r>
            <a:r>
              <a:rPr lang="en-US" i="1" dirty="0" err="1">
                <a:latin typeface="Consolas" panose="020B0609020204030204" pitchFamily="49" charset="0"/>
              </a:rPr>
              <a:t>parseInt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</a:rPr>
              <a:t>args</a:t>
            </a:r>
            <a:r>
              <a:rPr lang="en-US" dirty="0">
                <a:latin typeface="Consolas" panose="020B0609020204030204" pitchFamily="49" charset="0"/>
              </a:rPr>
              <a:t>[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</a:rPr>
              <a:t>] || </a:t>
            </a:r>
            <a:r>
              <a:rPr lang="en-US" b="1" dirty="0">
                <a:solidFill>
                  <a:srgbClr val="008000"/>
                </a:solidFill>
                <a:latin typeface="Consolas" panose="020B0609020204030204" pitchFamily="49" charset="0"/>
              </a:rPr>
              <a:t>'1'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10</a:t>
            </a:r>
            <a:r>
              <a:rPr lang="en-US" dirty="0">
                <a:latin typeface="Consolas" panose="020B0609020204030204" pitchFamily="49" charset="0"/>
              </a:rPr>
              <a:t>));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  }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}</a:t>
            </a:r>
            <a:endParaRPr lang="es-ES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74168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Usando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pipe </a:t>
            </a:r>
            <a:r>
              <a:rPr lang="en-US" dirty="0" err="1"/>
              <a:t>personalizada</a:t>
            </a:r>
            <a:endParaRPr lang="ru-RU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5D77D572-602F-4D9B-AA81-5CD8B28EB9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9012" y="1690689"/>
            <a:ext cx="9599611" cy="3795911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marL="800100" lvl="1" indent="-342900">
              <a:spcAft>
                <a:spcPts val="375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1600" b="1" dirty="0">
              <a:solidFill>
                <a:srgbClr val="000080"/>
              </a:solidFill>
              <a:latin typeface="Consolas" panose="020B0609020204030204" pitchFamily="49" charset="0"/>
            </a:endParaRPr>
          </a:p>
          <a:p>
            <a:pPr marL="800100" lvl="1" indent="-342900">
              <a:spcAft>
                <a:spcPts val="375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b="1" dirty="0">
                <a:solidFill>
                  <a:srgbClr val="000080"/>
                </a:solidFill>
                <a:latin typeface="Consolas" panose="020B0609020204030204" pitchFamily="49" charset="0"/>
              </a:rPr>
              <a:t>import </a:t>
            </a:r>
            <a:r>
              <a:rPr lang="en-US" sz="1600" dirty="0">
                <a:latin typeface="Consolas" panose="020B0609020204030204" pitchFamily="49" charset="0"/>
              </a:rPr>
              <a:t>{</a:t>
            </a:r>
            <a:r>
              <a:rPr lang="en-US" sz="1600" b="1" i="1" dirty="0">
                <a:solidFill>
                  <a:srgbClr val="660E7A"/>
                </a:solidFill>
                <a:latin typeface="Consolas" panose="020B0609020204030204" pitchFamily="49" charset="0"/>
              </a:rPr>
              <a:t>Component</a:t>
            </a:r>
            <a:r>
              <a:rPr lang="en-US" sz="1600" dirty="0">
                <a:latin typeface="Consolas" panose="020B0609020204030204" pitchFamily="49" charset="0"/>
              </a:rPr>
              <a:t>} </a:t>
            </a:r>
            <a:r>
              <a:rPr lang="en-US" sz="1600" b="1" dirty="0">
                <a:solidFill>
                  <a:srgbClr val="000080"/>
                </a:solidFill>
                <a:latin typeface="Consolas" panose="020B0609020204030204" pitchFamily="49" charset="0"/>
              </a:rPr>
              <a:t>from </a:t>
            </a:r>
            <a:r>
              <a:rPr lang="en-US" sz="1600" b="1" dirty="0">
                <a:solidFill>
                  <a:srgbClr val="008000"/>
                </a:solidFill>
                <a:latin typeface="Consolas" panose="020B0609020204030204" pitchFamily="49" charset="0"/>
              </a:rPr>
              <a:t>'@angular/core'</a:t>
            </a:r>
            <a:r>
              <a:rPr lang="en-US" sz="1600" dirty="0">
                <a:latin typeface="Consolas" panose="020B0609020204030204" pitchFamily="49" charset="0"/>
              </a:rPr>
              <a:t>;</a:t>
            </a:r>
          </a:p>
          <a:p>
            <a:pPr marL="800100" lvl="1" indent="-342900">
              <a:spcAft>
                <a:spcPts val="375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1600" dirty="0">
              <a:latin typeface="Consolas" panose="020B0609020204030204" pitchFamily="49" charset="0"/>
            </a:endParaRPr>
          </a:p>
          <a:p>
            <a:pPr marL="800100" lvl="1" indent="-342900">
              <a:spcAft>
                <a:spcPts val="375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dirty="0">
                <a:latin typeface="Consolas" panose="020B0609020204030204" pitchFamily="49" charset="0"/>
              </a:rPr>
              <a:t>@</a:t>
            </a:r>
            <a:r>
              <a:rPr lang="en-US" sz="1600" b="1" i="1" dirty="0">
                <a:solidFill>
                  <a:srgbClr val="660E7A"/>
                </a:solidFill>
                <a:latin typeface="Consolas" panose="020B0609020204030204" pitchFamily="49" charset="0"/>
              </a:rPr>
              <a:t>Component</a:t>
            </a:r>
            <a:r>
              <a:rPr lang="en-US" sz="1600" dirty="0">
                <a:latin typeface="Consolas" panose="020B0609020204030204" pitchFamily="49" charset="0"/>
              </a:rPr>
              <a:t>({</a:t>
            </a:r>
            <a:br>
              <a:rPr lang="en-US" sz="1600" dirty="0">
                <a:latin typeface="Consolas" panose="020B0609020204030204" pitchFamily="49" charset="0"/>
              </a:rPr>
            </a:br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b="1" dirty="0">
                <a:solidFill>
                  <a:srgbClr val="660E7A"/>
                </a:solidFill>
                <a:latin typeface="Consolas" panose="020B0609020204030204" pitchFamily="49" charset="0"/>
              </a:rPr>
              <a:t>selector</a:t>
            </a:r>
            <a:r>
              <a:rPr lang="en-US" sz="1600" dirty="0">
                <a:latin typeface="Consolas" panose="020B0609020204030204" pitchFamily="49" charset="0"/>
              </a:rPr>
              <a:t>: </a:t>
            </a:r>
            <a:r>
              <a:rPr lang="en-US" sz="1600" b="1" dirty="0">
                <a:solidFill>
                  <a:srgbClr val="008000"/>
                </a:solidFill>
                <a:latin typeface="Consolas" panose="020B0609020204030204" pitchFamily="49" charset="0"/>
              </a:rPr>
              <a:t>'power-booster'</a:t>
            </a:r>
            <a:r>
              <a:rPr lang="en-US" sz="1600" dirty="0">
                <a:latin typeface="Consolas" panose="020B0609020204030204" pitchFamily="49" charset="0"/>
              </a:rPr>
              <a:t>,</a:t>
            </a:r>
            <a:br>
              <a:rPr lang="en-US" sz="1600" dirty="0">
                <a:latin typeface="Consolas" panose="020B0609020204030204" pitchFamily="49" charset="0"/>
              </a:rPr>
            </a:br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b="1" dirty="0">
                <a:solidFill>
                  <a:srgbClr val="660E7A"/>
                </a:solidFill>
                <a:latin typeface="Consolas" panose="020B0609020204030204" pitchFamily="49" charset="0"/>
              </a:rPr>
              <a:t>template</a:t>
            </a:r>
            <a:r>
              <a:rPr lang="en-US" sz="1600" dirty="0">
                <a:latin typeface="Consolas" panose="020B0609020204030204" pitchFamily="49" charset="0"/>
              </a:rPr>
              <a:t>: </a:t>
            </a:r>
            <a:r>
              <a:rPr lang="en-US" sz="1600" b="1" dirty="0">
                <a:solidFill>
                  <a:srgbClr val="008000"/>
                </a:solidFill>
                <a:latin typeface="Consolas" panose="020B0609020204030204" pitchFamily="49" charset="0"/>
              </a:rPr>
              <a:t>`</a:t>
            </a:r>
            <a:br>
              <a:rPr lang="en-US" sz="1600" b="1" dirty="0">
                <a:solidFill>
                  <a:srgbClr val="008000"/>
                </a:solidFill>
                <a:latin typeface="Consolas" panose="020B0609020204030204" pitchFamily="49" charset="0"/>
              </a:rPr>
            </a:br>
            <a:r>
              <a:rPr lang="en-US" sz="1600" b="1" dirty="0">
                <a:solidFill>
                  <a:srgbClr val="008000"/>
                </a:solidFill>
                <a:latin typeface="Consolas" panose="020B0609020204030204" pitchFamily="49" charset="0"/>
              </a:rPr>
              <a:t>    &lt;h2&gt;Power Booster&lt;/h2&gt;</a:t>
            </a:r>
            <a:br>
              <a:rPr lang="en-US" sz="1600" b="1" dirty="0">
                <a:solidFill>
                  <a:srgbClr val="008000"/>
                </a:solidFill>
                <a:latin typeface="Consolas" panose="020B0609020204030204" pitchFamily="49" charset="0"/>
              </a:rPr>
            </a:br>
            <a:r>
              <a:rPr lang="en-US" sz="1600" b="1" dirty="0">
                <a:solidFill>
                  <a:srgbClr val="008000"/>
                </a:solidFill>
                <a:latin typeface="Consolas" panose="020B0609020204030204" pitchFamily="49" charset="0"/>
              </a:rPr>
              <a:t>    &lt;p&gt;</a:t>
            </a:r>
            <a:br>
              <a:rPr lang="en-US" sz="1600" b="1" dirty="0">
                <a:solidFill>
                  <a:srgbClr val="008000"/>
                </a:solidFill>
                <a:latin typeface="Consolas" panose="020B0609020204030204" pitchFamily="49" charset="0"/>
              </a:rPr>
            </a:br>
            <a:r>
              <a:rPr lang="en-US" sz="1600" b="1" dirty="0">
                <a:solidFill>
                  <a:srgbClr val="008000"/>
                </a:solidFill>
                <a:latin typeface="Consolas" panose="020B0609020204030204" pitchFamily="49" charset="0"/>
              </a:rPr>
              <a:t>      Super power boost: {{2 | </a:t>
            </a:r>
            <a:r>
              <a:rPr lang="en-US" sz="16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exponentialStrength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: ['10']</a:t>
            </a:r>
            <a:r>
              <a:rPr lang="en-US" sz="1600" b="1" dirty="0">
                <a:solidFill>
                  <a:srgbClr val="008000"/>
                </a:solidFill>
                <a:latin typeface="Consolas" panose="020B0609020204030204" pitchFamily="49" charset="0"/>
              </a:rPr>
              <a:t>}}</a:t>
            </a:r>
            <a:br>
              <a:rPr lang="en-US" sz="1600" b="1" dirty="0">
                <a:solidFill>
                  <a:srgbClr val="008000"/>
                </a:solidFill>
                <a:latin typeface="Consolas" panose="020B0609020204030204" pitchFamily="49" charset="0"/>
              </a:rPr>
            </a:br>
            <a:r>
              <a:rPr lang="en-US" sz="1600" b="1" dirty="0">
                <a:solidFill>
                  <a:srgbClr val="008000"/>
                </a:solidFill>
                <a:latin typeface="Consolas" panose="020B0609020204030204" pitchFamily="49" charset="0"/>
              </a:rPr>
              <a:t>    &lt;/p&gt;</a:t>
            </a:r>
            <a:br>
              <a:rPr lang="en-US" sz="1600" b="1" dirty="0">
                <a:solidFill>
                  <a:srgbClr val="008000"/>
                </a:solidFill>
                <a:latin typeface="Consolas" panose="020B0609020204030204" pitchFamily="49" charset="0"/>
              </a:rPr>
            </a:br>
            <a:r>
              <a:rPr lang="en-US" sz="1600" b="1" dirty="0">
                <a:solidFill>
                  <a:srgbClr val="008000"/>
                </a:solidFill>
                <a:latin typeface="Consolas" panose="020B0609020204030204" pitchFamily="49" charset="0"/>
              </a:rPr>
              <a:t>  `</a:t>
            </a:r>
            <a:r>
              <a:rPr lang="en-US" sz="1600" dirty="0">
                <a:latin typeface="Consolas" panose="020B0609020204030204" pitchFamily="49" charset="0"/>
              </a:rPr>
              <a:t>,</a:t>
            </a:r>
            <a:br>
              <a:rPr lang="en-US" sz="1600" dirty="0">
                <a:latin typeface="Consolas" panose="020B0609020204030204" pitchFamily="49" charset="0"/>
              </a:rPr>
            </a:br>
            <a:r>
              <a:rPr lang="en-US" sz="1600" dirty="0">
                <a:latin typeface="Consolas" panose="020B0609020204030204" pitchFamily="49" charset="0"/>
              </a:rPr>
              <a:t>})</a:t>
            </a:r>
          </a:p>
          <a:p>
            <a:pPr marL="800100" lvl="1" indent="-342900">
              <a:spcAft>
                <a:spcPts val="375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1600" b="1" dirty="0">
              <a:solidFill>
                <a:srgbClr val="000080"/>
              </a:solidFill>
              <a:latin typeface="Consolas" panose="020B0609020204030204" pitchFamily="49" charset="0"/>
            </a:endParaRPr>
          </a:p>
          <a:p>
            <a:pPr marL="800100" lvl="1" indent="-342900">
              <a:spcAft>
                <a:spcPts val="375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b="1" dirty="0">
                <a:solidFill>
                  <a:srgbClr val="000080"/>
                </a:solidFill>
                <a:latin typeface="Consolas" panose="020B0609020204030204" pitchFamily="49" charset="0"/>
              </a:rPr>
              <a:t>export class </a:t>
            </a:r>
            <a:r>
              <a:rPr lang="en-US" sz="1600" b="1" dirty="0" err="1">
                <a:latin typeface="Consolas" panose="020B0609020204030204" pitchFamily="49" charset="0"/>
              </a:rPr>
              <a:t>PowerBooster</a:t>
            </a:r>
            <a:r>
              <a:rPr lang="en-US" sz="1600" dirty="0">
                <a:latin typeface="Consolas" panose="020B0609020204030204" pitchFamily="49" charset="0"/>
              </a:rPr>
              <a:t> { }</a:t>
            </a:r>
            <a:endParaRPr lang="es-ES" sz="16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20502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Definiendo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pipe </a:t>
            </a:r>
            <a:r>
              <a:rPr lang="en-US" dirty="0" err="1"/>
              <a:t>en</a:t>
            </a:r>
            <a:r>
              <a:rPr lang="en-US" dirty="0"/>
              <a:t> un modulo </a:t>
            </a:r>
            <a:r>
              <a:rPr lang="en-US" dirty="0" err="1"/>
              <a:t>compartido</a:t>
            </a:r>
            <a:endParaRPr lang="ru-RU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4299451-AA81-1867-B7D1-85FD2F5D3C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1412" y="1828800"/>
            <a:ext cx="9599611" cy="3108543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import { NgModule } from "@angular/core";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import { CommonModule } from "@angular/common";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br>
              <a:rPr lang="en-US" sz="1400" b="1" noProof="1">
                <a:latin typeface="Consolas" pitchFamily="49" charset="0"/>
                <a:cs typeface="Consolas" pitchFamily="49" charset="0"/>
              </a:rPr>
            </a:br>
            <a:r>
              <a:rPr lang="en-US" sz="1400" b="1" noProof="1">
                <a:latin typeface="Consolas" pitchFamily="49" charset="0"/>
                <a:cs typeface="Consolas" pitchFamily="49" charset="0"/>
              </a:rPr>
              <a:t>import { </a:t>
            </a:r>
            <a:r>
              <a:rPr lang="en-US" sz="14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ReversePipe</a:t>
            </a:r>
            <a:r>
              <a:rPr lang="en-US" sz="1400" b="1" noProof="1">
                <a:latin typeface="Consolas" pitchFamily="49" charset="0"/>
                <a:cs typeface="Consolas" pitchFamily="49" charset="0"/>
              </a:rPr>
              <a:t> } from "./pipes/reverse.pipe";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import { </a:t>
            </a:r>
            <a:r>
              <a:rPr lang="en-US" sz="14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ExponentialStrengthPipe</a:t>
            </a:r>
            <a:r>
              <a:rPr lang="en-US" sz="1400" b="1" noProof="1">
                <a:latin typeface="Consolas" pitchFamily="49" charset="0"/>
                <a:cs typeface="Consolas" pitchFamily="49" charset="0"/>
              </a:rPr>
              <a:t> } from "./pipes/exponentialstrength.pipe";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br>
              <a:rPr lang="en-US" sz="1400" b="1" noProof="1">
                <a:latin typeface="Consolas" pitchFamily="49" charset="0"/>
                <a:cs typeface="Consolas" pitchFamily="49" charset="0"/>
              </a:rPr>
            </a:br>
            <a:r>
              <a:rPr lang="en-US" sz="1400" b="1" noProof="1">
                <a:latin typeface="Consolas" pitchFamily="49" charset="0"/>
                <a:cs typeface="Consolas" pitchFamily="49" charset="0"/>
              </a:rPr>
              <a:t>@NgModule({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  declarations: [</a:t>
            </a:r>
            <a:r>
              <a:rPr lang="en-US" sz="14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ReversePipe</a:t>
            </a:r>
            <a:r>
              <a:rPr lang="en-US" sz="1400" b="1" noProof="1">
                <a:latin typeface="Consolas" pitchFamily="49" charset="0"/>
                <a:cs typeface="Consolas" pitchFamily="49" charset="0"/>
              </a:rPr>
              <a:t>, </a:t>
            </a:r>
            <a:r>
              <a:rPr lang="en-US" sz="14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ExponentialStrengthPipe</a:t>
            </a:r>
            <a:r>
              <a:rPr lang="en-US" sz="1400" b="1" noProof="1">
                <a:latin typeface="Consolas" pitchFamily="49" charset="0"/>
                <a:cs typeface="Consolas" pitchFamily="49" charset="0"/>
              </a:rPr>
              <a:t>],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  imports: [CommonModule],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  exports: [</a:t>
            </a:r>
            <a:r>
              <a:rPr lang="en-US" sz="14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ReversePipe</a:t>
            </a:r>
            <a:r>
              <a:rPr lang="en-US" sz="1400" b="1" noProof="1">
                <a:latin typeface="Consolas" pitchFamily="49" charset="0"/>
                <a:cs typeface="Consolas" pitchFamily="49" charset="0"/>
              </a:rPr>
              <a:t>, </a:t>
            </a:r>
            <a:r>
              <a:rPr lang="en-US" sz="14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ExponentialStrengthPipe</a:t>
            </a:r>
            <a:r>
              <a:rPr lang="en-US" sz="1400" b="1" noProof="1">
                <a:latin typeface="Consolas" pitchFamily="49" charset="0"/>
                <a:cs typeface="Consolas" pitchFamily="49" charset="0"/>
              </a:rPr>
              <a:t>],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})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export class SharedModule {}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br>
              <a:rPr lang="en-US" sz="1400" b="1" noProof="1">
                <a:latin typeface="Consolas" pitchFamily="49" charset="0"/>
                <a:cs typeface="Consolas" pitchFamily="49" charset="0"/>
              </a:rPr>
            </a:br>
            <a:endParaRPr lang="en-US" sz="1400" b="1" noProof="1"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28406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Usando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pipe de forma </a:t>
            </a:r>
            <a:r>
              <a:rPr lang="en-US" dirty="0" err="1"/>
              <a:t>asíncrona</a:t>
            </a:r>
            <a:endParaRPr lang="ru-RU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5D77D572-602F-4D9B-AA81-5CD8B28EB9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9012" y="1690689"/>
            <a:ext cx="9599611" cy="457561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marL="342900" indent="-342900">
              <a:spcAft>
                <a:spcPts val="375"/>
              </a:spcAft>
              <a:tabLst>
                <a:tab pos="457200" algn="l"/>
              </a:tabLst>
            </a:pPr>
            <a:r>
              <a:rPr lang="en-US" b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</a:p>
          <a:p>
            <a:pPr marL="342900" indent="-342900">
              <a:spcAft>
                <a:spcPts val="375"/>
              </a:spcAft>
              <a:tabLst>
                <a:tab pos="457200" algn="l"/>
              </a:tabLst>
            </a:pPr>
            <a:r>
              <a:rPr lang="en-US" b="1" dirty="0">
                <a:solidFill>
                  <a:srgbClr val="000080"/>
                </a:solidFill>
                <a:latin typeface="Consolas" panose="020B0609020204030204" pitchFamily="49" charset="0"/>
              </a:rPr>
              <a:t>	import </a:t>
            </a:r>
            <a:r>
              <a:rPr lang="en-US" dirty="0">
                <a:latin typeface="Consolas" panose="020B0609020204030204" pitchFamily="49" charset="0"/>
              </a:rPr>
              <a:t>{</a:t>
            </a:r>
            <a:r>
              <a:rPr lang="en-US" b="1" i="1" dirty="0">
                <a:solidFill>
                  <a:srgbClr val="660E7A"/>
                </a:solidFill>
                <a:latin typeface="Consolas" panose="020B0609020204030204" pitchFamily="49" charset="0"/>
              </a:rPr>
              <a:t>Component</a:t>
            </a:r>
            <a:r>
              <a:rPr lang="en-US" dirty="0">
                <a:latin typeface="Consolas" panose="020B0609020204030204" pitchFamily="49" charset="0"/>
              </a:rPr>
              <a:t>} </a:t>
            </a:r>
            <a:r>
              <a:rPr lang="en-US" b="1" dirty="0">
                <a:solidFill>
                  <a:srgbClr val="000080"/>
                </a:solidFill>
                <a:latin typeface="Consolas" panose="020B0609020204030204" pitchFamily="49" charset="0"/>
              </a:rPr>
              <a:t>from </a:t>
            </a:r>
            <a:r>
              <a:rPr lang="en-US" b="1" dirty="0">
                <a:solidFill>
                  <a:srgbClr val="008000"/>
                </a:solidFill>
                <a:latin typeface="Consolas" panose="020B0609020204030204" pitchFamily="49" charset="0"/>
              </a:rPr>
              <a:t>'@angular/core'</a:t>
            </a:r>
            <a:r>
              <a:rPr lang="en-US" dirty="0">
                <a:latin typeface="Consolas" panose="020B0609020204030204" pitchFamily="49" charset="0"/>
              </a:rPr>
              <a:t>;</a:t>
            </a:r>
            <a:br>
              <a:rPr lang="en-US" dirty="0">
                <a:latin typeface="Consolas" panose="020B0609020204030204" pitchFamily="49" charset="0"/>
              </a:rPr>
            </a:br>
            <a:br>
              <a:rPr lang="en-US" dirty="0">
                <a:latin typeface="Consolas" panose="020B0609020204030204" pitchFamily="49" charset="0"/>
              </a:rPr>
            </a:br>
            <a:r>
              <a:rPr lang="en-US" i="1" dirty="0">
                <a:solidFill>
                  <a:srgbClr val="808080"/>
                </a:solidFill>
                <a:latin typeface="Consolas" panose="020B0609020204030204" pitchFamily="49" charset="0"/>
              </a:rPr>
              <a:t>// Initial view: "Message: "</a:t>
            </a:r>
            <a:br>
              <a:rPr lang="en-US" i="1" dirty="0">
                <a:solidFill>
                  <a:srgbClr val="808080"/>
                </a:solidFill>
                <a:latin typeface="Consolas" panose="020B0609020204030204" pitchFamily="49" charset="0"/>
              </a:rPr>
            </a:br>
            <a:r>
              <a:rPr lang="en-US" i="1" dirty="0">
                <a:solidFill>
                  <a:srgbClr val="808080"/>
                </a:solidFill>
                <a:latin typeface="Consolas" panose="020B0609020204030204" pitchFamily="49" charset="0"/>
              </a:rPr>
              <a:t>// After 500ms: Message: You are my Hero!"</a:t>
            </a:r>
            <a:br>
              <a:rPr lang="en-US" i="1" dirty="0">
                <a:solidFill>
                  <a:srgbClr val="808080"/>
                </a:solidFill>
                <a:latin typeface="Consolas" panose="020B0609020204030204" pitchFamily="49" charset="0"/>
              </a:rPr>
            </a:br>
            <a:br>
              <a:rPr lang="en-US" i="1" dirty="0">
                <a:solidFill>
                  <a:srgbClr val="808080"/>
                </a:solidFill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@</a:t>
            </a:r>
            <a:r>
              <a:rPr lang="en-US" b="1" i="1" dirty="0">
                <a:solidFill>
                  <a:srgbClr val="660E7A"/>
                </a:solidFill>
                <a:latin typeface="Consolas" panose="020B0609020204030204" pitchFamily="49" charset="0"/>
              </a:rPr>
              <a:t>Component</a:t>
            </a:r>
            <a:r>
              <a:rPr lang="en-US" dirty="0">
                <a:latin typeface="Consolas" panose="020B0609020204030204" pitchFamily="49" charset="0"/>
              </a:rPr>
              <a:t>({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b="1" dirty="0">
                <a:solidFill>
                  <a:srgbClr val="660E7A"/>
                </a:solidFill>
                <a:latin typeface="Consolas" panose="020B0609020204030204" pitchFamily="49" charset="0"/>
              </a:rPr>
              <a:t>selector</a:t>
            </a:r>
            <a:r>
              <a:rPr lang="en-US" dirty="0">
                <a:latin typeface="Consolas" panose="020B0609020204030204" pitchFamily="49" charset="0"/>
              </a:rPr>
              <a:t>: </a:t>
            </a:r>
            <a:r>
              <a:rPr lang="en-US" b="1" dirty="0">
                <a:solidFill>
                  <a:srgbClr val="008000"/>
                </a:solidFill>
                <a:latin typeface="Consolas" panose="020B0609020204030204" pitchFamily="49" charset="0"/>
              </a:rPr>
              <a:t>'hero-message'</a:t>
            </a:r>
            <a:r>
              <a:rPr lang="en-US" dirty="0">
                <a:latin typeface="Consolas" panose="020B0609020204030204" pitchFamily="49" charset="0"/>
              </a:rPr>
              <a:t>,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b="1" dirty="0">
                <a:solidFill>
                  <a:srgbClr val="660E7A"/>
                </a:solidFill>
                <a:latin typeface="Consolas" panose="020B0609020204030204" pitchFamily="49" charset="0"/>
              </a:rPr>
              <a:t>template</a:t>
            </a:r>
            <a:r>
              <a:rPr lang="en-US" dirty="0">
                <a:latin typeface="Consolas" panose="020B0609020204030204" pitchFamily="49" charset="0"/>
              </a:rPr>
              <a:t>: </a:t>
            </a:r>
            <a:r>
              <a:rPr lang="en-US" b="1" dirty="0">
                <a:solidFill>
                  <a:srgbClr val="008000"/>
                </a:solidFill>
                <a:latin typeface="Consolas" panose="020B0609020204030204" pitchFamily="49" charset="0"/>
              </a:rPr>
              <a:t>'Message: {{</a:t>
            </a:r>
            <a:r>
              <a:rPr lang="en-US" b="1" dirty="0" err="1">
                <a:solidFill>
                  <a:srgbClr val="008000"/>
                </a:solidFill>
                <a:latin typeface="Consolas" panose="020B0609020204030204" pitchFamily="49" charset="0"/>
              </a:rPr>
              <a:t>delayedMessage</a:t>
            </a:r>
            <a:r>
              <a:rPr lang="en-US" b="1" dirty="0">
                <a:solidFill>
                  <a:srgbClr val="008000"/>
                </a:solidFill>
                <a:latin typeface="Consolas" panose="020B0609020204030204" pitchFamily="49" charset="0"/>
              </a:rPr>
              <a:t> | async}}'</a:t>
            </a:r>
            <a:r>
              <a:rPr lang="en-US" dirty="0">
                <a:latin typeface="Consolas" panose="020B0609020204030204" pitchFamily="49" charset="0"/>
              </a:rPr>
              <a:t>,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})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b="1" dirty="0">
                <a:solidFill>
                  <a:srgbClr val="000080"/>
                </a:solidFill>
                <a:latin typeface="Consolas" panose="020B0609020204030204" pitchFamily="49" charset="0"/>
              </a:rPr>
              <a:t>export class </a:t>
            </a:r>
            <a:r>
              <a:rPr lang="en-US" dirty="0" err="1">
                <a:latin typeface="Consolas" panose="020B0609020204030204" pitchFamily="49" charset="0"/>
              </a:rPr>
              <a:t>HeroAsyncMessageComponent</a:t>
            </a:r>
            <a:r>
              <a:rPr lang="en-US" dirty="0">
                <a:latin typeface="Consolas" panose="020B0609020204030204" pitchFamily="49" charset="0"/>
              </a:rPr>
              <a:t> {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b="1" dirty="0" err="1">
                <a:solidFill>
                  <a:srgbClr val="660E7A"/>
                </a:solidFill>
                <a:latin typeface="Consolas" panose="020B0609020204030204" pitchFamily="49" charset="0"/>
              </a:rPr>
              <a:t>delayedMessage</a:t>
            </a:r>
            <a:r>
              <a:rPr lang="en-US" dirty="0" err="1">
                <a:latin typeface="Consolas" panose="020B0609020204030204" pitchFamily="49" charset="0"/>
              </a:rPr>
              <a:t>:Promise</a:t>
            </a:r>
            <a:r>
              <a:rPr lang="en-US" dirty="0">
                <a:latin typeface="Consolas" panose="020B0609020204030204" pitchFamily="49" charset="0"/>
              </a:rPr>
              <a:t>&lt;</a:t>
            </a:r>
            <a:r>
              <a:rPr lang="en-US" b="1" dirty="0">
                <a:solidFill>
                  <a:srgbClr val="000080"/>
                </a:solidFill>
                <a:latin typeface="Consolas" panose="020B0609020204030204" pitchFamily="49" charset="0"/>
              </a:rPr>
              <a:t>string</a:t>
            </a:r>
            <a:r>
              <a:rPr lang="en-US" dirty="0">
                <a:latin typeface="Consolas" panose="020B0609020204030204" pitchFamily="49" charset="0"/>
              </a:rPr>
              <a:t>&gt; = 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  		</a:t>
            </a:r>
            <a:r>
              <a:rPr lang="en-US" b="1" dirty="0">
                <a:solidFill>
                  <a:srgbClr val="000080"/>
                </a:solidFill>
                <a:latin typeface="Consolas" panose="020B0609020204030204" pitchFamily="49" charset="0"/>
              </a:rPr>
              <a:t>new </a:t>
            </a:r>
            <a:r>
              <a:rPr lang="en-US" dirty="0">
                <a:latin typeface="Consolas" panose="020B0609020204030204" pitchFamily="49" charset="0"/>
              </a:rPr>
              <a:t>Promise((resolve, reject) =&gt; {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      		</a:t>
            </a:r>
            <a:r>
              <a:rPr lang="en-US" i="1" dirty="0" err="1">
                <a:latin typeface="Consolas" panose="020B0609020204030204" pitchFamily="49" charset="0"/>
              </a:rPr>
              <a:t>setTimeout</a:t>
            </a:r>
            <a:r>
              <a:rPr lang="en-US" dirty="0">
                <a:latin typeface="Consolas" panose="020B0609020204030204" pitchFamily="49" charset="0"/>
              </a:rPr>
              <a:t>(() =&gt; resolve(</a:t>
            </a:r>
            <a:r>
              <a:rPr lang="en-US" b="1" dirty="0">
                <a:solidFill>
                  <a:srgbClr val="008000"/>
                </a:solidFill>
                <a:latin typeface="Consolas" panose="020B0609020204030204" pitchFamily="49" charset="0"/>
              </a:rPr>
              <a:t>'You are my Hero!'</a:t>
            </a:r>
            <a:r>
              <a:rPr lang="en-US" dirty="0">
                <a:latin typeface="Consolas" panose="020B0609020204030204" pitchFamily="49" charset="0"/>
              </a:rPr>
              <a:t>),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500</a:t>
            </a:r>
            <a:r>
              <a:rPr lang="en-US" dirty="0">
                <a:latin typeface="Consolas" panose="020B0609020204030204" pitchFamily="49" charset="0"/>
              </a:rPr>
              <a:t>);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  		});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021630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464BDDC6-1FAD-4039-9BA9-46D3BA601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Las tuberías |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C1F7363-FD28-4DBC-A673-DE10D82C8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Crea tu pipe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0240E0C-89C7-4887-8140-117D38105DD7}"/>
              </a:ext>
            </a:extLst>
          </p:cNvPr>
          <p:cNvSpPr/>
          <p:nvPr/>
        </p:nvSpPr>
        <p:spPr>
          <a:xfrm>
            <a:off x="10216035" y="180232"/>
            <a:ext cx="182197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LAB2b </a:t>
            </a:r>
            <a:endParaRPr lang="es-ES" sz="4800" dirty="0">
              <a:solidFill>
                <a:srgbClr val="FF0000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31CA41E-C625-4081-A833-4EC259AE0609}"/>
              </a:ext>
            </a:extLst>
          </p:cNvPr>
          <p:cNvSpPr/>
          <p:nvPr/>
        </p:nvSpPr>
        <p:spPr>
          <a:xfrm>
            <a:off x="10366848" y="874318"/>
            <a:ext cx="16374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/>
              <a:t>C:\Labs\T4\EX1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8C3838B-89EA-4867-8C7C-4D118786C0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1412" y="1828800"/>
            <a:ext cx="9599611" cy="3170099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latin typeface="Consolas" pitchFamily="49" charset="0"/>
                <a:cs typeface="Consolas" pitchFamily="49" charset="0"/>
              </a:rPr>
              <a:t>import { Pipe, PipeTransform } from '@angular/core';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br>
              <a:rPr lang="en-US" sz="2000" b="1" noProof="1">
                <a:latin typeface="Consolas" pitchFamily="49" charset="0"/>
                <a:cs typeface="Consolas" pitchFamily="49" charset="0"/>
              </a:rPr>
            </a:br>
            <a:r>
              <a:rPr lang="en-US" sz="2000" b="1" noProof="1">
                <a:latin typeface="Consolas" pitchFamily="49" charset="0"/>
                <a:cs typeface="Consolas" pitchFamily="49" charset="0"/>
              </a:rPr>
              <a:t>@Pipe({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latin typeface="Consolas" pitchFamily="49" charset="0"/>
                <a:cs typeface="Consolas" pitchFamily="49" charset="0"/>
              </a:rPr>
              <a:t>  name: </a:t>
            </a:r>
            <a:r>
              <a:rPr lang="en-US" sz="20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'reverse</a:t>
            </a:r>
            <a:r>
              <a:rPr lang="en-US" sz="2000" b="1" noProof="1">
                <a:latin typeface="Consolas" pitchFamily="49" charset="0"/>
                <a:cs typeface="Consolas" pitchFamily="49" charset="0"/>
              </a:rPr>
              <a:t>'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latin typeface="Consolas" pitchFamily="49" charset="0"/>
                <a:cs typeface="Consolas" pitchFamily="49" charset="0"/>
              </a:rPr>
              <a:t>})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latin typeface="Consolas" pitchFamily="49" charset="0"/>
                <a:cs typeface="Consolas" pitchFamily="49" charset="0"/>
              </a:rPr>
              <a:t>export class </a:t>
            </a:r>
            <a:r>
              <a:rPr lang="en-US" sz="20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ReversePipe</a:t>
            </a:r>
            <a:r>
              <a:rPr lang="en-US" sz="2000" b="1" noProof="1">
                <a:latin typeface="Consolas" pitchFamily="49" charset="0"/>
                <a:cs typeface="Consolas" pitchFamily="49" charset="0"/>
              </a:rPr>
              <a:t> implements PipeTransform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latin typeface="Consolas" pitchFamily="49" charset="0"/>
                <a:cs typeface="Consolas" pitchFamily="49" charset="0"/>
              </a:rPr>
              <a:t>  </a:t>
            </a:r>
            <a:r>
              <a:rPr lang="en-US" sz="20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transform</a:t>
            </a:r>
            <a:r>
              <a:rPr lang="en-US" sz="2000" b="1" noProof="1">
                <a:latin typeface="Consolas" pitchFamily="49" charset="0"/>
                <a:cs typeface="Consolas" pitchFamily="49" charset="0"/>
              </a:rPr>
              <a:t>(value: string): unknown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latin typeface="Consolas" pitchFamily="49" charset="0"/>
                <a:cs typeface="Consolas" pitchFamily="49" charset="0"/>
              </a:rPr>
              <a:t>    return value.split('').reverse().join('');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latin typeface="Consolas" pitchFamily="49" charset="0"/>
                <a:cs typeface="Consolas" pitchFamily="49" charset="0"/>
              </a:rPr>
              <a:t>  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latin typeface="Consolas" pitchFamily="49" charset="0"/>
                <a:cs typeface="Consolas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944142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464BDDC6-1FAD-4039-9BA9-46D3BA601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Las tuberías |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C1F7363-FD28-4DBC-A673-DE10D82C8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Crea tu módulo compartido y declara la pipe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0240E0C-89C7-4887-8140-117D38105DD7}"/>
              </a:ext>
            </a:extLst>
          </p:cNvPr>
          <p:cNvSpPr/>
          <p:nvPr/>
        </p:nvSpPr>
        <p:spPr>
          <a:xfrm>
            <a:off x="10216035" y="180232"/>
            <a:ext cx="182197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LAB2b </a:t>
            </a:r>
            <a:endParaRPr lang="es-ES" sz="4800" dirty="0">
              <a:solidFill>
                <a:srgbClr val="FF0000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31CA41E-C625-4081-A833-4EC259AE0609}"/>
              </a:ext>
            </a:extLst>
          </p:cNvPr>
          <p:cNvSpPr/>
          <p:nvPr/>
        </p:nvSpPr>
        <p:spPr>
          <a:xfrm>
            <a:off x="10366848" y="874318"/>
            <a:ext cx="16374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/>
              <a:t>C:\Labs\T4\EX1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8C3838B-89EA-4867-8C7C-4D118786C0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1412" y="1828800"/>
            <a:ext cx="9599611" cy="2462213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import { NgModule } from "@angular/core";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import { CommonModule } from "@angular/common";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sz="1400" b="1" noProof="1"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import { </a:t>
            </a:r>
            <a:r>
              <a:rPr lang="en-US" sz="14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ReversePipe</a:t>
            </a:r>
            <a:r>
              <a:rPr lang="en-US" sz="1400" b="1" noProof="1">
                <a:latin typeface="Consolas" pitchFamily="49" charset="0"/>
                <a:cs typeface="Consolas" pitchFamily="49" charset="0"/>
              </a:rPr>
              <a:t> } from "./pipes/reverse.pipe";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sz="1400" b="1" noProof="1"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@NgModule({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  declarations: [</a:t>
            </a:r>
            <a:r>
              <a:rPr lang="en-US" sz="14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ReversePipe</a:t>
            </a:r>
            <a:r>
              <a:rPr lang="en-US" sz="1400" b="1" noProof="1">
                <a:latin typeface="Consolas" pitchFamily="49" charset="0"/>
                <a:cs typeface="Consolas" pitchFamily="49" charset="0"/>
              </a:rPr>
              <a:t>],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  imports: [CommonModule],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  exports: [</a:t>
            </a:r>
            <a:r>
              <a:rPr lang="en-US" sz="14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ReversePipe</a:t>
            </a:r>
            <a:r>
              <a:rPr lang="en-US" sz="1400" b="1" noProof="1">
                <a:latin typeface="Consolas" pitchFamily="49" charset="0"/>
                <a:cs typeface="Consolas" pitchFamily="49" charset="0"/>
              </a:rPr>
              <a:t>],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})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export class SharedModule {}</a:t>
            </a:r>
          </a:p>
        </p:txBody>
      </p:sp>
    </p:spTree>
    <p:extLst>
      <p:ext uri="{BB962C8B-B14F-4D97-AF65-F5344CB8AC3E}">
        <p14:creationId xmlns:p14="http://schemas.microsoft.com/office/powerpoint/2010/main" val="39907828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464BDDC6-1FAD-4039-9BA9-46D3BA601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Las tuberías |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C1F7363-FD28-4DBC-A673-DE10D82C8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Importa el módulo compartido en el módulo donde la quieras usar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0240E0C-89C7-4887-8140-117D38105DD7}"/>
              </a:ext>
            </a:extLst>
          </p:cNvPr>
          <p:cNvSpPr/>
          <p:nvPr/>
        </p:nvSpPr>
        <p:spPr>
          <a:xfrm>
            <a:off x="10216035" y="180232"/>
            <a:ext cx="182197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LAB2b </a:t>
            </a:r>
            <a:endParaRPr lang="es-ES" sz="4800" dirty="0">
              <a:solidFill>
                <a:srgbClr val="FF0000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31CA41E-C625-4081-A833-4EC259AE0609}"/>
              </a:ext>
            </a:extLst>
          </p:cNvPr>
          <p:cNvSpPr/>
          <p:nvPr/>
        </p:nvSpPr>
        <p:spPr>
          <a:xfrm>
            <a:off x="10366848" y="874318"/>
            <a:ext cx="16374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/>
              <a:t>C:\Labs\T4\EX1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8C3838B-89EA-4867-8C7C-4D118786C0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1412" y="1828800"/>
            <a:ext cx="9599611" cy="4616648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import { NgModule } from "@angular/core";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import { CommonModule } from "@angular/common";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import { FormsModule } from "@angular/forms";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sz="1400" b="1" noProof="1"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import { OperationsRoutingModule } from "./operations-routing.module";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import { OperationsComponent } from "./operations.component";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import { ListComponent } from "./list.component";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import { ItemComponent } from "./item.component";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import { NewComponent } from "./new.component";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import { </a:t>
            </a:r>
            <a:r>
              <a:rPr lang="en-US" sz="14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SharedModule</a:t>
            </a:r>
            <a:r>
              <a:rPr lang="en-US" sz="1400" b="1" noProof="1">
                <a:latin typeface="Consolas" pitchFamily="49" charset="0"/>
                <a:cs typeface="Consolas" pitchFamily="49" charset="0"/>
              </a:rPr>
              <a:t> } from "src/app/lib/shared/shared.module";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sz="1400" b="1" noProof="1"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@NgModule({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  declarations: [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    OperationsComponent,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    ListComponent,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    ItemComponent,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    NewComponent,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  ],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  imports: [CommonModule, </a:t>
            </a:r>
            <a:r>
              <a:rPr lang="en-US" sz="14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SharedModule</a:t>
            </a:r>
            <a:r>
              <a:rPr lang="en-US" sz="1400" b="1" noProof="1">
                <a:latin typeface="Consolas" pitchFamily="49" charset="0"/>
                <a:cs typeface="Consolas" pitchFamily="49" charset="0"/>
              </a:rPr>
              <a:t>, OperationsRoutingModule, FormsModule],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})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export class OperationsModule {}</a:t>
            </a:r>
          </a:p>
        </p:txBody>
      </p:sp>
    </p:spTree>
    <p:extLst>
      <p:ext uri="{BB962C8B-B14F-4D97-AF65-F5344CB8AC3E}">
        <p14:creationId xmlns:p14="http://schemas.microsoft.com/office/powerpoint/2010/main" val="10894544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464BDDC6-1FAD-4039-9BA9-46D3BA601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Las tuberías |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C1F7363-FD28-4DBC-A673-DE10D82C8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Usa la pipe en el fichero </a:t>
            </a:r>
            <a:r>
              <a:rPr lang="es-ES" b="1" dirty="0"/>
              <a:t>que desees del módulo</a:t>
            </a:r>
            <a:r>
              <a:rPr lang="es-ES" dirty="0"/>
              <a:t>; vamos a realizarlo: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0240E0C-89C7-4887-8140-117D38105DD7}"/>
              </a:ext>
            </a:extLst>
          </p:cNvPr>
          <p:cNvSpPr/>
          <p:nvPr/>
        </p:nvSpPr>
        <p:spPr>
          <a:xfrm>
            <a:off x="8380412" y="180232"/>
            <a:ext cx="365760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LAB2b </a:t>
            </a:r>
            <a:r>
              <a:rPr lang="en-US" sz="3200" b="1" dirty="0">
                <a:solidFill>
                  <a:srgbClr val="FF0000"/>
                </a:solidFill>
              </a:rPr>
              <a:t>(optional) </a:t>
            </a:r>
            <a:endParaRPr lang="es-ES" sz="4800" dirty="0">
              <a:solidFill>
                <a:srgbClr val="FF0000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31CA41E-C625-4081-A833-4EC259AE0609}"/>
              </a:ext>
            </a:extLst>
          </p:cNvPr>
          <p:cNvSpPr/>
          <p:nvPr/>
        </p:nvSpPr>
        <p:spPr>
          <a:xfrm>
            <a:off x="10366848" y="874318"/>
            <a:ext cx="16374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/>
              <a:t>C:\Labs\T4\EX1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8C3838B-89EA-4867-8C7C-4D118786C0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1412" y="1828800"/>
            <a:ext cx="9599611" cy="255454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latin typeface="Consolas" pitchFamily="49" charset="0"/>
                <a:cs typeface="Consolas" pitchFamily="49" charset="0"/>
              </a:rPr>
              <a:t>@Component({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latin typeface="Consolas" pitchFamily="49" charset="0"/>
                <a:cs typeface="Consolas" pitchFamily="49" charset="0"/>
              </a:rPr>
              <a:t>  template: `&lt;h2&gt;</a:t>
            </a:r>
            <a:r>
              <a:rPr lang="en-US" sz="20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{{ </a:t>
            </a:r>
            <a:r>
              <a:rPr lang="en-US" sz="2000" b="1" noProof="1">
                <a:latin typeface="Consolas" pitchFamily="49" charset="0"/>
                <a:cs typeface="Consolas" pitchFamily="49" charset="0"/>
              </a:rPr>
              <a:t>title | uppercase </a:t>
            </a:r>
            <a:r>
              <a:rPr lang="en-US" sz="20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| reverse }}</a:t>
            </a:r>
            <a:r>
              <a:rPr lang="en-US" sz="2000" b="1" noProof="1">
                <a:latin typeface="Consolas" pitchFamily="49" charset="0"/>
                <a:cs typeface="Consolas" pitchFamily="49" charset="0"/>
              </a:rPr>
              <a:t>&lt;/h2&gt;`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latin typeface="Consolas" pitchFamily="49" charset="0"/>
                <a:cs typeface="Consolas" pitchFamily="49" charset="0"/>
              </a:rPr>
              <a:t>})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latin typeface="Consolas" pitchFamily="49" charset="0"/>
                <a:cs typeface="Consolas" pitchFamily="49" charset="0"/>
              </a:rPr>
              <a:t>export class NewComponent implements OnInit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latin typeface="Consolas" pitchFamily="49" charset="0"/>
                <a:cs typeface="Consolas" pitchFamily="49" charset="0"/>
              </a:rPr>
              <a:t>  title = "Cash Flow";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latin typeface="Consolas" pitchFamily="49" charset="0"/>
                <a:cs typeface="Consolas" pitchFamily="49" charset="0"/>
              </a:rPr>
              <a:t>  constructor() {}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latin typeface="Consolas" pitchFamily="49" charset="0"/>
                <a:cs typeface="Consolas" pitchFamily="49" charset="0"/>
              </a:rPr>
              <a:t>  ngOnInit() {}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latin typeface="Consolas" pitchFamily="49" charset="0"/>
                <a:cs typeface="Consolas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787569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FBFD3CE6-3907-48BE-9D40-4FF356791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Binding de </a:t>
            </a:r>
            <a:r>
              <a:rPr lang="en-US" dirty="0" err="1"/>
              <a:t>propiedades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417187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 err="1"/>
              <a:t>Binding</a:t>
            </a:r>
            <a:r>
              <a:rPr lang="es-ES" dirty="0"/>
              <a:t> de propiedades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8737096E-E4E8-43BE-820D-02FD6A9D42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b="1" dirty="0"/>
              <a:t>Flujo de datos de un componente a un elemento:</a:t>
            </a:r>
          </a:p>
          <a:p>
            <a:pPr lvl="1"/>
            <a:r>
              <a:rPr lang="es-ES" sz="3200" dirty="0"/>
              <a:t>Creado con corchetes: </a:t>
            </a:r>
            <a:br>
              <a:rPr lang="es-ES" dirty="0"/>
            </a:br>
            <a:r>
              <a:rPr lang="es-ES" dirty="0">
                <a:latin typeface="Consolas" panose="020B0609020204030204" pitchFamily="49" charset="0"/>
              </a:rPr>
              <a:t>		</a:t>
            </a:r>
            <a:r>
              <a:rPr lang="es-ES" sz="2400" spc="-35" dirty="0">
                <a:solidFill>
                  <a:srgbClr val="393939"/>
                </a:solidFill>
                <a:cs typeface="Tahoma"/>
              </a:rPr>
              <a:t> </a:t>
            </a:r>
            <a:r>
              <a:rPr lang="es-ES" sz="2400" spc="-35" dirty="0" err="1">
                <a:solidFill>
                  <a:srgbClr val="393939"/>
                </a:solidFill>
                <a:cs typeface="Tahoma"/>
              </a:rPr>
              <a:t>e.g</a:t>
            </a:r>
            <a:r>
              <a:rPr lang="es-ES" sz="2400" spc="-35" dirty="0">
                <a:solidFill>
                  <a:srgbClr val="393939"/>
                </a:solidFill>
                <a:cs typeface="Tahoma"/>
              </a:rPr>
              <a:t>.</a:t>
            </a:r>
            <a:r>
              <a:rPr lang="es-ES" sz="2400" spc="-221" dirty="0">
                <a:solidFill>
                  <a:srgbClr val="393939"/>
                </a:solidFill>
                <a:cs typeface="Tahoma"/>
              </a:rPr>
              <a:t> </a:t>
            </a:r>
            <a:r>
              <a:rPr lang="es-ES" sz="2400" b="1" spc="-28" dirty="0">
                <a:solidFill>
                  <a:srgbClr val="393939"/>
                </a:solidFill>
                <a:latin typeface="Consolas" panose="020B0609020204030204" pitchFamily="49" charset="0"/>
                <a:cs typeface="Trebuchet MS"/>
              </a:rPr>
              <a:t>&lt;</a:t>
            </a:r>
            <a:r>
              <a:rPr lang="es-ES" sz="2400" b="1" spc="-28" dirty="0" err="1">
                <a:solidFill>
                  <a:srgbClr val="393939"/>
                </a:solidFill>
                <a:latin typeface="Consolas" panose="020B0609020204030204" pitchFamily="49" charset="0"/>
                <a:cs typeface="Trebuchet MS"/>
              </a:rPr>
              <a:t>img</a:t>
            </a:r>
            <a:r>
              <a:rPr lang="es-ES" sz="2400" b="1" spc="-137" dirty="0">
                <a:solidFill>
                  <a:srgbClr val="393939"/>
                </a:solidFill>
                <a:latin typeface="Consolas" panose="020B0609020204030204" pitchFamily="49" charset="0"/>
                <a:cs typeface="Trebuchet MS"/>
              </a:rPr>
              <a:t> </a:t>
            </a:r>
            <a:r>
              <a:rPr lang="es-ES" sz="2400" b="1" spc="-116" dirty="0">
                <a:solidFill>
                  <a:srgbClr val="393939"/>
                </a:solidFill>
                <a:latin typeface="Consolas" panose="020B0609020204030204" pitchFamily="49" charset="0"/>
                <a:cs typeface="Trebuchet MS"/>
              </a:rPr>
              <a:t>[</a:t>
            </a:r>
            <a:r>
              <a:rPr lang="es-ES" sz="2400" b="1" spc="-116" dirty="0" err="1">
                <a:solidFill>
                  <a:srgbClr val="393939"/>
                </a:solidFill>
                <a:latin typeface="Consolas" panose="020B0609020204030204" pitchFamily="49" charset="0"/>
                <a:cs typeface="Trebuchet MS"/>
              </a:rPr>
              <a:t>src</a:t>
            </a:r>
            <a:r>
              <a:rPr lang="es-ES" sz="2400" b="1" spc="-116" dirty="0">
                <a:solidFill>
                  <a:srgbClr val="393939"/>
                </a:solidFill>
                <a:latin typeface="Consolas" panose="020B0609020204030204" pitchFamily="49" charset="0"/>
                <a:cs typeface="Trebuchet MS"/>
              </a:rPr>
              <a:t>]="</a:t>
            </a:r>
            <a:r>
              <a:rPr lang="es-ES" sz="2400" b="1" spc="-116" dirty="0" err="1">
                <a:solidFill>
                  <a:srgbClr val="393939"/>
                </a:solidFill>
                <a:latin typeface="Consolas" panose="020B0609020204030204" pitchFamily="49" charset="0"/>
                <a:cs typeface="Trebuchet MS"/>
              </a:rPr>
              <a:t>image.src</a:t>
            </a:r>
            <a:r>
              <a:rPr lang="es-ES" sz="2400" b="1" spc="-116" dirty="0">
                <a:solidFill>
                  <a:srgbClr val="393939"/>
                </a:solidFill>
                <a:latin typeface="Consolas" panose="020B0609020204030204" pitchFamily="49" charset="0"/>
                <a:cs typeface="Trebuchet MS"/>
              </a:rPr>
              <a:t>" </a:t>
            </a:r>
            <a:r>
              <a:rPr lang="es-ES" sz="2400" b="1" spc="-74" dirty="0">
                <a:solidFill>
                  <a:srgbClr val="393939"/>
                </a:solidFill>
                <a:latin typeface="Consolas" panose="020B0609020204030204" pitchFamily="49" charset="0"/>
                <a:cs typeface="Trebuchet MS"/>
              </a:rPr>
              <a:t>/&gt;</a:t>
            </a:r>
            <a:endParaRPr lang="es-ES" sz="3200" b="1" spc="-74" dirty="0">
              <a:solidFill>
                <a:srgbClr val="393939"/>
              </a:solidFill>
              <a:latin typeface="Consolas" panose="020B0609020204030204" pitchFamily="49" charset="0"/>
              <a:cs typeface="Trebuchet MS"/>
            </a:endParaRPr>
          </a:p>
          <a:p>
            <a:pPr marL="457063" lvl="1" indent="0">
              <a:buNone/>
            </a:pPr>
            <a:endParaRPr lang="es-ES" sz="3400" spc="67" dirty="0">
              <a:solidFill>
                <a:srgbClr val="393939"/>
              </a:solidFill>
              <a:cs typeface="Tahoma"/>
            </a:endParaRPr>
          </a:p>
          <a:p>
            <a:pPr lvl="1"/>
            <a:r>
              <a:rPr lang="es-ES" sz="3200" spc="67" dirty="0">
                <a:solidFill>
                  <a:srgbClr val="393939"/>
                </a:solidFill>
                <a:cs typeface="Tahoma"/>
              </a:rPr>
              <a:t>Forma canónica es </a:t>
            </a:r>
            <a:r>
              <a:rPr lang="es-ES" sz="3200" b="1" spc="-74" dirty="0" err="1">
                <a:solidFill>
                  <a:srgbClr val="393939"/>
                </a:solidFill>
                <a:cs typeface="Trebuchet MS"/>
              </a:rPr>
              <a:t>bind-attribute</a:t>
            </a:r>
            <a:r>
              <a:rPr lang="es-ES" sz="3200" b="1" spc="-74" dirty="0">
                <a:solidFill>
                  <a:srgbClr val="393939"/>
                </a:solidFill>
                <a:cs typeface="Trebuchet MS"/>
              </a:rPr>
              <a:t>:</a:t>
            </a:r>
            <a:r>
              <a:rPr lang="es-ES" sz="3200" b="1" spc="-141" dirty="0">
                <a:solidFill>
                  <a:srgbClr val="393939"/>
                </a:solidFill>
                <a:cs typeface="Trebuchet MS"/>
              </a:rPr>
              <a:t> </a:t>
            </a:r>
            <a:br>
              <a:rPr lang="es-ES" sz="3600" b="1" spc="-141" dirty="0">
                <a:solidFill>
                  <a:srgbClr val="393939"/>
                </a:solidFill>
                <a:cs typeface="Trebuchet MS"/>
              </a:rPr>
            </a:br>
            <a:r>
              <a:rPr lang="es-ES" sz="3600" b="1" spc="-141" dirty="0">
                <a:solidFill>
                  <a:srgbClr val="393939"/>
                </a:solidFill>
                <a:cs typeface="Trebuchet MS"/>
              </a:rPr>
              <a:t>		</a:t>
            </a:r>
            <a:r>
              <a:rPr lang="es-ES" sz="2400" spc="-35" dirty="0" err="1">
                <a:solidFill>
                  <a:srgbClr val="393939"/>
                </a:solidFill>
                <a:cs typeface="Tahoma"/>
              </a:rPr>
              <a:t>e.g</a:t>
            </a:r>
            <a:r>
              <a:rPr lang="es-ES" sz="2400" spc="-35" dirty="0">
                <a:solidFill>
                  <a:srgbClr val="393939"/>
                </a:solidFill>
                <a:cs typeface="Tahoma"/>
              </a:rPr>
              <a:t>.</a:t>
            </a:r>
            <a:r>
              <a:rPr lang="es-ES" sz="2400" spc="-165" dirty="0">
                <a:solidFill>
                  <a:srgbClr val="393939"/>
                </a:solidFill>
                <a:cs typeface="Tahoma"/>
              </a:rPr>
              <a:t> </a:t>
            </a:r>
            <a:r>
              <a:rPr lang="es-ES" sz="2400" b="1" spc="-28" dirty="0">
                <a:solidFill>
                  <a:srgbClr val="393939"/>
                </a:solidFill>
                <a:latin typeface="Consolas" panose="020B0609020204030204" pitchFamily="49" charset="0"/>
                <a:cs typeface="Trebuchet MS"/>
              </a:rPr>
              <a:t>&lt;</a:t>
            </a:r>
            <a:r>
              <a:rPr lang="es-ES" sz="2400" b="1" spc="-28" dirty="0" err="1">
                <a:solidFill>
                  <a:srgbClr val="393939"/>
                </a:solidFill>
                <a:latin typeface="Consolas" panose="020B0609020204030204" pitchFamily="49" charset="0"/>
                <a:cs typeface="Trebuchet MS"/>
              </a:rPr>
              <a:t>img</a:t>
            </a:r>
            <a:r>
              <a:rPr lang="es-ES" sz="2400" b="1" spc="-137" dirty="0">
                <a:solidFill>
                  <a:srgbClr val="393939"/>
                </a:solidFill>
                <a:latin typeface="Consolas" panose="020B0609020204030204" pitchFamily="49" charset="0"/>
                <a:cs typeface="Trebuchet MS"/>
              </a:rPr>
              <a:t> </a:t>
            </a:r>
            <a:r>
              <a:rPr lang="es-ES" sz="2400" b="1" spc="-35" dirty="0" err="1">
                <a:solidFill>
                  <a:srgbClr val="393939"/>
                </a:solidFill>
                <a:latin typeface="Consolas" panose="020B0609020204030204" pitchFamily="49" charset="0"/>
                <a:cs typeface="Trebuchet MS"/>
              </a:rPr>
              <a:t>bind-</a:t>
            </a:r>
            <a:r>
              <a:rPr lang="es-ES" sz="2400" b="1" spc="-91" dirty="0" err="1">
                <a:solidFill>
                  <a:srgbClr val="393939"/>
                </a:solidFill>
                <a:latin typeface="Consolas" panose="020B0609020204030204" pitchFamily="49" charset="0"/>
                <a:cs typeface="Trebuchet MS"/>
              </a:rPr>
              <a:t>src</a:t>
            </a:r>
            <a:r>
              <a:rPr lang="es-ES" sz="2400" b="1" spc="-91" dirty="0">
                <a:solidFill>
                  <a:srgbClr val="393939"/>
                </a:solidFill>
                <a:latin typeface="Consolas" panose="020B0609020204030204" pitchFamily="49" charset="0"/>
                <a:cs typeface="Trebuchet MS"/>
              </a:rPr>
              <a:t>="</a:t>
            </a:r>
            <a:r>
              <a:rPr lang="es-ES" sz="2400" b="1" spc="-91" dirty="0" err="1">
                <a:solidFill>
                  <a:srgbClr val="393939"/>
                </a:solidFill>
                <a:latin typeface="Consolas" panose="020B0609020204030204" pitchFamily="49" charset="0"/>
                <a:cs typeface="Trebuchet MS"/>
              </a:rPr>
              <a:t>image.src</a:t>
            </a:r>
            <a:r>
              <a:rPr lang="es-ES" sz="2400" b="1" spc="-91" dirty="0">
                <a:solidFill>
                  <a:srgbClr val="393939"/>
                </a:solidFill>
                <a:latin typeface="Consolas" panose="020B0609020204030204" pitchFamily="49" charset="0"/>
                <a:cs typeface="Trebuchet MS"/>
              </a:rPr>
              <a:t>"</a:t>
            </a:r>
            <a:r>
              <a:rPr lang="es-ES" sz="2400" b="1" spc="-158" dirty="0">
                <a:solidFill>
                  <a:srgbClr val="393939"/>
                </a:solidFill>
                <a:latin typeface="Consolas" panose="020B0609020204030204" pitchFamily="49" charset="0"/>
                <a:cs typeface="Trebuchet MS"/>
              </a:rPr>
              <a:t> </a:t>
            </a:r>
            <a:r>
              <a:rPr lang="es-ES" sz="2400" b="1" spc="-74" dirty="0">
                <a:solidFill>
                  <a:srgbClr val="393939"/>
                </a:solidFill>
                <a:latin typeface="Consolas" panose="020B0609020204030204" pitchFamily="49" charset="0"/>
                <a:cs typeface="Trebuchet MS"/>
              </a:rPr>
              <a:t>/&gt;</a:t>
            </a:r>
            <a:endParaRPr lang="es-ES" sz="3200" b="1" spc="-74" dirty="0">
              <a:solidFill>
                <a:srgbClr val="393939"/>
              </a:solidFill>
              <a:latin typeface="Consolas" panose="020B0609020204030204" pitchFamily="49" charset="0"/>
              <a:cs typeface="Trebuchet MS"/>
            </a:endParaRPr>
          </a:p>
          <a:p>
            <a:pPr lvl="1"/>
            <a:endParaRPr lang="es-ES" sz="3400" b="1" spc="-74" dirty="0">
              <a:solidFill>
                <a:srgbClr val="393939"/>
              </a:solidFill>
              <a:cs typeface="Trebuchet MS"/>
            </a:endParaRPr>
          </a:p>
          <a:p>
            <a:pPr lvl="1"/>
            <a:r>
              <a:rPr lang="es-ES" sz="3400" spc="-42" dirty="0">
                <a:solidFill>
                  <a:srgbClr val="393939"/>
                </a:solidFill>
                <a:cs typeface="Tahoma"/>
              </a:rPr>
              <a:t>Cuando no hay propiedad del elemento, tienes que preceder con</a:t>
            </a:r>
            <a:r>
              <a:rPr lang="es-ES" sz="3400" spc="-165" dirty="0">
                <a:solidFill>
                  <a:srgbClr val="393939"/>
                </a:solidFill>
                <a:cs typeface="Tahoma"/>
              </a:rPr>
              <a:t> </a:t>
            </a:r>
            <a:r>
              <a:rPr lang="es-ES" sz="3400" b="1" spc="-109" dirty="0" err="1">
                <a:solidFill>
                  <a:srgbClr val="393939"/>
                </a:solidFill>
                <a:cs typeface="Trebuchet MS"/>
              </a:rPr>
              <a:t>attr</a:t>
            </a:r>
            <a:endParaRPr lang="es-ES" sz="3400" b="1" dirty="0">
              <a:cs typeface="Trebuchet MS"/>
            </a:endParaRPr>
          </a:p>
          <a:p>
            <a:pPr marL="457063" lvl="1" indent="0">
              <a:buNone/>
            </a:pPr>
            <a:r>
              <a:rPr lang="es-ES" sz="3400" spc="-35" dirty="0">
                <a:solidFill>
                  <a:srgbClr val="393939"/>
                </a:solidFill>
                <a:cs typeface="Tahoma"/>
              </a:rPr>
              <a:t>		</a:t>
            </a:r>
            <a:r>
              <a:rPr lang="es-ES" sz="2400" spc="-35" dirty="0" err="1">
                <a:solidFill>
                  <a:srgbClr val="393939"/>
                </a:solidFill>
                <a:cs typeface="Tahoma"/>
              </a:rPr>
              <a:t>e.g</a:t>
            </a:r>
            <a:r>
              <a:rPr lang="es-ES" sz="2400" spc="-35" dirty="0">
                <a:solidFill>
                  <a:srgbClr val="393939"/>
                </a:solidFill>
                <a:cs typeface="Tahoma"/>
              </a:rPr>
              <a:t>.</a:t>
            </a:r>
            <a:r>
              <a:rPr lang="es-ES" sz="2400" spc="-221" dirty="0">
                <a:solidFill>
                  <a:srgbClr val="393939"/>
                </a:solidFill>
                <a:cs typeface="Tahoma"/>
              </a:rPr>
              <a:t> </a:t>
            </a:r>
            <a:r>
              <a:rPr lang="es-ES" sz="2400" b="1" spc="-98" dirty="0">
                <a:solidFill>
                  <a:srgbClr val="393939"/>
                </a:solidFill>
                <a:latin typeface="Consolas" panose="020B0609020204030204" pitchFamily="49" charset="0"/>
                <a:cs typeface="Trebuchet MS"/>
              </a:rPr>
              <a:t>[</a:t>
            </a:r>
            <a:r>
              <a:rPr lang="es-ES" sz="2400" b="1" spc="-98" dirty="0" err="1">
                <a:solidFill>
                  <a:srgbClr val="393939"/>
                </a:solidFill>
                <a:latin typeface="Consolas" panose="020B0609020204030204" pitchFamily="49" charset="0"/>
                <a:cs typeface="Trebuchet MS"/>
              </a:rPr>
              <a:t>attr.colspan</a:t>
            </a:r>
            <a:r>
              <a:rPr lang="es-ES" sz="2400" b="1" spc="-98" dirty="0">
                <a:solidFill>
                  <a:srgbClr val="393939"/>
                </a:solidFill>
                <a:latin typeface="Consolas" panose="020B0609020204030204" pitchFamily="49" charset="0"/>
                <a:cs typeface="Trebuchet MS"/>
              </a:rPr>
              <a:t>]</a:t>
            </a:r>
            <a:endParaRPr lang="es-ES" sz="2400" b="1" dirty="0">
              <a:latin typeface="Consolas" panose="020B0609020204030204" pitchFamily="49" charset="0"/>
              <a:cs typeface="Trebuchet MS"/>
            </a:endParaRP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61480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3E864D38-F244-4C04-9185-D9BA9CBEA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 err="1"/>
              <a:t>Binding</a:t>
            </a:r>
            <a:r>
              <a:rPr lang="es-ES" dirty="0"/>
              <a:t> de propiedades (cont.)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D8EA96C-4A38-400B-B6F4-B0A61447BD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No use los corchetes si:</a:t>
            </a:r>
          </a:p>
          <a:p>
            <a:pPr lvl="1"/>
            <a:r>
              <a:rPr lang="es-ES" dirty="0"/>
              <a:t>La propiedad destino acepta un valor tipo cadena</a:t>
            </a:r>
          </a:p>
          <a:p>
            <a:pPr lvl="1"/>
            <a:r>
              <a:rPr lang="es-ES" dirty="0"/>
              <a:t>La cadena es un valor fijo que podemos cambiar en la plantilla</a:t>
            </a:r>
          </a:p>
          <a:p>
            <a:pPr lvl="1"/>
            <a:r>
              <a:rPr lang="es-ES" dirty="0"/>
              <a:t>Este valor inicial nunca cambia</a:t>
            </a:r>
          </a:p>
          <a:p>
            <a:r>
              <a:rPr lang="es-ES" dirty="0"/>
              <a:t>Para relacionar la </a:t>
            </a:r>
            <a:r>
              <a:rPr lang="es-ES" dirty="0" err="1"/>
              <a:t>Template</a:t>
            </a:r>
            <a:r>
              <a:rPr lang="es-ES" dirty="0"/>
              <a:t> [] con la </a:t>
            </a:r>
            <a:r>
              <a:rPr lang="es-ES" dirty="0" err="1"/>
              <a:t>Class</a:t>
            </a:r>
            <a:r>
              <a:rPr lang="es-ES" dirty="0"/>
              <a:t> '', se prefiere el </a:t>
            </a:r>
            <a:r>
              <a:rPr lang="es-ES" dirty="0" err="1"/>
              <a:t>property</a:t>
            </a:r>
            <a:r>
              <a:rPr lang="es-ES" dirty="0"/>
              <a:t> </a:t>
            </a:r>
            <a:r>
              <a:rPr lang="es-ES" dirty="0" err="1"/>
              <a:t>binding</a:t>
            </a:r>
            <a:r>
              <a:rPr lang="es-ES" dirty="0"/>
              <a:t> porque permite la comunicación en los dos sentidos.</a:t>
            </a:r>
          </a:p>
          <a:p>
            <a:r>
              <a:rPr lang="es-ES" dirty="0"/>
              <a:t>La interpolación sería idónea en el siguiente caso: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F25DAA2A-3315-49C2-A57A-9D28E59E1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5212" y="807119"/>
            <a:ext cx="3040882" cy="99544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A289364-C400-4000-9BBC-58E55E21FD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6399" y="4876800"/>
            <a:ext cx="6296025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0944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15293" y="3303985"/>
            <a:ext cx="8000107" cy="250031"/>
          </a:xfrm>
          <a:custGeom>
            <a:avLst/>
            <a:gdLst/>
            <a:ahLst/>
            <a:cxnLst/>
            <a:rect l="l" t="t" r="r" b="b"/>
            <a:pathLst>
              <a:path w="11377930" h="355600">
                <a:moveTo>
                  <a:pt x="0" y="0"/>
                </a:moveTo>
                <a:lnTo>
                  <a:pt x="11377320" y="0"/>
                </a:lnTo>
                <a:lnTo>
                  <a:pt x="11377320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3" name="object 3"/>
          <p:cNvSpPr txBox="1"/>
          <p:nvPr/>
        </p:nvSpPr>
        <p:spPr>
          <a:xfrm>
            <a:off x="1709936" y="3286126"/>
            <a:ext cx="663029" cy="2596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&lt;</a:t>
            </a:r>
            <a:r>
              <a:rPr sz="1687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span</a:t>
            </a:r>
            <a:endParaRPr sz="1687">
              <a:latin typeface="Lucida Sans Typewriter"/>
              <a:cs typeface="Lucida Sans Typewriter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84097" y="3286126"/>
            <a:ext cx="4534049" cy="2596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687" spc="-4" dirty="0">
                <a:solidFill>
                  <a:srgbClr val="FF0000"/>
                </a:solidFill>
                <a:latin typeface="Lucida Console"/>
                <a:cs typeface="Lucida Console"/>
              </a:rPr>
              <a:t>[</a:t>
            </a:r>
            <a:r>
              <a:rPr sz="1687" spc="-4" dirty="0" err="1">
                <a:solidFill>
                  <a:srgbClr val="FF0000"/>
                </a:solidFill>
                <a:latin typeface="Lucida Console"/>
                <a:cs typeface="Lucida Console"/>
              </a:rPr>
              <a:t>style.color</a:t>
            </a:r>
            <a:r>
              <a:rPr sz="1687" spc="-4" dirty="0">
                <a:solidFill>
                  <a:srgbClr val="FF0000"/>
                </a:solidFill>
                <a:latin typeface="Lucida Console"/>
                <a:cs typeface="Lucida Console"/>
              </a:rPr>
              <a:t>]=</a:t>
            </a:r>
            <a:r>
              <a:rPr lang="es-ES" sz="1687" spc="-4" dirty="0">
                <a:solidFill>
                  <a:srgbClr val="FF0000"/>
                </a:solidFill>
                <a:latin typeface="Lucida Console"/>
                <a:cs typeface="Lucida Console"/>
              </a:rPr>
              <a:t>"</a:t>
            </a:r>
            <a:r>
              <a:rPr sz="1687" spc="-4" dirty="0" err="1">
                <a:solidFill>
                  <a:srgbClr val="FF0000"/>
                </a:solidFill>
                <a:latin typeface="Lucida Console"/>
                <a:cs typeface="Lucida Console"/>
              </a:rPr>
              <a:t>componentStyle</a:t>
            </a:r>
            <a:r>
              <a:rPr lang="es-ES" sz="1687" spc="-4" dirty="0">
                <a:solidFill>
                  <a:srgbClr val="FF0000"/>
                </a:solidFill>
                <a:latin typeface="Lucida Console"/>
                <a:cs typeface="Lucida Console"/>
              </a:rPr>
              <a:t>"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&gt;Some</a:t>
            </a:r>
            <a:endParaRPr sz="1687" dirty="0">
              <a:latin typeface="Lucida Console"/>
              <a:cs typeface="Lucida Consol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29134" y="3286126"/>
            <a:ext cx="921097" cy="2596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colored</a:t>
            </a:r>
            <a:endParaRPr sz="1687">
              <a:latin typeface="Lucida Console"/>
              <a:cs typeface="Lucida Consol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61434" y="3286126"/>
            <a:ext cx="1566267" cy="2596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text!&lt;/</a:t>
            </a:r>
            <a:r>
              <a:rPr sz="1687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span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&gt;</a:t>
            </a:r>
            <a:endParaRPr sz="1687">
              <a:latin typeface="Lucida Console"/>
              <a:cs typeface="Lucida Consol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18865" y="5929312"/>
            <a:ext cx="9861947" cy="7789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lang="es-ES" sz="5062" b="1" spc="-137" dirty="0" err="1">
                <a:solidFill>
                  <a:srgbClr val="53585F"/>
                </a:solidFill>
                <a:latin typeface="Trebuchet MS"/>
                <a:cs typeface="Trebuchet MS"/>
              </a:rPr>
              <a:t>Binding</a:t>
            </a:r>
            <a:r>
              <a:rPr lang="es-ES" sz="5062" b="1" spc="-137" dirty="0">
                <a:solidFill>
                  <a:srgbClr val="53585F"/>
                </a:solidFill>
                <a:latin typeface="Trebuchet MS"/>
                <a:cs typeface="Trebuchet MS"/>
              </a:rPr>
              <a:t> de propiedades </a:t>
            </a:r>
            <a:endParaRPr sz="5062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92000834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1" y="0"/>
            <a:ext cx="12188825" cy="6858000"/>
          </a:xfrm>
          <a:custGeom>
            <a:avLst/>
            <a:gdLst/>
            <a:ahLst/>
            <a:cxnLst/>
            <a:rect l="l" t="t" r="r" b="b"/>
            <a:pathLst>
              <a:path w="13004800" h="9753600">
                <a:moveTo>
                  <a:pt x="0" y="0"/>
                </a:moveTo>
                <a:lnTo>
                  <a:pt x="13004800" y="0"/>
                </a:lnTo>
                <a:lnTo>
                  <a:pt x="13004800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3" name="object 3"/>
          <p:cNvSpPr/>
          <p:nvPr/>
        </p:nvSpPr>
        <p:spPr>
          <a:xfrm>
            <a:off x="1715293" y="1071562"/>
            <a:ext cx="2709714" cy="294680"/>
          </a:xfrm>
          <a:custGeom>
            <a:avLst/>
            <a:gdLst/>
            <a:ahLst/>
            <a:cxnLst/>
            <a:rect l="l" t="t" r="r" b="b"/>
            <a:pathLst>
              <a:path w="3853815" h="419100">
                <a:moveTo>
                  <a:pt x="0" y="0"/>
                </a:moveTo>
                <a:lnTo>
                  <a:pt x="3853611" y="0"/>
                </a:lnTo>
                <a:lnTo>
                  <a:pt x="3853611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4" name="object 4"/>
          <p:cNvSpPr/>
          <p:nvPr/>
        </p:nvSpPr>
        <p:spPr>
          <a:xfrm>
            <a:off x="1715293" y="1366242"/>
            <a:ext cx="2258318" cy="294680"/>
          </a:xfrm>
          <a:custGeom>
            <a:avLst/>
            <a:gdLst/>
            <a:ahLst/>
            <a:cxnLst/>
            <a:rect l="l" t="t" r="r" b="b"/>
            <a:pathLst>
              <a:path w="3211829" h="419100">
                <a:moveTo>
                  <a:pt x="0" y="0"/>
                </a:moveTo>
                <a:lnTo>
                  <a:pt x="3211334" y="0"/>
                </a:lnTo>
                <a:lnTo>
                  <a:pt x="3211334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5" name="object 5"/>
          <p:cNvSpPr/>
          <p:nvPr/>
        </p:nvSpPr>
        <p:spPr>
          <a:xfrm>
            <a:off x="1715293" y="1660922"/>
            <a:ext cx="752773" cy="294680"/>
          </a:xfrm>
          <a:custGeom>
            <a:avLst/>
            <a:gdLst/>
            <a:ahLst/>
            <a:cxnLst/>
            <a:rect l="l" t="t" r="r" b="b"/>
            <a:pathLst>
              <a:path w="1070610" h="419100">
                <a:moveTo>
                  <a:pt x="0" y="0"/>
                </a:moveTo>
                <a:lnTo>
                  <a:pt x="1070444" y="0"/>
                </a:lnTo>
                <a:lnTo>
                  <a:pt x="1070444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6" name="object 6"/>
          <p:cNvSpPr/>
          <p:nvPr/>
        </p:nvSpPr>
        <p:spPr>
          <a:xfrm>
            <a:off x="1715293" y="1955601"/>
            <a:ext cx="7074991" cy="294680"/>
          </a:xfrm>
          <a:custGeom>
            <a:avLst/>
            <a:gdLst/>
            <a:ahLst/>
            <a:cxnLst/>
            <a:rect l="l" t="t" r="r" b="b"/>
            <a:pathLst>
              <a:path w="10062210" h="419100">
                <a:moveTo>
                  <a:pt x="0" y="0"/>
                </a:moveTo>
                <a:lnTo>
                  <a:pt x="10062197" y="0"/>
                </a:lnTo>
                <a:lnTo>
                  <a:pt x="10062197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7" name="object 7"/>
          <p:cNvSpPr/>
          <p:nvPr/>
        </p:nvSpPr>
        <p:spPr>
          <a:xfrm>
            <a:off x="1715293" y="2250281"/>
            <a:ext cx="6172200" cy="294680"/>
          </a:xfrm>
          <a:custGeom>
            <a:avLst/>
            <a:gdLst/>
            <a:ahLst/>
            <a:cxnLst/>
            <a:rect l="l" t="t" r="r" b="b"/>
            <a:pathLst>
              <a:path w="8778240" h="419100">
                <a:moveTo>
                  <a:pt x="0" y="0"/>
                </a:moveTo>
                <a:lnTo>
                  <a:pt x="8777655" y="0"/>
                </a:lnTo>
                <a:lnTo>
                  <a:pt x="8777655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8" name="object 8"/>
          <p:cNvSpPr/>
          <p:nvPr/>
        </p:nvSpPr>
        <p:spPr>
          <a:xfrm>
            <a:off x="1715293" y="2544961"/>
            <a:ext cx="752773" cy="294680"/>
          </a:xfrm>
          <a:custGeom>
            <a:avLst/>
            <a:gdLst/>
            <a:ahLst/>
            <a:cxnLst/>
            <a:rect l="l" t="t" r="r" b="b"/>
            <a:pathLst>
              <a:path w="1070610" h="419100">
                <a:moveTo>
                  <a:pt x="0" y="0"/>
                </a:moveTo>
                <a:lnTo>
                  <a:pt x="1070444" y="0"/>
                </a:lnTo>
                <a:lnTo>
                  <a:pt x="1070444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9" name="object 9"/>
          <p:cNvSpPr/>
          <p:nvPr/>
        </p:nvSpPr>
        <p:spPr>
          <a:xfrm>
            <a:off x="1715293" y="2839640"/>
            <a:ext cx="752773" cy="294680"/>
          </a:xfrm>
          <a:custGeom>
            <a:avLst/>
            <a:gdLst/>
            <a:ahLst/>
            <a:cxnLst/>
            <a:rect l="l" t="t" r="r" b="b"/>
            <a:pathLst>
              <a:path w="1070610" h="419100">
                <a:moveTo>
                  <a:pt x="0" y="0"/>
                </a:moveTo>
                <a:lnTo>
                  <a:pt x="1070444" y="0"/>
                </a:lnTo>
                <a:lnTo>
                  <a:pt x="1070444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0" name="object 10"/>
          <p:cNvSpPr/>
          <p:nvPr/>
        </p:nvSpPr>
        <p:spPr>
          <a:xfrm>
            <a:off x="1715293" y="3134320"/>
            <a:ext cx="8128695" cy="294680"/>
          </a:xfrm>
          <a:custGeom>
            <a:avLst/>
            <a:gdLst/>
            <a:ahLst/>
            <a:cxnLst/>
            <a:rect l="l" t="t" r="r" b="b"/>
            <a:pathLst>
              <a:path w="11560810" h="419100">
                <a:moveTo>
                  <a:pt x="0" y="0"/>
                </a:moveTo>
                <a:lnTo>
                  <a:pt x="11560822" y="0"/>
                </a:lnTo>
                <a:lnTo>
                  <a:pt x="11560822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1" name="object 11"/>
          <p:cNvSpPr/>
          <p:nvPr/>
        </p:nvSpPr>
        <p:spPr>
          <a:xfrm>
            <a:off x="1715294" y="3429000"/>
            <a:ext cx="4215259" cy="294680"/>
          </a:xfrm>
          <a:custGeom>
            <a:avLst/>
            <a:gdLst/>
            <a:ahLst/>
            <a:cxnLst/>
            <a:rect l="l" t="t" r="r" b="b"/>
            <a:pathLst>
              <a:path w="5995035" h="419100">
                <a:moveTo>
                  <a:pt x="0" y="0"/>
                </a:moveTo>
                <a:lnTo>
                  <a:pt x="5994501" y="0"/>
                </a:lnTo>
                <a:lnTo>
                  <a:pt x="5994501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2" name="object 12"/>
          <p:cNvSpPr/>
          <p:nvPr/>
        </p:nvSpPr>
        <p:spPr>
          <a:xfrm>
            <a:off x="1715293" y="3723680"/>
            <a:ext cx="3312021" cy="294680"/>
          </a:xfrm>
          <a:custGeom>
            <a:avLst/>
            <a:gdLst/>
            <a:ahLst/>
            <a:cxnLst/>
            <a:rect l="l" t="t" r="r" b="b"/>
            <a:pathLst>
              <a:path w="4710430" h="419100">
                <a:moveTo>
                  <a:pt x="0" y="0"/>
                </a:moveTo>
                <a:lnTo>
                  <a:pt x="4709960" y="0"/>
                </a:lnTo>
                <a:lnTo>
                  <a:pt x="470996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3" name="object 13"/>
          <p:cNvSpPr/>
          <p:nvPr/>
        </p:nvSpPr>
        <p:spPr>
          <a:xfrm>
            <a:off x="1715293" y="4018359"/>
            <a:ext cx="7526834" cy="294680"/>
          </a:xfrm>
          <a:custGeom>
            <a:avLst/>
            <a:gdLst/>
            <a:ahLst/>
            <a:cxnLst/>
            <a:rect l="l" t="t" r="r" b="b"/>
            <a:pathLst>
              <a:path w="10704830" h="419100">
                <a:moveTo>
                  <a:pt x="0" y="0"/>
                </a:moveTo>
                <a:lnTo>
                  <a:pt x="10704461" y="0"/>
                </a:lnTo>
                <a:lnTo>
                  <a:pt x="10704461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4" name="object 14"/>
          <p:cNvSpPr/>
          <p:nvPr/>
        </p:nvSpPr>
        <p:spPr>
          <a:xfrm>
            <a:off x="1715293" y="4313039"/>
            <a:ext cx="5569893" cy="294680"/>
          </a:xfrm>
          <a:custGeom>
            <a:avLst/>
            <a:gdLst/>
            <a:ahLst/>
            <a:cxnLst/>
            <a:rect l="l" t="t" r="r" b="b"/>
            <a:pathLst>
              <a:path w="7921625" h="419100">
                <a:moveTo>
                  <a:pt x="0" y="0"/>
                </a:moveTo>
                <a:lnTo>
                  <a:pt x="7921307" y="0"/>
                </a:lnTo>
                <a:lnTo>
                  <a:pt x="7921307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5" name="object 15"/>
          <p:cNvSpPr/>
          <p:nvPr/>
        </p:nvSpPr>
        <p:spPr>
          <a:xfrm>
            <a:off x="1715294" y="4607719"/>
            <a:ext cx="7978229" cy="294680"/>
          </a:xfrm>
          <a:custGeom>
            <a:avLst/>
            <a:gdLst/>
            <a:ahLst/>
            <a:cxnLst/>
            <a:rect l="l" t="t" r="r" b="b"/>
            <a:pathLst>
              <a:path w="11346815" h="419100">
                <a:moveTo>
                  <a:pt x="0" y="0"/>
                </a:moveTo>
                <a:lnTo>
                  <a:pt x="11346726" y="0"/>
                </a:lnTo>
                <a:lnTo>
                  <a:pt x="11346726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6" name="object 16"/>
          <p:cNvSpPr/>
          <p:nvPr/>
        </p:nvSpPr>
        <p:spPr>
          <a:xfrm>
            <a:off x="1715294" y="4902398"/>
            <a:ext cx="1956941" cy="294680"/>
          </a:xfrm>
          <a:custGeom>
            <a:avLst/>
            <a:gdLst/>
            <a:ahLst/>
            <a:cxnLst/>
            <a:rect l="l" t="t" r="r" b="b"/>
            <a:pathLst>
              <a:path w="2783205" h="419100">
                <a:moveTo>
                  <a:pt x="0" y="0"/>
                </a:moveTo>
                <a:lnTo>
                  <a:pt x="2783154" y="0"/>
                </a:lnTo>
                <a:lnTo>
                  <a:pt x="2783154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7" name="object 17"/>
          <p:cNvSpPr/>
          <p:nvPr/>
        </p:nvSpPr>
        <p:spPr>
          <a:xfrm>
            <a:off x="1715294" y="5197078"/>
            <a:ext cx="1355080" cy="294680"/>
          </a:xfrm>
          <a:custGeom>
            <a:avLst/>
            <a:gdLst/>
            <a:ahLst/>
            <a:cxnLst/>
            <a:rect l="l" t="t" r="r" b="b"/>
            <a:pathLst>
              <a:path w="1927225" h="419100">
                <a:moveTo>
                  <a:pt x="0" y="0"/>
                </a:moveTo>
                <a:lnTo>
                  <a:pt x="1926805" y="0"/>
                </a:lnTo>
                <a:lnTo>
                  <a:pt x="1926805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8" name="object 18"/>
          <p:cNvSpPr/>
          <p:nvPr/>
        </p:nvSpPr>
        <p:spPr>
          <a:xfrm>
            <a:off x="1715294" y="5491758"/>
            <a:ext cx="903238" cy="294680"/>
          </a:xfrm>
          <a:custGeom>
            <a:avLst/>
            <a:gdLst/>
            <a:ahLst/>
            <a:cxnLst/>
            <a:rect l="l" t="t" r="r" b="b"/>
            <a:pathLst>
              <a:path w="1284605" h="419100">
                <a:moveTo>
                  <a:pt x="0" y="0"/>
                </a:moveTo>
                <a:lnTo>
                  <a:pt x="1284541" y="0"/>
                </a:lnTo>
                <a:lnTo>
                  <a:pt x="1284541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1709936" y="1057118"/>
            <a:ext cx="2727573" cy="30303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8929">
              <a:lnSpc>
                <a:spcPct val="100000"/>
              </a:lnSpc>
            </a:pP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&lt;</a:t>
            </a:r>
            <a:r>
              <a:rPr sz="1969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h1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&gt;{{title}}&lt;/</a:t>
            </a:r>
            <a:r>
              <a:rPr sz="1969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h1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&gt;</a:t>
            </a:r>
            <a:endParaRPr sz="1969">
              <a:latin typeface="Lucida Console"/>
              <a:cs typeface="Lucida Consol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709936" y="1348383"/>
            <a:ext cx="7093297" cy="1769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>
              <a:lnSpc>
                <a:spcPts val="2341"/>
              </a:lnSpc>
            </a:pP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&lt;</a:t>
            </a:r>
            <a:r>
              <a:rPr sz="1969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p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&gt;{{body}}&lt;/</a:t>
            </a:r>
            <a:r>
              <a:rPr sz="1969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p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&gt;</a:t>
            </a:r>
            <a:endParaRPr sz="1969" dirty="0">
              <a:latin typeface="Lucida Console"/>
              <a:cs typeface="Lucida Console"/>
            </a:endParaRPr>
          </a:p>
          <a:p>
            <a:pPr marL="8929">
              <a:lnSpc>
                <a:spcPts val="2320"/>
              </a:lnSpc>
            </a:pP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&lt;</a:t>
            </a:r>
            <a:r>
              <a:rPr sz="1969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hr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/&gt;</a:t>
            </a:r>
            <a:endParaRPr sz="1969" dirty="0">
              <a:latin typeface="Lucida Console"/>
              <a:cs typeface="Lucida Console"/>
            </a:endParaRPr>
          </a:p>
          <a:p>
            <a:pPr marL="309849" marR="3572" indent="-301366">
              <a:lnSpc>
                <a:spcPts val="2320"/>
              </a:lnSpc>
              <a:spcBef>
                <a:spcPts val="91"/>
              </a:spcBef>
            </a:pP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&lt;</a:t>
            </a:r>
            <a:r>
              <a:rPr sz="1969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experiment 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*</a:t>
            </a:r>
            <a:r>
              <a:rPr sz="1969" spc="-4" dirty="0" err="1">
                <a:solidFill>
                  <a:srgbClr val="B7C4D1"/>
                </a:solidFill>
                <a:latin typeface="Lucida Console"/>
                <a:cs typeface="Lucida Console"/>
              </a:rPr>
              <a:t>ngFor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=</a:t>
            </a:r>
            <a:r>
              <a:rPr lang="es-ES"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"</a:t>
            </a:r>
            <a:r>
              <a:rPr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#experiment of experiments</a:t>
            </a:r>
            <a:r>
              <a:rPr lang="es-ES"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"</a:t>
            </a:r>
            <a:r>
              <a:rPr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  </a:t>
            </a:r>
            <a:r>
              <a:rPr sz="1969" spc="-4" dirty="0">
                <a:solidFill>
                  <a:srgbClr val="FF0000"/>
                </a:solidFill>
                <a:latin typeface="Lucida Console"/>
                <a:cs typeface="Lucida Console"/>
              </a:rPr>
              <a:t>[experiment]=</a:t>
            </a:r>
            <a:r>
              <a:rPr lang="es-ES" sz="1969" spc="-4" dirty="0">
                <a:solidFill>
                  <a:srgbClr val="FF0000"/>
                </a:solidFill>
                <a:latin typeface="Lucida Console"/>
                <a:cs typeface="Lucida Console"/>
              </a:rPr>
              <a:t>"</a:t>
            </a:r>
            <a:r>
              <a:rPr sz="1969" spc="-4" dirty="0">
                <a:solidFill>
                  <a:srgbClr val="FF0000"/>
                </a:solidFill>
                <a:latin typeface="Lucida Console"/>
                <a:cs typeface="Lucida Console"/>
              </a:rPr>
              <a:t>experiment</a:t>
            </a:r>
            <a:r>
              <a:rPr lang="es-ES" sz="1969" spc="-4" dirty="0">
                <a:solidFill>
                  <a:srgbClr val="FF0000"/>
                </a:solidFill>
                <a:latin typeface="Lucida Console"/>
                <a:cs typeface="Lucida Console"/>
              </a:rPr>
              <a:t>"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&gt;&lt;/</a:t>
            </a:r>
            <a:r>
              <a:rPr sz="1969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experiment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&gt;</a:t>
            </a:r>
            <a:endParaRPr sz="1969" dirty="0">
              <a:latin typeface="Lucida Console"/>
              <a:cs typeface="Lucida Console"/>
            </a:endParaRPr>
          </a:p>
          <a:p>
            <a:pPr marL="8929">
              <a:lnSpc>
                <a:spcPts val="2229"/>
              </a:lnSpc>
            </a:pP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&lt;</a:t>
            </a:r>
            <a:r>
              <a:rPr sz="1969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hr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/&gt;</a:t>
            </a:r>
            <a:endParaRPr sz="1969" dirty="0">
              <a:latin typeface="Lucida Console"/>
              <a:cs typeface="Lucida Console"/>
            </a:endParaRPr>
          </a:p>
          <a:p>
            <a:pPr marL="8929">
              <a:lnSpc>
                <a:spcPts val="2341"/>
              </a:lnSpc>
            </a:pP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&lt;</a:t>
            </a:r>
            <a:r>
              <a:rPr sz="1969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div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&gt;</a:t>
            </a:r>
            <a:endParaRPr sz="1969" dirty="0">
              <a:latin typeface="Lucida Console"/>
              <a:cs typeface="Lucida Console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011023" y="3116461"/>
            <a:ext cx="5286821" cy="3030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&lt;</a:t>
            </a:r>
            <a:r>
              <a:rPr sz="1969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h2</a:t>
            </a:r>
            <a:r>
              <a:rPr sz="1969" b="1" dirty="0">
                <a:solidFill>
                  <a:srgbClr val="D78B40"/>
                </a:solidFill>
                <a:latin typeface="Lucida Sans Typewriter"/>
                <a:cs typeface="Lucida Sans Typewriter"/>
              </a:rPr>
              <a:t> 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class=</a:t>
            </a:r>
            <a:r>
              <a:rPr lang="es-ES"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"</a:t>
            </a:r>
            <a:r>
              <a:rPr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text-error</a:t>
            </a:r>
            <a:r>
              <a:rPr lang="es-ES"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"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&gt;Experiments:</a:t>
            </a:r>
            <a:endParaRPr sz="1969" dirty="0">
              <a:latin typeface="Lucida Console"/>
              <a:cs typeface="Lucida Console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430304" y="3116461"/>
            <a:ext cx="2426196" cy="3030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{{message}}&lt;/</a:t>
            </a:r>
            <a:r>
              <a:rPr sz="1969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h2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&gt;</a:t>
            </a:r>
            <a:endParaRPr sz="1969" dirty="0">
              <a:latin typeface="Lucida Console"/>
              <a:cs typeface="Lucida Console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011023" y="3411141"/>
            <a:ext cx="3931741" cy="3030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&lt;</a:t>
            </a:r>
            <a:r>
              <a:rPr sz="1969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form</a:t>
            </a:r>
            <a:r>
              <a:rPr sz="1969" b="1" spc="-21" dirty="0">
                <a:solidFill>
                  <a:srgbClr val="D78B40"/>
                </a:solidFill>
                <a:latin typeface="Lucida Sans Typewriter"/>
                <a:cs typeface="Lucida Sans Typewriter"/>
              </a:rPr>
              <a:t> 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class=</a:t>
            </a:r>
            <a:r>
              <a:rPr lang="es-ES"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"</a:t>
            </a:r>
            <a:r>
              <a:rPr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form-inline</a:t>
            </a:r>
            <a:r>
              <a:rPr lang="es-ES"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"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&gt;</a:t>
            </a:r>
            <a:endParaRPr sz="1969" dirty="0">
              <a:latin typeface="Lucida Console"/>
              <a:cs typeface="Lucida Console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312111" y="3720108"/>
            <a:ext cx="3480346" cy="589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09849" marR="3572" indent="-301366">
              <a:lnSpc>
                <a:spcPts val="2320"/>
              </a:lnSpc>
            </a:pP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&lt;</a:t>
            </a:r>
            <a:r>
              <a:rPr sz="1969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input 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type=</a:t>
            </a:r>
            <a:r>
              <a:rPr lang="es-ES"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"</a:t>
            </a:r>
            <a:r>
              <a:rPr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text</a:t>
            </a:r>
            <a:r>
              <a:rPr lang="es-ES"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"</a:t>
            </a:r>
            <a:r>
              <a:rPr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  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[(</a:t>
            </a:r>
            <a:r>
              <a:rPr sz="1969" spc="-4" dirty="0" err="1">
                <a:solidFill>
                  <a:srgbClr val="B7C4D1"/>
                </a:solidFill>
                <a:latin typeface="Lucida Console"/>
                <a:cs typeface="Lucida Console"/>
              </a:rPr>
              <a:t>ngModel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)]</a:t>
            </a:r>
            <a:r>
              <a:rPr sz="1969" spc="-7" dirty="0">
                <a:solidFill>
                  <a:srgbClr val="B7C4D1"/>
                </a:solidFill>
                <a:latin typeface="Lucida Console"/>
                <a:cs typeface="Lucida Console"/>
              </a:rPr>
              <a:t>=</a:t>
            </a:r>
            <a:r>
              <a:rPr lang="es-ES"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"</a:t>
            </a:r>
            <a:r>
              <a:rPr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message</a:t>
            </a:r>
            <a:r>
              <a:rPr lang="es-ES"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"</a:t>
            </a:r>
            <a:endParaRPr sz="1969" dirty="0">
              <a:latin typeface="Lucida Console"/>
              <a:cs typeface="Lucida Console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924819" y="4000500"/>
            <a:ext cx="3329880" cy="3030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placeholder=</a:t>
            </a:r>
            <a:r>
              <a:rPr lang="es-ES"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"</a:t>
            </a:r>
            <a:r>
              <a:rPr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Message</a:t>
            </a:r>
            <a:r>
              <a:rPr lang="es-ES"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"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&gt;</a:t>
            </a:r>
            <a:endParaRPr sz="1969" dirty="0">
              <a:latin typeface="Lucida Console"/>
              <a:cs typeface="Lucida Console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312111" y="4309468"/>
            <a:ext cx="6189613" cy="589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09849" marR="3572" indent="-301366">
              <a:lnSpc>
                <a:spcPts val="2320"/>
              </a:lnSpc>
            </a:pP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&lt;</a:t>
            </a:r>
            <a:r>
              <a:rPr sz="1969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button 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type=</a:t>
            </a:r>
            <a:r>
              <a:rPr lang="es-ES"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"</a:t>
            </a:r>
            <a:r>
              <a:rPr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submit</a:t>
            </a:r>
            <a:r>
              <a:rPr lang="es-ES"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"</a:t>
            </a:r>
            <a:r>
              <a:rPr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 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class=</a:t>
            </a:r>
            <a:r>
              <a:rPr lang="es-ES"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"</a:t>
            </a:r>
            <a:r>
              <a:rPr sz="1969" spc="-4" dirty="0" err="1">
                <a:solidFill>
                  <a:srgbClr val="7C976C"/>
                </a:solidFill>
                <a:latin typeface="Lucida Console"/>
                <a:cs typeface="Lucida Console"/>
              </a:rPr>
              <a:t>btn</a:t>
            </a:r>
            <a:r>
              <a:rPr lang="es-ES"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"</a:t>
            </a:r>
            <a:r>
              <a:rPr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  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(click)=</a:t>
            </a:r>
            <a:r>
              <a:rPr lang="es-ES"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"</a:t>
            </a:r>
            <a:r>
              <a:rPr sz="1969" spc="-4" dirty="0" err="1">
                <a:solidFill>
                  <a:srgbClr val="7C976C"/>
                </a:solidFill>
                <a:latin typeface="Lucida Console"/>
                <a:cs typeface="Lucida Console"/>
              </a:rPr>
              <a:t>updateMessage</a:t>
            </a:r>
            <a:r>
              <a:rPr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(message)</a:t>
            </a:r>
            <a:r>
              <a:rPr lang="es-ES"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"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&gt;Update</a:t>
            </a:r>
            <a:endParaRPr sz="1969" dirty="0">
              <a:latin typeface="Lucida Console"/>
              <a:cs typeface="Lucida Console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634483" y="4589860"/>
            <a:ext cx="1072009" cy="3030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Message</a:t>
            </a:r>
            <a:endParaRPr sz="1969">
              <a:latin typeface="Lucida Console"/>
              <a:cs typeface="Lucida Console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709936" y="4884539"/>
            <a:ext cx="10251876" cy="16638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769">
              <a:lnSpc>
                <a:spcPts val="2341"/>
              </a:lnSpc>
            </a:pP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&lt;/</a:t>
            </a:r>
            <a:r>
              <a:rPr sz="1969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button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&gt;</a:t>
            </a:r>
            <a:endParaRPr sz="1969" dirty="0">
              <a:latin typeface="Lucida Console"/>
              <a:cs typeface="Lucida Console"/>
            </a:endParaRPr>
          </a:p>
          <a:p>
            <a:pPr marL="309849">
              <a:lnSpc>
                <a:spcPts val="2320"/>
              </a:lnSpc>
            </a:pP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&lt;/</a:t>
            </a:r>
            <a:r>
              <a:rPr sz="1969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form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&gt;</a:t>
            </a:r>
            <a:endParaRPr sz="1969" dirty="0">
              <a:latin typeface="Lucida Console"/>
              <a:cs typeface="Lucida Console"/>
            </a:endParaRPr>
          </a:p>
          <a:p>
            <a:pPr marL="8929">
              <a:lnSpc>
                <a:spcPts val="2341"/>
              </a:lnSpc>
            </a:pP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&lt;/</a:t>
            </a:r>
            <a:r>
              <a:rPr sz="1969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div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&gt;</a:t>
            </a:r>
            <a:endParaRPr sz="1969" dirty="0">
              <a:latin typeface="Lucida Console"/>
              <a:cs typeface="Lucida Console"/>
            </a:endParaRPr>
          </a:p>
          <a:p>
            <a:pPr marL="8929"/>
            <a:r>
              <a:rPr lang="es-ES" sz="5062" b="1" spc="-137" dirty="0" err="1">
                <a:solidFill>
                  <a:srgbClr val="53585F"/>
                </a:solidFill>
                <a:latin typeface="Trebuchet MS"/>
                <a:cs typeface="Trebuchet MS"/>
              </a:rPr>
              <a:t>Binding</a:t>
            </a:r>
            <a:r>
              <a:rPr lang="es-ES" sz="5062" b="1" spc="-137" dirty="0">
                <a:solidFill>
                  <a:srgbClr val="53585F"/>
                </a:solidFill>
                <a:latin typeface="Trebuchet MS"/>
                <a:cs typeface="Trebuchet MS"/>
              </a:rPr>
              <a:t> de propiedades </a:t>
            </a:r>
            <a:endParaRPr lang="es-ES" sz="5062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406227582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FBFD3CE6-3907-48BE-9D40-4FF356791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Binding</a:t>
            </a:r>
            <a:r>
              <a:rPr lang="es-ES" dirty="0"/>
              <a:t> de eventos</a:t>
            </a:r>
          </a:p>
        </p:txBody>
      </p:sp>
    </p:spTree>
    <p:extLst>
      <p:ext uri="{BB962C8B-B14F-4D97-AF65-F5344CB8AC3E}">
        <p14:creationId xmlns:p14="http://schemas.microsoft.com/office/powerpoint/2010/main" val="299195525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 err="1"/>
              <a:t>Binding</a:t>
            </a:r>
            <a:r>
              <a:rPr lang="es-ES" dirty="0"/>
              <a:t> de eventos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155ABD3-262C-4771-926B-2293946BA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b="1" dirty="0"/>
              <a:t>Flujo de datos de un componente a un elemento:</a:t>
            </a:r>
          </a:p>
          <a:p>
            <a:pPr marL="923192" lvl="1" indent="-457200">
              <a:tabLst>
                <a:tab pos="173229" algn="l"/>
              </a:tabLst>
            </a:pPr>
            <a:r>
              <a:rPr lang="es-ES" sz="3200" dirty="0"/>
              <a:t>Con paréntesis</a:t>
            </a:r>
            <a:br>
              <a:rPr lang="es-ES" dirty="0"/>
            </a:br>
            <a:r>
              <a:rPr lang="es-ES" dirty="0"/>
              <a:t>	</a:t>
            </a:r>
            <a:r>
              <a:rPr lang="es-ES" sz="2800" b="1" spc="-88" dirty="0">
                <a:solidFill>
                  <a:srgbClr val="393939"/>
                </a:solidFill>
                <a:latin typeface="Consolas" panose="020B0609020204030204" pitchFamily="49" charset="0"/>
                <a:cs typeface="Trebuchet MS"/>
              </a:rPr>
              <a:t>&lt;</a:t>
            </a:r>
            <a:r>
              <a:rPr lang="es-ES" sz="2800" b="1" spc="-88" dirty="0" err="1">
                <a:solidFill>
                  <a:srgbClr val="393939"/>
                </a:solidFill>
                <a:latin typeface="Consolas" panose="020B0609020204030204" pitchFamily="49" charset="0"/>
                <a:cs typeface="Trebuchet MS"/>
              </a:rPr>
              <a:t>button</a:t>
            </a:r>
            <a:r>
              <a:rPr lang="es-ES" sz="2800" b="1" spc="-137" dirty="0">
                <a:solidFill>
                  <a:srgbClr val="393939"/>
                </a:solidFill>
                <a:latin typeface="Consolas" panose="020B0609020204030204" pitchFamily="49" charset="0"/>
                <a:cs typeface="Trebuchet MS"/>
              </a:rPr>
              <a:t> </a:t>
            </a:r>
            <a:r>
              <a:rPr lang="es-ES" sz="2800" b="1" spc="-105" dirty="0">
                <a:solidFill>
                  <a:srgbClr val="393939"/>
                </a:solidFill>
                <a:latin typeface="Consolas" panose="020B0609020204030204" pitchFamily="49" charset="0"/>
                <a:cs typeface="Trebuchet MS"/>
              </a:rPr>
              <a:t>(</a:t>
            </a:r>
            <a:r>
              <a:rPr lang="es-ES" sz="2800" b="1" spc="-105" dirty="0" err="1">
                <a:solidFill>
                  <a:srgbClr val="393939"/>
                </a:solidFill>
                <a:latin typeface="Consolas" panose="020B0609020204030204" pitchFamily="49" charset="0"/>
                <a:cs typeface="Trebuchet MS"/>
              </a:rPr>
              <a:t>click</a:t>
            </a:r>
            <a:r>
              <a:rPr lang="es-ES" sz="2800" b="1" spc="-105" dirty="0">
                <a:solidFill>
                  <a:srgbClr val="393939"/>
                </a:solidFill>
                <a:latin typeface="Consolas" panose="020B0609020204030204" pitchFamily="49" charset="0"/>
                <a:cs typeface="Trebuchet MS"/>
              </a:rPr>
              <a:t>)="</a:t>
            </a:r>
            <a:r>
              <a:rPr lang="es-ES" sz="2800" b="1" spc="-105" dirty="0" err="1">
                <a:solidFill>
                  <a:srgbClr val="393939"/>
                </a:solidFill>
                <a:latin typeface="Consolas" panose="020B0609020204030204" pitchFamily="49" charset="0"/>
                <a:cs typeface="Trebuchet MS"/>
              </a:rPr>
              <a:t>foo</a:t>
            </a:r>
            <a:r>
              <a:rPr lang="es-ES" sz="2800" b="1" spc="-105" dirty="0">
                <a:solidFill>
                  <a:srgbClr val="393939"/>
                </a:solidFill>
                <a:latin typeface="Consolas" panose="020B0609020204030204" pitchFamily="49" charset="0"/>
                <a:cs typeface="Trebuchet MS"/>
              </a:rPr>
              <a:t>()"&gt;&lt;/  </a:t>
            </a:r>
            <a:r>
              <a:rPr lang="es-ES" sz="2800" b="1" spc="-88" dirty="0" err="1">
                <a:solidFill>
                  <a:srgbClr val="393939"/>
                </a:solidFill>
                <a:latin typeface="Consolas" panose="020B0609020204030204" pitchFamily="49" charset="0"/>
                <a:cs typeface="Trebuchet MS"/>
              </a:rPr>
              <a:t>button</a:t>
            </a:r>
            <a:r>
              <a:rPr lang="es-ES" sz="2800" b="1" spc="-88" dirty="0">
                <a:solidFill>
                  <a:srgbClr val="393939"/>
                </a:solidFill>
                <a:latin typeface="Consolas" panose="020B0609020204030204" pitchFamily="49" charset="0"/>
                <a:cs typeface="Trebuchet MS"/>
              </a:rPr>
              <a:t>&gt;</a:t>
            </a:r>
          </a:p>
          <a:p>
            <a:pPr marL="630292" lvl="1" indent="-164300">
              <a:tabLst>
                <a:tab pos="173229" algn="l"/>
              </a:tabLst>
            </a:pPr>
            <a:endParaRPr lang="es-ES" sz="3000" dirty="0">
              <a:latin typeface="Trebuchet MS"/>
              <a:cs typeface="Trebuchet MS"/>
            </a:endParaRPr>
          </a:p>
          <a:p>
            <a:pPr marL="923192" marR="1733637" lvl="1" indent="-457200">
              <a:lnSpc>
                <a:spcPct val="111000"/>
              </a:lnSpc>
              <a:spcBef>
                <a:spcPts val="7"/>
              </a:spcBef>
              <a:tabLst>
                <a:tab pos="173229" algn="l"/>
              </a:tabLst>
            </a:pPr>
            <a:r>
              <a:rPr lang="es-ES" sz="3000" spc="67" dirty="0">
                <a:solidFill>
                  <a:srgbClr val="393939"/>
                </a:solidFill>
                <a:latin typeface="Tahoma"/>
                <a:cs typeface="Tahoma"/>
              </a:rPr>
              <a:t>La forma canónica es </a:t>
            </a:r>
            <a:r>
              <a:rPr lang="es-ES" sz="3000" b="1" spc="-67" dirty="0" err="1">
                <a:solidFill>
                  <a:srgbClr val="393939"/>
                </a:solidFill>
                <a:latin typeface="Trebuchet MS"/>
                <a:cs typeface="Trebuchet MS"/>
              </a:rPr>
              <a:t>on-event</a:t>
            </a:r>
            <a:r>
              <a:rPr lang="es-ES" sz="3000" b="1" spc="-141" dirty="0">
                <a:solidFill>
                  <a:srgbClr val="393939"/>
                </a:solidFill>
                <a:latin typeface="Trebuchet MS"/>
                <a:cs typeface="Trebuchet MS"/>
              </a:rPr>
              <a:t> </a:t>
            </a:r>
          </a:p>
          <a:p>
            <a:pPr marL="465992" marR="1733637" lvl="1" indent="0">
              <a:lnSpc>
                <a:spcPct val="111000"/>
              </a:lnSpc>
              <a:spcBef>
                <a:spcPts val="7"/>
              </a:spcBef>
              <a:buNone/>
              <a:tabLst>
                <a:tab pos="173229" algn="l"/>
              </a:tabLst>
            </a:pPr>
            <a:r>
              <a:rPr lang="es-ES" sz="3000" spc="-35" dirty="0">
                <a:solidFill>
                  <a:srgbClr val="393939"/>
                </a:solidFill>
                <a:latin typeface="Tahoma"/>
                <a:cs typeface="Tahoma"/>
              </a:rPr>
              <a:t>		</a:t>
            </a:r>
            <a:r>
              <a:rPr lang="es-ES" sz="2000" spc="-35" dirty="0" err="1">
                <a:solidFill>
                  <a:srgbClr val="393939"/>
                </a:solidFill>
                <a:latin typeface="Tahoma"/>
                <a:cs typeface="Tahoma"/>
              </a:rPr>
              <a:t>e.g</a:t>
            </a:r>
            <a:r>
              <a:rPr lang="es-ES" sz="2000" spc="-35" dirty="0">
                <a:solidFill>
                  <a:srgbClr val="393939"/>
                </a:solidFill>
                <a:latin typeface="Tahoma"/>
                <a:cs typeface="Tahoma"/>
              </a:rPr>
              <a:t>.</a:t>
            </a:r>
            <a:r>
              <a:rPr lang="es-ES" sz="2000" spc="-165" dirty="0">
                <a:solidFill>
                  <a:srgbClr val="393939"/>
                </a:solidFill>
                <a:latin typeface="Tahoma"/>
                <a:cs typeface="Tahoma"/>
              </a:rPr>
              <a:t> </a:t>
            </a:r>
            <a:r>
              <a:rPr lang="es-ES" sz="2800" b="1" spc="-88" dirty="0">
                <a:solidFill>
                  <a:srgbClr val="393939"/>
                </a:solidFill>
                <a:latin typeface="Consolas" panose="020B0609020204030204" pitchFamily="49" charset="0"/>
                <a:cs typeface="Trebuchet MS"/>
              </a:rPr>
              <a:t>&lt;</a:t>
            </a:r>
            <a:r>
              <a:rPr lang="es-ES" sz="2800" b="1" spc="-88" dirty="0" err="1">
                <a:solidFill>
                  <a:srgbClr val="393939"/>
                </a:solidFill>
                <a:latin typeface="Consolas" panose="020B0609020204030204" pitchFamily="49" charset="0"/>
                <a:cs typeface="Trebuchet MS"/>
              </a:rPr>
              <a:t>button</a:t>
            </a:r>
            <a:r>
              <a:rPr lang="es-ES" sz="2800" b="1" spc="-137" dirty="0">
                <a:solidFill>
                  <a:srgbClr val="393939"/>
                </a:solidFill>
                <a:latin typeface="Consolas" panose="020B0609020204030204" pitchFamily="49" charset="0"/>
                <a:cs typeface="Trebuchet MS"/>
              </a:rPr>
              <a:t> </a:t>
            </a:r>
            <a:r>
              <a:rPr lang="es-ES" sz="2800" b="1" spc="-4" dirty="0" err="1">
                <a:solidFill>
                  <a:srgbClr val="393939"/>
                </a:solidFill>
                <a:latin typeface="Consolas" panose="020B0609020204030204" pitchFamily="49" charset="0"/>
                <a:cs typeface="Trebuchet MS"/>
              </a:rPr>
              <a:t>on-</a:t>
            </a:r>
            <a:r>
              <a:rPr lang="es-ES" sz="2800" b="1" spc="-105" dirty="0" err="1">
                <a:solidFill>
                  <a:srgbClr val="393939"/>
                </a:solidFill>
                <a:latin typeface="Consolas" panose="020B0609020204030204" pitchFamily="49" charset="0"/>
                <a:cs typeface="Trebuchet MS"/>
              </a:rPr>
              <a:t>click</a:t>
            </a:r>
            <a:r>
              <a:rPr lang="es-ES" sz="2800" b="1" spc="-105" dirty="0">
                <a:solidFill>
                  <a:srgbClr val="393939"/>
                </a:solidFill>
                <a:latin typeface="Consolas" panose="020B0609020204030204" pitchFamily="49" charset="0"/>
                <a:cs typeface="Trebuchet MS"/>
              </a:rPr>
              <a:t>="</a:t>
            </a:r>
            <a:r>
              <a:rPr lang="es-ES" sz="2800" b="1" spc="-105" dirty="0" err="1">
                <a:solidFill>
                  <a:srgbClr val="393939"/>
                </a:solidFill>
                <a:latin typeface="Consolas" panose="020B0609020204030204" pitchFamily="49" charset="0"/>
                <a:cs typeface="Trebuchet MS"/>
              </a:rPr>
              <a:t>foo</a:t>
            </a:r>
            <a:r>
              <a:rPr lang="es-ES" sz="2800" b="1" spc="-105" dirty="0">
                <a:solidFill>
                  <a:srgbClr val="393939"/>
                </a:solidFill>
                <a:latin typeface="Consolas" panose="020B0609020204030204" pitchFamily="49" charset="0"/>
                <a:cs typeface="Trebuchet MS"/>
              </a:rPr>
              <a:t>()"&gt;&lt;/</a:t>
            </a:r>
            <a:r>
              <a:rPr lang="es-ES" sz="2800" b="1" spc="-105" dirty="0" err="1">
                <a:solidFill>
                  <a:srgbClr val="393939"/>
                </a:solidFill>
                <a:latin typeface="Consolas" panose="020B0609020204030204" pitchFamily="49" charset="0"/>
                <a:cs typeface="Trebuchet MS"/>
              </a:rPr>
              <a:t>button</a:t>
            </a:r>
            <a:r>
              <a:rPr lang="es-ES" sz="2800" b="1" spc="-105" dirty="0">
                <a:solidFill>
                  <a:srgbClr val="393939"/>
                </a:solidFill>
                <a:latin typeface="Consolas" panose="020B0609020204030204" pitchFamily="49" charset="0"/>
                <a:cs typeface="Trebuchet MS"/>
              </a:rPr>
              <a:t>&gt;</a:t>
            </a:r>
          </a:p>
          <a:p>
            <a:pPr marL="923055" marR="1733637" lvl="2" indent="0">
              <a:lnSpc>
                <a:spcPct val="111000"/>
              </a:lnSpc>
              <a:spcBef>
                <a:spcPts val="7"/>
              </a:spcBef>
              <a:buNone/>
              <a:tabLst>
                <a:tab pos="173229" algn="l"/>
              </a:tabLst>
            </a:pPr>
            <a:endParaRPr lang="es-ES" sz="2800" dirty="0">
              <a:latin typeface="Trebuchet MS"/>
              <a:cs typeface="Trebuchet MS"/>
            </a:endParaRPr>
          </a:p>
          <a:p>
            <a:pPr marL="923192" lvl="1" indent="-457200">
              <a:spcBef>
                <a:spcPts val="340"/>
              </a:spcBef>
              <a:tabLst>
                <a:tab pos="173229" algn="l"/>
              </a:tabLst>
            </a:pPr>
            <a:r>
              <a:rPr lang="es-ES" sz="3000" spc="21" dirty="0">
                <a:solidFill>
                  <a:srgbClr val="393939"/>
                </a:solidFill>
                <a:latin typeface="Tahoma"/>
                <a:cs typeface="Tahoma"/>
              </a:rPr>
              <a:t>Acceda al objeto del evento dentro del método a través de </a:t>
            </a:r>
            <a:r>
              <a:rPr lang="es-ES" sz="3000" b="1" spc="-91" dirty="0">
                <a:solidFill>
                  <a:srgbClr val="393939"/>
                </a:solidFill>
                <a:latin typeface="Trebuchet MS"/>
                <a:cs typeface="Trebuchet MS"/>
              </a:rPr>
              <a:t>$</a:t>
            </a:r>
            <a:r>
              <a:rPr lang="es-ES" sz="3000" b="1" spc="-91" dirty="0" err="1">
                <a:solidFill>
                  <a:srgbClr val="393939"/>
                </a:solidFill>
                <a:latin typeface="Trebuchet MS"/>
                <a:cs typeface="Trebuchet MS"/>
              </a:rPr>
              <a:t>event</a:t>
            </a:r>
            <a:r>
              <a:rPr lang="es-ES" sz="3000" b="1" spc="-91" dirty="0">
                <a:solidFill>
                  <a:srgbClr val="393939"/>
                </a:solidFill>
                <a:latin typeface="Trebuchet MS"/>
                <a:cs typeface="Trebuchet MS"/>
              </a:rPr>
              <a:t> </a:t>
            </a:r>
          </a:p>
          <a:p>
            <a:pPr marL="923055" lvl="2" indent="0">
              <a:spcBef>
                <a:spcPts val="340"/>
              </a:spcBef>
              <a:buNone/>
              <a:tabLst>
                <a:tab pos="173229" algn="l"/>
              </a:tabLst>
            </a:pPr>
            <a:r>
              <a:rPr lang="es-ES" sz="2400" b="1" spc="-91" dirty="0">
                <a:solidFill>
                  <a:srgbClr val="393939"/>
                </a:solidFill>
                <a:latin typeface="Trebuchet MS"/>
                <a:cs typeface="Trebuchet MS"/>
              </a:rPr>
              <a:t>	</a:t>
            </a:r>
            <a:r>
              <a:rPr lang="es-ES" sz="2000" spc="-35" dirty="0" err="1">
                <a:solidFill>
                  <a:srgbClr val="393939"/>
                </a:solidFill>
                <a:latin typeface="Tahoma"/>
                <a:cs typeface="Tahoma"/>
              </a:rPr>
              <a:t>e.g</a:t>
            </a:r>
            <a:r>
              <a:rPr lang="es-ES" sz="2000" spc="-35" dirty="0">
                <a:solidFill>
                  <a:srgbClr val="393939"/>
                </a:solidFill>
                <a:latin typeface="Tahoma"/>
                <a:cs typeface="Tahoma"/>
              </a:rPr>
              <a:t>. </a:t>
            </a:r>
            <a:r>
              <a:rPr lang="es-ES" sz="2800" b="1" spc="-88" dirty="0">
                <a:solidFill>
                  <a:srgbClr val="393939"/>
                </a:solidFill>
                <a:latin typeface="Consolas" panose="020B0609020204030204" pitchFamily="49" charset="0"/>
                <a:cs typeface="Trebuchet MS"/>
              </a:rPr>
              <a:t>&lt;</a:t>
            </a:r>
            <a:r>
              <a:rPr lang="es-ES" sz="2800" b="1" spc="-88" dirty="0" err="1">
                <a:solidFill>
                  <a:srgbClr val="393939"/>
                </a:solidFill>
                <a:latin typeface="Consolas" panose="020B0609020204030204" pitchFamily="49" charset="0"/>
                <a:cs typeface="Trebuchet MS"/>
              </a:rPr>
              <a:t>button</a:t>
            </a:r>
            <a:r>
              <a:rPr lang="es-ES" sz="2800" b="1" spc="-323" dirty="0">
                <a:solidFill>
                  <a:srgbClr val="393939"/>
                </a:solidFill>
                <a:latin typeface="Consolas" panose="020B0609020204030204" pitchFamily="49" charset="0"/>
                <a:cs typeface="Trebuchet MS"/>
              </a:rPr>
              <a:t> </a:t>
            </a:r>
            <a:r>
              <a:rPr lang="es-ES" sz="2800" b="1" spc="-95" dirty="0">
                <a:solidFill>
                  <a:srgbClr val="393939"/>
                </a:solidFill>
                <a:latin typeface="Consolas" panose="020B0609020204030204" pitchFamily="49" charset="0"/>
                <a:cs typeface="Trebuchet MS"/>
              </a:rPr>
              <a:t>(</a:t>
            </a:r>
            <a:r>
              <a:rPr lang="es-ES" sz="2800" b="1" spc="-95" dirty="0" err="1">
                <a:solidFill>
                  <a:srgbClr val="393939"/>
                </a:solidFill>
                <a:latin typeface="Consolas" panose="020B0609020204030204" pitchFamily="49" charset="0"/>
                <a:cs typeface="Trebuchet MS"/>
              </a:rPr>
              <a:t>click</a:t>
            </a:r>
            <a:r>
              <a:rPr lang="es-ES" sz="2800" b="1" spc="-95" dirty="0">
                <a:solidFill>
                  <a:srgbClr val="393939"/>
                </a:solidFill>
                <a:latin typeface="Consolas" panose="020B0609020204030204" pitchFamily="49" charset="0"/>
                <a:cs typeface="Trebuchet MS"/>
              </a:rPr>
              <a:t>)="</a:t>
            </a:r>
            <a:r>
              <a:rPr lang="es-ES" sz="2800" b="1" spc="-95" dirty="0" err="1">
                <a:solidFill>
                  <a:srgbClr val="393939"/>
                </a:solidFill>
                <a:latin typeface="Consolas" panose="020B0609020204030204" pitchFamily="49" charset="0"/>
                <a:cs typeface="Trebuchet MS"/>
              </a:rPr>
              <a:t>callFoo</a:t>
            </a:r>
            <a:r>
              <a:rPr lang="es-ES" sz="2800" b="1" spc="-95" dirty="0">
                <a:solidFill>
                  <a:srgbClr val="393939"/>
                </a:solidFill>
                <a:latin typeface="Consolas" panose="020B0609020204030204" pitchFamily="49" charset="0"/>
                <a:cs typeface="Trebuchet MS"/>
              </a:rPr>
              <a:t>($</a:t>
            </a:r>
            <a:r>
              <a:rPr lang="es-ES" sz="2800" b="1" spc="-95" dirty="0" err="1">
                <a:solidFill>
                  <a:srgbClr val="393939"/>
                </a:solidFill>
                <a:latin typeface="Consolas" panose="020B0609020204030204" pitchFamily="49" charset="0"/>
                <a:cs typeface="Trebuchet MS"/>
              </a:rPr>
              <a:t>event</a:t>
            </a:r>
            <a:r>
              <a:rPr lang="es-ES" sz="2800" b="1" spc="-95" dirty="0">
                <a:solidFill>
                  <a:srgbClr val="393939"/>
                </a:solidFill>
                <a:latin typeface="Consolas" panose="020B0609020204030204" pitchFamily="49" charset="0"/>
                <a:cs typeface="Trebuchet MS"/>
              </a:rPr>
              <a:t>)"&gt;&lt;/</a:t>
            </a:r>
            <a:r>
              <a:rPr lang="es-ES" sz="2800" b="1" spc="-95" dirty="0" err="1">
                <a:solidFill>
                  <a:srgbClr val="393939"/>
                </a:solidFill>
                <a:latin typeface="Consolas" panose="020B0609020204030204" pitchFamily="49" charset="0"/>
                <a:cs typeface="Trebuchet MS"/>
              </a:rPr>
              <a:t>button</a:t>
            </a:r>
            <a:r>
              <a:rPr lang="es-ES" sz="2800" b="1" spc="-95" dirty="0">
                <a:solidFill>
                  <a:srgbClr val="393939"/>
                </a:solidFill>
                <a:latin typeface="Consolas" panose="020B0609020204030204" pitchFamily="49" charset="0"/>
                <a:cs typeface="Trebuchet MS"/>
              </a:rPr>
              <a:t>&gt;</a:t>
            </a:r>
            <a:endParaRPr lang="es-ES" sz="2800" dirty="0">
              <a:latin typeface="Consolas" panose="020B0609020204030204" pitchFamily="49" charset="0"/>
              <a:cs typeface="Trebuchet MS"/>
            </a:endParaRP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943060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4B4530-A533-4E59-9EC0-0E4565634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 err="1"/>
              <a:t>Binding</a:t>
            </a:r>
            <a:r>
              <a:rPr lang="es-ES" dirty="0"/>
              <a:t> de eventos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3D2BC1D8-2A6B-4C93-AEF0-88D8A34773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74874" y="2209800"/>
            <a:ext cx="7839075" cy="3062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30804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1718865" y="5929312"/>
            <a:ext cx="9099947" cy="7789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lang="es-ES" sz="5062" b="1" spc="-155" dirty="0" err="1">
                <a:solidFill>
                  <a:srgbClr val="53585F"/>
                </a:solidFill>
                <a:latin typeface="Trebuchet MS"/>
                <a:cs typeface="Trebuchet MS"/>
              </a:rPr>
              <a:t>Binding</a:t>
            </a:r>
            <a:r>
              <a:rPr lang="es-ES" sz="5062" b="1" spc="-155" dirty="0">
                <a:solidFill>
                  <a:srgbClr val="53585F"/>
                </a:solidFill>
                <a:latin typeface="Trebuchet MS"/>
                <a:cs typeface="Trebuchet MS"/>
              </a:rPr>
              <a:t> de eventos</a:t>
            </a:r>
            <a:endParaRPr lang="es-ES" sz="5062" dirty="0">
              <a:latin typeface="Trebuchet MS"/>
              <a:cs typeface="Trebuchet MS"/>
            </a:endParaRPr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C3231634-C38E-4723-9080-4E6F9036565B}"/>
              </a:ext>
            </a:extLst>
          </p:cNvPr>
          <p:cNvSpPr/>
          <p:nvPr/>
        </p:nvSpPr>
        <p:spPr>
          <a:xfrm>
            <a:off x="1715293" y="3281660"/>
            <a:ext cx="7827764" cy="294680"/>
          </a:xfrm>
          <a:custGeom>
            <a:avLst/>
            <a:gdLst/>
            <a:ahLst/>
            <a:cxnLst/>
            <a:rect l="l" t="t" r="r" b="b"/>
            <a:pathLst>
              <a:path w="11132820" h="419100">
                <a:moveTo>
                  <a:pt x="0" y="0"/>
                </a:moveTo>
                <a:lnTo>
                  <a:pt x="11132642" y="0"/>
                </a:lnTo>
                <a:lnTo>
                  <a:pt x="11132642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F1A83AF5-3F62-44A0-A8DD-9D2A2D6FD00C}"/>
              </a:ext>
            </a:extLst>
          </p:cNvPr>
          <p:cNvSpPr txBox="1">
            <a:spLocks/>
          </p:cNvSpPr>
          <p:nvPr/>
        </p:nvSpPr>
        <p:spPr>
          <a:xfrm>
            <a:off x="1709936" y="3271680"/>
            <a:ext cx="1072009" cy="30303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39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929">
              <a:lnSpc>
                <a:spcPct val="100000"/>
              </a:lnSpc>
            </a:pPr>
            <a:r>
              <a:rPr lang="es-ES" sz="1969" spc="-4">
                <a:solidFill>
                  <a:srgbClr val="B7C4D1"/>
                </a:solidFill>
                <a:latin typeface="Lucida Console"/>
                <a:cs typeface="Lucida Console"/>
              </a:rPr>
              <a:t>&lt;</a:t>
            </a:r>
            <a:r>
              <a:rPr lang="es-ES" sz="1969" b="1" spc="-4">
                <a:solidFill>
                  <a:srgbClr val="D78B40"/>
                </a:solidFill>
                <a:latin typeface="Lucida Sans Typewriter"/>
                <a:cs typeface="Lucida Sans Typewriter"/>
              </a:rPr>
              <a:t>button</a:t>
            </a:r>
            <a:endParaRPr lang="es-ES" sz="1969">
              <a:latin typeface="Lucida Sans Typewriter"/>
              <a:cs typeface="Lucida Sans Typewriter"/>
            </a:endParaRPr>
          </a:p>
        </p:txBody>
      </p:sp>
      <p:sp>
        <p:nvSpPr>
          <p:cNvPr id="10" name="object 4">
            <a:extLst>
              <a:ext uri="{FF2B5EF4-FFF2-40B4-BE49-F238E27FC236}">
                <a16:creationId xmlns:a16="http://schemas.microsoft.com/office/drawing/2014/main" id="{726C4870-C5DE-4B24-9B7A-FC352AD58260}"/>
              </a:ext>
            </a:extLst>
          </p:cNvPr>
          <p:cNvSpPr txBox="1"/>
          <p:nvPr/>
        </p:nvSpPr>
        <p:spPr>
          <a:xfrm>
            <a:off x="2914184" y="3268266"/>
            <a:ext cx="4684514" cy="3030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969" spc="-4" dirty="0">
                <a:solidFill>
                  <a:srgbClr val="FF0000"/>
                </a:solidFill>
                <a:latin typeface="Lucida Console"/>
                <a:cs typeface="Lucida Console"/>
              </a:rPr>
              <a:t>(click)=</a:t>
            </a:r>
            <a:r>
              <a:rPr lang="es-ES" sz="1969" spc="-4" dirty="0">
                <a:solidFill>
                  <a:srgbClr val="FF0000"/>
                </a:solidFill>
                <a:latin typeface="Lucida Console"/>
                <a:cs typeface="Lucida Console"/>
              </a:rPr>
              <a:t>"</a:t>
            </a:r>
            <a:r>
              <a:rPr sz="1969" spc="-4" dirty="0" err="1">
                <a:solidFill>
                  <a:srgbClr val="FF0000"/>
                </a:solidFill>
                <a:latin typeface="Lucida Console"/>
                <a:cs typeface="Lucida Console"/>
              </a:rPr>
              <a:t>alertTheWorld</a:t>
            </a:r>
            <a:r>
              <a:rPr sz="1969" spc="-4" dirty="0">
                <a:solidFill>
                  <a:srgbClr val="FF0000"/>
                </a:solidFill>
                <a:latin typeface="Lucida Console"/>
                <a:cs typeface="Lucida Console"/>
              </a:rPr>
              <a:t>()</a:t>
            </a:r>
            <a:r>
              <a:rPr lang="es-ES" sz="1969" spc="-4" dirty="0">
                <a:solidFill>
                  <a:srgbClr val="FF0000"/>
                </a:solidFill>
                <a:latin typeface="Lucida Console"/>
                <a:cs typeface="Lucida Console"/>
              </a:rPr>
              <a:t>"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&gt;Click</a:t>
            </a:r>
            <a:endParaRPr sz="1969" dirty="0">
              <a:latin typeface="Lucida Console"/>
              <a:cs typeface="Lucida Console"/>
            </a:endParaRPr>
          </a:p>
        </p:txBody>
      </p:sp>
      <p:sp>
        <p:nvSpPr>
          <p:cNvPr id="11" name="object 5">
            <a:extLst>
              <a:ext uri="{FF2B5EF4-FFF2-40B4-BE49-F238E27FC236}">
                <a16:creationId xmlns:a16="http://schemas.microsoft.com/office/drawing/2014/main" id="{9AA9EBA9-04E0-4A43-B0A3-39CF2DFF4ADA}"/>
              </a:ext>
            </a:extLst>
          </p:cNvPr>
          <p:cNvSpPr txBox="1"/>
          <p:nvPr/>
        </p:nvSpPr>
        <p:spPr>
          <a:xfrm>
            <a:off x="7731282" y="3268266"/>
            <a:ext cx="1824335" cy="3030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me!&lt;/</a:t>
            </a:r>
            <a:r>
              <a:rPr sz="1969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button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&gt;</a:t>
            </a:r>
            <a:endParaRPr sz="1969">
              <a:latin typeface="Lucida Console"/>
              <a:cs typeface="Lucida Console"/>
            </a:endParaRPr>
          </a:p>
        </p:txBody>
      </p:sp>
    </p:spTree>
    <p:extLst>
      <p:ext uri="{BB962C8B-B14F-4D97-AF65-F5344CB8AC3E}">
        <p14:creationId xmlns:p14="http://schemas.microsoft.com/office/powerpoint/2010/main" val="387463826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1" y="0"/>
            <a:ext cx="12188825" cy="6858000"/>
          </a:xfrm>
          <a:custGeom>
            <a:avLst/>
            <a:gdLst/>
            <a:ahLst/>
            <a:cxnLst/>
            <a:rect l="l" t="t" r="r" b="b"/>
            <a:pathLst>
              <a:path w="13004800" h="9753600">
                <a:moveTo>
                  <a:pt x="0" y="0"/>
                </a:moveTo>
                <a:lnTo>
                  <a:pt x="13004800" y="0"/>
                </a:lnTo>
                <a:lnTo>
                  <a:pt x="13004800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3" name="object 3"/>
          <p:cNvSpPr/>
          <p:nvPr/>
        </p:nvSpPr>
        <p:spPr>
          <a:xfrm>
            <a:off x="1715293" y="1071562"/>
            <a:ext cx="2709714" cy="294680"/>
          </a:xfrm>
          <a:custGeom>
            <a:avLst/>
            <a:gdLst/>
            <a:ahLst/>
            <a:cxnLst/>
            <a:rect l="l" t="t" r="r" b="b"/>
            <a:pathLst>
              <a:path w="3853815" h="419100">
                <a:moveTo>
                  <a:pt x="0" y="0"/>
                </a:moveTo>
                <a:lnTo>
                  <a:pt x="3853611" y="0"/>
                </a:lnTo>
                <a:lnTo>
                  <a:pt x="3853611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4" name="object 4"/>
          <p:cNvSpPr/>
          <p:nvPr/>
        </p:nvSpPr>
        <p:spPr>
          <a:xfrm>
            <a:off x="1715293" y="1366242"/>
            <a:ext cx="2258318" cy="294680"/>
          </a:xfrm>
          <a:custGeom>
            <a:avLst/>
            <a:gdLst/>
            <a:ahLst/>
            <a:cxnLst/>
            <a:rect l="l" t="t" r="r" b="b"/>
            <a:pathLst>
              <a:path w="3211829" h="419100">
                <a:moveTo>
                  <a:pt x="0" y="0"/>
                </a:moveTo>
                <a:lnTo>
                  <a:pt x="3211334" y="0"/>
                </a:lnTo>
                <a:lnTo>
                  <a:pt x="3211334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5" name="object 5"/>
          <p:cNvSpPr/>
          <p:nvPr/>
        </p:nvSpPr>
        <p:spPr>
          <a:xfrm>
            <a:off x="1715293" y="1660922"/>
            <a:ext cx="752773" cy="294680"/>
          </a:xfrm>
          <a:custGeom>
            <a:avLst/>
            <a:gdLst/>
            <a:ahLst/>
            <a:cxnLst/>
            <a:rect l="l" t="t" r="r" b="b"/>
            <a:pathLst>
              <a:path w="1070610" h="419100">
                <a:moveTo>
                  <a:pt x="0" y="0"/>
                </a:moveTo>
                <a:lnTo>
                  <a:pt x="1070444" y="0"/>
                </a:lnTo>
                <a:lnTo>
                  <a:pt x="1070444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6" name="object 6"/>
          <p:cNvSpPr/>
          <p:nvPr/>
        </p:nvSpPr>
        <p:spPr>
          <a:xfrm>
            <a:off x="1715293" y="1955601"/>
            <a:ext cx="7074991" cy="294680"/>
          </a:xfrm>
          <a:custGeom>
            <a:avLst/>
            <a:gdLst/>
            <a:ahLst/>
            <a:cxnLst/>
            <a:rect l="l" t="t" r="r" b="b"/>
            <a:pathLst>
              <a:path w="10062210" h="419100">
                <a:moveTo>
                  <a:pt x="0" y="0"/>
                </a:moveTo>
                <a:lnTo>
                  <a:pt x="10062197" y="0"/>
                </a:lnTo>
                <a:lnTo>
                  <a:pt x="10062197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7" name="object 7"/>
          <p:cNvSpPr/>
          <p:nvPr/>
        </p:nvSpPr>
        <p:spPr>
          <a:xfrm>
            <a:off x="1715293" y="2250281"/>
            <a:ext cx="6172200" cy="294680"/>
          </a:xfrm>
          <a:custGeom>
            <a:avLst/>
            <a:gdLst/>
            <a:ahLst/>
            <a:cxnLst/>
            <a:rect l="l" t="t" r="r" b="b"/>
            <a:pathLst>
              <a:path w="8778240" h="419100">
                <a:moveTo>
                  <a:pt x="0" y="0"/>
                </a:moveTo>
                <a:lnTo>
                  <a:pt x="8777655" y="0"/>
                </a:lnTo>
                <a:lnTo>
                  <a:pt x="8777655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8" name="object 8"/>
          <p:cNvSpPr/>
          <p:nvPr/>
        </p:nvSpPr>
        <p:spPr>
          <a:xfrm>
            <a:off x="1715293" y="2544961"/>
            <a:ext cx="752773" cy="294680"/>
          </a:xfrm>
          <a:custGeom>
            <a:avLst/>
            <a:gdLst/>
            <a:ahLst/>
            <a:cxnLst/>
            <a:rect l="l" t="t" r="r" b="b"/>
            <a:pathLst>
              <a:path w="1070610" h="419100">
                <a:moveTo>
                  <a:pt x="0" y="0"/>
                </a:moveTo>
                <a:lnTo>
                  <a:pt x="1070444" y="0"/>
                </a:lnTo>
                <a:lnTo>
                  <a:pt x="1070444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9" name="object 9"/>
          <p:cNvSpPr/>
          <p:nvPr/>
        </p:nvSpPr>
        <p:spPr>
          <a:xfrm>
            <a:off x="1715293" y="2839640"/>
            <a:ext cx="752773" cy="294680"/>
          </a:xfrm>
          <a:custGeom>
            <a:avLst/>
            <a:gdLst/>
            <a:ahLst/>
            <a:cxnLst/>
            <a:rect l="l" t="t" r="r" b="b"/>
            <a:pathLst>
              <a:path w="1070610" h="419100">
                <a:moveTo>
                  <a:pt x="0" y="0"/>
                </a:moveTo>
                <a:lnTo>
                  <a:pt x="1070444" y="0"/>
                </a:lnTo>
                <a:lnTo>
                  <a:pt x="1070444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0" name="object 10"/>
          <p:cNvSpPr/>
          <p:nvPr/>
        </p:nvSpPr>
        <p:spPr>
          <a:xfrm>
            <a:off x="1715293" y="3134320"/>
            <a:ext cx="8128695" cy="294680"/>
          </a:xfrm>
          <a:custGeom>
            <a:avLst/>
            <a:gdLst/>
            <a:ahLst/>
            <a:cxnLst/>
            <a:rect l="l" t="t" r="r" b="b"/>
            <a:pathLst>
              <a:path w="11560810" h="419100">
                <a:moveTo>
                  <a:pt x="0" y="0"/>
                </a:moveTo>
                <a:lnTo>
                  <a:pt x="11560822" y="0"/>
                </a:lnTo>
                <a:lnTo>
                  <a:pt x="11560822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1" name="object 11"/>
          <p:cNvSpPr/>
          <p:nvPr/>
        </p:nvSpPr>
        <p:spPr>
          <a:xfrm>
            <a:off x="1715294" y="3429000"/>
            <a:ext cx="4215259" cy="294680"/>
          </a:xfrm>
          <a:custGeom>
            <a:avLst/>
            <a:gdLst/>
            <a:ahLst/>
            <a:cxnLst/>
            <a:rect l="l" t="t" r="r" b="b"/>
            <a:pathLst>
              <a:path w="5995035" h="419100">
                <a:moveTo>
                  <a:pt x="0" y="0"/>
                </a:moveTo>
                <a:lnTo>
                  <a:pt x="5994501" y="0"/>
                </a:lnTo>
                <a:lnTo>
                  <a:pt x="5994501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2" name="object 12"/>
          <p:cNvSpPr/>
          <p:nvPr/>
        </p:nvSpPr>
        <p:spPr>
          <a:xfrm>
            <a:off x="1715293" y="3723680"/>
            <a:ext cx="3312021" cy="294680"/>
          </a:xfrm>
          <a:custGeom>
            <a:avLst/>
            <a:gdLst/>
            <a:ahLst/>
            <a:cxnLst/>
            <a:rect l="l" t="t" r="r" b="b"/>
            <a:pathLst>
              <a:path w="4710430" h="419100">
                <a:moveTo>
                  <a:pt x="0" y="0"/>
                </a:moveTo>
                <a:lnTo>
                  <a:pt x="4709960" y="0"/>
                </a:lnTo>
                <a:lnTo>
                  <a:pt x="470996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3" name="object 13"/>
          <p:cNvSpPr/>
          <p:nvPr/>
        </p:nvSpPr>
        <p:spPr>
          <a:xfrm>
            <a:off x="1715293" y="4018359"/>
            <a:ext cx="7526834" cy="294680"/>
          </a:xfrm>
          <a:custGeom>
            <a:avLst/>
            <a:gdLst/>
            <a:ahLst/>
            <a:cxnLst/>
            <a:rect l="l" t="t" r="r" b="b"/>
            <a:pathLst>
              <a:path w="10704830" h="419100">
                <a:moveTo>
                  <a:pt x="0" y="0"/>
                </a:moveTo>
                <a:lnTo>
                  <a:pt x="10704461" y="0"/>
                </a:lnTo>
                <a:lnTo>
                  <a:pt x="10704461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4" name="object 14"/>
          <p:cNvSpPr/>
          <p:nvPr/>
        </p:nvSpPr>
        <p:spPr>
          <a:xfrm>
            <a:off x="1715293" y="4313039"/>
            <a:ext cx="5569893" cy="294680"/>
          </a:xfrm>
          <a:custGeom>
            <a:avLst/>
            <a:gdLst/>
            <a:ahLst/>
            <a:cxnLst/>
            <a:rect l="l" t="t" r="r" b="b"/>
            <a:pathLst>
              <a:path w="7921625" h="419100">
                <a:moveTo>
                  <a:pt x="0" y="0"/>
                </a:moveTo>
                <a:lnTo>
                  <a:pt x="7921307" y="0"/>
                </a:lnTo>
                <a:lnTo>
                  <a:pt x="7921307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5" name="object 15"/>
          <p:cNvSpPr/>
          <p:nvPr/>
        </p:nvSpPr>
        <p:spPr>
          <a:xfrm>
            <a:off x="1715294" y="4607719"/>
            <a:ext cx="7978229" cy="294680"/>
          </a:xfrm>
          <a:custGeom>
            <a:avLst/>
            <a:gdLst/>
            <a:ahLst/>
            <a:cxnLst/>
            <a:rect l="l" t="t" r="r" b="b"/>
            <a:pathLst>
              <a:path w="11346815" h="419100">
                <a:moveTo>
                  <a:pt x="0" y="0"/>
                </a:moveTo>
                <a:lnTo>
                  <a:pt x="11346726" y="0"/>
                </a:lnTo>
                <a:lnTo>
                  <a:pt x="11346726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6" name="object 16"/>
          <p:cNvSpPr/>
          <p:nvPr/>
        </p:nvSpPr>
        <p:spPr>
          <a:xfrm>
            <a:off x="1715294" y="4902398"/>
            <a:ext cx="1956941" cy="294680"/>
          </a:xfrm>
          <a:custGeom>
            <a:avLst/>
            <a:gdLst/>
            <a:ahLst/>
            <a:cxnLst/>
            <a:rect l="l" t="t" r="r" b="b"/>
            <a:pathLst>
              <a:path w="2783205" h="419100">
                <a:moveTo>
                  <a:pt x="0" y="0"/>
                </a:moveTo>
                <a:lnTo>
                  <a:pt x="2783154" y="0"/>
                </a:lnTo>
                <a:lnTo>
                  <a:pt x="2783154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7" name="object 17"/>
          <p:cNvSpPr/>
          <p:nvPr/>
        </p:nvSpPr>
        <p:spPr>
          <a:xfrm>
            <a:off x="1715294" y="5197078"/>
            <a:ext cx="1355080" cy="294680"/>
          </a:xfrm>
          <a:custGeom>
            <a:avLst/>
            <a:gdLst/>
            <a:ahLst/>
            <a:cxnLst/>
            <a:rect l="l" t="t" r="r" b="b"/>
            <a:pathLst>
              <a:path w="1927225" h="419100">
                <a:moveTo>
                  <a:pt x="0" y="0"/>
                </a:moveTo>
                <a:lnTo>
                  <a:pt x="1926805" y="0"/>
                </a:lnTo>
                <a:lnTo>
                  <a:pt x="1926805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8" name="object 18"/>
          <p:cNvSpPr/>
          <p:nvPr/>
        </p:nvSpPr>
        <p:spPr>
          <a:xfrm>
            <a:off x="1715294" y="5491758"/>
            <a:ext cx="903238" cy="294680"/>
          </a:xfrm>
          <a:custGeom>
            <a:avLst/>
            <a:gdLst/>
            <a:ahLst/>
            <a:cxnLst/>
            <a:rect l="l" t="t" r="r" b="b"/>
            <a:pathLst>
              <a:path w="1284605" h="419100">
                <a:moveTo>
                  <a:pt x="0" y="0"/>
                </a:moveTo>
                <a:lnTo>
                  <a:pt x="1284541" y="0"/>
                </a:lnTo>
                <a:lnTo>
                  <a:pt x="1284541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1709936" y="1057118"/>
            <a:ext cx="2727573" cy="30303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8929">
              <a:lnSpc>
                <a:spcPct val="100000"/>
              </a:lnSpc>
            </a:pP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&lt;</a:t>
            </a:r>
            <a:r>
              <a:rPr sz="1969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h1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&gt;{{title}}&lt;/</a:t>
            </a:r>
            <a:r>
              <a:rPr sz="1969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h1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&gt;</a:t>
            </a:r>
            <a:endParaRPr sz="1969">
              <a:latin typeface="Lucida Console"/>
              <a:cs typeface="Lucida Consol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709936" y="1348383"/>
            <a:ext cx="7093297" cy="1769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>
              <a:lnSpc>
                <a:spcPts val="2341"/>
              </a:lnSpc>
            </a:pP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&lt;</a:t>
            </a:r>
            <a:r>
              <a:rPr sz="1969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p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&gt;{{body}}&lt;/</a:t>
            </a:r>
            <a:r>
              <a:rPr sz="1969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p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&gt;</a:t>
            </a:r>
            <a:endParaRPr sz="1969" dirty="0">
              <a:latin typeface="Lucida Console"/>
              <a:cs typeface="Lucida Console"/>
            </a:endParaRPr>
          </a:p>
          <a:p>
            <a:pPr marL="8929">
              <a:lnSpc>
                <a:spcPts val="2320"/>
              </a:lnSpc>
            </a:pP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&lt;</a:t>
            </a:r>
            <a:r>
              <a:rPr sz="1969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hr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/&gt;</a:t>
            </a:r>
            <a:endParaRPr sz="1969" dirty="0">
              <a:latin typeface="Lucida Console"/>
              <a:cs typeface="Lucida Console"/>
            </a:endParaRPr>
          </a:p>
          <a:p>
            <a:pPr marL="309849" marR="3572" indent="-301366">
              <a:lnSpc>
                <a:spcPts val="2320"/>
              </a:lnSpc>
              <a:spcBef>
                <a:spcPts val="91"/>
              </a:spcBef>
            </a:pP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&lt;</a:t>
            </a:r>
            <a:r>
              <a:rPr sz="1969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experiment 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*</a:t>
            </a:r>
            <a:r>
              <a:rPr sz="1969" spc="-4" dirty="0" err="1">
                <a:solidFill>
                  <a:srgbClr val="B7C4D1"/>
                </a:solidFill>
                <a:latin typeface="Lucida Console"/>
                <a:cs typeface="Lucida Console"/>
              </a:rPr>
              <a:t>ngFor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=</a:t>
            </a:r>
            <a:r>
              <a:rPr lang="es-ES"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"</a:t>
            </a:r>
            <a:r>
              <a:rPr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#experiment of experiments</a:t>
            </a:r>
            <a:r>
              <a:rPr lang="es-ES"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"</a:t>
            </a:r>
            <a:r>
              <a:rPr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  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[experiment]=</a:t>
            </a:r>
            <a:r>
              <a:rPr lang="es-ES"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"</a:t>
            </a:r>
            <a:r>
              <a:rPr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experiment</a:t>
            </a:r>
            <a:r>
              <a:rPr lang="es-ES"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"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&gt;&lt;/</a:t>
            </a:r>
            <a:r>
              <a:rPr sz="1969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experiment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&gt;</a:t>
            </a:r>
            <a:endParaRPr sz="1969" dirty="0">
              <a:latin typeface="Lucida Console"/>
              <a:cs typeface="Lucida Console"/>
            </a:endParaRPr>
          </a:p>
          <a:p>
            <a:pPr marL="8929">
              <a:lnSpc>
                <a:spcPts val="2229"/>
              </a:lnSpc>
            </a:pP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&lt;</a:t>
            </a:r>
            <a:r>
              <a:rPr sz="1969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hr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/&gt;</a:t>
            </a:r>
            <a:endParaRPr sz="1969" dirty="0">
              <a:latin typeface="Lucida Console"/>
              <a:cs typeface="Lucida Console"/>
            </a:endParaRPr>
          </a:p>
          <a:p>
            <a:pPr marL="8929">
              <a:lnSpc>
                <a:spcPts val="2341"/>
              </a:lnSpc>
            </a:pP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&lt;</a:t>
            </a:r>
            <a:r>
              <a:rPr sz="1969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div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&gt;</a:t>
            </a:r>
            <a:endParaRPr sz="1969" dirty="0">
              <a:latin typeface="Lucida Console"/>
              <a:cs typeface="Lucida Console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011023" y="3116461"/>
            <a:ext cx="5286821" cy="3030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&lt;</a:t>
            </a:r>
            <a:r>
              <a:rPr sz="1969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h2</a:t>
            </a:r>
            <a:r>
              <a:rPr sz="1969" b="1" dirty="0">
                <a:solidFill>
                  <a:srgbClr val="D78B40"/>
                </a:solidFill>
                <a:latin typeface="Lucida Sans Typewriter"/>
                <a:cs typeface="Lucida Sans Typewriter"/>
              </a:rPr>
              <a:t> 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class=</a:t>
            </a:r>
            <a:r>
              <a:rPr lang="es-ES"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"</a:t>
            </a:r>
            <a:r>
              <a:rPr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text-error</a:t>
            </a:r>
            <a:r>
              <a:rPr lang="es-ES"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"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&gt;Experiments:</a:t>
            </a:r>
            <a:endParaRPr sz="1969" dirty="0">
              <a:latin typeface="Lucida Console"/>
              <a:cs typeface="Lucida Console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430304" y="3116461"/>
            <a:ext cx="2426196" cy="3030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{{message}}&lt;/</a:t>
            </a:r>
            <a:r>
              <a:rPr sz="1969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h2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&gt;</a:t>
            </a:r>
            <a:endParaRPr sz="1969" dirty="0">
              <a:latin typeface="Lucida Console"/>
              <a:cs typeface="Lucida Console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011023" y="3411141"/>
            <a:ext cx="3931741" cy="3030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&lt;</a:t>
            </a:r>
            <a:r>
              <a:rPr sz="1969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form</a:t>
            </a:r>
            <a:r>
              <a:rPr sz="1969" b="1" spc="-21" dirty="0">
                <a:solidFill>
                  <a:srgbClr val="D78B40"/>
                </a:solidFill>
                <a:latin typeface="Lucida Sans Typewriter"/>
                <a:cs typeface="Lucida Sans Typewriter"/>
              </a:rPr>
              <a:t> 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class=</a:t>
            </a:r>
            <a:r>
              <a:rPr lang="es-ES"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"</a:t>
            </a:r>
            <a:r>
              <a:rPr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form-inline</a:t>
            </a:r>
            <a:r>
              <a:rPr lang="es-ES"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"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&gt;</a:t>
            </a:r>
            <a:endParaRPr sz="1969" dirty="0">
              <a:latin typeface="Lucida Console"/>
              <a:cs typeface="Lucida Console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312111" y="3720108"/>
            <a:ext cx="3480346" cy="589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09849" marR="3572" indent="-301366">
              <a:lnSpc>
                <a:spcPts val="2320"/>
              </a:lnSpc>
            </a:pP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&lt;</a:t>
            </a:r>
            <a:r>
              <a:rPr sz="1969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input 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type=</a:t>
            </a:r>
            <a:r>
              <a:rPr lang="es-ES"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"</a:t>
            </a:r>
            <a:r>
              <a:rPr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text</a:t>
            </a:r>
            <a:r>
              <a:rPr lang="es-ES"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"</a:t>
            </a:r>
            <a:r>
              <a:rPr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  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[(</a:t>
            </a:r>
            <a:r>
              <a:rPr sz="1969" spc="-4" dirty="0" err="1">
                <a:solidFill>
                  <a:srgbClr val="B7C4D1"/>
                </a:solidFill>
                <a:latin typeface="Lucida Console"/>
                <a:cs typeface="Lucida Console"/>
              </a:rPr>
              <a:t>ngModel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)]</a:t>
            </a:r>
            <a:r>
              <a:rPr sz="1969" spc="-7" dirty="0">
                <a:solidFill>
                  <a:srgbClr val="B7C4D1"/>
                </a:solidFill>
                <a:latin typeface="Lucida Console"/>
                <a:cs typeface="Lucida Console"/>
              </a:rPr>
              <a:t>=</a:t>
            </a:r>
            <a:r>
              <a:rPr lang="es-ES"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"</a:t>
            </a:r>
            <a:r>
              <a:rPr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message</a:t>
            </a:r>
            <a:r>
              <a:rPr lang="es-ES"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"</a:t>
            </a:r>
            <a:endParaRPr sz="1969" dirty="0">
              <a:latin typeface="Lucida Console"/>
              <a:cs typeface="Lucida Console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924819" y="4000500"/>
            <a:ext cx="3329880" cy="3030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placeholder=</a:t>
            </a:r>
            <a:r>
              <a:rPr lang="es-ES"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"</a:t>
            </a:r>
            <a:r>
              <a:rPr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Message</a:t>
            </a:r>
            <a:r>
              <a:rPr lang="es-ES"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"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&gt;</a:t>
            </a:r>
            <a:endParaRPr sz="1969" dirty="0">
              <a:latin typeface="Lucida Console"/>
              <a:cs typeface="Lucida Console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312111" y="4309468"/>
            <a:ext cx="6189613" cy="589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09849" marR="3572" indent="-301366">
              <a:lnSpc>
                <a:spcPts val="2320"/>
              </a:lnSpc>
            </a:pP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&lt;</a:t>
            </a:r>
            <a:r>
              <a:rPr sz="1969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button 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type=</a:t>
            </a:r>
            <a:r>
              <a:rPr lang="es-ES"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"</a:t>
            </a:r>
            <a:r>
              <a:rPr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submit</a:t>
            </a:r>
            <a:r>
              <a:rPr lang="es-ES"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"</a:t>
            </a:r>
            <a:r>
              <a:rPr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 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class=</a:t>
            </a:r>
            <a:r>
              <a:rPr lang="es-ES"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"</a:t>
            </a:r>
            <a:r>
              <a:rPr sz="1969" spc="-4" dirty="0" err="1">
                <a:solidFill>
                  <a:srgbClr val="7C976C"/>
                </a:solidFill>
                <a:latin typeface="Lucida Console"/>
                <a:cs typeface="Lucida Console"/>
              </a:rPr>
              <a:t>btn</a:t>
            </a:r>
            <a:r>
              <a:rPr lang="es-ES"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"</a:t>
            </a:r>
            <a:r>
              <a:rPr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  </a:t>
            </a:r>
            <a:r>
              <a:rPr sz="1969" spc="-4" dirty="0">
                <a:solidFill>
                  <a:srgbClr val="FF0000"/>
                </a:solidFill>
                <a:latin typeface="Lucida Console"/>
                <a:cs typeface="Lucida Console"/>
              </a:rPr>
              <a:t>(click)=</a:t>
            </a:r>
            <a:r>
              <a:rPr lang="es-ES" sz="1969" spc="-4" dirty="0">
                <a:solidFill>
                  <a:srgbClr val="FF0000"/>
                </a:solidFill>
                <a:latin typeface="Lucida Console"/>
                <a:cs typeface="Lucida Console"/>
              </a:rPr>
              <a:t>"</a:t>
            </a:r>
            <a:r>
              <a:rPr sz="1969" spc="-4" dirty="0" err="1">
                <a:solidFill>
                  <a:srgbClr val="FF0000"/>
                </a:solidFill>
                <a:latin typeface="Lucida Console"/>
                <a:cs typeface="Lucida Console"/>
              </a:rPr>
              <a:t>updateMessage</a:t>
            </a:r>
            <a:r>
              <a:rPr sz="1969" spc="-4" dirty="0">
                <a:solidFill>
                  <a:srgbClr val="FF0000"/>
                </a:solidFill>
                <a:latin typeface="Lucida Console"/>
                <a:cs typeface="Lucida Console"/>
              </a:rPr>
              <a:t>(message)</a:t>
            </a:r>
            <a:r>
              <a:rPr lang="es-ES"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"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&gt;Update</a:t>
            </a:r>
            <a:endParaRPr sz="1969" dirty="0">
              <a:latin typeface="Lucida Console"/>
              <a:cs typeface="Lucida Console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634483" y="4589860"/>
            <a:ext cx="1072009" cy="3030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Message</a:t>
            </a:r>
            <a:endParaRPr sz="1969">
              <a:latin typeface="Lucida Console"/>
              <a:cs typeface="Lucida Console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709936" y="4884539"/>
            <a:ext cx="10251876" cy="16638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769">
              <a:lnSpc>
                <a:spcPts val="2341"/>
              </a:lnSpc>
            </a:pP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&lt;/</a:t>
            </a:r>
            <a:r>
              <a:rPr sz="1969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button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&gt;</a:t>
            </a:r>
            <a:endParaRPr sz="1969" dirty="0">
              <a:latin typeface="Lucida Console"/>
              <a:cs typeface="Lucida Console"/>
            </a:endParaRPr>
          </a:p>
          <a:p>
            <a:pPr marL="309849">
              <a:lnSpc>
                <a:spcPts val="2320"/>
              </a:lnSpc>
            </a:pP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&lt;/</a:t>
            </a:r>
            <a:r>
              <a:rPr sz="1969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form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&gt;</a:t>
            </a:r>
            <a:endParaRPr sz="1969" dirty="0">
              <a:latin typeface="Lucida Console"/>
              <a:cs typeface="Lucida Console"/>
            </a:endParaRPr>
          </a:p>
          <a:p>
            <a:pPr marL="8929">
              <a:lnSpc>
                <a:spcPts val="2341"/>
              </a:lnSpc>
            </a:pP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&lt;/</a:t>
            </a:r>
            <a:r>
              <a:rPr sz="1969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div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&gt;</a:t>
            </a:r>
            <a:endParaRPr sz="1969" dirty="0">
              <a:latin typeface="Lucida Console"/>
              <a:cs typeface="Lucida Console"/>
            </a:endParaRPr>
          </a:p>
          <a:p>
            <a:pPr marL="8929"/>
            <a:r>
              <a:rPr lang="es-ES" sz="5062" b="1" spc="-137" dirty="0" err="1">
                <a:solidFill>
                  <a:srgbClr val="53585F"/>
                </a:solidFill>
                <a:latin typeface="Trebuchet MS"/>
                <a:cs typeface="Trebuchet MS"/>
              </a:rPr>
              <a:t>Binding</a:t>
            </a:r>
            <a:r>
              <a:rPr lang="es-ES" sz="5062" b="1" spc="-137" dirty="0">
                <a:solidFill>
                  <a:srgbClr val="53585F"/>
                </a:solidFill>
                <a:latin typeface="Trebuchet MS"/>
                <a:cs typeface="Trebuchet MS"/>
              </a:rPr>
              <a:t> de eventos con </a:t>
            </a:r>
            <a:r>
              <a:rPr lang="es-ES" sz="5062" b="1" spc="-137" dirty="0" err="1">
                <a:solidFill>
                  <a:srgbClr val="53585F"/>
                </a:solidFill>
                <a:latin typeface="Trebuchet MS"/>
                <a:cs typeface="Trebuchet MS"/>
              </a:rPr>
              <a:t>parametros</a:t>
            </a:r>
            <a:r>
              <a:rPr lang="es-ES" sz="5062" b="1" spc="-137" dirty="0">
                <a:solidFill>
                  <a:srgbClr val="53585F"/>
                </a:solidFill>
                <a:latin typeface="Trebuchet MS"/>
                <a:cs typeface="Trebuchet MS"/>
              </a:rPr>
              <a:t> </a:t>
            </a:r>
            <a:endParaRPr lang="es-ES" sz="5062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9243597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FBFD3CE6-3907-48BE-9D40-4FF356791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Binding</a:t>
            </a:r>
            <a:r>
              <a:rPr lang="es-ES" dirty="0"/>
              <a:t> de dos </a:t>
            </a:r>
            <a:r>
              <a:rPr lang="es-ES" dirty="0" err="1"/>
              <a:t>vias</a:t>
            </a:r>
            <a:endParaRPr lang="es-ES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3E58161-C88F-4137-9D96-5FD076DEF3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99792570"/>
      </p:ext>
    </p:extLst>
  </p:cSld>
  <p:clrMapOvr>
    <a:masterClrMapping/>
  </p:clrMapOvr>
  <p:transition spd="med">
    <p:wipe dir="r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 err="1"/>
              <a:t>Binding</a:t>
            </a:r>
            <a:r>
              <a:rPr lang="es-ES" dirty="0"/>
              <a:t> de dos </a:t>
            </a:r>
            <a:r>
              <a:rPr lang="es-ES" dirty="0" err="1"/>
              <a:t>vias</a:t>
            </a:r>
            <a:endParaRPr lang="es-E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D682303-A760-4F46-A6AD-374D85841A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/>
              <a:t>Realmente es solo una combinación de binding a propiedades y eventos</a:t>
            </a:r>
          </a:p>
          <a:p>
            <a:r>
              <a:rPr lang="es-ES"/>
              <a:t>Usado en conjunto con </a:t>
            </a:r>
            <a:r>
              <a:rPr lang="es-ES" b="1"/>
              <a:t>ngModel</a:t>
            </a:r>
            <a:endParaRPr lang="es-ES"/>
          </a:p>
          <a:p>
            <a:r>
              <a:rPr lang="es-ES"/>
              <a:t>Conocido como "hotdog in a box"</a:t>
            </a:r>
          </a:p>
          <a:p>
            <a:endParaRPr lang="es-ES"/>
          </a:p>
        </p:txBody>
      </p:sp>
      <p:pic>
        <p:nvPicPr>
          <p:cNvPr id="9" name="Shape 347">
            <a:extLst>
              <a:ext uri="{FF2B5EF4-FFF2-40B4-BE49-F238E27FC236}">
                <a16:creationId xmlns:a16="http://schemas.microsoft.com/office/drawing/2014/main" id="{147E065E-9374-4846-B668-E822D6ADB46B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94012" y="3870325"/>
            <a:ext cx="6172200" cy="275907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3909378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15293" y="2553891"/>
            <a:ext cx="2580680" cy="250031"/>
          </a:xfrm>
          <a:custGeom>
            <a:avLst/>
            <a:gdLst/>
            <a:ahLst/>
            <a:cxnLst/>
            <a:rect l="l" t="t" r="r" b="b"/>
            <a:pathLst>
              <a:path w="3670300" h="355600">
                <a:moveTo>
                  <a:pt x="0" y="0"/>
                </a:moveTo>
                <a:lnTo>
                  <a:pt x="3670096" y="0"/>
                </a:lnTo>
                <a:lnTo>
                  <a:pt x="3670096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3" name="object 3"/>
          <p:cNvSpPr/>
          <p:nvPr/>
        </p:nvSpPr>
        <p:spPr>
          <a:xfrm>
            <a:off x="1715293" y="2803922"/>
            <a:ext cx="4387155" cy="250031"/>
          </a:xfrm>
          <a:custGeom>
            <a:avLst/>
            <a:gdLst/>
            <a:ahLst/>
            <a:cxnLst/>
            <a:rect l="l" t="t" r="r" b="b"/>
            <a:pathLst>
              <a:path w="6239509" h="355600">
                <a:moveTo>
                  <a:pt x="0" y="0"/>
                </a:moveTo>
                <a:lnTo>
                  <a:pt x="6239167" y="0"/>
                </a:lnTo>
                <a:lnTo>
                  <a:pt x="6239167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4" name="object 4"/>
          <p:cNvSpPr/>
          <p:nvPr/>
        </p:nvSpPr>
        <p:spPr>
          <a:xfrm>
            <a:off x="1715293" y="3053953"/>
            <a:ext cx="5677495" cy="250031"/>
          </a:xfrm>
          <a:custGeom>
            <a:avLst/>
            <a:gdLst/>
            <a:ahLst/>
            <a:cxnLst/>
            <a:rect l="l" t="t" r="r" b="b"/>
            <a:pathLst>
              <a:path w="8074659" h="355600">
                <a:moveTo>
                  <a:pt x="0" y="0"/>
                </a:moveTo>
                <a:lnTo>
                  <a:pt x="8074228" y="0"/>
                </a:lnTo>
                <a:lnTo>
                  <a:pt x="8074228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5" name="object 5"/>
          <p:cNvSpPr/>
          <p:nvPr/>
        </p:nvSpPr>
        <p:spPr>
          <a:xfrm>
            <a:off x="1715294" y="3303985"/>
            <a:ext cx="6838801" cy="250031"/>
          </a:xfrm>
          <a:custGeom>
            <a:avLst/>
            <a:gdLst/>
            <a:ahLst/>
            <a:cxnLst/>
            <a:rect l="l" t="t" r="r" b="b"/>
            <a:pathLst>
              <a:path w="9726295" h="355600">
                <a:moveTo>
                  <a:pt x="0" y="0"/>
                </a:moveTo>
                <a:lnTo>
                  <a:pt x="9725774" y="0"/>
                </a:lnTo>
                <a:lnTo>
                  <a:pt x="9725774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6" name="object 6"/>
          <p:cNvSpPr/>
          <p:nvPr/>
        </p:nvSpPr>
        <p:spPr>
          <a:xfrm>
            <a:off x="1715293" y="3554016"/>
            <a:ext cx="2709714" cy="250031"/>
          </a:xfrm>
          <a:custGeom>
            <a:avLst/>
            <a:gdLst/>
            <a:ahLst/>
            <a:cxnLst/>
            <a:rect l="l" t="t" r="r" b="b"/>
            <a:pathLst>
              <a:path w="3853815" h="355600">
                <a:moveTo>
                  <a:pt x="0" y="0"/>
                </a:moveTo>
                <a:lnTo>
                  <a:pt x="3853611" y="0"/>
                </a:lnTo>
                <a:lnTo>
                  <a:pt x="3853611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7" name="object 7"/>
          <p:cNvSpPr/>
          <p:nvPr/>
        </p:nvSpPr>
        <p:spPr>
          <a:xfrm>
            <a:off x="1715293" y="3804047"/>
            <a:ext cx="516136" cy="250031"/>
          </a:xfrm>
          <a:custGeom>
            <a:avLst/>
            <a:gdLst/>
            <a:ahLst/>
            <a:cxnLst/>
            <a:rect l="l" t="t" r="r" b="b"/>
            <a:pathLst>
              <a:path w="734060" h="355600">
                <a:moveTo>
                  <a:pt x="0" y="0"/>
                </a:moveTo>
                <a:lnTo>
                  <a:pt x="734020" y="0"/>
                </a:lnTo>
                <a:lnTo>
                  <a:pt x="734020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8" name="object 8"/>
          <p:cNvSpPr/>
          <p:nvPr/>
        </p:nvSpPr>
        <p:spPr>
          <a:xfrm>
            <a:off x="1715293" y="4054078"/>
            <a:ext cx="3741986" cy="250031"/>
          </a:xfrm>
          <a:custGeom>
            <a:avLst/>
            <a:gdLst/>
            <a:ahLst/>
            <a:cxnLst/>
            <a:rect l="l" t="t" r="r" b="b"/>
            <a:pathLst>
              <a:path w="5321935" h="355600">
                <a:moveTo>
                  <a:pt x="0" y="0"/>
                </a:moveTo>
                <a:lnTo>
                  <a:pt x="5321642" y="0"/>
                </a:lnTo>
                <a:lnTo>
                  <a:pt x="5321642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9" name="object 9"/>
          <p:cNvSpPr txBox="1"/>
          <p:nvPr/>
        </p:nvSpPr>
        <p:spPr>
          <a:xfrm>
            <a:off x="1709935" y="2536031"/>
            <a:ext cx="2598539" cy="512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>
              <a:lnSpc>
                <a:spcPts val="1997"/>
              </a:lnSpc>
            </a:pP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&lt;</a:t>
            </a:r>
            <a:r>
              <a:rPr sz="1687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md-input-container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&gt;</a:t>
            </a:r>
            <a:endParaRPr sz="1687">
              <a:latin typeface="Lucida Console"/>
              <a:cs typeface="Lucida Console"/>
            </a:endParaRPr>
          </a:p>
          <a:p>
            <a:pPr marL="266988">
              <a:lnSpc>
                <a:spcPts val="1997"/>
              </a:lnSpc>
            </a:pP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&lt;</a:t>
            </a:r>
            <a:r>
              <a:rPr sz="1687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label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&gt;The</a:t>
            </a:r>
            <a:r>
              <a:rPr sz="1687" spc="-35" dirty="0">
                <a:solidFill>
                  <a:srgbClr val="B7C4D1"/>
                </a:solidFill>
                <a:latin typeface="Lucida Console"/>
                <a:cs typeface="Lucida Console"/>
              </a:rPr>
              <a:t> 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awesome</a:t>
            </a:r>
            <a:endParaRPr sz="1687">
              <a:latin typeface="Lucida Console"/>
              <a:cs typeface="Lucida Consol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19643" y="2786063"/>
            <a:ext cx="1695301" cy="2596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input&lt;/</a:t>
            </a:r>
            <a:r>
              <a:rPr sz="1687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label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&gt;</a:t>
            </a:r>
            <a:endParaRPr sz="1687">
              <a:latin typeface="Lucida Console"/>
              <a:cs typeface="Lucida Consol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68011" y="3036094"/>
            <a:ext cx="1953369" cy="2596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&lt;</a:t>
            </a:r>
            <a:r>
              <a:rPr sz="1687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input</a:t>
            </a:r>
            <a:r>
              <a:rPr sz="1687" b="1" spc="-42" dirty="0">
                <a:solidFill>
                  <a:srgbClr val="D78B40"/>
                </a:solidFill>
                <a:latin typeface="Lucida Sans Typewriter"/>
                <a:cs typeface="Lucida Sans Typewriter"/>
              </a:rPr>
              <a:t> 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md-input</a:t>
            </a:r>
            <a:endParaRPr sz="1687" dirty="0">
              <a:latin typeface="Lucida Console"/>
              <a:cs typeface="Lucida Consol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32517" y="3036094"/>
            <a:ext cx="3372743" cy="2596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687" spc="-4" dirty="0">
                <a:solidFill>
                  <a:srgbClr val="FF0000"/>
                </a:solidFill>
                <a:latin typeface="Lucida Console"/>
                <a:cs typeface="Lucida Console"/>
              </a:rPr>
              <a:t>[(</a:t>
            </a:r>
            <a:r>
              <a:rPr sz="1687" spc="-4" dirty="0" err="1">
                <a:solidFill>
                  <a:srgbClr val="FF0000"/>
                </a:solidFill>
                <a:latin typeface="Lucida Console"/>
                <a:cs typeface="Lucida Console"/>
              </a:rPr>
              <a:t>ngModel</a:t>
            </a:r>
            <a:r>
              <a:rPr sz="1687" spc="-4" dirty="0">
                <a:solidFill>
                  <a:srgbClr val="FF0000"/>
                </a:solidFill>
                <a:latin typeface="Lucida Console"/>
                <a:cs typeface="Lucida Console"/>
              </a:rPr>
              <a:t>)]=</a:t>
            </a:r>
            <a:r>
              <a:rPr lang="es-ES" sz="1687" spc="-4" dirty="0">
                <a:solidFill>
                  <a:srgbClr val="FF0000"/>
                </a:solidFill>
                <a:latin typeface="Lucida Console"/>
                <a:cs typeface="Lucida Console"/>
              </a:rPr>
              <a:t>"</a:t>
            </a:r>
            <a:r>
              <a:rPr sz="1687" spc="-4" dirty="0" err="1">
                <a:solidFill>
                  <a:srgbClr val="FF0000"/>
                </a:solidFill>
                <a:latin typeface="Lucida Console"/>
                <a:cs typeface="Lucida Console"/>
              </a:rPr>
              <a:t>dynamicValue</a:t>
            </a:r>
            <a:r>
              <a:rPr lang="es-ES" sz="1687" spc="-4" dirty="0">
                <a:solidFill>
                  <a:srgbClr val="FF0000"/>
                </a:solidFill>
                <a:latin typeface="Lucida Console"/>
                <a:cs typeface="Lucida Console"/>
              </a:rPr>
              <a:t>"</a:t>
            </a:r>
            <a:endParaRPr sz="1687" dirty="0">
              <a:solidFill>
                <a:srgbClr val="FF0000"/>
              </a:solidFill>
              <a:latin typeface="Lucida Console"/>
              <a:cs typeface="Lucida Consol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26043" y="3286126"/>
            <a:ext cx="2340471" cy="2596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placeholder=</a:t>
            </a:r>
            <a:r>
              <a:rPr lang="es-ES"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"</a:t>
            </a:r>
            <a:r>
              <a:rPr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Watch</a:t>
            </a:r>
            <a:endParaRPr sz="1687" dirty="0">
              <a:latin typeface="Lucida Console"/>
              <a:cs typeface="Lucida Consol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677626" y="3286126"/>
            <a:ext cx="3888879" cy="2596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the text update!</a:t>
            </a:r>
            <a:r>
              <a:rPr lang="es-ES"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"</a:t>
            </a:r>
            <a:r>
              <a:rPr sz="1687" spc="-11" dirty="0">
                <a:solidFill>
                  <a:srgbClr val="7C976C"/>
                </a:solidFill>
                <a:latin typeface="Lucida Console"/>
                <a:cs typeface="Lucida Console"/>
              </a:rPr>
              <a:t> 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type=</a:t>
            </a:r>
            <a:r>
              <a:rPr lang="es-ES"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"</a:t>
            </a:r>
            <a:r>
              <a:rPr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text</a:t>
            </a:r>
            <a:r>
              <a:rPr lang="es-ES"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"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&gt;</a:t>
            </a:r>
            <a:endParaRPr sz="1687" dirty="0">
              <a:latin typeface="Lucida Console"/>
              <a:cs typeface="Lucida Consol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09936" y="3536157"/>
            <a:ext cx="3759845" cy="7694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>
              <a:lnSpc>
                <a:spcPts val="1997"/>
              </a:lnSpc>
            </a:pP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&lt;/</a:t>
            </a:r>
            <a:r>
              <a:rPr sz="1687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md-input-container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&gt;</a:t>
            </a:r>
            <a:endParaRPr sz="1687">
              <a:latin typeface="Lucida Console"/>
              <a:cs typeface="Lucida Console"/>
            </a:endParaRPr>
          </a:p>
          <a:p>
            <a:pPr marL="8929">
              <a:lnSpc>
                <a:spcPts val="1969"/>
              </a:lnSpc>
            </a:pP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&lt;</a:t>
            </a:r>
            <a:r>
              <a:rPr sz="1687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br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&gt;</a:t>
            </a:r>
            <a:endParaRPr sz="1687">
              <a:latin typeface="Lucida Console"/>
              <a:cs typeface="Lucida Console"/>
            </a:endParaRPr>
          </a:p>
          <a:p>
            <a:pPr marL="8929">
              <a:lnSpc>
                <a:spcPts val="1997"/>
              </a:lnSpc>
            </a:pP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&lt;</a:t>
            </a:r>
            <a:r>
              <a:rPr sz="1687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span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&gt;{{dynamicValue}}&lt;/</a:t>
            </a:r>
            <a:r>
              <a:rPr sz="1687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span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&gt;</a:t>
            </a:r>
            <a:endParaRPr sz="1687">
              <a:latin typeface="Lucida Console"/>
              <a:cs typeface="Lucida Consol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718864" y="5929312"/>
            <a:ext cx="8642747" cy="7789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lang="es-ES" sz="5062" b="1" spc="-123" dirty="0" err="1">
                <a:solidFill>
                  <a:srgbClr val="53585F"/>
                </a:solidFill>
                <a:latin typeface="Trebuchet MS"/>
                <a:cs typeface="Trebuchet MS"/>
              </a:rPr>
              <a:t>Binding</a:t>
            </a:r>
            <a:r>
              <a:rPr lang="es-ES" sz="5062" b="1" spc="-123" dirty="0">
                <a:solidFill>
                  <a:srgbClr val="53585F"/>
                </a:solidFill>
                <a:latin typeface="Trebuchet MS"/>
                <a:cs typeface="Trebuchet MS"/>
              </a:rPr>
              <a:t> de dos vías </a:t>
            </a:r>
            <a:endParaRPr lang="es-ES" sz="5062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09885330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1" y="0"/>
            <a:ext cx="12188825" cy="6858000"/>
          </a:xfrm>
          <a:custGeom>
            <a:avLst/>
            <a:gdLst/>
            <a:ahLst/>
            <a:cxnLst/>
            <a:rect l="l" t="t" r="r" b="b"/>
            <a:pathLst>
              <a:path w="13004800" h="9753600">
                <a:moveTo>
                  <a:pt x="0" y="0"/>
                </a:moveTo>
                <a:lnTo>
                  <a:pt x="13004800" y="0"/>
                </a:lnTo>
                <a:lnTo>
                  <a:pt x="13004800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3" name="object 3"/>
          <p:cNvSpPr/>
          <p:nvPr/>
        </p:nvSpPr>
        <p:spPr>
          <a:xfrm>
            <a:off x="1715293" y="1071562"/>
            <a:ext cx="2709714" cy="294680"/>
          </a:xfrm>
          <a:custGeom>
            <a:avLst/>
            <a:gdLst/>
            <a:ahLst/>
            <a:cxnLst/>
            <a:rect l="l" t="t" r="r" b="b"/>
            <a:pathLst>
              <a:path w="3853815" h="419100">
                <a:moveTo>
                  <a:pt x="0" y="0"/>
                </a:moveTo>
                <a:lnTo>
                  <a:pt x="3853611" y="0"/>
                </a:lnTo>
                <a:lnTo>
                  <a:pt x="3853611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4" name="object 4"/>
          <p:cNvSpPr/>
          <p:nvPr/>
        </p:nvSpPr>
        <p:spPr>
          <a:xfrm>
            <a:off x="1715293" y="1366242"/>
            <a:ext cx="2258318" cy="294680"/>
          </a:xfrm>
          <a:custGeom>
            <a:avLst/>
            <a:gdLst/>
            <a:ahLst/>
            <a:cxnLst/>
            <a:rect l="l" t="t" r="r" b="b"/>
            <a:pathLst>
              <a:path w="3211829" h="419100">
                <a:moveTo>
                  <a:pt x="0" y="0"/>
                </a:moveTo>
                <a:lnTo>
                  <a:pt x="3211334" y="0"/>
                </a:lnTo>
                <a:lnTo>
                  <a:pt x="3211334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5" name="object 5"/>
          <p:cNvSpPr/>
          <p:nvPr/>
        </p:nvSpPr>
        <p:spPr>
          <a:xfrm>
            <a:off x="1715293" y="1660922"/>
            <a:ext cx="752773" cy="294680"/>
          </a:xfrm>
          <a:custGeom>
            <a:avLst/>
            <a:gdLst/>
            <a:ahLst/>
            <a:cxnLst/>
            <a:rect l="l" t="t" r="r" b="b"/>
            <a:pathLst>
              <a:path w="1070610" h="419100">
                <a:moveTo>
                  <a:pt x="0" y="0"/>
                </a:moveTo>
                <a:lnTo>
                  <a:pt x="1070444" y="0"/>
                </a:lnTo>
                <a:lnTo>
                  <a:pt x="1070444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6" name="object 6"/>
          <p:cNvSpPr/>
          <p:nvPr/>
        </p:nvSpPr>
        <p:spPr>
          <a:xfrm>
            <a:off x="1715293" y="1955601"/>
            <a:ext cx="7074991" cy="294680"/>
          </a:xfrm>
          <a:custGeom>
            <a:avLst/>
            <a:gdLst/>
            <a:ahLst/>
            <a:cxnLst/>
            <a:rect l="l" t="t" r="r" b="b"/>
            <a:pathLst>
              <a:path w="10062210" h="419100">
                <a:moveTo>
                  <a:pt x="0" y="0"/>
                </a:moveTo>
                <a:lnTo>
                  <a:pt x="10062197" y="0"/>
                </a:lnTo>
                <a:lnTo>
                  <a:pt x="10062197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7" name="object 7"/>
          <p:cNvSpPr/>
          <p:nvPr/>
        </p:nvSpPr>
        <p:spPr>
          <a:xfrm>
            <a:off x="1715293" y="2250281"/>
            <a:ext cx="6172200" cy="294680"/>
          </a:xfrm>
          <a:custGeom>
            <a:avLst/>
            <a:gdLst/>
            <a:ahLst/>
            <a:cxnLst/>
            <a:rect l="l" t="t" r="r" b="b"/>
            <a:pathLst>
              <a:path w="8778240" h="419100">
                <a:moveTo>
                  <a:pt x="0" y="0"/>
                </a:moveTo>
                <a:lnTo>
                  <a:pt x="8777655" y="0"/>
                </a:lnTo>
                <a:lnTo>
                  <a:pt x="8777655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8" name="object 8"/>
          <p:cNvSpPr/>
          <p:nvPr/>
        </p:nvSpPr>
        <p:spPr>
          <a:xfrm>
            <a:off x="1715293" y="2544961"/>
            <a:ext cx="752773" cy="294680"/>
          </a:xfrm>
          <a:custGeom>
            <a:avLst/>
            <a:gdLst/>
            <a:ahLst/>
            <a:cxnLst/>
            <a:rect l="l" t="t" r="r" b="b"/>
            <a:pathLst>
              <a:path w="1070610" h="419100">
                <a:moveTo>
                  <a:pt x="0" y="0"/>
                </a:moveTo>
                <a:lnTo>
                  <a:pt x="1070444" y="0"/>
                </a:lnTo>
                <a:lnTo>
                  <a:pt x="1070444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9" name="object 9"/>
          <p:cNvSpPr/>
          <p:nvPr/>
        </p:nvSpPr>
        <p:spPr>
          <a:xfrm>
            <a:off x="1715293" y="2839640"/>
            <a:ext cx="752773" cy="294680"/>
          </a:xfrm>
          <a:custGeom>
            <a:avLst/>
            <a:gdLst/>
            <a:ahLst/>
            <a:cxnLst/>
            <a:rect l="l" t="t" r="r" b="b"/>
            <a:pathLst>
              <a:path w="1070610" h="419100">
                <a:moveTo>
                  <a:pt x="0" y="0"/>
                </a:moveTo>
                <a:lnTo>
                  <a:pt x="1070444" y="0"/>
                </a:lnTo>
                <a:lnTo>
                  <a:pt x="1070444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0" name="object 10"/>
          <p:cNvSpPr/>
          <p:nvPr/>
        </p:nvSpPr>
        <p:spPr>
          <a:xfrm>
            <a:off x="1715293" y="3134320"/>
            <a:ext cx="8128695" cy="294680"/>
          </a:xfrm>
          <a:custGeom>
            <a:avLst/>
            <a:gdLst/>
            <a:ahLst/>
            <a:cxnLst/>
            <a:rect l="l" t="t" r="r" b="b"/>
            <a:pathLst>
              <a:path w="11560810" h="419100">
                <a:moveTo>
                  <a:pt x="0" y="0"/>
                </a:moveTo>
                <a:lnTo>
                  <a:pt x="11560822" y="0"/>
                </a:lnTo>
                <a:lnTo>
                  <a:pt x="11560822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1" name="object 11"/>
          <p:cNvSpPr/>
          <p:nvPr/>
        </p:nvSpPr>
        <p:spPr>
          <a:xfrm>
            <a:off x="1715294" y="3429000"/>
            <a:ext cx="4215259" cy="294680"/>
          </a:xfrm>
          <a:custGeom>
            <a:avLst/>
            <a:gdLst/>
            <a:ahLst/>
            <a:cxnLst/>
            <a:rect l="l" t="t" r="r" b="b"/>
            <a:pathLst>
              <a:path w="5995035" h="419100">
                <a:moveTo>
                  <a:pt x="0" y="0"/>
                </a:moveTo>
                <a:lnTo>
                  <a:pt x="5994501" y="0"/>
                </a:lnTo>
                <a:lnTo>
                  <a:pt x="5994501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2" name="object 12"/>
          <p:cNvSpPr/>
          <p:nvPr/>
        </p:nvSpPr>
        <p:spPr>
          <a:xfrm>
            <a:off x="1715293" y="3723680"/>
            <a:ext cx="3312021" cy="294680"/>
          </a:xfrm>
          <a:custGeom>
            <a:avLst/>
            <a:gdLst/>
            <a:ahLst/>
            <a:cxnLst/>
            <a:rect l="l" t="t" r="r" b="b"/>
            <a:pathLst>
              <a:path w="4710430" h="419100">
                <a:moveTo>
                  <a:pt x="0" y="0"/>
                </a:moveTo>
                <a:lnTo>
                  <a:pt x="4709960" y="0"/>
                </a:lnTo>
                <a:lnTo>
                  <a:pt x="470996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3" name="object 13"/>
          <p:cNvSpPr/>
          <p:nvPr/>
        </p:nvSpPr>
        <p:spPr>
          <a:xfrm>
            <a:off x="1715293" y="4018359"/>
            <a:ext cx="7526834" cy="294680"/>
          </a:xfrm>
          <a:custGeom>
            <a:avLst/>
            <a:gdLst/>
            <a:ahLst/>
            <a:cxnLst/>
            <a:rect l="l" t="t" r="r" b="b"/>
            <a:pathLst>
              <a:path w="10704830" h="419100">
                <a:moveTo>
                  <a:pt x="0" y="0"/>
                </a:moveTo>
                <a:lnTo>
                  <a:pt x="10704461" y="0"/>
                </a:lnTo>
                <a:lnTo>
                  <a:pt x="10704461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4" name="object 14"/>
          <p:cNvSpPr/>
          <p:nvPr/>
        </p:nvSpPr>
        <p:spPr>
          <a:xfrm>
            <a:off x="1715293" y="4313039"/>
            <a:ext cx="5569893" cy="294680"/>
          </a:xfrm>
          <a:custGeom>
            <a:avLst/>
            <a:gdLst/>
            <a:ahLst/>
            <a:cxnLst/>
            <a:rect l="l" t="t" r="r" b="b"/>
            <a:pathLst>
              <a:path w="7921625" h="419100">
                <a:moveTo>
                  <a:pt x="0" y="0"/>
                </a:moveTo>
                <a:lnTo>
                  <a:pt x="7921307" y="0"/>
                </a:lnTo>
                <a:lnTo>
                  <a:pt x="7921307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5" name="object 15"/>
          <p:cNvSpPr/>
          <p:nvPr/>
        </p:nvSpPr>
        <p:spPr>
          <a:xfrm>
            <a:off x="1715294" y="4607719"/>
            <a:ext cx="7978229" cy="294680"/>
          </a:xfrm>
          <a:custGeom>
            <a:avLst/>
            <a:gdLst/>
            <a:ahLst/>
            <a:cxnLst/>
            <a:rect l="l" t="t" r="r" b="b"/>
            <a:pathLst>
              <a:path w="11346815" h="419100">
                <a:moveTo>
                  <a:pt x="0" y="0"/>
                </a:moveTo>
                <a:lnTo>
                  <a:pt x="11346726" y="0"/>
                </a:lnTo>
                <a:lnTo>
                  <a:pt x="11346726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6" name="object 16"/>
          <p:cNvSpPr/>
          <p:nvPr/>
        </p:nvSpPr>
        <p:spPr>
          <a:xfrm>
            <a:off x="1715294" y="4902398"/>
            <a:ext cx="1956941" cy="294680"/>
          </a:xfrm>
          <a:custGeom>
            <a:avLst/>
            <a:gdLst/>
            <a:ahLst/>
            <a:cxnLst/>
            <a:rect l="l" t="t" r="r" b="b"/>
            <a:pathLst>
              <a:path w="2783205" h="419100">
                <a:moveTo>
                  <a:pt x="0" y="0"/>
                </a:moveTo>
                <a:lnTo>
                  <a:pt x="2783154" y="0"/>
                </a:lnTo>
                <a:lnTo>
                  <a:pt x="2783154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7" name="object 17"/>
          <p:cNvSpPr/>
          <p:nvPr/>
        </p:nvSpPr>
        <p:spPr>
          <a:xfrm>
            <a:off x="1715294" y="5197078"/>
            <a:ext cx="1355080" cy="294680"/>
          </a:xfrm>
          <a:custGeom>
            <a:avLst/>
            <a:gdLst/>
            <a:ahLst/>
            <a:cxnLst/>
            <a:rect l="l" t="t" r="r" b="b"/>
            <a:pathLst>
              <a:path w="1927225" h="419100">
                <a:moveTo>
                  <a:pt x="0" y="0"/>
                </a:moveTo>
                <a:lnTo>
                  <a:pt x="1926805" y="0"/>
                </a:lnTo>
                <a:lnTo>
                  <a:pt x="1926805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8" name="object 18"/>
          <p:cNvSpPr/>
          <p:nvPr/>
        </p:nvSpPr>
        <p:spPr>
          <a:xfrm>
            <a:off x="1715294" y="5491758"/>
            <a:ext cx="903238" cy="294680"/>
          </a:xfrm>
          <a:custGeom>
            <a:avLst/>
            <a:gdLst/>
            <a:ahLst/>
            <a:cxnLst/>
            <a:rect l="l" t="t" r="r" b="b"/>
            <a:pathLst>
              <a:path w="1284605" h="419100">
                <a:moveTo>
                  <a:pt x="0" y="0"/>
                </a:moveTo>
                <a:lnTo>
                  <a:pt x="1284541" y="0"/>
                </a:lnTo>
                <a:lnTo>
                  <a:pt x="1284541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1709936" y="1057118"/>
            <a:ext cx="2727573" cy="30303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8929">
              <a:lnSpc>
                <a:spcPct val="100000"/>
              </a:lnSpc>
            </a:pP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&lt;</a:t>
            </a:r>
            <a:r>
              <a:rPr sz="1969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h1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&gt;{{title}}&lt;/</a:t>
            </a:r>
            <a:r>
              <a:rPr sz="1969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h1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&gt;</a:t>
            </a:r>
            <a:endParaRPr sz="1969">
              <a:latin typeface="Lucida Console"/>
              <a:cs typeface="Lucida Consol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709936" y="1348383"/>
            <a:ext cx="7093297" cy="1769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>
              <a:lnSpc>
                <a:spcPts val="2341"/>
              </a:lnSpc>
            </a:pP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&lt;</a:t>
            </a:r>
            <a:r>
              <a:rPr sz="1969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p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&gt;{{body}}&lt;/</a:t>
            </a:r>
            <a:r>
              <a:rPr sz="1969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p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&gt;</a:t>
            </a:r>
            <a:endParaRPr sz="1969" dirty="0">
              <a:latin typeface="Lucida Console"/>
              <a:cs typeface="Lucida Console"/>
            </a:endParaRPr>
          </a:p>
          <a:p>
            <a:pPr marL="8929">
              <a:lnSpc>
                <a:spcPts val="2320"/>
              </a:lnSpc>
            </a:pP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&lt;</a:t>
            </a:r>
            <a:r>
              <a:rPr sz="1969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hr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/&gt;</a:t>
            </a:r>
            <a:endParaRPr sz="1969" dirty="0">
              <a:latin typeface="Lucida Console"/>
              <a:cs typeface="Lucida Console"/>
            </a:endParaRPr>
          </a:p>
          <a:p>
            <a:pPr marL="309849" marR="3572" indent="-301366">
              <a:lnSpc>
                <a:spcPts val="2320"/>
              </a:lnSpc>
              <a:spcBef>
                <a:spcPts val="91"/>
              </a:spcBef>
            </a:pP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&lt;</a:t>
            </a:r>
            <a:r>
              <a:rPr sz="1969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experiment 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*</a:t>
            </a:r>
            <a:r>
              <a:rPr sz="1969" spc="-4" dirty="0" err="1">
                <a:solidFill>
                  <a:srgbClr val="B7C4D1"/>
                </a:solidFill>
                <a:latin typeface="Lucida Console"/>
                <a:cs typeface="Lucida Console"/>
              </a:rPr>
              <a:t>ngFor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=</a:t>
            </a:r>
            <a:r>
              <a:rPr lang="es-ES"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"</a:t>
            </a:r>
            <a:r>
              <a:rPr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#experiment of experiments</a:t>
            </a:r>
            <a:r>
              <a:rPr lang="es-ES"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"</a:t>
            </a:r>
            <a:r>
              <a:rPr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  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[experiment]=</a:t>
            </a:r>
            <a:r>
              <a:rPr lang="es-ES"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"</a:t>
            </a:r>
            <a:r>
              <a:rPr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experiment</a:t>
            </a:r>
            <a:r>
              <a:rPr lang="es-ES"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"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&gt;&lt;/</a:t>
            </a:r>
            <a:r>
              <a:rPr sz="1969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experiment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&gt;</a:t>
            </a:r>
            <a:endParaRPr sz="1969" dirty="0">
              <a:latin typeface="Lucida Console"/>
              <a:cs typeface="Lucida Console"/>
            </a:endParaRPr>
          </a:p>
          <a:p>
            <a:pPr marL="8929">
              <a:lnSpc>
                <a:spcPts val="2229"/>
              </a:lnSpc>
            </a:pP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&lt;</a:t>
            </a:r>
            <a:r>
              <a:rPr sz="1969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hr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/&gt;</a:t>
            </a:r>
            <a:endParaRPr sz="1969" dirty="0">
              <a:latin typeface="Lucida Console"/>
              <a:cs typeface="Lucida Console"/>
            </a:endParaRPr>
          </a:p>
          <a:p>
            <a:pPr marL="8929">
              <a:lnSpc>
                <a:spcPts val="2341"/>
              </a:lnSpc>
            </a:pP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&lt;</a:t>
            </a:r>
            <a:r>
              <a:rPr sz="1969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div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&gt;</a:t>
            </a:r>
            <a:endParaRPr sz="1969" dirty="0">
              <a:latin typeface="Lucida Console"/>
              <a:cs typeface="Lucida Console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011023" y="3116461"/>
            <a:ext cx="5286821" cy="3030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&lt;</a:t>
            </a:r>
            <a:r>
              <a:rPr sz="1969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h2</a:t>
            </a:r>
            <a:r>
              <a:rPr sz="1969" b="1" dirty="0">
                <a:solidFill>
                  <a:srgbClr val="D78B40"/>
                </a:solidFill>
                <a:latin typeface="Lucida Sans Typewriter"/>
                <a:cs typeface="Lucida Sans Typewriter"/>
              </a:rPr>
              <a:t> 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class=</a:t>
            </a:r>
            <a:r>
              <a:rPr lang="es-ES"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"</a:t>
            </a:r>
            <a:r>
              <a:rPr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text-error</a:t>
            </a:r>
            <a:r>
              <a:rPr lang="es-ES"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"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&gt;Experiments:</a:t>
            </a:r>
            <a:endParaRPr sz="1969" dirty="0">
              <a:latin typeface="Lucida Console"/>
              <a:cs typeface="Lucida Console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430304" y="3116461"/>
            <a:ext cx="2426196" cy="3030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{{message}}&lt;/</a:t>
            </a:r>
            <a:r>
              <a:rPr sz="1969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h2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&gt;</a:t>
            </a:r>
            <a:endParaRPr sz="1969" dirty="0">
              <a:latin typeface="Lucida Console"/>
              <a:cs typeface="Lucida Console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011023" y="3411141"/>
            <a:ext cx="3931741" cy="3030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&lt;</a:t>
            </a:r>
            <a:r>
              <a:rPr sz="1969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form</a:t>
            </a:r>
            <a:r>
              <a:rPr sz="1969" b="1" spc="-21" dirty="0">
                <a:solidFill>
                  <a:srgbClr val="D78B40"/>
                </a:solidFill>
                <a:latin typeface="Lucida Sans Typewriter"/>
                <a:cs typeface="Lucida Sans Typewriter"/>
              </a:rPr>
              <a:t> 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class=</a:t>
            </a:r>
            <a:r>
              <a:rPr lang="es-ES"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"</a:t>
            </a:r>
            <a:r>
              <a:rPr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form-inline</a:t>
            </a:r>
            <a:r>
              <a:rPr lang="es-ES"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"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&gt;</a:t>
            </a:r>
            <a:endParaRPr sz="1969" dirty="0">
              <a:latin typeface="Lucida Console"/>
              <a:cs typeface="Lucida Console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312111" y="3720108"/>
            <a:ext cx="3480346" cy="589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09849" marR="3572" indent="-301366">
              <a:lnSpc>
                <a:spcPts val="2320"/>
              </a:lnSpc>
            </a:pP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&lt;</a:t>
            </a:r>
            <a:r>
              <a:rPr sz="1969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input 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type=</a:t>
            </a:r>
            <a:r>
              <a:rPr lang="es-ES"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"</a:t>
            </a:r>
            <a:r>
              <a:rPr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text</a:t>
            </a:r>
            <a:r>
              <a:rPr lang="es-ES"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"</a:t>
            </a:r>
            <a:r>
              <a:rPr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  </a:t>
            </a:r>
            <a:r>
              <a:rPr sz="1969" spc="-4" dirty="0">
                <a:solidFill>
                  <a:srgbClr val="FF0000"/>
                </a:solidFill>
                <a:latin typeface="Lucida Console"/>
                <a:cs typeface="Lucida Console"/>
              </a:rPr>
              <a:t>[(</a:t>
            </a:r>
            <a:r>
              <a:rPr sz="1969" spc="-4" dirty="0" err="1">
                <a:solidFill>
                  <a:srgbClr val="FF0000"/>
                </a:solidFill>
                <a:latin typeface="Lucida Console"/>
                <a:cs typeface="Lucida Console"/>
              </a:rPr>
              <a:t>ngModel</a:t>
            </a:r>
            <a:r>
              <a:rPr sz="1969" spc="-4" dirty="0">
                <a:solidFill>
                  <a:srgbClr val="FF0000"/>
                </a:solidFill>
                <a:latin typeface="Lucida Console"/>
                <a:cs typeface="Lucida Console"/>
              </a:rPr>
              <a:t>)]</a:t>
            </a:r>
            <a:r>
              <a:rPr sz="1969" spc="-7" dirty="0">
                <a:solidFill>
                  <a:srgbClr val="FF0000"/>
                </a:solidFill>
                <a:latin typeface="Lucida Console"/>
                <a:cs typeface="Lucida Console"/>
              </a:rPr>
              <a:t>=</a:t>
            </a:r>
            <a:r>
              <a:rPr lang="es-ES" sz="1969" spc="-4" dirty="0">
                <a:solidFill>
                  <a:srgbClr val="FF0000"/>
                </a:solidFill>
                <a:latin typeface="Lucida Console"/>
                <a:cs typeface="Lucida Console"/>
              </a:rPr>
              <a:t>"</a:t>
            </a:r>
            <a:r>
              <a:rPr sz="1969" spc="-4" dirty="0">
                <a:solidFill>
                  <a:srgbClr val="FF0000"/>
                </a:solidFill>
                <a:latin typeface="Lucida Console"/>
                <a:cs typeface="Lucida Console"/>
              </a:rPr>
              <a:t>message</a:t>
            </a:r>
            <a:r>
              <a:rPr lang="es-ES" sz="1969" spc="-4" dirty="0">
                <a:solidFill>
                  <a:srgbClr val="FF0000"/>
                </a:solidFill>
                <a:latin typeface="Lucida Console"/>
                <a:cs typeface="Lucida Console"/>
              </a:rPr>
              <a:t>"</a:t>
            </a:r>
            <a:endParaRPr sz="1969" dirty="0">
              <a:solidFill>
                <a:srgbClr val="FF0000"/>
              </a:solidFill>
              <a:latin typeface="Lucida Console"/>
              <a:cs typeface="Lucida Console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924819" y="4000500"/>
            <a:ext cx="3329880" cy="3030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placeholder=</a:t>
            </a:r>
            <a:r>
              <a:rPr lang="es-ES"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"</a:t>
            </a:r>
            <a:r>
              <a:rPr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Message</a:t>
            </a:r>
            <a:r>
              <a:rPr lang="es-ES"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"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&gt;</a:t>
            </a:r>
            <a:endParaRPr sz="1969" dirty="0">
              <a:latin typeface="Lucida Console"/>
              <a:cs typeface="Lucida Console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312111" y="4309468"/>
            <a:ext cx="6189613" cy="589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09849" marR="3572" indent="-301366">
              <a:lnSpc>
                <a:spcPts val="2320"/>
              </a:lnSpc>
            </a:pP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&lt;</a:t>
            </a:r>
            <a:r>
              <a:rPr sz="1969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button 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type=</a:t>
            </a:r>
            <a:r>
              <a:rPr lang="es-ES"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"</a:t>
            </a:r>
            <a:r>
              <a:rPr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submit</a:t>
            </a:r>
            <a:r>
              <a:rPr lang="es-ES"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"</a:t>
            </a:r>
            <a:r>
              <a:rPr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 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class=</a:t>
            </a:r>
            <a:r>
              <a:rPr lang="es-ES"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"</a:t>
            </a:r>
            <a:r>
              <a:rPr sz="1969" spc="-4" dirty="0" err="1">
                <a:solidFill>
                  <a:srgbClr val="7C976C"/>
                </a:solidFill>
                <a:latin typeface="Lucida Console"/>
                <a:cs typeface="Lucida Console"/>
              </a:rPr>
              <a:t>btn</a:t>
            </a:r>
            <a:r>
              <a:rPr lang="es-ES"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"</a:t>
            </a:r>
            <a:r>
              <a:rPr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  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(click)=</a:t>
            </a:r>
            <a:r>
              <a:rPr lang="es-ES"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"</a:t>
            </a:r>
            <a:r>
              <a:rPr sz="1969" spc="-4" dirty="0" err="1">
                <a:solidFill>
                  <a:srgbClr val="7C976C"/>
                </a:solidFill>
                <a:latin typeface="Lucida Console"/>
                <a:cs typeface="Lucida Console"/>
              </a:rPr>
              <a:t>updateMessage</a:t>
            </a:r>
            <a:r>
              <a:rPr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(message)</a:t>
            </a:r>
            <a:r>
              <a:rPr lang="es-ES"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"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&gt;Update</a:t>
            </a:r>
            <a:endParaRPr sz="1969" dirty="0">
              <a:latin typeface="Lucida Console"/>
              <a:cs typeface="Lucida Console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634483" y="4589860"/>
            <a:ext cx="1072009" cy="3030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Message</a:t>
            </a:r>
            <a:endParaRPr sz="1969">
              <a:latin typeface="Lucida Console"/>
              <a:cs typeface="Lucida Console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709936" y="4884539"/>
            <a:ext cx="10251876" cy="16638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769">
              <a:lnSpc>
                <a:spcPts val="2341"/>
              </a:lnSpc>
            </a:pP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&lt;/</a:t>
            </a:r>
            <a:r>
              <a:rPr sz="1969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button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&gt;</a:t>
            </a:r>
            <a:endParaRPr sz="1969" dirty="0">
              <a:latin typeface="Lucida Console"/>
              <a:cs typeface="Lucida Console"/>
            </a:endParaRPr>
          </a:p>
          <a:p>
            <a:pPr marL="309849">
              <a:lnSpc>
                <a:spcPts val="2320"/>
              </a:lnSpc>
            </a:pP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&lt;/</a:t>
            </a:r>
            <a:r>
              <a:rPr sz="1969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form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&gt;</a:t>
            </a:r>
            <a:endParaRPr sz="1969" dirty="0">
              <a:latin typeface="Lucida Console"/>
              <a:cs typeface="Lucida Console"/>
            </a:endParaRPr>
          </a:p>
          <a:p>
            <a:pPr marL="8929">
              <a:lnSpc>
                <a:spcPts val="2341"/>
              </a:lnSpc>
            </a:pP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&lt;/</a:t>
            </a:r>
            <a:r>
              <a:rPr sz="1969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div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&gt;</a:t>
            </a:r>
            <a:endParaRPr sz="1969" dirty="0">
              <a:latin typeface="Lucida Console"/>
              <a:cs typeface="Lucida Console"/>
            </a:endParaRPr>
          </a:p>
          <a:p>
            <a:pPr marL="8929"/>
            <a:r>
              <a:rPr lang="es-ES" sz="5062" b="1" spc="-123" dirty="0" err="1">
                <a:solidFill>
                  <a:srgbClr val="53585F"/>
                </a:solidFill>
                <a:latin typeface="Trebuchet MS"/>
                <a:cs typeface="Trebuchet MS"/>
              </a:rPr>
              <a:t>Binding</a:t>
            </a:r>
            <a:r>
              <a:rPr lang="es-ES" sz="5062" b="1" spc="-123" dirty="0">
                <a:solidFill>
                  <a:srgbClr val="53585F"/>
                </a:solidFill>
                <a:latin typeface="Trebuchet MS"/>
                <a:cs typeface="Trebuchet MS"/>
              </a:rPr>
              <a:t> de dos vías </a:t>
            </a:r>
            <a:endParaRPr lang="es-ES" sz="5062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59543098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6A0D4D-AC1E-4D3F-89CD-50BED6168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 err="1"/>
              <a:t>Binding</a:t>
            </a:r>
            <a:r>
              <a:rPr lang="es-ES" dirty="0"/>
              <a:t> de dos </a:t>
            </a:r>
            <a:r>
              <a:rPr lang="es-ES" dirty="0" err="1"/>
              <a:t>vias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7657DB5-6399-4607-80B1-A0F0EA6B8F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La comunicación </a:t>
            </a:r>
            <a:r>
              <a:rPr lang="es-ES" b="1" dirty="0"/>
              <a:t>del modelo hacia la vista </a:t>
            </a:r>
            <a:r>
              <a:rPr lang="es-ES" dirty="0"/>
              <a:t>es sólo el principio </a:t>
            </a:r>
          </a:p>
          <a:p>
            <a:r>
              <a:rPr lang="es-ES" dirty="0"/>
              <a:t>En Angular también podrás </a:t>
            </a:r>
            <a:r>
              <a:rPr lang="es-ES" b="1" dirty="0"/>
              <a:t>comunicar la vista hacia el modelo</a:t>
            </a:r>
            <a:r>
              <a:rPr lang="es-ES" dirty="0"/>
              <a:t>, permitiéndole al usuario modificar los datos a través de formularios </a:t>
            </a:r>
          </a:p>
          <a:p>
            <a:endParaRPr lang="es-ES" dirty="0"/>
          </a:p>
          <a:p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49957E0-BD22-4169-8212-CCA9159EEC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1269" y="3810000"/>
            <a:ext cx="9066286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91157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 err="1"/>
              <a:t>Template</a:t>
            </a:r>
            <a:r>
              <a:rPr lang="es-ES" dirty="0"/>
              <a:t> </a:t>
            </a:r>
            <a:r>
              <a:rPr lang="es-ES" dirty="0" err="1"/>
              <a:t>Binding</a:t>
            </a:r>
            <a:endParaRPr lang="es-ES" dirty="0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A7C7173-BCF0-4C68-8972-7A8C3FED4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Asterisk Operator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*</a:t>
            </a:r>
          </a:p>
          <a:p>
            <a:r>
              <a:rPr lang="en-US" dirty="0"/>
              <a:t>Hashtag Operator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# </a:t>
            </a:r>
          </a:p>
          <a:p>
            <a:r>
              <a:rPr lang="es-ES" dirty="0" err="1"/>
              <a:t>Properties</a:t>
            </a:r>
            <a:r>
              <a:rPr lang="es-ES" dirty="0"/>
              <a:t> </a:t>
            </a:r>
            <a:r>
              <a:rPr lang="es-ES" b="1" dirty="0">
                <a:solidFill>
                  <a:srgbClr val="FF0000"/>
                </a:solidFill>
                <a:latin typeface="Consolas" panose="020B0609020204030204" pitchFamily="49" charset="0"/>
              </a:rPr>
              <a:t>[]</a:t>
            </a:r>
          </a:p>
          <a:p>
            <a:r>
              <a:rPr lang="es-ES" dirty="0" err="1"/>
              <a:t>Events</a:t>
            </a:r>
            <a:r>
              <a:rPr lang="es-ES" dirty="0"/>
              <a:t> </a:t>
            </a:r>
            <a:r>
              <a:rPr lang="es-ES" b="1" dirty="0">
                <a:solidFill>
                  <a:srgbClr val="FF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s-ES" dirty="0" err="1"/>
              <a:t>Models</a:t>
            </a:r>
            <a:r>
              <a:rPr lang="es-ES" dirty="0"/>
              <a:t> </a:t>
            </a:r>
            <a:r>
              <a:rPr lang="es-ES" b="1" dirty="0">
                <a:solidFill>
                  <a:srgbClr val="FF0000"/>
                </a:solidFill>
                <a:latin typeface="Consolas" panose="020B0609020204030204" pitchFamily="49" charset="0"/>
              </a:rPr>
              <a:t>[()]</a:t>
            </a:r>
            <a:endParaRPr lang="en-US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n-US" dirty="0"/>
              <a:t>Elvis Operator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?.</a:t>
            </a:r>
          </a:p>
          <a:p>
            <a:r>
              <a:rPr lang="es-ES" dirty="0" err="1"/>
              <a:t>Repeaters</a:t>
            </a:r>
            <a:r>
              <a:rPr lang="es-ES" dirty="0"/>
              <a:t> </a:t>
            </a:r>
            <a:r>
              <a:rPr lang="es-ES" altLang="es-ES" b="1" dirty="0">
                <a:solidFill>
                  <a:srgbClr val="FF0000"/>
                </a:solidFill>
                <a:latin typeface="Consolas" panose="020B0609020204030204" pitchFamily="49" charset="0"/>
              </a:rPr>
              <a:t>*</a:t>
            </a:r>
            <a:r>
              <a:rPr lang="es-ES" altLang="es-ES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ngFor</a:t>
            </a:r>
            <a:endParaRPr lang="es-ES" altLang="es-ES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s-ES" dirty="0" err="1"/>
              <a:t>Conditions</a:t>
            </a:r>
            <a:r>
              <a:rPr lang="es-ES" dirty="0"/>
              <a:t> </a:t>
            </a:r>
            <a:r>
              <a:rPr lang="es-ES" altLang="es-ES" b="1" dirty="0">
                <a:solidFill>
                  <a:srgbClr val="FF0000"/>
                </a:solidFill>
                <a:latin typeface="Consolas" panose="020B0609020204030204" pitchFamily="49" charset="0"/>
              </a:rPr>
              <a:t>*</a:t>
            </a:r>
            <a:r>
              <a:rPr lang="es-ES" altLang="es-ES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ngIf</a:t>
            </a:r>
            <a:endParaRPr lang="es-ES" altLang="es-ES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s-ES" dirty="0"/>
              <a:t>More…</a:t>
            </a:r>
          </a:p>
          <a:p>
            <a:endParaRPr lang="es-ES" dirty="0"/>
          </a:p>
        </p:txBody>
      </p:sp>
      <p:pic>
        <p:nvPicPr>
          <p:cNvPr id="9" name="Изображение 8">
            <a:extLst>
              <a:ext uri="{FF2B5EF4-FFF2-40B4-BE49-F238E27FC236}">
                <a16:creationId xmlns:a16="http://schemas.microsoft.com/office/drawing/2014/main" id="{F986965A-6154-4AC3-9975-6375465B8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2396" y="3886200"/>
            <a:ext cx="3585816" cy="2193558"/>
          </a:xfrm>
          <a:prstGeom prst="rect">
            <a:avLst/>
          </a:prstGeom>
        </p:spPr>
      </p:pic>
      <p:pic>
        <p:nvPicPr>
          <p:cNvPr id="10" name="Изображение 9">
            <a:extLst>
              <a:ext uri="{FF2B5EF4-FFF2-40B4-BE49-F238E27FC236}">
                <a16:creationId xmlns:a16="http://schemas.microsoft.com/office/drawing/2014/main" id="{2E0FBD35-A3B6-4D7F-B188-A0E91893CF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9412" y="778242"/>
            <a:ext cx="2359604" cy="2193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15302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Operador asterisco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8AEC27CD-A2F9-482B-BAF3-25D95E3CEC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 dirty="0">
                <a:solidFill>
                  <a:srgbClr val="FF0000"/>
                </a:solidFill>
              </a:rPr>
              <a:t>Los asteriscos indican una directiva </a:t>
            </a:r>
            <a:r>
              <a:rPr lang="es-ES" dirty="0"/>
              <a:t>que modifica el HTML</a:t>
            </a:r>
          </a:p>
          <a:p>
            <a:r>
              <a:rPr lang="es-ES" dirty="0"/>
              <a:t>Sirve para evitar tener que usar elementos de plantilla directamente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5997456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15293" y="2803922"/>
            <a:ext cx="5935563" cy="250031"/>
          </a:xfrm>
          <a:custGeom>
            <a:avLst/>
            <a:gdLst/>
            <a:ahLst/>
            <a:cxnLst/>
            <a:rect l="l" t="t" r="r" b="b"/>
            <a:pathLst>
              <a:path w="8441690" h="355600">
                <a:moveTo>
                  <a:pt x="0" y="0"/>
                </a:moveTo>
                <a:lnTo>
                  <a:pt x="8441232" y="0"/>
                </a:lnTo>
                <a:lnTo>
                  <a:pt x="8441232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3" name="object 3"/>
          <p:cNvSpPr/>
          <p:nvPr/>
        </p:nvSpPr>
        <p:spPr>
          <a:xfrm>
            <a:off x="1715294" y="3820419"/>
            <a:ext cx="4258121" cy="250031"/>
          </a:xfrm>
          <a:custGeom>
            <a:avLst/>
            <a:gdLst/>
            <a:ahLst/>
            <a:cxnLst/>
            <a:rect l="l" t="t" r="r" b="b"/>
            <a:pathLst>
              <a:path w="6055995" h="355600">
                <a:moveTo>
                  <a:pt x="0" y="0"/>
                </a:moveTo>
                <a:lnTo>
                  <a:pt x="6055664" y="0"/>
                </a:lnTo>
                <a:lnTo>
                  <a:pt x="6055664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4" name="object 4"/>
          <p:cNvSpPr/>
          <p:nvPr/>
        </p:nvSpPr>
        <p:spPr>
          <a:xfrm>
            <a:off x="1715293" y="4070450"/>
            <a:ext cx="3354884" cy="250031"/>
          </a:xfrm>
          <a:custGeom>
            <a:avLst/>
            <a:gdLst/>
            <a:ahLst/>
            <a:cxnLst/>
            <a:rect l="l" t="t" r="r" b="b"/>
            <a:pathLst>
              <a:path w="4771390" h="355600">
                <a:moveTo>
                  <a:pt x="0" y="0"/>
                </a:moveTo>
                <a:lnTo>
                  <a:pt x="4771135" y="0"/>
                </a:lnTo>
                <a:lnTo>
                  <a:pt x="4771135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5" name="object 5"/>
          <p:cNvSpPr/>
          <p:nvPr/>
        </p:nvSpPr>
        <p:spPr>
          <a:xfrm>
            <a:off x="1715293" y="4320481"/>
            <a:ext cx="1419373" cy="250031"/>
          </a:xfrm>
          <a:custGeom>
            <a:avLst/>
            <a:gdLst/>
            <a:ahLst/>
            <a:cxnLst/>
            <a:rect l="l" t="t" r="r" b="b"/>
            <a:pathLst>
              <a:path w="2018664" h="355600">
                <a:moveTo>
                  <a:pt x="0" y="0"/>
                </a:moveTo>
                <a:lnTo>
                  <a:pt x="2018550" y="0"/>
                </a:lnTo>
                <a:lnTo>
                  <a:pt x="2018550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6" name="object 6"/>
          <p:cNvSpPr txBox="1"/>
          <p:nvPr/>
        </p:nvSpPr>
        <p:spPr>
          <a:xfrm>
            <a:off x="1709936" y="2786063"/>
            <a:ext cx="533995" cy="2596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&lt;</a:t>
            </a:r>
            <a:r>
              <a:rPr sz="1687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div</a:t>
            </a:r>
            <a:endParaRPr sz="1687">
              <a:latin typeface="Lucida Sans Typewriter"/>
              <a:cs typeface="Lucida Sans Typewriter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55070" y="2786063"/>
            <a:ext cx="5308253" cy="2596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687" spc="-4" dirty="0">
                <a:solidFill>
                  <a:srgbClr val="FF0000"/>
                </a:solidFill>
                <a:latin typeface="Lucida Console"/>
                <a:cs typeface="Lucida Console"/>
              </a:rPr>
              <a:t>*</a:t>
            </a:r>
            <a:r>
              <a:rPr sz="1687" spc="-4" dirty="0" err="1">
                <a:solidFill>
                  <a:srgbClr val="B7C4D1"/>
                </a:solidFill>
                <a:latin typeface="Lucida Console"/>
                <a:cs typeface="Lucida Console"/>
              </a:rPr>
              <a:t>ngIf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=</a:t>
            </a:r>
            <a:r>
              <a:rPr lang="es-ES"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"</a:t>
            </a:r>
            <a:r>
              <a:rPr sz="1687" spc="-4" dirty="0" err="1">
                <a:solidFill>
                  <a:srgbClr val="7C976C"/>
                </a:solidFill>
                <a:latin typeface="Lucida Console"/>
                <a:cs typeface="Lucida Console"/>
              </a:rPr>
              <a:t>userIsVisible</a:t>
            </a:r>
            <a:r>
              <a:rPr lang="es-ES"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"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&gt;{{user.name}}&lt;/</a:t>
            </a:r>
            <a:r>
              <a:rPr sz="1687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div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&gt;</a:t>
            </a:r>
            <a:endParaRPr sz="1687" dirty="0">
              <a:latin typeface="Lucida Console"/>
              <a:cs typeface="Lucida Consol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09936" y="3802559"/>
            <a:ext cx="4275981" cy="7694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>
              <a:lnSpc>
                <a:spcPts val="1997"/>
              </a:lnSpc>
            </a:pP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&lt;</a:t>
            </a:r>
            <a:r>
              <a:rPr sz="1687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template</a:t>
            </a:r>
            <a:r>
              <a:rPr sz="1687" b="1" spc="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 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[</a:t>
            </a:r>
            <a:r>
              <a:rPr sz="1687" spc="-4" dirty="0" err="1">
                <a:solidFill>
                  <a:srgbClr val="B7C4D1"/>
                </a:solidFill>
                <a:latin typeface="Lucida Console"/>
                <a:cs typeface="Lucida Console"/>
              </a:rPr>
              <a:t>ngIf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]=</a:t>
            </a:r>
            <a:r>
              <a:rPr lang="es-ES"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"</a:t>
            </a:r>
            <a:r>
              <a:rPr sz="1687" spc="-4" dirty="0" err="1">
                <a:solidFill>
                  <a:srgbClr val="7C976C"/>
                </a:solidFill>
                <a:latin typeface="Lucida Console"/>
                <a:cs typeface="Lucida Console"/>
              </a:rPr>
              <a:t>userIsVisible</a:t>
            </a:r>
            <a:r>
              <a:rPr lang="es-ES"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"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&gt;</a:t>
            </a:r>
            <a:endParaRPr sz="1687" dirty="0">
              <a:latin typeface="Lucida Console"/>
              <a:cs typeface="Lucida Console"/>
            </a:endParaRPr>
          </a:p>
          <a:p>
            <a:pPr marL="266988">
              <a:lnSpc>
                <a:spcPts val="1969"/>
              </a:lnSpc>
            </a:pP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&lt;</a:t>
            </a:r>
            <a:r>
              <a:rPr sz="1687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div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&gt;{{user.name}}&lt;/</a:t>
            </a:r>
            <a:r>
              <a:rPr sz="1687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div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&gt;</a:t>
            </a:r>
            <a:endParaRPr sz="1687" dirty="0">
              <a:latin typeface="Lucida Console"/>
              <a:cs typeface="Lucida Console"/>
            </a:endParaRPr>
          </a:p>
          <a:p>
            <a:pPr marL="8929">
              <a:lnSpc>
                <a:spcPts val="1997"/>
              </a:lnSpc>
            </a:pP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&lt;/</a:t>
            </a:r>
            <a:r>
              <a:rPr sz="1687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template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&gt;</a:t>
            </a:r>
            <a:endParaRPr sz="1687" dirty="0">
              <a:latin typeface="Lucida Console"/>
              <a:cs typeface="Lucida Conso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18865" y="5929312"/>
            <a:ext cx="5097959" cy="7789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5062" b="1" spc="-28" dirty="0">
                <a:solidFill>
                  <a:srgbClr val="53585F"/>
                </a:solidFill>
                <a:latin typeface="Trebuchet MS"/>
                <a:cs typeface="Trebuchet MS"/>
              </a:rPr>
              <a:t>Asterisk</a:t>
            </a:r>
            <a:r>
              <a:rPr sz="5062" b="1" spc="-302" dirty="0">
                <a:solidFill>
                  <a:srgbClr val="53585F"/>
                </a:solidFill>
                <a:latin typeface="Trebuchet MS"/>
                <a:cs typeface="Trebuchet MS"/>
              </a:rPr>
              <a:t> </a:t>
            </a:r>
            <a:r>
              <a:rPr sz="5062" b="1" spc="39" dirty="0">
                <a:solidFill>
                  <a:srgbClr val="53585F"/>
                </a:solidFill>
                <a:latin typeface="Trebuchet MS"/>
                <a:cs typeface="Trebuchet MS"/>
              </a:rPr>
              <a:t>Bindings</a:t>
            </a:r>
            <a:endParaRPr sz="5062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70670073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AF5B0F-381E-43D5-AD1A-25CAE5B5C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Identificadores con </a:t>
            </a:r>
            <a:r>
              <a:rPr lang="es-ES" b="1" dirty="0"/>
              <a:t>#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DBF6294-4F5A-443C-85D0-AA6E0A249A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El hashtag </a:t>
            </a:r>
            <a:r>
              <a:rPr lang="es-ES" b="1" dirty="0">
                <a:solidFill>
                  <a:srgbClr val="FF0000"/>
                </a:solidFill>
              </a:rPr>
              <a:t>#</a:t>
            </a:r>
            <a:r>
              <a:rPr lang="es-ES" b="1" dirty="0"/>
              <a:t> genera un identificador único para el elemento </a:t>
            </a:r>
            <a:r>
              <a:rPr lang="es-ES" dirty="0"/>
              <a:t>al que se le aplica y permite referirse a él en otros lugares del código</a:t>
            </a:r>
          </a:p>
          <a:p>
            <a:r>
              <a:rPr lang="es-ES" dirty="0"/>
              <a:t>El hashtag </a:t>
            </a:r>
            <a:r>
              <a:rPr lang="es-ES" b="1" dirty="0">
                <a:solidFill>
                  <a:srgbClr val="FF0000"/>
                </a:solidFill>
              </a:rPr>
              <a:t>#</a:t>
            </a:r>
            <a:r>
              <a:rPr lang="es-ES" dirty="0"/>
              <a:t> </a:t>
            </a:r>
            <a:r>
              <a:rPr lang="es-ES" b="1" dirty="0"/>
              <a:t>define una variable local dentro de nuestra plantilla</a:t>
            </a:r>
          </a:p>
          <a:p>
            <a:r>
              <a:rPr lang="es-ES" dirty="0">
                <a:solidFill>
                  <a:srgbClr val="FF0000"/>
                </a:solidFill>
              </a:rPr>
              <a:t>La variable de plantilla está disponible en el </a:t>
            </a:r>
            <a:r>
              <a:rPr lang="es-ES" b="1" dirty="0">
                <a:solidFill>
                  <a:srgbClr val="FF0000"/>
                </a:solidFill>
              </a:rPr>
              <a:t>mismo elemento, elementos hermanos o elementos secundarios </a:t>
            </a:r>
            <a:r>
              <a:rPr lang="es-ES" dirty="0">
                <a:solidFill>
                  <a:srgbClr val="FF0000"/>
                </a:solidFill>
              </a:rPr>
              <a:t>del elemento en el que se declaró</a:t>
            </a:r>
          </a:p>
          <a:p>
            <a:r>
              <a:rPr lang="es-ES" dirty="0"/>
              <a:t>Para consumirla, simplemente </a:t>
            </a:r>
            <a:r>
              <a:rPr lang="es-ES" b="1" dirty="0">
                <a:solidFill>
                  <a:srgbClr val="FF0000"/>
                </a:solidFill>
              </a:rPr>
              <a:t>úsala como una variable sin el hashtag</a:t>
            </a:r>
          </a:p>
          <a:p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7749628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15293" y="3303985"/>
            <a:ext cx="5032325" cy="250031"/>
          </a:xfrm>
          <a:custGeom>
            <a:avLst/>
            <a:gdLst/>
            <a:ahLst/>
            <a:cxnLst/>
            <a:rect l="l" t="t" r="r" b="b"/>
            <a:pathLst>
              <a:path w="7157084" h="355600">
                <a:moveTo>
                  <a:pt x="0" y="0"/>
                </a:moveTo>
                <a:lnTo>
                  <a:pt x="7156704" y="0"/>
                </a:lnTo>
                <a:lnTo>
                  <a:pt x="7156704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3" name="object 3"/>
          <p:cNvSpPr txBox="1"/>
          <p:nvPr/>
        </p:nvSpPr>
        <p:spPr>
          <a:xfrm>
            <a:off x="1709936" y="3286126"/>
            <a:ext cx="2082403" cy="2596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&lt;</a:t>
            </a:r>
            <a:r>
              <a:rPr sz="1687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p</a:t>
            </a:r>
            <a:r>
              <a:rPr sz="1687" b="1" spc="-39" dirty="0">
                <a:solidFill>
                  <a:srgbClr val="D78B40"/>
                </a:solidFill>
                <a:latin typeface="Lucida Sans Typewriter"/>
                <a:cs typeface="Lucida Sans Typewriter"/>
              </a:rPr>
              <a:t> 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*</a:t>
            </a:r>
            <a:r>
              <a:rPr sz="1687" spc="-4" dirty="0" err="1">
                <a:solidFill>
                  <a:srgbClr val="B7C4D1"/>
                </a:solidFill>
                <a:latin typeface="Lucida Console"/>
                <a:cs typeface="Lucida Console"/>
              </a:rPr>
              <a:t>ngFor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=</a:t>
            </a:r>
            <a:r>
              <a:rPr lang="es-ES"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"</a:t>
            </a:r>
            <a:r>
              <a:rPr sz="1687" spc="-4" dirty="0">
                <a:solidFill>
                  <a:srgbClr val="FF0000"/>
                </a:solidFill>
                <a:latin typeface="Lucida Console"/>
                <a:cs typeface="Lucida Console"/>
              </a:rPr>
              <a:t>#name</a:t>
            </a:r>
            <a:endParaRPr sz="1687" dirty="0">
              <a:solidFill>
                <a:srgbClr val="FF0000"/>
              </a:solidFill>
              <a:latin typeface="Lucida Console"/>
              <a:cs typeface="Lucida Consol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03467" y="3286126"/>
            <a:ext cx="2856606" cy="2596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of</a:t>
            </a:r>
            <a:r>
              <a:rPr sz="1687" spc="-25" dirty="0">
                <a:solidFill>
                  <a:srgbClr val="7C976C"/>
                </a:solidFill>
                <a:latin typeface="Lucida Console"/>
                <a:cs typeface="Lucida Console"/>
              </a:rPr>
              <a:t> </a:t>
            </a:r>
            <a:r>
              <a:rPr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names</a:t>
            </a:r>
            <a:r>
              <a:rPr lang="es-ES"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"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&gt;{{</a:t>
            </a:r>
            <a:r>
              <a:rPr sz="1687" spc="-4" dirty="0">
                <a:solidFill>
                  <a:srgbClr val="FF0000"/>
                </a:solidFill>
                <a:latin typeface="Lucida Console"/>
                <a:cs typeface="Lucida Console"/>
              </a:rPr>
              <a:t>name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}}&lt;/</a:t>
            </a:r>
            <a:r>
              <a:rPr sz="1687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p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&gt;</a:t>
            </a:r>
            <a:endParaRPr sz="1687" dirty="0">
              <a:latin typeface="Lucida Console"/>
              <a:cs typeface="Lucida Consol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18865" y="5929312"/>
            <a:ext cx="5130998" cy="7789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5062" b="1" spc="74" dirty="0">
                <a:solidFill>
                  <a:srgbClr val="53585F"/>
                </a:solidFill>
                <a:latin typeface="Trebuchet MS"/>
                <a:cs typeface="Trebuchet MS"/>
              </a:rPr>
              <a:t>Hashtag</a:t>
            </a:r>
            <a:r>
              <a:rPr sz="5062" b="1" spc="-330" dirty="0">
                <a:solidFill>
                  <a:srgbClr val="53585F"/>
                </a:solidFill>
                <a:latin typeface="Trebuchet MS"/>
                <a:cs typeface="Trebuchet MS"/>
              </a:rPr>
              <a:t> </a:t>
            </a:r>
            <a:r>
              <a:rPr sz="5062" b="1" spc="-179" dirty="0">
                <a:solidFill>
                  <a:srgbClr val="53585F"/>
                </a:solidFill>
                <a:latin typeface="Trebuchet MS"/>
                <a:cs typeface="Trebuchet MS"/>
              </a:rPr>
              <a:t>Operator</a:t>
            </a:r>
            <a:endParaRPr sz="5062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96136408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2F1B-6F62-4B90-8080-3AD031B33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Propiedades entre []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C798254-BF87-4282-BBAB-93B6900DA8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Un viejo conocido como el atributo </a:t>
            </a:r>
            <a:r>
              <a:rPr lang="es-ES" b="1" dirty="0" err="1"/>
              <a:t>value</a:t>
            </a:r>
            <a:r>
              <a:rPr lang="es-ES" dirty="0"/>
              <a:t> recibe habitualmente un valor concreto, una constante. </a:t>
            </a:r>
          </a:p>
          <a:p>
            <a:r>
              <a:rPr lang="es-ES" dirty="0"/>
              <a:t>Pero, </a:t>
            </a:r>
            <a:r>
              <a:rPr lang="es-ES" b="1" dirty="0"/>
              <a:t>si se encierra entre corchetes se convierte en un evaluador de expresiones</a:t>
            </a:r>
            <a:r>
              <a:rPr lang="es-ES" dirty="0"/>
              <a:t> y puede recibir una variable. </a:t>
            </a:r>
          </a:p>
          <a:p>
            <a:r>
              <a:rPr lang="es-ES" dirty="0"/>
              <a:t>En este caso </a:t>
            </a:r>
            <a:r>
              <a:rPr lang="es-ES" b="1" dirty="0"/>
              <a:t>[</a:t>
            </a:r>
            <a:r>
              <a:rPr lang="es-ES" b="1" dirty="0" err="1"/>
              <a:t>value</a:t>
            </a:r>
            <a:r>
              <a:rPr lang="es-ES" b="1" dirty="0"/>
              <a:t>]="</a:t>
            </a:r>
            <a:r>
              <a:rPr lang="es-ES" b="1" dirty="0" err="1"/>
              <a:t>operation.description</a:t>
            </a:r>
            <a:r>
              <a:rPr lang="es-ES" b="1" dirty="0"/>
              <a:t>" </a:t>
            </a:r>
            <a:r>
              <a:rPr lang="es-ES" dirty="0"/>
              <a:t>asigna el valor de esa expresión del modelo al elemento </a:t>
            </a:r>
            <a:r>
              <a:rPr lang="es-ES" dirty="0" err="1"/>
              <a:t>html</a:t>
            </a:r>
            <a:r>
              <a:rPr lang="es-ES" dirty="0"/>
              <a:t>.</a:t>
            </a:r>
          </a:p>
          <a:p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0872870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CAF771-8B8A-46D7-86F1-BD3E3101B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Eventos entre ()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5660C95-E4D5-4F0A-9731-EAAF7105F5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Los eventos del </a:t>
            </a:r>
            <a:r>
              <a:rPr lang="es-ES" dirty="0" err="1"/>
              <a:t>html</a:t>
            </a:r>
            <a:r>
              <a:rPr lang="es-ES" dirty="0"/>
              <a:t> llevan años entre nosotros. </a:t>
            </a:r>
          </a:p>
          <a:p>
            <a:r>
              <a:rPr lang="es-ES" b="1" dirty="0"/>
              <a:t>En Angular </a:t>
            </a:r>
            <a:r>
              <a:rPr lang="es-ES" dirty="0"/>
              <a:t>se expresan de una manera distinta, </a:t>
            </a:r>
            <a:r>
              <a:rPr lang="es-ES" b="1" dirty="0"/>
              <a:t>encerrándolos entre paréntesis</a:t>
            </a:r>
            <a:r>
              <a:rPr lang="es-ES" dirty="0"/>
              <a:t>. </a:t>
            </a:r>
          </a:p>
          <a:p>
            <a:r>
              <a:rPr lang="es-ES" dirty="0"/>
              <a:t>Aquí</a:t>
            </a:r>
            <a:r>
              <a:rPr lang="es-ES" b="1" dirty="0"/>
              <a:t> (</a:t>
            </a:r>
            <a:r>
              <a:rPr lang="es-ES" b="1" dirty="0" err="1"/>
              <a:t>change</a:t>
            </a:r>
            <a:r>
              <a:rPr lang="es-ES" b="1" dirty="0"/>
              <a:t>) = "</a:t>
            </a:r>
            <a:r>
              <a:rPr lang="es-ES" b="1" dirty="0" err="1"/>
              <a:t>operation.description</a:t>
            </a:r>
            <a:r>
              <a:rPr lang="es-ES" b="1" dirty="0"/>
              <a:t> = </a:t>
            </a:r>
            <a:r>
              <a:rPr lang="es-ES" b="1" dirty="0" err="1"/>
              <a:t>inputDescription.value</a:t>
            </a:r>
            <a:r>
              <a:rPr lang="es-ES" b="1" dirty="0"/>
              <a:t>" </a:t>
            </a:r>
            <a:r>
              <a:rPr lang="es-ES" dirty="0"/>
              <a:t>se usa para guardar en el modelo el valor actual del elemento input ante cada cambio en este. Consiguiendo así el </a:t>
            </a:r>
            <a:r>
              <a:rPr lang="es-ES" b="1" dirty="0"/>
              <a:t>doble </a:t>
            </a:r>
            <a:r>
              <a:rPr lang="es-ES" b="1" dirty="0" err="1"/>
              <a:t>binding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3610464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5635BD-0D7A-46B4-B186-E6C450778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Modelos entre [()]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792C855-E7EA-41D4-B2BA-418649DC1A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El patrón anterior podrías replicarlo una y otra vez. Pero en Angular te ofrece un atajo para estos casos; es la directiva </a:t>
            </a:r>
            <a:r>
              <a:rPr lang="es-ES" b="1" dirty="0"/>
              <a:t>[(</a:t>
            </a:r>
            <a:r>
              <a:rPr lang="es-ES" b="1" dirty="0" err="1"/>
              <a:t>ngModel</a:t>
            </a:r>
            <a:r>
              <a:rPr lang="es-ES" b="1" dirty="0"/>
              <a:t>)]</a:t>
            </a:r>
            <a:r>
              <a:rPr lang="es-ES" dirty="0"/>
              <a:t>. Esta directiva </a:t>
            </a:r>
            <a:r>
              <a:rPr lang="es-ES" b="1" dirty="0"/>
              <a:t>también</a:t>
            </a:r>
            <a:r>
              <a:rPr lang="es-ES" dirty="0"/>
              <a:t> es conocida como </a:t>
            </a:r>
            <a:r>
              <a:rPr lang="es-ES" b="1" dirty="0"/>
              <a:t>banana in a box </a:t>
            </a:r>
            <a:r>
              <a:rPr lang="es-ES" dirty="0"/>
              <a:t>porque su sintaxis </a:t>
            </a:r>
            <a:r>
              <a:rPr lang="es-ES" b="1" dirty="0"/>
              <a:t>requiere un () dentro de un []</a:t>
            </a:r>
            <a:r>
              <a:rPr lang="es-ES" dirty="0"/>
              <a:t>.</a:t>
            </a:r>
          </a:p>
          <a:p>
            <a:r>
              <a:rPr lang="es-ES" dirty="0"/>
              <a:t>Por ejemplo </a:t>
            </a:r>
            <a:r>
              <a:rPr lang="es-ES" b="1" dirty="0"/>
              <a:t>[(</a:t>
            </a:r>
            <a:r>
              <a:rPr lang="es-ES" b="1" dirty="0" err="1"/>
              <a:t>ngModel</a:t>
            </a:r>
            <a:r>
              <a:rPr lang="es-ES" b="1" dirty="0"/>
              <a:t>)]="</a:t>
            </a:r>
            <a:r>
              <a:rPr lang="es-ES" b="1" dirty="0" err="1"/>
              <a:t>operation.amount</a:t>
            </a:r>
            <a:r>
              <a:rPr lang="es-ES" b="1" dirty="0"/>
              <a:t>" </a:t>
            </a:r>
            <a:r>
              <a:rPr lang="es-ES" dirty="0"/>
              <a:t>enlaza doblemente el modelo </a:t>
            </a:r>
            <a:r>
              <a:rPr lang="es-ES" dirty="0" err="1"/>
              <a:t>operation.amount</a:t>
            </a:r>
            <a:r>
              <a:rPr lang="es-ES" dirty="0"/>
              <a:t> con la el elemento input de la vista.</a:t>
            </a:r>
          </a:p>
        </p:txBody>
      </p:sp>
    </p:spTree>
    <p:extLst>
      <p:ext uri="{BB962C8B-B14F-4D97-AF65-F5344CB8AC3E}">
        <p14:creationId xmlns:p14="http://schemas.microsoft.com/office/powerpoint/2010/main" val="378515714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Operador Elvis </a:t>
            </a:r>
            <a:r>
              <a:rPr lang="es-ES" b="1" dirty="0">
                <a:solidFill>
                  <a:srgbClr val="FF0000"/>
                </a:solidFill>
              </a:rPr>
              <a:t>?.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98643CE3-F229-4D51-B47F-721B097D9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Denotado por un signo de interrogación seguido inmediatamente de un punto, </a:t>
            </a:r>
            <a:r>
              <a:rPr lang="es-ES" b="1" dirty="0">
                <a:solidFill>
                  <a:srgbClr val="FF0000"/>
                </a:solidFill>
              </a:rPr>
              <a:t>?</a:t>
            </a:r>
            <a:r>
              <a:rPr lang="es-ES" dirty="0"/>
              <a:t>.</a:t>
            </a:r>
          </a:p>
          <a:p>
            <a:r>
              <a:rPr lang="es-ES" dirty="0"/>
              <a:t>Si hace referencia a una propiedad en su plantilla que no existe, lanzará una excepción.</a:t>
            </a:r>
          </a:p>
          <a:p>
            <a:r>
              <a:rPr lang="es-ES" dirty="0"/>
              <a:t>El operador </a:t>
            </a:r>
            <a:r>
              <a:rPr lang="es-ES" dirty="0" err="1"/>
              <a:t>elvis</a:t>
            </a:r>
            <a:r>
              <a:rPr lang="es-ES" dirty="0"/>
              <a:t> es una </a:t>
            </a:r>
            <a:r>
              <a:rPr lang="es-ES" b="1" dirty="0"/>
              <a:t>manera simple y fácil de protegerse contra propiedades </a:t>
            </a:r>
            <a:r>
              <a:rPr lang="es-ES" b="1" dirty="0">
                <a:solidFill>
                  <a:srgbClr val="FF0000"/>
                </a:solidFill>
              </a:rPr>
              <a:t>nulas e indefinidas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8360828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15293" y="2678906"/>
            <a:ext cx="2580680" cy="250031"/>
          </a:xfrm>
          <a:custGeom>
            <a:avLst/>
            <a:gdLst/>
            <a:ahLst/>
            <a:cxnLst/>
            <a:rect l="l" t="t" r="r" b="b"/>
            <a:pathLst>
              <a:path w="3670300" h="355600">
                <a:moveTo>
                  <a:pt x="0" y="0"/>
                </a:moveTo>
                <a:lnTo>
                  <a:pt x="3670096" y="0"/>
                </a:lnTo>
                <a:lnTo>
                  <a:pt x="3670096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3" name="object 3"/>
          <p:cNvSpPr/>
          <p:nvPr/>
        </p:nvSpPr>
        <p:spPr>
          <a:xfrm>
            <a:off x="1715293" y="2928938"/>
            <a:ext cx="4903291" cy="250031"/>
          </a:xfrm>
          <a:custGeom>
            <a:avLst/>
            <a:gdLst/>
            <a:ahLst/>
            <a:cxnLst/>
            <a:rect l="l" t="t" r="r" b="b"/>
            <a:pathLst>
              <a:path w="6973570" h="355600">
                <a:moveTo>
                  <a:pt x="0" y="0"/>
                </a:moveTo>
                <a:lnTo>
                  <a:pt x="6973188" y="0"/>
                </a:lnTo>
                <a:lnTo>
                  <a:pt x="6973188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4" name="object 4"/>
          <p:cNvSpPr/>
          <p:nvPr/>
        </p:nvSpPr>
        <p:spPr>
          <a:xfrm>
            <a:off x="1715293" y="3178969"/>
            <a:ext cx="5032325" cy="250031"/>
          </a:xfrm>
          <a:custGeom>
            <a:avLst/>
            <a:gdLst/>
            <a:ahLst/>
            <a:cxnLst/>
            <a:rect l="l" t="t" r="r" b="b"/>
            <a:pathLst>
              <a:path w="7157084" h="355600">
                <a:moveTo>
                  <a:pt x="0" y="0"/>
                </a:moveTo>
                <a:lnTo>
                  <a:pt x="7156704" y="0"/>
                </a:lnTo>
                <a:lnTo>
                  <a:pt x="7156704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5" name="object 5"/>
          <p:cNvSpPr/>
          <p:nvPr/>
        </p:nvSpPr>
        <p:spPr>
          <a:xfrm>
            <a:off x="1715293" y="3429000"/>
            <a:ext cx="2709714" cy="250031"/>
          </a:xfrm>
          <a:custGeom>
            <a:avLst/>
            <a:gdLst/>
            <a:ahLst/>
            <a:cxnLst/>
            <a:rect l="l" t="t" r="r" b="b"/>
            <a:pathLst>
              <a:path w="3853815" h="355600">
                <a:moveTo>
                  <a:pt x="0" y="0"/>
                </a:moveTo>
                <a:lnTo>
                  <a:pt x="3853611" y="0"/>
                </a:lnTo>
                <a:lnTo>
                  <a:pt x="3853611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6" name="object 6"/>
          <p:cNvSpPr/>
          <p:nvPr/>
        </p:nvSpPr>
        <p:spPr>
          <a:xfrm>
            <a:off x="1715294" y="3929063"/>
            <a:ext cx="4258121" cy="250031"/>
          </a:xfrm>
          <a:custGeom>
            <a:avLst/>
            <a:gdLst/>
            <a:ahLst/>
            <a:cxnLst/>
            <a:rect l="l" t="t" r="r" b="b"/>
            <a:pathLst>
              <a:path w="6055995" h="355600">
                <a:moveTo>
                  <a:pt x="0" y="0"/>
                </a:moveTo>
                <a:lnTo>
                  <a:pt x="6055664" y="0"/>
                </a:lnTo>
                <a:lnTo>
                  <a:pt x="6055664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7" name="object 7"/>
          <p:cNvSpPr txBox="1"/>
          <p:nvPr/>
        </p:nvSpPr>
        <p:spPr>
          <a:xfrm>
            <a:off x="1709935" y="2661047"/>
            <a:ext cx="3114675" cy="512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>
              <a:lnSpc>
                <a:spcPts val="1997"/>
              </a:lnSpc>
            </a:pP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&lt;</a:t>
            </a:r>
            <a:r>
              <a:rPr sz="1687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md-input-container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&gt;</a:t>
            </a:r>
            <a:endParaRPr sz="1687" dirty="0">
              <a:latin typeface="Lucida Console"/>
              <a:cs typeface="Lucida Console"/>
            </a:endParaRPr>
          </a:p>
          <a:p>
            <a:pPr marL="266988">
              <a:lnSpc>
                <a:spcPts val="1997"/>
              </a:lnSpc>
            </a:pP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&lt;</a:t>
            </a:r>
            <a:r>
              <a:rPr sz="1687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label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&gt;Type to see</a:t>
            </a:r>
            <a:r>
              <a:rPr sz="1687" spc="-32" dirty="0">
                <a:solidFill>
                  <a:srgbClr val="B7C4D1"/>
                </a:solidFill>
                <a:latin typeface="Lucida Console"/>
                <a:cs typeface="Lucida Console"/>
              </a:rPr>
              <a:t> 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the</a:t>
            </a:r>
            <a:endParaRPr sz="1687" dirty="0">
              <a:latin typeface="Lucida Console"/>
              <a:cs typeface="Lucida Consol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35793" y="2911079"/>
            <a:ext cx="1695301" cy="2596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value&lt;/</a:t>
            </a:r>
            <a:r>
              <a:rPr sz="1687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label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&gt;</a:t>
            </a:r>
            <a:endParaRPr sz="1687">
              <a:latin typeface="Lucida Console"/>
              <a:cs typeface="Lucida Conso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80749" y="3161110"/>
            <a:ext cx="1179612" cy="2596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#input</a:t>
            </a:r>
            <a:r>
              <a:rPr sz="1687" spc="-53" dirty="0">
                <a:solidFill>
                  <a:srgbClr val="B7C4D1"/>
                </a:solidFill>
                <a:latin typeface="Lucida Console"/>
                <a:cs typeface="Lucida Console"/>
              </a:rPr>
              <a:t> 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/&gt;</a:t>
            </a:r>
            <a:endParaRPr sz="1687">
              <a:latin typeface="Lucida Console"/>
              <a:cs typeface="Lucida Consol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09936" y="3161110"/>
            <a:ext cx="3759845" cy="512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6988">
              <a:lnSpc>
                <a:spcPts val="1997"/>
              </a:lnSpc>
              <a:tabLst>
                <a:tab pos="2331012" algn="l"/>
              </a:tabLst>
            </a:pP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&lt;</a:t>
            </a:r>
            <a:r>
              <a:rPr sz="1687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input</a:t>
            </a:r>
            <a:r>
              <a:rPr sz="1687" b="1" spc="11" dirty="0">
                <a:solidFill>
                  <a:srgbClr val="D78B40"/>
                </a:solidFill>
                <a:latin typeface="Lucida Sans Typewriter"/>
                <a:cs typeface="Lucida Sans Typewriter"/>
              </a:rPr>
              <a:t> 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md-input	type=</a:t>
            </a:r>
            <a:r>
              <a:rPr lang="es-ES"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"</a:t>
            </a:r>
            <a:r>
              <a:rPr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text</a:t>
            </a:r>
            <a:r>
              <a:rPr lang="es-ES"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"</a:t>
            </a:r>
            <a:endParaRPr sz="1687" dirty="0">
              <a:latin typeface="Lucida Console"/>
              <a:cs typeface="Lucida Console"/>
            </a:endParaRPr>
          </a:p>
          <a:p>
            <a:pPr marL="8929">
              <a:lnSpc>
                <a:spcPts val="1997"/>
              </a:lnSpc>
            </a:pP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&lt;/</a:t>
            </a:r>
            <a:r>
              <a:rPr sz="1687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md-input-container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&gt;</a:t>
            </a:r>
            <a:endParaRPr sz="1687" dirty="0">
              <a:latin typeface="Lucida Console"/>
              <a:cs typeface="Lucida Consol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09936" y="3911204"/>
            <a:ext cx="4275981" cy="2596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&lt;</a:t>
            </a:r>
            <a:r>
              <a:rPr sz="1687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strong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&gt;{{input</a:t>
            </a:r>
            <a:r>
              <a:rPr sz="1687" spc="-4" dirty="0">
                <a:solidFill>
                  <a:srgbClr val="FF0000"/>
                </a:solidFill>
                <a:latin typeface="Lucida Console"/>
                <a:cs typeface="Lucida Console"/>
              </a:rPr>
              <a:t>?.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value}}&lt;/</a:t>
            </a:r>
            <a:r>
              <a:rPr sz="1687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strong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&gt;</a:t>
            </a:r>
            <a:endParaRPr sz="1687" dirty="0">
              <a:latin typeface="Lucida Console"/>
              <a:cs typeface="Lucida Consol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18865" y="5929312"/>
            <a:ext cx="4075956" cy="7789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5062" b="1" spc="11" dirty="0">
                <a:solidFill>
                  <a:srgbClr val="53585F"/>
                </a:solidFill>
                <a:latin typeface="Trebuchet MS"/>
                <a:cs typeface="Trebuchet MS"/>
              </a:rPr>
              <a:t>Elvis</a:t>
            </a:r>
            <a:r>
              <a:rPr sz="5062" b="1" spc="-323" dirty="0">
                <a:solidFill>
                  <a:srgbClr val="53585F"/>
                </a:solidFill>
                <a:latin typeface="Trebuchet MS"/>
                <a:cs typeface="Trebuchet MS"/>
              </a:rPr>
              <a:t> </a:t>
            </a:r>
            <a:r>
              <a:rPr sz="5062" b="1" spc="-179" dirty="0">
                <a:solidFill>
                  <a:srgbClr val="53585F"/>
                </a:solidFill>
                <a:latin typeface="Trebuchet MS"/>
                <a:cs typeface="Trebuchet MS"/>
              </a:rPr>
              <a:t>Operator</a:t>
            </a:r>
            <a:endParaRPr sz="5062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15887832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464BDDC6-1FAD-4039-9BA9-46D3BA601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Doble </a:t>
            </a:r>
            <a:r>
              <a:rPr lang="es-ES" dirty="0" err="1"/>
              <a:t>Binding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C1F7363-FD28-4DBC-A673-DE10D82C8E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982" y="1825624"/>
            <a:ext cx="3503830" cy="4803775"/>
          </a:xfrm>
        </p:spPr>
        <p:txBody>
          <a:bodyPr>
            <a:normAutofit/>
          </a:bodyPr>
          <a:lstStyle/>
          <a:p>
            <a:r>
              <a:rPr lang="es-ES" dirty="0"/>
              <a:t>Edita el fichero </a:t>
            </a:r>
            <a:r>
              <a:rPr lang="es-ES" b="1" dirty="0" err="1"/>
              <a:t>new.component.ts</a:t>
            </a:r>
            <a:endParaRPr lang="es-ES" b="1" dirty="0"/>
          </a:p>
          <a:p>
            <a:r>
              <a:rPr lang="es-ES" dirty="0"/>
              <a:t>Aprende sobre la implementación de los formularios</a:t>
            </a:r>
          </a:p>
          <a:p>
            <a:r>
              <a:rPr lang="es-ES" dirty="0"/>
              <a:t>Fíjate en:</a:t>
            </a:r>
          </a:p>
          <a:p>
            <a:pPr lvl="1"/>
            <a:r>
              <a:rPr lang="es-ES" b="1" dirty="0">
                <a:solidFill>
                  <a:srgbClr val="FF0000"/>
                </a:solidFill>
              </a:rPr>
              <a:t>#</a:t>
            </a:r>
            <a:r>
              <a:rPr lang="es-ES" b="1" dirty="0" err="1">
                <a:solidFill>
                  <a:srgbClr val="FF0000"/>
                </a:solidFill>
              </a:rPr>
              <a:t>operationForm</a:t>
            </a:r>
            <a:endParaRPr lang="es-ES" b="1" dirty="0">
              <a:solidFill>
                <a:srgbClr val="FF0000"/>
              </a:solidFill>
            </a:endParaRPr>
          </a:p>
          <a:p>
            <a:pPr lvl="1"/>
            <a:r>
              <a:rPr lang="es-ES" b="1" dirty="0">
                <a:solidFill>
                  <a:srgbClr val="FF0000"/>
                </a:solidFill>
              </a:rPr>
              <a:t>[(</a:t>
            </a:r>
            <a:r>
              <a:rPr lang="es-ES" b="1" dirty="0" err="1">
                <a:solidFill>
                  <a:srgbClr val="FF0000"/>
                </a:solidFill>
              </a:rPr>
              <a:t>ngModel</a:t>
            </a:r>
            <a:r>
              <a:rPr lang="es-ES" b="1" dirty="0">
                <a:solidFill>
                  <a:srgbClr val="FF0000"/>
                </a:solidFill>
              </a:rPr>
              <a:t>)]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0240E0C-89C7-4887-8140-117D38105DD7}"/>
              </a:ext>
            </a:extLst>
          </p:cNvPr>
          <p:cNvSpPr/>
          <p:nvPr/>
        </p:nvSpPr>
        <p:spPr>
          <a:xfrm>
            <a:off x="10216035" y="180232"/>
            <a:ext cx="182197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LAB2c </a:t>
            </a:r>
            <a:endParaRPr lang="es-ES" sz="4800" dirty="0">
              <a:solidFill>
                <a:srgbClr val="FF0000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31CA41E-C625-4081-A833-4EC259AE0609}"/>
              </a:ext>
            </a:extLst>
          </p:cNvPr>
          <p:cNvSpPr/>
          <p:nvPr/>
        </p:nvSpPr>
        <p:spPr>
          <a:xfrm>
            <a:off x="10366848" y="874318"/>
            <a:ext cx="16374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/>
              <a:t>C:\Labs\T4\EX1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A74354A2-4925-4BDF-95EA-19B8449110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9012" y="1371600"/>
            <a:ext cx="7086600" cy="512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0496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C4E99B84-C184-42EE-9686-7B169FBDC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Las repeticiones</a:t>
            </a:r>
          </a:p>
        </p:txBody>
      </p:sp>
    </p:spTree>
    <p:extLst>
      <p:ext uri="{BB962C8B-B14F-4D97-AF65-F5344CB8AC3E}">
        <p14:creationId xmlns:p14="http://schemas.microsoft.com/office/powerpoint/2010/main" val="326808011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F71035-4AA8-4EDB-A52B-7DD094D37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Las repeticiones </a:t>
            </a:r>
            <a:r>
              <a:rPr lang="es-ES" altLang="es-ES" b="1" dirty="0">
                <a:solidFill>
                  <a:srgbClr val="FF0000"/>
                </a:solidFill>
                <a:latin typeface="Consolas" panose="020B0609020204030204" pitchFamily="49" charset="0"/>
              </a:rPr>
              <a:t>*</a:t>
            </a:r>
            <a:r>
              <a:rPr lang="es-ES" altLang="es-ES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ngFor</a:t>
            </a:r>
            <a:endParaRPr lang="es-ES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90D392D8-4333-4BA3-A89A-CF5956CAE0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s-ES" altLang="es-ES" dirty="0"/>
              <a:t>Hay una </a:t>
            </a:r>
            <a:r>
              <a:rPr lang="es-ES" altLang="es-ES" b="1" dirty="0">
                <a:solidFill>
                  <a:srgbClr val="FF0000"/>
                </a:solidFill>
              </a:rPr>
              <a:t>directiva</a:t>
            </a:r>
            <a:r>
              <a:rPr lang="es-ES" altLang="es-ES" dirty="0"/>
              <a:t> en Angular para las repeticiones: </a:t>
            </a:r>
          </a:p>
          <a:p>
            <a:pPr marL="0" lvl="0" indent="0">
              <a:buNone/>
            </a:pPr>
            <a:r>
              <a:rPr lang="es-ES" altLang="es-ES" b="1" dirty="0">
                <a:latin typeface="Consolas" panose="020B0609020204030204" pitchFamily="49" charset="0"/>
              </a:rPr>
              <a:t>		</a:t>
            </a:r>
            <a:r>
              <a:rPr lang="es-ES" altLang="es-ES" b="1" dirty="0">
                <a:solidFill>
                  <a:srgbClr val="FF0000"/>
                </a:solidFill>
                <a:latin typeface="Consolas" panose="020B0609020204030204" pitchFamily="49" charset="0"/>
              </a:rPr>
              <a:t>*</a:t>
            </a:r>
            <a:r>
              <a:rPr lang="es-ES" altLang="es-ES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ngFor</a:t>
            </a:r>
            <a:r>
              <a:rPr lang="es-ES" altLang="es-ES" b="1" dirty="0">
                <a:latin typeface="Consolas" panose="020B0609020204030204" pitchFamily="49" charset="0"/>
              </a:rPr>
              <a:t>="</a:t>
            </a:r>
            <a:r>
              <a:rPr lang="es-ES" altLang="es-ES" b="1" dirty="0" err="1">
                <a:latin typeface="Consolas" panose="020B0609020204030204" pitchFamily="49" charset="0"/>
              </a:rPr>
              <a:t>let</a:t>
            </a:r>
            <a:r>
              <a:rPr lang="es-ES" altLang="es-ES" b="1" dirty="0">
                <a:latin typeface="Consolas" panose="020B0609020204030204" pitchFamily="49" charset="0"/>
              </a:rPr>
              <a:t> </a:t>
            </a:r>
            <a:r>
              <a:rPr lang="es-ES" altLang="es-ES" b="1" dirty="0" err="1">
                <a:latin typeface="Consolas" panose="020B0609020204030204" pitchFamily="49" charset="0"/>
              </a:rPr>
              <a:t>iterador</a:t>
            </a:r>
            <a:r>
              <a:rPr lang="es-ES" altLang="es-ES" b="1" dirty="0">
                <a:latin typeface="Consolas" panose="020B0609020204030204" pitchFamily="49" charset="0"/>
              </a:rPr>
              <a:t> </a:t>
            </a:r>
            <a:r>
              <a:rPr lang="es-ES" altLang="es-ES" b="1" dirty="0" err="1">
                <a:latin typeface="Consolas" panose="020B0609020204030204" pitchFamily="49" charset="0"/>
              </a:rPr>
              <a:t>of</a:t>
            </a:r>
            <a:r>
              <a:rPr lang="es-ES" altLang="es-ES" b="1" dirty="0">
                <a:latin typeface="Consolas" panose="020B0609020204030204" pitchFamily="49" charset="0"/>
              </a:rPr>
              <a:t> array"</a:t>
            </a:r>
            <a:r>
              <a:rPr lang="es-ES" altLang="es-ES" dirty="0">
                <a:latin typeface="Consolas" panose="020B0609020204030204" pitchFamily="49" charset="0"/>
              </a:rPr>
              <a:t> </a:t>
            </a:r>
          </a:p>
          <a:p>
            <a:pPr marL="0" lvl="0" indent="0">
              <a:buNone/>
            </a:pPr>
            <a:endParaRPr lang="es-ES" altLang="es-ES" dirty="0">
              <a:latin typeface="Consolas" panose="020B0609020204030204" pitchFamily="49" charset="0"/>
            </a:endParaRPr>
          </a:p>
          <a:p>
            <a:pPr lvl="0"/>
            <a:r>
              <a:rPr lang="es-ES" altLang="es-ES" dirty="0"/>
              <a:t>La directiva</a:t>
            </a:r>
            <a:r>
              <a:rPr lang="es-ES" altLang="es-ES" b="1" dirty="0"/>
              <a:t>*</a:t>
            </a:r>
            <a:r>
              <a:rPr lang="es-ES" altLang="es-ES" b="1" dirty="0" err="1"/>
              <a:t>ngFor</a:t>
            </a:r>
            <a:r>
              <a:rPr lang="es-ES" altLang="es-ES" b="1" dirty="0"/>
              <a:t> </a:t>
            </a:r>
            <a:r>
              <a:rPr lang="es-ES" altLang="es-ES" dirty="0"/>
              <a:t>forma parte del grupo de </a:t>
            </a:r>
            <a:r>
              <a:rPr lang="es-ES" altLang="es-ES" b="1" dirty="0"/>
              <a:t>directivas estructurales</a:t>
            </a:r>
            <a:r>
              <a:rPr lang="es-ES" altLang="es-ES" dirty="0"/>
              <a:t>, llamadas </a:t>
            </a:r>
            <a:r>
              <a:rPr lang="es-ES" altLang="es-ES" dirty="0" err="1"/>
              <a:t>aís</a:t>
            </a:r>
            <a:r>
              <a:rPr lang="es-ES" altLang="es-ES" dirty="0"/>
              <a:t> porque </a:t>
            </a:r>
            <a:r>
              <a:rPr lang="es-ES" altLang="es-ES" b="1" dirty="0"/>
              <a:t>modifican la estructura del DOM</a:t>
            </a:r>
            <a:r>
              <a:rPr lang="es-ES" altLang="es-ES" dirty="0"/>
              <a:t>, en este caso insertando múltiples nodos hijos a un elemento dado.</a:t>
            </a:r>
          </a:p>
          <a:p>
            <a:pPr lvl="0"/>
            <a:r>
              <a:rPr lang="es-ES" altLang="es-ES" dirty="0"/>
              <a:t>Puedes ver un </a:t>
            </a:r>
            <a:r>
              <a:rPr lang="es-ES" altLang="es-ES" b="1" dirty="0"/>
              <a:t>ejemplo del uso la directiva *</a:t>
            </a:r>
            <a:r>
              <a:rPr lang="es-ES" altLang="es-ES" b="1" dirty="0" err="1"/>
              <a:t>ngFor</a:t>
            </a:r>
            <a:r>
              <a:rPr lang="es-ES" altLang="es-ES" b="1" dirty="0"/>
              <a:t> en el elemento </a:t>
            </a:r>
            <a:r>
              <a:rPr lang="es-ES" altLang="es-ES" b="1" dirty="0" err="1"/>
              <a:t>select</a:t>
            </a:r>
            <a:r>
              <a:rPr lang="es-ES" altLang="es-ES" dirty="0"/>
              <a:t>. Se emplea para recorrer un array y generar a partir de sus valores el grupo de potenciales opciones para el usuario.</a:t>
            </a:r>
          </a:p>
          <a:p>
            <a:endParaRPr lang="es-ES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6A270780-8168-44D8-BB77-CE50D393A5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438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490346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1D4650-76CE-4978-B19F-D3DF5B0C5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Tablas - Las repeticiones </a:t>
            </a:r>
            <a:r>
              <a:rPr lang="es-ES" altLang="es-ES" b="1" dirty="0">
                <a:solidFill>
                  <a:srgbClr val="FF0000"/>
                </a:solidFill>
                <a:latin typeface="Consolas" panose="020B0609020204030204" pitchFamily="49" charset="0"/>
              </a:rPr>
              <a:t>*</a:t>
            </a:r>
            <a:r>
              <a:rPr lang="es-ES" altLang="es-ES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ngFor</a:t>
            </a:r>
            <a:endParaRPr lang="es-ES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739B681A-AA4E-46A3-B3C8-3E3938CA1D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982" y="1825624"/>
            <a:ext cx="3580030" cy="4803775"/>
          </a:xfrm>
        </p:spPr>
        <p:txBody>
          <a:bodyPr>
            <a:normAutofit/>
          </a:bodyPr>
          <a:lstStyle/>
          <a:p>
            <a:r>
              <a:rPr lang="es-ES" dirty="0"/>
              <a:t>La aplicación tiene un formulario que guarda el trabajo del usuario en un array. </a:t>
            </a:r>
          </a:p>
          <a:p>
            <a:r>
              <a:rPr lang="es-ES" dirty="0"/>
              <a:t>Ese mismo </a:t>
            </a:r>
            <a:r>
              <a:rPr lang="es-ES" b="1" dirty="0"/>
              <a:t>array</a:t>
            </a:r>
            <a:r>
              <a:rPr lang="es-ES" dirty="0"/>
              <a:t> se muestra </a:t>
            </a:r>
            <a:r>
              <a:rPr lang="es-ES" b="1" dirty="0"/>
              <a:t>como una tabla </a:t>
            </a:r>
            <a:r>
              <a:rPr lang="es-ES" dirty="0"/>
              <a:t>de datos valiéndose de </a:t>
            </a:r>
            <a:r>
              <a:rPr lang="es-ES" b="1" dirty="0"/>
              <a:t>*</a:t>
            </a:r>
            <a:r>
              <a:rPr lang="es-ES" b="1" dirty="0" err="1"/>
              <a:t>ngFor</a:t>
            </a:r>
            <a:r>
              <a:rPr lang="es-ES" b="1" dirty="0"/>
              <a:t>.</a:t>
            </a:r>
            <a:r>
              <a:rPr lang="es-ES" dirty="0"/>
              <a:t> </a:t>
            </a:r>
          </a:p>
          <a:p>
            <a:endParaRPr lang="es-E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3DBA359-2A22-44A7-8AE7-83805DA742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0412" y="1905000"/>
            <a:ext cx="7305675" cy="3638550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12DD27C2-F7C7-4E0C-AF73-699365A9CFF6}"/>
              </a:ext>
            </a:extLst>
          </p:cNvPr>
          <p:cNvSpPr/>
          <p:nvPr/>
        </p:nvSpPr>
        <p:spPr>
          <a:xfrm>
            <a:off x="10216035" y="180232"/>
            <a:ext cx="182197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LAB2d </a:t>
            </a:r>
            <a:endParaRPr lang="es-ES" sz="4800" dirty="0">
              <a:solidFill>
                <a:srgbClr val="FF0000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AA76A86-BAC0-439A-9E47-DD219C1042E1}"/>
              </a:ext>
            </a:extLst>
          </p:cNvPr>
          <p:cNvSpPr/>
          <p:nvPr/>
        </p:nvSpPr>
        <p:spPr>
          <a:xfrm>
            <a:off x="10366848" y="874318"/>
            <a:ext cx="16374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/>
              <a:t>C:\Labs\T4\EX1</a:t>
            </a:r>
          </a:p>
        </p:txBody>
      </p:sp>
    </p:spTree>
    <p:extLst>
      <p:ext uri="{BB962C8B-B14F-4D97-AF65-F5344CB8AC3E}">
        <p14:creationId xmlns:p14="http://schemas.microsoft.com/office/powerpoint/2010/main" val="132372704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348F8489-06DF-FBEB-4ABB-3CA22C42B338}"/>
              </a:ext>
            </a:extLst>
          </p:cNvPr>
          <p:cNvSpPr txBox="1"/>
          <p:nvPr/>
        </p:nvSpPr>
        <p:spPr>
          <a:xfrm>
            <a:off x="1217612" y="1676400"/>
            <a:ext cx="9018070" cy="286232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OperationsModule</a:t>
            </a:r>
            <a:endParaRPr lang="es-ES" b="0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endParaRPr lang="es-ES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endParaRPr lang="es-ES" b="0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endParaRPr lang="es-ES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endParaRPr lang="es-ES" b="0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endParaRPr lang="es-ES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endParaRPr lang="es-ES" b="0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endParaRPr lang="es-ES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endParaRPr lang="es-ES" b="0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endParaRPr lang="es-ES" b="0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96BDA0B-9408-BAF7-7300-83EAC0C93FE8}"/>
              </a:ext>
            </a:extLst>
          </p:cNvPr>
          <p:cNvSpPr txBox="1"/>
          <p:nvPr/>
        </p:nvSpPr>
        <p:spPr>
          <a:xfrm>
            <a:off x="6425682" y="2210869"/>
            <a:ext cx="3276600" cy="36933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NewComponent</a:t>
            </a:r>
            <a:endParaRPr lang="es-ES" b="0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7AAF4D4-CE39-91FB-DD95-D7BE29282D99}"/>
              </a:ext>
            </a:extLst>
          </p:cNvPr>
          <p:cNvSpPr txBox="1"/>
          <p:nvPr/>
        </p:nvSpPr>
        <p:spPr>
          <a:xfrm>
            <a:off x="6425682" y="2769532"/>
            <a:ext cx="3276600" cy="36933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ListComponent</a:t>
            </a:r>
            <a:endParaRPr lang="es-ES" b="0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9D9E3A4-7ACE-B773-D1D1-2DCAD9C32193}"/>
              </a:ext>
            </a:extLst>
          </p:cNvPr>
          <p:cNvSpPr txBox="1"/>
          <p:nvPr/>
        </p:nvSpPr>
        <p:spPr>
          <a:xfrm>
            <a:off x="1548882" y="2179767"/>
            <a:ext cx="4724400" cy="2031325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OperationsComponent</a:t>
            </a:r>
            <a:endParaRPr lang="es-ES" b="0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r>
              <a:rPr lang="es-E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&lt;</a:t>
            </a:r>
            <a:r>
              <a:rPr lang="es-ES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cf</a:t>
            </a:r>
            <a:r>
              <a:rPr lang="es-E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-new&gt;&lt;/</a:t>
            </a:r>
            <a:r>
              <a:rPr lang="es-ES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cf</a:t>
            </a:r>
            <a:r>
              <a:rPr lang="es-E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-new&gt;</a:t>
            </a:r>
          </a:p>
          <a:p>
            <a:r>
              <a:rPr lang="es-E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&lt;</a:t>
            </a:r>
            <a:r>
              <a:rPr lang="es-ES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cf-list</a:t>
            </a:r>
            <a:r>
              <a:rPr lang="es-E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es-ES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cf-list</a:t>
            </a:r>
            <a:r>
              <a:rPr lang="es-E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endParaRPr lang="es-ES" b="0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</a:rPr>
              <a:t>Datos</a:t>
            </a:r>
          </a:p>
          <a:p>
            <a:r>
              <a:rPr lang="es-E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	lista </a:t>
            </a:r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</a:rPr>
              <a:t>operaciones</a:t>
            </a:r>
          </a:p>
          <a:p>
            <a:r>
              <a:rPr lang="es-E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	eventos que sucedan</a:t>
            </a:r>
          </a:p>
        </p:txBody>
      </p:sp>
    </p:spTree>
    <p:extLst>
      <p:ext uri="{BB962C8B-B14F-4D97-AF65-F5344CB8AC3E}">
        <p14:creationId xmlns:p14="http://schemas.microsoft.com/office/powerpoint/2010/main" val="76600905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BE311A-32B8-4E60-9BB6-8672C2EE6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Condicionales</a:t>
            </a:r>
          </a:p>
        </p:txBody>
      </p:sp>
    </p:spTree>
    <p:extLst>
      <p:ext uri="{BB962C8B-B14F-4D97-AF65-F5344CB8AC3E}">
        <p14:creationId xmlns:p14="http://schemas.microsoft.com/office/powerpoint/2010/main" val="328094684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443824B0-9F88-4D86-AD64-8D0DE8BDB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Condicionales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B41DB0F6-1ECB-4342-AB49-30046E5790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Otra directiva estructural muy utilizada es la </a:t>
            </a:r>
            <a:r>
              <a:rPr lang="es-ES" b="1" dirty="0"/>
              <a:t>*</a:t>
            </a:r>
            <a:r>
              <a:rPr lang="es-ES" b="1" dirty="0" err="1"/>
              <a:t>ngIf</a:t>
            </a:r>
            <a:r>
              <a:rPr lang="es-ES" dirty="0"/>
              <a:t>, la cual consigue que un elemento se incluya o se elimine en el DOM en función de los datos del modelo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3068279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F71035-4AA8-4EDB-A52B-7DD094D37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altLang="es-ES" b="1" dirty="0">
                <a:solidFill>
                  <a:srgbClr val="FF0000"/>
                </a:solidFill>
                <a:latin typeface="Consolas" panose="020B0609020204030204" pitchFamily="49" charset="0"/>
              </a:rPr>
              <a:t>*</a:t>
            </a:r>
            <a:r>
              <a:rPr lang="es-ES" altLang="es-ES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ngIf</a:t>
            </a:r>
            <a:endParaRPr lang="es-ES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90D392D8-4333-4BA3-A89A-CF5956CAE0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s-ES" altLang="es-ES" dirty="0"/>
              <a:t>A veces, una aplicación necesita mostrar una vista o una parte de una vista solo bajo circunstancias específicas.</a:t>
            </a:r>
          </a:p>
          <a:p>
            <a:pPr marL="0" lvl="0" indent="0">
              <a:buNone/>
            </a:pPr>
            <a:endParaRPr lang="es-ES" altLang="es-ES" dirty="0">
              <a:latin typeface="Consolas" panose="020B0609020204030204" pitchFamily="49" charset="0"/>
            </a:endParaRPr>
          </a:p>
          <a:p>
            <a:pPr lvl="0"/>
            <a:r>
              <a:rPr lang="es-ES" altLang="es-ES" dirty="0"/>
              <a:t>La directiva</a:t>
            </a:r>
            <a:r>
              <a:rPr lang="es-ES" altLang="es-ES" b="1" dirty="0"/>
              <a:t>*</a:t>
            </a:r>
            <a:r>
              <a:rPr lang="es-ES" altLang="es-ES" b="1" dirty="0" err="1"/>
              <a:t>ngIf</a:t>
            </a:r>
            <a:r>
              <a:rPr lang="es-ES" altLang="es-ES" b="1" dirty="0"/>
              <a:t> </a:t>
            </a:r>
            <a:r>
              <a:rPr lang="es-ES" altLang="es-ES" dirty="0"/>
              <a:t>inserta o elimina un elemento en función de la condición</a:t>
            </a:r>
            <a:endParaRPr lang="es-ES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6A270780-8168-44D8-BB77-CE50D393A5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438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694B502-C6D6-483F-848D-14B896A179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4574" y="1828800"/>
            <a:ext cx="9599611" cy="40011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s-ES" altLang="es-ES" sz="2000" b="1" dirty="0">
                <a:solidFill>
                  <a:srgbClr val="000088"/>
                </a:solidFill>
                <a:latin typeface="Consolas" panose="020B0609020204030204" pitchFamily="49" charset="0"/>
              </a:rPr>
              <a:t>&lt;p</a:t>
            </a:r>
            <a:r>
              <a:rPr lang="es-ES" altLang="es-E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*</a:t>
            </a:r>
            <a:r>
              <a:rPr lang="es-ES" altLang="es-ES" sz="2000" b="1" dirty="0" err="1">
                <a:solidFill>
                  <a:srgbClr val="660066"/>
                </a:solidFill>
                <a:latin typeface="Consolas" panose="020B0609020204030204" pitchFamily="49" charset="0"/>
                <a:hlinkClick r:id="rId3"/>
              </a:rPr>
              <a:t>ngIf</a:t>
            </a:r>
            <a:r>
              <a:rPr lang="es-ES" altLang="es-ES" sz="2000" b="1" dirty="0">
                <a:solidFill>
                  <a:srgbClr val="666600"/>
                </a:solidFill>
                <a:latin typeface="Consolas" panose="020B0609020204030204" pitchFamily="49" charset="0"/>
              </a:rPr>
              <a:t>=</a:t>
            </a:r>
            <a:r>
              <a:rPr lang="es-ES" altLang="es-ES" sz="2000" b="1" dirty="0">
                <a:solidFill>
                  <a:srgbClr val="880000"/>
                </a:solidFill>
                <a:latin typeface="Consolas" panose="020B0609020204030204" pitchFamily="49" charset="0"/>
              </a:rPr>
              <a:t>"</a:t>
            </a:r>
            <a:r>
              <a:rPr lang="es-ES" altLang="es-ES" sz="2000" b="1" dirty="0" err="1">
                <a:solidFill>
                  <a:srgbClr val="880000"/>
                </a:solidFill>
                <a:latin typeface="Consolas" panose="020B0609020204030204" pitchFamily="49" charset="0"/>
              </a:rPr>
              <a:t>heroes.length</a:t>
            </a:r>
            <a:r>
              <a:rPr lang="es-ES" altLang="es-ES" sz="2000" b="1" dirty="0">
                <a:solidFill>
                  <a:srgbClr val="880000"/>
                </a:solidFill>
                <a:latin typeface="Consolas" panose="020B0609020204030204" pitchFamily="49" charset="0"/>
              </a:rPr>
              <a:t> &gt;</a:t>
            </a:r>
            <a:r>
              <a:rPr lang="es-ES" altLang="es-E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3"&gt;</a:t>
            </a:r>
            <a:r>
              <a:rPr lang="es-ES" altLang="es-E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There</a:t>
            </a:r>
            <a:r>
              <a:rPr lang="es-ES" altLang="es-E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are </a:t>
            </a:r>
            <a:r>
              <a:rPr lang="es-ES" altLang="es-E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many</a:t>
            </a:r>
            <a:r>
              <a:rPr lang="es-ES" altLang="es-E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altLang="es-E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heroes</a:t>
            </a:r>
            <a:r>
              <a:rPr lang="es-ES" altLang="es-E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!</a:t>
            </a:r>
            <a:r>
              <a:rPr lang="es-ES" altLang="es-ES" sz="2000" b="1" dirty="0">
                <a:solidFill>
                  <a:srgbClr val="000088"/>
                </a:solidFill>
                <a:latin typeface="Consolas" panose="020B0609020204030204" pitchFamily="49" charset="0"/>
              </a:rPr>
              <a:t>&lt;/p&gt;</a:t>
            </a:r>
            <a:endParaRPr lang="es-ES" altLang="es-ES" sz="6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258155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6FF074-B681-4E5E-8CA5-783E5640B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110F17-1696-4875-9B07-59D866D7C5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586485E-5737-4FA3-B317-2AA28FB889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892"/>
            <a:ext cx="12190413" cy="6857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58287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B30110-B349-4304-A05D-F22FECD20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 err="1"/>
              <a:t>NgStyle</a:t>
            </a:r>
            <a:endParaRPr lang="es-ES" dirty="0"/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727F1973-642A-44E7-AC17-1496345C49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way to set styles is by using the </a:t>
            </a:r>
            <a:r>
              <a:rPr lang="en-US" dirty="0" err="1"/>
              <a:t>NgStyle</a:t>
            </a:r>
            <a:r>
              <a:rPr lang="en-US" dirty="0"/>
              <a:t> directive and assigning it an object literal, like so: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ngStyle</a:t>
            </a:r>
            <a:r>
              <a:rPr lang="en-US" dirty="0"/>
              <a:t> becomes much more useful when the value is dynamic. </a:t>
            </a:r>
            <a:endParaRPr lang="es-E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372D017-05ED-4BD8-B3EB-5DF772A737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7612" y="2057400"/>
            <a:ext cx="9144000" cy="342371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952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es-ES" altLang="es-ES" sz="160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7D9029"/>
                </a:solidFill>
                <a:effectLst/>
                <a:latin typeface="Consolas" panose="020B0609020204030204" pitchFamily="49" charset="0"/>
              </a:rPr>
              <a:t>ngStyle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]="{'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7D9029"/>
                </a:solidFill>
                <a:effectLst/>
                <a:latin typeface="Consolas" panose="020B0609020204030204" pitchFamily="49" charset="0"/>
              </a:rPr>
              <a:t>background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7D9029"/>
                </a:solidFill>
                <a:effectLst/>
                <a:latin typeface="Consolas" panose="020B0609020204030204" pitchFamily="49" charset="0"/>
              </a:rPr>
              <a:t>-color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7D902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7D9029"/>
                </a:solidFill>
                <a:effectLst/>
                <a:latin typeface="Consolas" panose="020B0609020204030204" pitchFamily="49" charset="0"/>
              </a:rPr>
              <a:t>green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'}"&gt;&lt;/&lt;</a:t>
            </a:r>
            <a:r>
              <a:rPr kumimoji="0" lang="es-ES" altLang="es-ES" sz="160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&gt;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1EE2214D-0DE5-41D9-BB17-094F551C3F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7612" y="3568469"/>
            <a:ext cx="9874498" cy="342371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952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es-ES" altLang="es-ES" sz="160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7D9029"/>
                </a:solidFill>
                <a:effectLst/>
                <a:latin typeface="Consolas" panose="020B0609020204030204" pitchFamily="49" charset="0"/>
              </a:rPr>
              <a:t>ngStyle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]="{'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7D9029"/>
                </a:solidFill>
                <a:effectLst/>
                <a:latin typeface="Consolas" panose="020B0609020204030204" pitchFamily="49" charset="0"/>
              </a:rPr>
              <a:t>background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7D9029"/>
                </a:solidFill>
                <a:effectLst/>
                <a:latin typeface="Consolas" panose="020B0609020204030204" pitchFamily="49" charset="0"/>
              </a:rPr>
              <a:t>-color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7D902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7D9029"/>
                </a:solidFill>
                <a:effectLst/>
                <a:latin typeface="Consolas" panose="020B0609020204030204" pitchFamily="49" charset="0"/>
              </a:rPr>
              <a:t>person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7D9029"/>
                </a:solidFill>
                <a:effectLst/>
                <a:latin typeface="Consolas" panose="020B0609020204030204" pitchFamily="49" charset="0"/>
              </a:rPr>
              <a:t>country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7D90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66666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BA2121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'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7D9029"/>
                </a:solidFill>
                <a:effectLst/>
                <a:latin typeface="Consolas" panose="020B0609020204030204" pitchFamily="49" charset="0"/>
              </a:rPr>
              <a:t>UK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' ? '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7D9029"/>
                </a:solidFill>
                <a:effectLst/>
                <a:latin typeface="Consolas" panose="020B0609020204030204" pitchFamily="49" charset="0"/>
              </a:rPr>
              <a:t>green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' 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7D902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'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7D9029"/>
                </a:solidFill>
                <a:effectLst/>
                <a:latin typeface="Consolas" panose="020B0609020204030204" pitchFamily="49" charset="0"/>
              </a:rPr>
              <a:t>red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' }"&gt;&lt;/&lt;</a:t>
            </a:r>
            <a:r>
              <a:rPr kumimoji="0" lang="es-ES" altLang="es-ES" sz="160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&gt;</a:t>
            </a:r>
            <a:endParaRPr kumimoji="0" lang="es-ES" altLang="es-E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317530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985386AA-B2B6-F5DA-6907-BBCB30396862}"/>
              </a:ext>
            </a:extLst>
          </p:cNvPr>
          <p:cNvSpPr txBox="1"/>
          <p:nvPr/>
        </p:nvSpPr>
        <p:spPr>
          <a:xfrm>
            <a:off x="684212" y="1295400"/>
            <a:ext cx="2590800" cy="64633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 err="1"/>
              <a:t>Template</a:t>
            </a:r>
            <a:endParaRPr lang="es-ES" dirty="0"/>
          </a:p>
          <a:p>
            <a:r>
              <a:rPr lang="es-ES" dirty="0"/>
              <a:t>	{Style}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91CC25F-A9A5-6E03-6EC2-14A9BB2214A9}"/>
              </a:ext>
            </a:extLst>
          </p:cNvPr>
          <p:cNvSpPr txBox="1"/>
          <p:nvPr/>
        </p:nvSpPr>
        <p:spPr>
          <a:xfrm>
            <a:off x="4037012" y="1295400"/>
            <a:ext cx="3200400" cy="64633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Componente</a:t>
            </a:r>
          </a:p>
          <a:p>
            <a:r>
              <a:rPr lang="es-ES" dirty="0"/>
              <a:t>	_</a:t>
            </a:r>
            <a:r>
              <a:rPr lang="es-ES" dirty="0" err="1"/>
              <a:t>variableServicio</a:t>
            </a:r>
            <a:endParaRPr lang="es-E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E3DA04D-4A53-D0A6-1D1B-30FBAE9DE4D2}"/>
              </a:ext>
            </a:extLst>
          </p:cNvPr>
          <p:cNvSpPr txBox="1"/>
          <p:nvPr/>
        </p:nvSpPr>
        <p:spPr>
          <a:xfrm>
            <a:off x="7466012" y="1930254"/>
            <a:ext cx="2590800" cy="64633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Servicio</a:t>
            </a:r>
          </a:p>
          <a:p>
            <a:r>
              <a:rPr lang="es-ES" dirty="0"/>
              <a:t>	f({Regla Style})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35B0707-9FAE-6EBF-E821-029D0D981A09}"/>
              </a:ext>
            </a:extLst>
          </p:cNvPr>
          <p:cNvSpPr txBox="1"/>
          <p:nvPr/>
        </p:nvSpPr>
        <p:spPr>
          <a:xfrm>
            <a:off x="4037012" y="2438400"/>
            <a:ext cx="3200400" cy="64633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Componente</a:t>
            </a:r>
          </a:p>
          <a:p>
            <a:r>
              <a:rPr lang="es-ES" dirty="0"/>
              <a:t>	_</a:t>
            </a:r>
            <a:r>
              <a:rPr lang="es-ES" dirty="0" err="1"/>
              <a:t>variableServicio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4567243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7BE537-2E54-44D7-B6FC-85590F5B2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982" y="365126"/>
            <a:ext cx="3580030" cy="1325563"/>
          </a:xfrm>
        </p:spPr>
        <p:txBody>
          <a:bodyPr/>
          <a:lstStyle/>
          <a:p>
            <a:r>
              <a:rPr lang="es-ES" dirty="0" err="1"/>
              <a:t>NgStyle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92F6568-9BDF-4D40-9710-BD411C26A6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982" y="1825624"/>
            <a:ext cx="3656230" cy="480377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But the expression doesn't have to be </a:t>
            </a:r>
            <a:r>
              <a:rPr lang="en-US" i="1" dirty="0"/>
              <a:t>inline</a:t>
            </a:r>
            <a:r>
              <a:rPr lang="en-US" dirty="0"/>
              <a:t>, we can call a function on the component instead.</a:t>
            </a:r>
          </a:p>
          <a:p>
            <a:pPr marL="0" indent="0">
              <a:buNone/>
            </a:pPr>
            <a:endParaRPr lang="es-E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74AB431-3DBA-4EEB-A327-EF0D5132A0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4212" y="152400"/>
            <a:ext cx="7467600" cy="6559458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952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altLang="es-ES" sz="1200" dirty="0">
                <a:solidFill>
                  <a:srgbClr val="333333"/>
                </a:solidFill>
                <a:latin typeface="Consolas" panose="020B0609020204030204" pitchFamily="49" charset="0"/>
              </a:rPr>
              <a:t>@</a:t>
            </a:r>
            <a:r>
              <a:rPr lang="es-ES" altLang="es-ES" sz="1200" dirty="0" err="1">
                <a:solidFill>
                  <a:srgbClr val="333333"/>
                </a:solidFill>
                <a:latin typeface="Consolas" panose="020B0609020204030204" pitchFamily="49" charset="0"/>
              </a:rPr>
              <a:t>Component</a:t>
            </a:r>
            <a:r>
              <a:rPr lang="es-ES" altLang="es-ES" sz="1200" dirty="0">
                <a:solidFill>
                  <a:srgbClr val="333333"/>
                </a:solidFill>
                <a:latin typeface="Consolas" panose="020B0609020204030204" pitchFamily="49" charset="0"/>
              </a:rPr>
              <a:t>({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altLang="es-ES" sz="1200" dirty="0">
                <a:solidFill>
                  <a:srgbClr val="333333"/>
                </a:solidFill>
                <a:latin typeface="Consolas" panose="020B0609020204030204" pitchFamily="49" charset="0"/>
              </a:rPr>
              <a:t>  selector: '</a:t>
            </a:r>
            <a:r>
              <a:rPr lang="es-ES" altLang="es-ES" sz="1200" dirty="0" err="1">
                <a:solidFill>
                  <a:srgbClr val="333333"/>
                </a:solidFill>
                <a:latin typeface="Consolas" panose="020B0609020204030204" pitchFamily="49" charset="0"/>
              </a:rPr>
              <a:t>ngstyle-example</a:t>
            </a:r>
            <a:r>
              <a:rPr lang="es-ES" altLang="es-ES" sz="1200" dirty="0">
                <a:solidFill>
                  <a:srgbClr val="333333"/>
                </a:solidFill>
                <a:latin typeface="Consolas" panose="020B0609020204030204" pitchFamily="49" charset="0"/>
              </a:rPr>
              <a:t>',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altLang="es-ES" sz="1200" dirty="0">
                <a:solidFill>
                  <a:srgbClr val="333333"/>
                </a:solidFill>
                <a:latin typeface="Consolas" panose="020B0609020204030204" pitchFamily="49" charset="0"/>
              </a:rPr>
              <a:t>  </a:t>
            </a:r>
            <a:r>
              <a:rPr lang="es-ES" altLang="es-ES" sz="1200" dirty="0" err="1">
                <a:solidFill>
                  <a:srgbClr val="333333"/>
                </a:solidFill>
                <a:latin typeface="Consolas" panose="020B0609020204030204" pitchFamily="49" charset="0"/>
              </a:rPr>
              <a:t>template</a:t>
            </a:r>
            <a:r>
              <a:rPr lang="es-ES" altLang="es-ES" sz="1200" dirty="0">
                <a:solidFill>
                  <a:srgbClr val="333333"/>
                </a:solidFill>
                <a:latin typeface="Consolas" panose="020B0609020204030204" pitchFamily="49" charset="0"/>
              </a:rPr>
              <a:t>: `&lt;h4&gt;</a:t>
            </a:r>
            <a:r>
              <a:rPr lang="es-ES" altLang="es-ES" sz="1200" dirty="0" err="1">
                <a:solidFill>
                  <a:srgbClr val="333333"/>
                </a:solidFill>
                <a:latin typeface="Consolas" panose="020B0609020204030204" pitchFamily="49" charset="0"/>
              </a:rPr>
              <a:t>NgStyle</a:t>
            </a:r>
            <a:r>
              <a:rPr lang="es-ES" altLang="es-ES" sz="1200" dirty="0">
                <a:solidFill>
                  <a:srgbClr val="333333"/>
                </a:solidFill>
                <a:latin typeface="Consolas" panose="020B0609020204030204" pitchFamily="49" charset="0"/>
              </a:rPr>
              <a:t>&lt;/h4&gt;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altLang="es-ES" sz="1200" dirty="0">
                <a:solidFill>
                  <a:srgbClr val="333333"/>
                </a:solidFill>
                <a:latin typeface="Consolas" panose="020B0609020204030204" pitchFamily="49" charset="0"/>
              </a:rPr>
              <a:t>&lt;</a:t>
            </a:r>
            <a:r>
              <a:rPr lang="es-ES" altLang="es-ES" sz="1200" dirty="0" err="1">
                <a:solidFill>
                  <a:srgbClr val="333333"/>
                </a:solidFill>
                <a:latin typeface="Consolas" panose="020B0609020204030204" pitchFamily="49" charset="0"/>
              </a:rPr>
              <a:t>ul</a:t>
            </a:r>
            <a:r>
              <a:rPr lang="es-ES" altLang="es-ES" sz="1200" dirty="0">
                <a:solidFill>
                  <a:srgbClr val="333333"/>
                </a:solidFill>
                <a:latin typeface="Consolas" panose="020B0609020204030204" pitchFamily="49" charset="0"/>
              </a:rPr>
              <a:t> *</a:t>
            </a:r>
            <a:r>
              <a:rPr lang="es-ES" altLang="es-ES" sz="1200" dirty="0" err="1">
                <a:solidFill>
                  <a:srgbClr val="333333"/>
                </a:solidFill>
                <a:latin typeface="Consolas" panose="020B0609020204030204" pitchFamily="49" charset="0"/>
              </a:rPr>
              <a:t>ngFor</a:t>
            </a:r>
            <a:r>
              <a:rPr lang="es-ES" altLang="es-ES" sz="1200" dirty="0">
                <a:solidFill>
                  <a:srgbClr val="333333"/>
                </a:solidFill>
                <a:latin typeface="Consolas" panose="020B0609020204030204" pitchFamily="49" charset="0"/>
              </a:rPr>
              <a:t>="</a:t>
            </a:r>
            <a:r>
              <a:rPr lang="es-ES" altLang="es-ES" sz="1200" dirty="0" err="1">
                <a:solidFill>
                  <a:srgbClr val="333333"/>
                </a:solidFill>
                <a:latin typeface="Consolas" panose="020B0609020204030204" pitchFamily="49" charset="0"/>
              </a:rPr>
              <a:t>let</a:t>
            </a:r>
            <a:r>
              <a:rPr lang="es-ES" altLang="es-E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s-ES" altLang="es-ES" sz="1200" dirty="0" err="1">
                <a:solidFill>
                  <a:srgbClr val="333333"/>
                </a:solidFill>
                <a:latin typeface="Consolas" panose="020B0609020204030204" pitchFamily="49" charset="0"/>
              </a:rPr>
              <a:t>person</a:t>
            </a:r>
            <a:r>
              <a:rPr lang="es-ES" altLang="es-E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s-ES" altLang="es-ES" sz="1200" dirty="0" err="1">
                <a:solidFill>
                  <a:srgbClr val="333333"/>
                </a:solidFill>
                <a:latin typeface="Consolas" panose="020B0609020204030204" pitchFamily="49" charset="0"/>
              </a:rPr>
              <a:t>of</a:t>
            </a:r>
            <a:r>
              <a:rPr lang="es-ES" altLang="es-E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s-ES" altLang="es-ES" sz="1200" dirty="0" err="1">
                <a:solidFill>
                  <a:srgbClr val="333333"/>
                </a:solidFill>
                <a:latin typeface="Consolas" panose="020B0609020204030204" pitchFamily="49" charset="0"/>
              </a:rPr>
              <a:t>people</a:t>
            </a:r>
            <a:r>
              <a:rPr lang="es-ES" altLang="es-ES" sz="1200" dirty="0">
                <a:solidFill>
                  <a:srgbClr val="333333"/>
                </a:solidFill>
                <a:latin typeface="Consolas" panose="020B0609020204030204" pitchFamily="49" charset="0"/>
              </a:rPr>
              <a:t>"&gt;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altLang="es-ES" sz="1200" dirty="0">
                <a:solidFill>
                  <a:srgbClr val="333333"/>
                </a:solidFill>
                <a:latin typeface="Consolas" panose="020B0609020204030204" pitchFamily="49" charset="0"/>
              </a:rPr>
              <a:t>  &lt;li [</a:t>
            </a:r>
            <a:r>
              <a:rPr lang="es-ES" altLang="es-ES" sz="1200" dirty="0" err="1">
                <a:solidFill>
                  <a:srgbClr val="333333"/>
                </a:solidFill>
                <a:latin typeface="Consolas" panose="020B0609020204030204" pitchFamily="49" charset="0"/>
              </a:rPr>
              <a:t>ngStyle</a:t>
            </a:r>
            <a:r>
              <a:rPr lang="es-ES" altLang="es-ES" sz="1200" dirty="0">
                <a:solidFill>
                  <a:srgbClr val="333333"/>
                </a:solidFill>
                <a:latin typeface="Consolas" panose="020B0609020204030204" pitchFamily="49" charset="0"/>
              </a:rPr>
              <a:t>]="{'color':</a:t>
            </a:r>
            <a:r>
              <a:rPr lang="es-ES" altLang="es-ES" sz="1200" dirty="0" err="1">
                <a:solidFill>
                  <a:srgbClr val="333333"/>
                </a:solidFill>
                <a:latin typeface="Consolas" panose="020B0609020204030204" pitchFamily="49" charset="0"/>
              </a:rPr>
              <a:t>getColor</a:t>
            </a:r>
            <a:r>
              <a:rPr lang="es-ES" altLang="es-ES" sz="1200" dirty="0">
                <a:solidFill>
                  <a:srgbClr val="333333"/>
                </a:solidFill>
                <a:latin typeface="Consolas" panose="020B0609020204030204" pitchFamily="49" charset="0"/>
              </a:rPr>
              <a:t>(</a:t>
            </a:r>
            <a:r>
              <a:rPr lang="es-ES" altLang="es-ES" sz="1200" dirty="0" err="1">
                <a:solidFill>
                  <a:srgbClr val="333333"/>
                </a:solidFill>
                <a:latin typeface="Consolas" panose="020B0609020204030204" pitchFamily="49" charset="0"/>
              </a:rPr>
              <a:t>person.country</a:t>
            </a:r>
            <a:r>
              <a:rPr lang="es-ES" altLang="es-ES" sz="1200" dirty="0">
                <a:solidFill>
                  <a:srgbClr val="333333"/>
                </a:solidFill>
                <a:latin typeface="Consolas" panose="020B0609020204030204" pitchFamily="49" charset="0"/>
              </a:rPr>
              <a:t>)}"&gt; {{ person.name }} ({{ </a:t>
            </a:r>
            <a:r>
              <a:rPr lang="es-ES" altLang="es-ES" sz="1200" dirty="0" err="1">
                <a:solidFill>
                  <a:srgbClr val="333333"/>
                </a:solidFill>
                <a:latin typeface="Consolas" panose="020B0609020204030204" pitchFamily="49" charset="0"/>
              </a:rPr>
              <a:t>person.country</a:t>
            </a:r>
            <a:r>
              <a:rPr lang="es-ES" altLang="es-ES" sz="1200" dirty="0">
                <a:solidFill>
                  <a:srgbClr val="333333"/>
                </a:solidFill>
                <a:latin typeface="Consolas" panose="020B0609020204030204" pitchFamily="49" charset="0"/>
              </a:rPr>
              <a:t> }})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altLang="es-ES" sz="1200" dirty="0">
                <a:solidFill>
                  <a:srgbClr val="333333"/>
                </a:solidFill>
                <a:latin typeface="Consolas" panose="020B0609020204030204" pitchFamily="49" charset="0"/>
              </a:rPr>
              <a:t>  &lt;/li&gt;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altLang="es-ES" sz="1200" dirty="0">
                <a:solidFill>
                  <a:srgbClr val="333333"/>
                </a:solidFill>
                <a:latin typeface="Consolas" panose="020B0609020204030204" pitchFamily="49" charset="0"/>
              </a:rPr>
              <a:t>&lt;/</a:t>
            </a:r>
            <a:r>
              <a:rPr lang="es-ES" altLang="es-ES" sz="1200" dirty="0" err="1">
                <a:solidFill>
                  <a:srgbClr val="333333"/>
                </a:solidFill>
                <a:latin typeface="Consolas" panose="020B0609020204030204" pitchFamily="49" charset="0"/>
              </a:rPr>
              <a:t>ul</a:t>
            </a:r>
            <a:r>
              <a:rPr lang="es-ES" altLang="es-ES" sz="1200" dirty="0">
                <a:solidFill>
                  <a:srgbClr val="333333"/>
                </a:solidFill>
                <a:latin typeface="Consolas" panose="020B0609020204030204" pitchFamily="49" charset="0"/>
              </a:rPr>
              <a:t>&gt;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altLang="es-ES" sz="1200" dirty="0">
                <a:solidFill>
                  <a:srgbClr val="333333"/>
                </a:solidFill>
                <a:latin typeface="Consolas" panose="020B0609020204030204" pitchFamily="49" charset="0"/>
              </a:rPr>
              <a:t> `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altLang="es-ES" sz="1200" dirty="0">
                <a:solidFill>
                  <a:srgbClr val="333333"/>
                </a:solidFill>
                <a:latin typeface="Consolas" panose="020B0609020204030204" pitchFamily="49" charset="0"/>
              </a:rPr>
              <a:t>})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altLang="es-ES" sz="1200" dirty="0" err="1">
                <a:solidFill>
                  <a:srgbClr val="333333"/>
                </a:solidFill>
                <a:latin typeface="Consolas" panose="020B0609020204030204" pitchFamily="49" charset="0"/>
              </a:rPr>
              <a:t>class</a:t>
            </a:r>
            <a:r>
              <a:rPr lang="es-ES" altLang="es-E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s-ES" altLang="es-ES" sz="1200" dirty="0" err="1">
                <a:solidFill>
                  <a:srgbClr val="333333"/>
                </a:solidFill>
                <a:latin typeface="Consolas" panose="020B0609020204030204" pitchFamily="49" charset="0"/>
              </a:rPr>
              <a:t>NgStyleExampleComponent</a:t>
            </a:r>
            <a:r>
              <a:rPr lang="es-ES" altLang="es-ES" sz="1200" dirty="0">
                <a:solidFill>
                  <a:srgbClr val="333333"/>
                </a:solidFill>
                <a:latin typeface="Consolas" panose="020B0609020204030204" pitchFamily="49" charset="0"/>
              </a:rPr>
              <a:t> {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s-ES" altLang="es-ES" sz="12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altLang="es-ES" sz="1200" dirty="0">
                <a:solidFill>
                  <a:srgbClr val="333333"/>
                </a:solidFill>
                <a:latin typeface="Consolas" panose="020B0609020204030204" pitchFamily="49" charset="0"/>
              </a:rPr>
              <a:t>  </a:t>
            </a:r>
            <a:r>
              <a:rPr lang="es-ES" altLang="es-ES" sz="1200" dirty="0" err="1">
                <a:solidFill>
                  <a:srgbClr val="333333"/>
                </a:solidFill>
                <a:latin typeface="Consolas" panose="020B0609020204030204" pitchFamily="49" charset="0"/>
              </a:rPr>
              <a:t>getColor</a:t>
            </a:r>
            <a:r>
              <a:rPr lang="es-ES" altLang="es-ES" sz="1200" dirty="0">
                <a:solidFill>
                  <a:srgbClr val="333333"/>
                </a:solidFill>
                <a:latin typeface="Consolas" panose="020B0609020204030204" pitchFamily="49" charset="0"/>
              </a:rPr>
              <a:t>(country) {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altLang="es-ES" sz="1200" dirty="0">
                <a:solidFill>
                  <a:srgbClr val="333333"/>
                </a:solidFill>
                <a:latin typeface="Consolas" panose="020B0609020204030204" pitchFamily="49" charset="0"/>
              </a:rPr>
              <a:t>    </a:t>
            </a:r>
            <a:r>
              <a:rPr lang="es-ES" altLang="es-ES" sz="1200" dirty="0" err="1">
                <a:solidFill>
                  <a:srgbClr val="333333"/>
                </a:solidFill>
                <a:latin typeface="Consolas" panose="020B0609020204030204" pitchFamily="49" charset="0"/>
              </a:rPr>
              <a:t>switch</a:t>
            </a:r>
            <a:r>
              <a:rPr lang="es-ES" altLang="es-ES" sz="1200" dirty="0">
                <a:solidFill>
                  <a:srgbClr val="333333"/>
                </a:solidFill>
                <a:latin typeface="Consolas" panose="020B0609020204030204" pitchFamily="49" charset="0"/>
              </a:rPr>
              <a:t> (country) {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altLang="es-ES" sz="1200" dirty="0">
                <a:solidFill>
                  <a:srgbClr val="333333"/>
                </a:solidFill>
                <a:latin typeface="Consolas" panose="020B0609020204030204" pitchFamily="49" charset="0"/>
              </a:rPr>
              <a:t>      case 'UK':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altLang="es-ES" sz="1200" dirty="0">
                <a:solidFill>
                  <a:srgbClr val="333333"/>
                </a:solidFill>
                <a:latin typeface="Consolas" panose="020B0609020204030204" pitchFamily="49" charset="0"/>
              </a:rPr>
              <a:t>        </a:t>
            </a:r>
            <a:r>
              <a:rPr lang="es-ES" altLang="es-ES" sz="1200" dirty="0" err="1">
                <a:solidFill>
                  <a:srgbClr val="333333"/>
                </a:solidFill>
                <a:latin typeface="Consolas" panose="020B0609020204030204" pitchFamily="49" charset="0"/>
              </a:rPr>
              <a:t>return</a:t>
            </a:r>
            <a:r>
              <a:rPr lang="es-ES" altLang="es-ES" sz="1200" dirty="0">
                <a:solidFill>
                  <a:srgbClr val="333333"/>
                </a:solidFill>
                <a:latin typeface="Consolas" panose="020B0609020204030204" pitchFamily="49" charset="0"/>
              </a:rPr>
              <a:t> '</a:t>
            </a:r>
            <a:r>
              <a:rPr lang="es-ES" altLang="es-ES" sz="1200" dirty="0" err="1">
                <a:solidFill>
                  <a:srgbClr val="333333"/>
                </a:solidFill>
                <a:latin typeface="Consolas" panose="020B0609020204030204" pitchFamily="49" charset="0"/>
              </a:rPr>
              <a:t>green</a:t>
            </a:r>
            <a:r>
              <a:rPr lang="es-ES" altLang="es-ES" sz="1200" dirty="0">
                <a:solidFill>
                  <a:srgbClr val="333333"/>
                </a:solidFill>
                <a:latin typeface="Consolas" panose="020B0609020204030204" pitchFamily="49" charset="0"/>
              </a:rPr>
              <a:t>';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altLang="es-ES" sz="1200" dirty="0">
                <a:solidFill>
                  <a:srgbClr val="333333"/>
                </a:solidFill>
                <a:latin typeface="Consolas" panose="020B0609020204030204" pitchFamily="49" charset="0"/>
              </a:rPr>
              <a:t>      case 'USA':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altLang="es-ES" sz="1200" dirty="0">
                <a:solidFill>
                  <a:srgbClr val="333333"/>
                </a:solidFill>
                <a:latin typeface="Consolas" panose="020B0609020204030204" pitchFamily="49" charset="0"/>
              </a:rPr>
              <a:t>        </a:t>
            </a:r>
            <a:r>
              <a:rPr lang="es-ES" altLang="es-ES" sz="1200" dirty="0" err="1">
                <a:solidFill>
                  <a:srgbClr val="333333"/>
                </a:solidFill>
                <a:latin typeface="Consolas" panose="020B0609020204030204" pitchFamily="49" charset="0"/>
              </a:rPr>
              <a:t>return</a:t>
            </a:r>
            <a:r>
              <a:rPr lang="es-ES" altLang="es-ES" sz="1200" dirty="0">
                <a:solidFill>
                  <a:srgbClr val="333333"/>
                </a:solidFill>
                <a:latin typeface="Consolas" panose="020B0609020204030204" pitchFamily="49" charset="0"/>
              </a:rPr>
              <a:t> 'blue';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altLang="es-ES" sz="1200" dirty="0">
                <a:solidFill>
                  <a:srgbClr val="333333"/>
                </a:solidFill>
                <a:latin typeface="Consolas" panose="020B0609020204030204" pitchFamily="49" charset="0"/>
              </a:rPr>
              <a:t>      case 'HK':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altLang="es-ES" sz="1200" dirty="0">
                <a:solidFill>
                  <a:srgbClr val="333333"/>
                </a:solidFill>
                <a:latin typeface="Consolas" panose="020B0609020204030204" pitchFamily="49" charset="0"/>
              </a:rPr>
              <a:t>        </a:t>
            </a:r>
            <a:r>
              <a:rPr lang="es-ES" altLang="es-ES" sz="1200" dirty="0" err="1">
                <a:solidFill>
                  <a:srgbClr val="333333"/>
                </a:solidFill>
                <a:latin typeface="Consolas" panose="020B0609020204030204" pitchFamily="49" charset="0"/>
              </a:rPr>
              <a:t>return</a:t>
            </a:r>
            <a:r>
              <a:rPr lang="es-ES" altLang="es-ES" sz="1200" dirty="0">
                <a:solidFill>
                  <a:srgbClr val="333333"/>
                </a:solidFill>
                <a:latin typeface="Consolas" panose="020B0609020204030204" pitchFamily="49" charset="0"/>
              </a:rPr>
              <a:t> 'red';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altLang="es-ES" sz="1200" dirty="0">
                <a:solidFill>
                  <a:srgbClr val="333333"/>
                </a:solidFill>
                <a:latin typeface="Consolas" panose="020B0609020204030204" pitchFamily="49" charset="0"/>
              </a:rPr>
              <a:t>    }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altLang="es-ES" sz="1200" dirty="0">
                <a:solidFill>
                  <a:srgbClr val="333333"/>
                </a:solidFill>
                <a:latin typeface="Consolas" panose="020B0609020204030204" pitchFamily="49" charset="0"/>
              </a:rPr>
              <a:t>  }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s-ES" altLang="es-ES" sz="12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altLang="es-ES" sz="1200" dirty="0">
                <a:solidFill>
                  <a:srgbClr val="333333"/>
                </a:solidFill>
                <a:latin typeface="Consolas" panose="020B0609020204030204" pitchFamily="49" charset="0"/>
              </a:rPr>
              <a:t>  </a:t>
            </a:r>
            <a:r>
              <a:rPr lang="es-ES" altLang="es-ES" sz="1200" dirty="0" err="1">
                <a:solidFill>
                  <a:srgbClr val="333333"/>
                </a:solidFill>
                <a:latin typeface="Consolas" panose="020B0609020204030204" pitchFamily="49" charset="0"/>
              </a:rPr>
              <a:t>people</a:t>
            </a:r>
            <a:r>
              <a:rPr lang="es-ES" altLang="es-ES" sz="1200" dirty="0">
                <a:solidFill>
                  <a:srgbClr val="333333"/>
                </a:solidFill>
                <a:latin typeface="Consolas" panose="020B0609020204030204" pitchFamily="49" charset="0"/>
              </a:rPr>
              <a:t>: </a:t>
            </a:r>
            <a:r>
              <a:rPr lang="es-ES" altLang="es-ES" sz="1200" dirty="0" err="1">
                <a:solidFill>
                  <a:srgbClr val="333333"/>
                </a:solidFill>
                <a:latin typeface="Consolas" panose="020B0609020204030204" pitchFamily="49" charset="0"/>
              </a:rPr>
              <a:t>any</a:t>
            </a:r>
            <a:r>
              <a:rPr lang="es-ES" altLang="es-ES" sz="1200" dirty="0">
                <a:solidFill>
                  <a:srgbClr val="333333"/>
                </a:solidFill>
                <a:latin typeface="Consolas" panose="020B0609020204030204" pitchFamily="49" charset="0"/>
              </a:rPr>
              <a:t>[] = [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altLang="es-ES" sz="1200" dirty="0">
                <a:solidFill>
                  <a:srgbClr val="333333"/>
                </a:solidFill>
                <a:latin typeface="Consolas" panose="020B0609020204030204" pitchFamily="49" charset="0"/>
              </a:rPr>
              <a:t>    {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altLang="es-ES" sz="1200" dirty="0">
                <a:solidFill>
                  <a:srgbClr val="333333"/>
                </a:solidFill>
                <a:latin typeface="Consolas" panose="020B0609020204030204" pitchFamily="49" charset="0"/>
              </a:rPr>
              <a:t>      "</a:t>
            </a:r>
            <a:r>
              <a:rPr lang="es-ES" altLang="es-ES" sz="1200" dirty="0" err="1">
                <a:solidFill>
                  <a:srgbClr val="333333"/>
                </a:solidFill>
                <a:latin typeface="Consolas" panose="020B0609020204030204" pitchFamily="49" charset="0"/>
              </a:rPr>
              <a:t>name</a:t>
            </a:r>
            <a:r>
              <a:rPr lang="es-ES" altLang="es-ES" sz="1200" dirty="0">
                <a:solidFill>
                  <a:srgbClr val="333333"/>
                </a:solidFill>
                <a:latin typeface="Consolas" panose="020B0609020204030204" pitchFamily="49" charset="0"/>
              </a:rPr>
              <a:t>": "Douglas  Pace",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altLang="es-ES" sz="1200" dirty="0">
                <a:solidFill>
                  <a:srgbClr val="333333"/>
                </a:solidFill>
                <a:latin typeface="Consolas" panose="020B0609020204030204" pitchFamily="49" charset="0"/>
              </a:rPr>
              <a:t>      "country": 'UK'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altLang="es-ES" sz="1200" dirty="0">
                <a:solidFill>
                  <a:srgbClr val="333333"/>
                </a:solidFill>
                <a:latin typeface="Consolas" panose="020B0609020204030204" pitchFamily="49" charset="0"/>
              </a:rPr>
              <a:t>    },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altLang="es-ES" sz="1200" dirty="0">
                <a:solidFill>
                  <a:srgbClr val="333333"/>
                </a:solidFill>
                <a:latin typeface="Consolas" panose="020B0609020204030204" pitchFamily="49" charset="0"/>
              </a:rPr>
              <a:t>…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altLang="es-ES" sz="1200" dirty="0">
                <a:solidFill>
                  <a:srgbClr val="333333"/>
                </a:solidFill>
                <a:latin typeface="Consolas" panose="020B0609020204030204" pitchFamily="49" charset="0"/>
              </a:rPr>
              <a:t>    {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altLang="es-ES" sz="1200" dirty="0">
                <a:solidFill>
                  <a:srgbClr val="333333"/>
                </a:solidFill>
                <a:latin typeface="Consolas" panose="020B0609020204030204" pitchFamily="49" charset="0"/>
              </a:rPr>
              <a:t>      "</a:t>
            </a:r>
            <a:r>
              <a:rPr lang="es-ES" altLang="es-ES" sz="1200" dirty="0" err="1">
                <a:solidFill>
                  <a:srgbClr val="333333"/>
                </a:solidFill>
                <a:latin typeface="Consolas" panose="020B0609020204030204" pitchFamily="49" charset="0"/>
              </a:rPr>
              <a:t>name</a:t>
            </a:r>
            <a:r>
              <a:rPr lang="es-ES" altLang="es-ES" sz="1200" dirty="0">
                <a:solidFill>
                  <a:srgbClr val="333333"/>
                </a:solidFill>
                <a:latin typeface="Consolas" panose="020B0609020204030204" pitchFamily="49" charset="0"/>
              </a:rPr>
              <a:t>": "Cook  Tyson",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altLang="es-ES" sz="1200" dirty="0">
                <a:solidFill>
                  <a:srgbClr val="333333"/>
                </a:solidFill>
                <a:latin typeface="Consolas" panose="020B0609020204030204" pitchFamily="49" charset="0"/>
              </a:rPr>
              <a:t>      "country": 'USA'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altLang="es-ES" sz="1200" dirty="0">
                <a:solidFill>
                  <a:srgbClr val="333333"/>
                </a:solidFill>
                <a:latin typeface="Consolas" panose="020B0609020204030204" pitchFamily="49" charset="0"/>
              </a:rPr>
              <a:t>    }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altLang="es-ES" sz="1200" dirty="0">
                <a:solidFill>
                  <a:srgbClr val="333333"/>
                </a:solidFill>
                <a:latin typeface="Consolas" panose="020B0609020204030204" pitchFamily="49" charset="0"/>
              </a:rPr>
              <a:t>  ];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altLang="es-ES" sz="1200" dirty="0">
                <a:solidFill>
                  <a:srgbClr val="333333"/>
                </a:solidFill>
                <a:latin typeface="Consolas" panose="020B0609020204030204" pitchFamily="49" charset="0"/>
              </a:rPr>
              <a:t>}</a:t>
            </a:r>
            <a:endParaRPr kumimoji="0" lang="es-ES" altLang="es-E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027373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4B0F92-6188-4054-9A99-879C0D86D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 err="1"/>
              <a:t>NgClass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1BBBB1C-5BE8-4590-A94D-685705EEDD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two ways to use this directive, the first is by passing an object literal to the directive, like so: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value can also be an expression, so we can re-write the above to be.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s-E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AD67E6C-BCDB-42FD-850F-EB514EC5B6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1412" y="2057400"/>
            <a:ext cx="4179029" cy="373149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952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es-ES" altLang="es-ES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ngClass</a:t>
            </a:r>
            <a:r>
              <a:rPr kumimoji="0" lang="es-ES" altLang="es-E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]="{'</a:t>
            </a:r>
            <a:r>
              <a:rPr kumimoji="0" lang="es-ES" altLang="es-ES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text-success</a:t>
            </a:r>
            <a:r>
              <a:rPr kumimoji="0" lang="es-ES" altLang="es-E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':true}"</a:t>
            </a:r>
            <a:endParaRPr kumimoji="0" lang="es-ES" altLang="es-E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AB940061-836D-4CD7-A8CA-9DC7B3A639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1412" y="3429000"/>
            <a:ext cx="6585136" cy="373149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952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es-ES" altLang="es-ES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ngClass</a:t>
            </a:r>
            <a:r>
              <a:rPr kumimoji="0" lang="es-ES" altLang="es-E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]="{'</a:t>
            </a:r>
            <a:r>
              <a:rPr kumimoji="0" lang="es-ES" altLang="es-ES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text-success</a:t>
            </a:r>
            <a:r>
              <a:rPr kumimoji="0" lang="es-ES" altLang="es-E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':</a:t>
            </a:r>
            <a:r>
              <a:rPr kumimoji="0" lang="es-ES" altLang="es-ES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person.country</a:t>
            </a:r>
            <a:r>
              <a:rPr kumimoji="0" lang="es-ES" altLang="es-E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=== 'UK'}"</a:t>
            </a:r>
            <a:endParaRPr kumimoji="0" lang="es-ES" altLang="es-E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042888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Crea</a:t>
            </a:r>
            <a:r>
              <a:rPr lang="en-US" dirty="0"/>
              <a:t> </a:t>
            </a:r>
            <a:r>
              <a:rPr lang="en-US" dirty="0" err="1"/>
              <a:t>tus</a:t>
            </a:r>
            <a:r>
              <a:rPr lang="en-US" dirty="0"/>
              <a:t> </a:t>
            </a:r>
            <a:r>
              <a:rPr lang="en-US" dirty="0" err="1"/>
              <a:t>propias</a:t>
            </a:r>
            <a:r>
              <a:rPr lang="en-US" dirty="0"/>
              <a:t> </a:t>
            </a:r>
            <a:r>
              <a:rPr lang="en-US" dirty="0" err="1"/>
              <a:t>directivas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249335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Directivas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37DDA14-C0C1-4B89-B512-26CCB36562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Una directiva es una clase decorada con </a:t>
            </a:r>
            <a:r>
              <a:rPr lang="es-ES" b="1" dirty="0"/>
              <a:t>@</a:t>
            </a:r>
            <a:r>
              <a:rPr lang="es-ES" b="1" dirty="0" err="1"/>
              <a:t>Directive</a:t>
            </a:r>
            <a:endParaRPr lang="es-ES" b="1" dirty="0"/>
          </a:p>
          <a:p>
            <a:r>
              <a:rPr lang="es-ES" dirty="0"/>
              <a:t>Un componente es solo una directiva con funciones adicionales de plantilla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182800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15293" y="1053703"/>
            <a:ext cx="6967835" cy="250031"/>
          </a:xfrm>
          <a:custGeom>
            <a:avLst/>
            <a:gdLst/>
            <a:ahLst/>
            <a:cxnLst/>
            <a:rect l="l" t="t" r="r" b="b"/>
            <a:pathLst>
              <a:path w="9909810" h="355600">
                <a:moveTo>
                  <a:pt x="0" y="0"/>
                </a:moveTo>
                <a:lnTo>
                  <a:pt x="9909276" y="0"/>
                </a:lnTo>
                <a:lnTo>
                  <a:pt x="9909276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3" name="object 3"/>
          <p:cNvSpPr/>
          <p:nvPr/>
        </p:nvSpPr>
        <p:spPr>
          <a:xfrm>
            <a:off x="1715293" y="1553766"/>
            <a:ext cx="1548408" cy="250031"/>
          </a:xfrm>
          <a:custGeom>
            <a:avLst/>
            <a:gdLst/>
            <a:ahLst/>
            <a:cxnLst/>
            <a:rect l="l" t="t" r="r" b="b"/>
            <a:pathLst>
              <a:path w="2202180" h="355600">
                <a:moveTo>
                  <a:pt x="0" y="0"/>
                </a:moveTo>
                <a:lnTo>
                  <a:pt x="2202065" y="0"/>
                </a:lnTo>
                <a:lnTo>
                  <a:pt x="2202065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4" name="object 4"/>
          <p:cNvSpPr/>
          <p:nvPr/>
        </p:nvSpPr>
        <p:spPr>
          <a:xfrm>
            <a:off x="1715293" y="1803797"/>
            <a:ext cx="3354884" cy="250031"/>
          </a:xfrm>
          <a:custGeom>
            <a:avLst/>
            <a:gdLst/>
            <a:ahLst/>
            <a:cxnLst/>
            <a:rect l="l" t="t" r="r" b="b"/>
            <a:pathLst>
              <a:path w="4771390" h="355600">
                <a:moveTo>
                  <a:pt x="0" y="0"/>
                </a:moveTo>
                <a:lnTo>
                  <a:pt x="4771135" y="0"/>
                </a:lnTo>
                <a:lnTo>
                  <a:pt x="4771135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5" name="object 5"/>
          <p:cNvSpPr/>
          <p:nvPr/>
        </p:nvSpPr>
        <p:spPr>
          <a:xfrm>
            <a:off x="1715293" y="2053828"/>
            <a:ext cx="258068" cy="250031"/>
          </a:xfrm>
          <a:custGeom>
            <a:avLst/>
            <a:gdLst/>
            <a:ahLst/>
            <a:cxnLst/>
            <a:rect l="l" t="t" r="r" b="b"/>
            <a:pathLst>
              <a:path w="367030" h="355600">
                <a:moveTo>
                  <a:pt x="0" y="0"/>
                </a:moveTo>
                <a:lnTo>
                  <a:pt x="367009" y="0"/>
                </a:lnTo>
                <a:lnTo>
                  <a:pt x="367009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6" name="object 6"/>
          <p:cNvSpPr/>
          <p:nvPr/>
        </p:nvSpPr>
        <p:spPr>
          <a:xfrm>
            <a:off x="1715293" y="2553891"/>
            <a:ext cx="3225850" cy="250031"/>
          </a:xfrm>
          <a:custGeom>
            <a:avLst/>
            <a:gdLst/>
            <a:ahLst/>
            <a:cxnLst/>
            <a:rect l="l" t="t" r="r" b="b"/>
            <a:pathLst>
              <a:path w="4587875" h="355600">
                <a:moveTo>
                  <a:pt x="0" y="0"/>
                </a:moveTo>
                <a:lnTo>
                  <a:pt x="4587620" y="0"/>
                </a:lnTo>
                <a:lnTo>
                  <a:pt x="4587620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7" name="object 7"/>
          <p:cNvSpPr/>
          <p:nvPr/>
        </p:nvSpPr>
        <p:spPr>
          <a:xfrm>
            <a:off x="1715293" y="2803922"/>
            <a:ext cx="4645223" cy="250031"/>
          </a:xfrm>
          <a:custGeom>
            <a:avLst/>
            <a:gdLst/>
            <a:ahLst/>
            <a:cxnLst/>
            <a:rect l="l" t="t" r="r" b="b"/>
            <a:pathLst>
              <a:path w="6606540" h="355600">
                <a:moveTo>
                  <a:pt x="0" y="0"/>
                </a:moveTo>
                <a:lnTo>
                  <a:pt x="6606184" y="0"/>
                </a:lnTo>
                <a:lnTo>
                  <a:pt x="6606184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8" name="object 8"/>
          <p:cNvSpPr/>
          <p:nvPr/>
        </p:nvSpPr>
        <p:spPr>
          <a:xfrm>
            <a:off x="1715293" y="3053953"/>
            <a:ext cx="4903291" cy="250031"/>
          </a:xfrm>
          <a:custGeom>
            <a:avLst/>
            <a:gdLst/>
            <a:ahLst/>
            <a:cxnLst/>
            <a:rect l="l" t="t" r="r" b="b"/>
            <a:pathLst>
              <a:path w="6973570" h="355600">
                <a:moveTo>
                  <a:pt x="0" y="0"/>
                </a:moveTo>
                <a:lnTo>
                  <a:pt x="6973188" y="0"/>
                </a:lnTo>
                <a:lnTo>
                  <a:pt x="6973188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9" name="object 9"/>
          <p:cNvSpPr/>
          <p:nvPr/>
        </p:nvSpPr>
        <p:spPr>
          <a:xfrm>
            <a:off x="1715293" y="3303985"/>
            <a:ext cx="6709767" cy="250031"/>
          </a:xfrm>
          <a:custGeom>
            <a:avLst/>
            <a:gdLst/>
            <a:ahLst/>
            <a:cxnLst/>
            <a:rect l="l" t="t" r="r" b="b"/>
            <a:pathLst>
              <a:path w="9542780" h="355600">
                <a:moveTo>
                  <a:pt x="0" y="0"/>
                </a:moveTo>
                <a:lnTo>
                  <a:pt x="9542259" y="0"/>
                </a:lnTo>
                <a:lnTo>
                  <a:pt x="9542259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0" name="object 10"/>
          <p:cNvSpPr/>
          <p:nvPr/>
        </p:nvSpPr>
        <p:spPr>
          <a:xfrm>
            <a:off x="1715293" y="3554016"/>
            <a:ext cx="5032325" cy="250031"/>
          </a:xfrm>
          <a:custGeom>
            <a:avLst/>
            <a:gdLst/>
            <a:ahLst/>
            <a:cxnLst/>
            <a:rect l="l" t="t" r="r" b="b"/>
            <a:pathLst>
              <a:path w="7157084" h="355600">
                <a:moveTo>
                  <a:pt x="0" y="0"/>
                </a:moveTo>
                <a:lnTo>
                  <a:pt x="7156704" y="0"/>
                </a:lnTo>
                <a:lnTo>
                  <a:pt x="7156704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1" name="object 11"/>
          <p:cNvSpPr/>
          <p:nvPr/>
        </p:nvSpPr>
        <p:spPr>
          <a:xfrm>
            <a:off x="1715293" y="3804047"/>
            <a:ext cx="8257729" cy="250031"/>
          </a:xfrm>
          <a:custGeom>
            <a:avLst/>
            <a:gdLst/>
            <a:ahLst/>
            <a:cxnLst/>
            <a:rect l="l" t="t" r="r" b="b"/>
            <a:pathLst>
              <a:path w="11744325" h="355600">
                <a:moveTo>
                  <a:pt x="0" y="0"/>
                </a:moveTo>
                <a:lnTo>
                  <a:pt x="11744325" y="0"/>
                </a:lnTo>
                <a:lnTo>
                  <a:pt x="11744325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2" name="object 12"/>
          <p:cNvSpPr/>
          <p:nvPr/>
        </p:nvSpPr>
        <p:spPr>
          <a:xfrm>
            <a:off x="1715293" y="4054078"/>
            <a:ext cx="1548408" cy="250031"/>
          </a:xfrm>
          <a:custGeom>
            <a:avLst/>
            <a:gdLst/>
            <a:ahLst/>
            <a:cxnLst/>
            <a:rect l="l" t="t" r="r" b="b"/>
            <a:pathLst>
              <a:path w="2202180" h="355600">
                <a:moveTo>
                  <a:pt x="0" y="0"/>
                </a:moveTo>
                <a:lnTo>
                  <a:pt x="2202065" y="0"/>
                </a:lnTo>
                <a:lnTo>
                  <a:pt x="2202065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3" name="object 13"/>
          <p:cNvSpPr/>
          <p:nvPr/>
        </p:nvSpPr>
        <p:spPr>
          <a:xfrm>
            <a:off x="1715294" y="4554141"/>
            <a:ext cx="2838747" cy="250031"/>
          </a:xfrm>
          <a:custGeom>
            <a:avLst/>
            <a:gdLst/>
            <a:ahLst/>
            <a:cxnLst/>
            <a:rect l="l" t="t" r="r" b="b"/>
            <a:pathLst>
              <a:path w="4037329" h="355600">
                <a:moveTo>
                  <a:pt x="0" y="0"/>
                </a:moveTo>
                <a:lnTo>
                  <a:pt x="4037114" y="0"/>
                </a:lnTo>
                <a:lnTo>
                  <a:pt x="4037114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4" name="object 14"/>
          <p:cNvSpPr/>
          <p:nvPr/>
        </p:nvSpPr>
        <p:spPr>
          <a:xfrm>
            <a:off x="1715293" y="4804172"/>
            <a:ext cx="3871020" cy="250031"/>
          </a:xfrm>
          <a:custGeom>
            <a:avLst/>
            <a:gdLst/>
            <a:ahLst/>
            <a:cxnLst/>
            <a:rect l="l" t="t" r="r" b="b"/>
            <a:pathLst>
              <a:path w="5505450" h="355600">
                <a:moveTo>
                  <a:pt x="0" y="0"/>
                </a:moveTo>
                <a:lnTo>
                  <a:pt x="5505157" y="0"/>
                </a:lnTo>
                <a:lnTo>
                  <a:pt x="5505157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5" name="object 15"/>
          <p:cNvSpPr/>
          <p:nvPr/>
        </p:nvSpPr>
        <p:spPr>
          <a:xfrm>
            <a:off x="1715293" y="5054203"/>
            <a:ext cx="1806476" cy="250031"/>
          </a:xfrm>
          <a:custGeom>
            <a:avLst/>
            <a:gdLst/>
            <a:ahLst/>
            <a:cxnLst/>
            <a:rect l="l" t="t" r="r" b="b"/>
            <a:pathLst>
              <a:path w="2569210" h="355600">
                <a:moveTo>
                  <a:pt x="0" y="0"/>
                </a:moveTo>
                <a:lnTo>
                  <a:pt x="2569070" y="0"/>
                </a:lnTo>
                <a:lnTo>
                  <a:pt x="2569070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6" name="object 16"/>
          <p:cNvSpPr/>
          <p:nvPr/>
        </p:nvSpPr>
        <p:spPr>
          <a:xfrm>
            <a:off x="1715294" y="5304235"/>
            <a:ext cx="387102" cy="250031"/>
          </a:xfrm>
          <a:custGeom>
            <a:avLst/>
            <a:gdLst/>
            <a:ahLst/>
            <a:cxnLst/>
            <a:rect l="l" t="t" r="r" b="b"/>
            <a:pathLst>
              <a:path w="550544" h="355600">
                <a:moveTo>
                  <a:pt x="0" y="0"/>
                </a:moveTo>
                <a:lnTo>
                  <a:pt x="550515" y="0"/>
                </a:lnTo>
                <a:lnTo>
                  <a:pt x="550515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7" name="object 17"/>
          <p:cNvSpPr/>
          <p:nvPr/>
        </p:nvSpPr>
        <p:spPr>
          <a:xfrm>
            <a:off x="1715294" y="5554266"/>
            <a:ext cx="129034" cy="250031"/>
          </a:xfrm>
          <a:custGeom>
            <a:avLst/>
            <a:gdLst/>
            <a:ahLst/>
            <a:cxnLst/>
            <a:rect l="l" t="t" r="r" b="b"/>
            <a:pathLst>
              <a:path w="183515" h="355600">
                <a:moveTo>
                  <a:pt x="0" y="0"/>
                </a:moveTo>
                <a:lnTo>
                  <a:pt x="183504" y="0"/>
                </a:lnTo>
                <a:lnTo>
                  <a:pt x="183504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8" name="object 18"/>
          <p:cNvSpPr txBox="1"/>
          <p:nvPr/>
        </p:nvSpPr>
        <p:spPr>
          <a:xfrm>
            <a:off x="4290617" y="1035844"/>
            <a:ext cx="1308199" cy="2596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ElementRef</a:t>
            </a:r>
            <a:endParaRPr sz="1687">
              <a:latin typeface="Lucida Console"/>
              <a:cs typeface="Lucida Consol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710030" y="1035844"/>
            <a:ext cx="792063" cy="2596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}</a:t>
            </a:r>
            <a:r>
              <a:rPr sz="1687" spc="-63" dirty="0">
                <a:solidFill>
                  <a:srgbClr val="B7C4D1"/>
                </a:solidFill>
                <a:latin typeface="Lucida Console"/>
                <a:cs typeface="Lucida Console"/>
              </a:rPr>
              <a:t> </a:t>
            </a:r>
            <a:r>
              <a:rPr sz="1687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from</a:t>
            </a:r>
            <a:endParaRPr sz="1687">
              <a:latin typeface="Lucida Sans Typewriter"/>
              <a:cs typeface="Lucida Sans Typewriter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612959" y="1035844"/>
            <a:ext cx="2082403" cy="2596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lang="es-ES"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'</a:t>
            </a:r>
            <a:r>
              <a:rPr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angular/core</a:t>
            </a:r>
            <a:r>
              <a:rPr lang="es-ES"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'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;</a:t>
            </a:r>
            <a:endParaRPr sz="1687" dirty="0">
              <a:latin typeface="Lucida Console"/>
              <a:cs typeface="Lucida Console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709936" y="1035844"/>
            <a:ext cx="2469505" cy="7734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687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import 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{</a:t>
            </a:r>
            <a:r>
              <a:rPr sz="1687" spc="-28" dirty="0">
                <a:solidFill>
                  <a:srgbClr val="B7C4D1"/>
                </a:solidFill>
                <a:latin typeface="Lucida Console"/>
                <a:cs typeface="Lucida Console"/>
              </a:rPr>
              <a:t> 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Directive,</a:t>
            </a:r>
            <a:endParaRPr sz="1687" dirty="0">
              <a:latin typeface="Lucida Console"/>
              <a:cs typeface="Lucida Console"/>
            </a:endParaRPr>
          </a:p>
          <a:p>
            <a:pPr>
              <a:spcBef>
                <a:spcPts val="11"/>
              </a:spcBef>
            </a:pPr>
            <a:endParaRPr sz="1652" dirty="0">
              <a:latin typeface="Times New Roman"/>
              <a:cs typeface="Times New Roman"/>
            </a:endParaRPr>
          </a:p>
          <a:p>
            <a:pPr marL="8929"/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@Directive({</a:t>
            </a:r>
            <a:endParaRPr sz="1687" dirty="0">
              <a:latin typeface="Lucida Console"/>
              <a:cs typeface="Lucida Console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709935" y="1785938"/>
            <a:ext cx="4921151" cy="15366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6542">
              <a:lnSpc>
                <a:spcPts val="1997"/>
              </a:lnSpc>
            </a:pPr>
            <a:r>
              <a:rPr sz="1687" spc="-4" dirty="0">
                <a:solidFill>
                  <a:srgbClr val="A98BB9"/>
                </a:solidFill>
                <a:latin typeface="Lucida Console"/>
                <a:cs typeface="Lucida Console"/>
              </a:rPr>
              <a:t>selector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:</a:t>
            </a:r>
            <a:r>
              <a:rPr sz="1687" spc="-18" dirty="0">
                <a:solidFill>
                  <a:srgbClr val="B7C4D1"/>
                </a:solidFill>
                <a:latin typeface="Lucida Console"/>
                <a:cs typeface="Lucida Console"/>
              </a:rPr>
              <a:t> </a:t>
            </a:r>
            <a:r>
              <a:rPr lang="es-ES"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'</a:t>
            </a:r>
            <a:r>
              <a:rPr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[</a:t>
            </a:r>
            <a:r>
              <a:rPr sz="1687" spc="-4" dirty="0" err="1">
                <a:solidFill>
                  <a:srgbClr val="7C976C"/>
                </a:solidFill>
                <a:latin typeface="Lucida Console"/>
                <a:cs typeface="Lucida Console"/>
              </a:rPr>
              <a:t>femBlinker</a:t>
            </a:r>
            <a:r>
              <a:rPr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]</a:t>
            </a:r>
            <a:r>
              <a:rPr lang="es-ES"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'</a:t>
            </a:r>
            <a:endParaRPr sz="1687" dirty="0">
              <a:latin typeface="Lucida Console"/>
              <a:cs typeface="Lucida Console"/>
            </a:endParaRPr>
          </a:p>
          <a:p>
            <a:pPr marL="8929">
              <a:lnSpc>
                <a:spcPts val="1997"/>
              </a:lnSpc>
            </a:pP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})</a:t>
            </a:r>
            <a:endParaRPr sz="1687" dirty="0">
              <a:latin typeface="Lucida Console"/>
              <a:cs typeface="Lucida Console"/>
            </a:endParaRPr>
          </a:p>
          <a:p>
            <a:pPr>
              <a:spcBef>
                <a:spcPts val="11"/>
              </a:spcBef>
            </a:pPr>
            <a:endParaRPr sz="1652" dirty="0">
              <a:latin typeface="Times New Roman"/>
              <a:cs typeface="Times New Roman"/>
            </a:endParaRPr>
          </a:p>
          <a:p>
            <a:pPr marL="8929">
              <a:lnSpc>
                <a:spcPts val="1997"/>
              </a:lnSpc>
            </a:pPr>
            <a:r>
              <a:rPr sz="1687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export class 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FemBlinker</a:t>
            </a:r>
            <a:r>
              <a:rPr sz="1687" spc="-14" dirty="0">
                <a:solidFill>
                  <a:srgbClr val="B7C4D1"/>
                </a:solidFill>
                <a:latin typeface="Lucida Console"/>
                <a:cs typeface="Lucida Console"/>
              </a:rPr>
              <a:t> 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{</a:t>
            </a:r>
            <a:endParaRPr sz="1687" dirty="0">
              <a:latin typeface="Lucida Console"/>
              <a:cs typeface="Lucida Console"/>
            </a:endParaRPr>
          </a:p>
          <a:p>
            <a:pPr marL="266542">
              <a:lnSpc>
                <a:spcPts val="1969"/>
              </a:lnSpc>
              <a:tabLst>
                <a:tab pos="2976159" algn="l"/>
              </a:tabLst>
            </a:pPr>
            <a:r>
              <a:rPr sz="1687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constructor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(element:	ElementRef)</a:t>
            </a:r>
            <a:r>
              <a:rPr sz="1687" spc="-39" dirty="0">
                <a:solidFill>
                  <a:srgbClr val="B7C4D1"/>
                </a:solidFill>
                <a:latin typeface="Lucida Console"/>
                <a:cs typeface="Lucida Console"/>
              </a:rPr>
              <a:t> 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{</a:t>
            </a:r>
            <a:endParaRPr sz="1687" dirty="0">
              <a:latin typeface="Lucida Console"/>
              <a:cs typeface="Lucida Console"/>
            </a:endParaRPr>
          </a:p>
          <a:p>
            <a:pPr marL="524600">
              <a:lnSpc>
                <a:spcPts val="1997"/>
              </a:lnSpc>
              <a:tabLst>
                <a:tab pos="2201983" algn="l"/>
              </a:tabLst>
            </a:pPr>
            <a:r>
              <a:rPr sz="1687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let</a:t>
            </a:r>
            <a:r>
              <a:rPr sz="1687" b="1" spc="11" dirty="0">
                <a:solidFill>
                  <a:srgbClr val="D78B40"/>
                </a:solidFill>
                <a:latin typeface="Lucida Sans Typewriter"/>
                <a:cs typeface="Lucida Sans Typewriter"/>
              </a:rPr>
              <a:t> 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interval	= </a:t>
            </a:r>
            <a:r>
              <a:rPr sz="1687" spc="-4" dirty="0">
                <a:solidFill>
                  <a:srgbClr val="FFD080"/>
                </a:solidFill>
                <a:latin typeface="Lucida Console"/>
                <a:cs typeface="Lucida Console"/>
              </a:rPr>
              <a:t>setInterval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(() =&gt;</a:t>
            </a:r>
            <a:r>
              <a:rPr sz="1687" spc="-32" dirty="0">
                <a:solidFill>
                  <a:srgbClr val="B7C4D1"/>
                </a:solidFill>
                <a:latin typeface="Lucida Console"/>
                <a:cs typeface="Lucida Console"/>
              </a:rPr>
              <a:t> 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{</a:t>
            </a:r>
            <a:endParaRPr sz="1687" dirty="0">
              <a:latin typeface="Lucida Console"/>
              <a:cs typeface="Lucida Console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484097" y="3286126"/>
            <a:ext cx="1437233" cy="2596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687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let 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color</a:t>
            </a:r>
            <a:r>
              <a:rPr sz="1687" spc="-53" dirty="0">
                <a:solidFill>
                  <a:srgbClr val="B7C4D1"/>
                </a:solidFill>
                <a:latin typeface="Lucida Console"/>
                <a:cs typeface="Lucida Console"/>
              </a:rPr>
              <a:t> 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=</a:t>
            </a:r>
            <a:endParaRPr sz="1687">
              <a:latin typeface="Lucida Console"/>
              <a:cs typeface="Lucida Console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032504" y="3286126"/>
            <a:ext cx="4405015" cy="2596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element.</a:t>
            </a:r>
            <a:r>
              <a:rPr sz="1687" spc="-4" dirty="0">
                <a:solidFill>
                  <a:srgbClr val="A98BB9"/>
                </a:solidFill>
                <a:latin typeface="Lucida Console"/>
                <a:cs typeface="Lucida Console"/>
              </a:rPr>
              <a:t>nativeElement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.</a:t>
            </a:r>
            <a:r>
              <a:rPr sz="1687" spc="-4" dirty="0">
                <a:solidFill>
                  <a:srgbClr val="A98BB9"/>
                </a:solidFill>
                <a:latin typeface="Lucida Console"/>
                <a:cs typeface="Lucida Console"/>
              </a:rPr>
              <a:t>style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.</a:t>
            </a:r>
            <a:r>
              <a:rPr sz="1687" spc="-4" dirty="0">
                <a:solidFill>
                  <a:srgbClr val="A98BB9"/>
                </a:solidFill>
                <a:latin typeface="Lucida Console"/>
                <a:cs typeface="Lucida Console"/>
              </a:rPr>
              <a:t>color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;</a:t>
            </a:r>
            <a:endParaRPr sz="1687">
              <a:latin typeface="Lucida Console"/>
              <a:cs typeface="Lucida Console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484161" y="3536157"/>
            <a:ext cx="4275981" cy="2596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element.</a:t>
            </a:r>
            <a:r>
              <a:rPr sz="1687" spc="-4" dirty="0">
                <a:solidFill>
                  <a:srgbClr val="A98BB9"/>
                </a:solidFill>
                <a:latin typeface="Lucida Console"/>
                <a:cs typeface="Lucida Console"/>
              </a:rPr>
              <a:t>nativeElement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.</a:t>
            </a:r>
            <a:r>
              <a:rPr sz="1687" spc="-4" dirty="0">
                <a:solidFill>
                  <a:srgbClr val="A98BB9"/>
                </a:solidFill>
                <a:latin typeface="Lucida Console"/>
                <a:cs typeface="Lucida Console"/>
              </a:rPr>
              <a:t>style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.</a:t>
            </a:r>
            <a:r>
              <a:rPr sz="1687" spc="-4" dirty="0">
                <a:solidFill>
                  <a:srgbClr val="A98BB9"/>
                </a:solidFill>
                <a:latin typeface="Lucida Console"/>
                <a:cs typeface="Lucida Console"/>
              </a:rPr>
              <a:t>color</a:t>
            </a:r>
            <a:endParaRPr sz="1687">
              <a:latin typeface="Lucida Console"/>
              <a:cs typeface="Lucida Console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903491" y="3786188"/>
            <a:ext cx="4663083" cy="2596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=== </a:t>
            </a:r>
            <a:r>
              <a:rPr lang="es-ES"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''</a:t>
            </a:r>
            <a:r>
              <a:rPr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 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|| color === </a:t>
            </a:r>
            <a:r>
              <a:rPr lang="es-ES"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'</a:t>
            </a:r>
            <a:r>
              <a:rPr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black</a:t>
            </a:r>
            <a:r>
              <a:rPr lang="es-ES"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'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) ?</a:t>
            </a:r>
            <a:r>
              <a:rPr sz="1687" dirty="0">
                <a:solidFill>
                  <a:srgbClr val="B7C4D1"/>
                </a:solidFill>
                <a:latin typeface="Lucida Console"/>
                <a:cs typeface="Lucida Console"/>
              </a:rPr>
              <a:t> </a:t>
            </a:r>
            <a:r>
              <a:rPr lang="es-ES"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'</a:t>
            </a:r>
            <a:r>
              <a:rPr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red</a:t>
            </a:r>
            <a:r>
              <a:rPr lang="es-ES"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'</a:t>
            </a:r>
            <a:endParaRPr sz="1687" dirty="0">
              <a:latin typeface="Lucida Console"/>
              <a:cs typeface="Lucida Console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677395" y="3786188"/>
            <a:ext cx="1308199" cy="2596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:</a:t>
            </a:r>
            <a:r>
              <a:rPr sz="1687" spc="-56" dirty="0">
                <a:solidFill>
                  <a:srgbClr val="B7C4D1"/>
                </a:solidFill>
                <a:latin typeface="Lucida Console"/>
                <a:cs typeface="Lucida Console"/>
              </a:rPr>
              <a:t> </a:t>
            </a:r>
            <a:r>
              <a:rPr lang="es-ES"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'</a:t>
            </a:r>
            <a:r>
              <a:rPr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black</a:t>
            </a:r>
            <a:r>
              <a:rPr lang="es-ES"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'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;</a:t>
            </a:r>
            <a:endParaRPr sz="1687" dirty="0">
              <a:latin typeface="Lucida Console"/>
              <a:cs typeface="Lucida Console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226086" y="3786188"/>
            <a:ext cx="1566267" cy="512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4600">
              <a:lnSpc>
                <a:spcPts val="1997"/>
              </a:lnSpc>
            </a:pP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=</a:t>
            </a:r>
            <a:r>
              <a:rPr sz="1687" spc="-56" dirty="0">
                <a:solidFill>
                  <a:srgbClr val="B7C4D1"/>
                </a:solidFill>
                <a:latin typeface="Lucida Console"/>
                <a:cs typeface="Lucida Console"/>
              </a:rPr>
              <a:t> 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(color</a:t>
            </a:r>
            <a:endParaRPr sz="1687">
              <a:latin typeface="Lucida Console"/>
              <a:cs typeface="Lucida Console"/>
            </a:endParaRPr>
          </a:p>
          <a:p>
            <a:pPr marL="8929">
              <a:lnSpc>
                <a:spcPts val="1997"/>
              </a:lnSpc>
            </a:pP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},</a:t>
            </a:r>
            <a:r>
              <a:rPr sz="1687" spc="-60" dirty="0">
                <a:solidFill>
                  <a:srgbClr val="B7C4D1"/>
                </a:solidFill>
                <a:latin typeface="Lucida Console"/>
                <a:cs typeface="Lucida Console"/>
              </a:rPr>
              <a:t> </a:t>
            </a:r>
            <a:r>
              <a:rPr sz="1687" spc="-4" dirty="0">
                <a:solidFill>
                  <a:srgbClr val="7AA8C7"/>
                </a:solidFill>
                <a:latin typeface="Lucida Console"/>
                <a:cs typeface="Lucida Console"/>
              </a:rPr>
              <a:t>300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);</a:t>
            </a:r>
            <a:endParaRPr sz="1687">
              <a:latin typeface="Lucida Console"/>
              <a:cs typeface="Lucida Console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709935" y="4536281"/>
            <a:ext cx="3888879" cy="2204066"/>
          </a:xfrm>
          <a:prstGeom prst="rect">
            <a:avLst/>
          </a:prstGeom>
        </p:spPr>
        <p:txBody>
          <a:bodyPr vert="horz" wrap="square" lIns="0" tIns="14288" rIns="0" bIns="0" rtlCol="0">
            <a:spAutoFit/>
          </a:bodyPr>
          <a:lstStyle/>
          <a:p>
            <a:pPr marL="782659" marR="3572" indent="-258059">
              <a:lnSpc>
                <a:spcPts val="1969"/>
              </a:lnSpc>
              <a:spcBef>
                <a:spcPts val="112"/>
              </a:spcBef>
            </a:pPr>
            <a:r>
              <a:rPr sz="1687" spc="-4" dirty="0">
                <a:solidFill>
                  <a:srgbClr val="FFD080"/>
                </a:solidFill>
                <a:latin typeface="Lucida Console"/>
                <a:cs typeface="Lucida Console"/>
              </a:rPr>
              <a:t>setTimeout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(() =&gt; {  </a:t>
            </a:r>
            <a:r>
              <a:rPr sz="1687" spc="-4" dirty="0">
                <a:solidFill>
                  <a:srgbClr val="FFD080"/>
                </a:solidFill>
                <a:latin typeface="Lucida Console"/>
                <a:cs typeface="Lucida Console"/>
              </a:rPr>
              <a:t>clearInterval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(interval);</a:t>
            </a:r>
            <a:endParaRPr sz="1687">
              <a:latin typeface="Lucida Console"/>
              <a:cs typeface="Lucida Console"/>
            </a:endParaRPr>
          </a:p>
          <a:p>
            <a:pPr marL="525047">
              <a:lnSpc>
                <a:spcPts val="1884"/>
              </a:lnSpc>
            </a:pP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},</a:t>
            </a:r>
            <a:r>
              <a:rPr sz="1687" spc="-56" dirty="0">
                <a:solidFill>
                  <a:srgbClr val="B7C4D1"/>
                </a:solidFill>
                <a:latin typeface="Lucida Console"/>
                <a:cs typeface="Lucida Console"/>
              </a:rPr>
              <a:t> </a:t>
            </a:r>
            <a:r>
              <a:rPr sz="1687" spc="-4" dirty="0">
                <a:solidFill>
                  <a:srgbClr val="7AA8C7"/>
                </a:solidFill>
                <a:latin typeface="Lucida Console"/>
                <a:cs typeface="Lucida Console"/>
              </a:rPr>
              <a:t>10000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);</a:t>
            </a:r>
            <a:endParaRPr sz="1687">
              <a:latin typeface="Lucida Console"/>
              <a:cs typeface="Lucida Console"/>
            </a:endParaRPr>
          </a:p>
          <a:p>
            <a:pPr marL="266988">
              <a:lnSpc>
                <a:spcPts val="1969"/>
              </a:lnSpc>
            </a:pP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}</a:t>
            </a:r>
            <a:endParaRPr sz="1687">
              <a:latin typeface="Lucida Console"/>
              <a:cs typeface="Lucida Console"/>
            </a:endParaRPr>
          </a:p>
          <a:p>
            <a:pPr marL="8929">
              <a:lnSpc>
                <a:spcPts val="1997"/>
              </a:lnSpc>
            </a:pP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}</a:t>
            </a:r>
            <a:endParaRPr sz="1687">
              <a:latin typeface="Lucida Console"/>
              <a:cs typeface="Lucida Console"/>
            </a:endParaRPr>
          </a:p>
          <a:p>
            <a:pPr marL="17859">
              <a:spcBef>
                <a:spcPts val="1069"/>
              </a:spcBef>
            </a:pPr>
            <a:r>
              <a:rPr sz="5062" b="1" spc="-161" dirty="0">
                <a:solidFill>
                  <a:srgbClr val="53585F"/>
                </a:solidFill>
                <a:latin typeface="Trebuchet MS"/>
                <a:cs typeface="Trebuchet MS"/>
              </a:rPr>
              <a:t>Directive</a:t>
            </a:r>
            <a:endParaRPr sz="5062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75845829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F04F7EC9-2254-4DBD-9DD5-484AE5A08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Modelo y controlador</a:t>
            </a:r>
          </a:p>
        </p:txBody>
      </p:sp>
    </p:spTree>
    <p:extLst>
      <p:ext uri="{BB962C8B-B14F-4D97-AF65-F5344CB8AC3E}">
        <p14:creationId xmlns:p14="http://schemas.microsoft.com/office/powerpoint/2010/main" val="378214209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1E0A4BDE-8B7C-4132-BC39-7C2D67834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Modelo y Controlador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19AE53D1-31EA-4E26-87F9-73C8D2A263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s-ES" dirty="0"/>
              <a:t>Los componentes los hemos definido como </a:t>
            </a:r>
            <a:r>
              <a:rPr lang="es-ES" b="1" dirty="0"/>
              <a:t>bloques de construcción de páginas</a:t>
            </a:r>
          </a:p>
          <a:p>
            <a:pPr fontAlgn="base"/>
            <a:r>
              <a:rPr lang="es-ES" b="1" dirty="0"/>
              <a:t>Una vista y un controlador </a:t>
            </a:r>
            <a:r>
              <a:rPr lang="es-ES" dirty="0"/>
              <a:t>resuelven un problema de interacción o presentación de </a:t>
            </a:r>
            <a:r>
              <a:rPr lang="es-ES" b="1" dirty="0"/>
              <a:t>modelos</a:t>
            </a:r>
            <a:r>
              <a:rPr lang="es-ES" dirty="0"/>
              <a:t>. </a:t>
            </a:r>
          </a:p>
          <a:p>
            <a:pPr fontAlgn="base"/>
            <a:r>
              <a:rPr lang="es-ES" dirty="0"/>
              <a:t>MVC al poder</a:t>
            </a:r>
          </a:p>
        </p:txBody>
      </p:sp>
    </p:spTree>
    <p:extLst>
      <p:ext uri="{BB962C8B-B14F-4D97-AF65-F5344CB8AC3E}">
        <p14:creationId xmlns:p14="http://schemas.microsoft.com/office/powerpoint/2010/main" val="55300407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464BDDC6-1FAD-4039-9BA9-46D3BA601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Modelo simple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C1F7363-FD28-4DBC-A673-DE10D82C8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Crea una clase llamada </a:t>
            </a:r>
            <a:r>
              <a:rPr lang="es-ES" b="1" dirty="0" err="1"/>
              <a:t>Operation</a:t>
            </a:r>
            <a:endParaRPr lang="es-ES" b="1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0240E0C-89C7-4887-8140-117D38105DD7}"/>
              </a:ext>
            </a:extLst>
          </p:cNvPr>
          <p:cNvSpPr/>
          <p:nvPr/>
        </p:nvSpPr>
        <p:spPr>
          <a:xfrm>
            <a:off x="10216035" y="180232"/>
            <a:ext cx="182197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LAB2e </a:t>
            </a:r>
            <a:endParaRPr lang="es-ES" sz="4800" dirty="0">
              <a:solidFill>
                <a:srgbClr val="FF0000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31CA41E-C625-4081-A833-4EC259AE0609}"/>
              </a:ext>
            </a:extLst>
          </p:cNvPr>
          <p:cNvSpPr/>
          <p:nvPr/>
        </p:nvSpPr>
        <p:spPr>
          <a:xfrm>
            <a:off x="10366848" y="874318"/>
            <a:ext cx="16374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/>
              <a:t>C:\Labs\T4\EX1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8C3838B-89EA-4867-8C7C-4D118786C0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1412" y="2438400"/>
            <a:ext cx="9599611" cy="40011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latin typeface="Consolas" pitchFamily="49" charset="0"/>
                <a:cs typeface="Consolas" pitchFamily="49" charset="0"/>
              </a:rPr>
              <a:t>&gt; ng g class /views/operations/operation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18FD38CF-5930-49B0-9EB8-A0D2D6CDD7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9824" y="2973445"/>
            <a:ext cx="9599611" cy="40011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latin typeface="Consolas" pitchFamily="49" charset="0"/>
                <a:cs typeface="Consolas" pitchFamily="49" charset="0"/>
              </a:rPr>
              <a:t>export class Operation {}</a:t>
            </a:r>
          </a:p>
        </p:txBody>
      </p:sp>
    </p:spTree>
    <p:extLst>
      <p:ext uri="{BB962C8B-B14F-4D97-AF65-F5344CB8AC3E}">
        <p14:creationId xmlns:p14="http://schemas.microsoft.com/office/powerpoint/2010/main" val="162230887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464BDDC6-1FAD-4039-9BA9-46D3BA601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Modelo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C1F7363-FD28-4DBC-A673-DE10D82C8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Implementa las propiedades y métodos en la clase </a:t>
            </a:r>
            <a:r>
              <a:rPr lang="es-ES" b="1" dirty="0" err="1"/>
              <a:t>Operation</a:t>
            </a:r>
            <a:endParaRPr lang="es-ES" b="1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0240E0C-89C7-4887-8140-117D38105DD7}"/>
              </a:ext>
            </a:extLst>
          </p:cNvPr>
          <p:cNvSpPr/>
          <p:nvPr/>
        </p:nvSpPr>
        <p:spPr>
          <a:xfrm>
            <a:off x="10216035" y="180232"/>
            <a:ext cx="182197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LAB2e </a:t>
            </a:r>
            <a:endParaRPr lang="es-ES" sz="4800" dirty="0">
              <a:solidFill>
                <a:srgbClr val="FF0000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31CA41E-C625-4081-A833-4EC259AE0609}"/>
              </a:ext>
            </a:extLst>
          </p:cNvPr>
          <p:cNvSpPr/>
          <p:nvPr/>
        </p:nvSpPr>
        <p:spPr>
          <a:xfrm>
            <a:off x="10366848" y="874318"/>
            <a:ext cx="16374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/>
              <a:t>C:\Labs\T4\EX1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18FD38CF-5930-49B0-9EB8-A0D2D6CDD7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9824" y="2386548"/>
            <a:ext cx="9599611" cy="3170099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000" b="1" dirty="0">
                <a:latin typeface="Consolas" panose="020B0609020204030204" pitchFamily="49" charset="0"/>
              </a:rPr>
              <a:t>export class Operation {</a:t>
            </a:r>
          </a:p>
          <a:p>
            <a:pPr lvl="1"/>
            <a:r>
              <a:rPr lang="en-US" sz="2000" b="1" dirty="0">
                <a:latin typeface="Consolas" panose="020B0609020204030204" pitchFamily="49" charset="0"/>
              </a:rPr>
              <a:t>public _id: string;</a:t>
            </a:r>
          </a:p>
          <a:p>
            <a:pPr lvl="1"/>
            <a:r>
              <a:rPr lang="en-US" sz="2000" b="1" dirty="0">
                <a:latin typeface="Consolas" panose="020B0609020204030204" pitchFamily="49" charset="0"/>
              </a:rPr>
              <a:t>public amount: number = 0;</a:t>
            </a:r>
          </a:p>
          <a:p>
            <a:pPr lvl="1"/>
            <a:r>
              <a:rPr lang="en-US" sz="2000" b="1" dirty="0">
                <a:latin typeface="Consolas" panose="020B0609020204030204" pitchFamily="49" charset="0"/>
              </a:rPr>
              <a:t>public description: string = "";</a:t>
            </a:r>
          </a:p>
          <a:p>
            <a:pPr lvl="1"/>
            <a:r>
              <a:rPr lang="en-US" sz="2000" b="1" dirty="0">
                <a:latin typeface="Consolas" panose="020B0609020204030204" pitchFamily="49" charset="0"/>
              </a:rPr>
              <a:t>public kind: string;</a:t>
            </a:r>
          </a:p>
          <a:p>
            <a:pPr lvl="1"/>
            <a:br>
              <a:rPr lang="en-US" sz="2000" b="1" dirty="0">
                <a:latin typeface="Consolas" panose="020B0609020204030204" pitchFamily="49" charset="0"/>
              </a:rPr>
            </a:br>
            <a:r>
              <a:rPr lang="en-US" sz="2000" b="1" dirty="0">
                <a:latin typeface="Consolas" panose="020B0609020204030204" pitchFamily="49" charset="0"/>
              </a:rPr>
              <a:t>constructor() {</a:t>
            </a:r>
          </a:p>
          <a:p>
            <a:r>
              <a:rPr lang="en-US" sz="2000" b="1" dirty="0">
                <a:latin typeface="Consolas" panose="020B0609020204030204" pitchFamily="49" charset="0"/>
              </a:rPr>
              <a:t>	</a:t>
            </a:r>
            <a:r>
              <a:rPr lang="en-US" sz="2000" b="1" dirty="0" err="1">
                <a:latin typeface="Consolas" panose="020B0609020204030204" pitchFamily="49" charset="0"/>
              </a:rPr>
              <a:t>this._id</a:t>
            </a:r>
            <a:r>
              <a:rPr lang="en-US" sz="2000" b="1" dirty="0">
                <a:latin typeface="Consolas" panose="020B0609020204030204" pitchFamily="49" charset="0"/>
              </a:rPr>
              <a:t> = new Date().</a:t>
            </a:r>
            <a:r>
              <a:rPr lang="en-US" sz="2000" b="1" dirty="0" err="1">
                <a:latin typeface="Consolas" panose="020B0609020204030204" pitchFamily="49" charset="0"/>
              </a:rPr>
              <a:t>getTime</a:t>
            </a:r>
            <a:r>
              <a:rPr lang="en-US" sz="2000" b="1" dirty="0">
                <a:latin typeface="Consolas" panose="020B0609020204030204" pitchFamily="49" charset="0"/>
              </a:rPr>
              <a:t>().</a:t>
            </a:r>
            <a:r>
              <a:rPr lang="en-US" sz="2000" b="1" dirty="0" err="1">
                <a:latin typeface="Consolas" panose="020B0609020204030204" pitchFamily="49" charset="0"/>
              </a:rPr>
              <a:t>toString</a:t>
            </a:r>
            <a:r>
              <a:rPr lang="en-US" sz="2000" b="1" dirty="0">
                <a:latin typeface="Consolas" panose="020B0609020204030204" pitchFamily="49" charset="0"/>
              </a:rPr>
              <a:t>();</a:t>
            </a:r>
          </a:p>
          <a:p>
            <a:r>
              <a:rPr lang="en-US" sz="2000" b="1" dirty="0">
                <a:latin typeface="Consolas" panose="020B0609020204030204" pitchFamily="49" charset="0"/>
              </a:rPr>
              <a:t>   }</a:t>
            </a:r>
          </a:p>
          <a:p>
            <a:r>
              <a:rPr lang="en-US" sz="2000" b="1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6973838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E34F7B-02D0-4096-80FB-C1063D994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El controlador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CCBB6E96-C91E-4808-8409-6C7D65099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La parte de </a:t>
            </a:r>
            <a:r>
              <a:rPr lang="es-ES" b="1" dirty="0"/>
              <a:t>lógica del componente </a:t>
            </a:r>
            <a:r>
              <a:rPr lang="es-ES" dirty="0"/>
              <a:t>va en la clase que se usa para su definición. Como ya has visto podemos usar su constructor para reclamar dependencias y usar los interfaces para responder a eventos de su ciclo de vida. Ahora se trata de crear propiedades y métodos con los que comunicarse con la vista.</a:t>
            </a:r>
          </a:p>
          <a:p>
            <a:r>
              <a:rPr lang="es-ES" dirty="0"/>
              <a:t>Podemos decir que las propiedades públicas de la clase actuarán como </a:t>
            </a:r>
            <a:r>
              <a:rPr lang="es-ES" dirty="0" err="1"/>
              <a:t>binding</a:t>
            </a:r>
            <a:r>
              <a:rPr lang="es-ES" dirty="0"/>
              <a:t> de datos con la vista. Mientras que los métodos públicos serán invocados desde los eventos de la misma vista.</a:t>
            </a:r>
          </a:p>
        </p:txBody>
      </p:sp>
    </p:spTree>
    <p:extLst>
      <p:ext uri="{BB962C8B-B14F-4D97-AF65-F5344CB8AC3E}">
        <p14:creationId xmlns:p14="http://schemas.microsoft.com/office/powerpoint/2010/main" val="334750719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464BDDC6-1FAD-4039-9BA9-46D3BA601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El controlador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C1F7363-FD28-4DBC-A673-DE10D82C8E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982" y="1825624"/>
            <a:ext cx="5027830" cy="4803775"/>
          </a:xfrm>
        </p:spPr>
        <p:txBody>
          <a:bodyPr>
            <a:normAutofit/>
          </a:bodyPr>
          <a:lstStyle/>
          <a:p>
            <a:r>
              <a:rPr lang="es-ES" dirty="0"/>
              <a:t>Edita el fichero </a:t>
            </a:r>
            <a:r>
              <a:rPr lang="es-ES" b="1" dirty="0" err="1"/>
              <a:t>new.component.ts</a:t>
            </a:r>
            <a:endParaRPr lang="es-ES" b="1" dirty="0"/>
          </a:p>
          <a:p>
            <a:r>
              <a:rPr lang="es-ES" dirty="0"/>
              <a:t>Actualiza el código de la clase </a:t>
            </a:r>
            <a:r>
              <a:rPr lang="es-ES" b="1" dirty="0" err="1"/>
              <a:t>NewComponent</a:t>
            </a:r>
            <a:r>
              <a:rPr lang="es-ES" dirty="0"/>
              <a:t> </a:t>
            </a:r>
          </a:p>
          <a:p>
            <a:r>
              <a:rPr lang="es-ES" dirty="0"/>
              <a:t>Aprende sobre la implementación del </a:t>
            </a:r>
            <a:r>
              <a:rPr lang="es-ES" b="1" dirty="0" err="1"/>
              <a:t>OnInit</a:t>
            </a:r>
            <a:r>
              <a:rPr lang="es-ES" dirty="0"/>
              <a:t> en los componentes</a:t>
            </a:r>
          </a:p>
          <a:p>
            <a:endParaRPr lang="es-ES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0240E0C-89C7-4887-8140-117D38105DD7}"/>
              </a:ext>
            </a:extLst>
          </p:cNvPr>
          <p:cNvSpPr/>
          <p:nvPr/>
        </p:nvSpPr>
        <p:spPr>
          <a:xfrm>
            <a:off x="10216035" y="180232"/>
            <a:ext cx="182197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LAB2f </a:t>
            </a:r>
            <a:endParaRPr lang="es-ES" sz="4800" dirty="0">
              <a:solidFill>
                <a:srgbClr val="FF0000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31CA41E-C625-4081-A833-4EC259AE0609}"/>
              </a:ext>
            </a:extLst>
          </p:cNvPr>
          <p:cNvSpPr/>
          <p:nvPr/>
        </p:nvSpPr>
        <p:spPr>
          <a:xfrm>
            <a:off x="10366848" y="874318"/>
            <a:ext cx="16374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/>
              <a:t>C:\Labs\T4\EX1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B37C97F-BE04-4E53-8647-0ECB53D96B1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056"/>
          <a:stretch/>
        </p:blipFill>
        <p:spPr>
          <a:xfrm>
            <a:off x="6094412" y="1319849"/>
            <a:ext cx="5791200" cy="530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01512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FDA08A-7DF0-4DA9-AAE7-3977AB17C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El controlador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0608D8F-A30A-48A7-B76D-1CCDC8AA3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Como ves, las propiedades </a:t>
            </a:r>
            <a:r>
              <a:rPr lang="es-ES" b="1" dirty="0" err="1"/>
              <a:t>kindsOfOperations</a:t>
            </a:r>
            <a:r>
              <a:rPr lang="es-ES" dirty="0"/>
              <a:t>, </a:t>
            </a:r>
            <a:r>
              <a:rPr lang="es-ES" b="1" dirty="0" err="1"/>
              <a:t>numberOfOperations</a:t>
            </a:r>
            <a:r>
              <a:rPr lang="es-ES" dirty="0"/>
              <a:t>, </a:t>
            </a:r>
            <a:r>
              <a:rPr lang="es-ES" b="1" dirty="0" err="1"/>
              <a:t>operation</a:t>
            </a:r>
            <a:r>
              <a:rPr lang="es-ES" dirty="0"/>
              <a:t> y </a:t>
            </a:r>
            <a:r>
              <a:rPr lang="es-ES" b="1" dirty="0" err="1"/>
              <a:t>operations</a:t>
            </a:r>
            <a:r>
              <a:rPr lang="es-ES" dirty="0"/>
              <a:t> se corresponden con las utilizadas en las directivas de enlace en la vista.</a:t>
            </a:r>
          </a:p>
          <a:p>
            <a:r>
              <a:rPr lang="es-ES" dirty="0"/>
              <a:t>Los métodos </a:t>
            </a:r>
            <a:r>
              <a:rPr lang="es-ES" b="1" dirty="0" err="1"/>
              <a:t>saveOperation</a:t>
            </a:r>
            <a:r>
              <a:rPr lang="es-ES" b="1" dirty="0"/>
              <a:t>() </a:t>
            </a:r>
            <a:r>
              <a:rPr lang="es-ES" dirty="0"/>
              <a:t>y </a:t>
            </a:r>
            <a:r>
              <a:rPr lang="es-ES" b="1" dirty="0" err="1"/>
              <a:t>deleteOperation</a:t>
            </a:r>
            <a:r>
              <a:rPr lang="es-ES" b="1" dirty="0"/>
              <a:t>(</a:t>
            </a:r>
            <a:r>
              <a:rPr lang="es-ES" b="1" dirty="0" err="1"/>
              <a:t>operation</a:t>
            </a:r>
            <a:r>
              <a:rPr lang="es-ES" b="1" dirty="0"/>
              <a:t>: </a:t>
            </a:r>
            <a:r>
              <a:rPr lang="es-ES" b="1" dirty="0" err="1"/>
              <a:t>Operation</a:t>
            </a:r>
            <a:r>
              <a:rPr lang="es-ES" b="1" dirty="0"/>
              <a:t>) </a:t>
            </a:r>
            <a:r>
              <a:rPr lang="es-ES" dirty="0"/>
              <a:t>son invocados desde eventos de elementos del </a:t>
            </a:r>
            <a:r>
              <a:rPr lang="es-ES" dirty="0" err="1"/>
              <a:t>html</a:t>
            </a:r>
            <a:r>
              <a:rPr lang="es-ES" dirty="0"/>
              <a:t>.</a:t>
            </a:r>
          </a:p>
          <a:p>
            <a:r>
              <a:rPr lang="es-ES" dirty="0"/>
              <a:t>Juntos, la </a:t>
            </a:r>
            <a:r>
              <a:rPr lang="es-ES" b="1" dirty="0"/>
              <a:t>vista y su clase controladora</a:t>
            </a:r>
            <a:r>
              <a:rPr lang="es-ES" dirty="0"/>
              <a:t>, resuelven un problema de interacción con el usuario creando un componente. Todas las páginas que diseñes serán variaciones y composiciones de estos componentes.</a:t>
            </a:r>
          </a:p>
          <a:p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9426231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17DF82-5BAB-E8A6-FE10-7FE8C0713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>
                <a:solidFill>
                  <a:srgbClr val="00B050"/>
                </a:solidFill>
              </a:rPr>
              <a:t>99%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AC42D85-6293-732A-4DE0-13C66F068D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3412" y="2057400"/>
            <a:ext cx="2667000" cy="762000"/>
          </a:xfr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/>
          <a:lstStyle/>
          <a:p>
            <a:pPr marL="0" indent="0">
              <a:buNone/>
            </a:pPr>
            <a:r>
              <a:rPr lang="es-ES" dirty="0" err="1">
                <a:solidFill>
                  <a:srgbClr val="FDFFFF"/>
                </a:solidFill>
              </a:rPr>
              <a:t>Item</a:t>
            </a:r>
            <a:endParaRPr lang="es-ES" dirty="0">
              <a:solidFill>
                <a:srgbClr val="FDFFFF"/>
              </a:solidFill>
            </a:endParaRPr>
          </a:p>
          <a:p>
            <a:pPr marL="457063" lvl="1" indent="0">
              <a:buNone/>
            </a:pPr>
            <a:r>
              <a:rPr lang="es-ES" dirty="0">
                <a:solidFill>
                  <a:srgbClr val="FDFFFF"/>
                </a:solidFill>
              </a:rPr>
              <a:t>Visualizar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CC2031EB-45BC-4DDA-F13F-C546984CB04C}"/>
              </a:ext>
            </a:extLst>
          </p:cNvPr>
          <p:cNvSpPr txBox="1">
            <a:spLocks/>
          </p:cNvSpPr>
          <p:nvPr/>
        </p:nvSpPr>
        <p:spPr>
          <a:xfrm>
            <a:off x="4875212" y="2057400"/>
            <a:ext cx="2667000" cy="75733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 lnSpcReduction="10000"/>
          </a:bodyPr>
          <a:lstStyle>
            <a:lvl1pPr marL="228531" indent="-228531" algn="l" defTabSz="914126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F5C200"/>
              </a:buClr>
              <a:buFont typeface="Arial" panose="020B0604020202020204" pitchFamily="34" charset="0"/>
              <a:buChar char="•"/>
              <a:defRPr sz="2399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5C200"/>
              </a:buClr>
              <a:buFont typeface="Arial" panose="020B0604020202020204" pitchFamily="34" charset="0"/>
              <a:buChar char="•"/>
              <a:defRPr sz="1999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5C200"/>
              </a:buClr>
              <a:buFont typeface="Arial" panose="020B0604020202020204" pitchFamily="34" charset="0"/>
              <a:buChar char="•"/>
              <a:defRPr sz="1799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5C200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5C200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dirty="0">
                <a:solidFill>
                  <a:srgbClr val="FDFFFF"/>
                </a:solidFill>
              </a:rPr>
              <a:t>New</a:t>
            </a:r>
          </a:p>
          <a:p>
            <a:pPr marL="457063" lvl="1" indent="0">
              <a:buNone/>
            </a:pPr>
            <a:r>
              <a:rPr lang="es-ES" dirty="0">
                <a:solidFill>
                  <a:srgbClr val="FDFFFF"/>
                </a:solidFill>
              </a:rPr>
              <a:t>Crear nuevos</a:t>
            </a: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4E94874D-2368-EA4B-D741-CCDB39C2E986}"/>
              </a:ext>
            </a:extLst>
          </p:cNvPr>
          <p:cNvSpPr txBox="1">
            <a:spLocks/>
          </p:cNvSpPr>
          <p:nvPr/>
        </p:nvSpPr>
        <p:spPr>
          <a:xfrm>
            <a:off x="7770812" y="2052735"/>
            <a:ext cx="2667000" cy="762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>
            <a:lvl1pPr marL="228531" indent="-228531" algn="l" defTabSz="914126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F5C200"/>
              </a:buClr>
              <a:buFont typeface="Arial" panose="020B0604020202020204" pitchFamily="34" charset="0"/>
              <a:buChar char="•"/>
              <a:defRPr sz="2399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5C200"/>
              </a:buClr>
              <a:buFont typeface="Arial" panose="020B0604020202020204" pitchFamily="34" charset="0"/>
              <a:buChar char="•"/>
              <a:defRPr sz="1999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5C200"/>
              </a:buClr>
              <a:buFont typeface="Arial" panose="020B0604020202020204" pitchFamily="34" charset="0"/>
              <a:buChar char="•"/>
              <a:defRPr sz="1799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5C200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5C200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dirty="0" err="1">
                <a:solidFill>
                  <a:srgbClr val="FDFFFF"/>
                </a:solidFill>
              </a:rPr>
              <a:t>List</a:t>
            </a:r>
            <a:endParaRPr lang="es-ES" dirty="0">
              <a:solidFill>
                <a:srgbClr val="FDFFFF"/>
              </a:solidFill>
            </a:endParaRPr>
          </a:p>
          <a:p>
            <a:pPr marL="457063" lvl="1" indent="0">
              <a:buNone/>
            </a:pPr>
            <a:r>
              <a:rPr lang="es-ES" dirty="0">
                <a:solidFill>
                  <a:srgbClr val="FDFFFF"/>
                </a:solidFill>
              </a:rPr>
              <a:t>Listar</a:t>
            </a:r>
          </a:p>
          <a:p>
            <a:pPr marL="457063" lvl="1" indent="0">
              <a:buNone/>
            </a:pPr>
            <a:endParaRPr lang="es-ES" dirty="0">
              <a:solidFill>
                <a:srgbClr val="FDFFFF"/>
              </a:solidFill>
            </a:endParaRP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E2DA7E81-A53D-6EA6-7D9A-704216A80495}"/>
              </a:ext>
            </a:extLst>
          </p:cNvPr>
          <p:cNvSpPr txBox="1">
            <a:spLocks/>
          </p:cNvSpPr>
          <p:nvPr/>
        </p:nvSpPr>
        <p:spPr>
          <a:xfrm>
            <a:off x="4951912" y="5012866"/>
            <a:ext cx="2667000" cy="166394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>
            <a:lvl1pPr marL="228531" indent="-228531" algn="l" defTabSz="914126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F5C200"/>
              </a:buClr>
              <a:buFont typeface="Arial" panose="020B0604020202020204" pitchFamily="34" charset="0"/>
              <a:buChar char="•"/>
              <a:defRPr sz="2399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5C200"/>
              </a:buClr>
              <a:buFont typeface="Arial" panose="020B0604020202020204" pitchFamily="34" charset="0"/>
              <a:buChar char="•"/>
              <a:defRPr sz="1999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5C200"/>
              </a:buClr>
              <a:buFont typeface="Arial" panose="020B0604020202020204" pitchFamily="34" charset="0"/>
              <a:buChar char="•"/>
              <a:defRPr sz="1799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5C200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5C200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dirty="0" err="1">
                <a:solidFill>
                  <a:srgbClr val="FDFFFF"/>
                </a:solidFill>
              </a:rPr>
              <a:t>Operations</a:t>
            </a:r>
            <a:endParaRPr lang="es-ES" dirty="0">
              <a:solidFill>
                <a:srgbClr val="FDFFFF"/>
              </a:solidFill>
            </a:endParaRPr>
          </a:p>
          <a:p>
            <a:pPr marL="457063" lvl="1" indent="0">
              <a:buNone/>
            </a:pPr>
            <a:r>
              <a:rPr lang="es-ES" dirty="0">
                <a:solidFill>
                  <a:srgbClr val="FDFFFF"/>
                </a:solidFill>
              </a:rPr>
              <a:t>Coordinar</a:t>
            </a:r>
          </a:p>
          <a:p>
            <a:pPr marL="914126" lvl="2" indent="0">
              <a:buNone/>
            </a:pPr>
            <a:r>
              <a:rPr lang="es-ES" dirty="0">
                <a:solidFill>
                  <a:srgbClr val="FDFFFF"/>
                </a:solidFill>
              </a:rPr>
              <a:t>Centralizado</a:t>
            </a: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F75C2C33-CA5C-C537-3C49-FE74349E0A9E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7341902" y="2967136"/>
            <a:ext cx="1066469" cy="1019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D84902CF-1BF6-9E6E-9EE3-C89E764A6736}"/>
              </a:ext>
            </a:extLst>
          </p:cNvPr>
          <p:cNvCxnSpPr>
            <a:cxnSpLocks/>
          </p:cNvCxnSpPr>
          <p:nvPr/>
        </p:nvCxnSpPr>
        <p:spPr>
          <a:xfrm flipV="1">
            <a:off x="5865812" y="2895599"/>
            <a:ext cx="0" cy="10380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CuadroTexto 18">
            <a:extLst>
              <a:ext uri="{FF2B5EF4-FFF2-40B4-BE49-F238E27FC236}">
                <a16:creationId xmlns:a16="http://schemas.microsoft.com/office/drawing/2014/main" id="{364620E4-6BCA-F0CA-EA1C-7FF8C8274D71}"/>
              </a:ext>
            </a:extLst>
          </p:cNvPr>
          <p:cNvSpPr txBox="1"/>
          <p:nvPr/>
        </p:nvSpPr>
        <p:spPr>
          <a:xfrm>
            <a:off x="8408371" y="2782470"/>
            <a:ext cx="701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datos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A8187EB6-55A2-F672-6451-2D8B7ECDADC5}"/>
              </a:ext>
            </a:extLst>
          </p:cNvPr>
          <p:cNvSpPr txBox="1"/>
          <p:nvPr/>
        </p:nvSpPr>
        <p:spPr>
          <a:xfrm>
            <a:off x="9661112" y="2826403"/>
            <a:ext cx="1440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Event</a:t>
            </a:r>
            <a:r>
              <a:rPr lang="es-ES" dirty="0"/>
              <a:t>(</a:t>
            </a:r>
            <a:r>
              <a:rPr lang="es-ES" dirty="0" err="1"/>
              <a:t>delete</a:t>
            </a:r>
            <a:r>
              <a:rPr lang="es-ES" dirty="0"/>
              <a:t>)</a:t>
            </a:r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F245BC71-B40F-12FB-4F04-672ED753D786}"/>
              </a:ext>
            </a:extLst>
          </p:cNvPr>
          <p:cNvCxnSpPr>
            <a:cxnSpLocks/>
            <a:stCxn id="20" idx="1"/>
          </p:cNvCxnSpPr>
          <p:nvPr/>
        </p:nvCxnSpPr>
        <p:spPr>
          <a:xfrm flipH="1">
            <a:off x="7578968" y="3011069"/>
            <a:ext cx="2082144" cy="10321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CuadroTexto 26">
            <a:extLst>
              <a:ext uri="{FF2B5EF4-FFF2-40B4-BE49-F238E27FC236}">
                <a16:creationId xmlns:a16="http://schemas.microsoft.com/office/drawing/2014/main" id="{793F455B-1366-7940-1E16-108429EED70A}"/>
              </a:ext>
            </a:extLst>
          </p:cNvPr>
          <p:cNvSpPr txBox="1"/>
          <p:nvPr/>
        </p:nvSpPr>
        <p:spPr>
          <a:xfrm>
            <a:off x="9335382" y="3097763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()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3EF92F8D-2348-36A0-BBEF-8AC6EC401DAF}"/>
              </a:ext>
            </a:extLst>
          </p:cNvPr>
          <p:cNvSpPr txBox="1"/>
          <p:nvPr/>
        </p:nvSpPr>
        <p:spPr>
          <a:xfrm>
            <a:off x="8220333" y="2986960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[]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7773072B-4B2B-328B-CA01-813E2AB192D3}"/>
              </a:ext>
            </a:extLst>
          </p:cNvPr>
          <p:cNvSpPr txBox="1"/>
          <p:nvPr/>
        </p:nvSpPr>
        <p:spPr>
          <a:xfrm>
            <a:off x="5814896" y="2814735"/>
            <a:ext cx="701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datos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C9661F30-A615-B1C9-761C-205A5BFC4694}"/>
              </a:ext>
            </a:extLst>
          </p:cNvPr>
          <p:cNvSpPr txBox="1"/>
          <p:nvPr/>
        </p:nvSpPr>
        <p:spPr>
          <a:xfrm>
            <a:off x="5626858" y="3019225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[]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130165BB-DEDC-9518-CE4E-4B50620148CD}"/>
              </a:ext>
            </a:extLst>
          </p:cNvPr>
          <p:cNvSpPr txBox="1"/>
          <p:nvPr/>
        </p:nvSpPr>
        <p:spPr>
          <a:xfrm>
            <a:off x="6510782" y="2819400"/>
            <a:ext cx="1260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Event</a:t>
            </a:r>
            <a:r>
              <a:rPr lang="es-ES" dirty="0"/>
              <a:t>(</a:t>
            </a:r>
            <a:r>
              <a:rPr lang="es-ES" dirty="0" err="1"/>
              <a:t>save</a:t>
            </a:r>
            <a:r>
              <a:rPr lang="es-ES" dirty="0"/>
              <a:t>)</a:t>
            </a: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690D52DF-7838-DB92-B435-4D17ED57D1ED}"/>
              </a:ext>
            </a:extLst>
          </p:cNvPr>
          <p:cNvCxnSpPr>
            <a:cxnSpLocks/>
            <a:stCxn id="30" idx="3"/>
          </p:cNvCxnSpPr>
          <p:nvPr/>
        </p:nvCxnSpPr>
        <p:spPr>
          <a:xfrm flipH="1">
            <a:off x="6433067" y="2999401"/>
            <a:ext cx="83111" cy="10022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CuadroTexto 35">
            <a:extLst>
              <a:ext uri="{FF2B5EF4-FFF2-40B4-BE49-F238E27FC236}">
                <a16:creationId xmlns:a16="http://schemas.microsoft.com/office/drawing/2014/main" id="{73161CC6-20AF-AFCD-C53D-712678A8C05D}"/>
              </a:ext>
            </a:extLst>
          </p:cNvPr>
          <p:cNvSpPr txBox="1"/>
          <p:nvPr/>
        </p:nvSpPr>
        <p:spPr>
          <a:xfrm>
            <a:off x="6567094" y="3079302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()</a:t>
            </a:r>
          </a:p>
        </p:txBody>
      </p: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6037B1DC-0298-2E7C-390D-E3BF91C8AB23}"/>
              </a:ext>
            </a:extLst>
          </p:cNvPr>
          <p:cNvCxnSpPr>
            <a:cxnSpLocks/>
          </p:cNvCxnSpPr>
          <p:nvPr/>
        </p:nvCxnSpPr>
        <p:spPr>
          <a:xfrm flipH="1" flipV="1">
            <a:off x="2679424" y="2824063"/>
            <a:ext cx="2195788" cy="11095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CuadroTexto 37">
            <a:extLst>
              <a:ext uri="{FF2B5EF4-FFF2-40B4-BE49-F238E27FC236}">
                <a16:creationId xmlns:a16="http://schemas.microsoft.com/office/drawing/2014/main" id="{A47D7A68-9DC1-5D3B-E339-4CD921427ADB}"/>
              </a:ext>
            </a:extLst>
          </p:cNvPr>
          <p:cNvSpPr txBox="1"/>
          <p:nvPr/>
        </p:nvSpPr>
        <p:spPr>
          <a:xfrm>
            <a:off x="2337052" y="2956059"/>
            <a:ext cx="775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datos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3C5CF668-FBEF-AFAB-0592-468A73F4AA1A}"/>
              </a:ext>
            </a:extLst>
          </p:cNvPr>
          <p:cNvSpPr txBox="1"/>
          <p:nvPr/>
        </p:nvSpPr>
        <p:spPr>
          <a:xfrm>
            <a:off x="1476743" y="1165564"/>
            <a:ext cx="360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[]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CD5E1776-8ED5-BB39-651C-AB04CAA0DE80}"/>
              </a:ext>
            </a:extLst>
          </p:cNvPr>
          <p:cNvSpPr txBox="1"/>
          <p:nvPr/>
        </p:nvSpPr>
        <p:spPr>
          <a:xfrm>
            <a:off x="3355790" y="2810843"/>
            <a:ext cx="1187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Event</a:t>
            </a:r>
            <a:r>
              <a:rPr lang="es-ES" dirty="0"/>
              <a:t>(</a:t>
            </a:r>
            <a:r>
              <a:rPr lang="es-ES" dirty="0" err="1"/>
              <a:t>exit</a:t>
            </a:r>
            <a:r>
              <a:rPr lang="es-ES" dirty="0"/>
              <a:t>)</a:t>
            </a:r>
          </a:p>
        </p:txBody>
      </p:sp>
      <p:cxnSp>
        <p:nvCxnSpPr>
          <p:cNvPr id="44" name="Conector recto de flecha 43">
            <a:extLst>
              <a:ext uri="{FF2B5EF4-FFF2-40B4-BE49-F238E27FC236}">
                <a16:creationId xmlns:a16="http://schemas.microsoft.com/office/drawing/2014/main" id="{867D737B-E59A-F797-F5ED-29E8EE8F569D}"/>
              </a:ext>
            </a:extLst>
          </p:cNvPr>
          <p:cNvCxnSpPr>
            <a:cxnSpLocks/>
            <a:stCxn id="43" idx="1"/>
          </p:cNvCxnSpPr>
          <p:nvPr/>
        </p:nvCxnSpPr>
        <p:spPr>
          <a:xfrm>
            <a:off x="3355790" y="2995509"/>
            <a:ext cx="1596122" cy="6823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CuadroTexto 44">
            <a:extLst>
              <a:ext uri="{FF2B5EF4-FFF2-40B4-BE49-F238E27FC236}">
                <a16:creationId xmlns:a16="http://schemas.microsoft.com/office/drawing/2014/main" id="{38A9EFD0-9D44-5F69-AD68-1094E5A48A52}"/>
              </a:ext>
            </a:extLst>
          </p:cNvPr>
          <p:cNvSpPr txBox="1"/>
          <p:nvPr/>
        </p:nvSpPr>
        <p:spPr>
          <a:xfrm>
            <a:off x="1480214" y="1627897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()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4320188C-A37E-91F3-6E36-4DB5E37E65EB}"/>
              </a:ext>
            </a:extLst>
          </p:cNvPr>
          <p:cNvSpPr txBox="1"/>
          <p:nvPr/>
        </p:nvSpPr>
        <p:spPr>
          <a:xfrm>
            <a:off x="2906533" y="1676400"/>
            <a:ext cx="660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Visor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580FB387-42D9-113E-AAFC-F84C465BA0C7}"/>
              </a:ext>
            </a:extLst>
          </p:cNvPr>
          <p:cNvSpPr txBox="1"/>
          <p:nvPr/>
        </p:nvSpPr>
        <p:spPr>
          <a:xfrm>
            <a:off x="5764033" y="1688852"/>
            <a:ext cx="660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Visor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4CB325F7-52EC-F736-B279-E14B7C93A050}"/>
              </a:ext>
            </a:extLst>
          </p:cNvPr>
          <p:cNvSpPr txBox="1"/>
          <p:nvPr/>
        </p:nvSpPr>
        <p:spPr>
          <a:xfrm>
            <a:off x="8773933" y="1627897"/>
            <a:ext cx="660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Visor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1E49FBBB-D5C3-2839-527B-DA9C0C713C0B}"/>
              </a:ext>
            </a:extLst>
          </p:cNvPr>
          <p:cNvSpPr txBox="1"/>
          <p:nvPr/>
        </p:nvSpPr>
        <p:spPr>
          <a:xfrm>
            <a:off x="1755125" y="1195497"/>
            <a:ext cx="1204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@Input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8C023589-96BF-CC35-7709-8BEB987CD5C0}"/>
              </a:ext>
            </a:extLst>
          </p:cNvPr>
          <p:cNvSpPr txBox="1"/>
          <p:nvPr/>
        </p:nvSpPr>
        <p:spPr>
          <a:xfrm>
            <a:off x="1755125" y="1611482"/>
            <a:ext cx="1204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@Output</a:t>
            </a: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77C13A8E-0C59-C1C3-9253-3198E2EE71DE}"/>
              </a:ext>
            </a:extLst>
          </p:cNvPr>
          <p:cNvSpPr txBox="1"/>
          <p:nvPr/>
        </p:nvSpPr>
        <p:spPr>
          <a:xfrm>
            <a:off x="4889136" y="1092476"/>
            <a:ext cx="1204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@Input</a:t>
            </a: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64AA0540-9465-2CE5-2DE2-6EE1613DDC2D}"/>
              </a:ext>
            </a:extLst>
          </p:cNvPr>
          <p:cNvSpPr txBox="1"/>
          <p:nvPr/>
        </p:nvSpPr>
        <p:spPr>
          <a:xfrm>
            <a:off x="4889136" y="1508461"/>
            <a:ext cx="1204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@Output</a:t>
            </a: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241A0C66-A336-803E-52E2-335D41559A96}"/>
              </a:ext>
            </a:extLst>
          </p:cNvPr>
          <p:cNvSpPr txBox="1"/>
          <p:nvPr/>
        </p:nvSpPr>
        <p:spPr>
          <a:xfrm>
            <a:off x="7688245" y="1179549"/>
            <a:ext cx="1204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@Input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5E86208E-6C54-8CE0-D5BB-4C095FE44BD4}"/>
              </a:ext>
            </a:extLst>
          </p:cNvPr>
          <p:cNvSpPr txBox="1"/>
          <p:nvPr/>
        </p:nvSpPr>
        <p:spPr>
          <a:xfrm>
            <a:off x="7688245" y="1595534"/>
            <a:ext cx="1204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@Output</a:t>
            </a:r>
          </a:p>
        </p:txBody>
      </p:sp>
      <p:sp>
        <p:nvSpPr>
          <p:cNvPr id="59" name="Marcador de contenido 2">
            <a:extLst>
              <a:ext uri="{FF2B5EF4-FFF2-40B4-BE49-F238E27FC236}">
                <a16:creationId xmlns:a16="http://schemas.microsoft.com/office/drawing/2014/main" id="{234483F0-17E4-7ED4-96C9-6109D04D9CCA}"/>
              </a:ext>
            </a:extLst>
          </p:cNvPr>
          <p:cNvSpPr txBox="1">
            <a:spLocks/>
          </p:cNvSpPr>
          <p:nvPr/>
        </p:nvSpPr>
        <p:spPr>
          <a:xfrm>
            <a:off x="4951912" y="4039552"/>
            <a:ext cx="2667000" cy="46769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>
            <a:lvl1pPr marL="228531" indent="-228531" algn="l" defTabSz="914126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F5C200"/>
              </a:buClr>
              <a:buFont typeface="Arial" panose="020B0604020202020204" pitchFamily="34" charset="0"/>
              <a:buChar char="•"/>
              <a:defRPr sz="2399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5C200"/>
              </a:buClr>
              <a:buFont typeface="Arial" panose="020B0604020202020204" pitchFamily="34" charset="0"/>
              <a:buChar char="•"/>
              <a:defRPr sz="1999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5C200"/>
              </a:buClr>
              <a:buFont typeface="Arial" panose="020B0604020202020204" pitchFamily="34" charset="0"/>
              <a:buChar char="•"/>
              <a:defRPr sz="1799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5C200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5C200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dirty="0">
                <a:solidFill>
                  <a:srgbClr val="FDFFFF"/>
                </a:solidFill>
              </a:rPr>
              <a:t>TEMPLATE</a:t>
            </a:r>
          </a:p>
        </p:txBody>
      </p:sp>
      <p:sp>
        <p:nvSpPr>
          <p:cNvPr id="60" name="Marcador de contenido 2">
            <a:extLst>
              <a:ext uri="{FF2B5EF4-FFF2-40B4-BE49-F238E27FC236}">
                <a16:creationId xmlns:a16="http://schemas.microsoft.com/office/drawing/2014/main" id="{B6F51F7E-CDF5-FC98-DB06-5CE505DEB5FA}"/>
              </a:ext>
            </a:extLst>
          </p:cNvPr>
          <p:cNvSpPr txBox="1">
            <a:spLocks/>
          </p:cNvSpPr>
          <p:nvPr/>
        </p:nvSpPr>
        <p:spPr>
          <a:xfrm>
            <a:off x="4951912" y="4545171"/>
            <a:ext cx="2667000" cy="46769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>
            <a:lvl1pPr marL="228531" indent="-228531" algn="l" defTabSz="914126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F5C200"/>
              </a:buClr>
              <a:buFont typeface="Arial" panose="020B0604020202020204" pitchFamily="34" charset="0"/>
              <a:buChar char="•"/>
              <a:defRPr sz="2399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5C200"/>
              </a:buClr>
              <a:buFont typeface="Arial" panose="020B0604020202020204" pitchFamily="34" charset="0"/>
              <a:buChar char="•"/>
              <a:defRPr sz="1999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5C200"/>
              </a:buClr>
              <a:buFont typeface="Arial" panose="020B0604020202020204" pitchFamily="34" charset="0"/>
              <a:buChar char="•"/>
              <a:defRPr sz="1799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5C200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5C200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dirty="0">
                <a:solidFill>
                  <a:srgbClr val="FDFFFF"/>
                </a:solidFill>
              </a:rPr>
              <a:t>CLASE</a:t>
            </a:r>
          </a:p>
        </p:txBody>
      </p:sp>
    </p:spTree>
    <p:extLst>
      <p:ext uri="{BB962C8B-B14F-4D97-AF65-F5344CB8AC3E}">
        <p14:creationId xmlns:p14="http://schemas.microsoft.com/office/powerpoint/2010/main" val="339585144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17DF82-5BAB-E8A6-FE10-7FE8C0713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>
                <a:solidFill>
                  <a:srgbClr val="FF0000"/>
                </a:solidFill>
              </a:rPr>
              <a:t>1%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AC42D85-6293-732A-4DE0-13C66F068D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3412" y="2057400"/>
            <a:ext cx="2667000" cy="762000"/>
          </a:xfr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s-ES" dirty="0" err="1">
                <a:solidFill>
                  <a:srgbClr val="FDFFFF"/>
                </a:solidFill>
              </a:rPr>
              <a:t>Item</a:t>
            </a:r>
            <a:endParaRPr lang="es-ES" dirty="0">
              <a:solidFill>
                <a:srgbClr val="FDFFFF"/>
              </a:solidFill>
            </a:endParaRPr>
          </a:p>
          <a:p>
            <a:pPr marL="457063" lvl="1" indent="0">
              <a:buNone/>
            </a:pPr>
            <a:r>
              <a:rPr lang="es-ES" dirty="0">
                <a:solidFill>
                  <a:srgbClr val="FDFFFF"/>
                </a:solidFill>
              </a:rPr>
              <a:t>Visualizar</a:t>
            </a:r>
          </a:p>
          <a:p>
            <a:pPr marL="457063" lvl="1" indent="0">
              <a:buNone/>
            </a:pPr>
            <a:r>
              <a:rPr lang="es-ES" dirty="0">
                <a:solidFill>
                  <a:srgbClr val="FDFFFF"/>
                </a:solidFill>
              </a:rPr>
              <a:t>Coordinar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CC2031EB-45BC-4DDA-F13F-C546984CB04C}"/>
              </a:ext>
            </a:extLst>
          </p:cNvPr>
          <p:cNvSpPr txBox="1">
            <a:spLocks/>
          </p:cNvSpPr>
          <p:nvPr/>
        </p:nvSpPr>
        <p:spPr>
          <a:xfrm>
            <a:off x="4875212" y="2057400"/>
            <a:ext cx="2667000" cy="75733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 fontScale="77500" lnSpcReduction="20000"/>
          </a:bodyPr>
          <a:lstStyle>
            <a:lvl1pPr marL="228531" indent="-228531" algn="l" defTabSz="914126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F5C200"/>
              </a:buClr>
              <a:buFont typeface="Arial" panose="020B0604020202020204" pitchFamily="34" charset="0"/>
              <a:buChar char="•"/>
              <a:defRPr sz="2399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5C200"/>
              </a:buClr>
              <a:buFont typeface="Arial" panose="020B0604020202020204" pitchFamily="34" charset="0"/>
              <a:buChar char="•"/>
              <a:defRPr sz="1999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5C200"/>
              </a:buClr>
              <a:buFont typeface="Arial" panose="020B0604020202020204" pitchFamily="34" charset="0"/>
              <a:buChar char="•"/>
              <a:defRPr sz="1799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5C200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5C200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dirty="0">
                <a:solidFill>
                  <a:srgbClr val="FDFFFF"/>
                </a:solidFill>
              </a:rPr>
              <a:t>New</a:t>
            </a:r>
          </a:p>
          <a:p>
            <a:pPr marL="457063" lvl="1" indent="0">
              <a:buNone/>
            </a:pPr>
            <a:r>
              <a:rPr lang="es-ES" dirty="0">
                <a:solidFill>
                  <a:srgbClr val="FDFFFF"/>
                </a:solidFill>
              </a:rPr>
              <a:t>Crear nuevos</a:t>
            </a:r>
          </a:p>
          <a:p>
            <a:pPr marL="457063" lvl="1" indent="0">
              <a:buNone/>
            </a:pPr>
            <a:r>
              <a:rPr lang="es-ES" dirty="0">
                <a:solidFill>
                  <a:srgbClr val="FDFFFF"/>
                </a:solidFill>
              </a:rPr>
              <a:t>Coordinar</a:t>
            </a: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4E94874D-2368-EA4B-D741-CCDB39C2E986}"/>
              </a:ext>
            </a:extLst>
          </p:cNvPr>
          <p:cNvSpPr txBox="1">
            <a:spLocks/>
          </p:cNvSpPr>
          <p:nvPr/>
        </p:nvSpPr>
        <p:spPr>
          <a:xfrm>
            <a:off x="7770812" y="2052735"/>
            <a:ext cx="2667000" cy="762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 fontScale="77500" lnSpcReduction="20000"/>
          </a:bodyPr>
          <a:lstStyle>
            <a:lvl1pPr marL="228531" indent="-228531" algn="l" defTabSz="914126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F5C200"/>
              </a:buClr>
              <a:buFont typeface="Arial" panose="020B0604020202020204" pitchFamily="34" charset="0"/>
              <a:buChar char="•"/>
              <a:defRPr sz="2399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5C200"/>
              </a:buClr>
              <a:buFont typeface="Arial" panose="020B0604020202020204" pitchFamily="34" charset="0"/>
              <a:buChar char="•"/>
              <a:defRPr sz="1999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5C200"/>
              </a:buClr>
              <a:buFont typeface="Arial" panose="020B0604020202020204" pitchFamily="34" charset="0"/>
              <a:buChar char="•"/>
              <a:defRPr sz="1799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5C200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5C200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dirty="0" err="1">
                <a:solidFill>
                  <a:srgbClr val="FDFFFF"/>
                </a:solidFill>
              </a:rPr>
              <a:t>List</a:t>
            </a:r>
            <a:endParaRPr lang="es-ES" dirty="0">
              <a:solidFill>
                <a:srgbClr val="FDFFFF"/>
              </a:solidFill>
            </a:endParaRPr>
          </a:p>
          <a:p>
            <a:pPr marL="457063" lvl="1" indent="0">
              <a:buNone/>
            </a:pPr>
            <a:r>
              <a:rPr lang="es-ES" dirty="0">
                <a:solidFill>
                  <a:srgbClr val="FDFFFF"/>
                </a:solidFill>
              </a:rPr>
              <a:t>Listar</a:t>
            </a:r>
          </a:p>
          <a:p>
            <a:pPr marL="457063" lvl="1" indent="0">
              <a:buNone/>
            </a:pPr>
            <a:r>
              <a:rPr lang="es-ES" dirty="0">
                <a:solidFill>
                  <a:srgbClr val="FDFFFF"/>
                </a:solidFill>
              </a:rPr>
              <a:t>Coordinar</a:t>
            </a:r>
          </a:p>
          <a:p>
            <a:pPr marL="457063" lvl="1" indent="0">
              <a:buNone/>
            </a:pPr>
            <a:endParaRPr lang="es-ES" dirty="0">
              <a:solidFill>
                <a:srgbClr val="FDFFFF"/>
              </a:solidFill>
            </a:endParaRP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F75C2C33-CA5C-C537-3C49-FE74349E0A9E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7578968" y="2967136"/>
            <a:ext cx="829403" cy="5773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D84902CF-1BF6-9E6E-9EE3-C89E764A6736}"/>
              </a:ext>
            </a:extLst>
          </p:cNvPr>
          <p:cNvCxnSpPr>
            <a:cxnSpLocks/>
          </p:cNvCxnSpPr>
          <p:nvPr/>
        </p:nvCxnSpPr>
        <p:spPr>
          <a:xfrm flipH="1" flipV="1">
            <a:off x="5865812" y="2895599"/>
            <a:ext cx="76200" cy="6002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CuadroTexto 18">
            <a:extLst>
              <a:ext uri="{FF2B5EF4-FFF2-40B4-BE49-F238E27FC236}">
                <a16:creationId xmlns:a16="http://schemas.microsoft.com/office/drawing/2014/main" id="{364620E4-6BCA-F0CA-EA1C-7FF8C8274D71}"/>
              </a:ext>
            </a:extLst>
          </p:cNvPr>
          <p:cNvSpPr txBox="1"/>
          <p:nvPr/>
        </p:nvSpPr>
        <p:spPr>
          <a:xfrm>
            <a:off x="8408371" y="2782470"/>
            <a:ext cx="701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datos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A8187EB6-55A2-F672-6451-2D8B7ECDADC5}"/>
              </a:ext>
            </a:extLst>
          </p:cNvPr>
          <p:cNvSpPr txBox="1"/>
          <p:nvPr/>
        </p:nvSpPr>
        <p:spPr>
          <a:xfrm>
            <a:off x="9661112" y="2826403"/>
            <a:ext cx="1440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Event</a:t>
            </a:r>
            <a:r>
              <a:rPr lang="es-ES" dirty="0"/>
              <a:t>(</a:t>
            </a:r>
            <a:r>
              <a:rPr lang="es-ES" dirty="0" err="1"/>
              <a:t>delete</a:t>
            </a:r>
            <a:r>
              <a:rPr lang="es-ES" dirty="0"/>
              <a:t>)</a:t>
            </a:r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F245BC71-B40F-12FB-4F04-672ED753D786}"/>
              </a:ext>
            </a:extLst>
          </p:cNvPr>
          <p:cNvCxnSpPr>
            <a:cxnSpLocks/>
            <a:stCxn id="20" idx="1"/>
          </p:cNvCxnSpPr>
          <p:nvPr/>
        </p:nvCxnSpPr>
        <p:spPr>
          <a:xfrm flipH="1">
            <a:off x="7637040" y="3011069"/>
            <a:ext cx="2024072" cy="8751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CuadroTexto 26">
            <a:extLst>
              <a:ext uri="{FF2B5EF4-FFF2-40B4-BE49-F238E27FC236}">
                <a16:creationId xmlns:a16="http://schemas.microsoft.com/office/drawing/2014/main" id="{793F455B-1366-7940-1E16-108429EED70A}"/>
              </a:ext>
            </a:extLst>
          </p:cNvPr>
          <p:cNvSpPr txBox="1"/>
          <p:nvPr/>
        </p:nvSpPr>
        <p:spPr>
          <a:xfrm>
            <a:off x="9335382" y="3097763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()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3EF92F8D-2348-36A0-BBEF-8AC6EC401DAF}"/>
              </a:ext>
            </a:extLst>
          </p:cNvPr>
          <p:cNvSpPr txBox="1"/>
          <p:nvPr/>
        </p:nvSpPr>
        <p:spPr>
          <a:xfrm>
            <a:off x="8220333" y="2986960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[]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7773072B-4B2B-328B-CA01-813E2AB192D3}"/>
              </a:ext>
            </a:extLst>
          </p:cNvPr>
          <p:cNvSpPr txBox="1"/>
          <p:nvPr/>
        </p:nvSpPr>
        <p:spPr>
          <a:xfrm>
            <a:off x="5814896" y="2814735"/>
            <a:ext cx="701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datos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C9661F30-A615-B1C9-761C-205A5BFC4694}"/>
              </a:ext>
            </a:extLst>
          </p:cNvPr>
          <p:cNvSpPr txBox="1"/>
          <p:nvPr/>
        </p:nvSpPr>
        <p:spPr>
          <a:xfrm>
            <a:off x="5626858" y="3019225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[]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130165BB-DEDC-9518-CE4E-4B50620148CD}"/>
              </a:ext>
            </a:extLst>
          </p:cNvPr>
          <p:cNvSpPr txBox="1"/>
          <p:nvPr/>
        </p:nvSpPr>
        <p:spPr>
          <a:xfrm>
            <a:off x="6510782" y="2819400"/>
            <a:ext cx="1260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Event</a:t>
            </a:r>
            <a:r>
              <a:rPr lang="es-ES" dirty="0"/>
              <a:t>(</a:t>
            </a:r>
            <a:r>
              <a:rPr lang="es-ES" dirty="0" err="1"/>
              <a:t>save</a:t>
            </a:r>
            <a:r>
              <a:rPr lang="es-ES" dirty="0"/>
              <a:t>)</a:t>
            </a: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690D52DF-7838-DB92-B435-4D17ED57D1ED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6516178" y="2999401"/>
            <a:ext cx="118232" cy="4676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CuadroTexto 35">
            <a:extLst>
              <a:ext uri="{FF2B5EF4-FFF2-40B4-BE49-F238E27FC236}">
                <a16:creationId xmlns:a16="http://schemas.microsoft.com/office/drawing/2014/main" id="{73161CC6-20AF-AFCD-C53D-712678A8C05D}"/>
              </a:ext>
            </a:extLst>
          </p:cNvPr>
          <p:cNvSpPr txBox="1"/>
          <p:nvPr/>
        </p:nvSpPr>
        <p:spPr>
          <a:xfrm>
            <a:off x="6567094" y="3079302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()</a:t>
            </a:r>
          </a:p>
        </p:txBody>
      </p: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6037B1DC-0298-2E7C-390D-E3BF91C8AB23}"/>
              </a:ext>
            </a:extLst>
          </p:cNvPr>
          <p:cNvCxnSpPr>
            <a:cxnSpLocks/>
          </p:cNvCxnSpPr>
          <p:nvPr/>
        </p:nvCxnSpPr>
        <p:spPr>
          <a:xfrm flipH="1" flipV="1">
            <a:off x="2679424" y="2824063"/>
            <a:ext cx="2214416" cy="10621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CuadroTexto 37">
            <a:extLst>
              <a:ext uri="{FF2B5EF4-FFF2-40B4-BE49-F238E27FC236}">
                <a16:creationId xmlns:a16="http://schemas.microsoft.com/office/drawing/2014/main" id="{A47D7A68-9DC1-5D3B-E339-4CD921427ADB}"/>
              </a:ext>
            </a:extLst>
          </p:cNvPr>
          <p:cNvSpPr txBox="1"/>
          <p:nvPr/>
        </p:nvSpPr>
        <p:spPr>
          <a:xfrm>
            <a:off x="2337052" y="2956059"/>
            <a:ext cx="775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datos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3C5CF668-FBEF-AFAB-0592-468A73F4AA1A}"/>
              </a:ext>
            </a:extLst>
          </p:cNvPr>
          <p:cNvSpPr txBox="1"/>
          <p:nvPr/>
        </p:nvSpPr>
        <p:spPr>
          <a:xfrm>
            <a:off x="2027492" y="3019225"/>
            <a:ext cx="360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[]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CD5E1776-8ED5-BB39-651C-AB04CAA0DE80}"/>
              </a:ext>
            </a:extLst>
          </p:cNvPr>
          <p:cNvSpPr txBox="1"/>
          <p:nvPr/>
        </p:nvSpPr>
        <p:spPr>
          <a:xfrm>
            <a:off x="3355790" y="2810843"/>
            <a:ext cx="1187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Event</a:t>
            </a:r>
            <a:r>
              <a:rPr lang="es-ES" dirty="0"/>
              <a:t>(</a:t>
            </a:r>
            <a:r>
              <a:rPr lang="es-ES" dirty="0" err="1"/>
              <a:t>exit</a:t>
            </a:r>
            <a:r>
              <a:rPr lang="es-ES" dirty="0"/>
              <a:t>)</a:t>
            </a:r>
          </a:p>
        </p:txBody>
      </p:sp>
      <p:cxnSp>
        <p:nvCxnSpPr>
          <p:cNvPr id="44" name="Conector recto de flecha 43">
            <a:extLst>
              <a:ext uri="{FF2B5EF4-FFF2-40B4-BE49-F238E27FC236}">
                <a16:creationId xmlns:a16="http://schemas.microsoft.com/office/drawing/2014/main" id="{867D737B-E59A-F797-F5ED-29E8EE8F569D}"/>
              </a:ext>
            </a:extLst>
          </p:cNvPr>
          <p:cNvCxnSpPr>
            <a:cxnSpLocks/>
            <a:stCxn id="43" idx="1"/>
          </p:cNvCxnSpPr>
          <p:nvPr/>
        </p:nvCxnSpPr>
        <p:spPr>
          <a:xfrm>
            <a:off x="3355790" y="2995509"/>
            <a:ext cx="1596122" cy="6823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CuadroTexto 44">
            <a:extLst>
              <a:ext uri="{FF2B5EF4-FFF2-40B4-BE49-F238E27FC236}">
                <a16:creationId xmlns:a16="http://schemas.microsoft.com/office/drawing/2014/main" id="{38A9EFD0-9D44-5F69-AD68-1094E5A48A52}"/>
              </a:ext>
            </a:extLst>
          </p:cNvPr>
          <p:cNvSpPr txBox="1"/>
          <p:nvPr/>
        </p:nvSpPr>
        <p:spPr>
          <a:xfrm>
            <a:off x="4216993" y="3105529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423359129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404FA4CB-3FCA-4EE9-88EA-86BD7A61E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Repasando </a:t>
            </a:r>
            <a:br>
              <a:rPr lang="es-ES" dirty="0"/>
            </a:br>
            <a:r>
              <a:rPr lang="es-ES" dirty="0"/>
              <a:t>(</a:t>
            </a:r>
            <a:r>
              <a:rPr lang="es-ES" dirty="0" err="1"/>
              <a:t>Binding</a:t>
            </a:r>
            <a:r>
              <a:rPr lang="es-E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0496659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Binding in templates</a:t>
            </a: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989012" y="1371601"/>
          <a:ext cx="10589061" cy="4953000"/>
        </p:xfrm>
        <a:graphic>
          <a:graphicData uri="http://schemas.openxmlformats.org/drawingml/2006/table">
            <a:tbl>
              <a:tblPr firstRow="1" firstCol="1" bandRow="1"/>
              <a:tblGrid>
                <a:gridCol w="30087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14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88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75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Helvetica Neue Light"/>
                        </a:rPr>
                        <a:t>Data Direction</a:t>
                      </a:r>
                    </a:p>
                  </a:txBody>
                  <a:tcPr marL="304800" marR="12700" marT="1270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Helvetica Neue Light"/>
                        </a:rPr>
                        <a:t>Syntax</a:t>
                      </a:r>
                    </a:p>
                  </a:txBody>
                  <a:tcPr marL="304800" marR="12700" marT="1270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Helvetica Neue Light"/>
                        </a:rPr>
                        <a:t>Binding Type</a:t>
                      </a:r>
                    </a:p>
                  </a:txBody>
                  <a:tcPr marL="304800" marR="12700" marT="1270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159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1A2326"/>
                          </a:solidFill>
                          <a:effectLst/>
                          <a:latin typeface="Helvetica Neue Light"/>
                        </a:rPr>
                        <a:t>One way</a:t>
                      </a:r>
                    </a:p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1A2326"/>
                          </a:solidFill>
                          <a:effectLst/>
                          <a:latin typeface="Helvetica Neue Light"/>
                        </a:rPr>
                        <a:t>from data source</a:t>
                      </a:r>
                    </a:p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1A2326"/>
                          </a:solidFill>
                          <a:effectLst/>
                          <a:latin typeface="Helvetica Neue Light"/>
                        </a:rPr>
                        <a:t>to view target</a:t>
                      </a:r>
                    </a:p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304800" marR="12700" marT="1270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800" b="1" i="0" u="none" strike="noStrike" dirty="0">
                        <a:solidFill>
                          <a:srgbClr val="7A8B94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algn="l" fontAlgn="ctr"/>
                      <a:r>
                        <a:rPr lang="en-US" sz="1800" b="1" i="0" u="none" strike="noStrike" dirty="0">
                          <a:solidFill>
                            <a:srgbClr val="7A8B94"/>
                          </a:solidFill>
                          <a:effectLst/>
                          <a:latin typeface="Consolas" panose="020B0609020204030204" pitchFamily="49" charset="0"/>
                        </a:rPr>
                        <a:t>{{</a:t>
                      </a:r>
                      <a:r>
                        <a:rPr lang="en-US" sz="1800" b="1" i="0" u="none" strike="noStrike" dirty="0">
                          <a:solidFill>
                            <a:srgbClr val="5C707A"/>
                          </a:solidFill>
                          <a:effectLst/>
                          <a:latin typeface="Consolas" panose="020B0609020204030204" pitchFamily="49" charset="0"/>
                        </a:rPr>
                        <a:t>expression</a:t>
                      </a:r>
                      <a:r>
                        <a:rPr lang="en-US" sz="1800" b="1" i="0" u="none" strike="noStrike" dirty="0">
                          <a:solidFill>
                            <a:srgbClr val="7A8B94"/>
                          </a:solidFill>
                          <a:effectLst/>
                          <a:latin typeface="Consolas" panose="020B0609020204030204" pitchFamily="49" charset="0"/>
                        </a:rPr>
                        <a:t>}}</a:t>
                      </a:r>
                      <a:r>
                        <a:rPr lang="en-US" sz="1800" b="1" i="0" u="none" strike="noStrike" dirty="0">
                          <a:solidFill>
                            <a:srgbClr val="5C707A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endParaRPr lang="en-US" sz="1800" b="1" i="0" u="none" strike="noStrike" dirty="0">
                        <a:solidFill>
                          <a:srgbClr val="7A8B94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algn="l" fontAlgn="ctr"/>
                      <a:r>
                        <a:rPr lang="en-US" sz="1800" b="1" i="0" u="none" strike="noStrike" dirty="0">
                          <a:solidFill>
                            <a:srgbClr val="7A8B94"/>
                          </a:solidFill>
                          <a:effectLst/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sz="1800" b="1" i="0" u="none" strike="noStrike" dirty="0">
                          <a:solidFill>
                            <a:srgbClr val="5C707A"/>
                          </a:solidFill>
                          <a:effectLst/>
                          <a:latin typeface="Consolas" panose="020B0609020204030204" pitchFamily="49" charset="0"/>
                        </a:rPr>
                        <a:t>target</a:t>
                      </a:r>
                      <a:r>
                        <a:rPr lang="en-US" sz="1800" b="1" i="0" u="none" strike="noStrike" dirty="0">
                          <a:solidFill>
                            <a:srgbClr val="7A8B94"/>
                          </a:solidFill>
                          <a:effectLst/>
                          <a:latin typeface="Consolas" panose="020B0609020204030204" pitchFamily="49" charset="0"/>
                        </a:rPr>
                        <a:t>]</a:t>
                      </a:r>
                      <a:r>
                        <a:rPr lang="en-US" sz="1800" b="1" i="0" u="none" strike="noStrike" dirty="0">
                          <a:solidFill>
                            <a:srgbClr val="5C707A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800" b="1" i="0" u="none" strike="noStrike" dirty="0">
                          <a:solidFill>
                            <a:srgbClr val="7A8B94"/>
                          </a:solidFill>
                          <a:effectLst/>
                          <a:latin typeface="Consolas" panose="020B0609020204030204" pitchFamily="49" charset="0"/>
                        </a:rPr>
                        <a:t>=</a:t>
                      </a:r>
                      <a:r>
                        <a:rPr lang="en-US" sz="1800" b="1" i="0" u="none" strike="noStrike" dirty="0">
                          <a:solidFill>
                            <a:srgbClr val="5C707A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800" b="1" i="0" u="none" strike="noStrike" dirty="0">
                          <a:solidFill>
                            <a:srgbClr val="647F11"/>
                          </a:solidFill>
                          <a:effectLst/>
                          <a:latin typeface="Consolas" panose="020B0609020204030204" pitchFamily="49" charset="0"/>
                        </a:rPr>
                        <a:t>"expression"</a:t>
                      </a:r>
                      <a:r>
                        <a:rPr lang="en-US" sz="1800" b="1" i="0" u="none" strike="noStrike" dirty="0">
                          <a:solidFill>
                            <a:srgbClr val="5C707A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endParaRPr lang="en-US" sz="1800" b="1" i="0" u="none" strike="noStrike" dirty="0">
                        <a:solidFill>
                          <a:srgbClr val="7A8B94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algn="l" fontAlgn="ctr"/>
                      <a:r>
                        <a:rPr lang="en-US" sz="1800" b="1" i="0" u="none" strike="noStrike" dirty="0">
                          <a:solidFill>
                            <a:srgbClr val="5C707A"/>
                          </a:solidFill>
                          <a:effectLst/>
                          <a:latin typeface="Consolas" panose="020B0609020204030204" pitchFamily="49" charset="0"/>
                        </a:rPr>
                        <a:t>bind</a:t>
                      </a:r>
                      <a:r>
                        <a:rPr lang="en-US" sz="1800" b="1" i="0" u="none" strike="noStrike" dirty="0">
                          <a:solidFill>
                            <a:srgbClr val="7A8B94"/>
                          </a:solidFill>
                          <a:effectLst/>
                          <a:latin typeface="Consolas" panose="020B0609020204030204" pitchFamily="49" charset="0"/>
                        </a:rPr>
                        <a:t>-</a:t>
                      </a:r>
                      <a:r>
                        <a:rPr lang="en-US" sz="1800" b="1" i="0" u="none" strike="noStrike" dirty="0">
                          <a:solidFill>
                            <a:srgbClr val="5C707A"/>
                          </a:solidFill>
                          <a:effectLst/>
                          <a:latin typeface="Consolas" panose="020B0609020204030204" pitchFamily="49" charset="0"/>
                        </a:rPr>
                        <a:t>target </a:t>
                      </a:r>
                      <a:r>
                        <a:rPr lang="en-US" sz="1800" b="1" i="0" u="none" strike="noStrike" dirty="0">
                          <a:solidFill>
                            <a:srgbClr val="7A8B94"/>
                          </a:solidFill>
                          <a:effectLst/>
                          <a:latin typeface="Consolas" panose="020B0609020204030204" pitchFamily="49" charset="0"/>
                        </a:rPr>
                        <a:t>=</a:t>
                      </a:r>
                      <a:r>
                        <a:rPr lang="en-US" sz="1800" b="1" i="0" u="none" strike="noStrike" dirty="0">
                          <a:solidFill>
                            <a:srgbClr val="5C707A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800" b="1" i="0" u="none" strike="noStrike" dirty="0">
                          <a:solidFill>
                            <a:srgbClr val="647F11"/>
                          </a:solidFill>
                          <a:effectLst/>
                          <a:latin typeface="Consolas" panose="020B0609020204030204" pitchFamily="49" charset="0"/>
                        </a:rPr>
                        <a:t>"expr"</a:t>
                      </a:r>
                      <a:endParaRPr lang="en-US" sz="1800" b="1" i="0" u="none" strike="noStrike" dirty="0">
                        <a:solidFill>
                          <a:srgbClr val="5C707A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algn="l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</a:t>
                      </a:r>
                    </a:p>
                    <a:p>
                      <a:pPr algn="l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</a:t>
                      </a:r>
                    </a:p>
                  </a:txBody>
                  <a:tcPr marL="304800" marR="12700" marT="1270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 dirty="0">
                          <a:solidFill>
                            <a:srgbClr val="1A2326"/>
                          </a:solidFill>
                          <a:effectLst/>
                          <a:latin typeface="Helvetica Neue Light"/>
                        </a:rPr>
                        <a:t>Interpolation</a:t>
                      </a:r>
                    </a:p>
                    <a:p>
                      <a:pPr algn="l" fontAlgn="ctr"/>
                      <a:r>
                        <a:rPr lang="en-US" sz="1400" b="0" i="0" u="none" strike="noStrike" dirty="0">
                          <a:solidFill>
                            <a:srgbClr val="1A2326"/>
                          </a:solidFill>
                          <a:effectLst/>
                          <a:latin typeface="Helvetica Neue Light"/>
                        </a:rPr>
                        <a:t>Property</a:t>
                      </a:r>
                    </a:p>
                    <a:p>
                      <a:pPr algn="l" fontAlgn="ctr"/>
                      <a:r>
                        <a:rPr lang="en-US" sz="1400" b="0" i="0" u="none" strike="noStrike" dirty="0">
                          <a:solidFill>
                            <a:srgbClr val="1A2326"/>
                          </a:solidFill>
                          <a:effectLst/>
                          <a:latin typeface="Helvetica Neue Light"/>
                        </a:rPr>
                        <a:t>Attribute</a:t>
                      </a:r>
                    </a:p>
                    <a:p>
                      <a:pPr algn="l" fontAlgn="ctr"/>
                      <a:r>
                        <a:rPr lang="en-US" sz="1400" b="0" i="0" u="none" strike="noStrike" dirty="0">
                          <a:solidFill>
                            <a:srgbClr val="1A2326"/>
                          </a:solidFill>
                          <a:effectLst/>
                          <a:latin typeface="Helvetica Neue Light"/>
                        </a:rPr>
                        <a:t>Class</a:t>
                      </a:r>
                    </a:p>
                    <a:p>
                      <a:pPr algn="l" fontAlgn="ctr"/>
                      <a:r>
                        <a:rPr lang="en-US" sz="1400" b="0" i="0" u="none" strike="noStrike" dirty="0">
                          <a:solidFill>
                            <a:srgbClr val="1A2326"/>
                          </a:solidFill>
                          <a:effectLst/>
                          <a:latin typeface="Helvetica Neue Light"/>
                        </a:rPr>
                        <a:t>Style</a:t>
                      </a:r>
                    </a:p>
                  </a:txBody>
                  <a:tcPr marL="304800" marR="12700" marT="1270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2406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1A2326"/>
                          </a:solidFill>
                          <a:effectLst/>
                          <a:latin typeface="Helvetica Neue Light"/>
                        </a:rPr>
                        <a:t>One way</a:t>
                      </a:r>
                    </a:p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1A2326"/>
                          </a:solidFill>
                          <a:effectLst/>
                          <a:latin typeface="Helvetica Neue Light"/>
                        </a:rPr>
                        <a:t>from view target</a:t>
                      </a:r>
                    </a:p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1A2326"/>
                          </a:solidFill>
                          <a:effectLst/>
                          <a:latin typeface="Helvetica Neue Light"/>
                        </a:rPr>
                        <a:t>to data source</a:t>
                      </a:r>
                    </a:p>
                  </a:txBody>
                  <a:tcPr marL="304800" marR="12700" marT="127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i="0" u="none" strike="noStrike" dirty="0">
                          <a:solidFill>
                            <a:srgbClr val="7A8B94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1800" b="1" i="0" u="none" strike="noStrike" dirty="0">
                          <a:solidFill>
                            <a:srgbClr val="5C707A"/>
                          </a:solidFill>
                          <a:effectLst/>
                          <a:latin typeface="Consolas" panose="020B0609020204030204" pitchFamily="49" charset="0"/>
                        </a:rPr>
                        <a:t>target</a:t>
                      </a:r>
                      <a:r>
                        <a:rPr lang="en-US" sz="1800" b="1" i="0" u="none" strike="noStrike" dirty="0">
                          <a:solidFill>
                            <a:srgbClr val="7A8B94"/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  <a:r>
                        <a:rPr lang="en-US" sz="1800" b="1" i="0" u="none" strike="noStrike" dirty="0">
                          <a:solidFill>
                            <a:srgbClr val="5C707A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800" b="1" i="0" u="none" strike="noStrike" dirty="0">
                          <a:solidFill>
                            <a:srgbClr val="7A8B94"/>
                          </a:solidFill>
                          <a:effectLst/>
                          <a:latin typeface="Consolas" panose="020B0609020204030204" pitchFamily="49" charset="0"/>
                        </a:rPr>
                        <a:t>=</a:t>
                      </a:r>
                      <a:r>
                        <a:rPr lang="en-US" sz="1800" b="1" i="0" u="none" strike="noStrike" dirty="0">
                          <a:solidFill>
                            <a:srgbClr val="5C707A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800" b="1" i="0" u="none" strike="noStrike" dirty="0">
                          <a:solidFill>
                            <a:srgbClr val="647F11"/>
                          </a:solidFill>
                          <a:effectLst/>
                          <a:latin typeface="Consolas" panose="020B0609020204030204" pitchFamily="49" charset="0"/>
                        </a:rPr>
                        <a:t>"expression"</a:t>
                      </a:r>
                      <a:r>
                        <a:rPr lang="en-US" sz="1800" b="1" i="0" u="none" strike="noStrike" dirty="0">
                          <a:solidFill>
                            <a:srgbClr val="5C707A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endParaRPr lang="en-US" sz="1800" b="1" i="0" u="none" strike="noStrike" dirty="0">
                        <a:solidFill>
                          <a:srgbClr val="7A8B94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algn="l" fontAlgn="ctr"/>
                      <a:r>
                        <a:rPr lang="en-US" sz="1800" b="1" i="0" u="none" strike="noStrike" dirty="0">
                          <a:solidFill>
                            <a:srgbClr val="5C707A"/>
                          </a:solidFill>
                          <a:effectLst/>
                          <a:latin typeface="Consolas" panose="020B0609020204030204" pitchFamily="49" charset="0"/>
                        </a:rPr>
                        <a:t>on</a:t>
                      </a:r>
                      <a:r>
                        <a:rPr lang="en-US" sz="1800" b="1" i="0" u="none" strike="noStrike" dirty="0">
                          <a:solidFill>
                            <a:srgbClr val="7A8B94"/>
                          </a:solidFill>
                          <a:effectLst/>
                          <a:latin typeface="Consolas" panose="020B0609020204030204" pitchFamily="49" charset="0"/>
                        </a:rPr>
                        <a:t>-</a:t>
                      </a:r>
                      <a:r>
                        <a:rPr lang="en-US" sz="1800" b="1" i="0" u="none" strike="noStrike" dirty="0">
                          <a:solidFill>
                            <a:srgbClr val="5C707A"/>
                          </a:solidFill>
                          <a:effectLst/>
                          <a:latin typeface="Consolas" panose="020B0609020204030204" pitchFamily="49" charset="0"/>
                        </a:rPr>
                        <a:t>target </a:t>
                      </a:r>
                      <a:r>
                        <a:rPr lang="en-US" sz="1800" b="1" i="0" u="none" strike="noStrike" dirty="0">
                          <a:solidFill>
                            <a:srgbClr val="7A8B94"/>
                          </a:solidFill>
                          <a:effectLst/>
                          <a:latin typeface="Consolas" panose="020B0609020204030204" pitchFamily="49" charset="0"/>
                        </a:rPr>
                        <a:t>=</a:t>
                      </a:r>
                      <a:r>
                        <a:rPr lang="en-US" sz="1800" b="1" i="0" u="none" strike="noStrike" dirty="0">
                          <a:solidFill>
                            <a:srgbClr val="5C707A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800" b="1" i="0" u="none" strike="noStrike" dirty="0">
                          <a:solidFill>
                            <a:srgbClr val="647F11"/>
                          </a:solidFill>
                          <a:effectLst/>
                          <a:latin typeface="Consolas" panose="020B0609020204030204" pitchFamily="49" charset="0"/>
                        </a:rPr>
                        <a:t>"expr"</a:t>
                      </a:r>
                      <a:endParaRPr lang="en-US" sz="1800" b="1" i="0" u="none" strike="noStrike" dirty="0">
                        <a:solidFill>
                          <a:srgbClr val="5C707A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algn="l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</a:t>
                      </a:r>
                    </a:p>
                  </a:txBody>
                  <a:tcPr marL="304800" marR="12700" marT="127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 dirty="0">
                          <a:solidFill>
                            <a:srgbClr val="1A2326"/>
                          </a:solidFill>
                          <a:effectLst/>
                          <a:latin typeface="Helvetica Neue Light"/>
                        </a:rPr>
                        <a:t>Event</a:t>
                      </a:r>
                    </a:p>
                  </a:txBody>
                  <a:tcPr marL="304800" marR="12700" marT="127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3981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1A2326"/>
                          </a:solidFill>
                          <a:effectLst/>
                          <a:latin typeface="Helvetica Neue Light"/>
                        </a:rPr>
                        <a:t>Two way</a:t>
                      </a:r>
                    </a:p>
                  </a:txBody>
                  <a:tcPr marL="304800" marR="12700" marT="152400" marB="1524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i="0" u="none" strike="noStrike" dirty="0">
                          <a:solidFill>
                            <a:srgbClr val="7A8B94"/>
                          </a:solidFill>
                          <a:effectLst/>
                          <a:latin typeface="Consolas" panose="020B0609020204030204" pitchFamily="49" charset="0"/>
                        </a:rPr>
                        <a:t>[(</a:t>
                      </a:r>
                      <a:r>
                        <a:rPr lang="en-US" sz="1800" b="1" i="0" u="none" strike="noStrike" dirty="0">
                          <a:solidFill>
                            <a:srgbClr val="5C707A"/>
                          </a:solidFill>
                          <a:effectLst/>
                          <a:latin typeface="Consolas" panose="020B0609020204030204" pitchFamily="49" charset="0"/>
                        </a:rPr>
                        <a:t>target</a:t>
                      </a:r>
                      <a:r>
                        <a:rPr lang="en-US" sz="1800" b="1" i="0" u="none" strike="noStrike" dirty="0">
                          <a:solidFill>
                            <a:srgbClr val="7A8B94"/>
                          </a:solidFill>
                          <a:effectLst/>
                          <a:latin typeface="Consolas" panose="020B0609020204030204" pitchFamily="49" charset="0"/>
                        </a:rPr>
                        <a:t>)]</a:t>
                      </a:r>
                      <a:r>
                        <a:rPr lang="en-US" sz="1800" b="1" i="0" u="none" strike="noStrike" dirty="0">
                          <a:solidFill>
                            <a:srgbClr val="5C707A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800" b="1" i="0" u="none" strike="noStrike" dirty="0">
                          <a:solidFill>
                            <a:srgbClr val="7A8B94"/>
                          </a:solidFill>
                          <a:effectLst/>
                          <a:latin typeface="Consolas" panose="020B0609020204030204" pitchFamily="49" charset="0"/>
                        </a:rPr>
                        <a:t>=</a:t>
                      </a:r>
                      <a:r>
                        <a:rPr lang="en-US" sz="1800" b="1" i="0" u="none" strike="noStrike" dirty="0">
                          <a:solidFill>
                            <a:srgbClr val="5C707A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800" b="1" i="0" u="none" strike="noStrike" dirty="0">
                          <a:solidFill>
                            <a:srgbClr val="647F11"/>
                          </a:solidFill>
                          <a:effectLst/>
                          <a:latin typeface="Consolas" panose="020B0609020204030204" pitchFamily="49" charset="0"/>
                        </a:rPr>
                        <a:t>"expr"</a:t>
                      </a:r>
                      <a:r>
                        <a:rPr lang="en-US" sz="1800" b="1" i="0" u="none" strike="noStrike" dirty="0">
                          <a:solidFill>
                            <a:srgbClr val="5C707A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</a:p>
                    <a:p>
                      <a:pPr algn="l" fontAlgn="ctr"/>
                      <a:r>
                        <a:rPr lang="en-US" sz="1800" b="1" i="0" u="none" strike="noStrike" dirty="0" err="1">
                          <a:solidFill>
                            <a:srgbClr val="5C707A"/>
                          </a:solidFill>
                          <a:effectLst/>
                          <a:latin typeface="Consolas" panose="020B0609020204030204" pitchFamily="49" charset="0"/>
                        </a:rPr>
                        <a:t>bindon</a:t>
                      </a:r>
                      <a:r>
                        <a:rPr lang="en-US" sz="1800" b="1" i="0" u="none" strike="noStrike" dirty="0">
                          <a:solidFill>
                            <a:srgbClr val="7A8B94"/>
                          </a:solidFill>
                          <a:effectLst/>
                          <a:latin typeface="Consolas" panose="020B0609020204030204" pitchFamily="49" charset="0"/>
                        </a:rPr>
                        <a:t>-</a:t>
                      </a:r>
                      <a:r>
                        <a:rPr lang="en-US" sz="1800" b="1" i="0" u="none" strike="noStrike" dirty="0">
                          <a:solidFill>
                            <a:srgbClr val="5C707A"/>
                          </a:solidFill>
                          <a:effectLst/>
                          <a:latin typeface="Consolas" panose="020B0609020204030204" pitchFamily="49" charset="0"/>
                        </a:rPr>
                        <a:t>target </a:t>
                      </a:r>
                      <a:r>
                        <a:rPr lang="en-US" sz="1800" b="1" i="0" u="none" strike="noStrike" dirty="0">
                          <a:solidFill>
                            <a:srgbClr val="7A8B94"/>
                          </a:solidFill>
                          <a:effectLst/>
                          <a:latin typeface="Consolas" panose="020B0609020204030204" pitchFamily="49" charset="0"/>
                        </a:rPr>
                        <a:t>=</a:t>
                      </a:r>
                      <a:r>
                        <a:rPr lang="en-US" sz="1800" b="1" i="0" u="none" strike="noStrike" dirty="0">
                          <a:solidFill>
                            <a:srgbClr val="5C707A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800" b="1" i="0" u="none" strike="noStrike" dirty="0">
                          <a:solidFill>
                            <a:srgbClr val="647F11"/>
                          </a:solidFill>
                          <a:effectLst/>
                          <a:latin typeface="Consolas" panose="020B0609020204030204" pitchFamily="49" charset="0"/>
                        </a:rPr>
                        <a:t>"expr"</a:t>
                      </a:r>
                      <a:endParaRPr lang="en-US" sz="1800" b="1" i="0" u="none" strike="noStrike" dirty="0">
                        <a:solidFill>
                          <a:srgbClr val="7A8B94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304800" marR="12700" marT="152400" marB="1524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 dirty="0">
                          <a:solidFill>
                            <a:srgbClr val="1A2326"/>
                          </a:solidFill>
                          <a:effectLst/>
                          <a:latin typeface="Helvetica Neue Light"/>
                        </a:rPr>
                        <a:t>Two-way</a:t>
                      </a:r>
                    </a:p>
                  </a:txBody>
                  <a:tcPr marL="304800" marR="12700" marT="152400" marB="1524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581616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Binding targets</a:t>
            </a: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4027571"/>
              </p:ext>
            </p:extLst>
          </p:nvPr>
        </p:nvGraphicFramePr>
        <p:xfrm>
          <a:off x="989012" y="1371600"/>
          <a:ext cx="10668000" cy="5315031"/>
        </p:xfrm>
        <a:graphic>
          <a:graphicData uri="http://schemas.openxmlformats.org/drawingml/2006/table">
            <a:tbl>
              <a:tblPr/>
              <a:tblGrid>
                <a:gridCol w="14023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95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860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i="0" u="none" strike="noStrike" dirty="0">
                          <a:solidFill>
                            <a:srgbClr val="1A2326"/>
                          </a:solidFill>
                          <a:effectLst/>
                          <a:latin typeface="Helvetica Neue Light"/>
                        </a:rPr>
                        <a:t>Binding Type</a:t>
                      </a:r>
                    </a:p>
                  </a:txBody>
                  <a:tcPr marL="10343" marR="10343" marT="1034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09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i="0" u="none" strike="noStrike" dirty="0">
                          <a:solidFill>
                            <a:srgbClr val="1A2326"/>
                          </a:solidFill>
                          <a:effectLst/>
                          <a:latin typeface="Helvetica Neue Light"/>
                        </a:rPr>
                        <a:t>Target</a:t>
                      </a:r>
                    </a:p>
                  </a:txBody>
                  <a:tcPr marL="10343" marR="10343" marT="1034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09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i="0" u="none" strike="noStrike" dirty="0">
                          <a:solidFill>
                            <a:srgbClr val="1A2326"/>
                          </a:solidFill>
                          <a:effectLst/>
                          <a:latin typeface="Helvetica Neue Light"/>
                        </a:rPr>
                        <a:t>Examples</a:t>
                      </a:r>
                    </a:p>
                  </a:txBody>
                  <a:tcPr marL="10343" marR="10343" marT="1034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175">
                <a:tc rowSpan="4">
                  <a:txBody>
                    <a:bodyPr/>
                    <a:lstStyle/>
                    <a:p>
                      <a:pPr algn="l" fontAlgn="ctr"/>
                      <a:r>
                        <a:rPr lang="en-US" sz="1400" b="1" i="0" u="none" strike="noStrike" dirty="0">
                          <a:solidFill>
                            <a:srgbClr val="1A2326"/>
                          </a:solidFill>
                          <a:effectLst/>
                          <a:latin typeface="Helvetica Neue Light"/>
                        </a:rPr>
                        <a:t>Property</a:t>
                      </a:r>
                    </a:p>
                  </a:txBody>
                  <a:tcPr marL="10343" marR="10343" marT="10343" marB="0" anchor="ctr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600" b="0" i="0" u="none" strike="noStrike" dirty="0" err="1">
                          <a:solidFill>
                            <a:srgbClr val="1A2326"/>
                          </a:solidFill>
                          <a:effectLst/>
                          <a:latin typeface="Helvetica Neue Light"/>
                        </a:rPr>
                        <a:t>Element"Property</a:t>
                      </a:r>
                      <a:endParaRPr lang="fr-FR" sz="1600" b="0" i="0" u="none" strike="noStrike" dirty="0">
                        <a:solidFill>
                          <a:srgbClr val="1A2326"/>
                        </a:solidFill>
                        <a:effectLst/>
                        <a:latin typeface="Helvetica Neue Light"/>
                      </a:endParaRPr>
                    </a:p>
                  </a:txBody>
                  <a:tcPr marL="10343" marR="10343" marT="10343" marB="0" anchor="ctr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i="0" u="none" strike="noStrike" dirty="0">
                          <a:solidFill>
                            <a:srgbClr val="D43669"/>
                          </a:solidFill>
                          <a:effectLst/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sz="1600" b="1" i="0" u="none" strike="noStrike" dirty="0" err="1">
                          <a:solidFill>
                            <a:srgbClr val="D43669"/>
                          </a:solidFill>
                          <a:effectLst/>
                          <a:latin typeface="Consolas" panose="020B0609020204030204" pitchFamily="49" charset="0"/>
                        </a:rPr>
                        <a:t>img</a:t>
                      </a:r>
                      <a:r>
                        <a:rPr lang="en-US" sz="1600" b="1" i="0" u="none" strike="noStrike" dirty="0">
                          <a:solidFill>
                            <a:srgbClr val="5C707A"/>
                          </a:solidFill>
                          <a:effectLst/>
                          <a:latin typeface="Consolas" panose="020B0609020204030204" pitchFamily="49" charset="0"/>
                        </a:rPr>
                        <a:t> [</a:t>
                      </a:r>
                      <a:r>
                        <a:rPr lang="en-US" sz="1600" b="1" i="0" u="none" strike="noStrike" dirty="0" err="1">
                          <a:solidFill>
                            <a:srgbClr val="647F11"/>
                          </a:solidFill>
                          <a:effectLst/>
                          <a:latin typeface="Consolas" panose="020B0609020204030204" pitchFamily="49" charset="0"/>
                        </a:rPr>
                        <a:t>src</a:t>
                      </a:r>
                      <a:r>
                        <a:rPr lang="en-US" sz="1600" b="1" i="0" u="none" strike="noStrike" dirty="0">
                          <a:solidFill>
                            <a:srgbClr val="5C707A"/>
                          </a:solidFill>
                          <a:effectLst/>
                          <a:latin typeface="Consolas" panose="020B0609020204030204" pitchFamily="49" charset="0"/>
                        </a:rPr>
                        <a:t>] </a:t>
                      </a:r>
                      <a:r>
                        <a:rPr lang="en-US" sz="1600" b="1" i="0" u="none" strike="noStrike" dirty="0">
                          <a:solidFill>
                            <a:srgbClr val="7A8B94"/>
                          </a:solidFill>
                          <a:effectLst/>
                          <a:latin typeface="Consolas" panose="020B0609020204030204" pitchFamily="49" charset="0"/>
                        </a:rPr>
                        <a:t>=</a:t>
                      </a:r>
                      <a:r>
                        <a:rPr lang="en-US" sz="1600" b="1" i="0" u="none" strike="noStrike" dirty="0">
                          <a:solidFill>
                            <a:srgbClr val="5C707A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1" i="0" u="none" strike="noStrike" dirty="0">
                          <a:solidFill>
                            <a:srgbClr val="647F11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sz="1600" b="1" i="0" u="none" strike="noStrike" dirty="0" err="1">
                          <a:solidFill>
                            <a:srgbClr val="647F11"/>
                          </a:solidFill>
                          <a:effectLst/>
                          <a:latin typeface="Consolas" panose="020B0609020204030204" pitchFamily="49" charset="0"/>
                        </a:rPr>
                        <a:t>heroImageUrl</a:t>
                      </a:r>
                      <a:r>
                        <a:rPr lang="en-US" sz="1600" b="1" i="0" u="none" strike="noStrike" dirty="0">
                          <a:solidFill>
                            <a:srgbClr val="647F11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sz="1600" b="1" i="0" u="none" strike="noStrike" dirty="0">
                          <a:solidFill>
                            <a:srgbClr val="D43669"/>
                          </a:solidFill>
                          <a:effectLst/>
                          <a:latin typeface="Consolas" panose="020B0609020204030204" pitchFamily="49" charset="0"/>
                        </a:rPr>
                        <a:t>&gt;</a:t>
                      </a:r>
                    </a:p>
                  </a:txBody>
                  <a:tcPr marL="10343" marR="10343" marT="10343" marB="0" anchor="ctr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766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400" b="0" i="0" u="none" strike="noStrike" dirty="0" err="1">
                          <a:solidFill>
                            <a:srgbClr val="1A2326"/>
                          </a:solidFill>
                          <a:effectLst/>
                          <a:latin typeface="Helvetica Neue Light"/>
                        </a:rPr>
                        <a:t>Component</a:t>
                      </a:r>
                      <a:r>
                        <a:rPr lang="ru-RU" sz="1400" b="0" i="0" u="none" strike="noStrike" dirty="0">
                          <a:solidFill>
                            <a:srgbClr val="1A2326"/>
                          </a:solidFill>
                          <a:effectLst/>
                          <a:latin typeface="Helvetica Neue Light"/>
                        </a:rPr>
                        <a:t> </a:t>
                      </a:r>
                      <a:r>
                        <a:rPr lang="ru-RU" sz="1400" b="0" i="0" u="none" strike="noStrike" dirty="0" err="1">
                          <a:solidFill>
                            <a:srgbClr val="1A2326"/>
                          </a:solidFill>
                          <a:effectLst/>
                          <a:latin typeface="Helvetica Neue Light"/>
                        </a:rPr>
                        <a:t>Property</a:t>
                      </a:r>
                      <a:endParaRPr lang="ru-RU" sz="1400" b="0" i="0" u="none" strike="noStrike" dirty="0">
                        <a:solidFill>
                          <a:srgbClr val="1A2326"/>
                        </a:solidFill>
                        <a:effectLst/>
                        <a:latin typeface="Helvetica Neue Light"/>
                      </a:endParaRPr>
                    </a:p>
                  </a:txBody>
                  <a:tcPr marL="10343" marR="10343" marT="1034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i="0" u="none" strike="noStrike" dirty="0">
                          <a:solidFill>
                            <a:srgbClr val="D43669"/>
                          </a:solidFill>
                          <a:effectLst/>
                          <a:latin typeface="Consolas" panose="020B0609020204030204" pitchFamily="49" charset="0"/>
                        </a:rPr>
                        <a:t>&lt;hero-detail</a:t>
                      </a:r>
                      <a:r>
                        <a:rPr lang="en-US" sz="1600" b="1" i="0" u="none" strike="noStrike" dirty="0">
                          <a:solidFill>
                            <a:srgbClr val="5C707A"/>
                          </a:solidFill>
                          <a:effectLst/>
                          <a:latin typeface="Consolas" panose="020B0609020204030204" pitchFamily="49" charset="0"/>
                        </a:rPr>
                        <a:t> [</a:t>
                      </a:r>
                      <a:r>
                        <a:rPr lang="en-US" sz="1600" b="1" i="0" u="none" strike="noStrike" dirty="0">
                          <a:solidFill>
                            <a:srgbClr val="647F11"/>
                          </a:solidFill>
                          <a:effectLst/>
                          <a:latin typeface="Consolas" panose="020B0609020204030204" pitchFamily="49" charset="0"/>
                        </a:rPr>
                        <a:t>hero</a:t>
                      </a:r>
                      <a:r>
                        <a:rPr lang="en-US" sz="1600" b="1" i="0" u="none" strike="noStrike" dirty="0">
                          <a:solidFill>
                            <a:srgbClr val="5C707A"/>
                          </a:solidFill>
                          <a:effectLst/>
                          <a:latin typeface="Consolas" panose="020B0609020204030204" pitchFamily="49" charset="0"/>
                        </a:rPr>
                        <a:t>]</a:t>
                      </a:r>
                      <a:r>
                        <a:rPr lang="en-US" sz="1600" b="1" i="0" u="none" strike="noStrike" dirty="0">
                          <a:solidFill>
                            <a:srgbClr val="7A8B94"/>
                          </a:solidFill>
                          <a:effectLst/>
                          <a:latin typeface="Consolas" panose="020B0609020204030204" pitchFamily="49" charset="0"/>
                        </a:rPr>
                        <a:t>=</a:t>
                      </a:r>
                      <a:r>
                        <a:rPr lang="en-US" sz="1600" b="1" i="0" u="none" strike="noStrike" dirty="0">
                          <a:solidFill>
                            <a:srgbClr val="647F11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sz="1600" b="1" i="0" u="none" strike="noStrike" dirty="0" err="1">
                          <a:solidFill>
                            <a:srgbClr val="647F11"/>
                          </a:solidFill>
                          <a:effectLst/>
                          <a:latin typeface="Consolas" panose="020B0609020204030204" pitchFamily="49" charset="0"/>
                        </a:rPr>
                        <a:t>currentHero</a:t>
                      </a:r>
                      <a:r>
                        <a:rPr lang="en-US" sz="1600" b="1" i="0" u="none" strike="noStrike" dirty="0">
                          <a:solidFill>
                            <a:srgbClr val="647F11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sz="1600" b="1" i="0" u="none" strike="noStrike" dirty="0">
                          <a:solidFill>
                            <a:srgbClr val="D43669"/>
                          </a:solidFill>
                          <a:effectLst/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algn="l" fontAlgn="ctr"/>
                      <a:r>
                        <a:rPr lang="en-US" sz="1600" b="1" i="0" u="none" strike="noStrike" dirty="0">
                          <a:solidFill>
                            <a:srgbClr val="D43669"/>
                          </a:solidFill>
                          <a:effectLst/>
                          <a:latin typeface="Consolas" panose="020B0609020204030204" pitchFamily="49" charset="0"/>
                        </a:rPr>
                        <a:t>&lt;/hero-detail&gt;</a:t>
                      </a:r>
                    </a:p>
                  </a:txBody>
                  <a:tcPr marL="10343" marR="10343" marT="1034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6678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 dirty="0">
                          <a:solidFill>
                            <a:srgbClr val="1A2326"/>
                          </a:solidFill>
                          <a:effectLst/>
                          <a:latin typeface="Helvetica Neue Light"/>
                        </a:rPr>
                        <a:t>Directive property</a:t>
                      </a:r>
                    </a:p>
                  </a:txBody>
                  <a:tcPr marL="10343" marR="10343" marT="1034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i="0" u="none" strike="noStrike" dirty="0">
                          <a:solidFill>
                            <a:srgbClr val="D43669"/>
                          </a:solidFill>
                          <a:effectLst/>
                          <a:latin typeface="Consolas" panose="020B0609020204030204" pitchFamily="49" charset="0"/>
                        </a:rPr>
                        <a:t>&lt;div</a:t>
                      </a:r>
                      <a:r>
                        <a:rPr lang="en-US" sz="1600" b="1" i="0" u="none" strike="noStrike" dirty="0">
                          <a:solidFill>
                            <a:srgbClr val="5C707A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</a:p>
                    <a:p>
                      <a:pPr algn="l" fontAlgn="ctr"/>
                      <a:r>
                        <a:rPr lang="en-US" sz="1600" b="1" i="0" u="none" strike="noStrike" dirty="0">
                          <a:solidFill>
                            <a:srgbClr val="5C707A"/>
                          </a:solidFill>
                          <a:effectLst/>
                          <a:latin typeface="Consolas" panose="020B0609020204030204" pitchFamily="49" charset="0"/>
                        </a:rPr>
                        <a:t> [</a:t>
                      </a:r>
                      <a:r>
                        <a:rPr lang="en-US" sz="1600" b="1" i="0" u="none" strike="noStrike" dirty="0" err="1">
                          <a:solidFill>
                            <a:srgbClr val="647F11"/>
                          </a:solidFill>
                          <a:effectLst/>
                          <a:latin typeface="Consolas" panose="020B0609020204030204" pitchFamily="49" charset="0"/>
                        </a:rPr>
                        <a:t>ngClass</a:t>
                      </a:r>
                      <a:r>
                        <a:rPr lang="en-US" sz="1600" b="1" i="0" u="none" strike="noStrike" dirty="0">
                          <a:solidFill>
                            <a:srgbClr val="5C707A"/>
                          </a:solidFill>
                          <a:effectLst/>
                          <a:latin typeface="Consolas" panose="020B0609020204030204" pitchFamily="49" charset="0"/>
                        </a:rPr>
                        <a:t>] </a:t>
                      </a:r>
                      <a:r>
                        <a:rPr lang="en-US" sz="1600" b="1" i="0" u="none" strike="noStrike" dirty="0">
                          <a:solidFill>
                            <a:srgbClr val="7A8B94"/>
                          </a:solidFill>
                          <a:effectLst/>
                          <a:latin typeface="Consolas" panose="020B0609020204030204" pitchFamily="49" charset="0"/>
                        </a:rPr>
                        <a:t>=</a:t>
                      </a:r>
                      <a:r>
                        <a:rPr lang="en-US" sz="1600" b="1" i="0" u="none" strike="noStrike" dirty="0">
                          <a:solidFill>
                            <a:srgbClr val="5C707A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1" i="0" u="none" strike="noStrike" dirty="0">
                          <a:solidFill>
                            <a:srgbClr val="647F11"/>
                          </a:solidFill>
                          <a:effectLst/>
                          <a:latin typeface="Consolas" panose="020B0609020204030204" pitchFamily="49" charset="0"/>
                        </a:rPr>
                        <a:t>"{selected: </a:t>
                      </a:r>
                      <a:r>
                        <a:rPr lang="en-US" sz="1600" b="1" i="0" u="none" strike="noStrike" dirty="0" err="1">
                          <a:solidFill>
                            <a:srgbClr val="647F11"/>
                          </a:solidFill>
                          <a:effectLst/>
                          <a:latin typeface="Consolas" panose="020B0609020204030204" pitchFamily="49" charset="0"/>
                        </a:rPr>
                        <a:t>isSelected</a:t>
                      </a:r>
                      <a:r>
                        <a:rPr lang="en-US" sz="1600" b="1" i="0" u="none" strike="noStrike" dirty="0">
                          <a:solidFill>
                            <a:srgbClr val="647F11"/>
                          </a:solidFill>
                          <a:effectLst/>
                          <a:latin typeface="Consolas" panose="020B0609020204030204" pitchFamily="49" charset="0"/>
                        </a:rPr>
                        <a:t>}"</a:t>
                      </a:r>
                      <a:r>
                        <a:rPr lang="en-US" sz="1600" b="1" i="0" u="none" strike="noStrike" dirty="0">
                          <a:solidFill>
                            <a:srgbClr val="D43669"/>
                          </a:solidFill>
                          <a:effectLst/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algn="l" fontAlgn="ctr"/>
                      <a:r>
                        <a:rPr lang="en-US" sz="1600" b="1" i="0" u="none" strike="noStrike" dirty="0">
                          <a:solidFill>
                            <a:srgbClr val="D43669"/>
                          </a:solidFill>
                          <a:effectLst/>
                          <a:latin typeface="Consolas" panose="020B0609020204030204" pitchFamily="49" charset="0"/>
                        </a:rPr>
                        <a:t>&lt;/div&gt;</a:t>
                      </a:r>
                    </a:p>
                  </a:txBody>
                  <a:tcPr marL="10343" marR="10343" marT="1034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186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ru-RU" sz="1400" b="0" i="0" u="none" strike="noStrike" dirty="0">
                        <a:solidFill>
                          <a:srgbClr val="1A2326"/>
                        </a:solidFill>
                        <a:effectLst/>
                        <a:latin typeface="Helvetica Neue Light"/>
                      </a:endParaRPr>
                    </a:p>
                  </a:txBody>
                  <a:tcPr marL="10343" marR="10343" marT="1034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10343" marR="10343" marT="1034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6678">
                <a:tc rowSpan="3">
                  <a:txBody>
                    <a:bodyPr/>
                    <a:lstStyle/>
                    <a:p>
                      <a:pPr algn="l" fontAlgn="ctr"/>
                      <a:r>
                        <a:rPr lang="en-US" sz="1400" b="1" i="0" u="none" strike="noStrike" dirty="0">
                          <a:solidFill>
                            <a:srgbClr val="1A2326"/>
                          </a:solidFill>
                          <a:effectLst/>
                          <a:latin typeface="Helvetica Neue Light"/>
                        </a:rPr>
                        <a:t>Event</a:t>
                      </a:r>
                    </a:p>
                  </a:txBody>
                  <a:tcPr marL="10343" marR="10343" marT="10343" marB="0" anchor="ctr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400" b="0" i="0" u="none" strike="noStrike" dirty="0" err="1">
                          <a:solidFill>
                            <a:srgbClr val="1A2326"/>
                          </a:solidFill>
                          <a:effectLst/>
                          <a:latin typeface="Helvetica Neue Light"/>
                        </a:rPr>
                        <a:t>Element"Event</a:t>
                      </a:r>
                      <a:endParaRPr lang="fr-FR" sz="1400" b="0" i="0" u="none" strike="noStrike" dirty="0">
                        <a:solidFill>
                          <a:srgbClr val="1A2326"/>
                        </a:solidFill>
                        <a:effectLst/>
                        <a:latin typeface="Helvetica Neue Light"/>
                      </a:endParaRPr>
                    </a:p>
                  </a:txBody>
                  <a:tcPr marL="10343" marR="10343" marT="10343" marB="0" anchor="ctr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i="0" u="none" strike="noStrike" dirty="0">
                          <a:solidFill>
                            <a:srgbClr val="D43669"/>
                          </a:solidFill>
                          <a:effectLst/>
                          <a:latin typeface="Consolas" panose="020B0609020204030204" pitchFamily="49" charset="0"/>
                        </a:rPr>
                        <a:t>&lt;button</a:t>
                      </a:r>
                      <a:r>
                        <a:rPr lang="en-US" sz="1600" b="1" i="0" u="none" strike="noStrike" dirty="0">
                          <a:solidFill>
                            <a:srgbClr val="5C707A"/>
                          </a:solidFill>
                          <a:effectLst/>
                          <a:latin typeface="Consolas" panose="020B0609020204030204" pitchFamily="49" charset="0"/>
                        </a:rPr>
                        <a:t> (</a:t>
                      </a:r>
                      <a:r>
                        <a:rPr lang="en-US" sz="1600" b="1" i="0" u="none" strike="noStrike" dirty="0">
                          <a:solidFill>
                            <a:srgbClr val="647F11"/>
                          </a:solidFill>
                          <a:effectLst/>
                          <a:latin typeface="Consolas" panose="020B0609020204030204" pitchFamily="49" charset="0"/>
                        </a:rPr>
                        <a:t>click</a:t>
                      </a:r>
                      <a:r>
                        <a:rPr lang="en-US" sz="1600" b="1" i="0" u="none" strike="noStrike" dirty="0">
                          <a:solidFill>
                            <a:srgbClr val="5C707A"/>
                          </a:solidFill>
                          <a:effectLst/>
                          <a:latin typeface="Consolas" panose="020B0609020204030204" pitchFamily="49" charset="0"/>
                        </a:rPr>
                        <a:t>) </a:t>
                      </a:r>
                      <a:r>
                        <a:rPr lang="en-US" sz="1600" b="1" i="0" u="none" strike="noStrike" dirty="0">
                          <a:solidFill>
                            <a:srgbClr val="7A8B94"/>
                          </a:solidFill>
                          <a:effectLst/>
                          <a:latin typeface="Consolas" panose="020B0609020204030204" pitchFamily="49" charset="0"/>
                        </a:rPr>
                        <a:t>=</a:t>
                      </a:r>
                      <a:r>
                        <a:rPr lang="en-US" sz="1600" b="1" i="0" u="none" strike="noStrike" dirty="0">
                          <a:solidFill>
                            <a:srgbClr val="5C707A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1" i="0" u="none" strike="noStrike" dirty="0">
                          <a:solidFill>
                            <a:srgbClr val="647F11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sz="1600" b="1" i="0" u="none" strike="noStrike" dirty="0" err="1">
                          <a:solidFill>
                            <a:srgbClr val="647F11"/>
                          </a:solidFill>
                          <a:effectLst/>
                          <a:latin typeface="Consolas" panose="020B0609020204030204" pitchFamily="49" charset="0"/>
                        </a:rPr>
                        <a:t>onSave</a:t>
                      </a:r>
                      <a:r>
                        <a:rPr lang="en-US" sz="1600" b="1" i="0" u="none" strike="noStrike" dirty="0">
                          <a:solidFill>
                            <a:srgbClr val="647F11"/>
                          </a:solidFill>
                          <a:effectLst/>
                          <a:latin typeface="Consolas" panose="020B0609020204030204" pitchFamily="49" charset="0"/>
                        </a:rPr>
                        <a:t>()"</a:t>
                      </a:r>
                      <a:r>
                        <a:rPr lang="en-US" sz="1600" b="1" i="0" u="none" strike="noStrike" dirty="0">
                          <a:solidFill>
                            <a:srgbClr val="D43669"/>
                          </a:solidFill>
                          <a:effectLst/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algn="l" fontAlgn="ctr"/>
                      <a:r>
                        <a:rPr lang="en-US" sz="1600" b="1" i="0" u="none" strike="noStrike" dirty="0">
                          <a:solidFill>
                            <a:srgbClr val="5C707A"/>
                          </a:solidFill>
                          <a:effectLst/>
                          <a:latin typeface="Consolas" panose="020B0609020204030204" pitchFamily="49" charset="0"/>
                        </a:rPr>
                        <a:t>   Save</a:t>
                      </a:r>
                    </a:p>
                    <a:p>
                      <a:pPr algn="l" fontAlgn="ctr"/>
                      <a:r>
                        <a:rPr lang="en-US" sz="1600" b="1" i="0" u="none" strike="noStrike" dirty="0">
                          <a:solidFill>
                            <a:srgbClr val="D43669"/>
                          </a:solidFill>
                          <a:effectLst/>
                          <a:latin typeface="Consolas" panose="020B0609020204030204" pitchFamily="49" charset="0"/>
                        </a:rPr>
                        <a:t>&lt;/button&gt;</a:t>
                      </a:r>
                    </a:p>
                  </a:txBody>
                  <a:tcPr marL="10343" marR="10343" marT="10343" marB="0" anchor="ctr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66678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400" b="0" i="0" u="none" strike="noStrike" dirty="0" err="1">
                          <a:solidFill>
                            <a:srgbClr val="1A2326"/>
                          </a:solidFill>
                          <a:effectLst/>
                          <a:latin typeface="Helvetica Neue Light"/>
                        </a:rPr>
                        <a:t>Component</a:t>
                      </a:r>
                      <a:r>
                        <a:rPr lang="ru-RU" sz="1400" b="0" i="0" u="none" strike="noStrike" dirty="0">
                          <a:solidFill>
                            <a:srgbClr val="1A2326"/>
                          </a:solidFill>
                          <a:effectLst/>
                          <a:latin typeface="Helvetica Neue Light"/>
                        </a:rPr>
                        <a:t> </a:t>
                      </a:r>
                      <a:r>
                        <a:rPr lang="ru-RU" sz="1400" b="0" i="0" u="none" strike="noStrike" dirty="0" err="1">
                          <a:solidFill>
                            <a:srgbClr val="1A2326"/>
                          </a:solidFill>
                          <a:effectLst/>
                          <a:latin typeface="Helvetica Neue Light"/>
                        </a:rPr>
                        <a:t>Event</a:t>
                      </a:r>
                      <a:endParaRPr lang="ru-RU" sz="1400" b="0" i="0" u="none" strike="noStrike" dirty="0">
                        <a:solidFill>
                          <a:srgbClr val="1A2326"/>
                        </a:solidFill>
                        <a:effectLst/>
                        <a:latin typeface="Helvetica Neue Light"/>
                      </a:endParaRPr>
                    </a:p>
                  </a:txBody>
                  <a:tcPr marL="10343" marR="10343" marT="1034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i="0" u="none" strike="noStrike" dirty="0">
                          <a:solidFill>
                            <a:srgbClr val="D43669"/>
                          </a:solidFill>
                          <a:effectLst/>
                          <a:latin typeface="Consolas" panose="020B0609020204030204" pitchFamily="49" charset="0"/>
                        </a:rPr>
                        <a:t>&lt;hero-detail</a:t>
                      </a:r>
                      <a:r>
                        <a:rPr lang="en-US" sz="1600" b="1" i="0" u="none" strike="noStrike" dirty="0">
                          <a:solidFill>
                            <a:srgbClr val="5C707A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</a:p>
                    <a:p>
                      <a:pPr algn="l" fontAlgn="ctr"/>
                      <a:r>
                        <a:rPr lang="en-US" sz="1600" b="1" i="0" u="none" strike="noStrike" dirty="0">
                          <a:solidFill>
                            <a:srgbClr val="5C707A"/>
                          </a:solidFill>
                          <a:effectLst/>
                          <a:latin typeface="Consolas" panose="020B0609020204030204" pitchFamily="49" charset="0"/>
                        </a:rPr>
                        <a:t>       (</a:t>
                      </a:r>
                      <a:r>
                        <a:rPr lang="en-US" sz="1600" b="1" i="0" u="none" strike="noStrike" dirty="0">
                          <a:solidFill>
                            <a:srgbClr val="647F11"/>
                          </a:solidFill>
                          <a:effectLst/>
                          <a:latin typeface="Consolas" panose="020B0609020204030204" pitchFamily="49" charset="0"/>
                        </a:rPr>
                        <a:t>deleted</a:t>
                      </a:r>
                      <a:r>
                        <a:rPr lang="en-US" sz="1600" b="1" i="0" u="none" strike="noStrike" dirty="0">
                          <a:solidFill>
                            <a:srgbClr val="5C707A"/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  <a:r>
                        <a:rPr lang="en-US" sz="1600" b="1" i="0" u="none" strike="noStrike" dirty="0">
                          <a:solidFill>
                            <a:srgbClr val="7A8B94"/>
                          </a:solidFill>
                          <a:effectLst/>
                          <a:latin typeface="Consolas" panose="020B0609020204030204" pitchFamily="49" charset="0"/>
                        </a:rPr>
                        <a:t>=</a:t>
                      </a:r>
                      <a:r>
                        <a:rPr lang="en-US" sz="1600" b="1" i="0" u="none" strike="noStrike" dirty="0">
                          <a:solidFill>
                            <a:srgbClr val="647F11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sz="1600" b="1" i="0" u="none" strike="noStrike" dirty="0" err="1">
                          <a:solidFill>
                            <a:srgbClr val="647F11"/>
                          </a:solidFill>
                          <a:effectLst/>
                          <a:latin typeface="Consolas" panose="020B0609020204030204" pitchFamily="49" charset="0"/>
                        </a:rPr>
                        <a:t>onHeroDeleted</a:t>
                      </a:r>
                      <a:r>
                        <a:rPr lang="en-US" sz="1600" b="1" i="0" u="none" strike="noStrike" dirty="0">
                          <a:solidFill>
                            <a:srgbClr val="647F11"/>
                          </a:solidFill>
                          <a:effectLst/>
                          <a:latin typeface="Consolas" panose="020B0609020204030204" pitchFamily="49" charset="0"/>
                        </a:rPr>
                        <a:t>()"</a:t>
                      </a:r>
                      <a:r>
                        <a:rPr lang="en-US" sz="1600" b="1" i="0" u="none" strike="noStrike" dirty="0">
                          <a:solidFill>
                            <a:srgbClr val="D43669"/>
                          </a:solidFill>
                          <a:effectLst/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algn="l" fontAlgn="ctr"/>
                      <a:r>
                        <a:rPr lang="en-US" sz="1600" b="1" i="0" u="none" strike="noStrike" dirty="0">
                          <a:solidFill>
                            <a:srgbClr val="D43669"/>
                          </a:solidFill>
                          <a:effectLst/>
                          <a:latin typeface="Consolas" panose="020B0609020204030204" pitchFamily="49" charset="0"/>
                        </a:rPr>
                        <a:t>&lt;/hero-detail&gt;</a:t>
                      </a:r>
                    </a:p>
                  </a:txBody>
                  <a:tcPr marL="10343" marR="10343" marT="1034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70057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 dirty="0">
                          <a:solidFill>
                            <a:srgbClr val="1A2326"/>
                          </a:solidFill>
                          <a:effectLst/>
                          <a:latin typeface="Helvetica Neue Light"/>
                        </a:rPr>
                        <a:t>Directive Event</a:t>
                      </a:r>
                    </a:p>
                  </a:txBody>
                  <a:tcPr marL="10343" marR="10343" marT="1034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i="0" u="none" strike="noStrike" dirty="0">
                          <a:solidFill>
                            <a:srgbClr val="D43669"/>
                          </a:solidFill>
                          <a:effectLst/>
                          <a:latin typeface="Consolas" panose="020B0609020204030204" pitchFamily="49" charset="0"/>
                        </a:rPr>
                        <a:t>&lt;div</a:t>
                      </a:r>
                      <a:r>
                        <a:rPr lang="en-US" sz="1600" b="1" i="0" u="none" strike="noStrike" dirty="0">
                          <a:solidFill>
                            <a:srgbClr val="5C707A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1" i="0" u="none" strike="noStrike" dirty="0" err="1">
                          <a:solidFill>
                            <a:srgbClr val="647F11"/>
                          </a:solidFill>
                          <a:effectLst/>
                          <a:latin typeface="Consolas" panose="020B0609020204030204" pitchFamily="49" charset="0"/>
                        </a:rPr>
                        <a:t>myClick</a:t>
                      </a:r>
                      <a:r>
                        <a:rPr lang="en-US" sz="1600" b="1" i="0" u="none" strike="noStrike" dirty="0">
                          <a:solidFill>
                            <a:srgbClr val="5C707A"/>
                          </a:solidFill>
                          <a:effectLst/>
                          <a:latin typeface="Consolas" panose="020B0609020204030204" pitchFamily="49" charset="0"/>
                        </a:rPr>
                        <a:t> (</a:t>
                      </a:r>
                      <a:r>
                        <a:rPr lang="en-US" sz="1600" b="1" i="0" u="none" strike="noStrike" dirty="0" err="1">
                          <a:solidFill>
                            <a:srgbClr val="647F11"/>
                          </a:solidFill>
                          <a:effectLst/>
                          <a:latin typeface="Consolas" panose="020B0609020204030204" pitchFamily="49" charset="0"/>
                        </a:rPr>
                        <a:t>myClick</a:t>
                      </a:r>
                      <a:r>
                        <a:rPr lang="en-US" sz="1600" b="1" i="0" u="none" strike="noStrike" dirty="0">
                          <a:solidFill>
                            <a:srgbClr val="5C707A"/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  <a:r>
                        <a:rPr lang="en-US" sz="1600" b="1" i="0" u="none" strike="noStrike" dirty="0">
                          <a:solidFill>
                            <a:srgbClr val="7A8B94"/>
                          </a:solidFill>
                          <a:effectLst/>
                          <a:latin typeface="Consolas" panose="020B0609020204030204" pitchFamily="49" charset="0"/>
                        </a:rPr>
                        <a:t>=</a:t>
                      </a:r>
                      <a:r>
                        <a:rPr lang="en-US" sz="1600" b="1" i="0" u="none" strike="noStrike" dirty="0">
                          <a:solidFill>
                            <a:srgbClr val="647F11"/>
                          </a:solidFill>
                          <a:effectLst/>
                          <a:latin typeface="Consolas" panose="020B0609020204030204" pitchFamily="49" charset="0"/>
                        </a:rPr>
                        <a:t>"clicked=$event"</a:t>
                      </a:r>
                      <a:r>
                        <a:rPr lang="en-US" sz="1600" b="1" i="0" u="none" strike="noStrike" dirty="0">
                          <a:solidFill>
                            <a:srgbClr val="D43669"/>
                          </a:solidFill>
                          <a:effectLst/>
                          <a:latin typeface="Consolas" panose="020B0609020204030204" pitchFamily="49" charset="0"/>
                        </a:rPr>
                        <a:t>&gt;</a:t>
                      </a:r>
                      <a:r>
                        <a:rPr lang="en-US" sz="1600" b="1" i="0" u="none" strike="noStrike" dirty="0">
                          <a:solidFill>
                            <a:srgbClr val="5C707A"/>
                          </a:solidFill>
                          <a:effectLst/>
                          <a:latin typeface="Consolas" panose="020B0609020204030204" pitchFamily="49" charset="0"/>
                        </a:rPr>
                        <a:t>click me</a:t>
                      </a:r>
                      <a:r>
                        <a:rPr lang="en-US" sz="1600" b="1" i="0" u="none" strike="noStrike" dirty="0">
                          <a:solidFill>
                            <a:srgbClr val="D43669"/>
                          </a:solidFill>
                          <a:effectLst/>
                          <a:latin typeface="Consolas" panose="020B0609020204030204" pitchFamily="49" charset="0"/>
                        </a:rPr>
                        <a:t>&lt;/div&gt;</a:t>
                      </a:r>
                    </a:p>
                  </a:txBody>
                  <a:tcPr marL="10343" marR="10343" marT="1034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091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i="0" u="none" strike="noStrike" dirty="0">
                          <a:solidFill>
                            <a:srgbClr val="1A2326"/>
                          </a:solidFill>
                          <a:effectLst/>
                          <a:latin typeface="Helvetica Neue Light"/>
                        </a:rPr>
                        <a:t>Two-way</a:t>
                      </a:r>
                    </a:p>
                  </a:txBody>
                  <a:tcPr marL="10343" marR="10343" marT="10343" marB="0" anchor="ctr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400" b="0" i="0" u="none" strike="noStrike" dirty="0" err="1">
                          <a:solidFill>
                            <a:srgbClr val="1A2326"/>
                          </a:solidFill>
                          <a:effectLst/>
                          <a:latin typeface="Helvetica Neue Light"/>
                        </a:rPr>
                        <a:t>Directive"Event</a:t>
                      </a:r>
                      <a:r>
                        <a:rPr lang="fr-FR" sz="1400" b="0" i="0" u="none" strike="noStrike" dirty="0">
                          <a:solidFill>
                            <a:srgbClr val="1A2326"/>
                          </a:solidFill>
                          <a:effectLst/>
                          <a:latin typeface="Helvetica Neue Light"/>
                        </a:rPr>
                        <a:t> </a:t>
                      </a:r>
                      <a:r>
                        <a:rPr lang="fr-FR" sz="1400" b="0" i="0" u="none" strike="noStrike" dirty="0" err="1">
                          <a:solidFill>
                            <a:srgbClr val="1A2326"/>
                          </a:solidFill>
                          <a:effectLst/>
                          <a:latin typeface="Helvetica Neue Light"/>
                        </a:rPr>
                        <a:t>Property</a:t>
                      </a:r>
                      <a:endParaRPr lang="fr-FR" sz="1400" b="0" i="0" u="none" strike="noStrike" dirty="0">
                        <a:solidFill>
                          <a:srgbClr val="1A2326"/>
                        </a:solidFill>
                        <a:effectLst/>
                        <a:latin typeface="Helvetica Neue Light"/>
                      </a:endParaRPr>
                    </a:p>
                  </a:txBody>
                  <a:tcPr marL="10343" marR="10343" marT="10343" marB="0" anchor="ctr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i="0" u="none" strike="noStrike" dirty="0">
                          <a:solidFill>
                            <a:srgbClr val="D43669"/>
                          </a:solidFill>
                          <a:effectLst/>
                          <a:latin typeface="Consolas" panose="020B0609020204030204" pitchFamily="49" charset="0"/>
                        </a:rPr>
                        <a:t>&lt;input</a:t>
                      </a:r>
                      <a:r>
                        <a:rPr lang="en-US" sz="1600" b="1" i="0" u="none" strike="noStrike" dirty="0">
                          <a:solidFill>
                            <a:srgbClr val="5C707A"/>
                          </a:solidFill>
                          <a:effectLst/>
                          <a:latin typeface="Consolas" panose="020B0609020204030204" pitchFamily="49" charset="0"/>
                        </a:rPr>
                        <a:t> [(</a:t>
                      </a:r>
                      <a:r>
                        <a:rPr lang="en-US" sz="1600" b="1" i="0" u="none" strike="noStrike" dirty="0" err="1">
                          <a:solidFill>
                            <a:srgbClr val="647F11"/>
                          </a:solidFill>
                          <a:effectLst/>
                          <a:latin typeface="Consolas" panose="020B0609020204030204" pitchFamily="49" charset="0"/>
                        </a:rPr>
                        <a:t>ngModel</a:t>
                      </a:r>
                      <a:r>
                        <a:rPr lang="en-US" sz="1600" b="1" i="0" u="none" strike="noStrike" dirty="0">
                          <a:solidFill>
                            <a:srgbClr val="5C707A"/>
                          </a:solidFill>
                          <a:effectLst/>
                          <a:latin typeface="Consolas" panose="020B0609020204030204" pitchFamily="49" charset="0"/>
                        </a:rPr>
                        <a:t>)]</a:t>
                      </a:r>
                      <a:r>
                        <a:rPr lang="en-US" sz="1600" b="1" i="0" u="none" strike="noStrike" dirty="0">
                          <a:solidFill>
                            <a:srgbClr val="7A8B94"/>
                          </a:solidFill>
                          <a:effectLst/>
                          <a:latin typeface="Consolas" panose="020B0609020204030204" pitchFamily="49" charset="0"/>
                        </a:rPr>
                        <a:t>=</a:t>
                      </a:r>
                      <a:r>
                        <a:rPr lang="en-US" sz="1600" b="1" i="0" u="none" strike="noStrike" dirty="0">
                          <a:solidFill>
                            <a:srgbClr val="647F11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sz="1600" b="1" i="0" u="none" strike="noStrike" dirty="0" err="1">
                          <a:solidFill>
                            <a:srgbClr val="647F11"/>
                          </a:solidFill>
                          <a:effectLst/>
                          <a:latin typeface="Consolas" panose="020B0609020204030204" pitchFamily="49" charset="0"/>
                        </a:rPr>
                        <a:t>heroName</a:t>
                      </a:r>
                      <a:r>
                        <a:rPr lang="en-US" sz="1600" b="1" i="0" u="none" strike="noStrike" dirty="0">
                          <a:solidFill>
                            <a:srgbClr val="647F11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sz="1600" b="1" i="0" u="none" strike="noStrike" dirty="0">
                          <a:solidFill>
                            <a:srgbClr val="D43669"/>
                          </a:solidFill>
                          <a:effectLst/>
                          <a:latin typeface="Consolas" panose="020B0609020204030204" pitchFamily="49" charset="0"/>
                        </a:rPr>
                        <a:t>&gt;</a:t>
                      </a:r>
                    </a:p>
                  </a:txBody>
                  <a:tcPr marL="10343" marR="10343" marT="10343" marB="0" anchor="ctr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076089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Binding targets</a:t>
            </a:r>
            <a:endParaRPr lang="ru-RU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4862917"/>
              </p:ext>
            </p:extLst>
          </p:nvPr>
        </p:nvGraphicFramePr>
        <p:xfrm>
          <a:off x="989012" y="1371600"/>
          <a:ext cx="10668000" cy="4527763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1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i="0" u="none" strike="noStrike" dirty="0">
                          <a:solidFill>
                            <a:srgbClr val="1A2326"/>
                          </a:solidFill>
                          <a:effectLst/>
                          <a:latin typeface="Helvetica Neue Light"/>
                        </a:rPr>
                        <a:t>Binding Type</a:t>
                      </a: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09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i="0" u="none" strike="noStrike" dirty="0">
                          <a:solidFill>
                            <a:srgbClr val="1A2326"/>
                          </a:solidFill>
                          <a:effectLst/>
                          <a:latin typeface="Helvetica Neue Light"/>
                        </a:rPr>
                        <a:t>Target</a:t>
                      </a: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09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i="0" u="none" strike="noStrike" dirty="0">
                          <a:solidFill>
                            <a:srgbClr val="1A2326"/>
                          </a:solidFill>
                          <a:effectLst/>
                          <a:latin typeface="Helvetica Neue Light"/>
                        </a:rPr>
                        <a:t>Examples</a:t>
                      </a: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0017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rgbClr val="1A2326"/>
                          </a:solidFill>
                          <a:effectLst/>
                          <a:latin typeface="Helvetica Neue Light"/>
                        </a:rPr>
                        <a:t>Attribute</a:t>
                      </a: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1A2326"/>
                          </a:solidFill>
                          <a:effectLst/>
                          <a:latin typeface="Helvetica Neue Light"/>
                        </a:rPr>
                        <a:t>Attribute (the exception)</a:t>
                      </a: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800" b="1" i="0" u="none" strike="noStrike" dirty="0">
                        <a:solidFill>
                          <a:srgbClr val="D43669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algn="l" fontAlgn="b"/>
                      <a:r>
                        <a:rPr lang="en-US" sz="1800" b="1" i="0" u="none" strike="noStrike" dirty="0">
                          <a:solidFill>
                            <a:srgbClr val="D43669"/>
                          </a:solidFill>
                          <a:effectLst/>
                          <a:latin typeface="Consolas" panose="020B0609020204030204" pitchFamily="49" charset="0"/>
                        </a:rPr>
                        <a:t>&lt;button</a:t>
                      </a:r>
                      <a:r>
                        <a:rPr lang="en-US" sz="1800" b="1" i="0" u="none" strike="noStrike" dirty="0">
                          <a:solidFill>
                            <a:srgbClr val="5C707A"/>
                          </a:solidFill>
                          <a:effectLst/>
                          <a:latin typeface="Consolas" panose="020B0609020204030204" pitchFamily="49" charset="0"/>
                        </a:rPr>
                        <a:t> [</a:t>
                      </a:r>
                      <a:r>
                        <a:rPr lang="en-US" sz="1800" b="1" i="0" u="none" strike="noStrike" dirty="0" err="1">
                          <a:solidFill>
                            <a:srgbClr val="647F11"/>
                          </a:solidFill>
                          <a:effectLst/>
                          <a:latin typeface="Consolas" panose="020B0609020204030204" pitchFamily="49" charset="0"/>
                        </a:rPr>
                        <a:t>attr</a:t>
                      </a:r>
                      <a:r>
                        <a:rPr lang="en-US" sz="1800" b="1" i="0" u="none" strike="noStrike" dirty="0" err="1">
                          <a:solidFill>
                            <a:srgbClr val="5C707A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en-US" sz="1800" b="1" i="0" u="none" strike="noStrike" dirty="0" err="1">
                          <a:solidFill>
                            <a:srgbClr val="647F11"/>
                          </a:solidFill>
                          <a:effectLst/>
                          <a:latin typeface="Consolas" panose="020B0609020204030204" pitchFamily="49" charset="0"/>
                        </a:rPr>
                        <a:t>aria</a:t>
                      </a:r>
                      <a:r>
                        <a:rPr lang="en-US" sz="1800" b="1" i="0" u="none" strike="noStrike" dirty="0">
                          <a:solidFill>
                            <a:srgbClr val="647F11"/>
                          </a:solidFill>
                          <a:effectLst/>
                          <a:latin typeface="Consolas" panose="020B0609020204030204" pitchFamily="49" charset="0"/>
                        </a:rPr>
                        <a:t>-label</a:t>
                      </a:r>
                      <a:r>
                        <a:rPr lang="en-US" sz="1800" b="1" i="0" u="none" strike="noStrike" dirty="0">
                          <a:solidFill>
                            <a:srgbClr val="5C707A"/>
                          </a:solidFill>
                          <a:effectLst/>
                          <a:latin typeface="Consolas" panose="020B0609020204030204" pitchFamily="49" charset="0"/>
                        </a:rPr>
                        <a:t>]</a:t>
                      </a:r>
                      <a:r>
                        <a:rPr lang="en-US" sz="1800" b="1" i="0" u="none" strike="noStrike" dirty="0">
                          <a:solidFill>
                            <a:srgbClr val="7A8B94"/>
                          </a:solidFill>
                          <a:effectLst/>
                          <a:latin typeface="Consolas" panose="020B0609020204030204" pitchFamily="49" charset="0"/>
                        </a:rPr>
                        <a:t>=</a:t>
                      </a:r>
                      <a:r>
                        <a:rPr lang="en-US" sz="1800" b="1" i="0" u="none" strike="noStrike" dirty="0">
                          <a:solidFill>
                            <a:srgbClr val="647F11"/>
                          </a:solidFill>
                          <a:effectLst/>
                          <a:latin typeface="Consolas" panose="020B0609020204030204" pitchFamily="49" charset="0"/>
                        </a:rPr>
                        <a:t>"help"</a:t>
                      </a:r>
                      <a:r>
                        <a:rPr lang="en-US" sz="1800" b="1" i="0" u="none" strike="noStrike" dirty="0">
                          <a:solidFill>
                            <a:srgbClr val="D43669"/>
                          </a:solidFill>
                          <a:effectLst/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algn="l" fontAlgn="b"/>
                      <a:r>
                        <a:rPr lang="en-US" sz="1800" b="1" i="0" u="none" strike="noStrike" dirty="0">
                          <a:solidFill>
                            <a:srgbClr val="5C707A"/>
                          </a:solidFill>
                          <a:effectLst/>
                          <a:latin typeface="Consolas" panose="020B0609020204030204" pitchFamily="49" charset="0"/>
                        </a:rPr>
                        <a:t>   help</a:t>
                      </a:r>
                    </a:p>
                    <a:p>
                      <a:pPr algn="l" fontAlgn="b"/>
                      <a:r>
                        <a:rPr lang="en-US" sz="1800" b="1" i="0" u="none" strike="noStrike" dirty="0">
                          <a:solidFill>
                            <a:srgbClr val="D43669"/>
                          </a:solidFill>
                          <a:effectLst/>
                          <a:latin typeface="Consolas" panose="020B0609020204030204" pitchFamily="49" charset="0"/>
                        </a:rPr>
                        <a:t>&lt;/button&gt;</a:t>
                      </a:r>
                    </a:p>
                    <a:p>
                      <a:pPr algn="l" fontAlgn="b"/>
                      <a:endParaRPr lang="en-US" sz="1800" b="1" i="0" u="none" strike="noStrike" dirty="0">
                        <a:solidFill>
                          <a:srgbClr val="D43669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0017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rgbClr val="1A2326"/>
                          </a:solidFill>
                          <a:effectLst/>
                          <a:latin typeface="Helvetica Neue Light"/>
                        </a:rPr>
                        <a:t>Class</a:t>
                      </a: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5C707A"/>
                          </a:solidFill>
                          <a:effectLst/>
                          <a:latin typeface="Monaco"/>
                        </a:rPr>
                        <a:t>class</a:t>
                      </a:r>
                      <a:r>
                        <a:rPr lang="en-US" sz="1400" b="0" i="0" u="none" strike="noStrike" dirty="0">
                          <a:solidFill>
                            <a:srgbClr val="1A2326"/>
                          </a:solidFill>
                          <a:effectLst/>
                          <a:latin typeface="Helvetica Neue Light"/>
                        </a:rPr>
                        <a:t> Property</a:t>
                      </a:r>
                      <a:endParaRPr lang="en-US" sz="1200" b="0" i="0" u="none" strike="noStrike" dirty="0">
                        <a:solidFill>
                          <a:srgbClr val="5C707A"/>
                        </a:solidFill>
                        <a:effectLst/>
                        <a:latin typeface="Monaco"/>
                      </a:endParaRP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800" b="1" i="0" u="none" strike="noStrike" dirty="0">
                        <a:solidFill>
                          <a:srgbClr val="D43669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algn="l" fontAlgn="b"/>
                      <a:r>
                        <a:rPr lang="en-US" sz="1800" b="1" i="0" u="none" strike="noStrike" dirty="0">
                          <a:solidFill>
                            <a:srgbClr val="D43669"/>
                          </a:solidFill>
                          <a:effectLst/>
                          <a:latin typeface="Consolas" panose="020B0609020204030204" pitchFamily="49" charset="0"/>
                        </a:rPr>
                        <a:t>&lt;div</a:t>
                      </a:r>
                      <a:r>
                        <a:rPr lang="en-US" sz="1800" b="1" i="0" u="none" strike="noStrike" dirty="0">
                          <a:solidFill>
                            <a:srgbClr val="5C707A"/>
                          </a:solidFill>
                          <a:effectLst/>
                          <a:latin typeface="Consolas" panose="020B0609020204030204" pitchFamily="49" charset="0"/>
                        </a:rPr>
                        <a:t> [</a:t>
                      </a:r>
                      <a:r>
                        <a:rPr lang="en-US" sz="1800" b="1" i="0" u="none" strike="noStrike" dirty="0" err="1">
                          <a:solidFill>
                            <a:srgbClr val="647F11"/>
                          </a:solidFill>
                          <a:effectLst/>
                          <a:latin typeface="Consolas" panose="020B0609020204030204" pitchFamily="49" charset="0"/>
                        </a:rPr>
                        <a:t>class</a:t>
                      </a:r>
                      <a:r>
                        <a:rPr lang="en-US" sz="1800" b="1" i="0" u="none" strike="noStrike" dirty="0" err="1">
                          <a:solidFill>
                            <a:srgbClr val="5C707A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en-US" sz="1800" b="1" i="0" u="none" strike="noStrike" dirty="0" err="1">
                          <a:solidFill>
                            <a:srgbClr val="647F11"/>
                          </a:solidFill>
                          <a:effectLst/>
                          <a:latin typeface="Consolas" panose="020B0609020204030204" pitchFamily="49" charset="0"/>
                        </a:rPr>
                        <a:t>special</a:t>
                      </a:r>
                      <a:r>
                        <a:rPr lang="en-US" sz="1800" b="1" i="0" u="none" strike="noStrike" dirty="0">
                          <a:solidFill>
                            <a:srgbClr val="5C707A"/>
                          </a:solidFill>
                          <a:effectLst/>
                          <a:latin typeface="Consolas" panose="020B0609020204030204" pitchFamily="49" charset="0"/>
                        </a:rPr>
                        <a:t>]</a:t>
                      </a:r>
                      <a:r>
                        <a:rPr lang="en-US" sz="1800" b="1" i="0" u="none" strike="noStrike" dirty="0">
                          <a:solidFill>
                            <a:srgbClr val="7A8B94"/>
                          </a:solidFill>
                          <a:effectLst/>
                          <a:latin typeface="Consolas" panose="020B0609020204030204" pitchFamily="49" charset="0"/>
                        </a:rPr>
                        <a:t>=</a:t>
                      </a:r>
                      <a:r>
                        <a:rPr lang="en-US" sz="1800" b="1" i="0" u="none" strike="noStrike" dirty="0">
                          <a:solidFill>
                            <a:srgbClr val="647F11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sz="1800" b="1" i="0" u="none" strike="noStrike" dirty="0" err="1">
                          <a:solidFill>
                            <a:srgbClr val="647F11"/>
                          </a:solidFill>
                          <a:effectLst/>
                          <a:latin typeface="Consolas" panose="020B0609020204030204" pitchFamily="49" charset="0"/>
                        </a:rPr>
                        <a:t>isSpecial</a:t>
                      </a:r>
                      <a:r>
                        <a:rPr lang="en-US" sz="1800" b="1" i="0" u="none" strike="noStrike" dirty="0">
                          <a:solidFill>
                            <a:srgbClr val="647F11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sz="1800" b="1" i="0" u="none" strike="noStrike" dirty="0">
                          <a:solidFill>
                            <a:srgbClr val="D43669"/>
                          </a:solidFill>
                          <a:effectLst/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algn="l" fontAlgn="b"/>
                      <a:r>
                        <a:rPr lang="en-US" sz="1800" b="1" i="0" u="none" strike="noStrike" dirty="0">
                          <a:solidFill>
                            <a:srgbClr val="5C707A"/>
                          </a:solidFill>
                          <a:effectLst/>
                          <a:latin typeface="Consolas" panose="020B0609020204030204" pitchFamily="49" charset="0"/>
                        </a:rPr>
                        <a:t>   Special</a:t>
                      </a:r>
                    </a:p>
                    <a:p>
                      <a:pPr algn="l" fontAlgn="b"/>
                      <a:r>
                        <a:rPr lang="en-US" sz="1800" b="1" i="0" u="none" strike="noStrike" dirty="0">
                          <a:solidFill>
                            <a:srgbClr val="D43669"/>
                          </a:solidFill>
                          <a:effectLst/>
                          <a:latin typeface="Consolas" panose="020B0609020204030204" pitchFamily="49" charset="0"/>
                        </a:rPr>
                        <a:t>&lt;/div&gt;</a:t>
                      </a:r>
                    </a:p>
                    <a:p>
                      <a:pPr algn="l" fontAlgn="b"/>
                      <a:endParaRPr lang="en-US" sz="1800" b="1" i="0" u="none" strike="noStrike" dirty="0">
                        <a:solidFill>
                          <a:srgbClr val="D43669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6729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rgbClr val="1A2326"/>
                          </a:solidFill>
                          <a:effectLst/>
                          <a:latin typeface="Helvetica Neue Light"/>
                        </a:rPr>
                        <a:t>Style</a:t>
                      </a: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1200" b="0" i="0" u="none" strike="noStrike" dirty="0">
                          <a:solidFill>
                            <a:srgbClr val="5C707A"/>
                          </a:solidFill>
                          <a:effectLst/>
                          <a:latin typeface="Monaco"/>
                        </a:rPr>
                        <a:t>style</a:t>
                      </a:r>
                      <a:r>
                        <a:rPr lang="pl-PL" sz="1400" b="0" i="0" u="none" strike="noStrike" dirty="0">
                          <a:solidFill>
                            <a:srgbClr val="1A2326"/>
                          </a:solidFill>
                          <a:effectLst/>
                          <a:latin typeface="Helvetica Neue Light"/>
                        </a:rPr>
                        <a:t> Property</a:t>
                      </a:r>
                      <a:endParaRPr lang="pl-PL" sz="1200" b="0" i="0" u="none" strike="noStrike" dirty="0">
                        <a:solidFill>
                          <a:srgbClr val="5C707A"/>
                        </a:solidFill>
                        <a:effectLst/>
                        <a:latin typeface="Monaco"/>
                      </a:endParaRP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800" b="1" i="0" u="none" strike="noStrike" dirty="0">
                        <a:solidFill>
                          <a:srgbClr val="D43669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algn="l" fontAlgn="b"/>
                      <a:r>
                        <a:rPr lang="en-US" sz="1800" b="1" i="0" u="none" strike="noStrike" dirty="0">
                          <a:solidFill>
                            <a:srgbClr val="D43669"/>
                          </a:solidFill>
                          <a:effectLst/>
                          <a:latin typeface="Consolas" panose="020B0609020204030204" pitchFamily="49" charset="0"/>
                        </a:rPr>
                        <a:t>&lt;button</a:t>
                      </a:r>
                      <a:r>
                        <a:rPr lang="en-US" sz="1800" b="1" i="0" u="none" strike="noStrike" dirty="0">
                          <a:solidFill>
                            <a:srgbClr val="5C707A"/>
                          </a:solidFill>
                          <a:effectLst/>
                          <a:latin typeface="Consolas" panose="020B0609020204030204" pitchFamily="49" charset="0"/>
                        </a:rPr>
                        <a:t> [</a:t>
                      </a:r>
                      <a:r>
                        <a:rPr lang="en-US" sz="1800" b="1" i="0" u="none" strike="noStrike" dirty="0" err="1">
                          <a:solidFill>
                            <a:srgbClr val="647F11"/>
                          </a:solidFill>
                          <a:effectLst/>
                          <a:latin typeface="Consolas" panose="020B0609020204030204" pitchFamily="49" charset="0"/>
                        </a:rPr>
                        <a:t>style</a:t>
                      </a:r>
                      <a:r>
                        <a:rPr lang="en-US" sz="1800" b="1" i="0" u="none" strike="noStrike" dirty="0" err="1">
                          <a:solidFill>
                            <a:srgbClr val="5C707A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en-US" sz="1800" b="1" i="0" u="none" strike="noStrike" dirty="0" err="1">
                          <a:solidFill>
                            <a:srgbClr val="647F11"/>
                          </a:solidFill>
                          <a:effectLst/>
                          <a:latin typeface="Consolas" panose="020B0609020204030204" pitchFamily="49" charset="0"/>
                        </a:rPr>
                        <a:t>color</a:t>
                      </a:r>
                      <a:r>
                        <a:rPr lang="en-US" sz="1800" b="1" i="0" u="none" strike="noStrike" dirty="0">
                          <a:solidFill>
                            <a:srgbClr val="5C707A"/>
                          </a:solidFill>
                          <a:effectLst/>
                          <a:latin typeface="Consolas" panose="020B0609020204030204" pitchFamily="49" charset="0"/>
                        </a:rPr>
                        <a:t>] </a:t>
                      </a:r>
                      <a:r>
                        <a:rPr lang="en-US" sz="1800" b="1" i="0" u="none" strike="noStrike" dirty="0">
                          <a:solidFill>
                            <a:srgbClr val="7A8B94"/>
                          </a:solidFill>
                          <a:effectLst/>
                          <a:latin typeface="Consolas" panose="020B0609020204030204" pitchFamily="49" charset="0"/>
                        </a:rPr>
                        <a:t>=</a:t>
                      </a:r>
                      <a:r>
                        <a:rPr lang="en-US" sz="1800" b="1" i="0" u="none" strike="noStrike" dirty="0">
                          <a:solidFill>
                            <a:srgbClr val="5C707A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800" b="1" i="0" u="none" strike="noStrike" dirty="0">
                          <a:solidFill>
                            <a:srgbClr val="647F11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sz="1800" b="1" i="0" u="none" strike="noStrike" dirty="0" err="1">
                          <a:solidFill>
                            <a:srgbClr val="647F11"/>
                          </a:solidFill>
                          <a:effectLst/>
                          <a:latin typeface="Consolas" panose="020B0609020204030204" pitchFamily="49" charset="0"/>
                        </a:rPr>
                        <a:t>isSpecial</a:t>
                      </a:r>
                      <a:r>
                        <a:rPr lang="en-US" sz="1800" b="1" i="0" u="none" strike="noStrike" dirty="0">
                          <a:solidFill>
                            <a:srgbClr val="647F11"/>
                          </a:solidFill>
                          <a:effectLst/>
                          <a:latin typeface="Consolas" panose="020B0609020204030204" pitchFamily="49" charset="0"/>
                        </a:rPr>
                        <a:t> ? 'red' : 'green'"</a:t>
                      </a:r>
                      <a:r>
                        <a:rPr lang="en-US" sz="1800" b="1" i="0" u="none" strike="noStrike" dirty="0">
                          <a:solidFill>
                            <a:srgbClr val="D43669"/>
                          </a:solidFill>
                          <a:effectLst/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algn="l" fontAlgn="b"/>
                      <a:endParaRPr lang="en-US" sz="1800" b="1" i="0" u="none" strike="noStrike" dirty="0">
                        <a:solidFill>
                          <a:srgbClr val="D43669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4440677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Personalizado 1">
      <a:dk1>
        <a:srgbClr val="1B1D39"/>
      </a:dk1>
      <a:lt1>
        <a:sysClr val="window" lastClr="FFFFFF"/>
      </a:lt1>
      <a:dk2>
        <a:srgbClr val="F5C200"/>
      </a:dk2>
      <a:lt2>
        <a:srgbClr val="E7E6E6"/>
      </a:lt2>
      <a:accent1>
        <a:srgbClr val="F5C200"/>
      </a:accent1>
      <a:accent2>
        <a:srgbClr val="1B1D39"/>
      </a:accent2>
      <a:accent3>
        <a:srgbClr val="A5A5A5"/>
      </a:accent3>
      <a:accent4>
        <a:srgbClr val="FFC000"/>
      </a:accent4>
      <a:accent5>
        <a:srgbClr val="F5C200"/>
      </a:accent5>
      <a:accent6>
        <a:srgbClr val="F5C200"/>
      </a:accent6>
      <a:hlink>
        <a:srgbClr val="0563C1"/>
      </a:hlink>
      <a:folHlink>
        <a:srgbClr val="954F72"/>
      </a:folHlink>
    </a:clrScheme>
    <a:fontScheme name="TecnoFor">
      <a:majorFont>
        <a:latin typeface="Lexend Bold"/>
        <a:ea typeface="Helvetica"/>
        <a:cs typeface="Helvetica"/>
      </a:majorFont>
      <a:minorFont>
        <a:latin typeface="Lexend"/>
        <a:ea typeface="Arial"/>
        <a:cs typeface="Arial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76200">
          <a:solidFill>
            <a:srgbClr val="1C1E3B"/>
          </a:solidFill>
          <a:extLst>
            <a:ext uri="{C807C97D-BFC1-408E-A445-0C87EB9F89A2}">
              <ask:lineSketchStyleProps xmlns:ask="http://schemas.microsoft.com/office/drawing/2018/sketchyshapes">
                <ask:type>
                  <ask:lineSketchNone/>
                </ask:type>
              </ask:lineSketchStyleProps>
            </a:ext>
          </a:extLst>
        </a:ln>
      </a:spPr>
      <a:bodyPr lIns="72000" tIns="36000" rIns="72000" bIns="36000" rtlCol="0" anchor="ctr" anchorCtr="1"/>
      <a:lstStyle>
        <a:defPPr algn="ctr">
          <a:defRPr sz="4000" dirty="0">
            <a:solidFill>
              <a:srgbClr val="1C1E3B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5267</Words>
  <Application>Microsoft Office PowerPoint</Application>
  <PresentationFormat>Personalizado</PresentationFormat>
  <Paragraphs>833</Paragraphs>
  <Slides>90</Slides>
  <Notes>10</Notes>
  <HiddenSlides>4</HiddenSlides>
  <MMClips>0</MMClips>
  <ScaleCrop>false</ScaleCrop>
  <HeadingPairs>
    <vt:vector size="6" baseType="variant">
      <vt:variant>
        <vt:lpstr>Fuentes usadas</vt:lpstr>
      </vt:variant>
      <vt:variant>
        <vt:i4>16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90</vt:i4>
      </vt:variant>
    </vt:vector>
  </HeadingPairs>
  <TitlesOfParts>
    <vt:vector size="107" baseType="lpstr">
      <vt:lpstr>Arial</vt:lpstr>
      <vt:lpstr>Calibri</vt:lpstr>
      <vt:lpstr>Consolas</vt:lpstr>
      <vt:lpstr>Helvetica Neue Light</vt:lpstr>
      <vt:lpstr>inherit</vt:lpstr>
      <vt:lpstr>Lexend</vt:lpstr>
      <vt:lpstr>Lexend Bold</vt:lpstr>
      <vt:lpstr>Lexend Light</vt:lpstr>
      <vt:lpstr>Lucida Console</vt:lpstr>
      <vt:lpstr>Lucida Sans Typewriter</vt:lpstr>
      <vt:lpstr>Monaco</vt:lpstr>
      <vt:lpstr>Open Sans</vt:lpstr>
      <vt:lpstr>Source Code Pro</vt:lpstr>
      <vt:lpstr>Tahoma</vt:lpstr>
      <vt:lpstr>Times New Roman</vt:lpstr>
      <vt:lpstr>Trebuchet MS</vt:lpstr>
      <vt:lpstr>1_Tema de Office</vt:lpstr>
      <vt:lpstr>Angular Templates and Forms</vt:lpstr>
      <vt:lpstr>Intro</vt:lpstr>
      <vt:lpstr>Estilos</vt:lpstr>
      <vt:lpstr>Estilos – El malo y el feo</vt:lpstr>
      <vt:lpstr>Formularios</vt:lpstr>
      <vt:lpstr>Formularios</vt:lpstr>
      <vt:lpstr>Creando formularios</vt:lpstr>
      <vt:lpstr>Formularios</vt:lpstr>
      <vt:lpstr>Formularios</vt:lpstr>
      <vt:lpstr>Plantillas  &lt;html&gt;</vt:lpstr>
      <vt:lpstr>Plantilla</vt:lpstr>
      <vt:lpstr>Presentación de PowerPoint</vt:lpstr>
      <vt:lpstr>@Component({</vt:lpstr>
      <vt:lpstr>@Component({</vt:lpstr>
      <vt:lpstr>Data Binding</vt:lpstr>
      <vt:lpstr>Data Binding</vt:lpstr>
      <vt:lpstr>Binding</vt:lpstr>
      <vt:lpstr>Presentación de PowerPoint</vt:lpstr>
      <vt:lpstr>Template Binding</vt:lpstr>
      <vt:lpstr>Interpolation</vt:lpstr>
      <vt:lpstr>La interpolación entre {{ }}</vt:lpstr>
      <vt:lpstr>La interpolación entre {{ }}</vt:lpstr>
      <vt:lpstr>Presentación de PowerPoint</vt:lpstr>
      <vt:lpstr>&lt;h1&gt;{{title}}&lt;/h1&gt;</vt:lpstr>
      <vt:lpstr>Directivas de interpolación</vt:lpstr>
      <vt:lpstr>Las tuberías |</vt:lpstr>
      <vt:lpstr>Las tuberías |</vt:lpstr>
      <vt:lpstr>Usando pipes</vt:lpstr>
      <vt:lpstr>Definiendo una pipe personalizada</vt:lpstr>
      <vt:lpstr>Usando una pipe personalizada</vt:lpstr>
      <vt:lpstr>Definiendo una pipe en un modulo compartido</vt:lpstr>
      <vt:lpstr>Usando una pipe de forma asíncrona</vt:lpstr>
      <vt:lpstr>Las tuberías |</vt:lpstr>
      <vt:lpstr>Las tuberías |</vt:lpstr>
      <vt:lpstr>Las tuberías |</vt:lpstr>
      <vt:lpstr>Las tuberías |</vt:lpstr>
      <vt:lpstr>Binding de propiedades</vt:lpstr>
      <vt:lpstr>Binding de propiedades</vt:lpstr>
      <vt:lpstr>Binding de propiedades (cont.)</vt:lpstr>
      <vt:lpstr>Presentación de PowerPoint</vt:lpstr>
      <vt:lpstr>&lt;h1&gt;{{title}}&lt;/h1&gt;</vt:lpstr>
      <vt:lpstr>Binding de eventos</vt:lpstr>
      <vt:lpstr>Binding de eventos</vt:lpstr>
      <vt:lpstr>Binding de eventos</vt:lpstr>
      <vt:lpstr>Presentación de PowerPoint</vt:lpstr>
      <vt:lpstr>&lt;h1&gt;{{title}}&lt;/h1&gt;</vt:lpstr>
      <vt:lpstr>Binding de dos vias</vt:lpstr>
      <vt:lpstr>Binding de dos vias</vt:lpstr>
      <vt:lpstr>Presentación de PowerPoint</vt:lpstr>
      <vt:lpstr>&lt;h1&gt;{{title}}&lt;/h1&gt;</vt:lpstr>
      <vt:lpstr>Binding de dos vias</vt:lpstr>
      <vt:lpstr>Template Binding</vt:lpstr>
      <vt:lpstr>Operador asterisco</vt:lpstr>
      <vt:lpstr>Presentación de PowerPoint</vt:lpstr>
      <vt:lpstr>Identificadores con #</vt:lpstr>
      <vt:lpstr>Presentación de PowerPoint</vt:lpstr>
      <vt:lpstr>Propiedades entre []</vt:lpstr>
      <vt:lpstr>Eventos entre ()</vt:lpstr>
      <vt:lpstr>Modelos entre [()]</vt:lpstr>
      <vt:lpstr>Operador Elvis ?.</vt:lpstr>
      <vt:lpstr>Presentación de PowerPoint</vt:lpstr>
      <vt:lpstr>Doble Binding</vt:lpstr>
      <vt:lpstr>Las repeticiones</vt:lpstr>
      <vt:lpstr>Las repeticiones *ngFor</vt:lpstr>
      <vt:lpstr>Tablas - Las repeticiones *ngFor</vt:lpstr>
      <vt:lpstr>Presentación de PowerPoint</vt:lpstr>
      <vt:lpstr>Condicionales</vt:lpstr>
      <vt:lpstr>Condicionales</vt:lpstr>
      <vt:lpstr>*ngIf</vt:lpstr>
      <vt:lpstr>Presentación de PowerPoint</vt:lpstr>
      <vt:lpstr>NgStyle</vt:lpstr>
      <vt:lpstr>Presentación de PowerPoint</vt:lpstr>
      <vt:lpstr>NgStyle</vt:lpstr>
      <vt:lpstr>NgClass</vt:lpstr>
      <vt:lpstr>Crea tus propias directivas</vt:lpstr>
      <vt:lpstr>Directivas</vt:lpstr>
      <vt:lpstr>Presentación de PowerPoint</vt:lpstr>
      <vt:lpstr>Modelo y controlador</vt:lpstr>
      <vt:lpstr>Modelo y Controlador</vt:lpstr>
      <vt:lpstr>Modelo simple</vt:lpstr>
      <vt:lpstr>Modelo</vt:lpstr>
      <vt:lpstr>El controlador</vt:lpstr>
      <vt:lpstr>El controlador</vt:lpstr>
      <vt:lpstr>El controlador</vt:lpstr>
      <vt:lpstr>99%</vt:lpstr>
      <vt:lpstr>1%</vt:lpstr>
      <vt:lpstr>Repasando  (Binding)</vt:lpstr>
      <vt:lpstr>Binding in templates</vt:lpstr>
      <vt:lpstr>Binding targets</vt:lpstr>
      <vt:lpstr>Binding targets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</dc:title>
  <dc:subject>Software Development Course</dc:subject>
  <dc:creator/>
  <cp:keywords>Template</cp:keywords>
  <dc:description>Software University Foundation - http://softuni.org</dc:description>
  <cp:lastModifiedBy/>
  <cp:revision>1</cp:revision>
  <dcterms:created xsi:type="dcterms:W3CDTF">2014-01-02T17:00:34Z</dcterms:created>
  <dcterms:modified xsi:type="dcterms:W3CDTF">2023-10-04T10:54:30Z</dcterms:modified>
  <cp:category>Template</cp:category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TC027879909991</vt:lpwstr>
  </property>
</Properties>
</file>