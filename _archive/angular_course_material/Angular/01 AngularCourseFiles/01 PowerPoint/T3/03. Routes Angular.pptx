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24" r:id="rId2"/>
  </p:sldMasterIdLst>
  <p:notesMasterIdLst>
    <p:notesMasterId r:id="rId73"/>
  </p:notesMasterIdLst>
  <p:handoutMasterIdLst>
    <p:handoutMasterId r:id="rId74"/>
  </p:handoutMasterIdLst>
  <p:sldIdLst>
    <p:sldId id="609" r:id="rId3"/>
    <p:sldId id="712" r:id="rId4"/>
    <p:sldId id="713" r:id="rId5"/>
    <p:sldId id="749" r:id="rId6"/>
    <p:sldId id="750" r:id="rId7"/>
    <p:sldId id="752" r:id="rId8"/>
    <p:sldId id="817" r:id="rId9"/>
    <p:sldId id="753" r:id="rId10"/>
    <p:sldId id="754" r:id="rId11"/>
    <p:sldId id="756" r:id="rId12"/>
    <p:sldId id="757" r:id="rId13"/>
    <p:sldId id="758" r:id="rId14"/>
    <p:sldId id="789" r:id="rId15"/>
    <p:sldId id="787" r:id="rId16"/>
    <p:sldId id="788" r:id="rId17"/>
    <p:sldId id="761" r:id="rId18"/>
    <p:sldId id="765" r:id="rId19"/>
    <p:sldId id="766" r:id="rId20"/>
    <p:sldId id="768" r:id="rId21"/>
    <p:sldId id="769" r:id="rId22"/>
    <p:sldId id="762" r:id="rId23"/>
    <p:sldId id="717" r:id="rId24"/>
    <p:sldId id="718" r:id="rId25"/>
    <p:sldId id="719" r:id="rId26"/>
    <p:sldId id="770" r:id="rId27"/>
    <p:sldId id="793" r:id="rId28"/>
    <p:sldId id="815" r:id="rId29"/>
    <p:sldId id="737" r:id="rId30"/>
    <p:sldId id="771" r:id="rId31"/>
    <p:sldId id="818" r:id="rId32"/>
    <p:sldId id="819" r:id="rId33"/>
    <p:sldId id="772" r:id="rId34"/>
    <p:sldId id="790" r:id="rId35"/>
    <p:sldId id="773" r:id="rId36"/>
    <p:sldId id="774" r:id="rId37"/>
    <p:sldId id="775" r:id="rId38"/>
    <p:sldId id="776" r:id="rId39"/>
    <p:sldId id="816" r:id="rId40"/>
    <p:sldId id="808" r:id="rId41"/>
    <p:sldId id="809" r:id="rId42"/>
    <p:sldId id="777" r:id="rId43"/>
    <p:sldId id="812" r:id="rId44"/>
    <p:sldId id="778" r:id="rId45"/>
    <p:sldId id="810" r:id="rId46"/>
    <p:sldId id="763" r:id="rId47"/>
    <p:sldId id="783" r:id="rId48"/>
    <p:sldId id="784" r:id="rId49"/>
    <p:sldId id="785" r:id="rId50"/>
    <p:sldId id="779" r:id="rId51"/>
    <p:sldId id="780" r:id="rId52"/>
    <p:sldId id="792" r:id="rId53"/>
    <p:sldId id="781" r:id="rId54"/>
    <p:sldId id="791" r:id="rId55"/>
    <p:sldId id="794" r:id="rId56"/>
    <p:sldId id="782" r:id="rId57"/>
    <p:sldId id="814" r:id="rId58"/>
    <p:sldId id="795" r:id="rId59"/>
    <p:sldId id="796" r:id="rId60"/>
    <p:sldId id="798" r:id="rId61"/>
    <p:sldId id="799" r:id="rId62"/>
    <p:sldId id="800" r:id="rId63"/>
    <p:sldId id="801" r:id="rId64"/>
    <p:sldId id="802" r:id="rId65"/>
    <p:sldId id="803" r:id="rId66"/>
    <p:sldId id="804" r:id="rId67"/>
    <p:sldId id="805" r:id="rId68"/>
    <p:sldId id="806" r:id="rId69"/>
    <p:sldId id="811" r:id="rId70"/>
    <p:sldId id="813" r:id="rId71"/>
    <p:sldId id="807" r:id="rId72"/>
  </p:sldIdLst>
  <p:sldSz cx="12188825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48D4357-E11A-4DE5-81E4-49C6B73B5D81}">
          <p14:sldIdLst>
            <p14:sldId id="609"/>
          </p14:sldIdLst>
        </p14:section>
        <p14:section name="Resume" id="{4C6CD7CE-4C5C-4256-BE95-6EC46516E444}">
          <p14:sldIdLst>
            <p14:sldId id="712"/>
            <p14:sldId id="713"/>
            <p14:sldId id="749"/>
            <p14:sldId id="750"/>
            <p14:sldId id="752"/>
            <p14:sldId id="817"/>
            <p14:sldId id="753"/>
            <p14:sldId id="754"/>
            <p14:sldId id="756"/>
            <p14:sldId id="757"/>
            <p14:sldId id="758"/>
            <p14:sldId id="789"/>
            <p14:sldId id="787"/>
            <p14:sldId id="788"/>
            <p14:sldId id="761"/>
            <p14:sldId id="765"/>
            <p14:sldId id="766"/>
            <p14:sldId id="768"/>
            <p14:sldId id="769"/>
            <p14:sldId id="762"/>
            <p14:sldId id="717"/>
            <p14:sldId id="718"/>
            <p14:sldId id="719"/>
            <p14:sldId id="770"/>
            <p14:sldId id="793"/>
            <p14:sldId id="815"/>
            <p14:sldId id="737"/>
            <p14:sldId id="771"/>
            <p14:sldId id="818"/>
            <p14:sldId id="819"/>
            <p14:sldId id="772"/>
            <p14:sldId id="790"/>
            <p14:sldId id="773"/>
            <p14:sldId id="774"/>
            <p14:sldId id="775"/>
            <p14:sldId id="776"/>
            <p14:sldId id="816"/>
            <p14:sldId id="808"/>
            <p14:sldId id="809"/>
            <p14:sldId id="777"/>
            <p14:sldId id="812"/>
            <p14:sldId id="778"/>
            <p14:sldId id="810"/>
            <p14:sldId id="763"/>
            <p14:sldId id="783"/>
            <p14:sldId id="784"/>
            <p14:sldId id="785"/>
            <p14:sldId id="779"/>
            <p14:sldId id="780"/>
            <p14:sldId id="792"/>
            <p14:sldId id="781"/>
            <p14:sldId id="791"/>
            <p14:sldId id="794"/>
            <p14:sldId id="782"/>
            <p14:sldId id="814"/>
            <p14:sldId id="795"/>
            <p14:sldId id="796"/>
            <p14:sldId id="798"/>
            <p14:sldId id="799"/>
            <p14:sldId id="800"/>
            <p14:sldId id="801"/>
            <p14:sldId id="802"/>
            <p14:sldId id="803"/>
            <p14:sldId id="804"/>
            <p14:sldId id="805"/>
            <p14:sldId id="806"/>
            <p14:sldId id="811"/>
            <p14:sldId id="813"/>
            <p14:sldId id="8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8AFA"/>
    <a:srgbClr val="FDFFFF"/>
    <a:srgbClr val="FFA72A"/>
    <a:srgbClr val="FFF0D9"/>
    <a:srgbClr val="F0F5FA"/>
    <a:srgbClr val="0097CC"/>
    <a:srgbClr val="603A14"/>
    <a:srgbClr val="E85C0E"/>
    <a:srgbClr val="BAB398"/>
    <a:srgbClr val="ADA48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3099" autoAdjust="0"/>
  </p:normalViewPr>
  <p:slideViewPr>
    <p:cSldViewPr>
      <p:cViewPr varScale="1">
        <p:scale>
          <a:sx n="103" d="100"/>
          <a:sy n="103" d="100"/>
        </p:scale>
        <p:origin x="756" y="10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1028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134" y="101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10/3/2023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‹Nº›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10/3/2023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ademiaBinaria/angular5/commit/464a5f0fd5f8975157793b0a3c13d7f61f890fa5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://softuni.org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ademiaBinaria/angular5/commit/464a5f0fd5f8975157793b0a3c13d7f61f890fa5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://softuni.org/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FA6BEF-0D01-42CD-AF49-6C72D33EA4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26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 se te olvide el cambio de la referencia al enrutador</a:t>
            </a:r>
          </a:p>
          <a:p>
            <a:endParaRPr lang="es-ES" dirty="0"/>
          </a:p>
          <a:p>
            <a:r>
              <a:rPr lang="en-U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{ </a:t>
            </a:r>
            <a:r>
              <a:rPr lang="en-US" sz="16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RouterModule</a:t>
            </a:r>
            <a:r>
              <a:rPr lang="en-U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 from "@angular/router";</a:t>
            </a:r>
          </a:p>
          <a:p>
            <a:br>
              <a:rPr 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363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Los enlaces web tradicionalmente se han resuelto con elementos </a:t>
            </a:r>
            <a:r>
              <a:rPr lang="es-ES" b="1" dirty="0"/>
              <a:t>&lt;a </a:t>
            </a:r>
            <a:r>
              <a:rPr lang="es-ES" b="1" dirty="0" err="1"/>
              <a:t>href</a:t>
            </a:r>
            <a:r>
              <a:rPr lang="es-ES" b="1" dirty="0"/>
              <a:t>=""&gt;&lt;/a&gt; </a:t>
            </a:r>
            <a:r>
              <a:rPr lang="es-ES" dirty="0"/>
              <a:t>dónde en su atributo </a:t>
            </a:r>
            <a:r>
              <a:rPr lang="es-ES" b="1" dirty="0" err="1"/>
              <a:t>href</a:t>
            </a:r>
            <a:r>
              <a:rPr lang="es-ES" dirty="0"/>
              <a:t> se asociaba la dirección a la cuál navegar ante el </a:t>
            </a:r>
            <a:r>
              <a:rPr lang="es-ES" dirty="0" err="1"/>
              <a:t>click</a:t>
            </a:r>
            <a:r>
              <a:rPr lang="es-ES" dirty="0"/>
              <a:t> del usuario. </a:t>
            </a:r>
          </a:p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566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375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284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328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621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ahora la funcionalidad de </a:t>
            </a:r>
            <a:r>
              <a:rPr lang="es-ES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routerLink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no mejora en nada a </a:t>
            </a:r>
            <a:r>
              <a:rPr lang="es-ES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Pero lo hará. Mientras tanto familiarízate con su sintaxis y… asegúrate de importar </a:t>
            </a:r>
            <a:r>
              <a:rPr lang="es-ES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RouterModule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en </a:t>
            </a:r>
            <a:r>
              <a:rPr lang="es-ES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not-found.module.ts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Puedes ver los cambios realizados hasta ahora en </a:t>
            </a:r>
            <a:r>
              <a:rPr lang="es-ES" sz="16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este </a:t>
            </a:r>
            <a:r>
              <a:rPr lang="es-ES" sz="160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commit</a:t>
            </a:r>
            <a:endParaRPr lang="es-ES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4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5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986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118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ahora la funcionalidad de </a:t>
            </a:r>
            <a:r>
              <a:rPr lang="es-ES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routerLink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no mejora en nada a </a:t>
            </a:r>
            <a:r>
              <a:rPr lang="es-ES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Pero lo hará. Mientras tanto familiarízate con su sintaxis y… asegúrate de importar </a:t>
            </a:r>
            <a:r>
              <a:rPr lang="es-ES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RouterModule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en </a:t>
            </a:r>
            <a:r>
              <a:rPr lang="es-ES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not-found.module.ts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Puedes ver los cambios realizados hasta ahora en </a:t>
            </a:r>
            <a:r>
              <a:rPr lang="es-ES" sz="16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este </a:t>
            </a:r>
            <a:r>
              <a:rPr lang="es-ES" sz="160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commit</a:t>
            </a:r>
            <a:endParaRPr lang="es-ES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4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5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506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es-ES" dirty="0"/>
              <a:t>El </a:t>
            </a:r>
            <a:r>
              <a:rPr lang="es-ES" altLang="es-ES" dirty="0" err="1"/>
              <a:t>framework</a:t>
            </a:r>
            <a:r>
              <a:rPr lang="es-ES" altLang="es-ES" dirty="0"/>
              <a:t> Angular trae muchas librerías para facilitar la vida al programador. Sólo hay que saber dónde están y cómo pedirlas. Para ello volvemos a la tecnología escogida, </a:t>
            </a:r>
            <a:r>
              <a:rPr lang="es-ES" altLang="es-ES" dirty="0" err="1"/>
              <a:t>TypeScript</a:t>
            </a:r>
            <a:r>
              <a:rPr lang="es-ES" altLang="es-ES" dirty="0"/>
              <a:t>, que permite las importaciones y la inyección de dependencias.</a:t>
            </a:r>
          </a:p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655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átula limp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6901E58-A1D8-A10A-D9D8-CE1515AF66D5}"/>
              </a:ext>
            </a:extLst>
          </p:cNvPr>
          <p:cNvSpPr/>
          <p:nvPr/>
        </p:nvSpPr>
        <p:spPr>
          <a:xfrm>
            <a:off x="5158485" y="1"/>
            <a:ext cx="7030341" cy="6858000"/>
          </a:xfrm>
          <a:prstGeom prst="rect">
            <a:avLst/>
          </a:prstGeom>
          <a:solidFill>
            <a:srgbClr val="1B1D3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1218834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799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927" y="2003899"/>
            <a:ext cx="5759538" cy="2879387"/>
          </a:xfrm>
        </p:spPr>
        <p:txBody>
          <a:bodyPr anchor="ctr" anchorCtr="1">
            <a:noAutofit/>
          </a:bodyPr>
          <a:lstStyle>
            <a:lvl1pPr algn="ctr">
              <a:defRPr sz="3999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pic>
        <p:nvPicPr>
          <p:cNvPr id="8" name="techie.png" descr="techie.png">
            <a:extLst>
              <a:ext uri="{FF2B5EF4-FFF2-40B4-BE49-F238E27FC236}">
                <a16:creationId xmlns:a16="http://schemas.microsoft.com/office/drawing/2014/main" id="{1153B63E-98A5-BBEE-9C6B-1057BEDC76E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4306441" y="2849298"/>
            <a:ext cx="1336200" cy="1336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LOGO-FINAL.png" descr="LOGO-FINAL.png">
            <a:extLst>
              <a:ext uri="{FF2B5EF4-FFF2-40B4-BE49-F238E27FC236}">
                <a16:creationId xmlns:a16="http://schemas.microsoft.com/office/drawing/2014/main" id="{40C008DC-BE4A-D4B5-81FB-D8FC4CA2A7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362" y="3037100"/>
            <a:ext cx="3933202" cy="78380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47891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átula con imagen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6901E58-A1D8-A10A-D9D8-CE1515AF66D5}"/>
              </a:ext>
            </a:extLst>
          </p:cNvPr>
          <p:cNvSpPr/>
          <p:nvPr/>
        </p:nvSpPr>
        <p:spPr>
          <a:xfrm>
            <a:off x="5158485" y="-8466"/>
            <a:ext cx="7030341" cy="6858000"/>
          </a:xfrm>
          <a:prstGeom prst="rect">
            <a:avLst/>
          </a:prstGeom>
          <a:solidFill>
            <a:srgbClr val="1B1D3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1218834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799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927" y="2003899"/>
            <a:ext cx="5759538" cy="2879387"/>
          </a:xfrm>
        </p:spPr>
        <p:txBody>
          <a:bodyPr anchor="ctr" anchorCtr="1">
            <a:noAutofit/>
          </a:bodyPr>
          <a:lstStyle>
            <a:lvl1pPr algn="ctr">
              <a:defRPr sz="3999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pic>
        <p:nvPicPr>
          <p:cNvPr id="8" name="techie.png" descr="techie.png">
            <a:extLst>
              <a:ext uri="{FF2B5EF4-FFF2-40B4-BE49-F238E27FC236}">
                <a16:creationId xmlns:a16="http://schemas.microsoft.com/office/drawing/2014/main" id="{1153B63E-98A5-BBEE-9C6B-1057BEDC76E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4306441" y="2849298"/>
            <a:ext cx="1336200" cy="1336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agen 4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64B3FB7A-0102-D659-3C30-C1C4C3659A5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2983" y="5840440"/>
            <a:ext cx="2457425" cy="469081"/>
          </a:xfrm>
          <a:prstGeom prst="rect">
            <a:avLst/>
          </a:prstGeom>
        </p:spPr>
      </p:pic>
      <p:pic>
        <p:nvPicPr>
          <p:cNvPr id="6" name="Imagen 5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E0D610C9-30BB-C209-BCCA-3BCE95C72D7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2983" y="5840440"/>
            <a:ext cx="2457425" cy="46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601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dor">
    <p:bg>
      <p:bgPr>
        <a:solidFill>
          <a:srgbClr val="1C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AE9D3631-5A5C-021D-E659-1D384017DB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468" y="6329921"/>
            <a:ext cx="1345323" cy="256799"/>
          </a:xfrm>
          <a:prstGeom prst="rect">
            <a:avLst/>
          </a:prstGeom>
        </p:spPr>
      </p:pic>
      <p:sp>
        <p:nvSpPr>
          <p:cNvPr id="4" name="Google Shape;48;p8">
            <a:extLst>
              <a:ext uri="{FF2B5EF4-FFF2-40B4-BE49-F238E27FC236}">
                <a16:creationId xmlns:a16="http://schemas.microsoft.com/office/drawing/2014/main" id="{3F57A50C-DED0-9A4A-F7C8-CD569FF06F43}"/>
              </a:ext>
            </a:extLst>
          </p:cNvPr>
          <p:cNvSpPr/>
          <p:nvPr/>
        </p:nvSpPr>
        <p:spPr>
          <a:xfrm>
            <a:off x="950719" y="-69"/>
            <a:ext cx="10287322" cy="68580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599" y="0"/>
                </a:lnTo>
                <a:lnTo>
                  <a:pt x="21600" y="0"/>
                </a:lnTo>
                <a:lnTo>
                  <a:pt x="18001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799" dirty="0"/>
          </a:p>
        </p:txBody>
      </p:sp>
      <p:pic>
        <p:nvPicPr>
          <p:cNvPr id="5" name="techie.png" descr="techie.png">
            <a:extLst>
              <a:ext uri="{FF2B5EF4-FFF2-40B4-BE49-F238E27FC236}">
                <a16:creationId xmlns:a16="http://schemas.microsoft.com/office/drawing/2014/main" id="{4B8A62A0-CE43-5FE0-5996-117855E878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7818" y="775699"/>
            <a:ext cx="1180194" cy="118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techie.png" descr="techie.png">
            <a:extLst>
              <a:ext uri="{FF2B5EF4-FFF2-40B4-BE49-F238E27FC236}">
                <a16:creationId xmlns:a16="http://schemas.microsoft.com/office/drawing/2014/main" id="{F34A3DA2-C704-C58B-4D16-8D97BC00AA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102611" y="4975166"/>
            <a:ext cx="1180194" cy="118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F3F2153-8EA8-5CEA-0F22-9F81F2479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931" y="1268413"/>
            <a:ext cx="7444903" cy="1349282"/>
          </a:xfrm>
        </p:spPr>
        <p:txBody>
          <a:bodyPr anchor="ctr" anchorCtr="1">
            <a:normAutofit/>
          </a:bodyPr>
          <a:lstStyle>
            <a:lvl1pPr algn="ctr">
              <a:defRPr sz="3299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02379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F21244-DF76-B9A4-1238-3157FB675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457201"/>
            <a:ext cx="11201400" cy="533400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6D7AF6-E8C0-B5DD-B9A1-3CA878371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066800"/>
            <a:ext cx="11201400" cy="54483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399">
                <a:solidFill>
                  <a:schemeClr val="accent2">
                    <a:lumMod val="75000"/>
                  </a:schemeClr>
                </a:solidFill>
              </a:defRPr>
            </a:lvl1pPr>
            <a:lvl2pPr>
              <a:buFont typeface="Arial" panose="020B0604020202020204" pitchFamily="34" charset="0"/>
              <a:buChar char="•"/>
              <a:defRPr sz="1999">
                <a:solidFill>
                  <a:schemeClr val="accent2">
                    <a:lumMod val="75000"/>
                  </a:schemeClr>
                </a:solidFill>
              </a:defRPr>
            </a:lvl2pPr>
            <a:lvl3pPr>
              <a:buFont typeface="Arial" panose="020B0604020202020204" pitchFamily="34" charset="0"/>
              <a:buChar char="•"/>
              <a:defRPr sz="1799">
                <a:solidFill>
                  <a:schemeClr val="accent2">
                    <a:lumMod val="75000"/>
                  </a:schemeClr>
                </a:solidFill>
              </a:defRPr>
            </a:lvl3pPr>
            <a:lvl4pPr>
              <a:buFont typeface="Arial" panose="020B0604020202020204" pitchFamily="34" charset="0"/>
              <a:buChar char="•"/>
              <a:defRPr sz="16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buFont typeface="Arial" panose="020B0604020202020204" pitchFamily="34" charset="0"/>
              <a:buChar char="•"/>
              <a:defRPr sz="14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7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803352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2833" y="4406902"/>
            <a:ext cx="10360501" cy="1362075"/>
          </a:xfrm>
          <a:prstGeom prst="rect">
            <a:avLst/>
          </a:prstGeom>
        </p:spPr>
        <p:txBody>
          <a:bodyPr/>
          <a:lstStyle>
            <a:lvl1pPr algn="l">
              <a:defRPr sz="3999" b="1" cap="all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99"/>
            </a:lvl1pPr>
            <a:lvl2pPr marL="457063" indent="0">
              <a:buNone/>
              <a:defRPr sz="1799"/>
            </a:lvl2pPr>
            <a:lvl3pPr marL="914126" indent="0">
              <a:buNone/>
              <a:defRPr sz="1600"/>
            </a:lvl3pPr>
            <a:lvl4pPr marL="1371189" indent="0">
              <a:buNone/>
              <a:defRPr sz="1400"/>
            </a:lvl4pPr>
            <a:lvl5pPr marL="1828251" indent="0">
              <a:buNone/>
              <a:defRPr sz="1400"/>
            </a:lvl5pPr>
            <a:lvl6pPr marL="2285314" indent="0">
              <a:buNone/>
              <a:defRPr sz="1400"/>
            </a:lvl6pPr>
            <a:lvl7pPr marL="2742377" indent="0">
              <a:buNone/>
              <a:defRPr sz="1400"/>
            </a:lvl7pPr>
            <a:lvl8pPr marL="3199440" indent="0">
              <a:buNone/>
              <a:defRPr sz="1400"/>
            </a:lvl8pPr>
            <a:lvl9pPr marL="3656503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06970192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25682E51-C6CE-76F7-769C-C200EAF00254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</p:spTree>
    <p:extLst>
      <p:ext uri="{BB962C8B-B14F-4D97-AF65-F5344CB8AC3E}">
        <p14:creationId xmlns:p14="http://schemas.microsoft.com/office/powerpoint/2010/main" val="1534615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619" y="1268412"/>
            <a:ext cx="11299332" cy="4860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pic>
        <p:nvPicPr>
          <p:cNvPr id="9" name="LOGO-FINAL.png" descr="LOGO-FINAL.png">
            <a:extLst>
              <a:ext uri="{FF2B5EF4-FFF2-40B4-BE49-F238E27FC236}">
                <a16:creationId xmlns:a16="http://schemas.microsoft.com/office/drawing/2014/main" id="{FD1127DC-3633-9F91-EAC6-DF84F02D8D8F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6564" y="6323743"/>
            <a:ext cx="1391279" cy="2772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techie.png" descr="techie.png">
            <a:extLst>
              <a:ext uri="{FF2B5EF4-FFF2-40B4-BE49-F238E27FC236}">
                <a16:creationId xmlns:a16="http://schemas.microsoft.com/office/drawing/2014/main" id="{E9C3B265-6261-C31F-6626-0F2960C3D37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670" y="206462"/>
            <a:ext cx="437900" cy="43801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4619" y="381000"/>
            <a:ext cx="11298538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730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31" r:id="rId5"/>
    <p:sldLayoutId id="2147483732" r:id="rId6"/>
    <p:sldLayoutId id="2147483740" r:id="rId7"/>
  </p:sldLayoutIdLst>
  <p:hf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Clr>
          <a:srgbClr val="F5C200"/>
        </a:buClr>
        <a:buFont typeface="Arial" panose="020B0604020202020204" pitchFamily="34" charset="0"/>
        <a:buChar char="•"/>
        <a:defRPr sz="2799" kern="1200">
          <a:solidFill>
            <a:srgbClr val="1C1E3B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23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9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7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7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45">
          <p15:clr>
            <a:srgbClr val="F26B43"/>
          </p15:clr>
        </p15:guide>
        <p15:guide id="2" pos="423">
          <p15:clr>
            <a:srgbClr val="F26B43"/>
          </p15:clr>
        </p15:guide>
        <p15:guide id="3" pos="14938">
          <p15:clr>
            <a:srgbClr val="F26B43"/>
          </p15:clr>
        </p15:guide>
        <p15:guide id="4" orient="horz" pos="1598">
          <p15:clr>
            <a:srgbClr val="F26B43"/>
          </p15:clr>
        </p15:guide>
        <p15:guide id="5" orient="horz" pos="794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927" y="2003899"/>
            <a:ext cx="5759538" cy="2879387"/>
          </a:xfrm>
        </p:spPr>
        <p:txBody>
          <a:bodyPr>
            <a:normAutofit/>
          </a:bodyPr>
          <a:lstStyle/>
          <a:p>
            <a:r>
              <a:rPr lang="en-US"/>
              <a:t>Angular</a:t>
            </a:r>
            <a:br>
              <a:rPr lang="en-US" dirty="0"/>
            </a:br>
            <a:r>
              <a:rPr lang="en-US" dirty="0"/>
              <a:t>Routes</a:t>
            </a:r>
          </a:p>
        </p:txBody>
      </p:sp>
    </p:spTree>
    <p:extLst>
      <p:ext uri="{BB962C8B-B14F-4D97-AF65-F5344CB8AC3E}">
        <p14:creationId xmlns:p14="http://schemas.microsoft.com/office/powerpoint/2010/main" val="137084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Router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3822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Router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EEC6EE1-3C58-4F34-A5CA-F6C451B65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Intro</a:t>
            </a:r>
            <a:endParaRPr lang="es-ES" dirty="0"/>
          </a:p>
          <a:p>
            <a:r>
              <a:rPr lang="es-ES" dirty="0" err="1"/>
              <a:t>Router</a:t>
            </a:r>
            <a:r>
              <a:rPr lang="es-ES" dirty="0"/>
              <a:t> Module</a:t>
            </a:r>
          </a:p>
          <a:p>
            <a:r>
              <a:rPr lang="es-ES" dirty="0" err="1"/>
              <a:t>Router</a:t>
            </a:r>
            <a:r>
              <a:rPr lang="es-ES" dirty="0"/>
              <a:t> Outlet</a:t>
            </a:r>
          </a:p>
          <a:p>
            <a:r>
              <a:rPr lang="es-ES" dirty="0" err="1"/>
              <a:t>Router</a:t>
            </a:r>
            <a:r>
              <a:rPr lang="es-ES" dirty="0"/>
              <a:t> </a:t>
            </a:r>
            <a:r>
              <a:rPr lang="es-ES" dirty="0" err="1"/>
              <a:t>Redirect</a:t>
            </a:r>
            <a:endParaRPr lang="es-ES" dirty="0"/>
          </a:p>
          <a:p>
            <a:r>
              <a:rPr lang="es-ES" dirty="0" err="1"/>
              <a:t>Navigating</a:t>
            </a:r>
            <a:r>
              <a:rPr lang="es-ES" dirty="0"/>
              <a:t> </a:t>
            </a:r>
            <a:r>
              <a:rPr lang="es-ES" dirty="0" err="1"/>
              <a:t>Routes</a:t>
            </a:r>
            <a:endParaRPr lang="es-ES" dirty="0"/>
          </a:p>
          <a:p>
            <a:r>
              <a:rPr lang="es-ES" dirty="0" err="1"/>
              <a:t>Route</a:t>
            </a:r>
            <a:r>
              <a:rPr lang="es-ES" dirty="0"/>
              <a:t> </a:t>
            </a:r>
            <a:r>
              <a:rPr lang="es-ES" dirty="0" err="1"/>
              <a:t>Parameters</a:t>
            </a:r>
            <a:endParaRPr lang="es-ES" dirty="0"/>
          </a:p>
          <a:p>
            <a:r>
              <a:rPr lang="es-ES" dirty="0" err="1"/>
              <a:t>Query</a:t>
            </a:r>
            <a:r>
              <a:rPr lang="es-ES" dirty="0"/>
              <a:t> </a:t>
            </a:r>
            <a:r>
              <a:rPr lang="es-ES" dirty="0" err="1"/>
              <a:t>Parameters</a:t>
            </a:r>
            <a:endParaRPr lang="es-ES" dirty="0"/>
          </a:p>
          <a:p>
            <a:r>
              <a:rPr lang="es-ES" dirty="0"/>
              <a:t>Child </a:t>
            </a:r>
            <a:r>
              <a:rPr lang="es-ES" dirty="0" err="1"/>
              <a:t>Routes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0751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BFB5C23-6B31-4901-889B-2CB4A3C3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Intro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804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s-ES" dirty="0"/>
              <a:t>Páginas y rutas Angular SPA</a:t>
            </a:r>
            <a:endParaRPr lang="en-US" sz="3800" dirty="0"/>
          </a:p>
        </p:txBody>
      </p:sp>
      <p:sp>
        <p:nvSpPr>
          <p:cNvPr id="4700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s-ES" dirty="0"/>
              <a:t>Las </a:t>
            </a:r>
            <a:r>
              <a:rPr lang="es-ES" b="1" dirty="0"/>
              <a:t>aplicaciones Angular son conjuntos de páginas enrutadas</a:t>
            </a:r>
            <a:r>
              <a:rPr lang="es-ES" dirty="0"/>
              <a:t> en el propio navegador. </a:t>
            </a:r>
          </a:p>
          <a:p>
            <a:pPr fontAlgn="base"/>
            <a:r>
              <a:rPr lang="es-ES" dirty="0"/>
              <a:t>Son las conocidas </a:t>
            </a:r>
            <a:r>
              <a:rPr lang="es-ES" b="1" i="1" dirty="0"/>
              <a:t>SPA, Single Page </a:t>
            </a:r>
            <a:r>
              <a:rPr lang="es-ES" b="1" i="1" dirty="0" err="1"/>
              <a:t>Applications</a:t>
            </a:r>
            <a:r>
              <a:rPr lang="es-ES" dirty="0"/>
              <a:t>. Estas apps liberan al servidor de una parte del trabajo, reducen la cantidad de llamadas y mejoran la percepción de velocidad del usuario. </a:t>
            </a:r>
          </a:p>
          <a:p>
            <a:pPr fontAlgn="base"/>
            <a:r>
              <a:rPr lang="es-ES" dirty="0"/>
              <a:t>Seguimos usando el concepto de árbol, ahora como analogía de las </a:t>
            </a:r>
            <a:r>
              <a:rPr lang="es-ES" b="1" dirty="0"/>
              <a:t>rutas y las vistas </a:t>
            </a:r>
            <a:r>
              <a:rPr lang="es-ES" dirty="0"/>
              <a:t>asociadas. Algo que se consigue fácilmente con </a:t>
            </a:r>
            <a:r>
              <a:rPr lang="es-ES" b="1" dirty="0"/>
              <a:t>@angular/</a:t>
            </a:r>
            <a:r>
              <a:rPr lang="es-ES" b="1" dirty="0" err="1"/>
              <a:t>router</a:t>
            </a:r>
            <a:r>
              <a:rPr lang="es-ES" b="1" dirty="0"/>
              <a:t> </a:t>
            </a:r>
            <a:r>
              <a:rPr lang="es-ES" dirty="0"/>
              <a:t>(el enrutador de Angular).</a:t>
            </a:r>
          </a:p>
          <a:p>
            <a:pPr fontAlgn="base"/>
            <a:endParaRPr lang="es-ES" dirty="0"/>
          </a:p>
          <a:p>
            <a:pPr fontAlgn="base"/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245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D306576-D629-4C20-A9C7-760582ED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Rutas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220F784-AE22-4D06-8872-41A9F4DB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Al crear la aplicación hicimos uso del </a:t>
            </a:r>
            <a:r>
              <a:rPr lang="es-ES" dirty="0" err="1"/>
              <a:t>flag</a:t>
            </a:r>
            <a:r>
              <a:rPr lang="es-ES" dirty="0"/>
              <a:t> </a:t>
            </a:r>
            <a:r>
              <a:rPr lang="es-ES" b="1" dirty="0" err="1"/>
              <a:t>routing</a:t>
            </a:r>
            <a:r>
              <a:rPr lang="es-ES" b="1" dirty="0"/>
              <a:t> true </a:t>
            </a:r>
            <a:r>
              <a:rPr lang="es-ES" dirty="0"/>
              <a:t>en el comando de generación del proyecto. Esto causó la aparición de no uno, sino dos módulos gemelos en la raíz de la aplicación. </a:t>
            </a:r>
          </a:p>
          <a:p>
            <a:r>
              <a:rPr lang="es-ES" dirty="0"/>
              <a:t>Hemos revisado el </a:t>
            </a:r>
            <a:r>
              <a:rPr lang="es-ES" b="1" dirty="0" err="1"/>
              <a:t>AppModule</a:t>
            </a:r>
            <a:r>
              <a:rPr lang="es-ES" b="1" dirty="0"/>
              <a:t>,</a:t>
            </a:r>
            <a:r>
              <a:rPr lang="es-ES" dirty="0"/>
              <a:t> verdadero módulo raíz, y ahora veremos su gemelo: el </a:t>
            </a:r>
            <a:r>
              <a:rPr lang="es-ES" b="1" dirty="0"/>
              <a:t>módulo de enrutado </a:t>
            </a:r>
            <a:r>
              <a:rPr lang="es-ES" dirty="0"/>
              <a:t>'</a:t>
            </a:r>
            <a:r>
              <a:rPr lang="es-ES" b="1" dirty="0" err="1"/>
              <a:t>AppRoutingModule</a:t>
            </a:r>
            <a:r>
              <a:rPr lang="es-ES" dirty="0"/>
              <a:t>'.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9691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355186D-F994-C3DF-FDED-E51CD3EFF130}"/>
              </a:ext>
            </a:extLst>
          </p:cNvPr>
          <p:cNvSpPr txBox="1"/>
          <p:nvPr/>
        </p:nvSpPr>
        <p:spPr>
          <a:xfrm>
            <a:off x="1446212" y="2743200"/>
            <a:ext cx="34290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Home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584DC1A-F175-5385-BB9A-CB5048F1B981}"/>
              </a:ext>
            </a:extLst>
          </p:cNvPr>
          <p:cNvSpPr txBox="1"/>
          <p:nvPr/>
        </p:nvSpPr>
        <p:spPr>
          <a:xfrm>
            <a:off x="6627812" y="838200"/>
            <a:ext cx="34290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Pedidos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E436934-1618-5DC2-1134-3FD0ACBAD845}"/>
              </a:ext>
            </a:extLst>
          </p:cNvPr>
          <p:cNvSpPr txBox="1"/>
          <p:nvPr/>
        </p:nvSpPr>
        <p:spPr>
          <a:xfrm>
            <a:off x="6651106" y="2558534"/>
            <a:ext cx="34290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Articulos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E2B72E9-59B0-3308-F410-7BD72F213B03}"/>
              </a:ext>
            </a:extLst>
          </p:cNvPr>
          <p:cNvSpPr txBox="1"/>
          <p:nvPr/>
        </p:nvSpPr>
        <p:spPr>
          <a:xfrm>
            <a:off x="1446212" y="3244334"/>
            <a:ext cx="34290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HomeRouter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19817B2-3892-78D9-EF25-CBFEDF27E4ED}"/>
              </a:ext>
            </a:extLst>
          </p:cNvPr>
          <p:cNvSpPr txBox="1"/>
          <p:nvPr/>
        </p:nvSpPr>
        <p:spPr>
          <a:xfrm>
            <a:off x="6654216" y="1329035"/>
            <a:ext cx="34290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PedidosRouter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BB2BB2C-36AF-068D-7169-D93265F6ED69}"/>
              </a:ext>
            </a:extLst>
          </p:cNvPr>
          <p:cNvSpPr txBox="1"/>
          <p:nvPr/>
        </p:nvSpPr>
        <p:spPr>
          <a:xfrm>
            <a:off x="6651106" y="3059668"/>
            <a:ext cx="34290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ArticulosRouter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8244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946934A-82E7-4F1A-A4BD-B50E6BB0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RouterModule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5883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7F1CE46-7EA7-498E-9417-1C82EB5C3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RouterModule</a:t>
            </a:r>
            <a:endParaRPr lang="es-ES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D481706C-22F7-438D-8600-0EE957523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Este módulo cumple dos funciones:</a:t>
            </a:r>
          </a:p>
          <a:p>
            <a:pPr lvl="1"/>
            <a:r>
              <a:rPr lang="es-ES" dirty="0"/>
              <a:t>Por un lado </a:t>
            </a:r>
            <a:r>
              <a:rPr lang="es-ES" b="1" dirty="0"/>
              <a:t>importa al </a:t>
            </a:r>
            <a:r>
              <a:rPr lang="es-ES" b="1" dirty="0" err="1"/>
              <a:t>RouterModule</a:t>
            </a:r>
            <a:r>
              <a:rPr lang="es-ES" b="1" dirty="0"/>
              <a:t> </a:t>
            </a:r>
            <a:r>
              <a:rPr lang="es-ES" dirty="0"/>
              <a:t>que contiene toda la lógica necesaria para enrutar en el navegador. </a:t>
            </a:r>
          </a:p>
          <a:p>
            <a:pPr lvl="1"/>
            <a:r>
              <a:rPr lang="es-ES" dirty="0"/>
              <a:t>Por otro lado, permite la </a:t>
            </a:r>
            <a:r>
              <a:rPr lang="es-ES" b="1" dirty="0"/>
              <a:t>definición de rutas </a:t>
            </a:r>
            <a:r>
              <a:rPr lang="es-ES" dirty="0"/>
              <a:t>en el array </a:t>
            </a:r>
            <a:r>
              <a:rPr lang="es-ES" b="1" dirty="0" err="1"/>
              <a:t>Routes</a:t>
            </a:r>
            <a:r>
              <a:rPr lang="es-ES" b="1" dirty="0"/>
              <a:t>[]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5904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RouterModule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Editamos el fichero </a:t>
            </a:r>
            <a:r>
              <a:rPr lang="es-ES" b="1" dirty="0"/>
              <a:t>app-</a:t>
            </a:r>
            <a:r>
              <a:rPr lang="es-ES" b="1" dirty="0" err="1"/>
              <a:t>routing.module.ts</a:t>
            </a:r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3838B-89EA-4867-8C7C-4D118786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676400"/>
            <a:ext cx="9599611" cy="397031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import { NgModule } from '@angular/core';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import { HomeComponent } from "./views/home/home.component";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import { Routes, RouterModule } from '@angular/router';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const routes: Routes = [{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path: "",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component: HomeComponent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}];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@NgModule({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imports: [RouterModule.forRoot(routes)],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exports: [RouterModule]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})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export class AppRoutingModule {}</a:t>
            </a:r>
          </a:p>
        </p:txBody>
      </p:sp>
    </p:spTree>
    <p:extLst>
      <p:ext uri="{BB962C8B-B14F-4D97-AF65-F5344CB8AC3E}">
        <p14:creationId xmlns:p14="http://schemas.microsoft.com/office/powerpoint/2010/main" val="3903656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28630-0610-4F65-9F79-52CD6FD4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RouterModule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29B8F7-DD20-48FD-A2B4-9998F956B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</a:t>
            </a:r>
            <a:r>
              <a:rPr lang="es-ES" b="1" dirty="0"/>
              <a:t>array de rutas </a:t>
            </a:r>
            <a:r>
              <a:rPr lang="es-ES" dirty="0"/>
              <a:t>recibe </a:t>
            </a:r>
            <a:r>
              <a:rPr lang="es-ES" b="1" dirty="0"/>
              <a:t>objetos con propiedades </a:t>
            </a:r>
            <a:r>
              <a:rPr lang="es-ES" dirty="0"/>
              <a:t>de configuración. </a:t>
            </a:r>
          </a:p>
          <a:p>
            <a:pPr lvl="1"/>
            <a:r>
              <a:rPr lang="es-ES" dirty="0"/>
              <a:t>La primera es </a:t>
            </a:r>
            <a:r>
              <a:rPr lang="es-ES" b="1" dirty="0" err="1">
                <a:solidFill>
                  <a:srgbClr val="FF0000"/>
                </a:solidFill>
              </a:rPr>
              <a:t>path</a:t>
            </a:r>
            <a:r>
              <a:rPr lang="es-ES" dirty="0"/>
              <a:t>: en la que se especifica la dirección que resuelve, en este caso la ruta vacía o raíz del árbol de rutas. </a:t>
            </a:r>
          </a:p>
          <a:p>
            <a:pPr lvl="1"/>
            <a:r>
              <a:rPr lang="es-ES" dirty="0"/>
              <a:t>Otra propiedad fundamental es </a:t>
            </a:r>
            <a:r>
              <a:rPr lang="es-ES" b="1" dirty="0" err="1">
                <a:solidFill>
                  <a:srgbClr val="FF0000"/>
                </a:solidFill>
              </a:rPr>
              <a:t>component</a:t>
            </a:r>
            <a:r>
              <a:rPr lang="es-ES" dirty="0"/>
              <a:t> la cual indica el componente que se debe mostrar cuando esta ruta se active.</a:t>
            </a:r>
          </a:p>
          <a:p>
            <a:r>
              <a:rPr lang="es-ES" dirty="0"/>
              <a:t>En este caso hemos aprovechado el componente </a:t>
            </a:r>
            <a:r>
              <a:rPr lang="es-ES" b="1" dirty="0" err="1"/>
              <a:t>HomeComponent</a:t>
            </a:r>
            <a:r>
              <a:rPr lang="es-ES" dirty="0"/>
              <a:t> para asociarlo a la ruta raíz. </a:t>
            </a:r>
          </a:p>
          <a:p>
            <a:pPr lvl="1"/>
            <a:r>
              <a:rPr lang="es-ES" dirty="0"/>
              <a:t>Pero, ¿qué pasará con dicho componente? ¿dónde se cargará?. </a:t>
            </a:r>
          </a:p>
          <a:p>
            <a:r>
              <a:rPr lang="es-ES" dirty="0"/>
              <a:t>Presentemos a </a:t>
            </a:r>
            <a:r>
              <a:rPr lang="es-ES" b="1" dirty="0">
                <a:solidFill>
                  <a:srgbClr val="FF0000"/>
                </a:solidFill>
              </a:rPr>
              <a:t>&lt;</a:t>
            </a:r>
            <a:r>
              <a:rPr lang="es-ES" b="1" dirty="0" err="1">
                <a:solidFill>
                  <a:srgbClr val="FF0000"/>
                </a:solidFill>
              </a:rPr>
              <a:t>router</a:t>
            </a:r>
            <a:r>
              <a:rPr lang="es-ES" b="1" dirty="0">
                <a:solidFill>
                  <a:srgbClr val="FF0000"/>
                </a:solidFill>
              </a:rPr>
              <a:t>-outlet&gt;…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10441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946934A-82E7-4F1A-A4BD-B50E6BB0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Router</a:t>
            </a:r>
            <a:r>
              <a:rPr lang="es-ES" dirty="0"/>
              <a:t> Outlet</a:t>
            </a:r>
          </a:p>
        </p:txBody>
      </p:sp>
    </p:spTree>
    <p:extLst>
      <p:ext uri="{BB962C8B-B14F-4D97-AF65-F5344CB8AC3E}">
        <p14:creationId xmlns:p14="http://schemas.microsoft.com/office/powerpoint/2010/main" val="142298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RouterModule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idea general de una </a:t>
            </a:r>
            <a:r>
              <a:rPr lang="es-ES" b="1" dirty="0"/>
              <a:t>SPA</a:t>
            </a:r>
            <a:r>
              <a:rPr lang="es-ES" dirty="0"/>
              <a:t> es tener una única página que cargue dinámicamente otras vistas. </a:t>
            </a:r>
          </a:p>
          <a:p>
            <a:pPr lvl="1"/>
            <a:r>
              <a:rPr lang="es-ES" dirty="0"/>
              <a:t>Normalmente la página contenedora mantiene el menú de navegación, el pie de página y otras áreas comunes. </a:t>
            </a:r>
          </a:p>
          <a:p>
            <a:pPr lvl="1"/>
            <a:r>
              <a:rPr lang="es-ES" dirty="0"/>
              <a:t>Y deja un espacio para la carga dinámica. </a:t>
            </a:r>
          </a:p>
          <a:p>
            <a:pPr lvl="1"/>
            <a:r>
              <a:rPr lang="es-ES" dirty="0"/>
              <a:t>Para ello </a:t>
            </a:r>
            <a:r>
              <a:rPr lang="es-ES" b="1" dirty="0">
                <a:solidFill>
                  <a:srgbClr val="FF0000"/>
                </a:solidFill>
              </a:rPr>
              <a:t>necesitamos saber qué componente cargar y dónde mostrarlo</a:t>
            </a:r>
            <a:r>
              <a:rPr lang="es-ES" dirty="0"/>
              <a:t>. </a:t>
            </a:r>
          </a:p>
          <a:p>
            <a:r>
              <a:rPr lang="es-ES" dirty="0"/>
              <a:t>De esto último se ocupa la etiqueta</a:t>
            </a:r>
            <a:r>
              <a:rPr lang="es-ES" b="1" dirty="0"/>
              <a:t> &lt;</a:t>
            </a:r>
            <a:r>
              <a:rPr lang="es-ES" b="1" dirty="0" err="1"/>
              <a:t>router</a:t>
            </a:r>
            <a:r>
              <a:rPr lang="es-ES" b="1" dirty="0"/>
              <a:t>-outlet&gt;&lt;/</a:t>
            </a:r>
            <a:r>
              <a:rPr lang="es-ES" b="1" dirty="0" err="1"/>
              <a:t>router</a:t>
            </a:r>
            <a:r>
              <a:rPr lang="es-ES" b="1" dirty="0"/>
              <a:t>-outlet&gt;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495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5471" y="2866430"/>
            <a:ext cx="1355080" cy="187523"/>
          </a:xfrm>
          <a:custGeom>
            <a:avLst/>
            <a:gdLst/>
            <a:ahLst/>
            <a:cxnLst/>
            <a:rect l="l" t="t" r="r" b="b"/>
            <a:pathLst>
              <a:path w="1927225" h="266700">
                <a:moveTo>
                  <a:pt x="0" y="0"/>
                </a:moveTo>
                <a:lnTo>
                  <a:pt x="1926807" y="0"/>
                </a:lnTo>
                <a:lnTo>
                  <a:pt x="1926807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470" y="3053953"/>
            <a:ext cx="7548265" cy="187523"/>
          </a:xfrm>
          <a:custGeom>
            <a:avLst/>
            <a:gdLst/>
            <a:ahLst/>
            <a:cxnLst/>
            <a:rect l="l" t="t" r="r" b="b"/>
            <a:pathLst>
              <a:path w="10735310" h="266700">
                <a:moveTo>
                  <a:pt x="0" y="0"/>
                </a:moveTo>
                <a:lnTo>
                  <a:pt x="10735044" y="0"/>
                </a:lnTo>
                <a:lnTo>
                  <a:pt x="10735044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471" y="3241477"/>
            <a:ext cx="5903416" cy="187523"/>
          </a:xfrm>
          <a:custGeom>
            <a:avLst/>
            <a:gdLst/>
            <a:ahLst/>
            <a:cxnLst/>
            <a:rect l="l" t="t" r="r" b="b"/>
            <a:pathLst>
              <a:path w="8395970" h="266700">
                <a:moveTo>
                  <a:pt x="0" y="0"/>
                </a:moveTo>
                <a:lnTo>
                  <a:pt x="8395361" y="0"/>
                </a:lnTo>
                <a:lnTo>
                  <a:pt x="8395361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470" y="3429000"/>
            <a:ext cx="7548265" cy="187523"/>
          </a:xfrm>
          <a:custGeom>
            <a:avLst/>
            <a:gdLst/>
            <a:ahLst/>
            <a:cxnLst/>
            <a:rect l="l" t="t" r="r" b="b"/>
            <a:pathLst>
              <a:path w="10735310" h="266700">
                <a:moveTo>
                  <a:pt x="0" y="0"/>
                </a:moveTo>
                <a:lnTo>
                  <a:pt x="10735044" y="0"/>
                </a:lnTo>
                <a:lnTo>
                  <a:pt x="10735044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15471" y="3616524"/>
            <a:ext cx="193774" cy="187523"/>
          </a:xfrm>
          <a:custGeom>
            <a:avLst/>
            <a:gdLst/>
            <a:ahLst/>
            <a:cxnLst/>
            <a:rect l="l" t="t" r="r" b="b"/>
            <a:pathLst>
              <a:path w="275590" h="266700">
                <a:moveTo>
                  <a:pt x="0" y="0"/>
                </a:moveTo>
                <a:lnTo>
                  <a:pt x="275258" y="0"/>
                </a:lnTo>
                <a:lnTo>
                  <a:pt x="275258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715471" y="3804047"/>
            <a:ext cx="2709714" cy="187523"/>
          </a:xfrm>
          <a:custGeom>
            <a:avLst/>
            <a:gdLst/>
            <a:ahLst/>
            <a:cxnLst/>
            <a:rect l="l" t="t" r="r" b="b"/>
            <a:pathLst>
              <a:path w="3853815" h="266700">
                <a:moveTo>
                  <a:pt x="0" y="0"/>
                </a:moveTo>
                <a:lnTo>
                  <a:pt x="3853600" y="0"/>
                </a:lnTo>
                <a:lnTo>
                  <a:pt x="38536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 txBox="1"/>
          <p:nvPr/>
        </p:nvSpPr>
        <p:spPr>
          <a:xfrm>
            <a:off x="1709936" y="2857500"/>
            <a:ext cx="1372939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@RouteConfig([</a:t>
            </a:r>
            <a:endParaRPr sz="1266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3492" y="3045024"/>
            <a:ext cx="598736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spc="-7" dirty="0">
                <a:solidFill>
                  <a:srgbClr val="B7C4D1"/>
                </a:solidFill>
                <a:latin typeface="Lucida Console"/>
                <a:cs typeface="Lucida Console"/>
              </a:rPr>
              <a:t>{</a:t>
            </a: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pat</a:t>
            </a:r>
            <a:r>
              <a:rPr sz="1266" spc="-7" dirty="0">
                <a:solidFill>
                  <a:srgbClr val="A98BB9"/>
                </a:solidFill>
                <a:latin typeface="Lucida Console"/>
                <a:cs typeface="Lucida Console"/>
              </a:rPr>
              <a:t>h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endParaRPr sz="1266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80867" y="3045024"/>
            <a:ext cx="6695033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/home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, </a:t>
            </a: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name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 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Home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, </a:t>
            </a: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component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 HomeComponent, </a:t>
            </a: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useAsDefault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sz="1266" spc="84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true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},</a:t>
            </a:r>
            <a:endParaRPr sz="1266" dirty="0">
              <a:latin typeface="Lucida Console"/>
              <a:cs typeface="Lucida Conso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3492" y="3232547"/>
            <a:ext cx="598736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spc="-7" dirty="0">
                <a:solidFill>
                  <a:srgbClr val="B7C4D1"/>
                </a:solidFill>
                <a:latin typeface="Lucida Console"/>
                <a:cs typeface="Lucida Console"/>
              </a:rPr>
              <a:t>{</a:t>
            </a: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pat</a:t>
            </a:r>
            <a:r>
              <a:rPr sz="1266" spc="-7" dirty="0">
                <a:solidFill>
                  <a:srgbClr val="A98BB9"/>
                </a:solidFill>
                <a:latin typeface="Lucida Console"/>
                <a:cs typeface="Lucida Console"/>
              </a:rPr>
              <a:t>h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endParaRPr sz="1266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03492" y="3420070"/>
            <a:ext cx="598736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spc="-7" dirty="0">
                <a:solidFill>
                  <a:srgbClr val="B7C4D1"/>
                </a:solidFill>
                <a:latin typeface="Lucida Console"/>
                <a:cs typeface="Lucida Console"/>
              </a:rPr>
              <a:t>{</a:t>
            </a: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pat</a:t>
            </a:r>
            <a:r>
              <a:rPr sz="1266" spc="-7" dirty="0">
                <a:solidFill>
                  <a:srgbClr val="A98BB9"/>
                </a:solidFill>
                <a:latin typeface="Lucida Console"/>
                <a:cs typeface="Lucida Console"/>
              </a:rPr>
              <a:t>h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endParaRPr sz="1266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80867" y="3232547"/>
            <a:ext cx="669548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498"/>
              </a:lnSpc>
            </a:pP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/about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, </a:t>
            </a: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name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 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About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, </a:t>
            </a: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component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sz="1266" spc="49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AboutComponent},</a:t>
            </a:r>
            <a:endParaRPr sz="1266" dirty="0">
              <a:latin typeface="Lucida Console"/>
              <a:cs typeface="Lucida Console"/>
            </a:endParaRPr>
          </a:p>
          <a:p>
            <a:pPr marL="8929">
              <a:lnSpc>
                <a:spcPts val="1498"/>
              </a:lnSpc>
            </a:pP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/experiments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, </a:t>
            </a: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name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 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Experiments</a:t>
            </a:r>
            <a:r>
              <a:rPr lang="es-ES" sz="1266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, </a:t>
            </a:r>
            <a:r>
              <a:rPr sz="1266" spc="-4" dirty="0">
                <a:solidFill>
                  <a:srgbClr val="A98BB9"/>
                </a:solidFill>
                <a:latin typeface="Lucida Console"/>
                <a:cs typeface="Lucida Console"/>
              </a:rPr>
              <a:t>component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sz="1266" spc="98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ExperimentsComponent}</a:t>
            </a:r>
            <a:endParaRPr sz="1266" dirty="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09935" y="3607594"/>
            <a:ext cx="211634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])</a:t>
            </a:r>
            <a:endParaRPr sz="1266">
              <a:latin typeface="Lucida Console"/>
              <a:cs typeface="Lucida Conso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9936" y="3795117"/>
            <a:ext cx="598736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export</a:t>
            </a:r>
            <a:endParaRPr sz="1266">
              <a:latin typeface="Lucida Sans Typewriter"/>
              <a:cs typeface="Lucida Sans Typewriter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87382" y="3795117"/>
            <a:ext cx="2050256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class 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AppComponent</a:t>
            </a:r>
            <a:r>
              <a:rPr sz="1266" spc="-18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266" spc="-4" dirty="0">
                <a:solidFill>
                  <a:srgbClr val="B7C4D1"/>
                </a:solidFill>
                <a:latin typeface="Lucida Console"/>
                <a:cs typeface="Lucida Console"/>
              </a:rPr>
              <a:t>{}</a:t>
            </a:r>
            <a:endParaRPr sz="1266">
              <a:latin typeface="Lucida Console"/>
              <a:cs typeface="Lucida Conso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18865" y="5929312"/>
            <a:ext cx="4196060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21" dirty="0">
                <a:solidFill>
                  <a:srgbClr val="53585F"/>
                </a:solidFill>
                <a:latin typeface="Trebuchet MS"/>
                <a:cs typeface="Trebuchet MS"/>
              </a:rPr>
              <a:t>@RouteConfig</a:t>
            </a:r>
            <a:endParaRPr sz="5062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678799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5470" y="3053953"/>
            <a:ext cx="2580680" cy="250031"/>
          </a:xfrm>
          <a:custGeom>
            <a:avLst/>
            <a:gdLst/>
            <a:ahLst/>
            <a:cxnLst/>
            <a:rect l="l" t="t" r="r" b="b"/>
            <a:pathLst>
              <a:path w="3670300" h="355600">
                <a:moveTo>
                  <a:pt x="0" y="0"/>
                </a:moveTo>
                <a:lnTo>
                  <a:pt x="3670098" y="0"/>
                </a:lnTo>
                <a:lnTo>
                  <a:pt x="3670098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471" y="3303985"/>
            <a:ext cx="4258121" cy="250031"/>
          </a:xfrm>
          <a:custGeom>
            <a:avLst/>
            <a:gdLst/>
            <a:ahLst/>
            <a:cxnLst/>
            <a:rect l="l" t="t" r="r" b="b"/>
            <a:pathLst>
              <a:path w="6055995" h="355600">
                <a:moveTo>
                  <a:pt x="0" y="0"/>
                </a:moveTo>
                <a:lnTo>
                  <a:pt x="6055666" y="0"/>
                </a:lnTo>
                <a:lnTo>
                  <a:pt x="6055666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470" y="3554016"/>
            <a:ext cx="774204" cy="250031"/>
          </a:xfrm>
          <a:custGeom>
            <a:avLst/>
            <a:gdLst/>
            <a:ahLst/>
            <a:cxnLst/>
            <a:rect l="l" t="t" r="r" b="b"/>
            <a:pathLst>
              <a:path w="1101090" h="355600">
                <a:moveTo>
                  <a:pt x="0" y="0"/>
                </a:moveTo>
                <a:lnTo>
                  <a:pt x="1101027" y="0"/>
                </a:lnTo>
                <a:lnTo>
                  <a:pt x="1101027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 txBox="1"/>
          <p:nvPr/>
        </p:nvSpPr>
        <p:spPr>
          <a:xfrm>
            <a:off x="1709936" y="3036094"/>
            <a:ext cx="533995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endParaRPr sz="1687">
              <a:latin typeface="Lucida Sans Typewriter"/>
              <a:cs typeface="Lucida Sans Typewriter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55071" y="3036094"/>
            <a:ext cx="1953369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id=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"container"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9936" y="3286125"/>
            <a:ext cx="4275981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988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router-outlet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router-outlet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8866" y="5929312"/>
            <a:ext cx="3721447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-158" dirty="0">
                <a:solidFill>
                  <a:srgbClr val="53585F"/>
                </a:solidFill>
                <a:latin typeface="Trebuchet MS"/>
                <a:cs typeface="Trebuchet MS"/>
              </a:rPr>
              <a:t>RouterOutlet</a:t>
            </a:r>
            <a:endParaRPr sz="5062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69048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RouterModule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el </a:t>
            </a:r>
            <a:r>
              <a:rPr lang="es-ES" b="1" dirty="0" err="1"/>
              <a:t>app.component.ts</a:t>
            </a:r>
            <a:r>
              <a:rPr lang="es-ES" b="1" dirty="0"/>
              <a:t> </a:t>
            </a:r>
            <a:r>
              <a:rPr lang="es-ES" dirty="0"/>
              <a:t>había una referencia directa al componente </a:t>
            </a:r>
            <a:r>
              <a:rPr lang="es-ES" b="1" dirty="0" err="1"/>
              <a:t>cf</a:t>
            </a:r>
            <a:r>
              <a:rPr lang="es-ES" b="1" dirty="0"/>
              <a:t>-home</a:t>
            </a:r>
            <a:r>
              <a:rPr lang="es-ES" dirty="0"/>
              <a:t>. </a:t>
            </a:r>
          </a:p>
          <a:p>
            <a:r>
              <a:rPr lang="es-ES" dirty="0"/>
              <a:t>Para hacerlo dinámico se sustituye por</a:t>
            </a:r>
            <a:r>
              <a:rPr lang="es-ES" b="1" dirty="0"/>
              <a:t> &lt;</a:t>
            </a:r>
            <a:r>
              <a:rPr lang="es-ES" b="1" dirty="0" err="1"/>
              <a:t>router</a:t>
            </a:r>
            <a:r>
              <a:rPr lang="es-ES" b="1" dirty="0"/>
              <a:t>-outlet&gt;&lt;/</a:t>
            </a:r>
            <a:r>
              <a:rPr lang="es-ES" b="1" dirty="0" err="1"/>
              <a:t>router</a:t>
            </a:r>
            <a:r>
              <a:rPr lang="es-ES" b="1" dirty="0"/>
              <a:t>-outlet&gt;</a:t>
            </a:r>
            <a:r>
              <a:rPr lang="es-ES" dirty="0"/>
              <a:t> quedando así:</a:t>
            </a:r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LAB1b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3838B-89EA-4867-8C7C-4D118786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438400"/>
            <a:ext cx="9599611" cy="224676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selector: "cf-root",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template: `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&lt;cf-nav&gt;&lt;/cf-nav&gt;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&lt;router-outlet&gt;&lt;/router-outlet&gt;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&lt;cf-footer&gt;&lt;/cf-footer&gt;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`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styles: []</a:t>
            </a:r>
          </a:p>
        </p:txBody>
      </p:sp>
    </p:spTree>
    <p:extLst>
      <p:ext uri="{BB962C8B-B14F-4D97-AF65-F5344CB8AC3E}">
        <p14:creationId xmlns:p14="http://schemas.microsoft.com/office/powerpoint/2010/main" val="1136397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B79C281-394C-4AE2-8C24-B4087D0D6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Router</a:t>
            </a:r>
            <a:r>
              <a:rPr lang="es-ES" dirty="0"/>
              <a:t> </a:t>
            </a:r>
            <a:r>
              <a:rPr lang="es-ES" dirty="0" err="1"/>
              <a:t>Redirect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75956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RouterModule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configuración de rutas </a:t>
            </a:r>
            <a:r>
              <a:rPr lang="es-ES" b="1" dirty="0"/>
              <a:t>no sólo</a:t>
            </a:r>
            <a:r>
              <a:rPr lang="es-ES" dirty="0"/>
              <a:t> permite asignar componentes a las direcciones. </a:t>
            </a:r>
          </a:p>
          <a:p>
            <a:pPr lvl="1"/>
            <a:r>
              <a:rPr lang="es-ES" dirty="0"/>
              <a:t>También se pueden hacer redirecciones de unas direcciones a otras. </a:t>
            </a:r>
          </a:p>
          <a:p>
            <a:pPr lvl="1"/>
            <a:r>
              <a:rPr lang="es-ES" dirty="0"/>
              <a:t>Y por supuesto puede haber rutas no contempladas o errores por parte del usuario, los infames 404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Found</a:t>
            </a:r>
            <a:r>
              <a:rPr lang="es-ES" dirty="0"/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8193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RouterModule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 ejemplo de ambas situaciones sería configurar nuestras rutas de forma que toda ruta desconocida nos lleve a otra general que muestre un mensaje predeterminado. </a:t>
            </a:r>
          </a:p>
          <a:p>
            <a:r>
              <a:rPr lang="es-ES" dirty="0"/>
              <a:t>Para hacerlo generamos un módulo y un componente llamados </a:t>
            </a:r>
            <a:r>
              <a:rPr lang="es-ES" b="1" dirty="0" err="1"/>
              <a:t>NotFound</a:t>
            </a:r>
            <a:r>
              <a:rPr lang="es-ES" dirty="0"/>
              <a:t> con los siguientes comandos: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LAB1c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3838B-89EA-4867-8C7C-4D118786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895600"/>
            <a:ext cx="10439400" cy="7078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&gt; ng g m views/not-found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&gt; ng g c views/not-found/not-found --export --flat</a:t>
            </a:r>
          </a:p>
        </p:txBody>
      </p:sp>
    </p:spTree>
    <p:extLst>
      <p:ext uri="{BB962C8B-B14F-4D97-AF65-F5344CB8AC3E}">
        <p14:creationId xmlns:p14="http://schemas.microsoft.com/office/powerpoint/2010/main" val="446445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RouterModule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Vuelve al módulo de enrutado </a:t>
            </a:r>
            <a:r>
              <a:rPr lang="es-ES" b="1" dirty="0" err="1"/>
              <a:t>app.routing.module.ts</a:t>
            </a:r>
            <a:r>
              <a:rPr lang="es-ES" dirty="0"/>
              <a:t>, y agrega dos nuevas entradas al array </a:t>
            </a:r>
            <a:r>
              <a:rPr lang="es-ES" b="1" dirty="0" err="1"/>
              <a:t>routes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LAB1c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3838B-89EA-4867-8C7C-4D118786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289" y="2133600"/>
            <a:ext cx="10285123" cy="37856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import { NotFoundComponent } from "./views/not-found/not-found.component";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600" b="1" noProof="1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const routes: Routes = [{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path: "",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component: HomeComponent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}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,{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path: "404",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component: NotFoundComponent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},{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path: "**",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redirectTo: "/404"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];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39555D8-3465-49AA-BC65-6CB8DD259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4943" y="2912209"/>
            <a:ext cx="5504870" cy="2831544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12696" tIns="0" rIns="12696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Open Sans"/>
              </a:rPr>
              <a:t>La entrada interesante es la última. Su dirección 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rgbClr val="428AC7"/>
                </a:solidFill>
                <a:effectLst/>
                <a:latin typeface="Source Code Pro"/>
              </a:rPr>
              <a:t>path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rgbClr val="428AC7"/>
                </a:solidFill>
                <a:effectLst/>
                <a:latin typeface="Source Code Pro"/>
              </a:rPr>
              <a:t>: "**"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Open Sans"/>
              </a:rPr>
              <a:t> indica que es cualquier ruta que no haya sido resuelta previamente.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Open San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Open Sans"/>
              </a:rPr>
              <a:t>Un </a:t>
            </a:r>
            <a:r>
              <a:rPr kumimoji="0" lang="es-ES" altLang="es-ES" sz="2000" b="0" i="1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inherit"/>
              </a:rPr>
              <a:t>not</a:t>
            </a:r>
            <a:r>
              <a:rPr kumimoji="0" lang="es-ES" altLang="es-ES" sz="2000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inherit"/>
              </a:rPr>
              <a:t> </a:t>
            </a:r>
            <a:r>
              <a:rPr kumimoji="0" lang="es-ES" altLang="es-ES" sz="2000" b="0" i="1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inherit"/>
              </a:rPr>
              <a:t>found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Open Sans"/>
              </a:rPr>
              <a:t> de toda la vida. En este caso lo redirijo a una ruta existente: 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rgbClr val="428AC7"/>
                </a:solidFill>
                <a:effectLst/>
                <a:latin typeface="Source Code Pro"/>
              </a:rPr>
              <a:t>/404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Open Sans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ES" altLang="es-ES" sz="2000" dirty="0">
              <a:solidFill>
                <a:srgbClr val="444444"/>
              </a:solidFill>
              <a:latin typeface="Open San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Open Sans"/>
              </a:rPr>
              <a:t>Y a esta última se le asocia un componente concreto, el </a:t>
            </a:r>
            <a:r>
              <a:rPr kumimoji="0" lang="es-ES" altLang="es-ES" sz="1600" b="0" i="0" u="none" strike="noStrike" cap="none" normalizeH="0" baseline="0" dirty="0" err="1">
                <a:ln>
                  <a:noFill/>
                </a:ln>
                <a:solidFill>
                  <a:srgbClr val="428AC7"/>
                </a:solidFill>
                <a:effectLst/>
                <a:latin typeface="Source Code Pro"/>
              </a:rPr>
              <a:t>NotFoundComponent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Open Sans"/>
              </a:rPr>
              <a:t>.</a:t>
            </a:r>
            <a:endParaRPr kumimoji="0" lang="es-ES" altLang="es-E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341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43759EB-2D5C-40C3-AE2F-8DF9EA47E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Router</a:t>
            </a:r>
            <a:r>
              <a:rPr lang="es-ES" dirty="0"/>
              <a:t> Link</a:t>
            </a:r>
          </a:p>
        </p:txBody>
      </p:sp>
    </p:spTree>
    <p:extLst>
      <p:ext uri="{BB962C8B-B14F-4D97-AF65-F5344CB8AC3E}">
        <p14:creationId xmlns:p14="http://schemas.microsoft.com/office/powerpoint/2010/main" val="3530868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Router</a:t>
            </a:r>
            <a:r>
              <a:rPr lang="es-ES" dirty="0"/>
              <a:t> Link - </a:t>
            </a:r>
            <a:r>
              <a:rPr lang="es-ES" dirty="0" err="1"/>
              <a:t>Navigating</a:t>
            </a:r>
            <a:r>
              <a:rPr lang="es-ES" dirty="0"/>
              <a:t> </a:t>
            </a:r>
            <a:r>
              <a:rPr lang="es-ES" dirty="0" err="1"/>
              <a:t>Routes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C63D295-358A-4387-96EB-0B3C237F6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En Angular los enlaces </a:t>
            </a:r>
            <a:r>
              <a:rPr lang="es-ES" dirty="0"/>
              <a:t>se declaran con un </a:t>
            </a:r>
            <a:r>
              <a:rPr lang="es-ES" b="1" dirty="0"/>
              <a:t>atributo especial </a:t>
            </a:r>
            <a:r>
              <a:rPr lang="es-ES" dirty="0"/>
              <a:t>llamado </a:t>
            </a:r>
            <a:r>
              <a:rPr lang="es-ES" b="1" dirty="0" err="1">
                <a:solidFill>
                  <a:srgbClr val="FF0000"/>
                </a:solidFill>
              </a:rPr>
              <a:t>routerLink</a:t>
            </a:r>
            <a:r>
              <a:rPr lang="es-ES" dirty="0"/>
              <a:t>. Este atributo se compila dando lugar al </a:t>
            </a:r>
            <a:r>
              <a:rPr lang="es-ES" dirty="0" err="1"/>
              <a:t>href</a:t>
            </a:r>
            <a:r>
              <a:rPr lang="es-ES" dirty="0"/>
              <a:t> oportuno.</a:t>
            </a:r>
          </a:p>
          <a:p>
            <a:r>
              <a:rPr lang="es-ES" dirty="0"/>
              <a:t>Vincúlelo a una expresión de plantilla que devuelve una matriz de parámetros de enlaces a rutas:</a:t>
            </a:r>
          </a:p>
          <a:p>
            <a:endParaRPr lang="es-ES" dirty="0"/>
          </a:p>
          <a:p>
            <a:r>
              <a:rPr lang="es-ES" dirty="0"/>
              <a:t>También puedes navegar imperativamente importando </a:t>
            </a:r>
            <a:r>
              <a:rPr lang="es-ES" b="1" dirty="0" err="1"/>
              <a:t>Router</a:t>
            </a:r>
            <a:r>
              <a:rPr lang="es-ES" dirty="0"/>
              <a:t>, inyectándolo y luego llamando a </a:t>
            </a:r>
            <a:r>
              <a:rPr lang="es-ES" b="1" dirty="0"/>
              <a:t>.</a:t>
            </a:r>
            <a:r>
              <a:rPr lang="es-ES" b="1" dirty="0" err="1"/>
              <a:t>navigate</a:t>
            </a:r>
            <a:r>
              <a:rPr lang="es-ES" b="1" dirty="0"/>
              <a:t> ()</a:t>
            </a:r>
            <a:r>
              <a:rPr lang="es-ES" dirty="0"/>
              <a:t> desde un método del componente</a:t>
            </a:r>
          </a:p>
          <a:p>
            <a:r>
              <a:rPr lang="es-ES" dirty="0"/>
              <a:t>Pasamos la misma matriz de parámetros que con la directiva </a:t>
            </a:r>
            <a:r>
              <a:rPr lang="es-ES" dirty="0" err="1"/>
              <a:t>routerLink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687C5B8-6CD7-4483-81C5-2CDF1A89B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6812" y="2667000"/>
            <a:ext cx="70104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&lt;a [</a:t>
            </a:r>
            <a:r>
              <a:rPr lang="en-US" sz="2000" b="1" dirty="0" err="1">
                <a:latin typeface="Consolas" panose="020B0609020204030204" pitchFamily="49" charset="0"/>
              </a:rPr>
              <a:t>routerLink</a:t>
            </a:r>
            <a:r>
              <a:rPr lang="en-US" sz="2000" b="1" dirty="0">
                <a:latin typeface="Consolas" panose="020B0609020204030204" pitchFamily="49" charset="0"/>
              </a:rPr>
              <a:t>]="['Users']"&gt;Users&lt;/a&gt;</a:t>
            </a:r>
            <a:endParaRPr lang="en-US" sz="20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052F8CE-D8FD-4792-A15F-556518C02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6812" y="4476690"/>
            <a:ext cx="70104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this._</a:t>
            </a:r>
            <a:r>
              <a:rPr lang="en-US" sz="2000" b="1" dirty="0" err="1">
                <a:latin typeface="Consolas" panose="020B0609020204030204" pitchFamily="49" charset="0"/>
              </a:rPr>
              <a:t>router.navigate</a:t>
            </a:r>
            <a:r>
              <a:rPr lang="en-US" sz="2000" b="1" dirty="0">
                <a:latin typeface="Consolas" panose="020B0609020204030204" pitchFamily="49" charset="0"/>
              </a:rPr>
              <a:t>( ['Users'] );</a:t>
            </a:r>
          </a:p>
        </p:txBody>
      </p:sp>
    </p:spTree>
    <p:extLst>
      <p:ext uri="{BB962C8B-B14F-4D97-AF65-F5344CB8AC3E}">
        <p14:creationId xmlns:p14="http://schemas.microsoft.com/office/powerpoint/2010/main" val="2738192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5293" y="2803922"/>
            <a:ext cx="1935510" cy="250031"/>
          </a:xfrm>
          <a:custGeom>
            <a:avLst/>
            <a:gdLst/>
            <a:ahLst/>
            <a:cxnLst/>
            <a:rect l="l" t="t" r="r" b="b"/>
            <a:pathLst>
              <a:path w="2752725" h="355600">
                <a:moveTo>
                  <a:pt x="0" y="0"/>
                </a:moveTo>
                <a:lnTo>
                  <a:pt x="2752572" y="0"/>
                </a:lnTo>
                <a:lnTo>
                  <a:pt x="2752572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293" y="3053953"/>
            <a:ext cx="6451699" cy="250031"/>
          </a:xfrm>
          <a:custGeom>
            <a:avLst/>
            <a:gdLst/>
            <a:ahLst/>
            <a:cxnLst/>
            <a:rect l="l" t="t" r="r" b="b"/>
            <a:pathLst>
              <a:path w="9175750" h="355600">
                <a:moveTo>
                  <a:pt x="0" y="0"/>
                </a:moveTo>
                <a:lnTo>
                  <a:pt x="9175254" y="0"/>
                </a:lnTo>
                <a:lnTo>
                  <a:pt x="917525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293" y="3303985"/>
            <a:ext cx="6709767" cy="250031"/>
          </a:xfrm>
          <a:custGeom>
            <a:avLst/>
            <a:gdLst/>
            <a:ahLst/>
            <a:cxnLst/>
            <a:rect l="l" t="t" r="r" b="b"/>
            <a:pathLst>
              <a:path w="9542780" h="355600">
                <a:moveTo>
                  <a:pt x="0" y="0"/>
                </a:moveTo>
                <a:lnTo>
                  <a:pt x="9542259" y="0"/>
                </a:lnTo>
                <a:lnTo>
                  <a:pt x="9542259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293" y="3554016"/>
            <a:ext cx="8257729" cy="250031"/>
          </a:xfrm>
          <a:custGeom>
            <a:avLst/>
            <a:gdLst/>
            <a:ahLst/>
            <a:cxnLst/>
            <a:rect l="l" t="t" r="r" b="b"/>
            <a:pathLst>
              <a:path w="11744325" h="355600">
                <a:moveTo>
                  <a:pt x="0" y="0"/>
                </a:moveTo>
                <a:lnTo>
                  <a:pt x="11744325" y="0"/>
                </a:lnTo>
                <a:lnTo>
                  <a:pt x="1174432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15293" y="3804047"/>
            <a:ext cx="774204" cy="250031"/>
          </a:xfrm>
          <a:custGeom>
            <a:avLst/>
            <a:gdLst/>
            <a:ahLst/>
            <a:cxnLst/>
            <a:rect l="l" t="t" r="r" b="b"/>
            <a:pathLst>
              <a:path w="1101090" h="355600">
                <a:moveTo>
                  <a:pt x="0" y="0"/>
                </a:moveTo>
                <a:lnTo>
                  <a:pt x="1101026" y="0"/>
                </a:lnTo>
                <a:lnTo>
                  <a:pt x="1101026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 txBox="1"/>
          <p:nvPr/>
        </p:nvSpPr>
        <p:spPr>
          <a:xfrm>
            <a:off x="1709936" y="2786063"/>
            <a:ext cx="533995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endParaRPr sz="1687">
              <a:latin typeface="Lucida Sans Typewriter"/>
              <a:cs typeface="Lucida Sans Typewriter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55070" y="2786063"/>
            <a:ext cx="1308199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id=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"menu"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8011" y="3036094"/>
            <a:ext cx="3501777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a</a:t>
            </a:r>
            <a:r>
              <a:rPr sz="1687" b="1" spc="-1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[</a:t>
            </a:r>
            <a:r>
              <a:rPr sz="1687" spc="-4" dirty="0" err="1">
                <a:solidFill>
                  <a:srgbClr val="B7C4D1"/>
                </a:solidFill>
                <a:latin typeface="Lucida Console"/>
                <a:cs typeface="Lucida Console"/>
              </a:rPr>
              <a:t>routerLink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]=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"[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/Home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]"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0749" y="3036094"/>
            <a:ext cx="2598539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class=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"btn"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&gt;Home&lt;/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a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68010" y="3286126"/>
            <a:ext cx="3630811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a</a:t>
            </a:r>
            <a:r>
              <a:rPr sz="1687" b="1" spc="-11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[</a:t>
            </a:r>
            <a:r>
              <a:rPr sz="1687" spc="-4" dirty="0" err="1">
                <a:solidFill>
                  <a:srgbClr val="B7C4D1"/>
                </a:solidFill>
                <a:latin typeface="Lucida Console"/>
                <a:cs typeface="Lucida Console"/>
              </a:rPr>
              <a:t>routerLink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]=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"[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/About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]"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9775" y="3286126"/>
            <a:ext cx="272757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class=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"btn"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&gt;About&lt;/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a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68010" y="3536157"/>
            <a:ext cx="4405015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a</a:t>
            </a:r>
            <a:r>
              <a:rPr sz="1687" b="1" spc="7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[</a:t>
            </a:r>
            <a:r>
              <a:rPr sz="1687" spc="-4" dirty="0" err="1">
                <a:solidFill>
                  <a:srgbClr val="B7C4D1"/>
                </a:solidFill>
                <a:latin typeface="Lucida Console"/>
                <a:cs typeface="Lucida Console"/>
              </a:rPr>
              <a:t>routerLink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]=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"[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/Experiments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]"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3934" y="3536157"/>
            <a:ext cx="3501777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class=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"btn"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&gt;Experiments&lt;/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a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9936" y="3786188"/>
            <a:ext cx="79206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spc="-7" dirty="0">
                <a:solidFill>
                  <a:srgbClr val="B7C4D1"/>
                </a:solidFill>
                <a:latin typeface="Lucida Console"/>
                <a:cs typeface="Lucida Console"/>
              </a:rPr>
              <a:t>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</a:t>
            </a:r>
            <a:r>
              <a:rPr sz="1687" b="1" spc="-7" dirty="0">
                <a:solidFill>
                  <a:srgbClr val="D78B40"/>
                </a:solidFill>
                <a:latin typeface="Lucida Sans Typewriter"/>
                <a:cs typeface="Lucida Sans Typewriter"/>
              </a:rPr>
              <a:t>v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18865" y="5929312"/>
            <a:ext cx="3185666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-120" dirty="0">
                <a:solidFill>
                  <a:srgbClr val="53585F"/>
                </a:solidFill>
                <a:latin typeface="Trebuchet MS"/>
                <a:cs typeface="Trebuchet MS"/>
              </a:rPr>
              <a:t>RouterLink</a:t>
            </a:r>
            <a:endParaRPr sz="5062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916146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5293" y="2678906"/>
            <a:ext cx="2322612" cy="250031"/>
          </a:xfrm>
          <a:custGeom>
            <a:avLst/>
            <a:gdLst/>
            <a:ahLst/>
            <a:cxnLst/>
            <a:rect l="l" t="t" r="r" b="b"/>
            <a:pathLst>
              <a:path w="3303270" h="355600">
                <a:moveTo>
                  <a:pt x="0" y="0"/>
                </a:moveTo>
                <a:lnTo>
                  <a:pt x="3303092" y="0"/>
                </a:lnTo>
                <a:lnTo>
                  <a:pt x="3303092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294" y="2928938"/>
            <a:ext cx="5290393" cy="250031"/>
          </a:xfrm>
          <a:custGeom>
            <a:avLst/>
            <a:gdLst/>
            <a:ahLst/>
            <a:cxnLst/>
            <a:rect l="l" t="t" r="r" b="b"/>
            <a:pathLst>
              <a:path w="7524115" h="355600">
                <a:moveTo>
                  <a:pt x="0" y="0"/>
                </a:moveTo>
                <a:lnTo>
                  <a:pt x="7523708" y="0"/>
                </a:lnTo>
                <a:lnTo>
                  <a:pt x="7523708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293" y="3178969"/>
            <a:ext cx="2451646" cy="250031"/>
          </a:xfrm>
          <a:custGeom>
            <a:avLst/>
            <a:gdLst/>
            <a:ahLst/>
            <a:cxnLst/>
            <a:rect l="l" t="t" r="r" b="b"/>
            <a:pathLst>
              <a:path w="3486785" h="355600">
                <a:moveTo>
                  <a:pt x="0" y="0"/>
                </a:moveTo>
                <a:lnTo>
                  <a:pt x="3486594" y="0"/>
                </a:lnTo>
                <a:lnTo>
                  <a:pt x="348659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294" y="3429000"/>
            <a:ext cx="5290393" cy="250031"/>
          </a:xfrm>
          <a:custGeom>
            <a:avLst/>
            <a:gdLst/>
            <a:ahLst/>
            <a:cxnLst/>
            <a:rect l="l" t="t" r="r" b="b"/>
            <a:pathLst>
              <a:path w="7524115" h="355600">
                <a:moveTo>
                  <a:pt x="0" y="0"/>
                </a:moveTo>
                <a:lnTo>
                  <a:pt x="7523708" y="0"/>
                </a:lnTo>
                <a:lnTo>
                  <a:pt x="7523708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15294" y="3679031"/>
            <a:ext cx="387102" cy="250031"/>
          </a:xfrm>
          <a:custGeom>
            <a:avLst/>
            <a:gdLst/>
            <a:ahLst/>
            <a:cxnLst/>
            <a:rect l="l" t="t" r="r" b="b"/>
            <a:pathLst>
              <a:path w="550544" h="355600">
                <a:moveTo>
                  <a:pt x="0" y="0"/>
                </a:moveTo>
                <a:lnTo>
                  <a:pt x="550515" y="0"/>
                </a:lnTo>
                <a:lnTo>
                  <a:pt x="55051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715294" y="3929063"/>
            <a:ext cx="129034" cy="250031"/>
          </a:xfrm>
          <a:custGeom>
            <a:avLst/>
            <a:gdLst/>
            <a:ahLst/>
            <a:cxnLst/>
            <a:rect l="l" t="t" r="r" b="b"/>
            <a:pathLst>
              <a:path w="183515" h="355600">
                <a:moveTo>
                  <a:pt x="0" y="0"/>
                </a:moveTo>
                <a:lnTo>
                  <a:pt x="183504" y="0"/>
                </a:lnTo>
                <a:lnTo>
                  <a:pt x="18350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 txBox="1"/>
          <p:nvPr/>
        </p:nvSpPr>
        <p:spPr>
          <a:xfrm>
            <a:off x="1709936" y="2661047"/>
            <a:ext cx="5308253" cy="153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997"/>
              </a:lnSpc>
            </a:pP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export class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App</a:t>
            </a:r>
            <a:r>
              <a:rPr sz="1687" spc="-35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{</a:t>
            </a:r>
            <a:endParaRPr sz="1687" dirty="0">
              <a:latin typeface="Lucida Console"/>
              <a:cs typeface="Lucida Console"/>
            </a:endParaRPr>
          </a:p>
          <a:p>
            <a:pPr marL="266542" marR="3572">
              <a:lnSpc>
                <a:spcPts val="1969"/>
              </a:lnSpc>
              <a:spcBef>
                <a:spcPts val="84"/>
              </a:spcBef>
              <a:tabLst>
                <a:tab pos="4008394" algn="l"/>
              </a:tabLst>
            </a:pP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constructor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(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private</a:t>
            </a:r>
            <a:r>
              <a:rPr sz="1687" b="1" spc="28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_router:	Router)</a:t>
            </a:r>
            <a:r>
              <a:rPr sz="1687" spc="-53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{}  </a:t>
            </a:r>
            <a:r>
              <a:rPr sz="1687" spc="-4" dirty="0">
                <a:solidFill>
                  <a:srgbClr val="FFD080"/>
                </a:solidFill>
                <a:latin typeface="Lucida Console"/>
                <a:cs typeface="Lucida Console"/>
              </a:rPr>
              <a:t>navigate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(route)</a:t>
            </a:r>
            <a:r>
              <a:rPr sz="1687" spc="-35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{</a:t>
            </a:r>
            <a:endParaRPr sz="1687" dirty="0">
              <a:latin typeface="Lucida Console"/>
              <a:cs typeface="Lucida Console"/>
            </a:endParaRPr>
          </a:p>
          <a:p>
            <a:pPr marL="524600">
              <a:lnSpc>
                <a:spcPts val="1884"/>
              </a:lnSpc>
            </a:pP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this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._router.</a:t>
            </a:r>
            <a:r>
              <a:rPr sz="1687" spc="-4" dirty="0">
                <a:solidFill>
                  <a:srgbClr val="FFD080"/>
                </a:solidFill>
                <a:latin typeface="Lucida Console"/>
                <a:cs typeface="Lucida Console"/>
              </a:rPr>
              <a:t>navigate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([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`/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${route}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`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]);</a:t>
            </a:r>
            <a:endParaRPr sz="1687" dirty="0">
              <a:latin typeface="Lucida Console"/>
              <a:cs typeface="Lucida Console"/>
            </a:endParaRPr>
          </a:p>
          <a:p>
            <a:pPr marL="266988">
              <a:lnSpc>
                <a:spcPts val="1969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endParaRPr sz="1687" dirty="0">
              <a:latin typeface="Lucida Console"/>
              <a:cs typeface="Lucida Console"/>
            </a:endParaRPr>
          </a:p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8866" y="5929312"/>
            <a:ext cx="4576018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-137" dirty="0">
                <a:solidFill>
                  <a:srgbClr val="53585F"/>
                </a:solidFill>
                <a:latin typeface="Trebuchet MS"/>
                <a:cs typeface="Trebuchet MS"/>
              </a:rPr>
              <a:t>Router.navigate</a:t>
            </a:r>
            <a:endParaRPr sz="5062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149466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RouterModule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el fichero </a:t>
            </a:r>
            <a:r>
              <a:rPr lang="es-ES" b="1" dirty="0" err="1"/>
              <a:t>not-found.component.ts</a:t>
            </a:r>
            <a:r>
              <a:rPr lang="es-ES" b="1" dirty="0"/>
              <a:t> </a:t>
            </a:r>
            <a:r>
              <a:rPr lang="es-ES" dirty="0"/>
              <a:t>pon lo siguiente:</a:t>
            </a:r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br>
              <a:rPr lang="es-ES" dirty="0"/>
            </a:br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LAB1d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3838B-89EA-4867-8C7C-4D118786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506" y="1752600"/>
            <a:ext cx="9599611" cy="203132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selector: "cf-not-found",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template: `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&lt;h1&gt;Not Found&lt;/h1&gt;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&lt;h2&gt;404&lt;/h2&gt;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&lt;a routerLink="/"&gt;Go home&lt;/a&gt;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`,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styles: []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E0350EF-ED20-40EF-8BC3-4F7D88DCF98B}"/>
              </a:ext>
            </a:extLst>
          </p:cNvPr>
          <p:cNvSpPr txBox="1"/>
          <p:nvPr/>
        </p:nvSpPr>
        <p:spPr>
          <a:xfrm>
            <a:off x="1065212" y="4191000"/>
            <a:ext cx="9525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s-E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ahora la funcionalidad de </a:t>
            </a:r>
            <a:r>
              <a:rPr lang="es-E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routerLink</a:t>
            </a:r>
            <a:r>
              <a:rPr lang="es-E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no mejora en nada a </a:t>
            </a:r>
            <a:r>
              <a:rPr lang="es-ES" sz="18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s-E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Pero lo hará. </a:t>
            </a:r>
          </a:p>
          <a:p>
            <a:pPr fontAlgn="base"/>
            <a:endParaRPr lang="es-ES" dirty="0"/>
          </a:p>
          <a:p>
            <a:pPr fontAlgn="base"/>
            <a:r>
              <a:rPr lang="es-ES" sz="1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Mientras tanto familiarízate con su sintaxis y… </a:t>
            </a:r>
            <a:r>
              <a:rPr lang="es-ES" sz="2800" b="1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asegúrate de importar </a:t>
            </a:r>
            <a:r>
              <a:rPr lang="es-ES" sz="2800" b="1" kern="1200" dirty="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RouterModule</a:t>
            </a:r>
            <a:r>
              <a:rPr lang="es-ES" sz="2800" b="1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 en </a:t>
            </a:r>
            <a:r>
              <a:rPr lang="es-ES" sz="2800" b="1" kern="1200" dirty="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not-found.module.ts</a:t>
            </a:r>
            <a:r>
              <a:rPr lang="es-ES" sz="2800" b="1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s-E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4929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RouterModule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No se te olvide añadir la referencia al enrutador en el fichero </a:t>
            </a:r>
            <a:r>
              <a:rPr lang="es-ES" b="1" dirty="0" err="1"/>
              <a:t>not-found.module.ts</a:t>
            </a:r>
            <a:endParaRPr lang="es-ES" b="1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LAB1d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B236398-3652-4EF0-A3E6-2D2DA0E3C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600200"/>
            <a:ext cx="9599611" cy="369331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" b="1" dirty="0">
                <a:latin typeface="Consolas" panose="020B0609020204030204" pitchFamily="49" charset="0"/>
              </a:rPr>
              <a:t>…</a:t>
            </a:r>
          </a:p>
          <a:p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import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 { 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RouterModule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 } 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from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 "@angular/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router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";</a:t>
            </a:r>
          </a:p>
          <a:p>
            <a:r>
              <a:rPr lang="es-ES" b="1" dirty="0" err="1">
                <a:latin typeface="Consolas" panose="020B0609020204030204" pitchFamily="49" charset="0"/>
              </a:rPr>
              <a:t>import</a:t>
            </a:r>
            <a:r>
              <a:rPr lang="es-ES" b="1" dirty="0">
                <a:latin typeface="Consolas" panose="020B0609020204030204" pitchFamily="49" charset="0"/>
              </a:rPr>
              <a:t> { </a:t>
            </a:r>
            <a:r>
              <a:rPr lang="es-ES" b="1" dirty="0" err="1">
                <a:latin typeface="Consolas" panose="020B0609020204030204" pitchFamily="49" charset="0"/>
              </a:rPr>
              <a:t>NotFoundComponent</a:t>
            </a:r>
            <a:r>
              <a:rPr lang="es-ES" b="1" dirty="0">
                <a:latin typeface="Consolas" panose="020B0609020204030204" pitchFamily="49" charset="0"/>
              </a:rPr>
              <a:t> } </a:t>
            </a:r>
            <a:r>
              <a:rPr lang="es-ES" b="1" dirty="0" err="1">
                <a:latin typeface="Consolas" panose="020B0609020204030204" pitchFamily="49" charset="0"/>
              </a:rPr>
              <a:t>from</a:t>
            </a:r>
            <a:r>
              <a:rPr lang="es-ES" b="1" dirty="0">
                <a:latin typeface="Consolas" panose="020B0609020204030204" pitchFamily="49" charset="0"/>
              </a:rPr>
              <a:t> './</a:t>
            </a:r>
            <a:r>
              <a:rPr lang="es-ES" b="1" dirty="0" err="1">
                <a:latin typeface="Consolas" panose="020B0609020204030204" pitchFamily="49" charset="0"/>
              </a:rPr>
              <a:t>not-found.component</a:t>
            </a:r>
            <a:r>
              <a:rPr lang="es-ES" b="1" dirty="0">
                <a:latin typeface="Consolas" panose="020B0609020204030204" pitchFamily="49" charset="0"/>
              </a:rPr>
              <a:t>';</a:t>
            </a:r>
          </a:p>
          <a:p>
            <a:br>
              <a:rPr lang="es-ES" b="1" dirty="0">
                <a:latin typeface="Consolas" panose="020B0609020204030204" pitchFamily="49" charset="0"/>
              </a:rPr>
            </a:br>
            <a:r>
              <a:rPr lang="es-ES" b="1" dirty="0">
                <a:latin typeface="Consolas" panose="020B0609020204030204" pitchFamily="49" charset="0"/>
              </a:rPr>
              <a:t>@</a:t>
            </a:r>
            <a:r>
              <a:rPr lang="es-ES" b="1" dirty="0" err="1">
                <a:latin typeface="Consolas" panose="020B0609020204030204" pitchFamily="49" charset="0"/>
              </a:rPr>
              <a:t>NgModule</a:t>
            </a:r>
            <a:r>
              <a:rPr lang="es-ES" b="1" dirty="0">
                <a:latin typeface="Consolas" panose="020B0609020204030204" pitchFamily="49" charset="0"/>
              </a:rPr>
              <a:t>({</a:t>
            </a:r>
          </a:p>
          <a:p>
            <a:r>
              <a:rPr lang="es-ES" b="1" dirty="0">
                <a:latin typeface="Consolas" panose="020B0609020204030204" pitchFamily="49" charset="0"/>
              </a:rPr>
              <a:t>	</a:t>
            </a:r>
            <a:r>
              <a:rPr lang="es-ES" b="1" dirty="0" err="1">
                <a:latin typeface="Consolas" panose="020B0609020204030204" pitchFamily="49" charset="0"/>
              </a:rPr>
              <a:t>imports</a:t>
            </a:r>
            <a:r>
              <a:rPr lang="es-ES" b="1" dirty="0">
                <a:latin typeface="Consolas" panose="020B0609020204030204" pitchFamily="49" charset="0"/>
              </a:rPr>
              <a:t>: [</a:t>
            </a:r>
          </a:p>
          <a:p>
            <a:r>
              <a:rPr lang="es-ES" b="1" dirty="0">
                <a:latin typeface="Consolas" panose="020B0609020204030204" pitchFamily="49" charset="0"/>
              </a:rPr>
              <a:t>		</a:t>
            </a:r>
            <a:r>
              <a:rPr lang="es-ES" b="1" dirty="0" err="1">
                <a:latin typeface="Consolas" panose="020B0609020204030204" pitchFamily="49" charset="0"/>
              </a:rPr>
              <a:t>CommonModule</a:t>
            </a:r>
            <a:r>
              <a:rPr lang="es-ES" b="1" dirty="0">
                <a:latin typeface="Consolas" panose="020B0609020204030204" pitchFamily="49" charset="0"/>
              </a:rPr>
              <a:t>,</a:t>
            </a:r>
          </a:p>
          <a:p>
            <a:r>
              <a:rPr lang="es-ES" b="1" dirty="0">
                <a:latin typeface="Consolas" panose="020B0609020204030204" pitchFamily="49" charset="0"/>
              </a:rPr>
              <a:t>		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RouterModule</a:t>
            </a:r>
            <a:endParaRPr lang="es-E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s-ES" b="1" dirty="0">
                <a:latin typeface="Consolas" panose="020B0609020204030204" pitchFamily="49" charset="0"/>
              </a:rPr>
              <a:t>	],</a:t>
            </a:r>
          </a:p>
          <a:p>
            <a:r>
              <a:rPr lang="es-ES" b="1" dirty="0">
                <a:latin typeface="Consolas" panose="020B0609020204030204" pitchFamily="49" charset="0"/>
              </a:rPr>
              <a:t>	</a:t>
            </a:r>
            <a:r>
              <a:rPr lang="es-ES" b="1" dirty="0" err="1">
                <a:latin typeface="Consolas" panose="020B0609020204030204" pitchFamily="49" charset="0"/>
              </a:rPr>
              <a:t>declarations</a:t>
            </a:r>
            <a:r>
              <a:rPr lang="es-ES" b="1" dirty="0">
                <a:latin typeface="Consolas" panose="020B0609020204030204" pitchFamily="49" charset="0"/>
              </a:rPr>
              <a:t>: [</a:t>
            </a:r>
            <a:r>
              <a:rPr lang="es-ES" b="1" dirty="0" err="1">
                <a:latin typeface="Consolas" panose="020B0609020204030204" pitchFamily="49" charset="0"/>
              </a:rPr>
              <a:t>NotFoundComponent</a:t>
            </a:r>
            <a:r>
              <a:rPr lang="es-ES" b="1" dirty="0">
                <a:latin typeface="Consolas" panose="020B0609020204030204" pitchFamily="49" charset="0"/>
              </a:rPr>
              <a:t>],</a:t>
            </a:r>
          </a:p>
          <a:p>
            <a:r>
              <a:rPr lang="es-ES" b="1" dirty="0">
                <a:latin typeface="Consolas" panose="020B0609020204030204" pitchFamily="49" charset="0"/>
              </a:rPr>
              <a:t>	</a:t>
            </a:r>
            <a:r>
              <a:rPr lang="es-ES" b="1" dirty="0" err="1">
                <a:latin typeface="Consolas" panose="020B0609020204030204" pitchFamily="49" charset="0"/>
              </a:rPr>
              <a:t>exports</a:t>
            </a:r>
            <a:r>
              <a:rPr lang="es-ES" b="1" dirty="0">
                <a:latin typeface="Consolas" panose="020B0609020204030204" pitchFamily="49" charset="0"/>
              </a:rPr>
              <a:t>: [</a:t>
            </a:r>
            <a:r>
              <a:rPr lang="es-ES" b="1" dirty="0" err="1">
                <a:latin typeface="Consolas" panose="020B0609020204030204" pitchFamily="49" charset="0"/>
              </a:rPr>
              <a:t>NotFoundComponent</a:t>
            </a:r>
            <a:r>
              <a:rPr lang="es-ES" b="1" dirty="0">
                <a:latin typeface="Consolas" panose="020B0609020204030204" pitchFamily="49" charset="0"/>
              </a:rPr>
              <a:t>]</a:t>
            </a:r>
          </a:p>
          <a:p>
            <a:r>
              <a:rPr lang="es-ES" b="1" dirty="0">
                <a:latin typeface="Consolas" panose="020B0609020204030204" pitchFamily="49" charset="0"/>
              </a:rPr>
              <a:t>})</a:t>
            </a:r>
          </a:p>
          <a:p>
            <a:r>
              <a:rPr lang="es-ES" b="1" dirty="0" err="1">
                <a:latin typeface="Consolas" panose="020B0609020204030204" pitchFamily="49" charset="0"/>
              </a:rPr>
              <a:t>export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class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NotFoundModule</a:t>
            </a:r>
            <a:r>
              <a:rPr lang="es-ES" b="1" dirty="0">
                <a:latin typeface="Consolas" panose="020B0609020204030204" pitchFamily="49" charset="0"/>
              </a:rPr>
              <a:t> { }</a:t>
            </a:r>
          </a:p>
        </p:txBody>
      </p:sp>
    </p:spTree>
    <p:extLst>
      <p:ext uri="{BB962C8B-B14F-4D97-AF65-F5344CB8AC3E}">
        <p14:creationId xmlns:p14="http://schemas.microsoft.com/office/powerpoint/2010/main" val="3791138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RouterModule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 momento añade la referencia al 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NotFoundModule</a:t>
            </a:r>
            <a:r>
              <a:rPr lang="es-ES" dirty="0"/>
              <a:t> en el fichero </a:t>
            </a:r>
            <a:r>
              <a:rPr lang="es-ES" b="1" dirty="0" err="1"/>
              <a:t>app.module.ts</a:t>
            </a:r>
            <a:r>
              <a:rPr lang="es-ES" b="1" dirty="0"/>
              <a:t> </a:t>
            </a:r>
            <a:r>
              <a:rPr lang="es-ES" dirty="0"/>
              <a:t>para que el </a:t>
            </a:r>
            <a:r>
              <a:rPr lang="es-ES" dirty="0" err="1"/>
              <a:t>RouterLink</a:t>
            </a:r>
            <a:r>
              <a:rPr lang="es-ES" dirty="0"/>
              <a:t> funcione correctamente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LAB1d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B236398-3652-4EF0-A3E6-2D2DA0E3C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905000"/>
            <a:ext cx="9599611" cy="397031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" b="1" dirty="0">
                <a:latin typeface="Consolas" panose="020B0609020204030204" pitchFamily="49" charset="0"/>
              </a:rPr>
              <a:t>…</a:t>
            </a:r>
          </a:p>
          <a:p>
            <a:r>
              <a:rPr lang="es-ES" b="1" dirty="0" err="1">
                <a:latin typeface="Consolas" panose="020B0609020204030204" pitchFamily="49" charset="0"/>
              </a:rPr>
              <a:t>import</a:t>
            </a:r>
            <a:r>
              <a:rPr lang="es-ES" b="1" dirty="0">
                <a:latin typeface="Consolas" panose="020B0609020204030204" pitchFamily="49" charset="0"/>
              </a:rPr>
              <a:t> { </a:t>
            </a:r>
            <a:r>
              <a:rPr lang="es-ES" b="1" dirty="0" err="1">
                <a:latin typeface="Consolas" panose="020B0609020204030204" pitchFamily="49" charset="0"/>
              </a:rPr>
              <a:t>HomeModule</a:t>
            </a:r>
            <a:r>
              <a:rPr lang="es-ES" b="1" dirty="0">
                <a:latin typeface="Consolas" panose="020B0609020204030204" pitchFamily="49" charset="0"/>
              </a:rPr>
              <a:t> } </a:t>
            </a:r>
            <a:r>
              <a:rPr lang="es-ES" b="1" dirty="0" err="1">
                <a:latin typeface="Consolas" panose="020B0609020204030204" pitchFamily="49" charset="0"/>
              </a:rPr>
              <a:t>from</a:t>
            </a:r>
            <a:r>
              <a:rPr lang="es-ES" b="1" dirty="0">
                <a:latin typeface="Consolas" panose="020B0609020204030204" pitchFamily="49" charset="0"/>
              </a:rPr>
              <a:t> './</a:t>
            </a:r>
            <a:r>
              <a:rPr lang="es-ES" b="1" dirty="0" err="1">
                <a:latin typeface="Consolas" panose="020B0609020204030204" pitchFamily="49" charset="0"/>
              </a:rPr>
              <a:t>views</a:t>
            </a:r>
            <a:r>
              <a:rPr lang="es-ES" b="1" dirty="0">
                <a:latin typeface="Consolas" panose="020B0609020204030204" pitchFamily="49" charset="0"/>
              </a:rPr>
              <a:t>/home/</a:t>
            </a:r>
            <a:r>
              <a:rPr lang="es-ES" b="1" dirty="0" err="1">
                <a:latin typeface="Consolas" panose="020B0609020204030204" pitchFamily="49" charset="0"/>
              </a:rPr>
              <a:t>home.module</a:t>
            </a:r>
            <a:r>
              <a:rPr lang="es-ES" b="1" dirty="0">
                <a:latin typeface="Consolas" panose="020B0609020204030204" pitchFamily="49" charset="0"/>
              </a:rPr>
              <a:t>';</a:t>
            </a:r>
          </a:p>
          <a:p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import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 { 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NotFoundModule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 } 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from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 './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views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/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not-found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/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not-found.module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’;</a:t>
            </a:r>
          </a:p>
          <a:p>
            <a:br>
              <a:rPr lang="es-ES" b="1" dirty="0">
                <a:latin typeface="Consolas" panose="020B0609020204030204" pitchFamily="49" charset="0"/>
              </a:rPr>
            </a:br>
            <a:r>
              <a:rPr lang="es-ES" b="1" dirty="0">
                <a:latin typeface="Consolas" panose="020B0609020204030204" pitchFamily="49" charset="0"/>
              </a:rPr>
              <a:t>@NgModule({</a:t>
            </a:r>
          </a:p>
          <a:p>
            <a:r>
              <a:rPr lang="es-ES" b="1" dirty="0">
                <a:latin typeface="Consolas" panose="020B0609020204030204" pitchFamily="49" charset="0"/>
              </a:rPr>
              <a:t>  </a:t>
            </a:r>
            <a:r>
              <a:rPr lang="es-ES" b="1" dirty="0" err="1">
                <a:latin typeface="Consolas" panose="020B0609020204030204" pitchFamily="49" charset="0"/>
              </a:rPr>
              <a:t>declarations</a:t>
            </a:r>
            <a:r>
              <a:rPr lang="es-ES" b="1" dirty="0">
                <a:latin typeface="Consolas" panose="020B0609020204030204" pitchFamily="49" charset="0"/>
              </a:rPr>
              <a:t>: [</a:t>
            </a:r>
            <a:r>
              <a:rPr lang="es-ES" b="1" dirty="0" err="1">
                <a:latin typeface="Consolas" panose="020B0609020204030204" pitchFamily="49" charset="0"/>
              </a:rPr>
              <a:t>AppComponent</a:t>
            </a:r>
            <a:r>
              <a:rPr lang="es-ES" b="1" dirty="0">
                <a:latin typeface="Consolas" panose="020B0609020204030204" pitchFamily="49" charset="0"/>
              </a:rPr>
              <a:t>],</a:t>
            </a:r>
          </a:p>
          <a:p>
            <a:r>
              <a:rPr lang="es-ES" b="1" dirty="0">
                <a:latin typeface="Consolas" panose="020B0609020204030204" pitchFamily="49" charset="0"/>
              </a:rPr>
              <a:t>  </a:t>
            </a:r>
            <a:r>
              <a:rPr lang="es-ES" b="1" dirty="0" err="1">
                <a:latin typeface="Consolas" panose="020B0609020204030204" pitchFamily="49" charset="0"/>
              </a:rPr>
              <a:t>imports</a:t>
            </a:r>
            <a:r>
              <a:rPr lang="es-ES" b="1" dirty="0">
                <a:latin typeface="Consolas" panose="020B0609020204030204" pitchFamily="49" charset="0"/>
              </a:rPr>
              <a:t>: [</a:t>
            </a:r>
          </a:p>
          <a:p>
            <a:r>
              <a:rPr lang="es-ES" b="1" dirty="0">
                <a:latin typeface="Consolas" panose="020B0609020204030204" pitchFamily="49" charset="0"/>
              </a:rPr>
              <a:t>	…</a:t>
            </a:r>
          </a:p>
          <a:p>
            <a:r>
              <a:rPr lang="es-ES" b="1" dirty="0">
                <a:latin typeface="Consolas" panose="020B0609020204030204" pitchFamily="49" charset="0"/>
              </a:rPr>
              <a:t>    </a:t>
            </a:r>
            <a:r>
              <a:rPr lang="es-ES" b="1" dirty="0" err="1">
                <a:latin typeface="Consolas" panose="020B0609020204030204" pitchFamily="49" charset="0"/>
              </a:rPr>
              <a:t>HomeModule</a:t>
            </a:r>
            <a:r>
              <a:rPr lang="es-ES" b="1" dirty="0">
                <a:latin typeface="Consolas" panose="020B0609020204030204" pitchFamily="49" charset="0"/>
              </a:rPr>
              <a:t>,</a:t>
            </a:r>
          </a:p>
          <a:p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s-E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NotFoundModule</a:t>
            </a:r>
            <a:r>
              <a:rPr lang="es-ES" b="1" dirty="0">
                <a:solidFill>
                  <a:srgbClr val="FF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s-ES" b="1" dirty="0">
                <a:latin typeface="Consolas" panose="020B0609020204030204" pitchFamily="49" charset="0"/>
              </a:rPr>
              <a:t>  ],</a:t>
            </a:r>
          </a:p>
          <a:p>
            <a:r>
              <a:rPr lang="es-ES" b="1" dirty="0">
                <a:latin typeface="Consolas" panose="020B0609020204030204" pitchFamily="49" charset="0"/>
              </a:rPr>
              <a:t>  …</a:t>
            </a:r>
          </a:p>
          <a:p>
            <a:r>
              <a:rPr lang="es-ES" b="1" dirty="0">
                <a:latin typeface="Consolas" panose="020B0609020204030204" pitchFamily="49" charset="0"/>
              </a:rPr>
              <a:t>})</a:t>
            </a:r>
          </a:p>
          <a:p>
            <a:r>
              <a:rPr lang="es-ES" b="1" dirty="0" err="1">
                <a:latin typeface="Consolas" panose="020B0609020204030204" pitchFamily="49" charset="0"/>
              </a:rPr>
              <a:t>export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class</a:t>
            </a:r>
            <a:r>
              <a:rPr lang="es-ES" b="1" dirty="0">
                <a:latin typeface="Consolas" panose="020B0609020204030204" pitchFamily="49" charset="0"/>
              </a:rPr>
              <a:t> </a:t>
            </a:r>
            <a:r>
              <a:rPr lang="es-ES" b="1" dirty="0" err="1">
                <a:latin typeface="Consolas" panose="020B0609020204030204" pitchFamily="49" charset="0"/>
              </a:rPr>
              <a:t>AppModule</a:t>
            </a:r>
            <a:r>
              <a:rPr lang="es-ES" b="1" dirty="0">
                <a:latin typeface="Consolas" panose="020B0609020204030204" pitchFamily="49" charset="0"/>
              </a:rPr>
              <a:t> {}</a:t>
            </a:r>
          </a:p>
        </p:txBody>
      </p:sp>
    </p:spTree>
    <p:extLst>
      <p:ext uri="{BB962C8B-B14F-4D97-AF65-F5344CB8AC3E}">
        <p14:creationId xmlns:p14="http://schemas.microsoft.com/office/powerpoint/2010/main" val="2323384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31D092C9-EE89-EF4A-63DE-9A2451BD1076}"/>
              </a:ext>
            </a:extLst>
          </p:cNvPr>
          <p:cNvSpPr/>
          <p:nvPr/>
        </p:nvSpPr>
        <p:spPr>
          <a:xfrm>
            <a:off x="7812662" y="332815"/>
            <a:ext cx="3429001" cy="191991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592261A-8DE1-6456-D537-8B951A0AF8F6}"/>
              </a:ext>
            </a:extLst>
          </p:cNvPr>
          <p:cNvSpPr txBox="1"/>
          <p:nvPr/>
        </p:nvSpPr>
        <p:spPr>
          <a:xfrm>
            <a:off x="7977537" y="378541"/>
            <a:ext cx="3111726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 err="1"/>
              <a:t>NavComponent</a:t>
            </a:r>
            <a:r>
              <a:rPr lang="es-ES" sz="1200" dirty="0"/>
              <a:t> </a:t>
            </a:r>
            <a:r>
              <a:rPr lang="es-ES" sz="1200" dirty="0">
                <a:solidFill>
                  <a:schemeClr val="tx1"/>
                </a:solidFill>
              </a:rPr>
              <a:t>&lt;</a:t>
            </a:r>
            <a:r>
              <a:rPr lang="es-ES" sz="1200" dirty="0" err="1">
                <a:solidFill>
                  <a:schemeClr val="tx1"/>
                </a:solidFill>
              </a:rPr>
              <a:t>cf-nav</a:t>
            </a:r>
            <a:r>
              <a:rPr lang="es-ES" sz="1200" dirty="0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DA97DF1-B71D-6623-12B7-030FA4321230}"/>
              </a:ext>
            </a:extLst>
          </p:cNvPr>
          <p:cNvSpPr txBox="1"/>
          <p:nvPr/>
        </p:nvSpPr>
        <p:spPr>
          <a:xfrm>
            <a:off x="7977537" y="609600"/>
            <a:ext cx="3111726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/>
              <a:t>HTML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5BFC111-3118-A912-3F06-C9A6CBC22EEF}"/>
              </a:ext>
            </a:extLst>
          </p:cNvPr>
          <p:cNvSpPr txBox="1"/>
          <p:nvPr/>
        </p:nvSpPr>
        <p:spPr>
          <a:xfrm>
            <a:off x="7977537" y="838200"/>
            <a:ext cx="3111726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/>
              <a:t>CSS/SCSS/LCSS…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96FB392-02F5-C7D4-DCFD-1864FB383649}"/>
              </a:ext>
            </a:extLst>
          </p:cNvPr>
          <p:cNvSpPr txBox="1"/>
          <p:nvPr/>
        </p:nvSpPr>
        <p:spPr>
          <a:xfrm>
            <a:off x="7977537" y="1219200"/>
            <a:ext cx="3111726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 err="1"/>
              <a:t>FooterComponent</a:t>
            </a:r>
            <a:r>
              <a:rPr lang="es-ES" sz="1200" dirty="0"/>
              <a:t> </a:t>
            </a:r>
            <a:r>
              <a:rPr lang="es-ES" sz="1200" dirty="0">
                <a:solidFill>
                  <a:schemeClr val="tx1"/>
                </a:solidFill>
              </a:rPr>
              <a:t>&lt;</a:t>
            </a:r>
            <a:r>
              <a:rPr lang="es-ES" sz="1200" dirty="0" err="1">
                <a:solidFill>
                  <a:schemeClr val="tx1"/>
                </a:solidFill>
              </a:rPr>
              <a:t>cf-footer</a:t>
            </a:r>
            <a:r>
              <a:rPr lang="es-ES" sz="1200" dirty="0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7CF02B4-EB6C-8783-DE15-8E67A4D0F5BB}"/>
              </a:ext>
            </a:extLst>
          </p:cNvPr>
          <p:cNvSpPr txBox="1"/>
          <p:nvPr/>
        </p:nvSpPr>
        <p:spPr>
          <a:xfrm>
            <a:off x="7977537" y="1447800"/>
            <a:ext cx="3111724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/>
              <a:t>HTML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1427D05-EF6F-E2C8-8A7B-922B751C53C1}"/>
              </a:ext>
            </a:extLst>
          </p:cNvPr>
          <p:cNvSpPr txBox="1"/>
          <p:nvPr/>
        </p:nvSpPr>
        <p:spPr>
          <a:xfrm>
            <a:off x="7977537" y="1676400"/>
            <a:ext cx="3111724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/>
              <a:t>CSS/SCSS/LCSS…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683D5BA-4A2B-38E8-F609-4DEECCEF3CDC}"/>
              </a:ext>
            </a:extLst>
          </p:cNvPr>
          <p:cNvSpPr/>
          <p:nvPr/>
        </p:nvSpPr>
        <p:spPr>
          <a:xfrm>
            <a:off x="7876396" y="2483509"/>
            <a:ext cx="3393305" cy="108978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EE26BC4-B6D2-FE26-5E45-C5808FDD9F4F}"/>
              </a:ext>
            </a:extLst>
          </p:cNvPr>
          <p:cNvSpPr txBox="1"/>
          <p:nvPr/>
        </p:nvSpPr>
        <p:spPr>
          <a:xfrm>
            <a:off x="7977537" y="2665206"/>
            <a:ext cx="3111724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chemeClr val="bg1"/>
                </a:solidFill>
              </a:rPr>
              <a:t>HomeComponent</a:t>
            </a:r>
            <a:r>
              <a:rPr lang="es-ES" sz="1200" dirty="0">
                <a:solidFill>
                  <a:schemeClr val="tx1"/>
                </a:solidFill>
              </a:rPr>
              <a:t> &lt;</a:t>
            </a:r>
            <a:r>
              <a:rPr lang="es-ES" sz="1200" dirty="0" err="1">
                <a:solidFill>
                  <a:schemeClr val="tx1"/>
                </a:solidFill>
              </a:rPr>
              <a:t>cf</a:t>
            </a:r>
            <a:r>
              <a:rPr lang="es-ES" sz="1200" dirty="0">
                <a:solidFill>
                  <a:schemeClr val="tx1"/>
                </a:solidFill>
              </a:rPr>
              <a:t>-home&gt;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016A682-05BF-9628-01A6-C11ED68F7715}"/>
              </a:ext>
            </a:extLst>
          </p:cNvPr>
          <p:cNvSpPr txBox="1"/>
          <p:nvPr/>
        </p:nvSpPr>
        <p:spPr>
          <a:xfrm>
            <a:off x="7977537" y="2923401"/>
            <a:ext cx="3111724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/>
              <a:t>HTML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5531B6C-BAC0-B0F7-6EE5-275B2577430E}"/>
              </a:ext>
            </a:extLst>
          </p:cNvPr>
          <p:cNvSpPr txBox="1"/>
          <p:nvPr/>
        </p:nvSpPr>
        <p:spPr>
          <a:xfrm>
            <a:off x="7977537" y="3200400"/>
            <a:ext cx="3111724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/>
              <a:t>CSS/SCSS/LCSS…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BC4583A-CD75-4D4F-E10C-BB3DDA1462A9}"/>
              </a:ext>
            </a:extLst>
          </p:cNvPr>
          <p:cNvSpPr/>
          <p:nvPr/>
        </p:nvSpPr>
        <p:spPr>
          <a:xfrm>
            <a:off x="2593226" y="915315"/>
            <a:ext cx="3948197" cy="20995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2980486-D916-7244-2839-859A979E7CCE}"/>
              </a:ext>
            </a:extLst>
          </p:cNvPr>
          <p:cNvSpPr txBox="1"/>
          <p:nvPr/>
        </p:nvSpPr>
        <p:spPr>
          <a:xfrm>
            <a:off x="2758101" y="1776574"/>
            <a:ext cx="3707264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AppComponent</a:t>
            </a:r>
            <a:r>
              <a:rPr lang="es-E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dirty="0"/>
              <a:t>'</a:t>
            </a:r>
            <a:r>
              <a:rPr lang="es-ES" dirty="0" err="1">
                <a:solidFill>
                  <a:schemeClr val="tx1"/>
                </a:solidFill>
              </a:rPr>
              <a:t>cf-root</a:t>
            </a:r>
            <a:r>
              <a:rPr lang="es-ES" dirty="0"/>
              <a:t>’ -&gt; </a:t>
            </a:r>
            <a:r>
              <a:rPr lang="es-ES" dirty="0">
                <a:solidFill>
                  <a:srgbClr val="FF0000"/>
                </a:solidFill>
              </a:rPr>
              <a:t>TS</a:t>
            </a:r>
            <a:r>
              <a:rPr lang="es-ES" dirty="0"/>
              <a:t> + 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5408AE4-540D-7F8D-E303-814B9E5BF6B6}"/>
              </a:ext>
            </a:extLst>
          </p:cNvPr>
          <p:cNvSpPr txBox="1"/>
          <p:nvPr/>
        </p:nvSpPr>
        <p:spPr>
          <a:xfrm>
            <a:off x="2758100" y="2191635"/>
            <a:ext cx="3707263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HTML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93FAC90-F0CB-7089-1D0E-9846B3A87A09}"/>
              </a:ext>
            </a:extLst>
          </p:cNvPr>
          <p:cNvSpPr txBox="1"/>
          <p:nvPr/>
        </p:nvSpPr>
        <p:spPr>
          <a:xfrm>
            <a:off x="2758101" y="2587271"/>
            <a:ext cx="3707262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CSS</a:t>
            </a:r>
            <a:r>
              <a:rPr lang="es-ES" dirty="0"/>
              <a:t>/SCSS/LCSS…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070B062-1639-BF87-CB7B-048DB172328C}"/>
              </a:ext>
            </a:extLst>
          </p:cNvPr>
          <p:cNvSpPr txBox="1"/>
          <p:nvPr/>
        </p:nvSpPr>
        <p:spPr>
          <a:xfrm>
            <a:off x="553813" y="1790825"/>
            <a:ext cx="1146023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Directa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6F8EFB1-EE2D-B199-3A7B-D9433AE3AE1A}"/>
              </a:ext>
            </a:extLst>
          </p:cNvPr>
          <p:cNvSpPr txBox="1"/>
          <p:nvPr/>
        </p:nvSpPr>
        <p:spPr>
          <a:xfrm>
            <a:off x="2624296" y="981894"/>
            <a:ext cx="381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 err="1">
                <a:effectLst/>
                <a:latin typeface="Consolas" panose="020B0609020204030204" pitchFamily="49" charset="0"/>
              </a:rPr>
              <a:t>AppModule</a:t>
            </a:r>
            <a:endParaRPr lang="es-ES" b="0" dirty="0">
              <a:effectLst/>
              <a:latin typeface="Consolas" panose="020B0609020204030204" pitchFamily="49" charset="0"/>
            </a:endParaRPr>
          </a:p>
          <a:p>
            <a:r>
              <a:rPr lang="es-ES" b="0" dirty="0" err="1">
                <a:effectLst/>
                <a:latin typeface="Consolas" panose="020B0609020204030204" pitchFamily="49" charset="0"/>
              </a:rPr>
              <a:t>bootstrap</a:t>
            </a:r>
            <a:r>
              <a:rPr lang="es-ES" b="0" dirty="0">
                <a:effectLst/>
                <a:latin typeface="Consolas" panose="020B0609020204030204" pitchFamily="49" charset="0"/>
              </a:rPr>
              <a:t>: [</a:t>
            </a:r>
            <a:r>
              <a:rPr lang="es-ES" b="0" dirty="0" err="1">
                <a:effectLst/>
                <a:latin typeface="Consolas" panose="020B0609020204030204" pitchFamily="49" charset="0"/>
              </a:rPr>
              <a:t>AppComponent</a:t>
            </a:r>
            <a:r>
              <a:rPr lang="es-ES" b="0" dirty="0"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0C532FA-C0D6-888A-46CE-7F2D9746B7A5}"/>
              </a:ext>
            </a:extLst>
          </p:cNvPr>
          <p:cNvSpPr txBox="1"/>
          <p:nvPr/>
        </p:nvSpPr>
        <p:spPr>
          <a:xfrm>
            <a:off x="2578357" y="3126500"/>
            <a:ext cx="3948196" cy="923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tx1"/>
                </a:solidFill>
              </a:rPr>
              <a:t>AppRoutingModule</a:t>
            </a:r>
            <a:endParaRPr lang="es-ES" dirty="0">
              <a:solidFill>
                <a:schemeClr val="tx1"/>
              </a:solidFill>
            </a:endParaRPr>
          </a:p>
          <a:p>
            <a:endParaRPr lang="es-ES" dirty="0">
              <a:solidFill>
                <a:schemeClr val="tx1"/>
              </a:solidFill>
            </a:endParaRPr>
          </a:p>
          <a:p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5B1E0CC9-1C39-2EA2-3687-0C7C8B34DA6F}"/>
              </a:ext>
            </a:extLst>
          </p:cNvPr>
          <p:cNvSpPr txBox="1"/>
          <p:nvPr/>
        </p:nvSpPr>
        <p:spPr>
          <a:xfrm>
            <a:off x="2712164" y="3517121"/>
            <a:ext cx="3707263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const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[];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93CBECCC-7FA2-D8EF-1C86-11D728553DD6}"/>
              </a:ext>
            </a:extLst>
          </p:cNvPr>
          <p:cNvSpPr txBox="1"/>
          <p:nvPr/>
        </p:nvSpPr>
        <p:spPr>
          <a:xfrm>
            <a:off x="262097" y="2252724"/>
            <a:ext cx="1981200" cy="8540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main.ts</a:t>
            </a:r>
            <a:endParaRPr lang="es-E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platformBrowserDynamic</a:t>
            </a:r>
            <a:r>
              <a:rPr lang="es-E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s-ES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bootstrapModule</a:t>
            </a:r>
            <a:r>
              <a:rPr lang="es-E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05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AppModule</a:t>
            </a:r>
            <a:r>
              <a:rPr lang="es-E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es-E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72BA8D3C-330B-E7D3-F7DE-9F63927F84AF}"/>
              </a:ext>
            </a:extLst>
          </p:cNvPr>
          <p:cNvSpPr txBox="1"/>
          <p:nvPr/>
        </p:nvSpPr>
        <p:spPr>
          <a:xfrm>
            <a:off x="241191" y="3190615"/>
            <a:ext cx="2002106" cy="5078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index.html</a:t>
            </a:r>
          </a:p>
          <a:p>
            <a:r>
              <a:rPr lang="es-ES" sz="9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9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cf-root</a:t>
            </a:r>
            <a:r>
              <a:rPr lang="es-ES" sz="9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sz="9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cf-root</a:t>
            </a:r>
            <a:r>
              <a:rPr lang="es-ES" sz="9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E5C99B-E1AB-8C85-44B8-87FA0D2E69CA}"/>
              </a:ext>
            </a:extLst>
          </p:cNvPr>
          <p:cNvSpPr txBox="1"/>
          <p:nvPr/>
        </p:nvSpPr>
        <p:spPr>
          <a:xfrm>
            <a:off x="7815480" y="2209800"/>
            <a:ext cx="17977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HomeModule</a:t>
            </a:r>
            <a:endParaRPr lang="es-E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F42DDC8-B087-DE8F-944B-9F6045F1DE45}"/>
              </a:ext>
            </a:extLst>
          </p:cNvPr>
          <p:cNvSpPr txBox="1"/>
          <p:nvPr/>
        </p:nvSpPr>
        <p:spPr>
          <a:xfrm>
            <a:off x="7708548" y="2189"/>
            <a:ext cx="3429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ComponentsModule</a:t>
            </a:r>
            <a:endParaRPr lang="es-E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055B1B9-B197-3C54-8849-A91337EA9C21}"/>
              </a:ext>
            </a:extLst>
          </p:cNvPr>
          <p:cNvSpPr/>
          <p:nvPr/>
        </p:nvSpPr>
        <p:spPr>
          <a:xfrm>
            <a:off x="7841756" y="3811095"/>
            <a:ext cx="3381394" cy="9895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A1A2844-32A5-1502-C906-D2B50802ED3D}"/>
              </a:ext>
            </a:extLst>
          </p:cNvPr>
          <p:cNvSpPr txBox="1"/>
          <p:nvPr/>
        </p:nvSpPr>
        <p:spPr>
          <a:xfrm>
            <a:off x="7942896" y="3908642"/>
            <a:ext cx="3111724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chemeClr val="bg1"/>
                </a:solidFill>
              </a:rPr>
              <a:t>NontFoundComponent</a:t>
            </a:r>
            <a:r>
              <a:rPr lang="es-ES" sz="1200" dirty="0">
                <a:solidFill>
                  <a:schemeClr val="tx1"/>
                </a:solidFill>
              </a:rPr>
              <a:t> &lt;</a:t>
            </a:r>
            <a:r>
              <a:rPr lang="es-ES" sz="1200" dirty="0" err="1">
                <a:solidFill>
                  <a:schemeClr val="tx1"/>
                </a:solidFill>
              </a:rPr>
              <a:t>cf-not-found</a:t>
            </a:r>
            <a:r>
              <a:rPr lang="es-ES" sz="1200" dirty="0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F344177-6AE0-CD99-0FAA-EDEAF9123C18}"/>
              </a:ext>
            </a:extLst>
          </p:cNvPr>
          <p:cNvSpPr txBox="1"/>
          <p:nvPr/>
        </p:nvSpPr>
        <p:spPr>
          <a:xfrm>
            <a:off x="7942896" y="4191000"/>
            <a:ext cx="3111724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/>
              <a:t>HTML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E854335-DDE1-4520-CB4A-BBE24F9B0338}"/>
              </a:ext>
            </a:extLst>
          </p:cNvPr>
          <p:cNvSpPr txBox="1"/>
          <p:nvPr/>
        </p:nvSpPr>
        <p:spPr>
          <a:xfrm>
            <a:off x="7942896" y="4467098"/>
            <a:ext cx="3111724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/>
              <a:t>CSS/SCSS/LCSS…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6EDE0B5-83DA-739C-CD02-7A344425FC85}"/>
              </a:ext>
            </a:extLst>
          </p:cNvPr>
          <p:cNvSpPr txBox="1"/>
          <p:nvPr/>
        </p:nvSpPr>
        <p:spPr>
          <a:xfrm>
            <a:off x="7780839" y="3581400"/>
            <a:ext cx="23794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NotFoundModule</a:t>
            </a:r>
            <a:endParaRPr lang="es-E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7BF456AE-09F0-32A8-9F44-45AD1F0BA7C9}"/>
              </a:ext>
            </a:extLst>
          </p:cNvPr>
          <p:cNvCxnSpPr>
            <a:cxnSpLocks/>
          </p:cNvCxnSpPr>
          <p:nvPr/>
        </p:nvCxnSpPr>
        <p:spPr>
          <a:xfrm flipV="1">
            <a:off x="6541422" y="140689"/>
            <a:ext cx="1167126" cy="1487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B9A7630C-2E62-0A11-A147-7BD0F05E042C}"/>
              </a:ext>
            </a:extLst>
          </p:cNvPr>
          <p:cNvCxnSpPr>
            <a:cxnSpLocks/>
          </p:cNvCxnSpPr>
          <p:nvPr/>
        </p:nvCxnSpPr>
        <p:spPr>
          <a:xfrm>
            <a:off x="6541422" y="1628225"/>
            <a:ext cx="1274058" cy="1634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29AEE7D-2F97-0CA5-187C-AF503F18D21F}"/>
              </a:ext>
            </a:extLst>
          </p:cNvPr>
          <p:cNvCxnSpPr>
            <a:cxnSpLocks/>
          </p:cNvCxnSpPr>
          <p:nvPr/>
        </p:nvCxnSpPr>
        <p:spPr>
          <a:xfrm flipV="1">
            <a:off x="6541422" y="140689"/>
            <a:ext cx="1167126" cy="1487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C99AC0F6-8F3C-95B0-C371-2EAE89822846}"/>
              </a:ext>
            </a:extLst>
          </p:cNvPr>
          <p:cNvCxnSpPr>
            <a:cxnSpLocks/>
          </p:cNvCxnSpPr>
          <p:nvPr/>
        </p:nvCxnSpPr>
        <p:spPr>
          <a:xfrm>
            <a:off x="6541422" y="1628225"/>
            <a:ext cx="1274058" cy="1634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F2E7A695-160C-36E0-8B27-551BBDA48782}"/>
              </a:ext>
            </a:extLst>
          </p:cNvPr>
          <p:cNvCxnSpPr>
            <a:cxnSpLocks/>
          </p:cNvCxnSpPr>
          <p:nvPr/>
        </p:nvCxnSpPr>
        <p:spPr>
          <a:xfrm>
            <a:off x="6489365" y="1942513"/>
            <a:ext cx="1262381" cy="4000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5672F40-4780-2AE4-B9CE-55799BBBEAA5}"/>
              </a:ext>
            </a:extLst>
          </p:cNvPr>
          <p:cNvSpPr txBox="1"/>
          <p:nvPr/>
        </p:nvSpPr>
        <p:spPr>
          <a:xfrm>
            <a:off x="878902" y="4784467"/>
            <a:ext cx="1375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Lazy</a:t>
            </a:r>
            <a:r>
              <a:rPr lang="es-ES" dirty="0"/>
              <a:t> </a:t>
            </a:r>
            <a:r>
              <a:rPr lang="es-ES" dirty="0" err="1"/>
              <a:t>Loading</a:t>
            </a:r>
            <a:endParaRPr lang="es-ES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EC624FD-8D54-2429-66D9-BE379AB51891}"/>
              </a:ext>
            </a:extLst>
          </p:cNvPr>
          <p:cNvSpPr/>
          <p:nvPr/>
        </p:nvSpPr>
        <p:spPr>
          <a:xfrm>
            <a:off x="7833090" y="5106495"/>
            <a:ext cx="3381394" cy="9895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D638A44-A325-94E2-6E75-D9CC21E5740A}"/>
              </a:ext>
            </a:extLst>
          </p:cNvPr>
          <p:cNvSpPr txBox="1"/>
          <p:nvPr/>
        </p:nvSpPr>
        <p:spPr>
          <a:xfrm>
            <a:off x="7934230" y="5204042"/>
            <a:ext cx="3111724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chemeClr val="bg1"/>
                </a:solidFill>
              </a:rPr>
              <a:t>OperationsComponent</a:t>
            </a:r>
            <a:r>
              <a:rPr lang="es-ES" sz="1200" dirty="0">
                <a:solidFill>
                  <a:schemeClr val="tx1"/>
                </a:solidFill>
              </a:rPr>
              <a:t> &lt;</a:t>
            </a:r>
            <a:r>
              <a:rPr lang="es-ES" sz="1200" dirty="0" err="1">
                <a:solidFill>
                  <a:schemeClr val="tx1"/>
                </a:solidFill>
              </a:rPr>
              <a:t>cf-operations</a:t>
            </a:r>
            <a:r>
              <a:rPr lang="es-ES" sz="1200" dirty="0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5526EEF-7572-576A-B1C4-4CE655B305AF}"/>
              </a:ext>
            </a:extLst>
          </p:cNvPr>
          <p:cNvSpPr txBox="1"/>
          <p:nvPr/>
        </p:nvSpPr>
        <p:spPr>
          <a:xfrm>
            <a:off x="7934230" y="5486400"/>
            <a:ext cx="3111724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/>
              <a:t>HTML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9AE0860-24B4-2155-CF92-E7A450AAF475}"/>
              </a:ext>
            </a:extLst>
          </p:cNvPr>
          <p:cNvSpPr txBox="1"/>
          <p:nvPr/>
        </p:nvSpPr>
        <p:spPr>
          <a:xfrm>
            <a:off x="7934230" y="5762498"/>
            <a:ext cx="3111724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/>
              <a:t>CSS/SCSS/LCSS…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69602EB-88B2-E251-FB90-6A2DFB79702B}"/>
              </a:ext>
            </a:extLst>
          </p:cNvPr>
          <p:cNvSpPr txBox="1"/>
          <p:nvPr/>
        </p:nvSpPr>
        <p:spPr>
          <a:xfrm>
            <a:off x="7772173" y="4876800"/>
            <a:ext cx="23794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OperationsModule</a:t>
            </a:r>
            <a:endParaRPr lang="es-E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17614C3-1917-F67C-01BB-141915C3C12D}"/>
              </a:ext>
            </a:extLst>
          </p:cNvPr>
          <p:cNvSpPr txBox="1"/>
          <p:nvPr/>
        </p:nvSpPr>
        <p:spPr>
          <a:xfrm>
            <a:off x="7843706" y="6096000"/>
            <a:ext cx="3350857" cy="9233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tx1"/>
                </a:solidFill>
              </a:rPr>
              <a:t>OperationsRoutingModule</a:t>
            </a:r>
            <a:endParaRPr lang="es-ES" dirty="0">
              <a:solidFill>
                <a:schemeClr val="tx1"/>
              </a:solidFill>
            </a:endParaRPr>
          </a:p>
          <a:p>
            <a:endParaRPr lang="es-ES" dirty="0">
              <a:solidFill>
                <a:schemeClr val="tx1"/>
              </a:solidFill>
            </a:endParaRPr>
          </a:p>
          <a:p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0280FBD-57E6-E081-683B-3A0F07E75A0B}"/>
              </a:ext>
            </a:extLst>
          </p:cNvPr>
          <p:cNvSpPr txBox="1"/>
          <p:nvPr/>
        </p:nvSpPr>
        <p:spPr>
          <a:xfrm>
            <a:off x="7977514" y="6486621"/>
            <a:ext cx="3146376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const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[];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FBC66953-6131-6CF1-D2BC-0ACECDE118AC}"/>
              </a:ext>
            </a:extLst>
          </p:cNvPr>
          <p:cNvCxnSpPr>
            <a:cxnSpLocks/>
          </p:cNvCxnSpPr>
          <p:nvPr/>
        </p:nvCxnSpPr>
        <p:spPr>
          <a:xfrm>
            <a:off x="6565423" y="1724799"/>
            <a:ext cx="1259712" cy="2415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4597624C-ED99-B274-CAA0-BB61E7A43483}"/>
              </a:ext>
            </a:extLst>
          </p:cNvPr>
          <p:cNvSpPr txBox="1"/>
          <p:nvPr/>
        </p:nvSpPr>
        <p:spPr>
          <a:xfrm>
            <a:off x="-839788" y="5481041"/>
            <a:ext cx="8337863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path: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"operations"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loadChildren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'./views/operations/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operations.module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OperationsModule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},</a:t>
            </a:r>
          </a:p>
        </p:txBody>
      </p:sp>
    </p:spTree>
    <p:extLst>
      <p:ext uri="{BB962C8B-B14F-4D97-AF65-F5344CB8AC3E}">
        <p14:creationId xmlns:p14="http://schemas.microsoft.com/office/powerpoint/2010/main" val="3851775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43759EB-2D5C-40C3-AE2F-8DF9EA47E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Lazy</a:t>
            </a:r>
            <a:r>
              <a:rPr lang="es-ES" dirty="0"/>
              <a:t> </a:t>
            </a:r>
            <a:r>
              <a:rPr lang="es-ES" dirty="0" err="1"/>
              <a:t>Loading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21926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EB496DF-DF4B-4CB9-DF38-4BF323626CAE}"/>
              </a:ext>
            </a:extLst>
          </p:cNvPr>
          <p:cNvSpPr txBox="1"/>
          <p:nvPr/>
        </p:nvSpPr>
        <p:spPr>
          <a:xfrm>
            <a:off x="626769" y="539620"/>
            <a:ext cx="20574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Navegador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0E71734-B799-116E-E942-4FC550F1CF1A}"/>
              </a:ext>
            </a:extLst>
          </p:cNvPr>
          <p:cNvSpPr txBox="1"/>
          <p:nvPr/>
        </p:nvSpPr>
        <p:spPr>
          <a:xfrm>
            <a:off x="5732169" y="539620"/>
            <a:ext cx="1659325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Servidor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66EB41E-30F2-7D18-AFDD-63620FE9040A}"/>
              </a:ext>
            </a:extLst>
          </p:cNvPr>
          <p:cNvSpPr txBox="1"/>
          <p:nvPr/>
        </p:nvSpPr>
        <p:spPr>
          <a:xfrm>
            <a:off x="7865769" y="539620"/>
            <a:ext cx="1659325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Servicios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6D9D772-F3FD-90C3-CDEC-3783C42ACB12}"/>
              </a:ext>
            </a:extLst>
          </p:cNvPr>
          <p:cNvSpPr txBox="1"/>
          <p:nvPr/>
        </p:nvSpPr>
        <p:spPr>
          <a:xfrm>
            <a:off x="10056812" y="533400"/>
            <a:ext cx="1659325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BDD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239A6281-7E4A-F4F4-0B6E-06CA6B5001A3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684169" y="724286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99165BA-FF2D-3B4E-0AD9-C77904734F6E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391494" y="718066"/>
            <a:ext cx="474275" cy="6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6ABB220-1CEC-315A-823E-640D5280C7A7}"/>
              </a:ext>
            </a:extLst>
          </p:cNvPr>
          <p:cNvCxnSpPr>
            <a:cxnSpLocks/>
          </p:cNvCxnSpPr>
          <p:nvPr/>
        </p:nvCxnSpPr>
        <p:spPr>
          <a:xfrm>
            <a:off x="9582537" y="711846"/>
            <a:ext cx="474275" cy="6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9355817-86D4-6F8E-46FB-A7C116AB40B5}"/>
              </a:ext>
            </a:extLst>
          </p:cNvPr>
          <p:cNvSpPr txBox="1"/>
          <p:nvPr/>
        </p:nvSpPr>
        <p:spPr>
          <a:xfrm>
            <a:off x="3903369" y="463420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HTTP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714F505-4398-F85A-D4C0-659942BBE8A7}"/>
              </a:ext>
            </a:extLst>
          </p:cNvPr>
          <p:cNvSpPr txBox="1"/>
          <p:nvPr/>
        </p:nvSpPr>
        <p:spPr>
          <a:xfrm>
            <a:off x="7342659" y="289059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HTTP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FCF861D-2E7B-8D4F-B96D-BE7437D7D91D}"/>
              </a:ext>
            </a:extLst>
          </p:cNvPr>
          <p:cNvSpPr txBox="1"/>
          <p:nvPr/>
        </p:nvSpPr>
        <p:spPr>
          <a:xfrm>
            <a:off x="9380968" y="278754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TDE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E127E19-4D90-2013-44B8-23884E779BDA}"/>
              </a:ext>
            </a:extLst>
          </p:cNvPr>
          <p:cNvSpPr txBox="1"/>
          <p:nvPr/>
        </p:nvSpPr>
        <p:spPr>
          <a:xfrm>
            <a:off x="3808412" y="902732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20ms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03449E4-0814-49BF-E980-476B0ED9E734}"/>
              </a:ext>
            </a:extLst>
          </p:cNvPr>
          <p:cNvSpPr txBox="1"/>
          <p:nvPr/>
        </p:nvSpPr>
        <p:spPr>
          <a:xfrm>
            <a:off x="7342659" y="941989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2ms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3926A8B-77DD-724A-778B-9FF4BFBECAB6}"/>
              </a:ext>
            </a:extLst>
          </p:cNvPr>
          <p:cNvSpPr txBox="1"/>
          <p:nvPr/>
        </p:nvSpPr>
        <p:spPr>
          <a:xfrm>
            <a:off x="9656845" y="94198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&lt;1ms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FFE4E2D6-2ECF-DE1B-E6F9-74CFCF872213}"/>
              </a:ext>
            </a:extLst>
          </p:cNvPr>
          <p:cNvCxnSpPr>
            <a:cxnSpLocks/>
          </p:cNvCxnSpPr>
          <p:nvPr/>
        </p:nvCxnSpPr>
        <p:spPr>
          <a:xfrm>
            <a:off x="2817812" y="1676400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169FD11-C5DE-B1F3-12B3-882209075F29}"/>
              </a:ext>
            </a:extLst>
          </p:cNvPr>
          <p:cNvCxnSpPr>
            <a:cxnSpLocks/>
          </p:cNvCxnSpPr>
          <p:nvPr/>
        </p:nvCxnSpPr>
        <p:spPr>
          <a:xfrm>
            <a:off x="2892424" y="1905000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BF28130-BD41-7280-79E2-19290D497B72}"/>
              </a:ext>
            </a:extLst>
          </p:cNvPr>
          <p:cNvCxnSpPr>
            <a:cxnSpLocks/>
          </p:cNvCxnSpPr>
          <p:nvPr/>
        </p:nvCxnSpPr>
        <p:spPr>
          <a:xfrm>
            <a:off x="2970212" y="2057400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3A694F4-9D61-581C-F6E5-E7D2DBEA6296}"/>
              </a:ext>
            </a:extLst>
          </p:cNvPr>
          <p:cNvCxnSpPr>
            <a:cxnSpLocks/>
          </p:cNvCxnSpPr>
          <p:nvPr/>
        </p:nvCxnSpPr>
        <p:spPr>
          <a:xfrm>
            <a:off x="3122612" y="2209800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856A029-10D2-9D30-9DC7-7597BC645ADB}"/>
              </a:ext>
            </a:extLst>
          </p:cNvPr>
          <p:cNvCxnSpPr>
            <a:cxnSpLocks/>
          </p:cNvCxnSpPr>
          <p:nvPr/>
        </p:nvCxnSpPr>
        <p:spPr>
          <a:xfrm>
            <a:off x="3275012" y="2362200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2D4403BC-C975-A3DE-DB5D-525E3E631092}"/>
              </a:ext>
            </a:extLst>
          </p:cNvPr>
          <p:cNvCxnSpPr>
            <a:cxnSpLocks/>
          </p:cNvCxnSpPr>
          <p:nvPr/>
        </p:nvCxnSpPr>
        <p:spPr>
          <a:xfrm>
            <a:off x="3427412" y="2514600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8AAD4F1-12D6-7EF9-6B87-4C55C652D476}"/>
              </a:ext>
            </a:extLst>
          </p:cNvPr>
          <p:cNvSpPr txBox="1"/>
          <p:nvPr/>
        </p:nvSpPr>
        <p:spPr>
          <a:xfrm>
            <a:off x="3898671" y="3478383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500ms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80DCB8E-B9A1-5BBB-43BB-6518A8819202}"/>
              </a:ext>
            </a:extLst>
          </p:cNvPr>
          <p:cNvSpPr txBox="1"/>
          <p:nvPr/>
        </p:nvSpPr>
        <p:spPr>
          <a:xfrm>
            <a:off x="3801394" y="1401539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20ms</a:t>
            </a:r>
          </a:p>
        </p:txBody>
      </p:sp>
    </p:spTree>
    <p:extLst>
      <p:ext uri="{BB962C8B-B14F-4D97-AF65-F5344CB8AC3E}">
        <p14:creationId xmlns:p14="http://schemas.microsoft.com/office/powerpoint/2010/main" val="1438318417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EB496DF-DF4B-4CB9-DF38-4BF323626CAE}"/>
              </a:ext>
            </a:extLst>
          </p:cNvPr>
          <p:cNvSpPr txBox="1"/>
          <p:nvPr/>
        </p:nvSpPr>
        <p:spPr>
          <a:xfrm>
            <a:off x="586303" y="620494"/>
            <a:ext cx="20574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Navegador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0E71734-B799-116E-E942-4FC550F1CF1A}"/>
              </a:ext>
            </a:extLst>
          </p:cNvPr>
          <p:cNvSpPr txBox="1"/>
          <p:nvPr/>
        </p:nvSpPr>
        <p:spPr>
          <a:xfrm>
            <a:off x="5691703" y="620494"/>
            <a:ext cx="1659325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Servidor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66EB41E-30F2-7D18-AFDD-63620FE9040A}"/>
              </a:ext>
            </a:extLst>
          </p:cNvPr>
          <p:cNvSpPr txBox="1"/>
          <p:nvPr/>
        </p:nvSpPr>
        <p:spPr>
          <a:xfrm>
            <a:off x="7825303" y="620494"/>
            <a:ext cx="1659325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Servicios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6D9D772-F3FD-90C3-CDEC-3783C42ACB12}"/>
              </a:ext>
            </a:extLst>
          </p:cNvPr>
          <p:cNvSpPr txBox="1"/>
          <p:nvPr/>
        </p:nvSpPr>
        <p:spPr>
          <a:xfrm>
            <a:off x="10016346" y="614274"/>
            <a:ext cx="1659325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BDD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239A6281-7E4A-F4F4-0B6E-06CA6B5001A3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643703" y="805160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99165BA-FF2D-3B4E-0AD9-C77904734F6E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351028" y="798940"/>
            <a:ext cx="474275" cy="6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6ABB220-1CEC-315A-823E-640D5280C7A7}"/>
              </a:ext>
            </a:extLst>
          </p:cNvPr>
          <p:cNvCxnSpPr>
            <a:cxnSpLocks/>
          </p:cNvCxnSpPr>
          <p:nvPr/>
        </p:nvCxnSpPr>
        <p:spPr>
          <a:xfrm>
            <a:off x="9542071" y="792720"/>
            <a:ext cx="474275" cy="6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9355817-86D4-6F8E-46FB-A7C116AB40B5}"/>
              </a:ext>
            </a:extLst>
          </p:cNvPr>
          <p:cNvSpPr txBox="1"/>
          <p:nvPr/>
        </p:nvSpPr>
        <p:spPr>
          <a:xfrm>
            <a:off x="3862903" y="544294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HTTP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714F505-4398-F85A-D4C0-659942BBE8A7}"/>
              </a:ext>
            </a:extLst>
          </p:cNvPr>
          <p:cNvSpPr txBox="1"/>
          <p:nvPr/>
        </p:nvSpPr>
        <p:spPr>
          <a:xfrm>
            <a:off x="7302193" y="369933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HTTP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FCF861D-2E7B-8D4F-B96D-BE7437D7D91D}"/>
              </a:ext>
            </a:extLst>
          </p:cNvPr>
          <p:cNvSpPr txBox="1"/>
          <p:nvPr/>
        </p:nvSpPr>
        <p:spPr>
          <a:xfrm>
            <a:off x="9340502" y="359628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TDE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E127E19-4D90-2013-44B8-23884E779BDA}"/>
              </a:ext>
            </a:extLst>
          </p:cNvPr>
          <p:cNvSpPr txBox="1"/>
          <p:nvPr/>
        </p:nvSpPr>
        <p:spPr>
          <a:xfrm>
            <a:off x="3767946" y="983606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20ms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03449E4-0814-49BF-E980-476B0ED9E734}"/>
              </a:ext>
            </a:extLst>
          </p:cNvPr>
          <p:cNvSpPr txBox="1"/>
          <p:nvPr/>
        </p:nvSpPr>
        <p:spPr>
          <a:xfrm>
            <a:off x="7302193" y="1022863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2ms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3926A8B-77DD-724A-778B-9FF4BFBECAB6}"/>
              </a:ext>
            </a:extLst>
          </p:cNvPr>
          <p:cNvSpPr txBox="1"/>
          <p:nvPr/>
        </p:nvSpPr>
        <p:spPr>
          <a:xfrm>
            <a:off x="9616379" y="102286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&lt;1ms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62BEFF0E-1957-0CFE-E06B-32475E205A28}"/>
              </a:ext>
            </a:extLst>
          </p:cNvPr>
          <p:cNvCxnSpPr>
            <a:cxnSpLocks/>
          </p:cNvCxnSpPr>
          <p:nvPr/>
        </p:nvCxnSpPr>
        <p:spPr>
          <a:xfrm>
            <a:off x="2777346" y="1757274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5B82B801-670E-4A6F-107E-D9D4E1B3F00F}"/>
              </a:ext>
            </a:extLst>
          </p:cNvPr>
          <p:cNvCxnSpPr>
            <a:cxnSpLocks/>
          </p:cNvCxnSpPr>
          <p:nvPr/>
        </p:nvCxnSpPr>
        <p:spPr>
          <a:xfrm>
            <a:off x="2851958" y="1985874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68558498-C2D0-ADE0-AD2E-491CA8086BC5}"/>
              </a:ext>
            </a:extLst>
          </p:cNvPr>
          <p:cNvCxnSpPr>
            <a:cxnSpLocks/>
          </p:cNvCxnSpPr>
          <p:nvPr/>
        </p:nvCxnSpPr>
        <p:spPr>
          <a:xfrm>
            <a:off x="2929746" y="2138274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1A5EC8D5-6544-7CA2-6596-AD079CE9D4B3}"/>
              </a:ext>
            </a:extLst>
          </p:cNvPr>
          <p:cNvCxnSpPr>
            <a:cxnSpLocks/>
          </p:cNvCxnSpPr>
          <p:nvPr/>
        </p:nvCxnSpPr>
        <p:spPr>
          <a:xfrm>
            <a:off x="3082146" y="2290674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B7E2B81-DAA8-7BF4-4CFF-C149CABD943D}"/>
              </a:ext>
            </a:extLst>
          </p:cNvPr>
          <p:cNvCxnSpPr>
            <a:cxnSpLocks/>
          </p:cNvCxnSpPr>
          <p:nvPr/>
        </p:nvCxnSpPr>
        <p:spPr>
          <a:xfrm>
            <a:off x="3234546" y="2443074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F3EE8F92-F25A-A4BB-7E06-38778C6040A7}"/>
              </a:ext>
            </a:extLst>
          </p:cNvPr>
          <p:cNvCxnSpPr>
            <a:cxnSpLocks/>
          </p:cNvCxnSpPr>
          <p:nvPr/>
        </p:nvCxnSpPr>
        <p:spPr>
          <a:xfrm>
            <a:off x="3386946" y="2595474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521D22C-489E-0346-8E0F-6B3FE36CC77C}"/>
              </a:ext>
            </a:extLst>
          </p:cNvPr>
          <p:cNvSpPr txBox="1"/>
          <p:nvPr/>
        </p:nvSpPr>
        <p:spPr>
          <a:xfrm>
            <a:off x="4101109" y="2671685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100ms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8DB9270-B95F-09C0-0B5F-32AB705C635E}"/>
              </a:ext>
            </a:extLst>
          </p:cNvPr>
          <p:cNvSpPr txBox="1"/>
          <p:nvPr/>
        </p:nvSpPr>
        <p:spPr>
          <a:xfrm>
            <a:off x="3760928" y="1482413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20ms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46B94B0-63A2-BEDA-0003-DC9403AC0C5F}"/>
              </a:ext>
            </a:extLst>
          </p:cNvPr>
          <p:cNvSpPr txBox="1"/>
          <p:nvPr/>
        </p:nvSpPr>
        <p:spPr>
          <a:xfrm>
            <a:off x="594046" y="3688312"/>
            <a:ext cx="20574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Navegador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596189D-4C91-C290-AFD3-B82F4385FEA3}"/>
              </a:ext>
            </a:extLst>
          </p:cNvPr>
          <p:cNvSpPr txBox="1"/>
          <p:nvPr/>
        </p:nvSpPr>
        <p:spPr>
          <a:xfrm>
            <a:off x="5772595" y="3691422"/>
            <a:ext cx="1659325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Servidor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FA6103E-71E6-E37D-6EA0-5442116821FC}"/>
              </a:ext>
            </a:extLst>
          </p:cNvPr>
          <p:cNvSpPr txBox="1"/>
          <p:nvPr/>
        </p:nvSpPr>
        <p:spPr>
          <a:xfrm>
            <a:off x="7906195" y="3691422"/>
            <a:ext cx="1659325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Servicios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E7FBEBE-529A-0851-2A96-46C4C11E319B}"/>
              </a:ext>
            </a:extLst>
          </p:cNvPr>
          <p:cNvSpPr txBox="1"/>
          <p:nvPr/>
        </p:nvSpPr>
        <p:spPr>
          <a:xfrm>
            <a:off x="10097238" y="3685202"/>
            <a:ext cx="1659325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BDD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307CA68-860F-1226-058C-A7DF3D756172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7431920" y="3869868"/>
            <a:ext cx="474275" cy="6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8506ECEE-A495-AF94-5B41-BFE4977C254C}"/>
              </a:ext>
            </a:extLst>
          </p:cNvPr>
          <p:cNvCxnSpPr>
            <a:cxnSpLocks/>
          </p:cNvCxnSpPr>
          <p:nvPr/>
        </p:nvCxnSpPr>
        <p:spPr>
          <a:xfrm>
            <a:off x="9622963" y="3863648"/>
            <a:ext cx="474275" cy="6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69919EE-7A21-7F3E-CDCD-25EDE60D4A8C}"/>
              </a:ext>
            </a:extLst>
          </p:cNvPr>
          <p:cNvSpPr txBox="1"/>
          <p:nvPr/>
        </p:nvSpPr>
        <p:spPr>
          <a:xfrm>
            <a:off x="7383085" y="3440861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HTTP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700889E-A0CB-6C11-B93E-BF6A3F0DE313}"/>
              </a:ext>
            </a:extLst>
          </p:cNvPr>
          <p:cNvSpPr txBox="1"/>
          <p:nvPr/>
        </p:nvSpPr>
        <p:spPr>
          <a:xfrm>
            <a:off x="9421394" y="3430556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TDE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18F61F7-175E-2EAB-7691-D5EAC8239401}"/>
              </a:ext>
            </a:extLst>
          </p:cNvPr>
          <p:cNvSpPr txBox="1"/>
          <p:nvPr/>
        </p:nvSpPr>
        <p:spPr>
          <a:xfrm>
            <a:off x="7383085" y="4093791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2ms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C1D89AE-56D4-57FE-85EE-AA03B6525F2E}"/>
              </a:ext>
            </a:extLst>
          </p:cNvPr>
          <p:cNvSpPr txBox="1"/>
          <p:nvPr/>
        </p:nvSpPr>
        <p:spPr>
          <a:xfrm>
            <a:off x="9697271" y="40937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&lt;1ms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300E6DFD-AD86-9967-A743-AF93CF17018E}"/>
              </a:ext>
            </a:extLst>
          </p:cNvPr>
          <p:cNvCxnSpPr>
            <a:cxnSpLocks/>
          </p:cNvCxnSpPr>
          <p:nvPr/>
        </p:nvCxnSpPr>
        <p:spPr>
          <a:xfrm>
            <a:off x="2651446" y="3885419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B100A79-BC8B-E961-2E1E-D78213FAECC4}"/>
              </a:ext>
            </a:extLst>
          </p:cNvPr>
          <p:cNvSpPr txBox="1"/>
          <p:nvPr/>
        </p:nvSpPr>
        <p:spPr>
          <a:xfrm>
            <a:off x="594046" y="5081510"/>
            <a:ext cx="20574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Navegador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832733F-88F9-EF22-1519-02CAE6A93649}"/>
              </a:ext>
            </a:extLst>
          </p:cNvPr>
          <p:cNvSpPr txBox="1"/>
          <p:nvPr/>
        </p:nvSpPr>
        <p:spPr>
          <a:xfrm>
            <a:off x="5772595" y="5084620"/>
            <a:ext cx="1659325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Servidor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C76A6BF-84D4-5F6D-E5B0-C704C4A68C14}"/>
              </a:ext>
            </a:extLst>
          </p:cNvPr>
          <p:cNvSpPr txBox="1"/>
          <p:nvPr/>
        </p:nvSpPr>
        <p:spPr>
          <a:xfrm>
            <a:off x="7906195" y="5084620"/>
            <a:ext cx="1659325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Servicios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B969FE1-CFEE-5BC8-F75D-275FB90BDC3B}"/>
              </a:ext>
            </a:extLst>
          </p:cNvPr>
          <p:cNvSpPr txBox="1"/>
          <p:nvPr/>
        </p:nvSpPr>
        <p:spPr>
          <a:xfrm>
            <a:off x="10097238" y="5078400"/>
            <a:ext cx="1659325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BDD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3DE910DB-8364-2B1D-8B1A-DF93AE2E3FA6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7431920" y="5263066"/>
            <a:ext cx="474275" cy="6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0C5EC3AA-2688-84D7-92A6-693A43968DA2}"/>
              </a:ext>
            </a:extLst>
          </p:cNvPr>
          <p:cNvCxnSpPr>
            <a:cxnSpLocks/>
          </p:cNvCxnSpPr>
          <p:nvPr/>
        </p:nvCxnSpPr>
        <p:spPr>
          <a:xfrm>
            <a:off x="9622963" y="5256846"/>
            <a:ext cx="474275" cy="6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2BA7D665-5A32-5853-E6C8-F1D679667225}"/>
              </a:ext>
            </a:extLst>
          </p:cNvPr>
          <p:cNvSpPr txBox="1"/>
          <p:nvPr/>
        </p:nvSpPr>
        <p:spPr>
          <a:xfrm>
            <a:off x="7383085" y="4834059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HTTP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7283C6F-1D25-5D5B-0FA0-B1412DB80E52}"/>
              </a:ext>
            </a:extLst>
          </p:cNvPr>
          <p:cNvSpPr txBox="1"/>
          <p:nvPr/>
        </p:nvSpPr>
        <p:spPr>
          <a:xfrm>
            <a:off x="9421394" y="4823754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TDE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F4A2BE6-A254-240B-2A8F-F5357E4D866B}"/>
              </a:ext>
            </a:extLst>
          </p:cNvPr>
          <p:cNvSpPr txBox="1"/>
          <p:nvPr/>
        </p:nvSpPr>
        <p:spPr>
          <a:xfrm>
            <a:off x="7383085" y="5486989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2ms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69D9BEAD-47D0-327C-5512-D230E779F44A}"/>
              </a:ext>
            </a:extLst>
          </p:cNvPr>
          <p:cNvSpPr txBox="1"/>
          <p:nvPr/>
        </p:nvSpPr>
        <p:spPr>
          <a:xfrm>
            <a:off x="9697271" y="548698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&lt;1ms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1E6CD504-7457-BB04-63E6-C3C8BE38A861}"/>
              </a:ext>
            </a:extLst>
          </p:cNvPr>
          <p:cNvCxnSpPr>
            <a:cxnSpLocks/>
          </p:cNvCxnSpPr>
          <p:nvPr/>
        </p:nvCxnSpPr>
        <p:spPr>
          <a:xfrm>
            <a:off x="2651446" y="5278617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511E2F6C-D14E-D01F-1DD5-48F86B0FC796}"/>
              </a:ext>
            </a:extLst>
          </p:cNvPr>
          <p:cNvSpPr txBox="1"/>
          <p:nvPr/>
        </p:nvSpPr>
        <p:spPr>
          <a:xfrm>
            <a:off x="3780321" y="3909125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200ms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64FCD509-2715-E540-EC09-F3F07FBCCE6D}"/>
              </a:ext>
            </a:extLst>
          </p:cNvPr>
          <p:cNvSpPr txBox="1"/>
          <p:nvPr/>
        </p:nvSpPr>
        <p:spPr>
          <a:xfrm>
            <a:off x="3748840" y="529549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300ms</a:t>
            </a:r>
          </a:p>
        </p:txBody>
      </p:sp>
    </p:spTree>
    <p:extLst>
      <p:ext uri="{BB962C8B-B14F-4D97-AF65-F5344CB8AC3E}">
        <p14:creationId xmlns:p14="http://schemas.microsoft.com/office/powerpoint/2010/main" val="230681494"/>
      </p:ext>
    </p:extLst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RouterModule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s-ES" dirty="0"/>
              <a:t>Las </a:t>
            </a:r>
            <a:r>
              <a:rPr lang="es-ES" i="1" dirty="0"/>
              <a:t>webs SPA</a:t>
            </a:r>
            <a:r>
              <a:rPr lang="es-ES" dirty="0"/>
              <a:t> se crearon por una razón que casi acaba con ellas: </a:t>
            </a:r>
            <a:r>
              <a:rPr lang="es-ES" b="1" dirty="0"/>
              <a:t>la velocidad</a:t>
            </a:r>
            <a:r>
              <a:rPr lang="es-ES" dirty="0"/>
              <a:t>. </a:t>
            </a:r>
          </a:p>
          <a:p>
            <a:pPr fontAlgn="base"/>
            <a:r>
              <a:rPr lang="es-ES" dirty="0"/>
              <a:t>Al realizar el enrutado en el cliente y querer evitar todos los viajes posibles hacia el servidor, se cargó a la única página web con todo el peso de la aplicación. Lo cual la hizo terriblemente lenta en la primera visita de cada usuario.</a:t>
            </a:r>
          </a:p>
        </p:txBody>
      </p:sp>
    </p:spTree>
    <p:extLst>
      <p:ext uri="{BB962C8B-B14F-4D97-AF65-F5344CB8AC3E}">
        <p14:creationId xmlns:p14="http://schemas.microsoft.com/office/powerpoint/2010/main" val="128778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5810D-0752-4573-9E1B-F557D88E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RouterModule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055BCD-08E2-41F3-B034-1D6A02E8A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 </a:t>
            </a:r>
            <a:r>
              <a:rPr lang="es-ES" b="1" dirty="0"/>
              <a:t>impacto de la primera visita</a:t>
            </a:r>
            <a:r>
              <a:rPr lang="es-ES" dirty="0"/>
              <a:t> en una aplicación de intranet no suele ser un problema grave. Pero en internet esa visita puede ser la primera y la última. </a:t>
            </a:r>
          </a:p>
          <a:p>
            <a:r>
              <a:rPr lang="es-ES" dirty="0"/>
              <a:t>La solución viene de mano del concepto de </a:t>
            </a:r>
            <a:r>
              <a:rPr lang="es-ES" b="1" i="1" dirty="0" err="1">
                <a:solidFill>
                  <a:srgbClr val="FF0000"/>
                </a:solidFill>
              </a:rPr>
              <a:t>lazy</a:t>
            </a:r>
            <a:r>
              <a:rPr lang="es-ES" b="1" i="1" dirty="0">
                <a:solidFill>
                  <a:srgbClr val="FF0000"/>
                </a:solidFill>
              </a:rPr>
              <a:t> </a:t>
            </a:r>
            <a:r>
              <a:rPr lang="es-ES" b="1" i="1" dirty="0" err="1">
                <a:solidFill>
                  <a:srgbClr val="FF0000"/>
                </a:solidFill>
              </a:rPr>
              <a:t>loading</a:t>
            </a:r>
            <a:r>
              <a:rPr lang="es-ES" dirty="0"/>
              <a:t> o carga perezosa. </a:t>
            </a:r>
          </a:p>
          <a:p>
            <a:r>
              <a:rPr lang="es-ES" dirty="0"/>
              <a:t>Consiste en diferir la carga de la lógica asociada a una dirección hasta el momento en que sea activada dicha ruta. De esa forma, </a:t>
            </a:r>
            <a:r>
              <a:rPr lang="es-ES" b="1" dirty="0"/>
              <a:t>una página no visitada es una página que no pesa</a:t>
            </a:r>
            <a:r>
              <a:rPr lang="es-ES" dirty="0"/>
              <a:t>. Y la carga inicial se hace mucho más liviana.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34729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FF6842-505A-4538-9DC9-58D7EF96C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Webpack</a:t>
            </a:r>
            <a:r>
              <a:rPr lang="es-ES" dirty="0"/>
              <a:t> y los </a:t>
            </a:r>
            <a:r>
              <a:rPr lang="es-ES" dirty="0" err="1"/>
              <a:t>bundles</a:t>
            </a:r>
            <a:r>
              <a:rPr lang="es-ES" dirty="0"/>
              <a:t> por ruta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EE64388-B2E6-4889-B30A-D5271FF71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ES" b="1" dirty="0">
                <a:solidFill>
                  <a:srgbClr val="FF0000"/>
                </a:solidFill>
              </a:rPr>
              <a:t>Objetivo: adelgazar el peso del </a:t>
            </a:r>
            <a:r>
              <a:rPr lang="es-ES" b="1" i="1" dirty="0" err="1">
                <a:solidFill>
                  <a:srgbClr val="FF0000"/>
                </a:solidFill>
              </a:rPr>
              <a:t>bundle</a:t>
            </a:r>
            <a:r>
              <a:rPr lang="es-ES" b="1" dirty="0">
                <a:solidFill>
                  <a:srgbClr val="FF0000"/>
                </a:solidFill>
              </a:rPr>
              <a:t> principal</a:t>
            </a:r>
            <a:endParaRPr lang="es-ES" dirty="0"/>
          </a:p>
          <a:p>
            <a:pPr fontAlgn="base"/>
            <a:r>
              <a:rPr lang="es-ES" dirty="0"/>
              <a:t>Para conseguirlo hay que </a:t>
            </a:r>
            <a:r>
              <a:rPr lang="es-ES" b="1" dirty="0"/>
              <a:t>configurar las rutas de forma que no sea necesario importar los componentes a mostrar</a:t>
            </a:r>
            <a:r>
              <a:rPr lang="es-ES" dirty="0"/>
              <a:t>. De otro modo </a:t>
            </a:r>
            <a:r>
              <a:rPr lang="es-ES" i="1" dirty="0" err="1"/>
              <a:t>webpack</a:t>
            </a:r>
            <a:r>
              <a:rPr lang="es-ES" dirty="0"/>
              <a:t> empaquetaría ese componente como algo necesario… y por tanto sería enviado al navegador en el </a:t>
            </a:r>
            <a:r>
              <a:rPr lang="es-ES" i="1" dirty="0" err="1"/>
              <a:t>bundle</a:t>
            </a:r>
            <a:r>
              <a:rPr lang="es-ES" dirty="0"/>
              <a:t> principal sin que sea seguro su uso. </a:t>
            </a:r>
          </a:p>
          <a:p>
            <a:pPr fontAlgn="base"/>
            <a:r>
              <a:rPr lang="es-ES" dirty="0"/>
              <a:t>La solución que ofrecen el </a:t>
            </a:r>
            <a:r>
              <a:rPr lang="es-ES" i="1" dirty="0"/>
              <a:t>cli</a:t>
            </a:r>
            <a:r>
              <a:rPr lang="es-ES" dirty="0"/>
              <a:t> y </a:t>
            </a:r>
            <a:r>
              <a:rPr lang="es-ES" i="1" dirty="0" err="1"/>
              <a:t>webpack</a:t>
            </a:r>
            <a:r>
              <a:rPr lang="es-ES" dirty="0"/>
              <a:t> consiste en </a:t>
            </a:r>
            <a:r>
              <a:rPr lang="es-ES" b="1" dirty="0"/>
              <a:t>delegar la asignación del componente a otro módulo, pero sin importarlo</a:t>
            </a:r>
            <a:r>
              <a:rPr lang="es-ES" dirty="0"/>
              <a:t>.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76789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A33CA-F381-4A5B-815E-C63624995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Webpack</a:t>
            </a:r>
            <a:r>
              <a:rPr lang="es-ES" dirty="0"/>
              <a:t> y los </a:t>
            </a:r>
            <a:r>
              <a:rPr lang="es-ES" dirty="0" err="1"/>
              <a:t>bundles</a:t>
            </a:r>
            <a:r>
              <a:rPr lang="es-ES" dirty="0"/>
              <a:t> por ruta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F68A5A-C9F1-4A22-A8B4-C60572D1D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Hemos creado un una nueva vista para que sea usada en una nueva dirección llamada </a:t>
            </a:r>
            <a:r>
              <a:rPr lang="es-ES" b="1" dirty="0"/>
              <a:t>/</a:t>
            </a:r>
            <a:r>
              <a:rPr lang="es-ES" b="1" dirty="0" err="1"/>
              <a:t>operations</a:t>
            </a:r>
            <a:r>
              <a:rPr lang="es-ES" dirty="0"/>
              <a:t>. </a:t>
            </a:r>
          </a:p>
          <a:p>
            <a:r>
              <a:rPr lang="es-ES" dirty="0"/>
              <a:t>El componente se llama </a:t>
            </a:r>
            <a:r>
              <a:rPr lang="es-ES" b="1" dirty="0" err="1"/>
              <a:t>OperationsComponent</a:t>
            </a:r>
            <a:r>
              <a:rPr lang="es-ES" dirty="0"/>
              <a:t> y se ha </a:t>
            </a:r>
            <a:r>
              <a:rPr lang="es-ES" b="1" dirty="0"/>
              <a:t>declarado pero no exportado </a:t>
            </a:r>
            <a:r>
              <a:rPr lang="es-ES" dirty="0"/>
              <a:t>en el módulo </a:t>
            </a:r>
            <a:r>
              <a:rPr lang="es-ES" b="1" dirty="0" err="1"/>
              <a:t>OperationsModule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A36D504-16D2-4837-8668-6B6499377A58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LAB1e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A16A9B4-3519-469D-BE0C-6DFC0941C025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177B026-8AE3-4A7A-8CE6-C6E5B3589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895600"/>
            <a:ext cx="9599611" cy="64633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&gt; ng g m views/operations </a:t>
            </a:r>
            <a:r>
              <a:rPr lang="en-US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--routing true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&gt; ng g c views/operations/operations --flat</a:t>
            </a:r>
          </a:p>
        </p:txBody>
      </p:sp>
    </p:spTree>
    <p:extLst>
      <p:ext uri="{BB962C8B-B14F-4D97-AF65-F5344CB8AC3E}">
        <p14:creationId xmlns:p14="http://schemas.microsoft.com/office/powerpoint/2010/main" val="2103489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68CF4-3E9D-4FBC-9F2C-FEFAC0613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Webpack</a:t>
            </a:r>
            <a:r>
              <a:rPr lang="es-ES" dirty="0"/>
              <a:t> y los </a:t>
            </a:r>
            <a:r>
              <a:rPr lang="es-ES" dirty="0" err="1"/>
              <a:t>bundles</a:t>
            </a:r>
            <a:r>
              <a:rPr lang="es-ES" dirty="0"/>
              <a:t> por ruta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0FA429-9382-4A1E-9C5B-A5EC85E7A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3" y="1825625"/>
            <a:ext cx="6323229" cy="4351338"/>
          </a:xfrm>
        </p:spPr>
        <p:txBody>
          <a:bodyPr>
            <a:normAutofit/>
          </a:bodyPr>
          <a:lstStyle/>
          <a:p>
            <a:r>
              <a:rPr lang="es-ES" dirty="0"/>
              <a:t>Este módulo no debe ser importado por el </a:t>
            </a:r>
            <a:r>
              <a:rPr lang="es-ES" b="1" dirty="0" err="1"/>
              <a:t>AppModule</a:t>
            </a:r>
            <a:r>
              <a:rPr lang="es-ES" dirty="0"/>
              <a:t>. Simplemente debe usarse su ruta relativa en el módulo de enrutado </a:t>
            </a:r>
            <a:r>
              <a:rPr lang="es-ES" b="1" dirty="0" err="1"/>
              <a:t>AppRoutingModule</a:t>
            </a:r>
            <a:r>
              <a:rPr lang="es-ES" dirty="0"/>
              <a:t> como un valor especial</a:t>
            </a:r>
          </a:p>
          <a:p>
            <a:r>
              <a:rPr lang="es-ES" dirty="0"/>
              <a:t>Fíjate que la dirección del fichero es una cadena de texto asignada a una nueva propiedad de objeto </a:t>
            </a:r>
            <a:r>
              <a:rPr lang="es-ES" dirty="0" err="1"/>
              <a:t>route</a:t>
            </a:r>
            <a:r>
              <a:rPr lang="es-ES" dirty="0"/>
              <a:t>, la propiedad </a:t>
            </a:r>
            <a:r>
              <a:rPr lang="es-ES" b="1" dirty="0" err="1"/>
              <a:t>loadChildren</a:t>
            </a:r>
            <a:r>
              <a:rPr lang="es-ES" b="1" dirty="0"/>
              <a:t>:""</a:t>
            </a:r>
            <a:r>
              <a:rPr lang="es-ES" dirty="0"/>
              <a:t>. </a:t>
            </a:r>
            <a:r>
              <a:rPr lang="es-ES" dirty="0">
                <a:solidFill>
                  <a:srgbClr val="FF0000"/>
                </a:solidFill>
              </a:rPr>
              <a:t>No se está produciendo ninguna importación en </a:t>
            </a:r>
            <a:r>
              <a:rPr lang="es-ES" dirty="0" err="1">
                <a:solidFill>
                  <a:srgbClr val="FF0000"/>
                </a:solidFill>
              </a:rPr>
              <a:t>TypeScript</a:t>
            </a:r>
            <a:r>
              <a:rPr lang="es-ES" dirty="0">
                <a:solidFill>
                  <a:srgbClr val="FF0000"/>
                </a:solidFill>
              </a:rPr>
              <a:t> </a:t>
            </a:r>
            <a:r>
              <a:rPr lang="es-ES" dirty="0"/>
              <a:t>como ocurre con los componentes </a:t>
            </a:r>
            <a:r>
              <a:rPr lang="es-ES" b="1" dirty="0" err="1"/>
              <a:t>HomeComponent</a:t>
            </a:r>
            <a:r>
              <a:rPr lang="es-ES" dirty="0"/>
              <a:t> y </a:t>
            </a:r>
            <a:r>
              <a:rPr lang="es-ES" b="1" dirty="0" err="1"/>
              <a:t>NotFoundComponent</a:t>
            </a:r>
            <a:r>
              <a:rPr lang="es-ES" dirty="0"/>
              <a:t>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48E9AE4-3C8F-4FFA-80A0-D15404430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612" y="1770876"/>
            <a:ext cx="4690672" cy="440120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const routes: Routes = [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path: "",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component: HomeComponent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},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path: "operations",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loadChildren: () =&gt; import('./views/operations/operations.module').then(m =&gt; m.OperationsModule)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},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path: "404",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component: NotFoundComponent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},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path: "**",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redirectTo: "/404"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];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CE9A2CD-A577-4975-B243-ED6094CFE521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LAB1e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A35D4EB-B600-43B1-AF41-A064CDFCFC87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</p:spTree>
    <p:extLst>
      <p:ext uri="{BB962C8B-B14F-4D97-AF65-F5344CB8AC3E}">
        <p14:creationId xmlns:p14="http://schemas.microsoft.com/office/powerpoint/2010/main" val="27543454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68CF4-3E9D-4FBC-9F2C-FEFAC0613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Webpack</a:t>
            </a:r>
            <a:r>
              <a:rPr lang="es-ES" dirty="0"/>
              <a:t> y los </a:t>
            </a:r>
            <a:r>
              <a:rPr lang="es-ES" dirty="0" err="1"/>
              <a:t>bundles</a:t>
            </a:r>
            <a:r>
              <a:rPr lang="es-ES" dirty="0"/>
              <a:t> por ruta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0FA429-9382-4A1E-9C5B-A5EC85E7A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Con esta información </a:t>
            </a:r>
            <a:r>
              <a:rPr lang="es-ES" b="1" dirty="0" err="1"/>
              <a:t>webpack</a:t>
            </a:r>
            <a:r>
              <a:rPr lang="es-ES" dirty="0"/>
              <a:t> va a generar un </a:t>
            </a:r>
            <a:r>
              <a:rPr lang="es-ES" b="1" dirty="0" err="1">
                <a:solidFill>
                  <a:srgbClr val="FF0000"/>
                </a:solidFill>
              </a:rPr>
              <a:t>bundle</a:t>
            </a:r>
            <a:r>
              <a:rPr lang="es-ES" b="1" dirty="0">
                <a:solidFill>
                  <a:srgbClr val="FF0000"/>
                </a:solidFill>
              </a:rPr>
              <a:t> específico </a:t>
            </a:r>
            <a:r>
              <a:rPr lang="es-ES" dirty="0"/>
              <a:t>para este módulo. </a:t>
            </a:r>
          </a:p>
          <a:p>
            <a:r>
              <a:rPr lang="es-ES" dirty="0"/>
              <a:t>Si durante la ejecución se activa la ruta </a:t>
            </a:r>
            <a:r>
              <a:rPr lang="es-ES" b="1" dirty="0"/>
              <a:t>/</a:t>
            </a:r>
            <a:r>
              <a:rPr lang="es-ES" b="1" dirty="0" err="1"/>
              <a:t>operations</a:t>
            </a:r>
            <a:r>
              <a:rPr lang="es-ES" b="1" dirty="0"/>
              <a:t> </a:t>
            </a:r>
            <a:r>
              <a:rPr lang="es-ES" dirty="0"/>
              <a:t>entonces descarga ese paquete y ejecuta su contenido. </a:t>
            </a:r>
          </a:p>
          <a:p>
            <a:r>
              <a:rPr lang="es-ES" dirty="0"/>
              <a:t>Mientras tanto, se queda almacenado en el servidor.</a:t>
            </a:r>
          </a:p>
        </p:txBody>
      </p:sp>
    </p:spTree>
    <p:extLst>
      <p:ext uri="{BB962C8B-B14F-4D97-AF65-F5344CB8AC3E}">
        <p14:creationId xmlns:p14="http://schemas.microsoft.com/office/powerpoint/2010/main" val="22987589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E94381B-9FF4-B054-E056-A8AC04E89116}"/>
              </a:ext>
            </a:extLst>
          </p:cNvPr>
          <p:cNvSpPr txBox="1"/>
          <p:nvPr/>
        </p:nvSpPr>
        <p:spPr>
          <a:xfrm>
            <a:off x="836612" y="1524000"/>
            <a:ext cx="2677855" cy="646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chemeClr val="tx1"/>
                </a:solidFill>
              </a:rPr>
              <a:t>AppRoutingModule</a:t>
            </a:r>
            <a:endParaRPr lang="es-ES" sz="1200" dirty="0">
              <a:solidFill>
                <a:schemeClr val="tx1"/>
              </a:solidFill>
            </a:endParaRPr>
          </a:p>
          <a:p>
            <a:endParaRPr lang="es-ES" sz="1200" dirty="0">
              <a:solidFill>
                <a:schemeClr val="tx1"/>
              </a:solidFill>
            </a:endParaRPr>
          </a:p>
          <a:p>
            <a:endParaRPr lang="es-ES" sz="1200" dirty="0">
              <a:solidFill>
                <a:schemeClr val="tx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4572B9E-E4E1-8630-ABE0-A279140408DA}"/>
              </a:ext>
            </a:extLst>
          </p:cNvPr>
          <p:cNvSpPr txBox="1"/>
          <p:nvPr/>
        </p:nvSpPr>
        <p:spPr>
          <a:xfrm>
            <a:off x="970419" y="1778101"/>
            <a:ext cx="2514443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const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[];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C0C3024-DC4A-C2CA-56B3-110E26C61C39}"/>
              </a:ext>
            </a:extLst>
          </p:cNvPr>
          <p:cNvSpPr txBox="1"/>
          <p:nvPr/>
        </p:nvSpPr>
        <p:spPr>
          <a:xfrm>
            <a:off x="4546312" y="202049"/>
            <a:ext cx="2677855" cy="116955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auth.module</a:t>
            </a:r>
            <a:endParaRPr lang="es-E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s-E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s-E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s-ES" sz="1100" dirty="0">
              <a:solidFill>
                <a:schemeClr val="tx1"/>
              </a:solidFill>
            </a:endParaRPr>
          </a:p>
          <a:p>
            <a:endParaRPr lang="es-ES" sz="1100" dirty="0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B1A44B4-5377-A643-2C27-1D3EDBAB5C15}"/>
              </a:ext>
            </a:extLst>
          </p:cNvPr>
          <p:cNvSpPr txBox="1"/>
          <p:nvPr/>
        </p:nvSpPr>
        <p:spPr>
          <a:xfrm>
            <a:off x="4640718" y="590018"/>
            <a:ext cx="2514443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const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[];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DDAE7BE-C7FE-6BF6-92D4-C27AEC597762}"/>
              </a:ext>
            </a:extLst>
          </p:cNvPr>
          <p:cNvSpPr txBox="1"/>
          <p:nvPr/>
        </p:nvSpPr>
        <p:spPr>
          <a:xfrm>
            <a:off x="4506911" y="2055100"/>
            <a:ext cx="2677855" cy="1092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dashboard.module</a:t>
            </a:r>
            <a:endParaRPr lang="es-E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s-E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s-ES" sz="1100" dirty="0">
              <a:solidFill>
                <a:schemeClr val="tx1"/>
              </a:solidFill>
            </a:endParaRPr>
          </a:p>
          <a:p>
            <a:endParaRPr lang="es-ES" sz="1100" dirty="0">
              <a:solidFill>
                <a:schemeClr val="tx1"/>
              </a:solidFill>
            </a:endParaRPr>
          </a:p>
          <a:p>
            <a:endParaRPr lang="es-ES" sz="1100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9A21594-EFD1-BC67-6400-11EF0F8C9DE8}"/>
              </a:ext>
            </a:extLst>
          </p:cNvPr>
          <p:cNvSpPr txBox="1"/>
          <p:nvPr/>
        </p:nvSpPr>
        <p:spPr>
          <a:xfrm>
            <a:off x="4640718" y="2309201"/>
            <a:ext cx="2514443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const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[];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C2379D2-E075-B283-2F59-87B811E0E818}"/>
              </a:ext>
            </a:extLst>
          </p:cNvPr>
          <p:cNvSpPr txBox="1"/>
          <p:nvPr/>
        </p:nvSpPr>
        <p:spPr>
          <a:xfrm>
            <a:off x="4628017" y="903532"/>
            <a:ext cx="2514443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AuthComponent</a:t>
            </a:r>
            <a:endParaRPr lang="es-E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455F825-6169-AE77-5DC3-D0A830C0E258}"/>
              </a:ext>
            </a:extLst>
          </p:cNvPr>
          <p:cNvSpPr txBox="1"/>
          <p:nvPr/>
        </p:nvSpPr>
        <p:spPr>
          <a:xfrm>
            <a:off x="8432736" y="1547268"/>
            <a:ext cx="2845495" cy="101566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home.module</a:t>
            </a:r>
            <a:endParaRPr lang="es-E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s-E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s-ES" sz="1200" dirty="0">
              <a:solidFill>
                <a:schemeClr val="tx1"/>
              </a:solidFill>
            </a:endParaRPr>
          </a:p>
          <a:p>
            <a:endParaRPr lang="es-ES" sz="1200" dirty="0">
              <a:solidFill>
                <a:schemeClr val="tx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0A8790C-2F6C-3112-09AA-232CA19CA990}"/>
              </a:ext>
            </a:extLst>
          </p:cNvPr>
          <p:cNvSpPr txBox="1"/>
          <p:nvPr/>
        </p:nvSpPr>
        <p:spPr>
          <a:xfrm>
            <a:off x="8566543" y="1914018"/>
            <a:ext cx="2514443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const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[];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62C71B6-CE9C-BC18-EE46-1379A3300991}"/>
              </a:ext>
            </a:extLst>
          </p:cNvPr>
          <p:cNvSpPr txBox="1"/>
          <p:nvPr/>
        </p:nvSpPr>
        <p:spPr>
          <a:xfrm>
            <a:off x="8438768" y="2810940"/>
            <a:ext cx="2845495" cy="73866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status.module</a:t>
            </a:r>
            <a:endParaRPr lang="es-ES" sz="1200" dirty="0">
              <a:solidFill>
                <a:schemeClr val="tx1"/>
              </a:solidFill>
            </a:endParaRPr>
          </a:p>
          <a:p>
            <a:endParaRPr lang="es-ES" sz="1200" dirty="0">
              <a:solidFill>
                <a:schemeClr val="tx1"/>
              </a:solidFill>
            </a:endParaRPr>
          </a:p>
          <a:p>
            <a:endParaRPr lang="es-ES" sz="1200" dirty="0">
              <a:solidFill>
                <a:schemeClr val="tx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5B02230-4036-6D45-2BBF-00D8F48E6043}"/>
              </a:ext>
            </a:extLst>
          </p:cNvPr>
          <p:cNvSpPr txBox="1"/>
          <p:nvPr/>
        </p:nvSpPr>
        <p:spPr>
          <a:xfrm>
            <a:off x="8572575" y="3209418"/>
            <a:ext cx="2514443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const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[];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5433335-6416-BBE2-ABE9-1B50E13AB484}"/>
              </a:ext>
            </a:extLst>
          </p:cNvPr>
          <p:cNvSpPr txBox="1"/>
          <p:nvPr/>
        </p:nvSpPr>
        <p:spPr>
          <a:xfrm>
            <a:off x="8454008" y="3890753"/>
            <a:ext cx="2830255" cy="73866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daily.module</a:t>
            </a:r>
            <a:endParaRPr lang="es-ES" sz="1200" dirty="0">
              <a:solidFill>
                <a:schemeClr val="tx1"/>
              </a:solidFill>
            </a:endParaRPr>
          </a:p>
          <a:p>
            <a:endParaRPr lang="es-ES" sz="1200" dirty="0">
              <a:solidFill>
                <a:schemeClr val="tx1"/>
              </a:solidFill>
            </a:endParaRPr>
          </a:p>
          <a:p>
            <a:endParaRPr lang="es-ES" sz="1200" dirty="0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7C175E6-5ED4-710F-1DCE-5474150402B4}"/>
              </a:ext>
            </a:extLst>
          </p:cNvPr>
          <p:cNvSpPr txBox="1"/>
          <p:nvPr/>
        </p:nvSpPr>
        <p:spPr>
          <a:xfrm>
            <a:off x="8587815" y="4276218"/>
            <a:ext cx="2514443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const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[];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2AD7CF7-7E03-89E9-D22B-325D70A9883E}"/>
              </a:ext>
            </a:extLst>
          </p:cNvPr>
          <p:cNvSpPr txBox="1"/>
          <p:nvPr/>
        </p:nvSpPr>
        <p:spPr>
          <a:xfrm>
            <a:off x="3175934" y="1122258"/>
            <a:ext cx="13309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loadChildren</a:t>
            </a:r>
            <a:endParaRPr lang="es-ES" sz="11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4DA085F-0821-29EA-133C-88B15FB9DBD3}"/>
              </a:ext>
            </a:extLst>
          </p:cNvPr>
          <p:cNvSpPr txBox="1"/>
          <p:nvPr/>
        </p:nvSpPr>
        <p:spPr>
          <a:xfrm>
            <a:off x="3146329" y="2262849"/>
            <a:ext cx="13309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loadChildren</a:t>
            </a:r>
            <a:endParaRPr lang="es-ES" sz="11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395BEF7-45D3-7FC0-51B1-55D64C2014EF}"/>
              </a:ext>
            </a:extLst>
          </p:cNvPr>
          <p:cNvSpPr txBox="1"/>
          <p:nvPr/>
        </p:nvSpPr>
        <p:spPr>
          <a:xfrm>
            <a:off x="4631510" y="2644482"/>
            <a:ext cx="2514443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DashboardView</a:t>
            </a:r>
            <a:endParaRPr lang="es-E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EE600A2-FF7F-79CB-2887-451E4E83D52D}"/>
              </a:ext>
            </a:extLst>
          </p:cNvPr>
          <p:cNvSpPr txBox="1"/>
          <p:nvPr/>
        </p:nvSpPr>
        <p:spPr>
          <a:xfrm>
            <a:off x="7205961" y="1741573"/>
            <a:ext cx="12267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loadChildren</a:t>
            </a:r>
            <a:endParaRPr lang="es-ES" sz="11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15656EF-372E-AC82-E80D-6E211284DA9D}"/>
              </a:ext>
            </a:extLst>
          </p:cNvPr>
          <p:cNvSpPr txBox="1"/>
          <p:nvPr/>
        </p:nvSpPr>
        <p:spPr>
          <a:xfrm>
            <a:off x="7226358" y="3047303"/>
            <a:ext cx="13309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loadChildren</a:t>
            </a:r>
            <a:endParaRPr lang="es-ES" sz="11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1FB6723-8800-F9A9-E74F-A5BA5EA09F6D}"/>
              </a:ext>
            </a:extLst>
          </p:cNvPr>
          <p:cNvSpPr txBox="1"/>
          <p:nvPr/>
        </p:nvSpPr>
        <p:spPr>
          <a:xfrm>
            <a:off x="7224770" y="3994187"/>
            <a:ext cx="13309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loadChildren</a:t>
            </a:r>
            <a:endParaRPr lang="es-ES" sz="11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04F9CC5-E243-C395-4CDD-C4AECBED61D7}"/>
              </a:ext>
            </a:extLst>
          </p:cNvPr>
          <p:cNvSpPr txBox="1"/>
          <p:nvPr/>
        </p:nvSpPr>
        <p:spPr>
          <a:xfrm>
            <a:off x="8566542" y="2189957"/>
            <a:ext cx="2514443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HomeView</a:t>
            </a:r>
            <a:endParaRPr lang="es-E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271C6A0-6720-E5E2-43E3-B2100F5D9F03}"/>
              </a:ext>
            </a:extLst>
          </p:cNvPr>
          <p:cNvCxnSpPr/>
          <p:nvPr/>
        </p:nvCxnSpPr>
        <p:spPr>
          <a:xfrm flipV="1">
            <a:off x="3656012" y="1347353"/>
            <a:ext cx="685800" cy="380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F1645AF9-2642-7C15-C7B1-B49590829D1E}"/>
              </a:ext>
            </a:extLst>
          </p:cNvPr>
          <p:cNvCxnSpPr>
            <a:cxnSpLocks/>
          </p:cNvCxnSpPr>
          <p:nvPr/>
        </p:nvCxnSpPr>
        <p:spPr>
          <a:xfrm>
            <a:off x="3665055" y="1847165"/>
            <a:ext cx="716158" cy="415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6D18DB1-DB31-8E6E-AFDB-B835F07D1D33}"/>
              </a:ext>
            </a:extLst>
          </p:cNvPr>
          <p:cNvCxnSpPr>
            <a:cxnSpLocks/>
          </p:cNvCxnSpPr>
          <p:nvPr/>
        </p:nvCxnSpPr>
        <p:spPr>
          <a:xfrm flipV="1">
            <a:off x="7239612" y="2135674"/>
            <a:ext cx="958102" cy="50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A473E9CF-FD02-0503-2714-298384C38FED}"/>
              </a:ext>
            </a:extLst>
          </p:cNvPr>
          <p:cNvCxnSpPr>
            <a:cxnSpLocks/>
          </p:cNvCxnSpPr>
          <p:nvPr/>
        </p:nvCxnSpPr>
        <p:spPr>
          <a:xfrm>
            <a:off x="7270552" y="2237158"/>
            <a:ext cx="937911" cy="715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88F33230-AE0B-83F8-A214-DC1595755DB7}"/>
              </a:ext>
            </a:extLst>
          </p:cNvPr>
          <p:cNvCxnSpPr>
            <a:cxnSpLocks/>
          </p:cNvCxnSpPr>
          <p:nvPr/>
        </p:nvCxnSpPr>
        <p:spPr>
          <a:xfrm>
            <a:off x="7239612" y="2186416"/>
            <a:ext cx="785421" cy="1903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5E8CC948-59E8-8042-2053-335DF61FB4F7}"/>
              </a:ext>
            </a:extLst>
          </p:cNvPr>
          <p:cNvSpPr txBox="1"/>
          <p:nvPr/>
        </p:nvSpPr>
        <p:spPr>
          <a:xfrm>
            <a:off x="8424403" y="4832225"/>
            <a:ext cx="2859860" cy="73866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parkinmeters.module</a:t>
            </a:r>
            <a:endParaRPr lang="es-ES" sz="1200" dirty="0">
              <a:solidFill>
                <a:schemeClr val="tx1"/>
              </a:solidFill>
            </a:endParaRPr>
          </a:p>
          <a:p>
            <a:endParaRPr lang="es-ES" sz="1200" dirty="0">
              <a:solidFill>
                <a:schemeClr val="tx1"/>
              </a:solidFill>
            </a:endParaRPr>
          </a:p>
          <a:p>
            <a:endParaRPr lang="es-ES" sz="1200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FC65068-E615-2D85-99D5-13F6457B896C}"/>
              </a:ext>
            </a:extLst>
          </p:cNvPr>
          <p:cNvSpPr txBox="1"/>
          <p:nvPr/>
        </p:nvSpPr>
        <p:spPr>
          <a:xfrm>
            <a:off x="8558210" y="5217690"/>
            <a:ext cx="2514443" cy="2769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const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s-E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Routes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[];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46087C1-41E5-4C9E-745E-7D774B9158CA}"/>
              </a:ext>
            </a:extLst>
          </p:cNvPr>
          <p:cNvSpPr txBox="1"/>
          <p:nvPr/>
        </p:nvSpPr>
        <p:spPr>
          <a:xfrm>
            <a:off x="7195165" y="4935659"/>
            <a:ext cx="13309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loadChildren</a:t>
            </a:r>
            <a:endParaRPr lang="es-ES" sz="1100" dirty="0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4A12F0B3-E500-606C-3F4A-F2634B51032D}"/>
              </a:ext>
            </a:extLst>
          </p:cNvPr>
          <p:cNvCxnSpPr>
            <a:cxnSpLocks/>
          </p:cNvCxnSpPr>
          <p:nvPr/>
        </p:nvCxnSpPr>
        <p:spPr>
          <a:xfrm>
            <a:off x="7214371" y="2186416"/>
            <a:ext cx="879668" cy="2824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7A8017A-7771-AC65-0E38-8BC2A31A8237}"/>
              </a:ext>
            </a:extLst>
          </p:cNvPr>
          <p:cNvSpPr txBox="1"/>
          <p:nvPr/>
        </p:nvSpPr>
        <p:spPr>
          <a:xfrm>
            <a:off x="1217612" y="3111472"/>
            <a:ext cx="12715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/</a:t>
            </a:r>
            <a:r>
              <a:rPr lang="es-ES" dirty="0" err="1"/>
              <a:t>user</a:t>
            </a:r>
            <a:endParaRPr lang="es-ES" dirty="0"/>
          </a:p>
          <a:p>
            <a:r>
              <a:rPr lang="es-ES" dirty="0"/>
              <a:t>/</a:t>
            </a:r>
            <a:r>
              <a:rPr lang="es-ES" dirty="0" err="1">
                <a:solidFill>
                  <a:srgbClr val="FF0000"/>
                </a:solidFill>
              </a:rPr>
              <a:t>dashboard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DA04154-DD7F-1FB7-786D-D1E62F6269E5}"/>
              </a:ext>
            </a:extLst>
          </p:cNvPr>
          <p:cNvSpPr txBox="1"/>
          <p:nvPr/>
        </p:nvSpPr>
        <p:spPr>
          <a:xfrm>
            <a:off x="4213124" y="3414820"/>
            <a:ext cx="27161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/</a:t>
            </a:r>
            <a:r>
              <a:rPr lang="es-ES" dirty="0" err="1"/>
              <a:t>dashboard</a:t>
            </a:r>
            <a:r>
              <a:rPr lang="es-ES" dirty="0"/>
              <a:t>/</a:t>
            </a:r>
            <a:r>
              <a:rPr lang="es-ES" dirty="0">
                <a:solidFill>
                  <a:srgbClr val="FF0000"/>
                </a:solidFill>
              </a:rPr>
              <a:t>home</a:t>
            </a:r>
          </a:p>
          <a:p>
            <a:r>
              <a:rPr lang="es-ES" dirty="0"/>
              <a:t>/</a:t>
            </a:r>
            <a:r>
              <a:rPr lang="es-ES" dirty="0" err="1"/>
              <a:t>dashboard</a:t>
            </a:r>
            <a:r>
              <a:rPr lang="es-ES" dirty="0"/>
              <a:t>/</a:t>
            </a:r>
            <a:r>
              <a:rPr lang="es-ES" dirty="0">
                <a:solidFill>
                  <a:srgbClr val="FF0000"/>
                </a:solidFill>
              </a:rPr>
              <a:t>status</a:t>
            </a:r>
          </a:p>
          <a:p>
            <a:r>
              <a:rPr lang="es-ES" dirty="0"/>
              <a:t>/</a:t>
            </a:r>
            <a:r>
              <a:rPr lang="es-ES" dirty="0" err="1"/>
              <a:t>dashboard</a:t>
            </a:r>
            <a:r>
              <a:rPr lang="es-ES" dirty="0"/>
              <a:t>/</a:t>
            </a:r>
            <a:r>
              <a:rPr lang="es-ES" dirty="0" err="1">
                <a:solidFill>
                  <a:srgbClr val="FF0000"/>
                </a:solidFill>
              </a:rPr>
              <a:t>daily</a:t>
            </a:r>
            <a:endParaRPr lang="es-ES" dirty="0">
              <a:solidFill>
                <a:srgbClr val="FF0000"/>
              </a:solidFill>
            </a:endParaRPr>
          </a:p>
          <a:p>
            <a:r>
              <a:rPr lang="es-ES" dirty="0"/>
              <a:t>/</a:t>
            </a:r>
            <a:r>
              <a:rPr lang="es-ES" dirty="0" err="1"/>
              <a:t>dashboard</a:t>
            </a:r>
            <a:r>
              <a:rPr lang="es-ES" dirty="0"/>
              <a:t>/</a:t>
            </a:r>
            <a:r>
              <a:rPr lang="es-ES" dirty="0" err="1">
                <a:solidFill>
                  <a:srgbClr val="FF0000"/>
                </a:solidFill>
              </a:rPr>
              <a:t>parkingmeters</a:t>
            </a:r>
            <a:endParaRPr lang="es-ES" dirty="0">
              <a:solidFill>
                <a:srgbClr val="FF0000"/>
              </a:solidFill>
            </a:endParaRPr>
          </a:p>
          <a:p>
            <a:r>
              <a:rPr lang="es-ES" dirty="0">
                <a:solidFill>
                  <a:srgbClr val="FF0000"/>
                </a:solidFill>
              </a:rPr>
              <a:t>…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F4513FD-866C-06BB-033F-95226B5C6629}"/>
              </a:ext>
            </a:extLst>
          </p:cNvPr>
          <p:cNvSpPr txBox="1"/>
          <p:nvPr/>
        </p:nvSpPr>
        <p:spPr>
          <a:xfrm>
            <a:off x="8454008" y="5589031"/>
            <a:ext cx="3039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/</a:t>
            </a:r>
            <a:r>
              <a:rPr lang="es-ES" dirty="0" err="1"/>
              <a:t>dashboard</a:t>
            </a:r>
            <a:r>
              <a:rPr lang="es-ES" dirty="0"/>
              <a:t>/</a:t>
            </a:r>
            <a:r>
              <a:rPr lang="es-ES" dirty="0" err="1"/>
              <a:t>parkingmeters</a:t>
            </a:r>
            <a:r>
              <a:rPr lang="es-ES" dirty="0"/>
              <a:t>/</a:t>
            </a:r>
            <a:r>
              <a:rPr lang="es-ES" dirty="0">
                <a:solidFill>
                  <a:srgbClr val="FF0000"/>
                </a:solidFill>
              </a:rPr>
              <a:t>36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D04486F-5F9D-4B22-2791-08696A6E71FF}"/>
              </a:ext>
            </a:extLst>
          </p:cNvPr>
          <p:cNvSpPr txBox="1"/>
          <p:nvPr/>
        </p:nvSpPr>
        <p:spPr>
          <a:xfrm>
            <a:off x="4762306" y="1359752"/>
            <a:ext cx="2392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/</a:t>
            </a:r>
            <a:r>
              <a:rPr lang="es-ES" dirty="0" err="1"/>
              <a:t>user</a:t>
            </a:r>
            <a:r>
              <a:rPr lang="es-ES" dirty="0"/>
              <a:t>/</a:t>
            </a:r>
            <a:r>
              <a:rPr lang="es-ES" dirty="0" err="1">
                <a:solidFill>
                  <a:srgbClr val="FF0000"/>
                </a:solidFill>
              </a:rPr>
              <a:t>login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4DCCEFD-0C51-567C-F560-493940232A7C}"/>
              </a:ext>
            </a:extLst>
          </p:cNvPr>
          <p:cNvSpPr txBox="1"/>
          <p:nvPr/>
        </p:nvSpPr>
        <p:spPr>
          <a:xfrm>
            <a:off x="4772903" y="1635026"/>
            <a:ext cx="2392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/</a:t>
            </a:r>
            <a:r>
              <a:rPr lang="es-ES" dirty="0" err="1"/>
              <a:t>user</a:t>
            </a:r>
            <a:r>
              <a:rPr lang="es-ES" dirty="0"/>
              <a:t>/</a:t>
            </a:r>
            <a:r>
              <a:rPr lang="es-ES" dirty="0" err="1">
                <a:solidFill>
                  <a:srgbClr val="FF0000"/>
                </a:solidFill>
              </a:rPr>
              <a:t>profile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2861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6552D9B-E161-40C7-9B99-786CF8BF3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Child </a:t>
            </a:r>
            <a:r>
              <a:rPr lang="es-ES" dirty="0" err="1"/>
              <a:t>Routes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00832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Child </a:t>
            </a:r>
            <a:r>
              <a:rPr lang="es-ES" dirty="0" err="1"/>
              <a:t>Routes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9B483CD-72E2-4531-AFBE-BA33B4A4A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Ideal para crear </a:t>
            </a:r>
            <a:r>
              <a:rPr lang="es-ES" b="1" dirty="0"/>
              <a:t>componentes reutilizables</a:t>
            </a:r>
          </a:p>
          <a:p>
            <a:r>
              <a:rPr lang="es-ES" dirty="0"/>
              <a:t>Los componentes con rutas hijas ignoran la implementación de enrutamiento de los padres</a:t>
            </a:r>
          </a:p>
          <a:p>
            <a:r>
              <a:rPr lang="es-ES" dirty="0"/>
              <a:t>En la configuración de la ruta principal, finaliza con / ...</a:t>
            </a:r>
          </a:p>
          <a:p>
            <a:r>
              <a:rPr lang="es-ES" dirty="0"/>
              <a:t>En la configuración secundaria, establezca la ruta relativa a la ruta principal</a:t>
            </a:r>
          </a:p>
          <a:p>
            <a:r>
              <a:rPr lang="es-ES" dirty="0"/>
              <a:t>Si hay más de una ruta hija, asegúrese de configurar la ruta predeterminada</a:t>
            </a:r>
          </a:p>
        </p:txBody>
      </p:sp>
    </p:spTree>
    <p:extLst>
      <p:ext uri="{BB962C8B-B14F-4D97-AF65-F5344CB8AC3E}">
        <p14:creationId xmlns:p14="http://schemas.microsoft.com/office/powerpoint/2010/main" val="20389070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07C66-B29E-4FD8-9BBA-F2245722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El enrutador delegado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6D97D64-B10E-48B3-8572-D719D8772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Ya sabemos que hasta que no se active la ruta</a:t>
            </a:r>
            <a:r>
              <a:rPr lang="es-ES" b="1" dirty="0"/>
              <a:t> /</a:t>
            </a:r>
            <a:r>
              <a:rPr lang="es-ES" b="1" dirty="0" err="1"/>
              <a:t>operations</a:t>
            </a:r>
            <a:r>
              <a:rPr lang="es-ES" b="1" dirty="0"/>
              <a:t> </a:t>
            </a:r>
            <a:r>
              <a:rPr lang="es-ES" dirty="0"/>
              <a:t>no hay que hacer nada. </a:t>
            </a:r>
          </a:p>
          <a:p>
            <a:r>
              <a:rPr lang="es-ES" dirty="0"/>
              <a:t>Pero si se activa, entonces se descarga un </a:t>
            </a:r>
            <a:r>
              <a:rPr lang="es-ES" dirty="0" err="1"/>
              <a:t>bundle</a:t>
            </a:r>
            <a:r>
              <a:rPr lang="es-ES" dirty="0"/>
              <a:t> que contiene un módulo y los componentes necesarios. </a:t>
            </a:r>
          </a:p>
          <a:p>
            <a:r>
              <a:rPr lang="es-ES" dirty="0"/>
              <a:t>Sólo falta escoger dentro de ese módulo el componente que se asignará a la ruta.</a:t>
            </a:r>
          </a:p>
          <a:p>
            <a:r>
              <a:rPr lang="es-ES" dirty="0"/>
              <a:t>Para ello, al crear el módulo de operaciones usa el </a:t>
            </a:r>
            <a:r>
              <a:rPr lang="es-ES" dirty="0" err="1"/>
              <a:t>flag</a:t>
            </a:r>
            <a:r>
              <a:rPr lang="es-ES" dirty="0"/>
              <a:t> </a:t>
            </a:r>
            <a:r>
              <a:rPr lang="es-ES" b="1" dirty="0" err="1"/>
              <a:t>routing</a:t>
            </a:r>
            <a:r>
              <a:rPr lang="es-ES" b="1" dirty="0"/>
              <a:t> true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23155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E025B-3005-46DF-A11C-CE14A8EB8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El enrutador delegado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51668E-2CDC-4F40-A485-5FCD463CE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 esta forma generamos un segundo módulo de enrutado. </a:t>
            </a:r>
          </a:p>
          <a:p>
            <a:r>
              <a:rPr lang="es-ES" dirty="0"/>
              <a:t>El </a:t>
            </a:r>
            <a:r>
              <a:rPr lang="es-ES" b="1" dirty="0" err="1"/>
              <a:t>OperationsRoutingModule</a:t>
            </a:r>
            <a:r>
              <a:rPr lang="es-ES" dirty="0"/>
              <a:t> prácticamente idéntico al enrutador raíz. Digamos que es un </a:t>
            </a:r>
            <a:r>
              <a:rPr lang="es-ES" b="1" dirty="0"/>
              <a:t>enrutador subordinado al primero</a:t>
            </a:r>
            <a:r>
              <a:rPr lang="es-ES" dirty="0"/>
              <a:t>. </a:t>
            </a:r>
          </a:p>
          <a:p>
            <a:r>
              <a:rPr lang="es-ES" dirty="0"/>
              <a:t>Sólo se llega aquí si en la ruta principal se ha navegado a una dirección concreta. </a:t>
            </a:r>
          </a:p>
          <a:p>
            <a:r>
              <a:rPr lang="es-ES" dirty="0"/>
              <a:t>A este nivel la dirección </a:t>
            </a:r>
            <a:r>
              <a:rPr lang="es-ES" b="1" dirty="0" err="1"/>
              <a:t>path</a:t>
            </a:r>
            <a:r>
              <a:rPr lang="es-ES" b="1" dirty="0"/>
              <a:t>: "" </a:t>
            </a:r>
            <a:r>
              <a:rPr lang="es-ES" dirty="0"/>
              <a:t>se agrega al </a:t>
            </a:r>
            <a:r>
              <a:rPr lang="es-ES" b="1" dirty="0" err="1"/>
              <a:t>path</a:t>
            </a:r>
            <a:r>
              <a:rPr lang="es-ES" b="1" dirty="0"/>
              <a:t>: "</a:t>
            </a:r>
            <a:r>
              <a:rPr lang="es-ES" b="1" dirty="0" err="1"/>
              <a:t>operations</a:t>
            </a:r>
            <a:r>
              <a:rPr lang="es-ES" b="1" dirty="0"/>
              <a:t>"</a:t>
            </a:r>
            <a:r>
              <a:rPr lang="es-ES" dirty="0"/>
              <a:t> de su enrutador padre.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46713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07C66-B29E-4FD8-9BBA-F2245722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El enrutador delegado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6D97D64-B10E-48B3-8572-D719D8772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La ventaja real de este segundo enrutador es que irá empaquetado en el mismo </a:t>
            </a:r>
            <a:r>
              <a:rPr lang="es-ES" b="1" dirty="0" err="1">
                <a:solidFill>
                  <a:srgbClr val="FF0000"/>
                </a:solidFill>
              </a:rPr>
              <a:t>bundle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dirty="0"/>
              <a:t>que el módulo de negocio y sus componentes. Aquí sí que asignaremos un componente concreto: el </a:t>
            </a:r>
            <a:r>
              <a:rPr lang="es-ES" b="1" dirty="0" err="1"/>
              <a:t>OperationsComponent</a:t>
            </a:r>
            <a:r>
              <a:rPr lang="es-ES" dirty="0"/>
              <a:t>. </a:t>
            </a:r>
          </a:p>
          <a:p>
            <a:r>
              <a:rPr lang="es-ES" dirty="0"/>
              <a:t>Dejamos el fichero </a:t>
            </a:r>
            <a:r>
              <a:rPr lang="es-ES" b="1" dirty="0" err="1"/>
              <a:t>operations-routing.module.ts</a:t>
            </a:r>
            <a:r>
              <a:rPr lang="es-ES" b="1" dirty="0"/>
              <a:t> </a:t>
            </a:r>
            <a:r>
              <a:rPr lang="es-ES" dirty="0"/>
              <a:t>así: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70DE24-3AFC-4F65-8CA4-8DD4F42E4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895600"/>
            <a:ext cx="9599611" cy="203132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import { OperationsComponent } from "./operations.component";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const routes: Routes = [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path: "",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component: OperationsComponent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];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9A14BC6-84A9-45EF-8846-D0A38BFD7230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LAB1f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91EDA50-A3AC-475C-8FCF-5ECF4048460D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</p:spTree>
    <p:extLst>
      <p:ext uri="{BB962C8B-B14F-4D97-AF65-F5344CB8AC3E}">
        <p14:creationId xmlns:p14="http://schemas.microsoft.com/office/powerpoint/2010/main" val="16580516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5293" y="1303735"/>
            <a:ext cx="1806476" cy="250031"/>
          </a:xfrm>
          <a:custGeom>
            <a:avLst/>
            <a:gdLst/>
            <a:ahLst/>
            <a:cxnLst/>
            <a:rect l="l" t="t" r="r" b="b"/>
            <a:pathLst>
              <a:path w="2569210" h="355600">
                <a:moveTo>
                  <a:pt x="0" y="0"/>
                </a:moveTo>
                <a:lnTo>
                  <a:pt x="2569070" y="0"/>
                </a:lnTo>
                <a:lnTo>
                  <a:pt x="256907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294" y="1553766"/>
            <a:ext cx="387102" cy="250031"/>
          </a:xfrm>
          <a:custGeom>
            <a:avLst/>
            <a:gdLst/>
            <a:ahLst/>
            <a:cxnLst/>
            <a:rect l="l" t="t" r="r" b="b"/>
            <a:pathLst>
              <a:path w="550544" h="355600">
                <a:moveTo>
                  <a:pt x="0" y="0"/>
                </a:moveTo>
                <a:lnTo>
                  <a:pt x="550515" y="0"/>
                </a:lnTo>
                <a:lnTo>
                  <a:pt x="55051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294" y="1803797"/>
            <a:ext cx="4516189" cy="250031"/>
          </a:xfrm>
          <a:custGeom>
            <a:avLst/>
            <a:gdLst/>
            <a:ahLst/>
            <a:cxnLst/>
            <a:rect l="l" t="t" r="r" b="b"/>
            <a:pathLst>
              <a:path w="6423025" h="355600">
                <a:moveTo>
                  <a:pt x="0" y="0"/>
                </a:moveTo>
                <a:lnTo>
                  <a:pt x="6422682" y="0"/>
                </a:lnTo>
                <a:lnTo>
                  <a:pt x="6422682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293" y="2053828"/>
            <a:ext cx="3871020" cy="250031"/>
          </a:xfrm>
          <a:custGeom>
            <a:avLst/>
            <a:gdLst/>
            <a:ahLst/>
            <a:cxnLst/>
            <a:rect l="l" t="t" r="r" b="b"/>
            <a:pathLst>
              <a:path w="5505450" h="355600">
                <a:moveTo>
                  <a:pt x="0" y="0"/>
                </a:moveTo>
                <a:lnTo>
                  <a:pt x="5505157" y="0"/>
                </a:lnTo>
                <a:lnTo>
                  <a:pt x="5505157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15293" y="2303860"/>
            <a:ext cx="4000054" cy="250031"/>
          </a:xfrm>
          <a:custGeom>
            <a:avLst/>
            <a:gdLst/>
            <a:ahLst/>
            <a:cxnLst/>
            <a:rect l="l" t="t" r="r" b="b"/>
            <a:pathLst>
              <a:path w="5688965" h="355600">
                <a:moveTo>
                  <a:pt x="0" y="0"/>
                </a:moveTo>
                <a:lnTo>
                  <a:pt x="5688660" y="0"/>
                </a:lnTo>
                <a:lnTo>
                  <a:pt x="568866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715294" y="2553891"/>
            <a:ext cx="387102" cy="250031"/>
          </a:xfrm>
          <a:custGeom>
            <a:avLst/>
            <a:gdLst/>
            <a:ahLst/>
            <a:cxnLst/>
            <a:rect l="l" t="t" r="r" b="b"/>
            <a:pathLst>
              <a:path w="550544" h="355600">
                <a:moveTo>
                  <a:pt x="0" y="0"/>
                </a:moveTo>
                <a:lnTo>
                  <a:pt x="550515" y="0"/>
                </a:lnTo>
                <a:lnTo>
                  <a:pt x="55051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/>
          <p:nvPr/>
        </p:nvSpPr>
        <p:spPr>
          <a:xfrm>
            <a:off x="1715293" y="2803922"/>
            <a:ext cx="258068" cy="250031"/>
          </a:xfrm>
          <a:custGeom>
            <a:avLst/>
            <a:gdLst/>
            <a:ahLst/>
            <a:cxnLst/>
            <a:rect l="l" t="t" r="r" b="b"/>
            <a:pathLst>
              <a:path w="367030" h="355600">
                <a:moveTo>
                  <a:pt x="0" y="0"/>
                </a:moveTo>
                <a:lnTo>
                  <a:pt x="367009" y="0"/>
                </a:lnTo>
                <a:lnTo>
                  <a:pt x="367009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/>
          <p:nvPr/>
        </p:nvSpPr>
        <p:spPr>
          <a:xfrm>
            <a:off x="1715293" y="3053953"/>
            <a:ext cx="2451646" cy="250031"/>
          </a:xfrm>
          <a:custGeom>
            <a:avLst/>
            <a:gdLst/>
            <a:ahLst/>
            <a:cxnLst/>
            <a:rect l="l" t="t" r="r" b="b"/>
            <a:pathLst>
              <a:path w="3486785" h="355600">
                <a:moveTo>
                  <a:pt x="0" y="0"/>
                </a:moveTo>
                <a:lnTo>
                  <a:pt x="3486594" y="0"/>
                </a:lnTo>
                <a:lnTo>
                  <a:pt x="348659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715293" y="3554016"/>
            <a:ext cx="1806476" cy="250031"/>
          </a:xfrm>
          <a:custGeom>
            <a:avLst/>
            <a:gdLst/>
            <a:ahLst/>
            <a:cxnLst/>
            <a:rect l="l" t="t" r="r" b="b"/>
            <a:pathLst>
              <a:path w="2569210" h="355600">
                <a:moveTo>
                  <a:pt x="0" y="0"/>
                </a:moveTo>
                <a:lnTo>
                  <a:pt x="2569070" y="0"/>
                </a:lnTo>
                <a:lnTo>
                  <a:pt x="256907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/>
          <p:nvPr/>
        </p:nvSpPr>
        <p:spPr>
          <a:xfrm>
            <a:off x="1715294" y="3804047"/>
            <a:ext cx="387102" cy="250031"/>
          </a:xfrm>
          <a:custGeom>
            <a:avLst/>
            <a:gdLst/>
            <a:ahLst/>
            <a:cxnLst/>
            <a:rect l="l" t="t" r="r" b="b"/>
            <a:pathLst>
              <a:path w="550544" h="355600">
                <a:moveTo>
                  <a:pt x="0" y="0"/>
                </a:moveTo>
                <a:lnTo>
                  <a:pt x="550515" y="0"/>
                </a:lnTo>
                <a:lnTo>
                  <a:pt x="55051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2" name="object 12"/>
          <p:cNvSpPr/>
          <p:nvPr/>
        </p:nvSpPr>
        <p:spPr>
          <a:xfrm>
            <a:off x="1715293" y="4054078"/>
            <a:ext cx="2451646" cy="250031"/>
          </a:xfrm>
          <a:custGeom>
            <a:avLst/>
            <a:gdLst/>
            <a:ahLst/>
            <a:cxnLst/>
            <a:rect l="l" t="t" r="r" b="b"/>
            <a:pathLst>
              <a:path w="3486785" h="355600">
                <a:moveTo>
                  <a:pt x="0" y="0"/>
                </a:moveTo>
                <a:lnTo>
                  <a:pt x="3486594" y="0"/>
                </a:lnTo>
                <a:lnTo>
                  <a:pt x="348659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3"/>
          <p:cNvSpPr/>
          <p:nvPr/>
        </p:nvSpPr>
        <p:spPr>
          <a:xfrm>
            <a:off x="1715293" y="4304110"/>
            <a:ext cx="3096816" cy="250031"/>
          </a:xfrm>
          <a:custGeom>
            <a:avLst/>
            <a:gdLst/>
            <a:ahLst/>
            <a:cxnLst/>
            <a:rect l="l" t="t" r="r" b="b"/>
            <a:pathLst>
              <a:path w="4404360" h="355600">
                <a:moveTo>
                  <a:pt x="0" y="0"/>
                </a:moveTo>
                <a:lnTo>
                  <a:pt x="4404118" y="0"/>
                </a:lnTo>
                <a:lnTo>
                  <a:pt x="4404118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4" name="object 14"/>
          <p:cNvSpPr/>
          <p:nvPr/>
        </p:nvSpPr>
        <p:spPr>
          <a:xfrm>
            <a:off x="1715293" y="4554141"/>
            <a:ext cx="4129088" cy="250031"/>
          </a:xfrm>
          <a:custGeom>
            <a:avLst/>
            <a:gdLst/>
            <a:ahLst/>
            <a:cxnLst/>
            <a:rect l="l" t="t" r="r" b="b"/>
            <a:pathLst>
              <a:path w="5872480" h="355600">
                <a:moveTo>
                  <a:pt x="0" y="0"/>
                </a:moveTo>
                <a:lnTo>
                  <a:pt x="5872162" y="0"/>
                </a:lnTo>
                <a:lnTo>
                  <a:pt x="5872162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5" name="object 15"/>
          <p:cNvSpPr/>
          <p:nvPr/>
        </p:nvSpPr>
        <p:spPr>
          <a:xfrm>
            <a:off x="1715294" y="4804172"/>
            <a:ext cx="387102" cy="250031"/>
          </a:xfrm>
          <a:custGeom>
            <a:avLst/>
            <a:gdLst/>
            <a:ahLst/>
            <a:cxnLst/>
            <a:rect l="l" t="t" r="r" b="b"/>
            <a:pathLst>
              <a:path w="550544" h="355600">
                <a:moveTo>
                  <a:pt x="0" y="0"/>
                </a:moveTo>
                <a:lnTo>
                  <a:pt x="550515" y="0"/>
                </a:lnTo>
                <a:lnTo>
                  <a:pt x="55051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6" name="object 16"/>
          <p:cNvSpPr/>
          <p:nvPr/>
        </p:nvSpPr>
        <p:spPr>
          <a:xfrm>
            <a:off x="1715293" y="5054203"/>
            <a:ext cx="258068" cy="250031"/>
          </a:xfrm>
          <a:custGeom>
            <a:avLst/>
            <a:gdLst/>
            <a:ahLst/>
            <a:cxnLst/>
            <a:rect l="l" t="t" r="r" b="b"/>
            <a:pathLst>
              <a:path w="367030" h="355600">
                <a:moveTo>
                  <a:pt x="0" y="0"/>
                </a:moveTo>
                <a:lnTo>
                  <a:pt x="367009" y="0"/>
                </a:lnTo>
                <a:lnTo>
                  <a:pt x="367009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7" name="object 17"/>
          <p:cNvSpPr/>
          <p:nvPr/>
        </p:nvSpPr>
        <p:spPr>
          <a:xfrm>
            <a:off x="1715293" y="5304235"/>
            <a:ext cx="4129088" cy="250031"/>
          </a:xfrm>
          <a:custGeom>
            <a:avLst/>
            <a:gdLst/>
            <a:ahLst/>
            <a:cxnLst/>
            <a:rect l="l" t="t" r="r" b="b"/>
            <a:pathLst>
              <a:path w="5872480" h="355600">
                <a:moveTo>
                  <a:pt x="0" y="0"/>
                </a:moveTo>
                <a:lnTo>
                  <a:pt x="5872162" y="0"/>
                </a:lnTo>
                <a:lnTo>
                  <a:pt x="5872162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8" name="object 18"/>
          <p:cNvSpPr txBox="1"/>
          <p:nvPr/>
        </p:nvSpPr>
        <p:spPr>
          <a:xfrm>
            <a:off x="1709935" y="1285875"/>
            <a:ext cx="4405015" cy="4101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@RouteConfig([</a:t>
            </a:r>
            <a:endParaRPr sz="1687" dirty="0">
              <a:latin typeface="Lucida Console"/>
              <a:cs typeface="Lucida Console"/>
            </a:endParaRPr>
          </a:p>
          <a:p>
            <a:pPr marL="266988">
              <a:lnSpc>
                <a:spcPts val="1969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{</a:t>
            </a:r>
            <a:endParaRPr sz="1687" dirty="0">
              <a:latin typeface="Lucida Console"/>
              <a:cs typeface="Lucida Console"/>
            </a:endParaRPr>
          </a:p>
          <a:p>
            <a:pPr marL="524600" marR="3572">
              <a:lnSpc>
                <a:spcPts val="1969"/>
              </a:lnSpc>
              <a:spcBef>
                <a:spcPts val="84"/>
              </a:spcBef>
            </a:pPr>
            <a:r>
              <a:rPr sz="1687" spc="-4" dirty="0">
                <a:solidFill>
                  <a:srgbClr val="A98BB9"/>
                </a:solidFill>
                <a:latin typeface="Lucida Console"/>
                <a:cs typeface="Lucida Console"/>
              </a:rPr>
              <a:t>path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/another-component/...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,  </a:t>
            </a:r>
            <a:r>
              <a:rPr sz="1687" spc="-4" dirty="0">
                <a:solidFill>
                  <a:srgbClr val="A98BB9"/>
                </a:solidFill>
                <a:latin typeface="Lucida Console"/>
                <a:cs typeface="Lucida Console"/>
              </a:rPr>
              <a:t>name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: 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AnotherComponent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,  component: AnotherComponent</a:t>
            </a:r>
            <a:endParaRPr sz="1687" dirty="0">
              <a:latin typeface="Lucida Console"/>
              <a:cs typeface="Lucida Console"/>
            </a:endParaRPr>
          </a:p>
          <a:p>
            <a:pPr marL="266988">
              <a:lnSpc>
                <a:spcPts val="1884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endParaRPr sz="1687" dirty="0">
              <a:latin typeface="Lucida Console"/>
              <a:cs typeface="Lucida Console"/>
            </a:endParaRPr>
          </a:p>
          <a:p>
            <a:pPr marL="8929">
              <a:lnSpc>
                <a:spcPts val="1969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])</a:t>
            </a:r>
            <a:endParaRPr sz="1687" dirty="0">
              <a:latin typeface="Lucida Console"/>
              <a:cs typeface="Lucida Console"/>
            </a:endParaRPr>
          </a:p>
          <a:p>
            <a:pPr marL="8929">
              <a:lnSpc>
                <a:spcPts val="1997"/>
              </a:lnSpc>
            </a:pP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export class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App</a:t>
            </a:r>
            <a:r>
              <a:rPr sz="1687" spc="-32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{}</a:t>
            </a:r>
            <a:endParaRPr sz="1687" dirty="0">
              <a:latin typeface="Lucida Console"/>
              <a:cs typeface="Lucida Console"/>
            </a:endParaRPr>
          </a:p>
          <a:p>
            <a:pPr>
              <a:spcBef>
                <a:spcPts val="11"/>
              </a:spcBef>
            </a:pPr>
            <a:endParaRPr sz="1652" dirty="0">
              <a:latin typeface="Times New Roman"/>
              <a:cs typeface="Times New Roman"/>
            </a:endParaRPr>
          </a:p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@RouteConfig([</a:t>
            </a:r>
            <a:endParaRPr sz="1687" dirty="0">
              <a:latin typeface="Lucida Console"/>
              <a:cs typeface="Lucida Console"/>
            </a:endParaRPr>
          </a:p>
          <a:p>
            <a:pPr marL="266988">
              <a:lnSpc>
                <a:spcPts val="1969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{</a:t>
            </a:r>
            <a:endParaRPr sz="1687" dirty="0">
              <a:latin typeface="Lucida Console"/>
              <a:cs typeface="Lucida Console"/>
            </a:endParaRPr>
          </a:p>
          <a:p>
            <a:pPr marL="524600" marR="1422449">
              <a:lnSpc>
                <a:spcPts val="1969"/>
              </a:lnSpc>
              <a:spcBef>
                <a:spcPts val="84"/>
              </a:spcBef>
            </a:pPr>
            <a:r>
              <a:rPr sz="1687" spc="-4" dirty="0">
                <a:solidFill>
                  <a:srgbClr val="A98BB9"/>
                </a:solidFill>
                <a:latin typeface="Lucida Console"/>
                <a:cs typeface="Lucida Console"/>
              </a:rPr>
              <a:t>path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/first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,  </a:t>
            </a:r>
            <a:r>
              <a:rPr sz="1687" spc="-4" dirty="0">
                <a:solidFill>
                  <a:srgbClr val="A98BB9"/>
                </a:solidFill>
                <a:latin typeface="Lucida Console"/>
                <a:cs typeface="Lucida Console"/>
              </a:rPr>
              <a:t>name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r>
              <a:rPr sz="1687" spc="-35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FirstChild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,</a:t>
            </a:r>
            <a:endParaRPr sz="1687" dirty="0">
              <a:latin typeface="Lucida Console"/>
              <a:cs typeface="Lucida Console"/>
            </a:endParaRPr>
          </a:p>
          <a:p>
            <a:pPr marL="525047">
              <a:lnSpc>
                <a:spcPts val="1884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component:</a:t>
            </a:r>
            <a:r>
              <a:rPr sz="1687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FirstSubComponent</a:t>
            </a:r>
            <a:endParaRPr sz="1687" dirty="0">
              <a:latin typeface="Lucida Console"/>
              <a:cs typeface="Lucida Console"/>
            </a:endParaRPr>
          </a:p>
          <a:p>
            <a:pPr marL="266988">
              <a:lnSpc>
                <a:spcPts val="1969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endParaRPr sz="1687" dirty="0">
              <a:latin typeface="Lucida Console"/>
              <a:cs typeface="Lucida Console"/>
            </a:endParaRPr>
          </a:p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])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09936" y="5286376"/>
            <a:ext cx="79206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export</a:t>
            </a:r>
            <a:endParaRPr sz="1687">
              <a:latin typeface="Lucida Sans Typewriter"/>
              <a:cs typeface="Lucida Sans Typewriter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3198" y="5286376"/>
            <a:ext cx="663029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class</a:t>
            </a:r>
            <a:endParaRPr sz="1687">
              <a:latin typeface="Lucida Sans Typewriter"/>
              <a:cs typeface="Lucida Sans Typewriter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87287" y="5286376"/>
            <a:ext cx="2469952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AnotherComponent</a:t>
            </a:r>
            <a:r>
              <a:rPr sz="1687" spc="-25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{}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18865" y="5929312"/>
            <a:ext cx="3705820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-77" dirty="0">
                <a:solidFill>
                  <a:srgbClr val="53585F"/>
                </a:solidFill>
                <a:latin typeface="Trebuchet MS"/>
                <a:cs typeface="Trebuchet MS"/>
              </a:rPr>
              <a:t>Child</a:t>
            </a:r>
            <a:r>
              <a:rPr sz="5062" b="1" spc="-334" dirty="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sz="5062" b="1" spc="11" dirty="0">
                <a:solidFill>
                  <a:srgbClr val="53585F"/>
                </a:solidFill>
                <a:latin typeface="Trebuchet MS"/>
                <a:cs typeface="Trebuchet MS"/>
              </a:rPr>
              <a:t>Routes</a:t>
            </a:r>
            <a:endParaRPr sz="5062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2795633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D2D7F4A-19DC-484E-A3BE-4770A7D5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Query</a:t>
            </a:r>
            <a:r>
              <a:rPr lang="es-ES" dirty="0"/>
              <a:t> </a:t>
            </a:r>
            <a:r>
              <a:rPr lang="es-ES" dirty="0" err="1"/>
              <a:t>Parameters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83529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Query Parameters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C0E39EC-9D79-415D-8DB2-E0AF6EE4D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Denota un valor opcional para una ruta en particular</a:t>
            </a:r>
          </a:p>
          <a:p>
            <a:r>
              <a:rPr lang="es-ES" dirty="0"/>
              <a:t>No agregue parámetros de consulta a la definición de ruta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	{ path:'/users', name: </a:t>
            </a:r>
            <a:r>
              <a:rPr lang="en-US" sz="2000" b="1" dirty="0" err="1">
                <a:latin typeface="Consolas" panose="020B0609020204030204" pitchFamily="49" charset="0"/>
              </a:rPr>
              <a:t>UserDetail</a:t>
            </a:r>
            <a:r>
              <a:rPr lang="en-US" sz="2000" b="1" dirty="0">
                <a:latin typeface="Consolas" panose="020B0609020204030204" pitchFamily="49" charset="0"/>
              </a:rPr>
              <a:t>, component: </a:t>
            </a:r>
            <a:r>
              <a:rPr lang="en-US" sz="2000" b="1" dirty="0" err="1">
                <a:latin typeface="Consolas" panose="020B0609020204030204" pitchFamily="49" charset="0"/>
              </a:rPr>
              <a:t>UserDetail</a:t>
            </a:r>
            <a:r>
              <a:rPr lang="en-US" sz="2000" b="1" dirty="0">
                <a:latin typeface="Consolas" panose="020B0609020204030204" pitchFamily="49" charset="0"/>
              </a:rPr>
              <a:t> }</a:t>
            </a:r>
          </a:p>
          <a:p>
            <a:endParaRPr lang="en-US" dirty="0"/>
          </a:p>
          <a:p>
            <a:r>
              <a:rPr lang="es-ES" b="1" dirty="0"/>
              <a:t>Agréguelos como parámetros a la expresión </a:t>
            </a:r>
            <a:r>
              <a:rPr lang="es-ES" dirty="0"/>
              <a:t>de la plantilla </a:t>
            </a:r>
            <a:r>
              <a:rPr lang="es-ES" b="1" dirty="0"/>
              <a:t>dentro del  </a:t>
            </a:r>
            <a:r>
              <a:rPr lang="es-ES" b="1" dirty="0" err="1"/>
              <a:t>routerLink</a:t>
            </a:r>
            <a:r>
              <a:rPr lang="es-ES" dirty="0"/>
              <a:t> de igual forma que los parámetros del enrutador: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	&lt;a [</a:t>
            </a:r>
            <a:r>
              <a:rPr lang="en-US" sz="2000" b="1" dirty="0" err="1">
                <a:latin typeface="Consolas" panose="020B0609020204030204" pitchFamily="49" charset="0"/>
              </a:rPr>
              <a:t>routerLink</a:t>
            </a:r>
            <a:r>
              <a:rPr lang="en-US" sz="2000" b="1" dirty="0">
                <a:latin typeface="Consolas" panose="020B0609020204030204" pitchFamily="49" charset="0"/>
              </a:rPr>
              <a:t>]="['Users', {id: 7}]"&gt;{{user.name}}&lt;/a&gt;</a:t>
            </a:r>
          </a:p>
          <a:p>
            <a:endParaRPr lang="en-US" dirty="0"/>
          </a:p>
          <a:p>
            <a:r>
              <a:rPr lang="es-ES" dirty="0"/>
              <a:t>También se accede inyectando </a:t>
            </a:r>
            <a:r>
              <a:rPr lang="es-ES" b="1" dirty="0" err="1">
                <a:solidFill>
                  <a:srgbClr val="FF0000"/>
                </a:solidFill>
              </a:rPr>
              <a:t>Route</a:t>
            </a:r>
            <a:r>
              <a:rPr lang="es-ES" b="1" dirty="0" err="1"/>
              <a:t>.params</a:t>
            </a:r>
            <a:r>
              <a:rPr lang="es-ES" dirty="0"/>
              <a:t> en un componente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6842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5294" y="2678906"/>
            <a:ext cx="645170" cy="250031"/>
          </a:xfrm>
          <a:custGeom>
            <a:avLst/>
            <a:gdLst/>
            <a:ahLst/>
            <a:cxnLst/>
            <a:rect l="l" t="t" r="r" b="b"/>
            <a:pathLst>
              <a:path w="917575" h="355600">
                <a:moveTo>
                  <a:pt x="0" y="0"/>
                </a:moveTo>
                <a:lnTo>
                  <a:pt x="917525" y="0"/>
                </a:lnTo>
                <a:lnTo>
                  <a:pt x="91752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2144794" y="3040890"/>
            <a:ext cx="6709767" cy="250031"/>
          </a:xfrm>
          <a:custGeom>
            <a:avLst/>
            <a:gdLst/>
            <a:ahLst/>
            <a:cxnLst/>
            <a:rect l="l" t="t" r="r" b="b"/>
            <a:pathLst>
              <a:path w="9542780" h="355600">
                <a:moveTo>
                  <a:pt x="0" y="0"/>
                </a:moveTo>
                <a:lnTo>
                  <a:pt x="9542259" y="0"/>
                </a:lnTo>
                <a:lnTo>
                  <a:pt x="9542259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293" y="3178969"/>
            <a:ext cx="3871020" cy="250031"/>
          </a:xfrm>
          <a:custGeom>
            <a:avLst/>
            <a:gdLst/>
            <a:ahLst/>
            <a:cxnLst/>
            <a:rect l="l" t="t" r="r" b="b"/>
            <a:pathLst>
              <a:path w="5505450" h="355600">
                <a:moveTo>
                  <a:pt x="0" y="0"/>
                </a:moveTo>
                <a:lnTo>
                  <a:pt x="5505157" y="0"/>
                </a:lnTo>
                <a:lnTo>
                  <a:pt x="5505157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293" y="3429000"/>
            <a:ext cx="8902898" cy="250031"/>
          </a:xfrm>
          <a:custGeom>
            <a:avLst/>
            <a:gdLst/>
            <a:ahLst/>
            <a:cxnLst/>
            <a:rect l="l" t="t" r="r" b="b"/>
            <a:pathLst>
              <a:path w="12661900" h="355600">
                <a:moveTo>
                  <a:pt x="0" y="0"/>
                </a:moveTo>
                <a:lnTo>
                  <a:pt x="12661900" y="0"/>
                </a:lnTo>
                <a:lnTo>
                  <a:pt x="1266190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15294" y="3679031"/>
            <a:ext cx="4516189" cy="250031"/>
          </a:xfrm>
          <a:custGeom>
            <a:avLst/>
            <a:gdLst/>
            <a:ahLst/>
            <a:cxnLst/>
            <a:rect l="l" t="t" r="r" b="b"/>
            <a:pathLst>
              <a:path w="6423025" h="355600">
                <a:moveTo>
                  <a:pt x="0" y="0"/>
                </a:moveTo>
                <a:lnTo>
                  <a:pt x="6422682" y="0"/>
                </a:lnTo>
                <a:lnTo>
                  <a:pt x="6422682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715293" y="3929063"/>
            <a:ext cx="774204" cy="250031"/>
          </a:xfrm>
          <a:custGeom>
            <a:avLst/>
            <a:gdLst/>
            <a:ahLst/>
            <a:cxnLst/>
            <a:rect l="l" t="t" r="r" b="b"/>
            <a:pathLst>
              <a:path w="1101090" h="355600">
                <a:moveTo>
                  <a:pt x="0" y="0"/>
                </a:moveTo>
                <a:lnTo>
                  <a:pt x="1101026" y="0"/>
                </a:lnTo>
                <a:lnTo>
                  <a:pt x="1101026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 txBox="1"/>
          <p:nvPr/>
        </p:nvSpPr>
        <p:spPr>
          <a:xfrm>
            <a:off x="1709936" y="2661047"/>
            <a:ext cx="663029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</a:t>
            </a:r>
            <a:r>
              <a:rPr sz="1687" b="1" spc="-7" dirty="0">
                <a:solidFill>
                  <a:srgbClr val="D78B40"/>
                </a:solidFill>
                <a:latin typeface="Lucida Sans Typewriter"/>
                <a:cs typeface="Lucida Sans Typewriter"/>
              </a:rPr>
              <a:t>v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8011" y="2911079"/>
            <a:ext cx="921097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7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button</a:t>
            </a:r>
            <a:endParaRPr sz="1687">
              <a:latin typeface="Lucida Sans Typewriter"/>
              <a:cs typeface="Lucida Sans Typewriter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00203" y="2911079"/>
            <a:ext cx="466308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[</a:t>
            </a:r>
            <a:r>
              <a:rPr sz="1687" spc="-4" dirty="0" err="1">
                <a:solidFill>
                  <a:srgbClr val="B7C4D1"/>
                </a:solidFill>
                <a:latin typeface="Lucida Console"/>
                <a:cs typeface="Lucida Console"/>
              </a:rPr>
              <a:t>routerLink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]=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"[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./</a:t>
            </a:r>
            <a:r>
              <a:rPr sz="1687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MyComponent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,</a:t>
            </a:r>
            <a:r>
              <a:rPr sz="1687" spc="18" dirty="0">
                <a:solidFill>
                  <a:srgbClr val="7C976C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{id: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74458" y="2911079"/>
            <a:ext cx="663029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1}]</a:t>
            </a:r>
            <a:r>
              <a:rPr sz="1687" spc="-7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26085" y="3161110"/>
            <a:ext cx="337274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1686312" algn="l"/>
              </a:tabLst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My</a:t>
            </a:r>
            <a:r>
              <a:rPr sz="1687" spc="11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Component	Link&lt;/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button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68011" y="3411141"/>
            <a:ext cx="921097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7" dirty="0">
                <a:solidFill>
                  <a:srgbClr val="B7C4D1"/>
                </a:solidFill>
                <a:latin typeface="Lucida Console"/>
                <a:cs typeface="Lucida Console"/>
              </a:rPr>
              <a:t>&lt;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button</a:t>
            </a:r>
            <a:endParaRPr sz="1687">
              <a:latin typeface="Lucida Sans Typewriter"/>
              <a:cs typeface="Lucida Sans Typewriter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00203" y="3411141"/>
            <a:ext cx="466308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[</a:t>
            </a:r>
            <a:r>
              <a:rPr sz="1687" spc="-4" dirty="0" err="1">
                <a:solidFill>
                  <a:srgbClr val="B7C4D1"/>
                </a:solidFill>
                <a:latin typeface="Lucida Console"/>
                <a:cs typeface="Lucida Console"/>
              </a:rPr>
              <a:t>routerLink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]=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"[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./</a:t>
            </a:r>
            <a:r>
              <a:rPr sz="1687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AnotherComponent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,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74458" y="3411141"/>
            <a:ext cx="1566267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{queryParam: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51946" y="3411141"/>
            <a:ext cx="1178719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bar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}]</a:t>
            </a:r>
            <a:r>
              <a:rPr sz="1687" spc="-11" dirty="0">
                <a:solidFill>
                  <a:srgbClr val="7C976C"/>
                </a:solidFill>
                <a:latin typeface="Lucida Console"/>
                <a:cs typeface="Lucida Console"/>
              </a:rPr>
              <a:t>"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09936" y="3661172"/>
            <a:ext cx="4534049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5047">
              <a:lnSpc>
                <a:spcPts val="1997"/>
              </a:lnSpc>
              <a:tabLst>
                <a:tab pos="2847575" algn="l"/>
              </a:tabLst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Another</a:t>
            </a:r>
            <a:r>
              <a:rPr sz="1687" spc="18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Component	Link&lt;/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button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&lt;/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div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&gt;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8865" y="5929312"/>
            <a:ext cx="3620095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spc="-91" dirty="0">
                <a:solidFill>
                  <a:srgbClr val="53585F"/>
                </a:solidFill>
                <a:latin typeface="Trebuchet MS"/>
                <a:cs typeface="Trebuchet MS"/>
              </a:rPr>
              <a:t>QueryParam</a:t>
            </a:r>
            <a:endParaRPr sz="5062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1709453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5293" y="1803797"/>
            <a:ext cx="5419427" cy="250031"/>
          </a:xfrm>
          <a:custGeom>
            <a:avLst/>
            <a:gdLst/>
            <a:ahLst/>
            <a:cxnLst/>
            <a:rect l="l" t="t" r="r" b="b"/>
            <a:pathLst>
              <a:path w="7707630" h="355600">
                <a:moveTo>
                  <a:pt x="0" y="0"/>
                </a:moveTo>
                <a:lnTo>
                  <a:pt x="7707210" y="0"/>
                </a:lnTo>
                <a:lnTo>
                  <a:pt x="770721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15293" y="2053828"/>
            <a:ext cx="5935563" cy="250031"/>
          </a:xfrm>
          <a:custGeom>
            <a:avLst/>
            <a:gdLst/>
            <a:ahLst/>
            <a:cxnLst/>
            <a:rect l="l" t="t" r="r" b="b"/>
            <a:pathLst>
              <a:path w="8441690" h="355600">
                <a:moveTo>
                  <a:pt x="0" y="0"/>
                </a:moveTo>
                <a:lnTo>
                  <a:pt x="8441232" y="0"/>
                </a:lnTo>
                <a:lnTo>
                  <a:pt x="8441232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15293" y="2553891"/>
            <a:ext cx="1548408" cy="250031"/>
          </a:xfrm>
          <a:custGeom>
            <a:avLst/>
            <a:gdLst/>
            <a:ahLst/>
            <a:cxnLst/>
            <a:rect l="l" t="t" r="r" b="b"/>
            <a:pathLst>
              <a:path w="2202180" h="355600">
                <a:moveTo>
                  <a:pt x="0" y="0"/>
                </a:moveTo>
                <a:lnTo>
                  <a:pt x="2202065" y="0"/>
                </a:lnTo>
                <a:lnTo>
                  <a:pt x="220206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715293" y="2803922"/>
            <a:ext cx="3483918" cy="250031"/>
          </a:xfrm>
          <a:custGeom>
            <a:avLst/>
            <a:gdLst/>
            <a:ahLst/>
            <a:cxnLst/>
            <a:rect l="l" t="t" r="r" b="b"/>
            <a:pathLst>
              <a:path w="4954905" h="355600">
                <a:moveTo>
                  <a:pt x="0" y="0"/>
                </a:moveTo>
                <a:lnTo>
                  <a:pt x="4954638" y="0"/>
                </a:lnTo>
                <a:lnTo>
                  <a:pt x="4954638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715293" y="3053953"/>
            <a:ext cx="8257729" cy="250031"/>
          </a:xfrm>
          <a:custGeom>
            <a:avLst/>
            <a:gdLst/>
            <a:ahLst/>
            <a:cxnLst/>
            <a:rect l="l" t="t" r="r" b="b"/>
            <a:pathLst>
              <a:path w="11744325" h="355600">
                <a:moveTo>
                  <a:pt x="0" y="0"/>
                </a:moveTo>
                <a:lnTo>
                  <a:pt x="11744325" y="0"/>
                </a:lnTo>
                <a:lnTo>
                  <a:pt x="1174432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715293" y="3303985"/>
            <a:ext cx="258068" cy="250031"/>
          </a:xfrm>
          <a:custGeom>
            <a:avLst/>
            <a:gdLst/>
            <a:ahLst/>
            <a:cxnLst/>
            <a:rect l="l" t="t" r="r" b="b"/>
            <a:pathLst>
              <a:path w="367030" h="355600">
                <a:moveTo>
                  <a:pt x="0" y="0"/>
                </a:moveTo>
                <a:lnTo>
                  <a:pt x="367009" y="0"/>
                </a:lnTo>
                <a:lnTo>
                  <a:pt x="367009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/>
          <p:nvPr/>
        </p:nvSpPr>
        <p:spPr>
          <a:xfrm>
            <a:off x="1715293" y="3804047"/>
            <a:ext cx="3354884" cy="250031"/>
          </a:xfrm>
          <a:custGeom>
            <a:avLst/>
            <a:gdLst/>
            <a:ahLst/>
            <a:cxnLst/>
            <a:rect l="l" t="t" r="r" b="b"/>
            <a:pathLst>
              <a:path w="4771390" h="355600">
                <a:moveTo>
                  <a:pt x="0" y="0"/>
                </a:moveTo>
                <a:lnTo>
                  <a:pt x="4771135" y="0"/>
                </a:lnTo>
                <a:lnTo>
                  <a:pt x="477113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/>
          <p:nvPr/>
        </p:nvSpPr>
        <p:spPr>
          <a:xfrm>
            <a:off x="1715294" y="4054078"/>
            <a:ext cx="5290393" cy="250031"/>
          </a:xfrm>
          <a:custGeom>
            <a:avLst/>
            <a:gdLst/>
            <a:ahLst/>
            <a:cxnLst/>
            <a:rect l="l" t="t" r="r" b="b"/>
            <a:pathLst>
              <a:path w="7524115" h="355600">
                <a:moveTo>
                  <a:pt x="0" y="0"/>
                </a:moveTo>
                <a:lnTo>
                  <a:pt x="7523708" y="0"/>
                </a:lnTo>
                <a:lnTo>
                  <a:pt x="7523708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715294" y="4304110"/>
            <a:ext cx="4516189" cy="250031"/>
          </a:xfrm>
          <a:custGeom>
            <a:avLst/>
            <a:gdLst/>
            <a:ahLst/>
            <a:cxnLst/>
            <a:rect l="l" t="t" r="r" b="b"/>
            <a:pathLst>
              <a:path w="6423025" h="355600">
                <a:moveTo>
                  <a:pt x="0" y="0"/>
                </a:moveTo>
                <a:lnTo>
                  <a:pt x="6422682" y="0"/>
                </a:lnTo>
                <a:lnTo>
                  <a:pt x="6422682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/>
          <p:nvPr/>
        </p:nvSpPr>
        <p:spPr>
          <a:xfrm>
            <a:off x="1715294" y="4554141"/>
            <a:ext cx="387102" cy="250031"/>
          </a:xfrm>
          <a:custGeom>
            <a:avLst/>
            <a:gdLst/>
            <a:ahLst/>
            <a:cxnLst/>
            <a:rect l="l" t="t" r="r" b="b"/>
            <a:pathLst>
              <a:path w="550544" h="355600">
                <a:moveTo>
                  <a:pt x="0" y="0"/>
                </a:moveTo>
                <a:lnTo>
                  <a:pt x="550515" y="0"/>
                </a:lnTo>
                <a:lnTo>
                  <a:pt x="550515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2" name="object 12"/>
          <p:cNvSpPr/>
          <p:nvPr/>
        </p:nvSpPr>
        <p:spPr>
          <a:xfrm>
            <a:off x="1715294" y="4804172"/>
            <a:ext cx="129034" cy="250031"/>
          </a:xfrm>
          <a:custGeom>
            <a:avLst/>
            <a:gdLst/>
            <a:ahLst/>
            <a:cxnLst/>
            <a:rect l="l" t="t" r="r" b="b"/>
            <a:pathLst>
              <a:path w="183515" h="355600">
                <a:moveTo>
                  <a:pt x="0" y="0"/>
                </a:moveTo>
                <a:lnTo>
                  <a:pt x="183504" y="0"/>
                </a:lnTo>
                <a:lnTo>
                  <a:pt x="183504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3"/>
          <p:cNvSpPr txBox="1"/>
          <p:nvPr/>
        </p:nvSpPr>
        <p:spPr>
          <a:xfrm>
            <a:off x="4419506" y="1785938"/>
            <a:ext cx="533995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from</a:t>
            </a:r>
            <a:endParaRPr sz="1687" dirty="0">
              <a:latin typeface="Lucida Sans Typewriter"/>
              <a:cs typeface="Lucida Sans Typewriter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64640" y="1785938"/>
            <a:ext cx="208240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'@angular/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core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;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9936" y="1800225"/>
            <a:ext cx="792063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1969"/>
              </a:lnSpc>
            </a:pP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import  import</a:t>
            </a:r>
            <a:endParaRPr sz="1687">
              <a:latin typeface="Lucida Sans Typewriter"/>
              <a:cs typeface="Lucida Sans Typewriter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13128" y="1785938"/>
            <a:ext cx="1695748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997"/>
              </a:lnSpc>
              <a:tabLst>
                <a:tab pos="1557282" algn="l"/>
              </a:tabLst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{ Component</a:t>
            </a:r>
            <a:r>
              <a:rPr sz="1687" dirty="0">
                <a:solidFill>
                  <a:srgbClr val="B7C4D1"/>
                </a:solidFill>
                <a:latin typeface="Lucida Console"/>
                <a:cs typeface="Lucida Console"/>
              </a:rPr>
              <a:t>	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endParaRPr sz="1687">
              <a:latin typeface="Lucida Console"/>
              <a:cs typeface="Lucida Console"/>
            </a:endParaRPr>
          </a:p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{</a:t>
            </a:r>
            <a:r>
              <a:rPr sz="1687" spc="-42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RouteParams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19654" y="2035969"/>
            <a:ext cx="79206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r>
              <a:rPr sz="1687" spc="-63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from</a:t>
            </a:r>
            <a:endParaRPr sz="1687">
              <a:latin typeface="Lucida Sans Typewriter"/>
              <a:cs typeface="Lucida Sans Typewriter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22690" y="2035969"/>
            <a:ext cx="2340471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'@angular/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router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;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09936" y="2536032"/>
            <a:ext cx="1566714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@Component({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67989" y="2786063"/>
            <a:ext cx="1179165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A98BB9"/>
                </a:solidFill>
                <a:latin typeface="Lucida Console"/>
                <a:cs typeface="Lucida Console"/>
              </a:rPr>
              <a:t>selecto</a:t>
            </a:r>
            <a:r>
              <a:rPr sz="1687" spc="-7" dirty="0">
                <a:solidFill>
                  <a:srgbClr val="A98BB9"/>
                </a:solidFill>
                <a:latin typeface="Lucida Console"/>
                <a:cs typeface="Lucida Console"/>
              </a:rPr>
              <a:t>r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67989" y="3036094"/>
            <a:ext cx="1179165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A98BB9"/>
                </a:solidFill>
                <a:latin typeface="Lucida Console"/>
                <a:cs typeface="Lucida Console"/>
              </a:rPr>
              <a:t>templat</a:t>
            </a:r>
            <a:r>
              <a:rPr sz="1687" spc="-7" dirty="0">
                <a:solidFill>
                  <a:srgbClr val="A98BB9"/>
                </a:solidFill>
                <a:latin typeface="Lucida Console"/>
                <a:cs typeface="Lucida Console"/>
              </a:rPr>
              <a:t>e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: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58263" y="2786063"/>
            <a:ext cx="2211437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997"/>
              </a:lnSpc>
            </a:pP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my-component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,</a:t>
            </a:r>
            <a:endParaRPr sz="1687" dirty="0">
              <a:latin typeface="Lucida Console"/>
              <a:cs typeface="Lucida Console"/>
            </a:endParaRPr>
          </a:p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`&lt;h1&gt;my</a:t>
            </a:r>
            <a:r>
              <a:rPr sz="1687" spc="-32" dirty="0">
                <a:solidFill>
                  <a:srgbClr val="7C976C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component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80939" y="3036094"/>
            <a:ext cx="4405461" cy="51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({{</a:t>
            </a:r>
            <a:r>
              <a:rPr lang="es-ES" sz="1687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route.p</a:t>
            </a:r>
            <a:r>
              <a:rPr sz="1687" spc="-4" dirty="0" err="1">
                <a:solidFill>
                  <a:srgbClr val="7C976C"/>
                </a:solidFill>
                <a:latin typeface="Lucida Console"/>
                <a:cs typeface="Lucida Console"/>
              </a:rPr>
              <a:t>arams.get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(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id</a:t>
            </a:r>
            <a:r>
              <a:rPr lang="es-ES"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'</a:t>
            </a:r>
            <a:r>
              <a:rPr sz="1687" spc="-4" dirty="0">
                <a:solidFill>
                  <a:srgbClr val="7C976C"/>
                </a:solidFill>
                <a:latin typeface="Lucida Console"/>
                <a:cs typeface="Lucida Console"/>
              </a:rPr>
              <a:t>)}})!&lt;/h1&gt;`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09936" y="3286125"/>
            <a:ext cx="1566267" cy="7734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})</a:t>
            </a:r>
            <a:endParaRPr sz="1687">
              <a:latin typeface="Lucida Console"/>
              <a:cs typeface="Lucida Console"/>
            </a:endParaRPr>
          </a:p>
          <a:p>
            <a:pPr>
              <a:spcBef>
                <a:spcPts val="11"/>
              </a:spcBef>
            </a:pPr>
            <a:endParaRPr sz="1652">
              <a:latin typeface="Times New Roman"/>
              <a:cs typeface="Times New Roman"/>
            </a:endParaRPr>
          </a:p>
          <a:p>
            <a:pPr marL="8929"/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export</a:t>
            </a:r>
            <a:r>
              <a:rPr sz="1687" b="1" spc="-46" dirty="0">
                <a:solidFill>
                  <a:srgbClr val="D78B40"/>
                </a:solidFill>
                <a:latin typeface="Lucida Sans Typewriter"/>
                <a:cs typeface="Lucida Sans Typewriter"/>
              </a:rPr>
              <a:t> </a:t>
            </a:r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class</a:t>
            </a:r>
            <a:endParaRPr sz="1687">
              <a:latin typeface="Lucida Sans Typewriter"/>
              <a:cs typeface="Lucida Sans Typewriter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87287" y="3786188"/>
            <a:ext cx="1695748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MyComponent</a:t>
            </a:r>
            <a:r>
              <a:rPr sz="1687" spc="-39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{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67989" y="4036219"/>
            <a:ext cx="3114675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constructor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(routeParams: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93814" y="4036219"/>
            <a:ext cx="1824782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RouteParams)</a:t>
            </a:r>
            <a:r>
              <a:rPr sz="1687" spc="-39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{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26043" y="4286251"/>
            <a:ext cx="2082403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b="1" spc="-4" dirty="0">
                <a:solidFill>
                  <a:srgbClr val="D78B40"/>
                </a:solidFill>
                <a:latin typeface="Lucida Sans Typewriter"/>
                <a:cs typeface="Lucida Sans Typewriter"/>
              </a:rPr>
              <a:t>this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.routeParams</a:t>
            </a:r>
            <a:endParaRPr sz="1687" dirty="0">
              <a:latin typeface="Lucida Console"/>
              <a:cs typeface="Lucida Consol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19642" y="4286251"/>
            <a:ext cx="1824782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=</a:t>
            </a:r>
            <a:r>
              <a:rPr sz="1687" spc="-42" dirty="0">
                <a:solidFill>
                  <a:srgbClr val="B7C4D1"/>
                </a:solidFill>
                <a:latin typeface="Lucida Console"/>
                <a:cs typeface="Lucida Console"/>
              </a:rPr>
              <a:t> </a:t>
            </a: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routeParams;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09936" y="4536281"/>
            <a:ext cx="404961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988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endParaRPr sz="1687">
              <a:latin typeface="Lucida Console"/>
              <a:cs typeface="Lucida Console"/>
            </a:endParaRPr>
          </a:p>
          <a:p>
            <a:pPr marL="8929">
              <a:lnSpc>
                <a:spcPts val="1997"/>
              </a:lnSpc>
            </a:pPr>
            <a:r>
              <a:rPr sz="1687" spc="-4" dirty="0">
                <a:solidFill>
                  <a:srgbClr val="B7C4D1"/>
                </a:solidFill>
                <a:latin typeface="Lucida Console"/>
                <a:cs typeface="Lucida Console"/>
              </a:rPr>
              <a:t>}</a:t>
            </a:r>
            <a:endParaRPr sz="1687">
              <a:latin typeface="Lucida Console"/>
              <a:cs typeface="Lucida Consol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18865" y="5929312"/>
            <a:ext cx="3951387" cy="778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062" b="1" dirty="0">
                <a:solidFill>
                  <a:srgbClr val="53585F"/>
                </a:solidFill>
                <a:latin typeface="Trebuchet MS"/>
                <a:cs typeface="Trebuchet MS"/>
              </a:rPr>
              <a:t>RouteParams</a:t>
            </a:r>
            <a:endParaRPr sz="5062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232745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07C66-B29E-4FD8-9BBA-F2245722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s-ES" dirty="0"/>
              <a:t>Parámetros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6D97D64-B10E-48B3-8572-D719D8772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latin typeface="Open Sans"/>
              </a:rPr>
              <a:t>Las rutas vistas hasta ahora se consideran estáticas pues se han definido usando constantes.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latin typeface="Open Sans"/>
              </a:rPr>
              <a:t>Es muy habitual tener </a:t>
            </a:r>
            <a:r>
              <a:rPr lang="es-ES" altLang="es-ES" sz="2800" b="1" dirty="0">
                <a:latin typeface="inherit"/>
              </a:rPr>
              <a:t>páginas con la misma estructura pero distintos contenidos</a:t>
            </a:r>
            <a:r>
              <a:rPr lang="es-ES" altLang="es-ES" sz="2800" dirty="0">
                <a:latin typeface="Open Sans"/>
              </a:rPr>
              <a:t>. Un blog con sus posts, una tienda con sus productos… hay miles de ejemplos así.</a:t>
            </a:r>
            <a:endParaRPr lang="es-ES" altLang="es-ES" sz="800" dirty="0"/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400" dirty="0">
                <a:latin typeface="Open Sans"/>
              </a:rPr>
              <a:t>Este tipo de direcciones se consideran paramétricas, tienen unos segmentos estáticos y otros dinámicos. 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400" dirty="0">
                <a:latin typeface="Open Sans"/>
              </a:rPr>
              <a:t>Los dinámicos se definen con parámetros, algo así como </a:t>
            </a:r>
            <a:r>
              <a:rPr lang="es-ES" altLang="es-ES" sz="2400" b="1" dirty="0">
                <a:latin typeface="inherit"/>
              </a:rPr>
              <a:t>variables dentro de la cadena de la ruta</a:t>
            </a:r>
            <a:r>
              <a:rPr lang="es-ES" altLang="es-ES" sz="2400" dirty="0">
                <a:latin typeface="Open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403029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E0AA1-BFBA-44A1-8548-BF74EA1B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Parámetros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1F91D1-BF32-481D-9AA8-8B0AA043D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es-ES" sz="2800" dirty="0">
                <a:latin typeface="Open Sans"/>
              </a:rPr>
              <a:t>Su </a:t>
            </a:r>
            <a:r>
              <a:rPr lang="es-ES" altLang="es-ES" sz="2800" b="1" dirty="0">
                <a:latin typeface="Open Sans"/>
              </a:rPr>
              <a:t>sintaxis</a:t>
            </a:r>
            <a:r>
              <a:rPr lang="es-ES" altLang="es-ES" sz="2800" dirty="0">
                <a:latin typeface="Open Sans"/>
              </a:rPr>
              <a:t> obliga a precederlas de </a:t>
            </a:r>
            <a:r>
              <a:rPr lang="es-ES" altLang="es-ES" sz="2800" b="1" dirty="0">
                <a:latin typeface="Open Sans"/>
              </a:rPr>
              <a:t>dos puntos</a:t>
            </a:r>
            <a:r>
              <a:rPr lang="es-ES" altLang="es-ES" sz="2800" dirty="0">
                <a:latin typeface="Open Sans"/>
              </a:rPr>
              <a:t>. </a:t>
            </a:r>
          </a:p>
          <a:p>
            <a:r>
              <a:rPr lang="es-ES" altLang="es-ES" sz="2800" dirty="0">
                <a:latin typeface="Open Sans"/>
              </a:rPr>
              <a:t>Por ejemplo </a:t>
            </a:r>
            <a:r>
              <a:rPr lang="es-ES" altLang="es-ES" sz="2800" b="1" dirty="0" err="1">
                <a:solidFill>
                  <a:srgbClr val="1A8AFA"/>
                </a:solidFill>
                <a:latin typeface="Source Code Pro"/>
              </a:rPr>
              <a:t>countries</a:t>
            </a:r>
            <a:r>
              <a:rPr lang="es-ES" altLang="es-ES" sz="2800" b="1" dirty="0">
                <a:solidFill>
                  <a:srgbClr val="1A8AFA"/>
                </a:solidFill>
                <a:latin typeface="Source Code Pro"/>
              </a:rPr>
              <a:t>/</a:t>
            </a:r>
            <a:r>
              <a:rPr lang="es-ES" altLang="es-ES" sz="2800" b="1" dirty="0">
                <a:solidFill>
                  <a:srgbClr val="FF0000"/>
                </a:solidFill>
                <a:latin typeface="Source Code Pro"/>
              </a:rPr>
              <a:t>:country</a:t>
            </a:r>
            <a:r>
              <a:rPr lang="es-ES" altLang="es-ES" sz="2800" b="1" dirty="0">
                <a:solidFill>
                  <a:srgbClr val="1A8AFA"/>
                </a:solidFill>
                <a:latin typeface="Source Code Pro"/>
              </a:rPr>
              <a:t>/</a:t>
            </a:r>
            <a:r>
              <a:rPr lang="es-ES" altLang="es-ES" sz="2800" b="1" dirty="0" err="1">
                <a:solidFill>
                  <a:srgbClr val="1A8AFA"/>
                </a:solidFill>
                <a:latin typeface="Source Code Pro"/>
              </a:rPr>
              <a:t>cities</a:t>
            </a:r>
            <a:r>
              <a:rPr lang="es-ES" altLang="es-ES" sz="2800" b="1" dirty="0">
                <a:solidFill>
                  <a:srgbClr val="1A8AFA"/>
                </a:solidFill>
                <a:latin typeface="Source Code Pro"/>
              </a:rPr>
              <a:t>/</a:t>
            </a:r>
            <a:r>
              <a:rPr lang="es-ES" altLang="es-ES" sz="2800" b="1" dirty="0">
                <a:solidFill>
                  <a:srgbClr val="FF0000"/>
                </a:solidFill>
                <a:latin typeface="Source Code Pro"/>
              </a:rPr>
              <a:t>:</a:t>
            </a:r>
            <a:r>
              <a:rPr lang="es-ES" altLang="es-ES" sz="2800" b="1" dirty="0" err="1">
                <a:solidFill>
                  <a:srgbClr val="FF0000"/>
                </a:solidFill>
                <a:latin typeface="Source Code Pro"/>
              </a:rPr>
              <a:t>city</a:t>
            </a:r>
            <a:r>
              <a:rPr lang="es-ES" altLang="es-ES" sz="2800" dirty="0">
                <a:solidFill>
                  <a:srgbClr val="FF0000"/>
                </a:solidFill>
                <a:latin typeface="Open Sans"/>
              </a:rPr>
              <a:t> </a:t>
            </a:r>
            <a:r>
              <a:rPr lang="es-ES" altLang="es-ES" sz="2800" dirty="0">
                <a:latin typeface="Open Sans"/>
              </a:rPr>
              <a:t>resolvería rutas como:</a:t>
            </a:r>
          </a:p>
          <a:p>
            <a:pPr lvl="1"/>
            <a:r>
              <a:rPr lang="es-ES" altLang="es-ES" sz="2400" i="1" dirty="0" err="1">
                <a:latin typeface="inherit"/>
              </a:rPr>
              <a:t>countries</a:t>
            </a:r>
            <a:r>
              <a:rPr lang="es-ES" altLang="es-ES" sz="2400" i="1" dirty="0">
                <a:latin typeface="inherit"/>
              </a:rPr>
              <a:t>/</a:t>
            </a:r>
            <a:r>
              <a:rPr lang="es-ES" altLang="es-ES" sz="2400" i="1" dirty="0">
                <a:solidFill>
                  <a:srgbClr val="FF0000"/>
                </a:solidFill>
                <a:latin typeface="inherit"/>
              </a:rPr>
              <a:t>usa</a:t>
            </a:r>
            <a:r>
              <a:rPr lang="es-ES" altLang="es-ES" sz="2400" i="1" dirty="0">
                <a:latin typeface="inherit"/>
              </a:rPr>
              <a:t>/</a:t>
            </a:r>
            <a:r>
              <a:rPr lang="es-ES" altLang="es-ES" sz="2400" i="1" dirty="0" err="1">
                <a:latin typeface="inherit"/>
              </a:rPr>
              <a:t>cities</a:t>
            </a:r>
            <a:r>
              <a:rPr lang="es-ES" altLang="es-ES" sz="2400" i="1" dirty="0">
                <a:latin typeface="inherit"/>
              </a:rPr>
              <a:t>/</a:t>
            </a:r>
            <a:r>
              <a:rPr lang="es-ES" altLang="es-ES" sz="2400" i="1" dirty="0">
                <a:solidFill>
                  <a:srgbClr val="FF0000"/>
                </a:solidFill>
                <a:latin typeface="inherit"/>
              </a:rPr>
              <a:t>new-york</a:t>
            </a:r>
          </a:p>
          <a:p>
            <a:pPr lvl="1"/>
            <a:r>
              <a:rPr lang="es-ES" altLang="es-ES" sz="2400" i="1" dirty="0" err="1">
                <a:latin typeface="inherit"/>
              </a:rPr>
              <a:t>countries</a:t>
            </a:r>
            <a:r>
              <a:rPr lang="es-ES" altLang="es-ES" sz="2400" i="1" dirty="0">
                <a:latin typeface="inherit"/>
              </a:rPr>
              <a:t>/</a:t>
            </a:r>
            <a:r>
              <a:rPr lang="es-ES" altLang="es-ES" sz="2400" i="1" dirty="0" err="1">
                <a:solidFill>
                  <a:srgbClr val="FF0000"/>
                </a:solidFill>
                <a:latin typeface="inherit"/>
              </a:rPr>
              <a:t>france</a:t>
            </a:r>
            <a:r>
              <a:rPr lang="es-ES" altLang="es-ES" sz="2400" i="1" dirty="0">
                <a:latin typeface="inherit"/>
              </a:rPr>
              <a:t>/</a:t>
            </a:r>
            <a:r>
              <a:rPr lang="es-ES" altLang="es-ES" sz="2400" i="1" dirty="0" err="1">
                <a:latin typeface="inherit"/>
              </a:rPr>
              <a:t>cities</a:t>
            </a:r>
            <a:r>
              <a:rPr lang="es-ES" altLang="es-ES" sz="2400" i="1" dirty="0">
                <a:latin typeface="inherit"/>
              </a:rPr>
              <a:t>/</a:t>
            </a:r>
            <a:r>
              <a:rPr lang="es-ES" altLang="es-ES" sz="2400" i="1" dirty="0" err="1">
                <a:solidFill>
                  <a:srgbClr val="FF0000"/>
                </a:solidFill>
                <a:latin typeface="inherit"/>
              </a:rPr>
              <a:t>paris</a:t>
            </a:r>
            <a:endParaRPr lang="es-ES" altLang="es-ES" sz="2400" dirty="0">
              <a:latin typeface="Open Sans"/>
            </a:endParaRPr>
          </a:p>
          <a:p>
            <a:r>
              <a:rPr lang="es-ES" altLang="es-ES" sz="2800" dirty="0">
                <a:latin typeface="Open Sans"/>
              </a:rPr>
              <a:t>Rellena los parámetros </a:t>
            </a:r>
            <a:r>
              <a:rPr lang="es-ES" altLang="es-ES" sz="1600" dirty="0">
                <a:latin typeface="Source Code Pro"/>
              </a:rPr>
              <a:t>:country</a:t>
            </a:r>
            <a:r>
              <a:rPr lang="es-ES" altLang="es-ES" sz="2800" dirty="0">
                <a:latin typeface="Open Sans"/>
              </a:rPr>
              <a:t> y </a:t>
            </a:r>
            <a:r>
              <a:rPr lang="es-ES" altLang="es-ES" sz="1600" dirty="0">
                <a:latin typeface="Source Code Pro"/>
              </a:rPr>
              <a:t>:</a:t>
            </a:r>
            <a:r>
              <a:rPr lang="es-ES" altLang="es-ES" sz="1600" dirty="0" err="1">
                <a:latin typeface="Source Code Pro"/>
              </a:rPr>
              <a:t>city</a:t>
            </a:r>
            <a:r>
              <a:rPr lang="es-ES" altLang="es-ES" sz="2800" dirty="0">
                <a:latin typeface="Open Sans"/>
              </a:rPr>
              <a:t> con los valores necesarios.</a:t>
            </a:r>
            <a:endParaRPr lang="es-ES" altLang="es-ES" sz="36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84686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A33CA-F381-4A5B-815E-C63624995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Parámetros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F68A5A-C9F1-4A22-A8B4-C60572D1D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Creamos un </a:t>
            </a:r>
            <a:r>
              <a:rPr lang="es-ES" b="1" dirty="0" err="1"/>
              <a:t>ListComponent</a:t>
            </a:r>
            <a:r>
              <a:rPr lang="es-ES" dirty="0"/>
              <a:t> para la gestión de los elementos de la lista: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Creamos un </a:t>
            </a:r>
            <a:r>
              <a:rPr lang="es-ES" b="1" dirty="0" err="1"/>
              <a:t>ItemComponent</a:t>
            </a:r>
            <a:r>
              <a:rPr lang="es-ES" dirty="0"/>
              <a:t> para la gestión de un elemento de la lista:</a:t>
            </a:r>
          </a:p>
          <a:p>
            <a:endParaRPr lang="es-ES" dirty="0"/>
          </a:p>
          <a:p>
            <a:r>
              <a:rPr lang="es-ES" dirty="0"/>
              <a:t>Creamos un </a:t>
            </a:r>
            <a:r>
              <a:rPr lang="es-ES" b="1" dirty="0" err="1"/>
              <a:t>NewComponent</a:t>
            </a:r>
            <a:r>
              <a:rPr lang="es-ES" dirty="0"/>
              <a:t> para el alta de un elemento de la lista: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A36D504-16D2-4837-8668-6B6499377A58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LAB1g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A16A9B4-3519-469D-BE0C-6DFC0941C025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177B026-8AE3-4A7A-8CE6-C6E5B3589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600200"/>
            <a:ext cx="9599611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&gt; ng g c views/operations/list --flat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10EA6A2-1D4F-4D06-9374-FCD4AB6B7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450068"/>
            <a:ext cx="9599611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&gt; ng g c views/operations/item --flat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5FE461D9-E3D7-46D6-AA5A-D3D425744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3364468"/>
            <a:ext cx="9599611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&gt; ng g c views/operations/new --flat</a:t>
            </a:r>
          </a:p>
        </p:txBody>
      </p:sp>
    </p:spTree>
    <p:extLst>
      <p:ext uri="{BB962C8B-B14F-4D97-AF65-F5344CB8AC3E}">
        <p14:creationId xmlns:p14="http://schemas.microsoft.com/office/powerpoint/2010/main" val="16223379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16E56-B7C0-44D8-8B0D-E43E62FD4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Parámetros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C977B9-973B-4002-8F31-461AB9027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Cambiamos la configuración del enrutador del componente. Esta configuración resuelve las rutas </a:t>
            </a:r>
            <a:r>
              <a:rPr lang="es-ES" b="1" dirty="0" err="1"/>
              <a:t>operations</a:t>
            </a:r>
            <a:r>
              <a:rPr lang="es-ES" dirty="0"/>
              <a:t> y </a:t>
            </a:r>
            <a:r>
              <a:rPr lang="es-ES" b="1" dirty="0" err="1"/>
              <a:t>operations</a:t>
            </a:r>
            <a:r>
              <a:rPr lang="es-ES" b="1" dirty="0"/>
              <a:t>/cualquier-cosa</a:t>
            </a:r>
            <a:r>
              <a:rPr lang="es-ES" dirty="0"/>
              <a:t>. 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En la primera carga </a:t>
            </a:r>
            <a:r>
              <a:rPr lang="es-ES" b="1" dirty="0" err="1"/>
              <a:t>OperationsComponent</a:t>
            </a:r>
            <a:r>
              <a:rPr lang="es-ES" dirty="0"/>
              <a:t> y en los demás casos el </a:t>
            </a:r>
            <a:r>
              <a:rPr lang="es-ES" b="1" dirty="0" err="1"/>
              <a:t>ItemComponent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27BFA1-5DD8-4839-ADD1-64C4494989FD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LAB1g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7E446D1-1F5F-4E6E-8A05-41A30B387A62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5A0ADB67-6BE5-4050-A658-462D32C19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905000"/>
            <a:ext cx="9599611" cy="203132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import { OperationsComponent } from "./operations.component";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const routes: Routes = [</a:t>
            </a: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path: "",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component: OperationsComponent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},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path: ":id",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component: ItemComponent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}</a:t>
            </a:r>
            <a:r>
              <a:rPr lang="en-US" sz="1400" b="1" noProof="1">
                <a:latin typeface="Consolas" pitchFamily="49" charset="0"/>
                <a:cs typeface="Consolas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16387049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A33CA-F381-4A5B-815E-C63624995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Parámetros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F68A5A-C9F1-4A22-A8B4-C60572D1D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forzar los enlaces, previamente hemos creamos un componente a modo de listado llamado </a:t>
            </a:r>
            <a:r>
              <a:rPr lang="es-ES" b="1" dirty="0" err="1"/>
              <a:t>ListComponent</a:t>
            </a:r>
            <a:r>
              <a:rPr lang="es-ES" dirty="0"/>
              <a:t>. La parte interesante es: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A36D504-16D2-4837-8668-6B6499377A58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LAB1g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A16A9B4-3519-469D-BE0C-6DFC0941C025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24812A7-68AB-415B-84A9-34435CBDB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743200"/>
            <a:ext cx="9599611" cy="353943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...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@Component({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selector: "cf-list",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template: `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  &lt;p&gt;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    list works!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  &lt;/p&gt;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&lt;ul&gt;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  &lt;li&gt;&lt;a routerLink="/operations/271"&gt;Number e&lt;/a&gt;&lt;/li&gt;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  &lt;li&gt;&lt;a routerLink="/operations/314"&gt;Pi&lt;/a&gt;&lt;/li&gt;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  &lt;li&gt;&lt;a routerLink="/operations/667"&gt;Gravitational Constant&lt;/a&gt;&lt;/li&gt;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&lt;/ul&gt;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`,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styles: []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})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...</a:t>
            </a:r>
            <a:endParaRPr lang="en-US" sz="1400" b="1" noProof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7892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64BDDC6-1FAD-4039-9BA9-46D3BA60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RouterModule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F7363-FD28-4DBC-A673-DE10D82C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dirty="0"/>
              <a:t>No se te olvide añadir la referencia al enrutador en el fichero </a:t>
            </a:r>
            <a:r>
              <a:rPr lang="es-ES" sz="2000" b="1" dirty="0" err="1"/>
              <a:t>operations.module.ts</a:t>
            </a:r>
            <a:endParaRPr lang="es-ES" sz="2000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240E0C-89C7-4887-8140-117D38105DD7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LAB1g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1CA41E-C625-4081-A833-4EC259AE060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B236398-3652-4EF0-A3E6-2D2DA0E3C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600200"/>
            <a:ext cx="9599611" cy="375487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" sz="1400" b="1" dirty="0">
                <a:latin typeface="Consolas" panose="020B0609020204030204" pitchFamily="49" charset="0"/>
              </a:rPr>
              <a:t>i</a:t>
            </a:r>
            <a:r>
              <a:rPr lang="en-US" sz="1400" b="1" dirty="0" err="1">
                <a:latin typeface="Consolas" panose="020B0609020204030204" pitchFamily="49" charset="0"/>
              </a:rPr>
              <a:t>mport</a:t>
            </a:r>
            <a:r>
              <a:rPr lang="en-US" sz="1400" b="1" dirty="0">
                <a:latin typeface="Consolas" panose="020B0609020204030204" pitchFamily="49" charset="0"/>
              </a:rPr>
              <a:t> { </a:t>
            </a:r>
            <a:r>
              <a:rPr lang="en-US" sz="1400" b="1" dirty="0" err="1">
                <a:latin typeface="Consolas" panose="020B0609020204030204" pitchFamily="49" charset="0"/>
              </a:rPr>
              <a:t>NgModule</a:t>
            </a:r>
            <a:r>
              <a:rPr lang="en-US" sz="1400" b="1" dirty="0">
                <a:latin typeface="Consolas" panose="020B0609020204030204" pitchFamily="49" charset="0"/>
              </a:rPr>
              <a:t> } from '@angular/core';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import { </a:t>
            </a:r>
            <a:r>
              <a:rPr lang="en-US" sz="1400" b="1" dirty="0" err="1">
                <a:latin typeface="Consolas" panose="020B0609020204030204" pitchFamily="49" charset="0"/>
              </a:rPr>
              <a:t>CommonModule</a:t>
            </a:r>
            <a:r>
              <a:rPr lang="en-US" sz="1400" b="1" dirty="0">
                <a:latin typeface="Consolas" panose="020B0609020204030204" pitchFamily="49" charset="0"/>
              </a:rPr>
              <a:t> } from '@angular/common';</a:t>
            </a:r>
            <a:endParaRPr lang="es-ES" sz="1400" b="1" dirty="0">
              <a:latin typeface="Consolas" panose="020B0609020204030204" pitchFamily="49" charset="0"/>
            </a:endParaRPr>
          </a:p>
          <a:p>
            <a:br>
              <a:rPr lang="es-E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s-E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import</a:t>
            </a:r>
            <a:r>
              <a:rPr lang="es-E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{ </a:t>
            </a:r>
            <a:r>
              <a:rPr lang="es-E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OperationsRoutingModule</a:t>
            </a:r>
            <a:r>
              <a:rPr lang="es-E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} </a:t>
            </a:r>
            <a:r>
              <a:rPr lang="es-E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from</a:t>
            </a:r>
            <a:r>
              <a:rPr lang="es-E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'./</a:t>
            </a:r>
            <a:r>
              <a:rPr lang="es-E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operations-routing.module</a:t>
            </a:r>
            <a:r>
              <a:rPr lang="es-E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';</a:t>
            </a:r>
          </a:p>
          <a:p>
            <a:r>
              <a:rPr lang="es-ES" sz="1400" b="1" dirty="0" err="1">
                <a:latin typeface="Consolas" panose="020B0609020204030204" pitchFamily="49" charset="0"/>
              </a:rPr>
              <a:t>import</a:t>
            </a:r>
            <a:r>
              <a:rPr lang="es-ES" sz="1400" b="1" dirty="0">
                <a:latin typeface="Consolas" panose="020B0609020204030204" pitchFamily="49" charset="0"/>
              </a:rPr>
              <a:t> { </a:t>
            </a:r>
            <a:r>
              <a:rPr lang="es-ES" sz="1400" b="1" dirty="0" err="1">
                <a:latin typeface="Consolas" panose="020B0609020204030204" pitchFamily="49" charset="0"/>
              </a:rPr>
              <a:t>OperationsComponent</a:t>
            </a:r>
            <a:r>
              <a:rPr lang="es-ES" sz="1400" b="1" dirty="0">
                <a:latin typeface="Consolas" panose="020B0609020204030204" pitchFamily="49" charset="0"/>
              </a:rPr>
              <a:t> } </a:t>
            </a:r>
            <a:r>
              <a:rPr lang="es-ES" sz="1400" b="1" dirty="0" err="1">
                <a:latin typeface="Consolas" panose="020B0609020204030204" pitchFamily="49" charset="0"/>
              </a:rPr>
              <a:t>from</a:t>
            </a:r>
            <a:r>
              <a:rPr lang="es-ES" sz="1400" b="1" dirty="0">
                <a:latin typeface="Consolas" panose="020B0609020204030204" pitchFamily="49" charset="0"/>
              </a:rPr>
              <a:t> './</a:t>
            </a:r>
            <a:r>
              <a:rPr lang="es-ES" sz="1400" b="1" dirty="0" err="1">
                <a:latin typeface="Consolas" panose="020B0609020204030204" pitchFamily="49" charset="0"/>
              </a:rPr>
              <a:t>operations.component</a:t>
            </a:r>
            <a:r>
              <a:rPr lang="es-ES" sz="1400" b="1" dirty="0">
                <a:latin typeface="Consolas" panose="020B0609020204030204" pitchFamily="49" charset="0"/>
              </a:rPr>
              <a:t>';</a:t>
            </a:r>
          </a:p>
          <a:p>
            <a:r>
              <a:rPr lang="es-ES" sz="1400" b="1" dirty="0" err="1">
                <a:latin typeface="Consolas" panose="020B0609020204030204" pitchFamily="49" charset="0"/>
              </a:rPr>
              <a:t>import</a:t>
            </a:r>
            <a:r>
              <a:rPr lang="es-ES" sz="1400" b="1" dirty="0">
                <a:latin typeface="Consolas" panose="020B0609020204030204" pitchFamily="49" charset="0"/>
              </a:rPr>
              <a:t> { </a:t>
            </a:r>
            <a:r>
              <a:rPr lang="es-ES" sz="1400" b="1" dirty="0" err="1">
                <a:latin typeface="Consolas" panose="020B0609020204030204" pitchFamily="49" charset="0"/>
              </a:rPr>
              <a:t>ItemComponent</a:t>
            </a:r>
            <a:r>
              <a:rPr lang="es-ES" sz="1400" b="1" dirty="0">
                <a:latin typeface="Consolas" panose="020B0609020204030204" pitchFamily="49" charset="0"/>
              </a:rPr>
              <a:t> } </a:t>
            </a:r>
            <a:r>
              <a:rPr lang="es-ES" sz="1400" b="1" dirty="0" err="1">
                <a:latin typeface="Consolas" panose="020B0609020204030204" pitchFamily="49" charset="0"/>
              </a:rPr>
              <a:t>from</a:t>
            </a:r>
            <a:r>
              <a:rPr lang="es-ES" sz="1400" b="1" dirty="0">
                <a:latin typeface="Consolas" panose="020B0609020204030204" pitchFamily="49" charset="0"/>
              </a:rPr>
              <a:t> './</a:t>
            </a:r>
            <a:r>
              <a:rPr lang="es-ES" sz="1400" b="1" dirty="0" err="1">
                <a:latin typeface="Consolas" panose="020B0609020204030204" pitchFamily="49" charset="0"/>
              </a:rPr>
              <a:t>item.component</a:t>
            </a:r>
            <a:r>
              <a:rPr lang="es-ES" sz="1400" b="1" dirty="0">
                <a:latin typeface="Consolas" panose="020B0609020204030204" pitchFamily="49" charset="0"/>
              </a:rPr>
              <a:t>';</a:t>
            </a:r>
          </a:p>
          <a:p>
            <a:r>
              <a:rPr lang="es-ES" sz="1400" b="1" dirty="0" err="1">
                <a:latin typeface="Consolas" panose="020B0609020204030204" pitchFamily="49" charset="0"/>
              </a:rPr>
              <a:t>import</a:t>
            </a:r>
            <a:r>
              <a:rPr lang="es-ES" sz="1400" b="1" dirty="0">
                <a:latin typeface="Consolas" panose="020B0609020204030204" pitchFamily="49" charset="0"/>
              </a:rPr>
              <a:t> { </a:t>
            </a:r>
            <a:r>
              <a:rPr lang="es-ES" sz="1400" b="1" dirty="0" err="1">
                <a:latin typeface="Consolas" panose="020B0609020204030204" pitchFamily="49" charset="0"/>
              </a:rPr>
              <a:t>ListComponent</a:t>
            </a:r>
            <a:r>
              <a:rPr lang="es-ES" sz="1400" b="1" dirty="0">
                <a:latin typeface="Consolas" panose="020B0609020204030204" pitchFamily="49" charset="0"/>
              </a:rPr>
              <a:t> } </a:t>
            </a:r>
            <a:r>
              <a:rPr lang="es-ES" sz="1400" b="1" dirty="0" err="1">
                <a:latin typeface="Consolas" panose="020B0609020204030204" pitchFamily="49" charset="0"/>
              </a:rPr>
              <a:t>from</a:t>
            </a:r>
            <a:r>
              <a:rPr lang="es-ES" sz="1400" b="1" dirty="0">
                <a:latin typeface="Consolas" panose="020B0609020204030204" pitchFamily="49" charset="0"/>
              </a:rPr>
              <a:t> './</a:t>
            </a:r>
            <a:r>
              <a:rPr lang="es-ES" sz="1400" b="1" dirty="0" err="1">
                <a:latin typeface="Consolas" panose="020B0609020204030204" pitchFamily="49" charset="0"/>
              </a:rPr>
              <a:t>list.component</a:t>
            </a:r>
            <a:r>
              <a:rPr lang="es-ES" sz="1400" b="1" dirty="0">
                <a:latin typeface="Consolas" panose="020B0609020204030204" pitchFamily="49" charset="0"/>
              </a:rPr>
              <a:t>';</a:t>
            </a:r>
          </a:p>
          <a:p>
            <a:r>
              <a:rPr lang="es-ES" sz="1400" b="1" dirty="0" err="1">
                <a:latin typeface="Consolas" panose="020B0609020204030204" pitchFamily="49" charset="0"/>
              </a:rPr>
              <a:t>import</a:t>
            </a:r>
            <a:r>
              <a:rPr lang="es-ES" sz="1400" b="1" dirty="0">
                <a:latin typeface="Consolas" panose="020B0609020204030204" pitchFamily="49" charset="0"/>
              </a:rPr>
              <a:t> { </a:t>
            </a:r>
            <a:r>
              <a:rPr lang="es-ES" sz="1400" b="1" dirty="0" err="1">
                <a:latin typeface="Consolas" panose="020B0609020204030204" pitchFamily="49" charset="0"/>
              </a:rPr>
              <a:t>NewComponent</a:t>
            </a:r>
            <a:r>
              <a:rPr lang="es-ES" sz="1400" b="1" dirty="0">
                <a:latin typeface="Consolas" panose="020B0609020204030204" pitchFamily="49" charset="0"/>
              </a:rPr>
              <a:t> } </a:t>
            </a:r>
            <a:r>
              <a:rPr lang="es-ES" sz="1400" b="1" dirty="0" err="1">
                <a:latin typeface="Consolas" panose="020B0609020204030204" pitchFamily="49" charset="0"/>
              </a:rPr>
              <a:t>from</a:t>
            </a:r>
            <a:r>
              <a:rPr lang="es-ES" sz="1400" b="1" dirty="0">
                <a:latin typeface="Consolas" panose="020B0609020204030204" pitchFamily="49" charset="0"/>
              </a:rPr>
              <a:t> './</a:t>
            </a:r>
            <a:r>
              <a:rPr lang="es-ES" sz="1400" b="1" dirty="0" err="1">
                <a:latin typeface="Consolas" panose="020B0609020204030204" pitchFamily="49" charset="0"/>
              </a:rPr>
              <a:t>new.component</a:t>
            </a:r>
            <a:r>
              <a:rPr lang="es-ES" sz="1400" b="1" dirty="0">
                <a:latin typeface="Consolas" panose="020B0609020204030204" pitchFamily="49" charset="0"/>
              </a:rPr>
              <a:t>';</a:t>
            </a:r>
          </a:p>
          <a:p>
            <a:br>
              <a:rPr lang="es-ES" sz="1400" b="1" dirty="0">
                <a:latin typeface="Consolas" panose="020B0609020204030204" pitchFamily="49" charset="0"/>
              </a:rPr>
            </a:br>
            <a:r>
              <a:rPr lang="es-ES" sz="1400" b="1" dirty="0">
                <a:latin typeface="Consolas" panose="020B0609020204030204" pitchFamily="49" charset="0"/>
              </a:rPr>
              <a:t>@</a:t>
            </a:r>
            <a:r>
              <a:rPr lang="es-ES" sz="1400" b="1" dirty="0" err="1">
                <a:latin typeface="Consolas" panose="020B0609020204030204" pitchFamily="49" charset="0"/>
              </a:rPr>
              <a:t>NgModule</a:t>
            </a:r>
            <a:r>
              <a:rPr lang="es-ES" sz="1400" b="1" dirty="0">
                <a:latin typeface="Consolas" panose="020B0609020204030204" pitchFamily="49" charset="0"/>
              </a:rPr>
              <a:t>({</a:t>
            </a:r>
          </a:p>
          <a:p>
            <a:r>
              <a:rPr lang="es-ES" sz="1400" b="1" dirty="0">
                <a:latin typeface="Consolas" panose="020B0609020204030204" pitchFamily="49" charset="0"/>
              </a:rPr>
              <a:t>	</a:t>
            </a:r>
            <a:r>
              <a:rPr lang="es-ES" sz="1400" b="1" dirty="0" err="1">
                <a:latin typeface="Consolas" panose="020B0609020204030204" pitchFamily="49" charset="0"/>
              </a:rPr>
              <a:t>imports</a:t>
            </a:r>
            <a:r>
              <a:rPr lang="es-ES" sz="1400" b="1" dirty="0">
                <a:latin typeface="Consolas" panose="020B0609020204030204" pitchFamily="49" charset="0"/>
              </a:rPr>
              <a:t>: [</a:t>
            </a:r>
          </a:p>
          <a:p>
            <a:r>
              <a:rPr lang="es-ES" sz="1400" b="1" dirty="0">
                <a:latin typeface="Consolas" panose="020B0609020204030204" pitchFamily="49" charset="0"/>
              </a:rPr>
              <a:t>		</a:t>
            </a:r>
            <a:r>
              <a:rPr lang="es-ES" sz="1400" b="1" dirty="0" err="1">
                <a:latin typeface="Consolas" panose="020B0609020204030204" pitchFamily="49" charset="0"/>
              </a:rPr>
              <a:t>CommonModule</a:t>
            </a:r>
            <a:r>
              <a:rPr lang="es-ES" sz="1400" b="1" dirty="0">
                <a:latin typeface="Consolas" panose="020B0609020204030204" pitchFamily="49" charset="0"/>
              </a:rPr>
              <a:t>,</a:t>
            </a:r>
          </a:p>
          <a:p>
            <a:r>
              <a:rPr lang="es-ES" sz="1400" b="1" dirty="0">
                <a:latin typeface="Consolas" panose="020B0609020204030204" pitchFamily="49" charset="0"/>
              </a:rPr>
              <a:t>		</a:t>
            </a:r>
            <a:r>
              <a:rPr lang="es-E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OperationsRoutingModule</a:t>
            </a:r>
            <a:endParaRPr lang="es-ES" sz="1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s-ES" sz="1400" b="1" dirty="0">
                <a:latin typeface="Consolas" panose="020B0609020204030204" pitchFamily="49" charset="0"/>
              </a:rPr>
              <a:t>	],</a:t>
            </a:r>
          </a:p>
          <a:p>
            <a:r>
              <a:rPr lang="es-ES" sz="1400" b="1" dirty="0">
                <a:latin typeface="Consolas" panose="020B0609020204030204" pitchFamily="49" charset="0"/>
              </a:rPr>
              <a:t>	</a:t>
            </a:r>
            <a:r>
              <a:rPr lang="es-ES" sz="1400" b="1" dirty="0" err="1">
                <a:latin typeface="Consolas" panose="020B0609020204030204" pitchFamily="49" charset="0"/>
              </a:rPr>
              <a:t>declarations</a:t>
            </a:r>
            <a:r>
              <a:rPr lang="es-ES" sz="1400" b="1" dirty="0">
                <a:latin typeface="Consolas" panose="020B0609020204030204" pitchFamily="49" charset="0"/>
              </a:rPr>
              <a:t>: [</a:t>
            </a:r>
            <a:r>
              <a:rPr lang="es-ES" sz="1400" b="1" dirty="0" err="1">
                <a:latin typeface="Consolas" panose="020B0609020204030204" pitchFamily="49" charset="0"/>
              </a:rPr>
              <a:t>OperationsComponent</a:t>
            </a:r>
            <a:r>
              <a:rPr lang="es-ES" sz="1400" b="1" dirty="0">
                <a:latin typeface="Consolas" panose="020B0609020204030204" pitchFamily="49" charset="0"/>
              </a:rPr>
              <a:t>, </a:t>
            </a:r>
            <a:r>
              <a:rPr lang="es-ES" sz="1400" b="1" dirty="0" err="1">
                <a:latin typeface="Consolas" panose="020B0609020204030204" pitchFamily="49" charset="0"/>
              </a:rPr>
              <a:t>ItemComponent</a:t>
            </a:r>
            <a:r>
              <a:rPr lang="es-ES" sz="1400" b="1" dirty="0">
                <a:latin typeface="Consolas" panose="020B0609020204030204" pitchFamily="49" charset="0"/>
              </a:rPr>
              <a:t>, </a:t>
            </a:r>
            <a:r>
              <a:rPr lang="es-ES" sz="1400" b="1" dirty="0" err="1">
                <a:latin typeface="Consolas" panose="020B0609020204030204" pitchFamily="49" charset="0"/>
              </a:rPr>
              <a:t>ListComponent</a:t>
            </a:r>
            <a:r>
              <a:rPr lang="es-ES" sz="1400" b="1" dirty="0">
                <a:latin typeface="Consolas" panose="020B0609020204030204" pitchFamily="49" charset="0"/>
              </a:rPr>
              <a:t>, </a:t>
            </a:r>
            <a:r>
              <a:rPr lang="es-ES" sz="1400" b="1" dirty="0" err="1">
                <a:latin typeface="Consolas" panose="020B0609020204030204" pitchFamily="49" charset="0"/>
              </a:rPr>
              <a:t>NewComponent</a:t>
            </a:r>
            <a:r>
              <a:rPr lang="es-ES" sz="1400" b="1" dirty="0">
                <a:latin typeface="Consolas" panose="020B0609020204030204" pitchFamily="49" charset="0"/>
              </a:rPr>
              <a:t>]</a:t>
            </a:r>
          </a:p>
          <a:p>
            <a:r>
              <a:rPr lang="es-ES" sz="1400" b="1" dirty="0">
                <a:latin typeface="Consolas" panose="020B0609020204030204" pitchFamily="49" charset="0"/>
              </a:rPr>
              <a:t>})</a:t>
            </a:r>
          </a:p>
          <a:p>
            <a:r>
              <a:rPr lang="es-ES" sz="1400" b="1" dirty="0" err="1">
                <a:latin typeface="Consolas" panose="020B0609020204030204" pitchFamily="49" charset="0"/>
              </a:rPr>
              <a:t>export</a:t>
            </a:r>
            <a:r>
              <a:rPr lang="es-ES" sz="1400" b="1" dirty="0">
                <a:latin typeface="Consolas" panose="020B0609020204030204" pitchFamily="49" charset="0"/>
              </a:rPr>
              <a:t> </a:t>
            </a:r>
            <a:r>
              <a:rPr lang="es-ES" sz="1400" b="1" dirty="0" err="1">
                <a:latin typeface="Consolas" panose="020B0609020204030204" pitchFamily="49" charset="0"/>
              </a:rPr>
              <a:t>class</a:t>
            </a:r>
            <a:r>
              <a:rPr lang="es-ES" sz="1400" b="1" dirty="0">
                <a:latin typeface="Consolas" panose="020B0609020204030204" pitchFamily="49" charset="0"/>
              </a:rPr>
              <a:t> </a:t>
            </a:r>
            <a:r>
              <a:rPr lang="es-ES" sz="1400" b="1" dirty="0" err="1">
                <a:latin typeface="Consolas" panose="020B0609020204030204" pitchFamily="49" charset="0"/>
              </a:rPr>
              <a:t>OperationsModule</a:t>
            </a:r>
            <a:r>
              <a:rPr lang="es-ES" sz="1400" b="1" dirty="0">
                <a:latin typeface="Consolas" panose="020B0609020204030204" pitchFamily="49" charset="0"/>
              </a:rPr>
              <a:t> { }</a:t>
            </a:r>
          </a:p>
        </p:txBody>
      </p:sp>
    </p:spTree>
    <p:extLst>
      <p:ext uri="{BB962C8B-B14F-4D97-AF65-F5344CB8AC3E}">
        <p14:creationId xmlns:p14="http://schemas.microsoft.com/office/powerpoint/2010/main" val="28278308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16E56-B7C0-44D8-8B0D-E43E62FD4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Parámetros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C977B9-973B-4002-8F31-461AB9027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Aún más interesante es el componente que muestra cada elemento de la lista, el </a:t>
            </a:r>
            <a:r>
              <a:rPr lang="es-ES" b="1" dirty="0" err="1"/>
              <a:t>ItemComponent</a:t>
            </a:r>
            <a:r>
              <a:rPr lang="es-ES" dirty="0"/>
              <a:t>. En este caso fíjate cómo accede a la ruta, obtiene el valor del parámetro y lo usa para mostrarlo en la web.</a:t>
            </a:r>
          </a:p>
          <a:p>
            <a:r>
              <a:rPr lang="es-ES" dirty="0"/>
              <a:t>Contenido del fichero </a:t>
            </a:r>
            <a:r>
              <a:rPr lang="es-ES" b="1" dirty="0" err="1"/>
              <a:t>item.component.ts</a:t>
            </a:r>
            <a:r>
              <a:rPr lang="es-ES" dirty="0"/>
              <a:t>: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AF9A882-0260-4BC5-99DA-5BE0E4BCB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3062590"/>
            <a:ext cx="9599611" cy="289310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import { Component, OnInit } from "@angular/core";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import { ActivatedRoute } from "@angular/router";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@Component({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selector: "cf-item",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template: `&lt;h3&gt;{{ _id }}&lt;/h3&gt;`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})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export class ItemComponent implements OnInit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_id: any;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constructor(</a:t>
            </a:r>
            <a:r>
              <a:rPr lang="it-IT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private route: ActivatedRoute</a:t>
            </a:r>
            <a:r>
              <a:rPr lang="it-IT" sz="1400" b="1" noProof="1">
                <a:latin typeface="Consolas" pitchFamily="49" charset="0"/>
                <a:cs typeface="Consolas" pitchFamily="49" charset="0"/>
              </a:rPr>
              <a:t>) {}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ngOnInit()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this._id = this.route.snapshot.params["id"];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}</a:t>
            </a:r>
            <a:endParaRPr lang="en-US" sz="14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27BFA1-5DD8-4839-ADD1-64C4494989FD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LAB1g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7E446D1-1F5F-4E6E-8A05-41A30B387A62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</p:spTree>
    <p:extLst>
      <p:ext uri="{BB962C8B-B14F-4D97-AF65-F5344CB8AC3E}">
        <p14:creationId xmlns:p14="http://schemas.microsoft.com/office/powerpoint/2010/main" val="42365482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16E56-B7C0-44D8-8B0D-E43E62FD4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Plantilla del </a:t>
            </a:r>
            <a:r>
              <a:rPr lang="es-ES" dirty="0" err="1"/>
              <a:t>OperationsComponent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C977B9-973B-4002-8F31-461AB9027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ver la lista modificamos el fichero </a:t>
            </a:r>
            <a:r>
              <a:rPr lang="es-ES" b="1" dirty="0" err="1"/>
              <a:t>operations.component.ts</a:t>
            </a:r>
            <a:r>
              <a:rPr lang="es-ES" dirty="0"/>
              <a:t>: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AF9A882-0260-4BC5-99DA-5BE0E4BCB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1676400"/>
            <a:ext cx="9599611" cy="31085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import { Component, OnInit } from "@angular/core";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it-IT" sz="1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@Component({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selector: "cf-operations",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template: `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&lt;cf-list&gt;&lt;/cf-list&gt;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`,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styles: []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})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export class OperationsComponent implements OnInit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constructor() {}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it-IT" sz="1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  ngOnInit() {}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it-IT" sz="14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27BFA1-5DD8-4839-ADD1-64C4494989FD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LAB1h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7E446D1-1F5F-4E6E-8A05-41A30B387A62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C:\Labs\T3\EX1</a:t>
            </a:r>
          </a:p>
        </p:txBody>
      </p:sp>
    </p:spTree>
    <p:extLst>
      <p:ext uri="{BB962C8B-B14F-4D97-AF65-F5344CB8AC3E}">
        <p14:creationId xmlns:p14="http://schemas.microsoft.com/office/powerpoint/2010/main" val="31176584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6552D9B-E161-40C7-9B99-786CF8BF3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ActivatedRoute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61470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ActivatedRoute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9B483CD-72E2-4531-AFBE-BA33B4A4A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ES" altLang="es-ES" dirty="0"/>
              <a:t>La instrucción </a:t>
            </a:r>
            <a:r>
              <a:rPr lang="es-ES" altLang="es-ES" b="1" dirty="0" err="1"/>
              <a:t>import</a:t>
            </a:r>
            <a:r>
              <a:rPr lang="es-ES" altLang="es-ES" b="1" dirty="0"/>
              <a:t> { </a:t>
            </a:r>
            <a:r>
              <a:rPr lang="es-ES" altLang="es-ES" b="1" dirty="0" err="1"/>
              <a:t>ActivatedRoute</a:t>
            </a:r>
            <a:r>
              <a:rPr lang="es-ES" altLang="es-ES" b="1" dirty="0"/>
              <a:t> } </a:t>
            </a:r>
            <a:r>
              <a:rPr lang="es-ES" altLang="es-ES" b="1" dirty="0" err="1"/>
              <a:t>from</a:t>
            </a:r>
            <a:r>
              <a:rPr lang="es-ES" altLang="es-ES" b="1" dirty="0"/>
              <a:t> "@angular/</a:t>
            </a:r>
            <a:r>
              <a:rPr lang="es-ES" altLang="es-ES" b="1" dirty="0" err="1"/>
              <a:t>router</a:t>
            </a:r>
            <a:r>
              <a:rPr lang="es-ES" altLang="es-ES" b="1" dirty="0"/>
              <a:t>";</a:t>
            </a:r>
            <a:r>
              <a:rPr lang="es-ES" altLang="es-ES" dirty="0"/>
              <a:t> pone a disposición del programador el código donde está definida la clase </a:t>
            </a:r>
            <a:r>
              <a:rPr lang="es-ES" altLang="es-ES" b="1" dirty="0" err="1"/>
              <a:t>ActivatedRoute</a:t>
            </a:r>
            <a:r>
              <a:rPr lang="es-ES" altLang="es-ES" dirty="0"/>
              <a:t>, </a:t>
            </a:r>
            <a:r>
              <a:rPr lang="es-ES" altLang="es-ES" dirty="0">
                <a:solidFill>
                  <a:srgbClr val="FF0000"/>
                </a:solidFill>
              </a:rPr>
              <a:t>pero no se instancia directamente. </a:t>
            </a:r>
          </a:p>
          <a:p>
            <a:pPr lvl="0"/>
            <a:r>
              <a:rPr lang="es-ES" altLang="es-ES" dirty="0"/>
              <a:t>En su lugar, </a:t>
            </a:r>
            <a:r>
              <a:rPr lang="es-ES" altLang="es-ES" b="1" dirty="0"/>
              <a:t>se usa como un argumento del constructor de la clase del componente</a:t>
            </a:r>
            <a:r>
              <a:rPr lang="es-ES" altLang="es-ES" dirty="0"/>
              <a:t>. </a:t>
            </a:r>
          </a:p>
          <a:p>
            <a:pPr lvl="0"/>
            <a:r>
              <a:rPr lang="es-ES" altLang="es-ES" dirty="0"/>
              <a:t>Ese constructor es invocado por Angular, el cual sabe cómo rellenar los argumentos que le pedimos. Es decir, sabe cómo inyectar instancias de las que dependemos.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29C2553-FE80-4C6D-8599-F86002FAB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25705" cy="27699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8101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C0545-07E6-486D-8BC1-5142F2E2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ActivatedRoute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4ED387-76F1-4252-B6E6-577A4074C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es-ES" dirty="0"/>
              <a:t>Una vez que se inyectan las dependencias en el constructor ya están listas para ser usadas como propiedades de la clase. Magia de </a:t>
            </a:r>
            <a:r>
              <a:rPr lang="es-ES" altLang="es-ES" dirty="0" err="1"/>
              <a:t>TypeScript</a:t>
            </a:r>
            <a:r>
              <a:rPr lang="es-ES" altLang="es-ES" dirty="0"/>
              <a:t>. </a:t>
            </a:r>
          </a:p>
          <a:p>
            <a:r>
              <a:rPr lang="es-ES" altLang="es-ES" dirty="0"/>
              <a:t>En concreto </a:t>
            </a:r>
            <a:r>
              <a:rPr lang="es-ES" altLang="es-ES" b="1" dirty="0" err="1"/>
              <a:t>this.route</a:t>
            </a:r>
            <a:r>
              <a:rPr lang="es-ES" altLang="es-ES" dirty="0"/>
              <a:t> nos da acceso a métodos y propiedades </a:t>
            </a:r>
            <a:r>
              <a:rPr lang="es-ES" altLang="es-ES" b="1" dirty="0"/>
              <a:t>para trabajar con la ruta activa y poder leer sus parámetros</a:t>
            </a:r>
            <a:r>
              <a:rPr lang="es-ES" altLang="es-ES" dirty="0"/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53440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6552D9B-E161-40C7-9B99-786CF8BF3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Eventos e interfaces en </a:t>
            </a:r>
            <a:r>
              <a:rPr lang="es-ES" dirty="0" err="1"/>
              <a:t>TypeScript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54511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CAC3C2F-B5E9-423F-A70A-679327967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Eventos e interfaces en </a:t>
            </a:r>
            <a:r>
              <a:rPr lang="es-ES" dirty="0" err="1"/>
              <a:t>TypeScript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1184FC5-5F80-4E32-9453-A65724725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ES" dirty="0"/>
              <a:t>El lenguaje </a:t>
            </a:r>
            <a:r>
              <a:rPr lang="es-ES" i="1" dirty="0" err="1"/>
              <a:t>TypeScript</a:t>
            </a:r>
            <a:r>
              <a:rPr lang="es-ES" dirty="0"/>
              <a:t> como superconjunto de </a:t>
            </a:r>
            <a:r>
              <a:rPr lang="es-ES" i="1" dirty="0"/>
              <a:t>JavaScript</a:t>
            </a:r>
            <a:r>
              <a:rPr lang="es-ES" dirty="0"/>
              <a:t> aporta técnicas de P.O.O. bien conocidas en lenguajes como </a:t>
            </a:r>
            <a:r>
              <a:rPr lang="es-ES" i="1" dirty="0"/>
              <a:t>Java</a:t>
            </a:r>
            <a:r>
              <a:rPr lang="es-ES" dirty="0"/>
              <a:t> o </a:t>
            </a:r>
            <a:r>
              <a:rPr lang="es-ES" i="1" dirty="0"/>
              <a:t>C#</a:t>
            </a:r>
            <a:r>
              <a:rPr lang="es-ES" dirty="0"/>
              <a:t>. Por ejemplo </a:t>
            </a:r>
            <a:r>
              <a:rPr lang="es-ES" b="1" dirty="0"/>
              <a:t>la herencia y los interfaces</a:t>
            </a:r>
            <a:r>
              <a:rPr lang="es-ES" dirty="0"/>
              <a:t>. </a:t>
            </a:r>
          </a:p>
          <a:p>
            <a:pPr fontAlgn="base"/>
            <a:r>
              <a:rPr lang="es-ES" dirty="0"/>
              <a:t>Los diseñadores de </a:t>
            </a:r>
            <a:r>
              <a:rPr lang="es-ES" i="1" dirty="0"/>
              <a:t>Angular</a:t>
            </a:r>
            <a:r>
              <a:rPr lang="es-ES" dirty="0"/>
              <a:t> decidieron usar interfaces para implementar el </a:t>
            </a:r>
            <a:r>
              <a:rPr lang="es-ES" b="1" dirty="0"/>
              <a:t>ciclo de vida de los componentes</a:t>
            </a:r>
            <a:r>
              <a:rPr lang="es-ES" dirty="0"/>
              <a:t>. </a:t>
            </a:r>
          </a:p>
          <a:p>
            <a:pPr fontAlgn="base"/>
            <a:r>
              <a:rPr lang="es-ES" b="1" dirty="0">
                <a:solidFill>
                  <a:srgbClr val="FF0000"/>
                </a:solidFill>
              </a:rPr>
              <a:t>En lugar de lanzar eventos a los que subscribirse, te piden que implementes métodos de distintas interfaces. </a:t>
            </a:r>
            <a:r>
              <a:rPr lang="es-ES" dirty="0"/>
              <a:t>Esos métodos serán llamados cuando corresponda, como si fuesen subscripciones a eventos.</a:t>
            </a:r>
          </a:p>
        </p:txBody>
      </p:sp>
    </p:spTree>
    <p:extLst>
      <p:ext uri="{BB962C8B-B14F-4D97-AF65-F5344CB8AC3E}">
        <p14:creationId xmlns:p14="http://schemas.microsoft.com/office/powerpoint/2010/main" val="6290970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98A2E-FEE2-4B49-A1DD-4E5F5F0C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Eventos e interfaces en </a:t>
            </a:r>
            <a:r>
              <a:rPr lang="es-ES" dirty="0" err="1"/>
              <a:t>TypeScript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BDCCFB-C84C-4AB7-BD99-90E13368C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nuestro caso la interfaz </a:t>
            </a:r>
            <a:r>
              <a:rPr lang="es-ES" b="1" dirty="0" err="1"/>
              <a:t>OnInit</a:t>
            </a:r>
            <a:r>
              <a:rPr lang="es-ES" dirty="0"/>
              <a:t> obliga a implementar el método </a:t>
            </a:r>
            <a:r>
              <a:rPr lang="es-ES" b="1" dirty="0" err="1"/>
              <a:t>ngOnInit</a:t>
            </a:r>
            <a:r>
              <a:rPr lang="es-ES" b="1" dirty="0"/>
              <a:t>() </a:t>
            </a:r>
            <a:r>
              <a:rPr lang="es-ES" dirty="0"/>
              <a:t>el cual será invocado lo antes posible pero tras la completa construcción del componente. Asegurando así que el código que se ejecute en ese método tenga acceso a un componente completo y totalmente listo.</a:t>
            </a:r>
          </a:p>
        </p:txBody>
      </p:sp>
    </p:spTree>
    <p:extLst>
      <p:ext uri="{BB962C8B-B14F-4D97-AF65-F5344CB8AC3E}">
        <p14:creationId xmlns:p14="http://schemas.microsoft.com/office/powerpoint/2010/main" val="37491430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1F2D1-4AC5-4C09-A795-9540CCDC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ngOnChanges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BF74DC-2BEC-474A-B349-646AFC555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s-ES" dirty="0"/>
              <a:t>Este método va a ser el primero que se va a ejecutar, se va a ejecutar el primero de todos y también se va a ejecutar </a:t>
            </a:r>
            <a:r>
              <a:rPr lang="es-ES" dirty="0">
                <a:solidFill>
                  <a:srgbClr val="FF0000"/>
                </a:solidFill>
              </a:rPr>
              <a:t>cuando se produce algún cambio en los valores de las propiedades de nuestro componente</a:t>
            </a:r>
            <a:r>
              <a:rPr lang="es-ES" dirty="0"/>
              <a:t>.</a:t>
            </a:r>
          </a:p>
          <a:p>
            <a:pPr fontAlgn="base"/>
            <a:r>
              <a:rPr lang="es-ES" dirty="0"/>
              <a:t>Para usarlo hay que importar las clases </a:t>
            </a:r>
            <a:r>
              <a:rPr lang="es-ES" dirty="0" err="1"/>
              <a:t>OnChanges</a:t>
            </a:r>
            <a:r>
              <a:rPr lang="es-ES" dirty="0"/>
              <a:t> y </a:t>
            </a:r>
            <a:r>
              <a:rPr lang="es-ES" dirty="0" err="1"/>
              <a:t>SimpleChanges</a:t>
            </a:r>
            <a:r>
              <a:rPr lang="es-ES" dirty="0"/>
              <a:t>: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Después implementar la interfaz </a:t>
            </a:r>
            <a:r>
              <a:rPr lang="es-ES" dirty="0" err="1"/>
              <a:t>OnChanges</a:t>
            </a:r>
            <a:r>
              <a:rPr lang="es-ES" dirty="0"/>
              <a:t> en la clase del componente:</a:t>
            </a:r>
          </a:p>
          <a:p>
            <a:pPr marL="0" indent="0" fontAlgn="base">
              <a:buNone/>
            </a:pPr>
            <a:endParaRPr lang="es-ES" dirty="0"/>
          </a:p>
          <a:p>
            <a:pPr fontAlgn="base"/>
            <a:r>
              <a:rPr lang="es-ES" dirty="0"/>
              <a:t>Y por ultimo definir el método </a:t>
            </a:r>
            <a:r>
              <a:rPr lang="es-ES" dirty="0" err="1"/>
              <a:t>ngOnChanges</a:t>
            </a:r>
            <a:r>
              <a:rPr lang="es-ES" dirty="0"/>
              <a:t> que se ejecutara al cargar el componente o hacer cambios en las propiedades.</a:t>
            </a:r>
          </a:p>
          <a:p>
            <a:pPr marL="0" indent="0">
              <a:buNone/>
            </a:pPr>
            <a:br>
              <a:rPr lang="es-ES" dirty="0"/>
            </a:br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E58C97-5BFB-48CA-B9E2-FF90F3ED8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667000"/>
            <a:ext cx="9599611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import { Component, OnChanges, SimpleChanges } from '@angular/core';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FA12D70-3477-4FBF-AEA6-B770D6F79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1" y="3516868"/>
            <a:ext cx="9599611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export class EjemploComponent implements OnChanges {…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CE417AA-35AA-49CE-9824-857A7E031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4800600"/>
            <a:ext cx="9599611" cy="92333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fr-FR" b="1" noProof="1">
                <a:latin typeface="Consolas" pitchFamily="49" charset="0"/>
                <a:cs typeface="Consolas" pitchFamily="49" charset="0"/>
              </a:rPr>
              <a:t>ngOnChanges(changes: SimpleChanges){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fr-FR" b="1" noProof="1">
                <a:latin typeface="Consolas" pitchFamily="49" charset="0"/>
                <a:cs typeface="Consolas" pitchFamily="49" charset="0"/>
              </a:rPr>
              <a:t>    console.log(changes);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fr-FR" b="1" noProof="1">
                <a:latin typeface="Consolas" pitchFamily="49" charset="0"/>
                <a:cs typeface="Consolas" pitchFamily="49" charset="0"/>
              </a:rPr>
              <a:t>}</a:t>
            </a:r>
            <a:endParaRPr lang="en-US" b="1" noProof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9670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1F2D1-4AC5-4C09-A795-9540CCDC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ngOnInit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BF74DC-2BEC-474A-B349-646AFC555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s-ES" dirty="0"/>
              <a:t>El </a:t>
            </a:r>
            <a:r>
              <a:rPr lang="es-ES" dirty="0" err="1"/>
              <a:t>hook</a:t>
            </a:r>
            <a:r>
              <a:rPr lang="es-ES" dirty="0"/>
              <a:t> </a:t>
            </a:r>
            <a:r>
              <a:rPr lang="es-ES" dirty="0" err="1"/>
              <a:t>ngOnInit</a:t>
            </a:r>
            <a:r>
              <a:rPr lang="es-ES" dirty="0"/>
              <a:t> se ejecuta cuando cargamos la directiva de nuestro componente, es el </a:t>
            </a:r>
            <a:r>
              <a:rPr lang="es-ES" dirty="0">
                <a:solidFill>
                  <a:srgbClr val="FF0000"/>
                </a:solidFill>
              </a:rPr>
              <a:t>primer método que se ejecuta después de lanzar el constructor </a:t>
            </a:r>
            <a:r>
              <a:rPr lang="es-ES" dirty="0"/>
              <a:t>de la clase del componente.</a:t>
            </a:r>
          </a:p>
          <a:p>
            <a:r>
              <a:rPr lang="es-ES" dirty="0"/>
              <a:t>Para usarlo hay que importar las clases </a:t>
            </a:r>
            <a:r>
              <a:rPr lang="en-US" b="1" noProof="1">
                <a:latin typeface="Consolas" pitchFamily="49" charset="0"/>
                <a:cs typeface="Consolas" pitchFamily="49" charset="0"/>
              </a:rPr>
              <a:t>OnInit</a:t>
            </a:r>
            <a:r>
              <a:rPr lang="es-ES" dirty="0"/>
              <a:t>: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Después implementar la interfaz </a:t>
            </a:r>
            <a:r>
              <a:rPr lang="en-US" b="1" noProof="1">
                <a:latin typeface="Consolas" pitchFamily="49" charset="0"/>
                <a:cs typeface="Consolas" pitchFamily="49" charset="0"/>
              </a:rPr>
              <a:t>OnInit</a:t>
            </a:r>
            <a:r>
              <a:rPr lang="es-ES" dirty="0"/>
              <a:t> en la clase del componente:</a:t>
            </a:r>
          </a:p>
          <a:p>
            <a:pPr marL="0" indent="0" fontAlgn="base">
              <a:buNone/>
            </a:pPr>
            <a:endParaRPr lang="es-ES" dirty="0"/>
          </a:p>
          <a:p>
            <a:pPr fontAlgn="base"/>
            <a:r>
              <a:rPr lang="es-ES" dirty="0"/>
              <a:t>Y por ultimo definir el método </a:t>
            </a:r>
            <a:r>
              <a:rPr lang="fr-FR" b="1" noProof="1">
                <a:latin typeface="Consolas" pitchFamily="49" charset="0"/>
                <a:cs typeface="Consolas" pitchFamily="49" charset="0"/>
              </a:rPr>
              <a:t>ngOnInit</a:t>
            </a:r>
            <a:r>
              <a:rPr lang="es-ES" dirty="0"/>
              <a:t> que se ejecutara al mostrar el componente.</a:t>
            </a:r>
          </a:p>
          <a:p>
            <a:pPr marL="0" indent="0">
              <a:buNone/>
            </a:pPr>
            <a:br>
              <a:rPr lang="es-ES" dirty="0"/>
            </a:br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E58C97-5BFB-48CA-B9E2-FF90F3ED8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667000"/>
            <a:ext cx="9599611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import { Component, OnInit } from '@angular/core';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FA12D70-3477-4FBF-AEA6-B770D6F79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1" y="3516868"/>
            <a:ext cx="9599611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export class EjemploComponent implements OnInit{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CE417AA-35AA-49CE-9824-857A7E031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4800600"/>
            <a:ext cx="9599611" cy="92333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fr-FR" b="1" noProof="1">
                <a:latin typeface="Consolas" pitchFamily="49" charset="0"/>
                <a:cs typeface="Consolas" pitchFamily="49" charset="0"/>
              </a:rPr>
              <a:t>ngOnInit(){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fr-FR" b="1" noProof="1">
                <a:latin typeface="Consolas" pitchFamily="49" charset="0"/>
                <a:cs typeface="Consolas" pitchFamily="49" charset="0"/>
              </a:rPr>
              <a:t>    console.log('Metodo on init lanzado');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fr-FR" b="1" noProof="1">
                <a:latin typeface="Consolas" pitchFamily="49" charset="0"/>
                <a:cs typeface="Consolas" pitchFamily="49" charset="0"/>
              </a:rPr>
              <a:t>}</a:t>
            </a:r>
            <a:endParaRPr lang="en-US" b="1" noProof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0879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1F2D1-4AC5-4C09-A795-9540CCDC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ngDoCheck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BF74DC-2BEC-474A-B349-646AFC555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s-ES" dirty="0"/>
              <a:t>El método </a:t>
            </a:r>
            <a:r>
              <a:rPr lang="es-ES" dirty="0" err="1"/>
              <a:t>DoCheck</a:t>
            </a:r>
            <a:r>
              <a:rPr lang="es-ES" dirty="0"/>
              <a:t> se ejecuta cada vez que se produce </a:t>
            </a:r>
            <a:r>
              <a:rPr lang="es-ES" dirty="0">
                <a:solidFill>
                  <a:srgbClr val="FF0000"/>
                </a:solidFill>
              </a:rPr>
              <a:t>algún cambio en el componente o en la aplicación </a:t>
            </a:r>
            <a:r>
              <a:rPr lang="es-ES" dirty="0"/>
              <a:t>de Angular y es un método que se va a estar ejecutando frecuentemente.</a:t>
            </a:r>
          </a:p>
          <a:p>
            <a:r>
              <a:rPr lang="es-ES" dirty="0"/>
              <a:t>Para usarlo hay que importar las clases </a:t>
            </a:r>
            <a:r>
              <a:rPr lang="en-US" b="1" noProof="1">
                <a:latin typeface="Consolas" pitchFamily="49" charset="0"/>
                <a:cs typeface="Consolas" pitchFamily="49" charset="0"/>
              </a:rPr>
              <a:t>DoCheck</a:t>
            </a:r>
            <a:r>
              <a:rPr lang="es-ES" dirty="0"/>
              <a:t>: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Después implementar la interfaz </a:t>
            </a:r>
            <a:r>
              <a:rPr lang="en-US" b="1" noProof="1">
                <a:latin typeface="Consolas" pitchFamily="49" charset="0"/>
                <a:cs typeface="Consolas" pitchFamily="49" charset="0"/>
              </a:rPr>
              <a:t>DoCheck</a:t>
            </a:r>
            <a:r>
              <a:rPr lang="es-ES" dirty="0"/>
              <a:t> en la clase del componente:</a:t>
            </a:r>
          </a:p>
          <a:p>
            <a:endParaRPr lang="es-ES" dirty="0"/>
          </a:p>
          <a:p>
            <a:pPr fontAlgn="base"/>
            <a:r>
              <a:rPr lang="es-ES" dirty="0"/>
              <a:t>Y por ultimo definir el método </a:t>
            </a:r>
            <a:r>
              <a:rPr lang="fr-FR" b="1" noProof="1">
                <a:latin typeface="Consolas" pitchFamily="49" charset="0"/>
                <a:cs typeface="Consolas" pitchFamily="49" charset="0"/>
              </a:rPr>
              <a:t>ngDoCheck</a:t>
            </a:r>
            <a:r>
              <a:rPr lang="es-ES" dirty="0"/>
              <a:t> que se ejecutara cuando se produzca cualquier cambio o evento.</a:t>
            </a:r>
          </a:p>
          <a:p>
            <a:pPr marL="0" indent="0">
              <a:buNone/>
            </a:pPr>
            <a:br>
              <a:rPr lang="es-ES" dirty="0"/>
            </a:br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E58C97-5BFB-48CA-B9E2-FF90F3ED8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2667000"/>
            <a:ext cx="9599611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import { Component, DoCheck } from '@angular/core';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FA12D70-3477-4FBF-AEA6-B770D6F79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1" y="3516868"/>
            <a:ext cx="9599611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export class EjemploComponent implements DoCheck {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CE417AA-35AA-49CE-9824-857A7E031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4800600"/>
            <a:ext cx="9599611" cy="92333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fr-FR" b="1" noProof="1">
                <a:latin typeface="Consolas" pitchFamily="49" charset="0"/>
                <a:cs typeface="Consolas" pitchFamily="49" charset="0"/>
              </a:rPr>
              <a:t>ngDoCheck(){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fr-FR" b="1" noProof="1">
                <a:latin typeface="Consolas" pitchFamily="49" charset="0"/>
                <a:cs typeface="Consolas" pitchFamily="49" charset="0"/>
              </a:rPr>
              <a:t>    console.log('Método DoCheck lanzado');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fr-FR" b="1" noProof="1">
                <a:latin typeface="Consolas" pitchFamily="49" charset="0"/>
                <a:cs typeface="Consolas" pitchFamily="49" charset="0"/>
              </a:rPr>
              <a:t>}</a:t>
            </a:r>
            <a:endParaRPr lang="en-US" b="1" noProof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9327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1F2D1-4AC5-4C09-A795-9540CCDC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ngOnDestroy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BF74DC-2BEC-474A-B349-646AFC555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Además tenemos otro evento Hook en Angular que se ejecuta justo antes de eliminar la instancia de un componente, este es el método </a:t>
            </a:r>
            <a:r>
              <a:rPr lang="es-ES" dirty="0" err="1"/>
              <a:t>ngOnDestroy</a:t>
            </a:r>
            <a:r>
              <a:rPr lang="es-ES" dirty="0"/>
              <a:t>: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CE417AA-35AA-49CE-9824-857A7E031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2057400"/>
            <a:ext cx="9599611" cy="92333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fr-FR" b="1" noProof="1">
                <a:latin typeface="Consolas" pitchFamily="49" charset="0"/>
                <a:cs typeface="Consolas" pitchFamily="49" charset="0"/>
              </a:rPr>
              <a:t>ngOnDestroy()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fr-FR" b="1" noProof="1">
                <a:latin typeface="Consolas" pitchFamily="49" charset="0"/>
                <a:cs typeface="Consolas" pitchFamily="49" charset="0"/>
              </a:rPr>
              <a:t>    console.log('Se va a eliminar el componente');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fr-FR" b="1" noProof="1">
                <a:latin typeface="Consolas" pitchFamily="49" charset="0"/>
                <a:cs typeface="Consolas" pitchFamily="49" charset="0"/>
              </a:rPr>
              <a:t>}</a:t>
            </a:r>
            <a:endParaRPr lang="en-US" b="1" noProof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6022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EDCFE-1485-47E9-983A-DDDB65810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altLang="es-ES" dirty="0"/>
              <a:t>Aún hay más…</a:t>
            </a:r>
            <a:endParaRPr lang="es-ES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789F952D-9CC4-47F7-9E4F-3214A19ABD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8814385"/>
              </p:ext>
            </p:extLst>
          </p:nvPr>
        </p:nvGraphicFramePr>
        <p:xfrm>
          <a:off x="838200" y="1269794"/>
          <a:ext cx="10133013" cy="4521406"/>
        </p:xfrm>
        <a:graphic>
          <a:graphicData uri="http://schemas.openxmlformats.org/drawingml/2006/table">
            <a:tbl>
              <a:tblPr/>
              <a:tblGrid>
                <a:gridCol w="1827212">
                  <a:extLst>
                    <a:ext uri="{9D8B030D-6E8A-4147-A177-3AD203B41FA5}">
                      <a16:colId xmlns:a16="http://schemas.microsoft.com/office/drawing/2014/main" val="240031336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089759456"/>
                    </a:ext>
                  </a:extLst>
                </a:gridCol>
                <a:gridCol w="6324601">
                  <a:extLst>
                    <a:ext uri="{9D8B030D-6E8A-4147-A177-3AD203B41FA5}">
                      <a16:colId xmlns:a16="http://schemas.microsoft.com/office/drawing/2014/main" val="194617435"/>
                    </a:ext>
                  </a:extLst>
                </a:gridCol>
              </a:tblGrid>
              <a:tr h="93586">
                <a:tc>
                  <a:txBody>
                    <a:bodyPr/>
                    <a:lstStyle/>
                    <a:p>
                      <a:pPr algn="l"/>
                      <a:r>
                        <a:rPr lang="es-ES" sz="1200" b="1" dirty="0">
                          <a:effectLst/>
                        </a:rPr>
                        <a:t>Nombre de la Interface</a:t>
                      </a: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1">
                          <a:effectLst/>
                        </a:rPr>
                        <a:t>Nombre del método o gancho</a:t>
                      </a: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1" dirty="0">
                          <a:effectLst/>
                        </a:rPr>
                        <a:t>Descripción</a:t>
                      </a: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377409"/>
                  </a:ext>
                </a:extLst>
              </a:tr>
              <a:tr h="655036">
                <a:tc>
                  <a:txBody>
                    <a:bodyPr/>
                    <a:lstStyle/>
                    <a:p>
                      <a:r>
                        <a:rPr lang="es-ES" sz="1050" b="0" dirty="0" err="1">
                          <a:effectLst/>
                        </a:rPr>
                        <a:t>OnChanges</a:t>
                      </a:r>
                      <a:endParaRPr lang="es-ES" sz="1050" b="0" dirty="0">
                        <a:effectLst/>
                      </a:endParaRP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 err="1">
                          <a:solidFill>
                            <a:srgbClr val="FF0000"/>
                          </a:solidFill>
                          <a:effectLst/>
                        </a:rPr>
                        <a:t>ngOnChanges</a:t>
                      </a:r>
                      <a:endParaRPr lang="es-ES" sz="12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050" dirty="0">
                          <a:effectLst/>
                        </a:rPr>
                        <a:t>Responde cuando Angular restablece propiedades de entrada vinculadas a datos. El método recibe un objeto </a:t>
                      </a:r>
                      <a:r>
                        <a:rPr lang="es-ES" sz="1050" dirty="0" err="1">
                          <a:effectLst/>
                        </a:rPr>
                        <a:t>SimpleChanges</a:t>
                      </a:r>
                      <a:r>
                        <a:rPr lang="es-ES" sz="1050" dirty="0">
                          <a:effectLst/>
                        </a:rPr>
                        <a:t> de los valores de propiedad actuales y anteriores. Este gancho es llamado antes de </a:t>
                      </a:r>
                      <a:r>
                        <a:rPr lang="es-ES" sz="1050" dirty="0" err="1">
                          <a:effectLst/>
                        </a:rPr>
                        <a:t>ngOnInit</a:t>
                      </a:r>
                      <a:r>
                        <a:rPr lang="es-ES" sz="1050" dirty="0">
                          <a:effectLst/>
                        </a:rPr>
                        <a:t> y cuando una o más propiedades de entrada enlazadas a datos cambien.</a:t>
                      </a: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920495"/>
                  </a:ext>
                </a:extLst>
              </a:tr>
              <a:tr h="584855">
                <a:tc>
                  <a:txBody>
                    <a:bodyPr/>
                    <a:lstStyle/>
                    <a:p>
                      <a:r>
                        <a:rPr lang="es-ES" sz="1050" b="0" dirty="0" err="1">
                          <a:effectLst/>
                        </a:rPr>
                        <a:t>OnInit</a:t>
                      </a:r>
                      <a:endParaRPr lang="es-ES" sz="1050" b="0" dirty="0">
                        <a:effectLst/>
                      </a:endParaRP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 err="1">
                          <a:solidFill>
                            <a:srgbClr val="FF0000"/>
                          </a:solidFill>
                          <a:effectLst/>
                        </a:rPr>
                        <a:t>ngOnInit</a:t>
                      </a:r>
                      <a:endParaRPr lang="es-ES" sz="12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050">
                          <a:effectLst/>
                        </a:rPr>
                        <a:t>Inicializa la directiva o el componente una vez Angular haya mostrado las propiedades vinculadas a datos y establece las propiedades de entrada de la directiva o el componente. Es llamado solo una vez, después del primer llamado a ngOnChanges.</a:t>
                      </a: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218712"/>
                  </a:ext>
                </a:extLst>
              </a:tr>
              <a:tr h="374311">
                <a:tc>
                  <a:txBody>
                    <a:bodyPr/>
                    <a:lstStyle/>
                    <a:p>
                      <a:r>
                        <a:rPr lang="es-ES" sz="1050" b="0" dirty="0" err="1">
                          <a:effectLst/>
                        </a:rPr>
                        <a:t>DoCheck</a:t>
                      </a:r>
                      <a:endParaRPr lang="es-ES" sz="1050" b="0" dirty="0">
                        <a:effectLst/>
                      </a:endParaRP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 err="1">
                          <a:effectLst/>
                        </a:rPr>
                        <a:t>ngDoCheck</a:t>
                      </a:r>
                      <a:endParaRPr lang="es-ES" sz="1200" b="1" dirty="0">
                        <a:effectLst/>
                      </a:endParaRP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050" dirty="0">
                          <a:effectLst/>
                        </a:rPr>
                        <a:t>Detecta y actúa sobre los cambios que Angular no puede por sí solo. Se llama durante cada detección de cambios, inmediatamente después de </a:t>
                      </a:r>
                      <a:r>
                        <a:rPr lang="es-ES" sz="1050" dirty="0" err="1">
                          <a:effectLst/>
                        </a:rPr>
                        <a:t>ngOnChanges</a:t>
                      </a:r>
                      <a:r>
                        <a:rPr lang="es-ES" sz="1050" dirty="0">
                          <a:effectLst/>
                        </a:rPr>
                        <a:t> y </a:t>
                      </a:r>
                      <a:r>
                        <a:rPr lang="es-ES" sz="1050" dirty="0" err="1">
                          <a:effectLst/>
                        </a:rPr>
                        <a:t>ngOnInit</a:t>
                      </a:r>
                      <a:r>
                        <a:rPr lang="es-ES" sz="1050" dirty="0">
                          <a:effectLst/>
                        </a:rPr>
                        <a:t>.</a:t>
                      </a: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315288"/>
                  </a:ext>
                </a:extLst>
              </a:tr>
              <a:tr h="514674">
                <a:tc>
                  <a:txBody>
                    <a:bodyPr/>
                    <a:lstStyle/>
                    <a:p>
                      <a:r>
                        <a:rPr lang="es-ES" sz="1050" b="0" dirty="0" err="1">
                          <a:effectLst/>
                        </a:rPr>
                        <a:t>AfterContentInit</a:t>
                      </a:r>
                      <a:endParaRPr lang="es-ES" sz="1050" b="0" dirty="0">
                        <a:effectLst/>
                      </a:endParaRP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 err="1">
                          <a:effectLst/>
                        </a:rPr>
                        <a:t>ngAfterContentInit</a:t>
                      </a:r>
                      <a:endParaRPr lang="es-ES" sz="1200" b="1" dirty="0">
                        <a:effectLst/>
                      </a:endParaRP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effectLst/>
                        </a:rPr>
                        <a:t>Es activado después de que Angular proyecte contenido externo en la vista del </a:t>
                      </a:r>
                      <a:r>
                        <a:rPr lang="es-ES" sz="1200" b="1" dirty="0" err="1">
                          <a:effectLst/>
                        </a:rPr>
                        <a:t>componente.,Se</a:t>
                      </a:r>
                      <a:r>
                        <a:rPr lang="es-ES" sz="1200" b="1" dirty="0">
                          <a:effectLst/>
                        </a:rPr>
                        <a:t> llama una vez después del primer </a:t>
                      </a:r>
                      <a:r>
                        <a:rPr lang="es-ES" sz="1200" b="1" dirty="0" err="1">
                          <a:effectLst/>
                        </a:rPr>
                        <a:t>NgDoCheck</a:t>
                      </a:r>
                      <a:r>
                        <a:rPr lang="es-ES" sz="1200" b="1" dirty="0">
                          <a:effectLst/>
                        </a:rPr>
                        <a:t>. Este gancho de vida solo existe en los componentes.</a:t>
                      </a: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882963"/>
                  </a:ext>
                </a:extLst>
              </a:tr>
              <a:tr h="584855">
                <a:tc>
                  <a:txBody>
                    <a:bodyPr/>
                    <a:lstStyle/>
                    <a:p>
                      <a:r>
                        <a:rPr lang="es-ES" sz="1050" b="0" dirty="0" err="1">
                          <a:effectLst/>
                        </a:rPr>
                        <a:t>AfterContentChecked</a:t>
                      </a:r>
                      <a:r>
                        <a:rPr lang="es-ES" sz="1050" b="0" dirty="0">
                          <a:effectLst/>
                        </a:rPr>
                        <a:t>   </a:t>
                      </a: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 err="1">
                          <a:effectLst/>
                        </a:rPr>
                        <a:t>ngAfterContentChecked</a:t>
                      </a:r>
                      <a:r>
                        <a:rPr lang="es-ES" sz="1200" b="1" dirty="0">
                          <a:effectLst/>
                        </a:rPr>
                        <a:t>   </a:t>
                      </a: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effectLst/>
                        </a:rPr>
                        <a:t>Responde después de que Angular comprueba el contenido proyectado en el componente. Es llamado después del </a:t>
                      </a:r>
                      <a:r>
                        <a:rPr lang="es-ES" sz="1200" b="1" dirty="0" err="1">
                          <a:effectLst/>
                        </a:rPr>
                        <a:t>ngAfterContentInit</a:t>
                      </a:r>
                      <a:r>
                        <a:rPr lang="es-ES" sz="1200" b="1" dirty="0">
                          <a:effectLst/>
                        </a:rPr>
                        <a:t> y cada </a:t>
                      </a:r>
                      <a:r>
                        <a:rPr lang="es-ES" sz="1200" b="1" dirty="0" err="1">
                          <a:effectLst/>
                        </a:rPr>
                        <a:t>NgDoCheck</a:t>
                      </a:r>
                      <a:r>
                        <a:rPr lang="es-ES" sz="1200" b="1" dirty="0">
                          <a:effectLst/>
                        </a:rPr>
                        <a:t> posterior. Este gancho de vida solo existe en los componentes.</a:t>
                      </a: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761935"/>
                  </a:ext>
                </a:extLst>
              </a:tr>
              <a:tr h="514674">
                <a:tc>
                  <a:txBody>
                    <a:bodyPr/>
                    <a:lstStyle/>
                    <a:p>
                      <a:r>
                        <a:rPr lang="es-ES" sz="1050" b="0" dirty="0" err="1">
                          <a:effectLst/>
                        </a:rPr>
                        <a:t>AfterViewInit</a:t>
                      </a:r>
                      <a:endParaRPr lang="es-ES" sz="1050" b="0" dirty="0">
                        <a:effectLst/>
                      </a:endParaRP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 err="1">
                          <a:solidFill>
                            <a:srgbClr val="FF0000"/>
                          </a:solidFill>
                          <a:effectLst/>
                        </a:rPr>
                        <a:t>ngAfterViewInit</a:t>
                      </a:r>
                      <a:endParaRPr lang="es-ES" sz="12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effectLst/>
                        </a:rPr>
                        <a:t>Responde después de que Angular inicializa las vistas del componente y las vistas secundarias. Se llama una vez después del primer </a:t>
                      </a:r>
                      <a:r>
                        <a:rPr lang="es-ES" sz="1200" b="1" dirty="0" err="1">
                          <a:effectLst/>
                        </a:rPr>
                        <a:t>ngAfterContentChecked</a:t>
                      </a:r>
                      <a:r>
                        <a:rPr lang="es-ES" sz="1200" b="1" dirty="0">
                          <a:effectLst/>
                        </a:rPr>
                        <a:t>. Este gancho de vida solo existe en los componentes.</a:t>
                      </a: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027067"/>
                  </a:ext>
                </a:extLst>
              </a:tr>
              <a:tr h="584855">
                <a:tc>
                  <a:txBody>
                    <a:bodyPr/>
                    <a:lstStyle/>
                    <a:p>
                      <a:r>
                        <a:rPr lang="es-ES" sz="1050" b="0" dirty="0" err="1">
                          <a:effectLst/>
                        </a:rPr>
                        <a:t>AfterViewChecked</a:t>
                      </a:r>
                      <a:endParaRPr lang="es-ES" sz="1050" b="0" dirty="0">
                        <a:effectLst/>
                      </a:endParaRP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 err="1">
                          <a:effectLst/>
                        </a:rPr>
                        <a:t>ngAfterViewChecked</a:t>
                      </a:r>
                      <a:endParaRPr lang="es-ES" sz="1200" b="1" dirty="0">
                        <a:effectLst/>
                      </a:endParaRP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effectLst/>
                        </a:rPr>
                        <a:t>Responde después de que Angular comprueba las vistas del componente y las vistas </a:t>
                      </a:r>
                      <a:r>
                        <a:rPr lang="es-ES" sz="1200" b="1" dirty="0" err="1">
                          <a:effectLst/>
                        </a:rPr>
                        <a:t>secundarias.,Se</a:t>
                      </a:r>
                      <a:r>
                        <a:rPr lang="es-ES" sz="1200" b="1" dirty="0">
                          <a:effectLst/>
                        </a:rPr>
                        <a:t> llama después de </a:t>
                      </a:r>
                      <a:r>
                        <a:rPr lang="es-ES" sz="1200" b="1" dirty="0" err="1">
                          <a:effectLst/>
                        </a:rPr>
                        <a:t>ngAfterViewInit</a:t>
                      </a:r>
                      <a:r>
                        <a:rPr lang="es-ES" sz="1200" b="1" dirty="0">
                          <a:effectLst/>
                        </a:rPr>
                        <a:t> y cada </a:t>
                      </a:r>
                      <a:r>
                        <a:rPr lang="es-ES" sz="1200" b="1" dirty="0" err="1">
                          <a:effectLst/>
                        </a:rPr>
                        <a:t>ngAfterContentChecked</a:t>
                      </a:r>
                      <a:r>
                        <a:rPr lang="es-ES" sz="1200" b="1" dirty="0">
                          <a:effectLst/>
                        </a:rPr>
                        <a:t> posterior. Este gancho de vida solo existe en los componentes.</a:t>
                      </a: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94928"/>
                  </a:ext>
                </a:extLst>
              </a:tr>
              <a:tr h="444492">
                <a:tc>
                  <a:txBody>
                    <a:bodyPr/>
                    <a:lstStyle/>
                    <a:p>
                      <a:r>
                        <a:rPr lang="es-ES" sz="1050" b="0" dirty="0" err="1">
                          <a:effectLst/>
                        </a:rPr>
                        <a:t>OnDestroy</a:t>
                      </a:r>
                      <a:endParaRPr lang="es-ES" sz="1050" b="0" dirty="0">
                        <a:effectLst/>
                      </a:endParaRP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 err="1">
                          <a:solidFill>
                            <a:srgbClr val="FF0000"/>
                          </a:solidFill>
                          <a:effectLst/>
                        </a:rPr>
                        <a:t>ngOnDestroy</a:t>
                      </a:r>
                      <a:endParaRPr lang="es-ES" sz="12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050" dirty="0">
                          <a:effectLst/>
                        </a:rPr>
                        <a:t>Es llamado justo antes de que Angular destruya la directiva o el componente. Anula la suscripción de observables y desconecta los manejadores de eventos para evitar fugas de memoria.</a:t>
                      </a:r>
                    </a:p>
                  </a:txBody>
                  <a:tcPr marL="23405" marR="23405" marT="11702" marB="117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268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3222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7F179-66AB-4A28-8091-D5EB29AE5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Y más…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A32FE0-778D-47C2-8B37-7B9FE89C8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En Angular 5, se añaden los siguientes:</a:t>
            </a:r>
          </a:p>
          <a:p>
            <a:pPr lvl="1"/>
            <a:r>
              <a:rPr lang="es-ES" dirty="0" err="1"/>
              <a:t>GuardsCheckStart</a:t>
            </a:r>
            <a:r>
              <a:rPr lang="es-ES" dirty="0"/>
              <a:t>, </a:t>
            </a:r>
          </a:p>
          <a:p>
            <a:pPr lvl="1"/>
            <a:r>
              <a:rPr lang="es-ES" dirty="0" err="1"/>
              <a:t>ChildActivationStart</a:t>
            </a:r>
            <a:r>
              <a:rPr lang="es-ES" dirty="0"/>
              <a:t>, </a:t>
            </a:r>
          </a:p>
          <a:p>
            <a:pPr lvl="1"/>
            <a:r>
              <a:rPr lang="es-ES" dirty="0" err="1"/>
              <a:t>ActivationStart</a:t>
            </a:r>
            <a:r>
              <a:rPr lang="es-ES" dirty="0"/>
              <a:t>, </a:t>
            </a:r>
          </a:p>
          <a:p>
            <a:pPr lvl="1"/>
            <a:r>
              <a:rPr lang="es-ES" dirty="0" err="1"/>
              <a:t>GuardsCheckEnd</a:t>
            </a:r>
            <a:r>
              <a:rPr lang="es-ES" dirty="0"/>
              <a:t>, </a:t>
            </a:r>
          </a:p>
          <a:p>
            <a:pPr lvl="1"/>
            <a:r>
              <a:rPr lang="es-ES" dirty="0" err="1"/>
              <a:t>ResolveStart</a:t>
            </a:r>
            <a:r>
              <a:rPr lang="es-ES" dirty="0"/>
              <a:t>, </a:t>
            </a:r>
          </a:p>
          <a:p>
            <a:pPr lvl="1"/>
            <a:r>
              <a:rPr lang="es-ES" dirty="0" err="1"/>
              <a:t>ResolveEnd</a:t>
            </a:r>
            <a:r>
              <a:rPr lang="es-ES" dirty="0"/>
              <a:t>, </a:t>
            </a:r>
          </a:p>
          <a:p>
            <a:pPr lvl="1"/>
            <a:r>
              <a:rPr lang="es-ES" dirty="0" err="1"/>
              <a:t>ActivationEnd</a:t>
            </a:r>
            <a:endParaRPr lang="es-ES" dirty="0"/>
          </a:p>
          <a:p>
            <a:pPr lvl="1"/>
            <a:r>
              <a:rPr lang="es-ES" dirty="0" err="1"/>
              <a:t>ChildActivationEnd</a:t>
            </a:r>
            <a:endParaRPr lang="es-ES" dirty="0"/>
          </a:p>
          <a:p>
            <a:r>
              <a:rPr lang="es-ES" dirty="0"/>
              <a:t>Están ordenados por </a:t>
            </a:r>
            <a:r>
              <a:rPr lang="es-ES" dirty="0" err="1"/>
              <a:t>órden</a:t>
            </a:r>
            <a:r>
              <a:rPr lang="es-ES" dirty="0"/>
              <a:t> de ejecución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558593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DB6DC49-47CA-43E2-8027-4EEB45BEE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Interfaces?</a:t>
            </a:r>
          </a:p>
        </p:txBody>
      </p:sp>
    </p:spTree>
    <p:extLst>
      <p:ext uri="{BB962C8B-B14F-4D97-AF65-F5344CB8AC3E}">
        <p14:creationId xmlns:p14="http://schemas.microsoft.com/office/powerpoint/2010/main" val="15886082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84542-BB53-46B3-AA2F-AC7A37ADE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Las interfaces no son necesarias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2292B2-97A8-4973-A9BE-6ED550C6F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Técnicamente, no es necesario usar las interfaces en nuestras aplicaciones de Angular </a:t>
            </a:r>
            <a:r>
              <a:rPr lang="es-ES" dirty="0"/>
              <a:t>ya que JavaScript no tiene interfaces. Y aunque </a:t>
            </a:r>
            <a:r>
              <a:rPr lang="es-ES" dirty="0" err="1"/>
              <a:t>TypeScript</a:t>
            </a:r>
            <a:r>
              <a:rPr lang="es-ES" dirty="0"/>
              <a:t> si las tiene una vez la </a:t>
            </a:r>
            <a:r>
              <a:rPr lang="es-ES" dirty="0" err="1"/>
              <a:t>transpilación</a:t>
            </a:r>
            <a:r>
              <a:rPr lang="es-ES" dirty="0"/>
              <a:t> ocurre desaparecen del código de JavaScript.</a:t>
            </a:r>
          </a:p>
          <a:p>
            <a:r>
              <a:rPr lang="es-ES" b="1" dirty="0"/>
              <a:t>Angular va a revisar nuestro código y si encuentra alguno de los métodos </a:t>
            </a:r>
            <a:r>
              <a:rPr lang="es-ES" b="1" dirty="0" err="1"/>
              <a:t>majejadores</a:t>
            </a:r>
            <a:r>
              <a:rPr lang="es-ES" b="1" dirty="0"/>
              <a:t> definidos en nuestras clases, simplemente los llama en el momento adecuado.</a:t>
            </a:r>
          </a:p>
          <a:p>
            <a:r>
              <a:rPr lang="es-ES" dirty="0"/>
              <a:t>Aunque las interfaces no sean requeridas, </a:t>
            </a:r>
            <a:r>
              <a:rPr lang="es-ES" b="1" dirty="0">
                <a:solidFill>
                  <a:srgbClr val="FF0000"/>
                </a:solidFill>
              </a:rPr>
              <a:t>usarlas es una buena práctica </a:t>
            </a:r>
            <a:r>
              <a:rPr lang="es-ES" dirty="0"/>
              <a:t>de programación y para poder aprovechar las herramientas que nos ofrecen los </a:t>
            </a:r>
            <a:r>
              <a:rPr lang="es-ES" dirty="0" err="1"/>
              <a:t>IDEs</a:t>
            </a:r>
            <a:r>
              <a:rPr lang="es-ES" dirty="0"/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7677707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Personalizado 1">
      <a:dk1>
        <a:srgbClr val="1B1D39"/>
      </a:dk1>
      <a:lt1>
        <a:sysClr val="window" lastClr="FFFFFF"/>
      </a:lt1>
      <a:dk2>
        <a:srgbClr val="F5C200"/>
      </a:dk2>
      <a:lt2>
        <a:srgbClr val="E7E6E6"/>
      </a:lt2>
      <a:accent1>
        <a:srgbClr val="F5C200"/>
      </a:accent1>
      <a:accent2>
        <a:srgbClr val="1B1D39"/>
      </a:accent2>
      <a:accent3>
        <a:srgbClr val="A5A5A5"/>
      </a:accent3>
      <a:accent4>
        <a:srgbClr val="FFC000"/>
      </a:accent4>
      <a:accent5>
        <a:srgbClr val="F5C200"/>
      </a:accent5>
      <a:accent6>
        <a:srgbClr val="F5C200"/>
      </a:accent6>
      <a:hlink>
        <a:srgbClr val="0563C1"/>
      </a:hlink>
      <a:folHlink>
        <a:srgbClr val="954F72"/>
      </a:folHlink>
    </a:clrScheme>
    <a:fontScheme name="TecnoFor">
      <a:majorFont>
        <a:latin typeface="Lexend Bold"/>
        <a:ea typeface="Helvetica"/>
        <a:cs typeface="Helvetica"/>
      </a:majorFont>
      <a:minorFont>
        <a:latin typeface="Lexend"/>
        <a:ea typeface="Arial"/>
        <a:cs typeface="Arial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76200">
          <a:solidFill>
            <a:srgbClr val="1C1E3B"/>
          </a:solidFill>
          <a:extLst>
            <a:ext uri="{C807C97D-BFC1-408E-A445-0C87EB9F89A2}">
              <ask:lineSketchStyleProps xmlns:ask="http://schemas.microsoft.com/office/drawing/2018/sketchyshapes">
                <ask:type>
                  <ask:lineSketchNone/>
                </ask:type>
              </ask:lineSketchStyleProps>
            </a:ext>
          </a:extLst>
        </a:ln>
      </a:spPr>
      <a:bodyPr lIns="72000" tIns="36000" rIns="72000" bIns="36000" rtlCol="0" anchor="ctr" anchorCtr="1"/>
      <a:lstStyle>
        <a:defPPr algn="ctr">
          <a:defRPr sz="4000" dirty="0">
            <a:solidFill>
              <a:srgbClr val="1C1E3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5003</Words>
  <Application>Microsoft Office PowerPoint</Application>
  <PresentationFormat>Personalizado</PresentationFormat>
  <Paragraphs>747</Paragraphs>
  <Slides>70</Slides>
  <Notes>11</Notes>
  <HiddenSlides>5</HiddenSlides>
  <MMClips>0</MMClips>
  <ScaleCrop>false</ScaleCrop>
  <HeadingPairs>
    <vt:vector size="6" baseType="variant">
      <vt:variant>
        <vt:lpstr>Fuentes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70</vt:i4>
      </vt:variant>
    </vt:vector>
  </HeadingPairs>
  <TitlesOfParts>
    <vt:vector size="85" baseType="lpstr">
      <vt:lpstr>Arial</vt:lpstr>
      <vt:lpstr>Calibri</vt:lpstr>
      <vt:lpstr>Cascadia Mono</vt:lpstr>
      <vt:lpstr>Consolas</vt:lpstr>
      <vt:lpstr>inherit</vt:lpstr>
      <vt:lpstr>Lexend</vt:lpstr>
      <vt:lpstr>Lexend Bold</vt:lpstr>
      <vt:lpstr>Lexend Light</vt:lpstr>
      <vt:lpstr>Lucida Console</vt:lpstr>
      <vt:lpstr>Lucida Sans Typewriter</vt:lpstr>
      <vt:lpstr>Open Sans</vt:lpstr>
      <vt:lpstr>Source Code Pro</vt:lpstr>
      <vt:lpstr>Times New Roman</vt:lpstr>
      <vt:lpstr>Trebuchet MS</vt:lpstr>
      <vt:lpstr>1_Tema de Office</vt:lpstr>
      <vt:lpstr>Angular Routes</vt:lpstr>
      <vt:lpstr>Router</vt:lpstr>
      <vt:lpstr>Router</vt:lpstr>
      <vt:lpstr>Intro</vt:lpstr>
      <vt:lpstr>Páginas y rutas Angular SPA</vt:lpstr>
      <vt:lpstr>Rutas</vt:lpstr>
      <vt:lpstr>Presentación de PowerPoint</vt:lpstr>
      <vt:lpstr>RouterModule</vt:lpstr>
      <vt:lpstr>RouterModule</vt:lpstr>
      <vt:lpstr>RouterModule</vt:lpstr>
      <vt:lpstr>RouterModule</vt:lpstr>
      <vt:lpstr>Router Outlet</vt:lpstr>
      <vt:lpstr>RouterModule</vt:lpstr>
      <vt:lpstr>Presentación de PowerPoint</vt:lpstr>
      <vt:lpstr>Presentación de PowerPoint</vt:lpstr>
      <vt:lpstr>RouterModule</vt:lpstr>
      <vt:lpstr>Router Redirect</vt:lpstr>
      <vt:lpstr>RouterModule</vt:lpstr>
      <vt:lpstr>RouterModule</vt:lpstr>
      <vt:lpstr>RouterModule</vt:lpstr>
      <vt:lpstr>Router Link</vt:lpstr>
      <vt:lpstr>Router Link - Navigating Routes</vt:lpstr>
      <vt:lpstr>Presentación de PowerPoint</vt:lpstr>
      <vt:lpstr>Presentación de PowerPoint</vt:lpstr>
      <vt:lpstr>RouterModule</vt:lpstr>
      <vt:lpstr>RouterModule</vt:lpstr>
      <vt:lpstr>RouterModule</vt:lpstr>
      <vt:lpstr>Presentación de PowerPoint</vt:lpstr>
      <vt:lpstr>Lazy Loading</vt:lpstr>
      <vt:lpstr>Presentación de PowerPoint</vt:lpstr>
      <vt:lpstr>Presentación de PowerPoint</vt:lpstr>
      <vt:lpstr>RouterModule</vt:lpstr>
      <vt:lpstr>RouterModule</vt:lpstr>
      <vt:lpstr>Webpack y los bundles por ruta</vt:lpstr>
      <vt:lpstr>Webpack y los bundles por ruta</vt:lpstr>
      <vt:lpstr>Webpack y los bundles por ruta</vt:lpstr>
      <vt:lpstr>Webpack y los bundles por ruta</vt:lpstr>
      <vt:lpstr>Presentación de PowerPoint</vt:lpstr>
      <vt:lpstr>Child Routes</vt:lpstr>
      <vt:lpstr>Child Routes</vt:lpstr>
      <vt:lpstr>El enrutador delegado</vt:lpstr>
      <vt:lpstr>El enrutador delegado</vt:lpstr>
      <vt:lpstr>El enrutador delegado</vt:lpstr>
      <vt:lpstr>Presentación de PowerPoint</vt:lpstr>
      <vt:lpstr>Query Parameters</vt:lpstr>
      <vt:lpstr>Query Parameters</vt:lpstr>
      <vt:lpstr>Presentación de PowerPoint</vt:lpstr>
      <vt:lpstr>Presentación de PowerPoint</vt:lpstr>
      <vt:lpstr>Parámetros</vt:lpstr>
      <vt:lpstr>Parámetros</vt:lpstr>
      <vt:lpstr>Parámetros</vt:lpstr>
      <vt:lpstr>Parámetros</vt:lpstr>
      <vt:lpstr>Parámetros</vt:lpstr>
      <vt:lpstr>RouterModule</vt:lpstr>
      <vt:lpstr>Parámetros</vt:lpstr>
      <vt:lpstr>Plantilla del OperationsComponent</vt:lpstr>
      <vt:lpstr>ActivatedRoute</vt:lpstr>
      <vt:lpstr>ActivatedRoute</vt:lpstr>
      <vt:lpstr>ActivatedRoute</vt:lpstr>
      <vt:lpstr>Eventos e interfaces en TypeScript</vt:lpstr>
      <vt:lpstr>Eventos e interfaces en TypeScript</vt:lpstr>
      <vt:lpstr>Eventos e interfaces en TypeScript</vt:lpstr>
      <vt:lpstr>ngOnChanges</vt:lpstr>
      <vt:lpstr>ngOnInit</vt:lpstr>
      <vt:lpstr>ngDoCheck</vt:lpstr>
      <vt:lpstr>ngOnDestroy</vt:lpstr>
      <vt:lpstr>Aún hay más…</vt:lpstr>
      <vt:lpstr>Y más…</vt:lpstr>
      <vt:lpstr>Interfaces?</vt:lpstr>
      <vt:lpstr>Las interfaces no son necesarias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>Software Development Course</dc:subject>
  <dc:creator/>
  <cp:keywords>Template</cp:keywords>
  <dc:description>Software University Foundation - http://softuni.org</dc:description>
  <cp:lastModifiedBy/>
  <cp:revision>1</cp:revision>
  <dcterms:created xsi:type="dcterms:W3CDTF">2014-01-02T17:00:34Z</dcterms:created>
  <dcterms:modified xsi:type="dcterms:W3CDTF">2023-10-03T11:30:24Z</dcterms:modified>
  <cp:category>Template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