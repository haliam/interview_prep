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41" r:id="rId2"/>
  </p:sldMasterIdLst>
  <p:notesMasterIdLst>
    <p:notesMasterId r:id="rId31"/>
  </p:notesMasterIdLst>
  <p:handoutMasterIdLst>
    <p:handoutMasterId r:id="rId32"/>
  </p:handoutMasterIdLst>
  <p:sldIdLst>
    <p:sldId id="609" r:id="rId3"/>
    <p:sldId id="736" r:id="rId4"/>
    <p:sldId id="738" r:id="rId5"/>
    <p:sldId id="747" r:id="rId6"/>
    <p:sldId id="754" r:id="rId7"/>
    <p:sldId id="739" r:id="rId8"/>
    <p:sldId id="761" r:id="rId9"/>
    <p:sldId id="763" r:id="rId10"/>
    <p:sldId id="740" r:id="rId11"/>
    <p:sldId id="755" r:id="rId12"/>
    <p:sldId id="737" r:id="rId13"/>
    <p:sldId id="741" r:id="rId14"/>
    <p:sldId id="756" r:id="rId15"/>
    <p:sldId id="742" r:id="rId16"/>
    <p:sldId id="743" r:id="rId17"/>
    <p:sldId id="744" r:id="rId18"/>
    <p:sldId id="745" r:id="rId19"/>
    <p:sldId id="757" r:id="rId20"/>
    <p:sldId id="746" r:id="rId21"/>
    <p:sldId id="748" r:id="rId22"/>
    <p:sldId id="749" r:id="rId23"/>
    <p:sldId id="760" r:id="rId24"/>
    <p:sldId id="751" r:id="rId25"/>
    <p:sldId id="752" r:id="rId26"/>
    <p:sldId id="753" r:id="rId27"/>
    <p:sldId id="762" r:id="rId28"/>
    <p:sldId id="758" r:id="rId29"/>
    <p:sldId id="759" r:id="rId30"/>
  </p:sldIdLst>
  <p:sldSz cx="12188825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48D4357-E11A-4DE5-81E4-49C6B73B5D81}">
          <p14:sldIdLst>
            <p14:sldId id="609"/>
            <p14:sldId id="736"/>
            <p14:sldId id="738"/>
            <p14:sldId id="747"/>
            <p14:sldId id="754"/>
            <p14:sldId id="739"/>
            <p14:sldId id="761"/>
            <p14:sldId id="763"/>
            <p14:sldId id="740"/>
            <p14:sldId id="755"/>
            <p14:sldId id="737"/>
            <p14:sldId id="741"/>
            <p14:sldId id="756"/>
            <p14:sldId id="742"/>
            <p14:sldId id="743"/>
            <p14:sldId id="744"/>
            <p14:sldId id="745"/>
            <p14:sldId id="757"/>
            <p14:sldId id="746"/>
            <p14:sldId id="748"/>
            <p14:sldId id="749"/>
            <p14:sldId id="760"/>
            <p14:sldId id="751"/>
            <p14:sldId id="752"/>
            <p14:sldId id="753"/>
            <p14:sldId id="762"/>
            <p14:sldId id="758"/>
            <p14:sldId id="759"/>
          </p14:sldIdLst>
        </p14:section>
        <p14:section name="Summary" id="{1888D697-2B49-43A6-BDC2-719250E583B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FFF"/>
    <a:srgbClr val="FFA72A"/>
    <a:srgbClr val="FFF0D9"/>
    <a:srgbClr val="F0F5FA"/>
    <a:srgbClr val="1A8AFA"/>
    <a:srgbClr val="0097CC"/>
    <a:srgbClr val="603A14"/>
    <a:srgbClr val="E85C0E"/>
    <a:srgbClr val="BAB398"/>
    <a:srgbClr val="ADA48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6374" autoAdjust="0"/>
  </p:normalViewPr>
  <p:slideViewPr>
    <p:cSldViewPr>
      <p:cViewPr varScale="1">
        <p:scale>
          <a:sx n="111" d="100"/>
          <a:sy n="111" d="100"/>
        </p:scale>
        <p:origin x="432" y="10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02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134" y="101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10/5/2023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‹Nº›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A6BEF-0D01-42CD-AF49-6C72D33EA4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26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Estoy usando al componente de nivel inferior como un presentador; mientras que el contenedor superior actúa como controlador. De esta forma es fácil y queda muy limpio el </a:t>
            </a:r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envío de datos hacia abajo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Pero, ¿y hacia arriba?.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880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381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165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ENTRYPOINT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s-E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s-ES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dotnet</a:t>
            </a:r>
            <a:r>
              <a:rPr lang="es-E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s-E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"WebApi.dll"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300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átula limp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6901E58-A1D8-A10A-D9D8-CE1515AF66D5}"/>
              </a:ext>
            </a:extLst>
          </p:cNvPr>
          <p:cNvSpPr/>
          <p:nvPr/>
        </p:nvSpPr>
        <p:spPr>
          <a:xfrm>
            <a:off x="5158485" y="1"/>
            <a:ext cx="7030341" cy="6858000"/>
          </a:xfrm>
          <a:prstGeom prst="rect">
            <a:avLst/>
          </a:prstGeom>
          <a:solidFill>
            <a:srgbClr val="1B1D3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121883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799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 anchor="ctr" anchorCtr="1">
            <a:noAutofit/>
          </a:bodyPr>
          <a:lstStyle>
            <a:lvl1pPr algn="ctr">
              <a:defRPr sz="3999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8" name="techie.png" descr="techie.png">
            <a:extLst>
              <a:ext uri="{FF2B5EF4-FFF2-40B4-BE49-F238E27FC236}">
                <a16:creationId xmlns:a16="http://schemas.microsoft.com/office/drawing/2014/main" id="{1153B63E-98A5-BBEE-9C6B-1057BEDC76E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4306441" y="2849298"/>
            <a:ext cx="1336200" cy="1336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LOGO-FINAL.png" descr="LOGO-FINAL.png">
            <a:extLst>
              <a:ext uri="{FF2B5EF4-FFF2-40B4-BE49-F238E27FC236}">
                <a16:creationId xmlns:a16="http://schemas.microsoft.com/office/drawing/2014/main" id="{40C008DC-BE4A-D4B5-81FB-D8FC4CA2A7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362" y="3037100"/>
            <a:ext cx="3933202" cy="78380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53937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átula con imagen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6901E58-A1D8-A10A-D9D8-CE1515AF66D5}"/>
              </a:ext>
            </a:extLst>
          </p:cNvPr>
          <p:cNvSpPr/>
          <p:nvPr/>
        </p:nvSpPr>
        <p:spPr>
          <a:xfrm>
            <a:off x="5158485" y="-8466"/>
            <a:ext cx="7030341" cy="6858000"/>
          </a:xfrm>
          <a:prstGeom prst="rect">
            <a:avLst/>
          </a:prstGeom>
          <a:solidFill>
            <a:srgbClr val="1B1D3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121883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799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 anchor="ctr" anchorCtr="1">
            <a:noAutofit/>
          </a:bodyPr>
          <a:lstStyle>
            <a:lvl1pPr algn="ctr">
              <a:defRPr sz="3999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8" name="techie.png" descr="techie.png">
            <a:extLst>
              <a:ext uri="{FF2B5EF4-FFF2-40B4-BE49-F238E27FC236}">
                <a16:creationId xmlns:a16="http://schemas.microsoft.com/office/drawing/2014/main" id="{1153B63E-98A5-BBEE-9C6B-1057BEDC76E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4306441" y="2849298"/>
            <a:ext cx="1336200" cy="1336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n 4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64B3FB7A-0102-D659-3C30-C1C4C3659A5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2983" y="5840440"/>
            <a:ext cx="2457425" cy="469081"/>
          </a:xfrm>
          <a:prstGeom prst="rect">
            <a:avLst/>
          </a:prstGeom>
        </p:spPr>
      </p:pic>
      <p:pic>
        <p:nvPicPr>
          <p:cNvPr id="6" name="Imagen 5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E0D610C9-30BB-C209-BCCA-3BCE95C72D7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2983" y="5840440"/>
            <a:ext cx="2457425" cy="46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8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dor">
    <p:bg>
      <p:bgPr>
        <a:solidFill>
          <a:srgbClr val="1C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AE9D3631-5A5C-021D-E659-1D384017DB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468" y="6329921"/>
            <a:ext cx="1345323" cy="256799"/>
          </a:xfrm>
          <a:prstGeom prst="rect">
            <a:avLst/>
          </a:prstGeom>
        </p:spPr>
      </p:pic>
      <p:sp>
        <p:nvSpPr>
          <p:cNvPr id="4" name="Google Shape;48;p8">
            <a:extLst>
              <a:ext uri="{FF2B5EF4-FFF2-40B4-BE49-F238E27FC236}">
                <a16:creationId xmlns:a16="http://schemas.microsoft.com/office/drawing/2014/main" id="{3F57A50C-DED0-9A4A-F7C8-CD569FF06F43}"/>
              </a:ext>
            </a:extLst>
          </p:cNvPr>
          <p:cNvSpPr/>
          <p:nvPr/>
        </p:nvSpPr>
        <p:spPr>
          <a:xfrm>
            <a:off x="950719" y="-69"/>
            <a:ext cx="10287322" cy="6858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599" y="0"/>
                </a:lnTo>
                <a:lnTo>
                  <a:pt x="21600" y="0"/>
                </a:lnTo>
                <a:lnTo>
                  <a:pt x="18001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799" dirty="0"/>
          </a:p>
        </p:txBody>
      </p:sp>
      <p:pic>
        <p:nvPicPr>
          <p:cNvPr id="5" name="techie.png" descr="techie.png">
            <a:extLst>
              <a:ext uri="{FF2B5EF4-FFF2-40B4-BE49-F238E27FC236}">
                <a16:creationId xmlns:a16="http://schemas.microsoft.com/office/drawing/2014/main" id="{4B8A62A0-CE43-5FE0-5996-117855E878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7818" y="775699"/>
            <a:ext cx="1180194" cy="118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techie.png" descr="techie.png">
            <a:extLst>
              <a:ext uri="{FF2B5EF4-FFF2-40B4-BE49-F238E27FC236}">
                <a16:creationId xmlns:a16="http://schemas.microsoft.com/office/drawing/2014/main" id="{F34A3DA2-C704-C58B-4D16-8D97BC00AA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102611" y="4975166"/>
            <a:ext cx="1180194" cy="118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F3F2153-8EA8-5CEA-0F22-9F81F2479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931" y="1268413"/>
            <a:ext cx="7444903" cy="1349282"/>
          </a:xfrm>
        </p:spPr>
        <p:txBody>
          <a:bodyPr anchor="ctr" anchorCtr="1">
            <a:normAutofit/>
          </a:bodyPr>
          <a:lstStyle>
            <a:lvl1pPr algn="ctr">
              <a:defRPr sz="3299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418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F21244-DF76-B9A4-1238-3157FB675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457201"/>
            <a:ext cx="11201400" cy="533400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6D7AF6-E8C0-B5DD-B9A1-3CA878371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066800"/>
            <a:ext cx="11201400" cy="54483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399">
                <a:solidFill>
                  <a:schemeClr val="accent2">
                    <a:lumMod val="75000"/>
                  </a:schemeClr>
                </a:solidFill>
              </a:defRPr>
            </a:lvl1pPr>
            <a:lvl2pPr>
              <a:buFont typeface="Arial" panose="020B0604020202020204" pitchFamily="34" charset="0"/>
              <a:buChar char="•"/>
              <a:defRPr sz="1999">
                <a:solidFill>
                  <a:schemeClr val="accent2">
                    <a:lumMod val="75000"/>
                  </a:schemeClr>
                </a:solidFill>
              </a:defRPr>
            </a:lvl2pPr>
            <a:lvl3pPr>
              <a:buFont typeface="Arial" panose="020B0604020202020204" pitchFamily="34" charset="0"/>
              <a:buChar char="•"/>
              <a:defRPr sz="1799">
                <a:solidFill>
                  <a:schemeClr val="accent2">
                    <a:lumMod val="75000"/>
                  </a:schemeClr>
                </a:solidFill>
              </a:defRPr>
            </a:lvl3pPr>
            <a:lvl4pPr>
              <a:buFont typeface="Arial" panose="020B0604020202020204" pitchFamily="34" charset="0"/>
              <a:buChar char="•"/>
              <a:defRPr sz="16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buFont typeface="Arial" panose="020B0604020202020204" pitchFamily="34" charset="0"/>
              <a:buChar char="•"/>
              <a:defRPr sz="14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227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2833" y="4406902"/>
            <a:ext cx="10360501" cy="1362075"/>
          </a:xfrm>
          <a:prstGeom prst="rect">
            <a:avLst/>
          </a:prstGeom>
        </p:spPr>
        <p:txBody>
          <a:bodyPr/>
          <a:lstStyle>
            <a:lvl1pPr algn="l">
              <a:defRPr sz="3999" b="1" cap="all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99"/>
            </a:lvl1pPr>
            <a:lvl2pPr marL="457063" indent="0">
              <a:buNone/>
              <a:defRPr sz="1799"/>
            </a:lvl2pPr>
            <a:lvl3pPr marL="914126" indent="0">
              <a:buNone/>
              <a:defRPr sz="1600"/>
            </a:lvl3pPr>
            <a:lvl4pPr marL="1371189" indent="0">
              <a:buNone/>
              <a:defRPr sz="1400"/>
            </a:lvl4pPr>
            <a:lvl5pPr marL="1828251" indent="0">
              <a:buNone/>
              <a:defRPr sz="1400"/>
            </a:lvl5pPr>
            <a:lvl6pPr marL="2285314" indent="0">
              <a:buNone/>
              <a:defRPr sz="1400"/>
            </a:lvl6pPr>
            <a:lvl7pPr marL="2742377" indent="0">
              <a:buNone/>
              <a:defRPr sz="1400"/>
            </a:lvl7pPr>
            <a:lvl8pPr marL="3199440" indent="0">
              <a:buNone/>
              <a:defRPr sz="1400"/>
            </a:lvl8pPr>
            <a:lvl9pPr marL="3656503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29644070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25682E51-C6CE-76F7-769C-C200EAF00254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</p:spTree>
    <p:extLst>
      <p:ext uri="{BB962C8B-B14F-4D97-AF65-F5344CB8AC3E}">
        <p14:creationId xmlns:p14="http://schemas.microsoft.com/office/powerpoint/2010/main" val="187102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006" y="2084187"/>
            <a:ext cx="5551407" cy="1793090"/>
          </a:xfrm>
          <a:noFill/>
        </p:spPr>
        <p:txBody>
          <a:bodyPr lIns="146304" tIns="91440" rIns="146304" bIns="91440" anchor="t" anchorCtr="0"/>
          <a:lstStyle>
            <a:lvl1pPr>
              <a:defRPr lang="en-US" dirty="0">
                <a:solidFill>
                  <a:schemeClr val="bg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006" y="3878574"/>
            <a:ext cx="5551408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lang="en-US" dirty="0">
                <a:solidFill>
                  <a:schemeClr val="bg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4142433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768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12347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619" y="1268412"/>
            <a:ext cx="11299332" cy="4860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pic>
        <p:nvPicPr>
          <p:cNvPr id="9" name="LOGO-FINAL.png" descr="LOGO-FINAL.png">
            <a:extLst>
              <a:ext uri="{FF2B5EF4-FFF2-40B4-BE49-F238E27FC236}">
                <a16:creationId xmlns:a16="http://schemas.microsoft.com/office/drawing/2014/main" id="{FD1127DC-3633-9F91-EAC6-DF84F02D8D8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6564" y="6323743"/>
            <a:ext cx="1391279" cy="2772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techie.png" descr="techie.png">
            <a:extLst>
              <a:ext uri="{FF2B5EF4-FFF2-40B4-BE49-F238E27FC236}">
                <a16:creationId xmlns:a16="http://schemas.microsoft.com/office/drawing/2014/main" id="{E9C3B265-6261-C31F-6626-0F2960C3D376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670" y="206462"/>
            <a:ext cx="437900" cy="43801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4619" y="381000"/>
            <a:ext cx="11298538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91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2" r:id="rId9"/>
  </p:sldLayoutIdLst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Clr>
          <a:srgbClr val="F5C200"/>
        </a:buClr>
        <a:buFont typeface="Arial" panose="020B0604020202020204" pitchFamily="34" charset="0"/>
        <a:buChar char="•"/>
        <a:defRPr sz="2799" kern="1200">
          <a:solidFill>
            <a:srgbClr val="1C1E3B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23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9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7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7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45">
          <p15:clr>
            <a:srgbClr val="F26B43"/>
          </p15:clr>
        </p15:guide>
        <p15:guide id="2" pos="423">
          <p15:clr>
            <a:srgbClr val="F26B43"/>
          </p15:clr>
        </p15:guide>
        <p15:guide id="3" pos="14938">
          <p15:clr>
            <a:srgbClr val="F26B43"/>
          </p15:clr>
        </p15:guide>
        <p15:guide id="4" orient="horz" pos="1598">
          <p15:clr>
            <a:srgbClr val="F26B43"/>
          </p15:clr>
        </p15:guide>
        <p15:guide id="5" orient="horz" pos="79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/>
              <a:t>Angular</a:t>
            </a:r>
            <a:br>
              <a:rPr lang="en-US" b="1" dirty="0"/>
            </a:br>
            <a:r>
              <a:rPr lang="en-US" b="1" dirty="0" err="1"/>
              <a:t>Flujo</a:t>
            </a:r>
            <a:r>
              <a:rPr lang="en-US" b="1" dirty="0"/>
              <a:t> de </a:t>
            </a:r>
            <a:r>
              <a:rPr lang="en-US" b="1" dirty="0" err="1"/>
              <a:t>datos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084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AB267D0-281D-4C1E-AF27-0A2DFEB47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Flujo de datos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13970CC-00B2-49BA-8AF6-3A37B88F7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Los formularios son complejos y </a:t>
            </a:r>
            <a:r>
              <a:rPr lang="es-ES" altLang="es-ES" sz="2800" b="1" dirty="0">
                <a:solidFill>
                  <a:srgbClr val="444444"/>
                </a:solidFill>
                <a:latin typeface="inherit"/>
              </a:rPr>
              <a:t>Angular ofrece soluciones de comunicación para pantallas complejas</a:t>
            </a:r>
            <a:endParaRPr lang="es-ES" altLang="es-ES" sz="2800" dirty="0">
              <a:solidFill>
                <a:srgbClr val="444444"/>
              </a:solidFill>
              <a:latin typeface="Open Sans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Favorece la implementación de buenas prácticas mediante el desarrollo de componentes atómicos y reutilizables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Pero </a:t>
            </a:r>
            <a:r>
              <a:rPr lang="es-ES" altLang="es-ES" sz="2800" b="1" dirty="0">
                <a:solidFill>
                  <a:srgbClr val="FF0000"/>
                </a:solidFill>
                <a:latin typeface="Open Sans"/>
              </a:rPr>
              <a:t>comunicar componentes no es tarea fácil </a:t>
            </a: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y puede generar código difícil de seguir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La librería </a:t>
            </a:r>
            <a:r>
              <a:rPr lang="es-ES" altLang="es-ES" sz="2400" b="1" dirty="0">
                <a:solidFill>
                  <a:srgbClr val="428AC7"/>
                </a:solidFill>
                <a:latin typeface="Source Code Pro"/>
              </a:rPr>
              <a:t>@angular/</a:t>
            </a:r>
            <a:r>
              <a:rPr lang="es-ES" altLang="es-ES" sz="2400" b="1" dirty="0" err="1">
                <a:solidFill>
                  <a:srgbClr val="428AC7"/>
                </a:solidFill>
                <a:latin typeface="Source Code Pro"/>
              </a:rPr>
              <a:t>forms</a:t>
            </a: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 ofrece </a:t>
            </a:r>
            <a:r>
              <a:rPr lang="es-ES" altLang="es-ES" sz="2800" i="1" dirty="0">
                <a:solidFill>
                  <a:srgbClr val="FF0000"/>
                </a:solidFill>
                <a:latin typeface="inherit"/>
              </a:rPr>
              <a:t>tuberías de comunicación</a:t>
            </a: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 para </a:t>
            </a:r>
            <a:r>
              <a:rPr lang="es-ES" altLang="es-ES" sz="2800" b="1" dirty="0">
                <a:solidFill>
                  <a:srgbClr val="444444"/>
                </a:solidFill>
                <a:latin typeface="inherit"/>
              </a:rPr>
              <a:t>mantener el flujo de datos bajo control</a:t>
            </a:r>
            <a:r>
              <a:rPr lang="es-ES" altLang="es-ES" sz="2800" dirty="0">
                <a:solidFill>
                  <a:srgbClr val="444444"/>
                </a:solidFill>
                <a:latin typeface="Open Sans"/>
              </a:rPr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314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B2864-0F20-4706-B0BD-3281F67F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Comunicación entre componentes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194332E-C50D-46E0-91FE-E8058D530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Es habitual crear un componente por página. Es muy común que esa página se complique. </a:t>
            </a:r>
            <a:r>
              <a:rPr lang="es-ES" b="1" dirty="0">
                <a:solidFill>
                  <a:srgbClr val="FF0000"/>
                </a:solidFill>
              </a:rPr>
              <a:t>La solución a la complejidad es la división en componentes y reparto de responsabilidades</a:t>
            </a:r>
            <a:r>
              <a:rPr lang="es-ES" dirty="0"/>
              <a:t>.</a:t>
            </a:r>
          </a:p>
          <a:p>
            <a:r>
              <a:rPr lang="es-ES" dirty="0"/>
              <a:t>Partiendo de </a:t>
            </a:r>
            <a:r>
              <a:rPr lang="es-ES" b="1" dirty="0" err="1"/>
              <a:t>OperationsComponent</a:t>
            </a:r>
            <a:r>
              <a:rPr lang="es-ES" dirty="0"/>
              <a:t> vemos que tenía asociadas dos tareas: </a:t>
            </a:r>
            <a:r>
              <a:rPr lang="es-ES" b="1" dirty="0"/>
              <a:t>recoger en un formulario</a:t>
            </a:r>
            <a:r>
              <a:rPr lang="es-ES" dirty="0"/>
              <a:t> y </a:t>
            </a:r>
            <a:r>
              <a:rPr lang="es-ES" b="1" dirty="0"/>
              <a:t>mostrar en una tabla </a:t>
            </a:r>
            <a:r>
              <a:rPr lang="es-ES" dirty="0"/>
              <a:t>los datos de operaciones financieras. </a:t>
            </a:r>
          </a:p>
          <a:p>
            <a:r>
              <a:rPr lang="es-ES" dirty="0"/>
              <a:t>Para repartir la responsabilidad hemos creado un componente, el </a:t>
            </a:r>
            <a:r>
              <a:rPr lang="es-ES" b="1" dirty="0" err="1"/>
              <a:t>NewComponent</a:t>
            </a:r>
            <a:r>
              <a:rPr lang="es-ES" dirty="0"/>
              <a:t>, para el formulario y otro, el </a:t>
            </a:r>
            <a:r>
              <a:rPr lang="es-ES" b="1" dirty="0" err="1"/>
              <a:t>ListComponent</a:t>
            </a:r>
            <a:r>
              <a:rPr lang="es-ES" dirty="0"/>
              <a:t>, para la tabla.</a:t>
            </a:r>
          </a:p>
        </p:txBody>
      </p:sp>
    </p:spTree>
    <p:extLst>
      <p:ext uri="{BB962C8B-B14F-4D97-AF65-F5344CB8AC3E}">
        <p14:creationId xmlns:p14="http://schemas.microsoft.com/office/powerpoint/2010/main" val="143015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B2864-0F20-4706-B0BD-3281F67F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Comunicación entre componentes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194332E-C50D-46E0-91FE-E8058D530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En la implementación anterior del </a:t>
            </a:r>
            <a:r>
              <a:rPr lang="es-ES" b="1" dirty="0" err="1"/>
              <a:t>NewComponent</a:t>
            </a:r>
            <a:r>
              <a:rPr lang="es-ES" dirty="0"/>
              <a:t> estaba todo pues no sabíamos como llevarlo a otro sitio y comunicar los componentes.</a:t>
            </a:r>
          </a:p>
          <a:p>
            <a:r>
              <a:rPr lang="es-ES" dirty="0"/>
              <a:t>Los datos han de guardarse y recuperarse en componentes distintos; tenemos </a:t>
            </a:r>
            <a:r>
              <a:rPr lang="es-ES" b="1" dirty="0"/>
              <a:t>dos estrategias</a:t>
            </a:r>
            <a:r>
              <a:rPr lang="es-ES" dirty="0"/>
              <a:t> para lograrlo. </a:t>
            </a:r>
          </a:p>
          <a:p>
            <a:pPr lvl="1"/>
            <a:r>
              <a:rPr lang="es-ES" dirty="0">
                <a:solidFill>
                  <a:srgbClr val="FF0000"/>
                </a:solidFill>
              </a:rPr>
              <a:t>Tener un </a:t>
            </a:r>
            <a:r>
              <a:rPr lang="es-ES" b="1" dirty="0">
                <a:solidFill>
                  <a:srgbClr val="FF0000"/>
                </a:solidFill>
              </a:rPr>
              <a:t>único responsable</a:t>
            </a:r>
          </a:p>
          <a:p>
            <a:pPr lvl="1"/>
            <a:r>
              <a:rPr lang="es-ES" dirty="0"/>
              <a:t>o </a:t>
            </a:r>
            <a:r>
              <a:rPr lang="es-ES" b="1" dirty="0"/>
              <a:t>que cada componente se encargue de sus datos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0096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B681955-73F9-418E-BF99-62997CF9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Un controlador y múltiples presentadores</a:t>
            </a:r>
          </a:p>
        </p:txBody>
      </p:sp>
    </p:spTree>
    <p:extLst>
      <p:ext uri="{BB962C8B-B14F-4D97-AF65-F5344CB8AC3E}">
        <p14:creationId xmlns:p14="http://schemas.microsoft.com/office/powerpoint/2010/main" val="1242519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769F8-DCE9-4B3B-BFFE-792FC2E6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Controlador y presentadores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6C721F07-5809-4744-94C2-709C069CC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La estrategia de </a:t>
            </a:r>
            <a:r>
              <a:rPr lang="es-ES" b="1" dirty="0"/>
              <a:t>un controlador y múltiples presentadores </a:t>
            </a:r>
            <a:r>
              <a:rPr lang="es-ES" dirty="0"/>
              <a:t>es </a:t>
            </a:r>
            <a:r>
              <a:rPr lang="es-ES" dirty="0">
                <a:solidFill>
                  <a:srgbClr val="FF0000"/>
                </a:solidFill>
              </a:rPr>
              <a:t>la más adecuada</a:t>
            </a:r>
            <a:r>
              <a:rPr lang="es-ES" dirty="0"/>
              <a:t> para la mayor parte de las situaciones. </a:t>
            </a:r>
          </a:p>
          <a:p>
            <a:r>
              <a:rPr lang="es-ES" dirty="0"/>
              <a:t>Se basa en que el componente contenedor </a:t>
            </a:r>
            <a:r>
              <a:rPr lang="es-ES" b="1" dirty="0" err="1"/>
              <a:t>OperationsComponent</a:t>
            </a:r>
            <a:r>
              <a:rPr lang="es-ES" dirty="0"/>
              <a:t> sea el guardián del acceso a los datos. </a:t>
            </a:r>
          </a:p>
          <a:p>
            <a:r>
              <a:rPr lang="es-ES" dirty="0"/>
              <a:t>Los componentes presentadores </a:t>
            </a:r>
            <a:r>
              <a:rPr lang="es-ES" b="1" dirty="0" err="1"/>
              <a:t>NewComponent</a:t>
            </a:r>
            <a:r>
              <a:rPr lang="es-ES" dirty="0"/>
              <a:t> y </a:t>
            </a:r>
            <a:r>
              <a:rPr lang="es-ES" b="1" dirty="0" err="1"/>
              <a:t>ListComponent</a:t>
            </a:r>
            <a:r>
              <a:rPr lang="es-ES" dirty="0"/>
              <a:t> recibirán la información y notificarán los cambios a su padre controlador.</a:t>
            </a:r>
          </a:p>
          <a:p>
            <a:r>
              <a:rPr lang="es-ES" dirty="0"/>
              <a:t>Para ello tienes que usar </a:t>
            </a:r>
            <a:r>
              <a:rPr lang="es-ES" b="1" dirty="0">
                <a:solidFill>
                  <a:srgbClr val="FF0000"/>
                </a:solidFill>
              </a:rPr>
              <a:t>dos decoradores </a:t>
            </a:r>
            <a:r>
              <a:rPr lang="es-ES" b="1" dirty="0"/>
              <a:t>de Angular</a:t>
            </a:r>
            <a:r>
              <a:rPr lang="es-ES" dirty="0"/>
              <a:t>: </a:t>
            </a:r>
          </a:p>
          <a:p>
            <a:pPr lvl="1"/>
            <a:r>
              <a:rPr lang="es-ES" b="1" dirty="0"/>
              <a:t>@Input()</a:t>
            </a:r>
          </a:p>
          <a:p>
            <a:pPr lvl="1"/>
            <a:r>
              <a:rPr lang="es-ES" b="1" dirty="0"/>
              <a:t>@Output()</a:t>
            </a:r>
          </a:p>
        </p:txBody>
      </p:sp>
    </p:spTree>
    <p:extLst>
      <p:ext uri="{BB962C8B-B14F-4D97-AF65-F5344CB8AC3E}">
        <p14:creationId xmlns:p14="http://schemas.microsoft.com/office/powerpoint/2010/main" val="3084479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545DCFB-5801-4148-D167-F135A7DE5E10}"/>
              </a:ext>
            </a:extLst>
          </p:cNvPr>
          <p:cNvSpPr txBox="1"/>
          <p:nvPr/>
        </p:nvSpPr>
        <p:spPr>
          <a:xfrm>
            <a:off x="3845074" y="1235864"/>
            <a:ext cx="2666955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Cpedido</a:t>
            </a:r>
            <a:endParaRPr lang="es-ES" dirty="0"/>
          </a:p>
          <a:p>
            <a:r>
              <a:rPr lang="es-ES" dirty="0"/>
              <a:t>Datos </a:t>
            </a:r>
            <a:r>
              <a:rPr lang="es-ES" dirty="0">
                <a:solidFill>
                  <a:srgbClr val="FF0000"/>
                </a:solidFill>
              </a:rPr>
              <a:t>@Input</a:t>
            </a:r>
          </a:p>
          <a:p>
            <a:r>
              <a:rPr lang="es-ES" dirty="0"/>
              <a:t>Eventos </a:t>
            </a:r>
            <a:r>
              <a:rPr lang="es-ES" dirty="0">
                <a:solidFill>
                  <a:srgbClr val="FF0000"/>
                </a:solidFill>
              </a:rPr>
              <a:t>@Output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BCFA2C-63EC-D0F6-242F-7783ED3DBFFA}"/>
              </a:ext>
            </a:extLst>
          </p:cNvPr>
          <p:cNvSpPr txBox="1"/>
          <p:nvPr/>
        </p:nvSpPr>
        <p:spPr>
          <a:xfrm>
            <a:off x="3833311" y="2349284"/>
            <a:ext cx="2510475" cy="923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Ccliente</a:t>
            </a:r>
            <a:endParaRPr lang="es-ES" dirty="0"/>
          </a:p>
          <a:p>
            <a:r>
              <a:rPr lang="es-ES" dirty="0"/>
              <a:t>Datos </a:t>
            </a:r>
            <a:r>
              <a:rPr lang="es-ES" dirty="0">
                <a:solidFill>
                  <a:srgbClr val="FF0000"/>
                </a:solidFill>
              </a:rPr>
              <a:t>@Input</a:t>
            </a:r>
          </a:p>
          <a:p>
            <a:r>
              <a:rPr lang="es-ES" dirty="0"/>
              <a:t>Eventos </a:t>
            </a:r>
            <a:r>
              <a:rPr lang="es-ES" dirty="0">
                <a:solidFill>
                  <a:srgbClr val="FF0000"/>
                </a:solidFill>
              </a:rPr>
              <a:t>@Output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CFD1E0F-CBA4-2A09-8A1E-A77F154252D8}"/>
              </a:ext>
            </a:extLst>
          </p:cNvPr>
          <p:cNvSpPr txBox="1"/>
          <p:nvPr/>
        </p:nvSpPr>
        <p:spPr>
          <a:xfrm>
            <a:off x="3781095" y="5234081"/>
            <a:ext cx="251618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CListaProductosPedidos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5F6122D-AA05-3ABF-5795-630BD3F88BD1}"/>
              </a:ext>
            </a:extLst>
          </p:cNvPr>
          <p:cNvSpPr txBox="1"/>
          <p:nvPr/>
        </p:nvSpPr>
        <p:spPr>
          <a:xfrm>
            <a:off x="3781095" y="5693162"/>
            <a:ext cx="1600200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CProductos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019BD8F-DC0E-0685-794B-E36B3F721F5A}"/>
              </a:ext>
            </a:extLst>
          </p:cNvPr>
          <p:cNvSpPr txBox="1"/>
          <p:nvPr/>
        </p:nvSpPr>
        <p:spPr>
          <a:xfrm>
            <a:off x="912812" y="1445919"/>
            <a:ext cx="205740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ControllerPedido</a:t>
            </a:r>
            <a:endParaRPr lang="es-ES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DE3DEAA-53DC-865D-FEAA-962D08C15260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2970212" y="1630585"/>
            <a:ext cx="874862" cy="66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69A3722-042C-EBC3-DFF9-230A2284DEB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970212" y="1630585"/>
            <a:ext cx="891793" cy="1131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44BCF4C-B6C3-8301-30EA-1C05A3932C3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970212" y="1630585"/>
            <a:ext cx="810883" cy="3788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0DC74DF-7C8D-4FA9-F3B3-0EA6AD30B62D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2970212" y="1630585"/>
            <a:ext cx="810883" cy="4247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D57512E-F170-C9FA-6170-3645FE30C3A2}"/>
              </a:ext>
            </a:extLst>
          </p:cNvPr>
          <p:cNvSpPr txBox="1"/>
          <p:nvPr/>
        </p:nvSpPr>
        <p:spPr>
          <a:xfrm>
            <a:off x="8768790" y="1513648"/>
            <a:ext cx="1066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CPedido</a:t>
            </a:r>
            <a:endParaRPr lang="es-ES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4E41757-6815-96DF-3431-1C6D051E558E}"/>
              </a:ext>
            </a:extLst>
          </p:cNvPr>
          <p:cNvSpPr txBox="1"/>
          <p:nvPr/>
        </p:nvSpPr>
        <p:spPr>
          <a:xfrm>
            <a:off x="8770228" y="2115839"/>
            <a:ext cx="2353384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CCliente</a:t>
            </a:r>
            <a:endParaRPr lang="es-ES" dirty="0"/>
          </a:p>
          <a:p>
            <a:r>
              <a:rPr lang="es-ES" dirty="0"/>
              <a:t> controla el cliente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2ED4052-1E23-CF54-E83B-A28FB24DED8F}"/>
              </a:ext>
            </a:extLst>
          </p:cNvPr>
          <p:cNvSpPr txBox="1"/>
          <p:nvPr/>
        </p:nvSpPr>
        <p:spPr>
          <a:xfrm>
            <a:off x="7152437" y="3057787"/>
            <a:ext cx="251618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CListaProductosPedidos</a:t>
            </a:r>
            <a:endParaRPr lang="es-E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CAF1D1A-86D1-09F2-A615-2C02CE4EBFC7}"/>
              </a:ext>
            </a:extLst>
          </p:cNvPr>
          <p:cNvSpPr txBox="1"/>
          <p:nvPr/>
        </p:nvSpPr>
        <p:spPr>
          <a:xfrm>
            <a:off x="8770228" y="3565520"/>
            <a:ext cx="1600200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CProductos</a:t>
            </a:r>
            <a:endParaRPr lang="es-ES" dirty="0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70552D7-D958-D885-80DB-F8D8D60F422C}"/>
              </a:ext>
            </a:extLst>
          </p:cNvPr>
          <p:cNvCxnSpPr/>
          <p:nvPr/>
        </p:nvCxnSpPr>
        <p:spPr>
          <a:xfrm>
            <a:off x="6475412" y="304800"/>
            <a:ext cx="0" cy="640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1FBD6AA-4D62-F3C2-3EFB-A20E9B769393}"/>
              </a:ext>
            </a:extLst>
          </p:cNvPr>
          <p:cNvSpPr txBox="1"/>
          <p:nvPr/>
        </p:nvSpPr>
        <p:spPr>
          <a:xfrm>
            <a:off x="1729624" y="548388"/>
            <a:ext cx="2987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1 </a:t>
            </a:r>
            <a:r>
              <a:rPr lang="es-ES" b="1" dirty="0" err="1"/>
              <a:t>controller</a:t>
            </a:r>
            <a:r>
              <a:rPr lang="es-ES" b="1" dirty="0"/>
              <a:t> &gt; </a:t>
            </a:r>
            <a:r>
              <a:rPr lang="es-ES" b="1" dirty="0" err="1"/>
              <a:t>multiples</a:t>
            </a:r>
            <a:r>
              <a:rPr lang="es-ES" b="1" dirty="0"/>
              <a:t> vistas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3B3FAA9-C0C0-7337-8DEC-C8A985A4EBD1}"/>
              </a:ext>
            </a:extLst>
          </p:cNvPr>
          <p:cNvSpPr txBox="1"/>
          <p:nvPr/>
        </p:nvSpPr>
        <p:spPr>
          <a:xfrm>
            <a:off x="7421293" y="550067"/>
            <a:ext cx="3020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n </a:t>
            </a:r>
            <a:r>
              <a:rPr lang="es-ES" dirty="0" err="1"/>
              <a:t>controllers</a:t>
            </a:r>
            <a:r>
              <a:rPr lang="es-ES" dirty="0"/>
              <a:t> &gt; </a:t>
            </a:r>
            <a:r>
              <a:rPr lang="es-ES" dirty="0" err="1"/>
              <a:t>multiples</a:t>
            </a:r>
            <a:r>
              <a:rPr lang="es-ES" dirty="0"/>
              <a:t> vistas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D6FC577-0DE6-8541-7578-17C8CC1DD1A5}"/>
              </a:ext>
            </a:extLst>
          </p:cNvPr>
          <p:cNvCxnSpPr>
            <a:cxnSpLocks/>
          </p:cNvCxnSpPr>
          <p:nvPr/>
        </p:nvCxnSpPr>
        <p:spPr>
          <a:xfrm flipH="1" flipV="1">
            <a:off x="9616903" y="1878440"/>
            <a:ext cx="419819" cy="373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793409A9-22C5-1198-C269-078412E45A8F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9302190" y="1882980"/>
            <a:ext cx="457200" cy="373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DC1FCAF8-D2D1-9323-802B-3EC34028F713}"/>
              </a:ext>
            </a:extLst>
          </p:cNvPr>
          <p:cNvCxnSpPr>
            <a:cxnSpLocks/>
            <a:stCxn id="25" idx="1"/>
            <a:endCxn id="27" idx="0"/>
          </p:cNvCxnSpPr>
          <p:nvPr/>
        </p:nvCxnSpPr>
        <p:spPr>
          <a:xfrm flipH="1">
            <a:off x="8410531" y="1698314"/>
            <a:ext cx="358259" cy="1359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D7D4D8BA-1F39-A8D4-72F2-73FA6E979A7A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2970212" y="1630585"/>
            <a:ext cx="873425" cy="27441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B4142687-D5D7-71E6-DB7F-38283E3D4FC7}"/>
              </a:ext>
            </a:extLst>
          </p:cNvPr>
          <p:cNvCxnSpPr>
            <a:cxnSpLocks/>
          </p:cNvCxnSpPr>
          <p:nvPr/>
        </p:nvCxnSpPr>
        <p:spPr>
          <a:xfrm flipH="1" flipV="1">
            <a:off x="3016721" y="1664057"/>
            <a:ext cx="836512" cy="149283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6CCB50BD-69E4-DFBD-5014-7D773677F73A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8045610" y="1698314"/>
            <a:ext cx="723180" cy="137724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F5861E22-70A2-5161-E08F-13265B6C8BC5}"/>
              </a:ext>
            </a:extLst>
          </p:cNvPr>
          <p:cNvCxnSpPr>
            <a:cxnSpLocks/>
          </p:cNvCxnSpPr>
          <p:nvPr/>
        </p:nvCxnSpPr>
        <p:spPr>
          <a:xfrm flipV="1">
            <a:off x="8844990" y="2762170"/>
            <a:ext cx="590910" cy="29561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uadroTexto 83">
            <a:extLst>
              <a:ext uri="{FF2B5EF4-FFF2-40B4-BE49-F238E27FC236}">
                <a16:creationId xmlns:a16="http://schemas.microsoft.com/office/drawing/2014/main" id="{D19F8E8D-9230-7D26-7775-A703C926D150}"/>
              </a:ext>
            </a:extLst>
          </p:cNvPr>
          <p:cNvSpPr txBox="1"/>
          <p:nvPr/>
        </p:nvSpPr>
        <p:spPr>
          <a:xfrm>
            <a:off x="469208" y="2938593"/>
            <a:ext cx="205740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ServicioPedidos</a:t>
            </a:r>
            <a:endParaRPr lang="es-ES" dirty="0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5E63986F-56AD-E8B0-8D57-2BE60A877E3C}"/>
              </a:ext>
            </a:extLst>
          </p:cNvPr>
          <p:cNvSpPr txBox="1"/>
          <p:nvPr/>
        </p:nvSpPr>
        <p:spPr>
          <a:xfrm>
            <a:off x="454024" y="4800600"/>
            <a:ext cx="205740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API</a:t>
            </a:r>
          </a:p>
        </p:txBody>
      </p: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489C11FF-CB57-052E-839B-79AAEA656EEE}"/>
              </a:ext>
            </a:extLst>
          </p:cNvPr>
          <p:cNvCxnSpPr>
            <a:cxnSpLocks/>
            <a:stCxn id="84" idx="2"/>
            <a:endCxn id="85" idx="0"/>
          </p:cNvCxnSpPr>
          <p:nvPr/>
        </p:nvCxnSpPr>
        <p:spPr>
          <a:xfrm flipH="1">
            <a:off x="1482724" y="3307925"/>
            <a:ext cx="15184" cy="149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44A746A4-1F83-D1B6-0D82-E0FA8FE58F70}"/>
              </a:ext>
            </a:extLst>
          </p:cNvPr>
          <p:cNvCxnSpPr>
            <a:cxnSpLocks/>
            <a:stCxn id="8" idx="2"/>
            <a:endCxn id="84" idx="0"/>
          </p:cNvCxnSpPr>
          <p:nvPr/>
        </p:nvCxnSpPr>
        <p:spPr>
          <a:xfrm flipH="1">
            <a:off x="1497908" y="1815251"/>
            <a:ext cx="443604" cy="1123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E0957D0-8F0E-DA2B-9EB4-0EF27A657C10}"/>
              </a:ext>
            </a:extLst>
          </p:cNvPr>
          <p:cNvSpPr txBox="1"/>
          <p:nvPr/>
        </p:nvSpPr>
        <p:spPr>
          <a:xfrm>
            <a:off x="1182198" y="3440235"/>
            <a:ext cx="205740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ServicioCliente</a:t>
            </a:r>
            <a:endParaRPr lang="es-E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78F33CC-6B6F-6FFA-9E47-502483CF2ED9}"/>
              </a:ext>
            </a:extLst>
          </p:cNvPr>
          <p:cNvSpPr txBox="1"/>
          <p:nvPr/>
        </p:nvSpPr>
        <p:spPr>
          <a:xfrm>
            <a:off x="1167014" y="5302242"/>
            <a:ext cx="205740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API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9B70B9A-7E91-9C1C-579B-FA2008A6B602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2195714" y="3809567"/>
            <a:ext cx="15184" cy="149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76F5CB7-F850-2156-C20D-536C6076CD85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2210898" y="1878440"/>
            <a:ext cx="52216" cy="1561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510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3AEFA2B-6DCB-5C8F-6E26-79672384938F}"/>
              </a:ext>
            </a:extLst>
          </p:cNvPr>
          <p:cNvSpPr txBox="1"/>
          <p:nvPr/>
        </p:nvSpPr>
        <p:spPr>
          <a:xfrm>
            <a:off x="3845074" y="1235864"/>
            <a:ext cx="2666955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Cpedido</a:t>
            </a:r>
            <a:endParaRPr lang="es-ES" dirty="0"/>
          </a:p>
          <a:p>
            <a:r>
              <a:rPr lang="es-ES" dirty="0"/>
              <a:t>Datos </a:t>
            </a:r>
            <a:r>
              <a:rPr lang="es-ES" dirty="0">
                <a:solidFill>
                  <a:srgbClr val="FF0000"/>
                </a:solidFill>
              </a:rPr>
              <a:t>@Input</a:t>
            </a:r>
          </a:p>
          <a:p>
            <a:r>
              <a:rPr lang="es-ES" dirty="0"/>
              <a:t>Eventos </a:t>
            </a:r>
            <a:r>
              <a:rPr lang="es-ES" dirty="0">
                <a:solidFill>
                  <a:srgbClr val="FF0000"/>
                </a:solidFill>
              </a:rPr>
              <a:t>@Output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037E6B1-895C-F6B5-C044-AEB47D5FF982}"/>
              </a:ext>
            </a:extLst>
          </p:cNvPr>
          <p:cNvSpPr txBox="1"/>
          <p:nvPr/>
        </p:nvSpPr>
        <p:spPr>
          <a:xfrm>
            <a:off x="3960813" y="2504433"/>
            <a:ext cx="2510475" cy="923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Ccliente</a:t>
            </a:r>
            <a:endParaRPr lang="es-ES" dirty="0"/>
          </a:p>
          <a:p>
            <a:r>
              <a:rPr lang="es-ES" dirty="0"/>
              <a:t>Datos </a:t>
            </a:r>
            <a:r>
              <a:rPr lang="es-ES" dirty="0">
                <a:solidFill>
                  <a:srgbClr val="FF0000"/>
                </a:solidFill>
              </a:rPr>
              <a:t>@Input</a:t>
            </a:r>
          </a:p>
          <a:p>
            <a:r>
              <a:rPr lang="es-ES" dirty="0"/>
              <a:t>Eventos </a:t>
            </a:r>
            <a:r>
              <a:rPr lang="es-ES" dirty="0">
                <a:solidFill>
                  <a:srgbClr val="FF0000"/>
                </a:solidFill>
              </a:rPr>
              <a:t>@Output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2C5FC5F-0BBC-4366-6B1B-407EA879EC83}"/>
              </a:ext>
            </a:extLst>
          </p:cNvPr>
          <p:cNvSpPr txBox="1"/>
          <p:nvPr/>
        </p:nvSpPr>
        <p:spPr>
          <a:xfrm>
            <a:off x="6192240" y="1838741"/>
            <a:ext cx="251618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CListaProductosPedidos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D65D8FC-7718-FB7F-3C4D-8353BC6BD39C}"/>
              </a:ext>
            </a:extLst>
          </p:cNvPr>
          <p:cNvSpPr txBox="1"/>
          <p:nvPr/>
        </p:nvSpPr>
        <p:spPr>
          <a:xfrm>
            <a:off x="8228012" y="2159194"/>
            <a:ext cx="1600200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CProductos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513F13-69D5-EAA3-F91A-3F4A57E270DC}"/>
              </a:ext>
            </a:extLst>
          </p:cNvPr>
          <p:cNvSpPr txBox="1"/>
          <p:nvPr/>
        </p:nvSpPr>
        <p:spPr>
          <a:xfrm>
            <a:off x="1729624" y="548388"/>
            <a:ext cx="3084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n </a:t>
            </a:r>
            <a:r>
              <a:rPr lang="es-ES" b="1" dirty="0" err="1"/>
              <a:t>controllers</a:t>
            </a:r>
            <a:r>
              <a:rPr lang="es-ES" b="1" dirty="0"/>
              <a:t> &gt; </a:t>
            </a:r>
            <a:r>
              <a:rPr lang="es-ES" b="1" dirty="0" err="1"/>
              <a:t>multiples</a:t>
            </a:r>
            <a:r>
              <a:rPr lang="es-ES" b="1" dirty="0"/>
              <a:t> vistas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3E18622-50CE-5860-7272-AA01285EBCFA}"/>
              </a:ext>
            </a:extLst>
          </p:cNvPr>
          <p:cNvSpPr txBox="1"/>
          <p:nvPr/>
        </p:nvSpPr>
        <p:spPr>
          <a:xfrm>
            <a:off x="469208" y="2938593"/>
            <a:ext cx="205740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ServicioPedidos</a:t>
            </a: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45CBD9A-7C49-BA81-B291-AAC4E399E7FF}"/>
              </a:ext>
            </a:extLst>
          </p:cNvPr>
          <p:cNvSpPr txBox="1"/>
          <p:nvPr/>
        </p:nvSpPr>
        <p:spPr>
          <a:xfrm>
            <a:off x="454024" y="4800600"/>
            <a:ext cx="68738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API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7C6E71E-126A-A3A2-F9FE-761B6760460C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797718" y="3307925"/>
            <a:ext cx="700190" cy="149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B9CFF1F2-35BF-5672-9A31-2890CF244FF1}"/>
              </a:ext>
            </a:extLst>
          </p:cNvPr>
          <p:cNvCxnSpPr>
            <a:cxnSpLocks/>
            <a:stCxn id="4" idx="1"/>
            <a:endCxn id="16" idx="0"/>
          </p:cNvCxnSpPr>
          <p:nvPr/>
        </p:nvCxnSpPr>
        <p:spPr>
          <a:xfrm flipH="1">
            <a:off x="1497908" y="1697529"/>
            <a:ext cx="2347166" cy="1241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7E71A85-3355-21CD-A2BF-D6108819D2B9}"/>
              </a:ext>
            </a:extLst>
          </p:cNvPr>
          <p:cNvCxnSpPr>
            <a:cxnSpLocks/>
            <a:stCxn id="5" idx="1"/>
            <a:endCxn id="25" idx="0"/>
          </p:cNvCxnSpPr>
          <p:nvPr/>
        </p:nvCxnSpPr>
        <p:spPr>
          <a:xfrm flipH="1">
            <a:off x="3008312" y="2966098"/>
            <a:ext cx="952501" cy="587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A6105F1-DADB-E57B-857D-E206DC11AF69}"/>
              </a:ext>
            </a:extLst>
          </p:cNvPr>
          <p:cNvSpPr txBox="1"/>
          <p:nvPr/>
        </p:nvSpPr>
        <p:spPr>
          <a:xfrm>
            <a:off x="1979612" y="3553974"/>
            <a:ext cx="205740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ServicioCliente</a:t>
            </a:r>
            <a:endParaRPr lang="es-E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52EEC08-CB28-D003-066F-A92956F9EDBF}"/>
              </a:ext>
            </a:extLst>
          </p:cNvPr>
          <p:cNvSpPr txBox="1"/>
          <p:nvPr/>
        </p:nvSpPr>
        <p:spPr>
          <a:xfrm>
            <a:off x="1911079" y="4791139"/>
            <a:ext cx="76041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API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ED813817-C398-0621-5679-167CB4D7ED59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2291285" y="3923306"/>
            <a:ext cx="380206" cy="867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228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F30A7-8DE7-495B-8DB3-9D2F7566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@Input()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873E87-1DF5-4786-81AB-77243A63E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que una vista muestre datos tiene que usar directivas como </a:t>
            </a:r>
            <a:r>
              <a:rPr lang="es-ES" sz="2400" b="1" dirty="0">
                <a:latin typeface="Consolas" panose="020B0609020204030204" pitchFamily="49" charset="0"/>
              </a:rPr>
              <a:t>{{</a:t>
            </a:r>
            <a:r>
              <a:rPr lang="es-ES" sz="2400" b="1" dirty="0" err="1">
                <a:latin typeface="Consolas" panose="020B0609020204030204" pitchFamily="49" charset="0"/>
              </a:rPr>
              <a:t>numberOfOperations</a:t>
            </a:r>
            <a:r>
              <a:rPr lang="es-ES" sz="2400" b="1" dirty="0">
                <a:latin typeface="Consolas" panose="020B0609020204030204" pitchFamily="49" charset="0"/>
              </a:rPr>
              <a:t>}} </a:t>
            </a:r>
            <a:r>
              <a:rPr lang="es-ES" dirty="0"/>
              <a:t>asociada a una propiedad pública de la clase componente. </a:t>
            </a:r>
          </a:p>
          <a:p>
            <a:r>
              <a:rPr lang="es-ES" dirty="0"/>
              <a:t>Se supone que dicha clase es la responsable de su valor, pero también puede recibirlo desde el exterior. </a:t>
            </a:r>
          </a:p>
          <a:p>
            <a:r>
              <a:rPr lang="es-ES" dirty="0"/>
              <a:t>La novedad es hacer que lo reciba vía </a:t>
            </a:r>
            <a:r>
              <a:rPr lang="es-ES" dirty="0" err="1"/>
              <a:t>html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3345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F30A7-8DE7-495B-8DB3-9D2F7566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@Input()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873E87-1DF5-4786-81AB-77243A63E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Empieza por decorar con </a:t>
            </a:r>
            <a:r>
              <a:rPr lang="es-ES" b="1" dirty="0"/>
              <a:t>@Input() </a:t>
            </a:r>
            <a:r>
              <a:rPr lang="es-ES" dirty="0"/>
              <a:t>la propiedad que quieres usar desde fuera. Modifica el archivo </a:t>
            </a:r>
            <a:r>
              <a:rPr lang="es-ES" b="1" dirty="0" err="1"/>
              <a:t>list.component.ts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No se te olvide actualizar los </a:t>
            </a:r>
            <a:r>
              <a:rPr lang="es-ES" dirty="0" err="1"/>
              <a:t>import</a:t>
            </a:r>
            <a:r>
              <a:rPr lang="es-ES" dirty="0"/>
              <a:t>…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211F4-639F-4A64-B12C-9ADC4E1C2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2" y="1828800"/>
            <a:ext cx="9599611" cy="107721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export class ListComponent implements OnInit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@Input() 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public operations: Operation[] = [];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7358A5D-5F22-4245-8AC2-5904867C4028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2B645A-D318-4526-B545-C223FBB3539D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C:\Labs\T5\EX1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804952C-CB40-4DB3-B374-78917967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2" y="3886200"/>
            <a:ext cx="9599611" cy="58477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import { Component, OnInit, 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Input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, EventEmitter, 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Output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 } from "@angular/core";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import { Operation } from "./operation";</a:t>
            </a:r>
          </a:p>
        </p:txBody>
      </p:sp>
    </p:spTree>
    <p:extLst>
      <p:ext uri="{BB962C8B-B14F-4D97-AF65-F5344CB8AC3E}">
        <p14:creationId xmlns:p14="http://schemas.microsoft.com/office/powerpoint/2010/main" val="1272554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9CC09-565D-4F06-B91C-18CA728C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@Input()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4D1A6-A67E-4EFB-BBE1-9B75C9644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Ahora puedes enviar datos a este componente desde el </a:t>
            </a:r>
            <a:r>
              <a:rPr lang="es-ES" dirty="0" err="1"/>
              <a:t>html</a:t>
            </a:r>
            <a:r>
              <a:rPr lang="es-ES" dirty="0"/>
              <a:t> de su consumidor. Por ejemplo, desde </a:t>
            </a:r>
            <a:r>
              <a:rPr lang="es-ES" b="1" dirty="0" err="1"/>
              <a:t>operations.component.ts</a:t>
            </a:r>
            <a:r>
              <a:rPr lang="es-ES" b="1" dirty="0"/>
              <a:t> </a:t>
            </a:r>
            <a:r>
              <a:rPr lang="es-ES" dirty="0"/>
              <a:t>le puedes enviar una constante o el valor de una variable</a:t>
            </a:r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pPr fontAlgn="base"/>
            <a:r>
              <a:rPr lang="es-ES" dirty="0"/>
              <a:t>Y en su clase controladora tenemos el código que almacena los datos</a:t>
            </a:r>
          </a:p>
          <a:p>
            <a:pPr fontAlgn="base"/>
            <a:endParaRPr lang="es-ES" dirty="0"/>
          </a:p>
          <a:p>
            <a:pPr fontAlgn="base"/>
            <a:endParaRPr lang="es-ES" dirty="0"/>
          </a:p>
          <a:p>
            <a:pPr fontAlgn="base"/>
            <a:r>
              <a:rPr lang="es-ES" dirty="0"/>
              <a:t>No se te olvide actualizar los </a:t>
            </a:r>
            <a:r>
              <a:rPr lang="es-ES" dirty="0" err="1"/>
              <a:t>import</a:t>
            </a:r>
            <a:r>
              <a:rPr lang="es-ES" dirty="0"/>
              <a:t>…</a:t>
            </a:r>
          </a:p>
          <a:p>
            <a:pPr fontAlgn="base"/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A9EA08-9793-4BEF-940B-03B8B8CC9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057400"/>
            <a:ext cx="9599611" cy="107721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&lt;cf-list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[numberOfOperations]="numberOfOperations"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[operations]="operations" 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&lt;/cf-list&gt;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46D2935-3F50-4A93-B76A-3D7CD4EF3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1" y="3429000"/>
            <a:ext cx="9599611" cy="107721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export class OperationsComponent implements OnInit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public numberOfOperations = 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public operations: Operation[] = [];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EE3F93F-E8D5-4570-B47D-AF2CCC72D9C6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C45DFBD-07DA-4E40-AF0D-A2AE51DD12DD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C:\Labs\T5\EX1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68708F3-24F5-4A39-A10B-6535EE5C8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06" y="4843046"/>
            <a:ext cx="9599611" cy="33855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import { Operation } from "./operation";</a:t>
            </a:r>
          </a:p>
        </p:txBody>
      </p:sp>
    </p:spTree>
    <p:extLst>
      <p:ext uri="{BB962C8B-B14F-4D97-AF65-F5344CB8AC3E}">
        <p14:creationId xmlns:p14="http://schemas.microsoft.com/office/powerpoint/2010/main" val="2230619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BFC26-9BCB-49F8-A427-B3F4057C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@Output()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1158D4-3EE9-48F4-9BD6-032DC937E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Los componentes de nivel inferior no sólo se dedican a presentar datos, también pueden crearlos, modificarlos o eliminarlos. </a:t>
            </a:r>
          </a:p>
          <a:p>
            <a:r>
              <a:rPr lang="es-ES" dirty="0"/>
              <a:t>Aunque no directamente; para hacerlo </a:t>
            </a:r>
            <a:r>
              <a:rPr lang="es-ES" b="1" dirty="0"/>
              <a:t>comunican el cambio requerido al controlador de nivel superior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4110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BFC26-9BCB-49F8-A427-B3F4057C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@Output()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1158D4-3EE9-48F4-9BD6-032DC937E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componente </a:t>
            </a:r>
            <a:r>
              <a:rPr lang="es-ES" b="1" dirty="0" err="1"/>
              <a:t>ListComponent</a:t>
            </a:r>
            <a:r>
              <a:rPr lang="es-ES" dirty="0"/>
              <a:t> además de mostrar operaciones en una tabla permite borrar un registro. Bueno, realmente permite que el usuario diga que quiere borrar un registro: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87D2BA4-20BF-4E92-A5EE-0357ADAF9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1" y="2286000"/>
            <a:ext cx="9599611" cy="206210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&lt;tr *ngFor="let operation of operations"&gt;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&lt;td&gt;{{ operation.description }}&lt;/td&gt;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&lt;td&gt;{{ operation.kind }}&lt;/td&gt;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&lt;td&gt;{{ operation.amount | number:'7.2-2' }}&lt;/td&gt;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&lt;td&gt;&lt;button 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(click)="deleteOperation(operation)"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&gt;Delete&lt;/button&gt;&lt;/td&gt;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&lt;/tr&gt;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…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7A3502-90BC-4C59-A42F-4001608EBE89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740B43F-EC15-4D8D-94E9-0592B18408D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C:\Labs\T5\EX1</a:t>
            </a:r>
          </a:p>
        </p:txBody>
      </p:sp>
    </p:spTree>
    <p:extLst>
      <p:ext uri="{BB962C8B-B14F-4D97-AF65-F5344CB8AC3E}">
        <p14:creationId xmlns:p14="http://schemas.microsoft.com/office/powerpoint/2010/main" val="3320376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802AD-4A8F-4C67-A9DF-89A6A9A0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@Output()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A632F2-B701-45D9-B1A7-9A1127CC3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s-ES" sz="2800" dirty="0"/>
              <a:t>Claramente el botón con el </a:t>
            </a:r>
            <a:r>
              <a:rPr lang="es-ES" sz="2800" b="1" dirty="0"/>
              <a:t>evento (</a:t>
            </a:r>
            <a:r>
              <a:rPr lang="es-ES" sz="2800" b="1" dirty="0" err="1"/>
              <a:t>click</a:t>
            </a:r>
            <a:r>
              <a:rPr lang="es-ES" sz="2800" b="1" dirty="0"/>
              <a:t>)="</a:t>
            </a:r>
            <a:r>
              <a:rPr lang="es-ES" sz="2800" b="1" dirty="0" err="1"/>
              <a:t>deleteOperation</a:t>
            </a:r>
            <a:r>
              <a:rPr lang="es-ES" sz="2800" b="1" dirty="0"/>
              <a:t>(</a:t>
            </a:r>
            <a:r>
              <a:rPr lang="es-ES" sz="2800" b="1" dirty="0" err="1"/>
              <a:t>operation</a:t>
            </a:r>
            <a:r>
              <a:rPr lang="es-ES" sz="2800" b="1" dirty="0"/>
              <a:t>)"</a:t>
            </a:r>
            <a:r>
              <a:rPr lang="es-ES" sz="2800" dirty="0"/>
              <a:t> manifiesta una intención de borrar el registro. </a:t>
            </a:r>
          </a:p>
          <a:p>
            <a:pPr fontAlgn="base"/>
            <a:r>
              <a:rPr lang="es-ES" sz="2800" dirty="0"/>
              <a:t>El método del componente no actúa directamente con el array de datos. </a:t>
            </a:r>
          </a:p>
          <a:p>
            <a:pPr fontAlgn="base"/>
            <a:r>
              <a:rPr lang="es-ES" sz="2800" dirty="0"/>
              <a:t>Si lo hiciera haría difícil gestionar los cambios e imposibilitaría el uso de inmutables o técnicas más avanzadas de programación.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1826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11B97-3CEF-4730-A7FD-715A99BF1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@Output()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3655E6-25F0-4FC2-9FD2-E09F1D878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su lugar, lo que hace es </a:t>
            </a:r>
            <a:r>
              <a:rPr lang="es-ES" b="1" dirty="0"/>
              <a:t>emitir un evento, confiando que alguien lo reciba</a:t>
            </a:r>
            <a:r>
              <a:rPr lang="es-ES" dirty="0"/>
              <a:t> y actúe en consecuencia. La emisión se realiza mediante el decorador </a:t>
            </a:r>
            <a:r>
              <a:rPr lang="es-ES" b="1" dirty="0"/>
              <a:t>@Output() </a:t>
            </a:r>
            <a:r>
              <a:rPr lang="es-ES" b="1" dirty="0" err="1"/>
              <a:t>public</a:t>
            </a:r>
            <a:r>
              <a:rPr lang="es-ES" b="1" dirty="0"/>
              <a:t> </a:t>
            </a:r>
            <a:r>
              <a:rPr lang="es-ES" b="1" dirty="0" err="1"/>
              <a:t>delete</a:t>
            </a:r>
            <a:r>
              <a:rPr lang="es-ES" dirty="0"/>
              <a:t>, sobre una propiedad que es un emisor de eventos tipado, </a:t>
            </a:r>
            <a:r>
              <a:rPr lang="es-ES" b="1" dirty="0"/>
              <a:t>new </a:t>
            </a:r>
            <a:r>
              <a:rPr lang="es-ES" b="1" dirty="0" err="1"/>
              <a:t>EventEmitter</a:t>
            </a:r>
            <a:r>
              <a:rPr lang="es-ES" b="1" dirty="0"/>
              <a:t>&lt;</a:t>
            </a:r>
            <a:r>
              <a:rPr lang="es-ES" b="1" dirty="0" err="1"/>
              <a:t>Operation</a:t>
            </a:r>
            <a:r>
              <a:rPr lang="es-ES" b="1" dirty="0"/>
              <a:t>&gt;()</a:t>
            </a:r>
            <a:r>
              <a:rPr lang="es-ES" dirty="0"/>
              <a:t>;. </a:t>
            </a:r>
          </a:p>
          <a:p>
            <a:r>
              <a:rPr lang="es-ES" dirty="0"/>
              <a:t>El método </a:t>
            </a:r>
            <a:r>
              <a:rPr lang="es-ES" b="1" dirty="0" err="1"/>
              <a:t>deleteOperation</a:t>
            </a:r>
            <a:r>
              <a:rPr lang="es-ES" b="1" dirty="0"/>
              <a:t>(</a:t>
            </a:r>
            <a:r>
              <a:rPr lang="es-ES" b="1" dirty="0" err="1"/>
              <a:t>operation</a:t>
            </a:r>
            <a:r>
              <a:rPr lang="es-ES" b="1" dirty="0"/>
              <a:t>)</a:t>
            </a:r>
            <a:r>
              <a:rPr lang="es-ES" dirty="0"/>
              <a:t>, es un delegado al que llama la vista y usa dicho emisor para… ejem, emitir la señal hacia arriba.</a:t>
            </a:r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9617758-656A-4036-870F-8406826F3B1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5068FCC-1547-4441-8933-3414ECA9E936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C:\Labs\T5\EX1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7FDE816-CF2E-47FF-BD8C-1212BEC60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1" y="3505200"/>
            <a:ext cx="9599611" cy="206210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export class ListComponent implements OnInit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@Output() public delete = new EventEmitter&lt;Operation&gt;();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public deleteOperation(operation: Operation)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this.delete.emit(operation);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4967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A2804-EC94-4DA8-8AB6-E47F2B07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@Output()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105E00-F502-4D8C-A827-FCB87423C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es-ES" dirty="0"/>
              <a:t>Mientras tanto, en </a:t>
            </a:r>
            <a:r>
              <a:rPr lang="es-ES" altLang="es-ES" b="1" dirty="0"/>
              <a:t>el controlador principal la vista se subscribe al evento</a:t>
            </a:r>
            <a:r>
              <a:rPr lang="es-ES" altLang="es-ES" dirty="0"/>
              <a:t> </a:t>
            </a:r>
            <a:r>
              <a:rPr lang="es-ES" altLang="es-ES" b="1" dirty="0"/>
              <a:t>(</a:t>
            </a:r>
            <a:r>
              <a:rPr lang="es-ES" altLang="es-ES" b="1" dirty="0" err="1"/>
              <a:t>delete</a:t>
            </a:r>
            <a:r>
              <a:rPr lang="es-ES" altLang="es-ES" b="1" dirty="0"/>
              <a:t>)</a:t>
            </a:r>
            <a:r>
              <a:rPr lang="es-ES" altLang="es-ES" dirty="0"/>
              <a:t> como si este fuese un evento nativo. </a:t>
            </a:r>
          </a:p>
          <a:p>
            <a:r>
              <a:rPr lang="es-ES" altLang="es-ES" dirty="0"/>
              <a:t>La instrucción que se ejecuta hace </a:t>
            </a:r>
            <a:r>
              <a:rPr lang="es-ES" altLang="es-ES" b="1" dirty="0"/>
              <a:t>uso del argumento recibido en </a:t>
            </a:r>
            <a:r>
              <a:rPr lang="es-ES" altLang="es-ES" dirty="0"/>
              <a:t>el identificador </a:t>
            </a:r>
            <a:r>
              <a:rPr lang="es-ES" altLang="es-ES" b="1" dirty="0"/>
              <a:t>$</a:t>
            </a:r>
            <a:r>
              <a:rPr lang="es-ES" altLang="es-ES" b="1" dirty="0" err="1"/>
              <a:t>event</a:t>
            </a:r>
            <a:r>
              <a:rPr lang="es-ES" altLang="es-ES" dirty="0"/>
              <a:t> estándar del </a:t>
            </a:r>
            <a:r>
              <a:rPr lang="es-ES" altLang="es-ES" dirty="0" err="1"/>
              <a:t>framework</a:t>
            </a:r>
            <a:r>
              <a:rPr lang="es-ES" altLang="es-ES" dirty="0"/>
              <a:t>.</a:t>
            </a:r>
          </a:p>
          <a:p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132B7E-4A1E-48E8-883E-8785AEFEA1B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LAB1c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71A37EB-4758-47D7-9119-B06002AF451A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C:\Labs\T5\EX1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688874A-1264-4E46-A3A7-561FCCFA0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971800"/>
            <a:ext cx="9599611" cy="13234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&lt;cf-list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[numberOfOperations]="0"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[operations]="operations"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(delete)="deleteOperation($event)" 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&lt;/cf-list&gt;</a:t>
            </a:r>
          </a:p>
        </p:txBody>
      </p:sp>
    </p:spTree>
    <p:extLst>
      <p:ext uri="{BB962C8B-B14F-4D97-AF65-F5344CB8AC3E}">
        <p14:creationId xmlns:p14="http://schemas.microsoft.com/office/powerpoint/2010/main" val="298410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ED52D5BC-AA19-4E98-8358-36F45A44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@Output()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D6A04FC-DF00-4016-B939-0A62DA834B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altLang="es-ES" dirty="0"/>
              <a:t>En el componente principal ya podemos operar con los datos. El método </a:t>
            </a:r>
            <a:r>
              <a:rPr lang="es-ES" altLang="es-ES" b="1" dirty="0" err="1"/>
              <a:t>deleteOperation</a:t>
            </a:r>
            <a:r>
              <a:rPr lang="es-ES" altLang="es-ES" b="1" dirty="0"/>
              <a:t>(</a:t>
            </a:r>
            <a:r>
              <a:rPr lang="es-ES" altLang="es-ES" b="1" dirty="0" err="1"/>
              <a:t>operation</a:t>
            </a:r>
            <a:r>
              <a:rPr lang="es-ES" altLang="es-ES" b="1" dirty="0"/>
              <a:t>: </a:t>
            </a:r>
            <a:r>
              <a:rPr lang="es-ES" altLang="es-ES" b="1" dirty="0" err="1"/>
              <a:t>Operation</a:t>
            </a:r>
            <a:r>
              <a:rPr lang="es-ES" altLang="es-ES" b="1" dirty="0"/>
              <a:t>) </a:t>
            </a:r>
            <a:r>
              <a:rPr lang="es-ES" altLang="es-ES" dirty="0"/>
              <a:t>accede y modifica el valor del array </a:t>
            </a:r>
            <a:r>
              <a:rPr lang="es-ES" altLang="es-ES" b="1" dirty="0" err="1"/>
              <a:t>operations</a:t>
            </a:r>
            <a:r>
              <a:rPr lang="es-ES" altLang="es-ES" dirty="0"/>
              <a:t>. </a:t>
            </a:r>
          </a:p>
          <a:p>
            <a:r>
              <a:rPr lang="es-ES" altLang="es-ES" dirty="0"/>
              <a:t>Cuando dicho array cambia en el componente principal lo notifica automáticamente hacia abajo; de nuevo hacia la lista.</a:t>
            </a:r>
          </a:p>
          <a:p>
            <a:endParaRPr lang="es-ES" altLang="es-ES" dirty="0"/>
          </a:p>
          <a:p>
            <a:endParaRPr lang="es-ES" altLang="es-ES" dirty="0"/>
          </a:p>
          <a:p>
            <a:endParaRPr lang="es-ES" altLang="es-ES" dirty="0"/>
          </a:p>
          <a:p>
            <a:endParaRPr lang="es-ES" altLang="es-ES" dirty="0"/>
          </a:p>
          <a:p>
            <a:endParaRPr lang="es-ES" alt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F6321C9-A9B2-48C8-BA37-4E3594C7E8ED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LAB1c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A0E24E9-03F9-4034-A862-F48DA36E8B5B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C:\Labs\T5\EX1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216952A-7E99-4472-BFBE-ED5D17280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3124200"/>
            <a:ext cx="9599611" cy="206210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export class OperationsComponent implements OnInit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public deleteOperation(operation: Operation)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const index = this.operations.indexOf(operation);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this.operations.splice(index, 1);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this.numberOfOperations = this.operations.length;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84410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ED52D5BC-AA19-4E98-8358-36F45A44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@Output()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D6A04FC-DF00-4016-B939-0A62DA834B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altLang="es-ES" dirty="0"/>
              <a:t>Haz lo mismo con el </a:t>
            </a:r>
            <a:r>
              <a:rPr lang="es-ES" altLang="es-ES" dirty="0" err="1"/>
              <a:t>Save</a:t>
            </a:r>
            <a:endParaRPr lang="es-ES" alt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F6321C9-A9B2-48C8-BA37-4E3594C7E8ED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LAB1d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A0E24E9-03F9-4034-A862-F48DA36E8B5B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C:\Labs\T5\EX1</a:t>
            </a:r>
          </a:p>
        </p:txBody>
      </p:sp>
    </p:spTree>
    <p:extLst>
      <p:ext uri="{BB962C8B-B14F-4D97-AF65-F5344CB8AC3E}">
        <p14:creationId xmlns:p14="http://schemas.microsoft.com/office/powerpoint/2010/main" val="962974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1D73B-91F4-49DC-9EC5-B4592A731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@Input() + @Output() = </a:t>
            </a:r>
            <a:r>
              <a:rPr lang="es-ES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es-ES" dirty="0">
              <a:solidFill>
                <a:srgbClr val="00B05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6DE6A7-54F1-4BA6-89B7-DFA0C6CD1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 esta manera se cierra el círculo. </a:t>
            </a:r>
          </a:p>
          <a:p>
            <a:r>
              <a:rPr lang="es-ES" dirty="0"/>
              <a:t>Los componentes de bajo nivel pueden </a:t>
            </a:r>
            <a:r>
              <a:rPr lang="es-ES" b="1" dirty="0"/>
              <a:t>recibir datos para ser presentados o emitir eventos para modificarlos</a:t>
            </a:r>
            <a:r>
              <a:rPr lang="es-ES" dirty="0"/>
              <a:t>. </a:t>
            </a:r>
          </a:p>
          <a:p>
            <a:r>
              <a:rPr lang="es-ES" dirty="0"/>
              <a:t>El componente de nivel superior es el </a:t>
            </a:r>
            <a:r>
              <a:rPr lang="es-ES" b="1" dirty="0"/>
              <a:t>único responsable de obtener y actuar</a:t>
            </a:r>
            <a:r>
              <a:rPr lang="es-ES" dirty="0"/>
              <a:t> sobre los datos.</a:t>
            </a:r>
          </a:p>
        </p:txBody>
      </p:sp>
    </p:spTree>
    <p:extLst>
      <p:ext uri="{BB962C8B-B14F-4D97-AF65-F5344CB8AC3E}">
        <p14:creationId xmlns:p14="http://schemas.microsoft.com/office/powerpoint/2010/main" val="313973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50D8431-26AF-4310-8B05-8FF079B79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Múltiples controladores</a:t>
            </a:r>
          </a:p>
        </p:txBody>
      </p:sp>
    </p:spTree>
    <p:extLst>
      <p:ext uri="{BB962C8B-B14F-4D97-AF65-F5344CB8AC3E}">
        <p14:creationId xmlns:p14="http://schemas.microsoft.com/office/powerpoint/2010/main" val="111432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937DB0E-107B-404B-BDAF-7D8C76D9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Múltiples controladores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BC2A3F7-3131-4BB8-886E-6E59C69D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dirty="0"/>
              <a:t>Cuando las pantallas se hacen realmente complejas, empiezan a surgir </a:t>
            </a:r>
            <a:r>
              <a:rPr lang="es-ES" b="1" dirty="0"/>
              <a:t>árboles de componentes</a:t>
            </a:r>
            <a:r>
              <a:rPr lang="es-ES" dirty="0"/>
              <a:t> de muchos niveles de profundidad. En estas situaciones mantener un único controlador a nivel raíz es poco práctico.</a:t>
            </a:r>
          </a:p>
          <a:p>
            <a:pPr fontAlgn="base"/>
            <a:r>
              <a:rPr lang="es-ES" dirty="0"/>
              <a:t>La solución en esos casos pasa porque </a:t>
            </a:r>
            <a:r>
              <a:rPr lang="es-ES" b="1" dirty="0"/>
              <a:t>algunos componentes tengan su propio control de datos</a:t>
            </a:r>
            <a:r>
              <a:rPr lang="es-ES" dirty="0"/>
              <a:t>. </a:t>
            </a:r>
          </a:p>
          <a:p>
            <a:pPr fontAlgn="base"/>
            <a:r>
              <a:rPr lang="es-ES" dirty="0"/>
              <a:t>Para que esto tampoco te lleve a un caos incontrolable te enseñaré cómo resolverlo usando </a:t>
            </a:r>
            <a:r>
              <a:rPr lang="es-ES" i="1" dirty="0">
                <a:solidFill>
                  <a:srgbClr val="FF0000"/>
                </a:solidFill>
              </a:rPr>
              <a:t>Observables</a:t>
            </a:r>
            <a:r>
              <a:rPr lang="es-ES" dirty="0"/>
              <a:t>. Pero eso será más adelante…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1979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0B11C5D0-D9D8-8956-B105-DFDA4ABE5E85}"/>
              </a:ext>
            </a:extLst>
          </p:cNvPr>
          <p:cNvSpPr/>
          <p:nvPr/>
        </p:nvSpPr>
        <p:spPr>
          <a:xfrm>
            <a:off x="7583842" y="487518"/>
            <a:ext cx="3505200" cy="2819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OPERATIONS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ABB1429-9317-A569-63F3-A2FADE98E4FE}"/>
              </a:ext>
            </a:extLst>
          </p:cNvPr>
          <p:cNvSpPr/>
          <p:nvPr/>
        </p:nvSpPr>
        <p:spPr>
          <a:xfrm>
            <a:off x="7583842" y="3739871"/>
            <a:ext cx="3505200" cy="2819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CLIENTES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8BEECAE-6B1C-FB56-1148-9BFC81ED5928}"/>
              </a:ext>
            </a:extLst>
          </p:cNvPr>
          <p:cNvCxnSpPr>
            <a:cxnSpLocks/>
          </p:cNvCxnSpPr>
          <p:nvPr/>
        </p:nvCxnSpPr>
        <p:spPr>
          <a:xfrm flipV="1">
            <a:off x="5813938" y="2435991"/>
            <a:ext cx="163528" cy="5864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33FBB04-44CC-9D52-FEEE-71569247B9C9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789858" y="3580187"/>
            <a:ext cx="183911" cy="49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DC2F3D95-033A-CD46-6D6B-D4A518214EBF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7144915" y="1897218"/>
            <a:ext cx="438927" cy="47770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2048858-69A2-B88A-B976-F8A24D2DB2E9}"/>
              </a:ext>
            </a:extLst>
          </p:cNvPr>
          <p:cNvSpPr/>
          <p:nvPr/>
        </p:nvSpPr>
        <p:spPr>
          <a:xfrm>
            <a:off x="5126823" y="154491"/>
            <a:ext cx="3200400" cy="10287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dirty="0" err="1">
                <a:solidFill>
                  <a:srgbClr val="FF0000"/>
                </a:solidFill>
              </a:rPr>
              <a:t>EventEmitter</a:t>
            </a:r>
            <a:r>
              <a:rPr lang="es-ES" sz="1400" dirty="0">
                <a:solidFill>
                  <a:srgbClr val="FF0000"/>
                </a:solidFill>
              </a:rPr>
              <a:t> 	Acoplado</a:t>
            </a:r>
          </a:p>
          <a:p>
            <a:r>
              <a:rPr lang="es-ES" sz="1400" dirty="0" err="1"/>
              <a:t>Promise</a:t>
            </a:r>
            <a:r>
              <a:rPr lang="es-ES" sz="1400" dirty="0"/>
              <a:t>		Acoplado </a:t>
            </a:r>
            <a:r>
              <a:rPr lang="es-ES" sz="1400" dirty="0" err="1"/>
              <a:t>dev</a:t>
            </a:r>
            <a:endParaRPr lang="es-ES" sz="1400" dirty="0"/>
          </a:p>
          <a:p>
            <a:r>
              <a:rPr lang="es-ES" sz="1400" dirty="0">
                <a:solidFill>
                  <a:srgbClr val="FF0000"/>
                </a:solidFill>
              </a:rPr>
              <a:t>Observable 		Desacoplado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0F63BAD-2B1C-ED88-179F-E7024358CC3D}"/>
              </a:ext>
            </a:extLst>
          </p:cNvPr>
          <p:cNvSpPr/>
          <p:nvPr/>
        </p:nvSpPr>
        <p:spPr>
          <a:xfrm>
            <a:off x="830861" y="240606"/>
            <a:ext cx="4095750" cy="177366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/>
              <a:t>Cabecera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>
                <a:solidFill>
                  <a:srgbClr val="FF0000"/>
                </a:solidFill>
              </a:rPr>
              <a:t>Pedidos/Facturas/Albaranes</a:t>
            </a:r>
          </a:p>
          <a:p>
            <a:endParaRPr lang="es-ES" dirty="0"/>
          </a:p>
          <a:p>
            <a:r>
              <a:rPr lang="es-ES" dirty="0"/>
              <a:t>Pie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86B4D0D-F306-51CC-9811-FD1934FC8CC3}"/>
              </a:ext>
            </a:extLst>
          </p:cNvPr>
          <p:cNvSpPr/>
          <p:nvPr/>
        </p:nvSpPr>
        <p:spPr>
          <a:xfrm>
            <a:off x="2773530" y="2414594"/>
            <a:ext cx="3009900" cy="19812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/>
              <a:t>PEDIDOS</a:t>
            </a:r>
          </a:p>
          <a:p>
            <a:r>
              <a:rPr lang="es-ES" dirty="0"/>
              <a:t>	Componente</a:t>
            </a:r>
          </a:p>
          <a:p>
            <a:r>
              <a:rPr lang="es-ES" dirty="0"/>
              <a:t>		Líneas</a:t>
            </a:r>
          </a:p>
          <a:p>
            <a:r>
              <a:rPr lang="es-ES" dirty="0"/>
              <a:t>		Clientes</a:t>
            </a:r>
          </a:p>
          <a:p>
            <a:r>
              <a:rPr lang="es-ES" dirty="0"/>
              <a:t>		Artículos</a:t>
            </a:r>
          </a:p>
          <a:p>
            <a:r>
              <a:rPr lang="es-ES" dirty="0"/>
              <a:t>		Stock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9D1AC28-9BA3-057B-FEEB-F7BC0F5E4DA1}"/>
              </a:ext>
            </a:extLst>
          </p:cNvPr>
          <p:cNvSpPr/>
          <p:nvPr/>
        </p:nvSpPr>
        <p:spPr>
          <a:xfrm>
            <a:off x="126442" y="240606"/>
            <a:ext cx="749636" cy="53339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/>
              <a:t>Sub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6752DACE-D11F-0C10-F612-F3B6968597FF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7116769" y="3629207"/>
            <a:ext cx="487760" cy="426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1E84E1-5A4C-5138-8CED-81984E1DEBFF}"/>
              </a:ext>
            </a:extLst>
          </p:cNvPr>
          <p:cNvSpPr txBox="1"/>
          <p:nvPr/>
        </p:nvSpPr>
        <p:spPr>
          <a:xfrm>
            <a:off x="5973769" y="3444541"/>
            <a:ext cx="1143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b="1" dirty="0" err="1">
                <a:solidFill>
                  <a:srgbClr val="FF0000"/>
                </a:solidFill>
              </a:rPr>
              <a:t>Logica</a:t>
            </a:r>
            <a:r>
              <a:rPr lang="es-ES" b="1" dirty="0">
                <a:solidFill>
                  <a:srgbClr val="FF0000"/>
                </a:solidFill>
              </a:rPr>
              <a:t> A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2D58A88-1315-B21A-6397-658E6184415D}"/>
              </a:ext>
            </a:extLst>
          </p:cNvPr>
          <p:cNvSpPr txBox="1"/>
          <p:nvPr/>
        </p:nvSpPr>
        <p:spPr>
          <a:xfrm>
            <a:off x="6001915" y="5413964"/>
            <a:ext cx="1143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b="1" dirty="0" err="1">
                <a:solidFill>
                  <a:srgbClr val="FF0000"/>
                </a:solidFill>
              </a:rPr>
              <a:t>WebS</a:t>
            </a:r>
            <a:r>
              <a:rPr lang="es-ES" b="1" dirty="0">
                <a:solidFill>
                  <a:srgbClr val="FF0000"/>
                </a:solidFill>
              </a:rPr>
              <a:t> B P</a:t>
            </a:r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B7C0E82-2514-8816-8CDC-76122D01C4F6}"/>
              </a:ext>
            </a:extLst>
          </p:cNvPr>
          <p:cNvSpPr txBox="1"/>
          <p:nvPr/>
        </p:nvSpPr>
        <p:spPr>
          <a:xfrm>
            <a:off x="6001915" y="6171528"/>
            <a:ext cx="1143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dirty="0"/>
              <a:t>WS NET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D3AD0AE5-1EC1-1AD6-3374-5D9D6455BB0B}"/>
              </a:ext>
            </a:extLst>
          </p:cNvPr>
          <p:cNvCxnSpPr>
            <a:stCxn id="11" idx="2"/>
            <a:endCxn id="24" idx="0"/>
          </p:cNvCxnSpPr>
          <p:nvPr/>
        </p:nvCxnSpPr>
        <p:spPr>
          <a:xfrm>
            <a:off x="6573415" y="5783296"/>
            <a:ext cx="0" cy="388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BEDD83E-9F60-78B8-7028-3732D0F0868B}"/>
              </a:ext>
            </a:extLst>
          </p:cNvPr>
          <p:cNvSpPr txBox="1"/>
          <p:nvPr/>
        </p:nvSpPr>
        <p:spPr>
          <a:xfrm>
            <a:off x="3612301" y="5400309"/>
            <a:ext cx="1143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b="1" dirty="0" err="1">
                <a:solidFill>
                  <a:srgbClr val="FF0000"/>
                </a:solidFill>
              </a:rPr>
              <a:t>WebS</a:t>
            </a:r>
            <a:r>
              <a:rPr lang="es-ES" b="1" dirty="0">
                <a:solidFill>
                  <a:srgbClr val="FF0000"/>
                </a:solidFill>
              </a:rPr>
              <a:t> A</a:t>
            </a:r>
            <a:endParaRPr lang="es-ES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C77ACA6-DBBB-4E1D-A548-0BEB070BA822}"/>
              </a:ext>
            </a:extLst>
          </p:cNvPr>
          <p:cNvSpPr txBox="1"/>
          <p:nvPr/>
        </p:nvSpPr>
        <p:spPr>
          <a:xfrm>
            <a:off x="3649032" y="6188589"/>
            <a:ext cx="1143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dirty="0"/>
              <a:t>WS NET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5BEB4C50-4A00-52DF-ED50-7F8D196F5A9B}"/>
              </a:ext>
            </a:extLst>
          </p:cNvPr>
          <p:cNvCxnSpPr>
            <a:stCxn id="28" idx="2"/>
            <a:endCxn id="33" idx="0"/>
          </p:cNvCxnSpPr>
          <p:nvPr/>
        </p:nvCxnSpPr>
        <p:spPr>
          <a:xfrm>
            <a:off x="4183801" y="5769641"/>
            <a:ext cx="36731" cy="418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729569D-ED32-4F6A-C28D-EE2FC9F716F3}"/>
              </a:ext>
            </a:extLst>
          </p:cNvPr>
          <p:cNvSpPr txBox="1"/>
          <p:nvPr/>
        </p:nvSpPr>
        <p:spPr>
          <a:xfrm>
            <a:off x="2278243" y="5400309"/>
            <a:ext cx="1143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b="1" dirty="0" err="1">
                <a:solidFill>
                  <a:srgbClr val="FF0000"/>
                </a:solidFill>
              </a:rPr>
              <a:t>WebS</a:t>
            </a:r>
            <a:r>
              <a:rPr lang="es-ES" b="1" dirty="0">
                <a:solidFill>
                  <a:srgbClr val="FF0000"/>
                </a:solidFill>
              </a:rPr>
              <a:t> C</a:t>
            </a:r>
            <a:endParaRPr lang="es-ES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DAD0F4FC-974A-DE71-7C35-B3C255262DBC}"/>
              </a:ext>
            </a:extLst>
          </p:cNvPr>
          <p:cNvSpPr txBox="1"/>
          <p:nvPr/>
        </p:nvSpPr>
        <p:spPr>
          <a:xfrm>
            <a:off x="1867649" y="6033028"/>
            <a:ext cx="1606976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dirty="0"/>
              <a:t>WS NET OPERACIONES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0B2E6868-7F4D-D235-2EED-C164BA08D1C7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 flipH="1">
            <a:off x="2671137" y="5769641"/>
            <a:ext cx="178606" cy="263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DE8E44C-CEEF-0411-3937-72A3A1852918}"/>
              </a:ext>
            </a:extLst>
          </p:cNvPr>
          <p:cNvSpPr txBox="1"/>
          <p:nvPr/>
        </p:nvSpPr>
        <p:spPr>
          <a:xfrm>
            <a:off x="2436783" y="4870839"/>
            <a:ext cx="2318518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Datos</a:t>
            </a:r>
            <a:endParaRPr lang="es-ES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9F35D80-57BC-9CAB-4B9C-14598B65150F}"/>
              </a:ext>
            </a:extLst>
          </p:cNvPr>
          <p:cNvSpPr txBox="1"/>
          <p:nvPr/>
        </p:nvSpPr>
        <p:spPr>
          <a:xfrm>
            <a:off x="5186331" y="4870839"/>
            <a:ext cx="1966481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b="1" dirty="0" err="1">
                <a:solidFill>
                  <a:srgbClr val="FF0000"/>
                </a:solidFill>
              </a:rPr>
              <a:t>Logica</a:t>
            </a:r>
            <a:r>
              <a:rPr lang="es-ES" b="1" dirty="0">
                <a:solidFill>
                  <a:srgbClr val="FF0000"/>
                </a:solidFill>
              </a:rPr>
              <a:t> flujos de UI</a:t>
            </a:r>
            <a:endParaRPr lang="es-ES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3DF5613-7DF8-8E98-FBFA-340293A50123}"/>
              </a:ext>
            </a:extLst>
          </p:cNvPr>
          <p:cNvSpPr txBox="1"/>
          <p:nvPr/>
        </p:nvSpPr>
        <p:spPr>
          <a:xfrm>
            <a:off x="5986490" y="2260477"/>
            <a:ext cx="1143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Servicio A</a:t>
            </a:r>
            <a:endParaRPr lang="es-ES" dirty="0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43497828-11CC-F6C7-A2FC-EDB250404858}"/>
              </a:ext>
            </a:extLst>
          </p:cNvPr>
          <p:cNvCxnSpPr>
            <a:cxnSpLocks/>
          </p:cNvCxnSpPr>
          <p:nvPr/>
        </p:nvCxnSpPr>
        <p:spPr>
          <a:xfrm>
            <a:off x="4950046" y="1500428"/>
            <a:ext cx="1182463" cy="71841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B5029E22-91D0-D9A2-C430-74DC75E74036}"/>
              </a:ext>
            </a:extLst>
          </p:cNvPr>
          <p:cNvSpPr/>
          <p:nvPr/>
        </p:nvSpPr>
        <p:spPr>
          <a:xfrm>
            <a:off x="2023894" y="3266536"/>
            <a:ext cx="749636" cy="533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/>
              <a:t>Pub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443CA660-C56D-0E9C-00CE-4D473CE5C800}"/>
              </a:ext>
            </a:extLst>
          </p:cNvPr>
          <p:cNvSpPr/>
          <p:nvPr/>
        </p:nvSpPr>
        <p:spPr>
          <a:xfrm>
            <a:off x="147056" y="2678627"/>
            <a:ext cx="1333500" cy="533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/>
              <a:t>Observable</a:t>
            </a:r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5C7E9740-8FCC-1C37-4B26-85C69B733BBD}"/>
              </a:ext>
            </a:extLst>
          </p:cNvPr>
          <p:cNvCxnSpPr>
            <a:cxnSpLocks/>
          </p:cNvCxnSpPr>
          <p:nvPr/>
        </p:nvCxnSpPr>
        <p:spPr>
          <a:xfrm>
            <a:off x="277637" y="914400"/>
            <a:ext cx="184048" cy="17526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CF971617-AE0B-B9EC-B66E-9524A3C7491A}"/>
              </a:ext>
            </a:extLst>
          </p:cNvPr>
          <p:cNvCxnSpPr>
            <a:cxnSpLocks/>
            <a:stCxn id="53" idx="1"/>
          </p:cNvCxnSpPr>
          <p:nvPr/>
        </p:nvCxnSpPr>
        <p:spPr>
          <a:xfrm flipH="1" flipV="1">
            <a:off x="1440191" y="3223653"/>
            <a:ext cx="583703" cy="30958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668614A9-2642-812F-BC47-A67419E2CA18}"/>
              </a:ext>
            </a:extLst>
          </p:cNvPr>
          <p:cNvCxnSpPr>
            <a:cxnSpLocks/>
          </p:cNvCxnSpPr>
          <p:nvPr/>
        </p:nvCxnSpPr>
        <p:spPr>
          <a:xfrm flipH="1" flipV="1">
            <a:off x="503640" y="838200"/>
            <a:ext cx="222849" cy="17747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15949346-6C33-C396-0576-D59A94DF1078}"/>
              </a:ext>
            </a:extLst>
          </p:cNvPr>
          <p:cNvCxnSpPr>
            <a:cxnSpLocks/>
            <a:endCxn id="55" idx="3"/>
          </p:cNvCxnSpPr>
          <p:nvPr/>
        </p:nvCxnSpPr>
        <p:spPr>
          <a:xfrm flipH="1" flipV="1">
            <a:off x="1480556" y="2945327"/>
            <a:ext cx="555245" cy="433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ángulo 60">
            <a:extLst>
              <a:ext uri="{FF2B5EF4-FFF2-40B4-BE49-F238E27FC236}">
                <a16:creationId xmlns:a16="http://schemas.microsoft.com/office/drawing/2014/main" id="{270B42AA-D9DC-726C-FF4B-9B8FCB8BD304}"/>
              </a:ext>
            </a:extLst>
          </p:cNvPr>
          <p:cNvSpPr/>
          <p:nvPr/>
        </p:nvSpPr>
        <p:spPr>
          <a:xfrm>
            <a:off x="8071602" y="2214533"/>
            <a:ext cx="2442410" cy="452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NEW </a:t>
            </a:r>
            <a:r>
              <a:rPr lang="es-ES" sz="1800" dirty="0" err="1">
                <a:solidFill>
                  <a:srgbClr val="FF0000"/>
                </a:solidFill>
              </a:rPr>
              <a:t>EventEmitter</a:t>
            </a:r>
            <a:endParaRPr lang="es-ES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0DCEDA15-3E9E-2A92-F614-3EA7150792A8}"/>
              </a:ext>
            </a:extLst>
          </p:cNvPr>
          <p:cNvSpPr/>
          <p:nvPr/>
        </p:nvSpPr>
        <p:spPr>
          <a:xfrm>
            <a:off x="8071602" y="2683973"/>
            <a:ext cx="2442410" cy="452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LIST </a:t>
            </a:r>
            <a:r>
              <a:rPr lang="es-ES" sz="1800" dirty="0" err="1">
                <a:solidFill>
                  <a:srgbClr val="FF0000"/>
                </a:solidFill>
              </a:rPr>
              <a:t>EventEmitter</a:t>
            </a:r>
            <a:endParaRPr lang="es-ES" dirty="0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F54A86E5-5864-5BA1-5086-59F6B9D43471}"/>
              </a:ext>
            </a:extLst>
          </p:cNvPr>
          <p:cNvSpPr txBox="1"/>
          <p:nvPr/>
        </p:nvSpPr>
        <p:spPr>
          <a:xfrm>
            <a:off x="5513369" y="1364591"/>
            <a:ext cx="185100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@angular/router</a:t>
            </a:r>
            <a:endParaRPr lang="es-ES" dirty="0">
              <a:solidFill>
                <a:srgbClr val="FF0000"/>
              </a:solidFill>
            </a:endParaRP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EE1BCF62-BA75-D891-E4DF-15FF28665544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4926611" y="1127437"/>
            <a:ext cx="597746" cy="3111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695C5D50-2A8A-EE77-7720-200DF81C7FAF}"/>
              </a:ext>
            </a:extLst>
          </p:cNvPr>
          <p:cNvCxnSpPr>
            <a:cxnSpLocks/>
            <a:endCxn id="64" idx="3"/>
          </p:cNvCxnSpPr>
          <p:nvPr/>
        </p:nvCxnSpPr>
        <p:spPr>
          <a:xfrm flipH="1">
            <a:off x="7364378" y="1341632"/>
            <a:ext cx="219464" cy="2076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B6C740C5-37F5-5340-6F04-A9C330F4B1D0}"/>
              </a:ext>
            </a:extLst>
          </p:cNvPr>
          <p:cNvCxnSpPr>
            <a:cxnSpLocks/>
          </p:cNvCxnSpPr>
          <p:nvPr/>
        </p:nvCxnSpPr>
        <p:spPr>
          <a:xfrm flipV="1">
            <a:off x="5306635" y="1755058"/>
            <a:ext cx="667134" cy="667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156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5C87210-1472-4349-9597-9D7C0B5F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Otras comunicaciones</a:t>
            </a:r>
          </a:p>
        </p:txBody>
      </p:sp>
    </p:spTree>
    <p:extLst>
      <p:ext uri="{BB962C8B-B14F-4D97-AF65-F5344CB8AC3E}">
        <p14:creationId xmlns:p14="http://schemas.microsoft.com/office/powerpoint/2010/main" val="2723845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2619730-8EEB-40AA-B182-0E92353E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Comunicación entre distintas páginas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86F665B-1791-4903-A2C2-9CBE3BBF0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En las aplicaciones hay </a:t>
            </a:r>
            <a:r>
              <a:rPr lang="es-ES" b="1" dirty="0"/>
              <a:t>comunicaciones de estado más allá de la página actual</a:t>
            </a:r>
            <a:r>
              <a:rPr lang="es-ES" dirty="0"/>
              <a:t>. </a:t>
            </a:r>
            <a:r>
              <a:rPr lang="es-ES" dirty="0">
                <a:solidFill>
                  <a:srgbClr val="FF0000"/>
                </a:solidFill>
              </a:rPr>
              <a:t>La comunicación entre páginas es responsabilidad del </a:t>
            </a:r>
            <a:r>
              <a:rPr lang="es-ES" b="1" dirty="0">
                <a:solidFill>
                  <a:srgbClr val="FF0000"/>
                </a:solidFill>
              </a:rPr>
              <a:t>@angular/</a:t>
            </a:r>
            <a:r>
              <a:rPr lang="es-ES" b="1" dirty="0" err="1">
                <a:solidFill>
                  <a:srgbClr val="FF0000"/>
                </a:solidFill>
              </a:rPr>
              <a:t>router</a:t>
            </a:r>
            <a:endParaRPr lang="es-ES" dirty="0">
              <a:solidFill>
                <a:srgbClr val="FF0000"/>
              </a:solidFill>
            </a:endParaRPr>
          </a:p>
          <a:p>
            <a:r>
              <a:rPr lang="es-ES" dirty="0"/>
              <a:t>En el estado actual del componente </a:t>
            </a:r>
            <a:r>
              <a:rPr lang="es-ES" b="1" dirty="0" err="1"/>
              <a:t>ItemComponent</a:t>
            </a:r>
            <a:r>
              <a:rPr lang="es-ES" dirty="0"/>
              <a:t> es capaz de recibir por parámetros una identificación de operación. Pero no tiene acceso al array de datos y por tanto no los puede mostrar ni interactuar con ellos.</a:t>
            </a:r>
          </a:p>
          <a:p>
            <a:r>
              <a:rPr lang="es-ES" dirty="0"/>
              <a:t>Desde luego necesita convertirse en un controlador, pero antes habrá que </a:t>
            </a:r>
            <a:r>
              <a:rPr lang="es-ES" b="1" dirty="0"/>
              <a:t>bajar los datos a un nivel compartido entre páginas</a:t>
            </a:r>
            <a:r>
              <a:rPr lang="es-ES" dirty="0"/>
              <a:t>. Lo haremos en próximos pasos. </a:t>
            </a:r>
          </a:p>
          <a:p>
            <a:pPr lvl="1"/>
            <a:r>
              <a:rPr lang="es-ES" dirty="0"/>
              <a:t>Primero mediante </a:t>
            </a:r>
            <a:r>
              <a:rPr lang="es-ES" b="1" dirty="0">
                <a:solidFill>
                  <a:srgbClr val="FF0000"/>
                </a:solidFill>
              </a:rPr>
              <a:t>Servicios inyectables </a:t>
            </a:r>
            <a:r>
              <a:rPr lang="es-ES" dirty="0"/>
              <a:t>en Angular y después usando </a:t>
            </a:r>
            <a:r>
              <a:rPr lang="es-ES" b="1" dirty="0"/>
              <a:t>Comunicaciones HTTP </a:t>
            </a:r>
            <a:r>
              <a:rPr lang="es-ES" dirty="0"/>
              <a:t>en Angular.</a:t>
            </a:r>
          </a:p>
        </p:txBody>
      </p:sp>
    </p:spTree>
    <p:extLst>
      <p:ext uri="{BB962C8B-B14F-4D97-AF65-F5344CB8AC3E}">
        <p14:creationId xmlns:p14="http://schemas.microsoft.com/office/powerpoint/2010/main" val="511382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6CC7A-C97E-4C8A-9AB7-7C472274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Comunicación entre estructuras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FF4068E-0311-497F-8266-F0900AC59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dirty="0"/>
              <a:t>Otra situación habitual es </a:t>
            </a:r>
            <a:r>
              <a:rPr lang="es-ES" b="1" dirty="0"/>
              <a:t>comunicar la vista de negocio activa con elementos generales</a:t>
            </a:r>
            <a:r>
              <a:rPr lang="es-ES" dirty="0"/>
              <a:t> de la página. </a:t>
            </a:r>
          </a:p>
          <a:p>
            <a:pPr lvl="1" fontAlgn="base"/>
            <a:r>
              <a:rPr lang="es-ES" dirty="0"/>
              <a:t>Por ejemplo podrías querer mostrar el contador o un balance de operaciones en la barra del menú.</a:t>
            </a:r>
          </a:p>
          <a:p>
            <a:pPr fontAlgn="base"/>
            <a:r>
              <a:rPr lang="es-ES" dirty="0"/>
              <a:t>Este tipo de comunicaciones también se resuelve mediante </a:t>
            </a:r>
            <a:r>
              <a:rPr lang="es-ES" i="1" dirty="0">
                <a:solidFill>
                  <a:srgbClr val="FF0000"/>
                </a:solidFill>
              </a:rPr>
              <a:t>Observables</a:t>
            </a:r>
            <a:r>
              <a:rPr lang="es-ES" dirty="0"/>
              <a:t> y merece un capítulo especial. </a:t>
            </a:r>
          </a:p>
          <a:p>
            <a:pPr lvl="1" fontAlgn="base"/>
            <a:r>
              <a:rPr lang="es-ES" dirty="0"/>
              <a:t>Por ahora tienes una aplicación en </a:t>
            </a:r>
            <a:r>
              <a:rPr lang="es-ES" i="1" dirty="0"/>
              <a:t>Angular</a:t>
            </a:r>
            <a:r>
              <a:rPr lang="es-ES" dirty="0"/>
              <a:t> que comunica datos y cambios entre componentes de una misma página. </a:t>
            </a:r>
          </a:p>
        </p:txBody>
      </p:sp>
    </p:spTree>
    <p:extLst>
      <p:ext uri="{BB962C8B-B14F-4D97-AF65-F5344CB8AC3E}">
        <p14:creationId xmlns:p14="http://schemas.microsoft.com/office/powerpoint/2010/main" val="1127185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B681955-73F9-418E-BF99-62997CF9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Angular + .NET CORE</a:t>
            </a:r>
          </a:p>
        </p:txBody>
      </p:sp>
    </p:spTree>
    <p:extLst>
      <p:ext uri="{BB962C8B-B14F-4D97-AF65-F5344CB8AC3E}">
        <p14:creationId xmlns:p14="http://schemas.microsoft.com/office/powerpoint/2010/main" val="3760048609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7186D29-86D5-86AC-672B-7E9896B99241}"/>
              </a:ext>
            </a:extLst>
          </p:cNvPr>
          <p:cNvSpPr/>
          <p:nvPr/>
        </p:nvSpPr>
        <p:spPr>
          <a:xfrm>
            <a:off x="7847011" y="838200"/>
            <a:ext cx="3581401" cy="32004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70C4FC0-35FF-FB3D-18C2-1B8E38EC31C5}"/>
              </a:ext>
            </a:extLst>
          </p:cNvPr>
          <p:cNvSpPr/>
          <p:nvPr/>
        </p:nvSpPr>
        <p:spPr>
          <a:xfrm>
            <a:off x="8228012" y="1066799"/>
            <a:ext cx="2133600" cy="10885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ANGULAR</a:t>
            </a:r>
          </a:p>
          <a:p>
            <a:pPr algn="ctr"/>
            <a:r>
              <a:rPr lang="es-ES" dirty="0"/>
              <a:t>NPM+NG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9E18C53-E4EA-FC02-C07C-ECEE0BC81E30}"/>
              </a:ext>
            </a:extLst>
          </p:cNvPr>
          <p:cNvSpPr/>
          <p:nvPr/>
        </p:nvSpPr>
        <p:spPr>
          <a:xfrm>
            <a:off x="8228011" y="2514600"/>
            <a:ext cx="1752599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API+MVC / NET CORE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1AC57F-FA71-66F2-5E16-957720486631}"/>
              </a:ext>
            </a:extLst>
          </p:cNvPr>
          <p:cNvSpPr/>
          <p:nvPr/>
        </p:nvSpPr>
        <p:spPr>
          <a:xfrm>
            <a:off x="2034842" y="1462564"/>
            <a:ext cx="21336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ANGULAR</a:t>
            </a:r>
          </a:p>
          <a:p>
            <a:pPr algn="ctr"/>
            <a:r>
              <a:rPr lang="es-ES" dirty="0"/>
              <a:t>NPM+NG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AAEAE62-4657-B3FB-95BF-4601DC1DE3D1}"/>
              </a:ext>
            </a:extLst>
          </p:cNvPr>
          <p:cNvSpPr/>
          <p:nvPr/>
        </p:nvSpPr>
        <p:spPr>
          <a:xfrm>
            <a:off x="8357053" y="5148943"/>
            <a:ext cx="2133600" cy="1295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API MVC </a:t>
            </a:r>
          </a:p>
          <a:p>
            <a:pPr algn="ctr"/>
            <a:r>
              <a:rPr lang="es-ES" dirty="0"/>
              <a:t>NET CORE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9C5629BE-D10A-0D2B-5E21-299DF356DDBA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101642" y="2757964"/>
            <a:ext cx="0" cy="2046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BC9FB1B-7FB9-E042-7417-11A0024B6C6C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9104311" y="3810000"/>
            <a:ext cx="319542" cy="13389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A36C6CD-4FD8-A309-17EB-E14681B05022}"/>
              </a:ext>
            </a:extLst>
          </p:cNvPr>
          <p:cNvCxnSpPr>
            <a:cxnSpLocks/>
          </p:cNvCxnSpPr>
          <p:nvPr/>
        </p:nvCxnSpPr>
        <p:spPr>
          <a:xfrm>
            <a:off x="10209212" y="2149928"/>
            <a:ext cx="0" cy="29935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C76756B-6620-B6C9-695E-F34209F25041}"/>
              </a:ext>
            </a:extLst>
          </p:cNvPr>
          <p:cNvSpPr txBox="1"/>
          <p:nvPr/>
        </p:nvSpPr>
        <p:spPr>
          <a:xfrm>
            <a:off x="10625272" y="5082846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:4000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DD1AE95-9A66-F9F8-D69E-8907D4B980D4}"/>
              </a:ext>
            </a:extLst>
          </p:cNvPr>
          <p:cNvSpPr txBox="1"/>
          <p:nvPr/>
        </p:nvSpPr>
        <p:spPr>
          <a:xfrm>
            <a:off x="300841" y="2757964"/>
            <a:ext cx="1961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UserService</a:t>
            </a:r>
            <a:endParaRPr lang="es-E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s-ES" dirty="0">
              <a:highlight>
                <a:srgbClr val="FFFF00"/>
              </a:highlight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3B88656-A09A-F378-6E4A-6CD7DF5A0035}"/>
              </a:ext>
            </a:extLst>
          </p:cNvPr>
          <p:cNvSpPr txBox="1"/>
          <p:nvPr/>
        </p:nvSpPr>
        <p:spPr>
          <a:xfrm>
            <a:off x="4168442" y="1462564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:4200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FDD5CEC-FD82-36BB-01E4-4844FCC2D0B2}"/>
              </a:ext>
            </a:extLst>
          </p:cNvPr>
          <p:cNvSpPr txBox="1"/>
          <p:nvPr/>
        </p:nvSpPr>
        <p:spPr>
          <a:xfrm>
            <a:off x="10392684" y="1221156"/>
            <a:ext cx="959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:44461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7E074EC-A057-B30F-B3B4-436A088F3348}"/>
              </a:ext>
            </a:extLst>
          </p:cNvPr>
          <p:cNvSpPr txBox="1"/>
          <p:nvPr/>
        </p:nvSpPr>
        <p:spPr>
          <a:xfrm>
            <a:off x="10468884" y="2955609"/>
            <a:ext cx="959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:5260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D6DDABA-ECCA-9493-6C57-E87BC52ABE0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9104311" y="2155370"/>
            <a:ext cx="190501" cy="359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460EA6DE-4CC0-D598-2AE9-F3C22A99F7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920" t="29792" r="4482" b="54411"/>
          <a:stretch/>
        </p:blipFill>
        <p:spPr>
          <a:xfrm>
            <a:off x="636495" y="87971"/>
            <a:ext cx="5206745" cy="106118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E43E56C-632E-6F9A-58BE-BF245FDCE9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920" t="18533" r="4482" b="69037"/>
          <a:stretch/>
        </p:blipFill>
        <p:spPr>
          <a:xfrm>
            <a:off x="6932148" y="87971"/>
            <a:ext cx="4983410" cy="79921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E5AAE692-CBDC-0C53-0F6C-94408F04CA48}"/>
              </a:ext>
            </a:extLst>
          </p:cNvPr>
          <p:cNvSpPr/>
          <p:nvPr/>
        </p:nvSpPr>
        <p:spPr>
          <a:xfrm>
            <a:off x="2034842" y="4804478"/>
            <a:ext cx="2133600" cy="1295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API MVC</a:t>
            </a:r>
          </a:p>
          <a:p>
            <a:pPr algn="ctr"/>
            <a:r>
              <a:rPr lang="es-ES" dirty="0"/>
              <a:t>NET CORE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7477112-4FA9-F7AF-C956-173777C315C8}"/>
              </a:ext>
            </a:extLst>
          </p:cNvPr>
          <p:cNvSpPr txBox="1"/>
          <p:nvPr/>
        </p:nvSpPr>
        <p:spPr>
          <a:xfrm>
            <a:off x="4205089" y="4804478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:4000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C3A150D-B19F-A4E4-73E3-D650BC62D350}"/>
              </a:ext>
            </a:extLst>
          </p:cNvPr>
          <p:cNvSpPr txBox="1"/>
          <p:nvPr/>
        </p:nvSpPr>
        <p:spPr>
          <a:xfrm>
            <a:off x="3771114" y="2821907"/>
            <a:ext cx="34523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export</a:t>
            </a:r>
            <a:r>
              <a:rPr lang="es-E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const</a:t>
            </a:r>
            <a:r>
              <a:rPr lang="es-E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environment</a:t>
            </a:r>
            <a:r>
              <a:rPr lang="es-E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= {</a:t>
            </a:r>
          </a:p>
          <a:p>
            <a:r>
              <a:rPr lang="es-E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s-E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production</a:t>
            </a:r>
            <a:r>
              <a:rPr lang="es-E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: false,</a:t>
            </a:r>
          </a:p>
          <a:p>
            <a:r>
              <a:rPr lang="es-E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   </a:t>
            </a:r>
            <a:r>
              <a:rPr lang="es-E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apiUrl</a:t>
            </a:r>
            <a:r>
              <a:rPr lang="es-E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: 'http://localhost:4000'</a:t>
            </a:r>
          </a:p>
          <a:p>
            <a:r>
              <a:rPr lang="es-E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es-ES" sz="10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61FBA7-1F4C-B911-41D7-303059507C4D}"/>
              </a:ext>
            </a:extLst>
          </p:cNvPr>
          <p:cNvSpPr txBox="1"/>
          <p:nvPr/>
        </p:nvSpPr>
        <p:spPr>
          <a:xfrm>
            <a:off x="293923" y="4479471"/>
            <a:ext cx="213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UserController</a:t>
            </a:r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1A9CE07-5C5C-09CC-1B4B-9653576C2E45}"/>
              </a:ext>
            </a:extLst>
          </p:cNvPr>
          <p:cNvSpPr txBox="1"/>
          <p:nvPr/>
        </p:nvSpPr>
        <p:spPr>
          <a:xfrm>
            <a:off x="3239868" y="4383559"/>
            <a:ext cx="1274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Json+http</a:t>
            </a:r>
            <a:r>
              <a:rPr lang="es-ES" dirty="0"/>
              <a:t>/s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1F65C64-9493-3C1C-AF1A-F8D4018F5682}"/>
              </a:ext>
            </a:extLst>
          </p:cNvPr>
          <p:cNvSpPr txBox="1"/>
          <p:nvPr/>
        </p:nvSpPr>
        <p:spPr>
          <a:xfrm>
            <a:off x="2118710" y="2951397"/>
            <a:ext cx="15333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Httpclient</a:t>
            </a:r>
            <a:endParaRPr lang="es-ES" sz="12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Get</a:t>
            </a:r>
            <a:endParaRPr lang="es-ES" sz="12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Post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…</a:t>
            </a:r>
            <a:endParaRPr lang="es-ES" sz="12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D85426A-8898-CD8E-F69A-00C28FC217A8}"/>
              </a:ext>
            </a:extLst>
          </p:cNvPr>
          <p:cNvSpPr/>
          <p:nvPr/>
        </p:nvSpPr>
        <p:spPr>
          <a:xfrm>
            <a:off x="5317608" y="5143501"/>
            <a:ext cx="2133600" cy="1295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API MVC </a:t>
            </a:r>
          </a:p>
          <a:p>
            <a:pPr algn="ctr"/>
            <a:r>
              <a:rPr lang="es-ES" dirty="0"/>
              <a:t>NET CORE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D236D42-D0B5-AB22-47E3-888D84114E38}"/>
              </a:ext>
            </a:extLst>
          </p:cNvPr>
          <p:cNvSpPr txBox="1"/>
          <p:nvPr/>
        </p:nvSpPr>
        <p:spPr>
          <a:xfrm>
            <a:off x="7585827" y="5077404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:4001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015223D-4A3E-77FB-ADA0-D24E2B935108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6384408" y="3810000"/>
            <a:ext cx="2373961" cy="13335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418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17188F4-F248-B1F5-CC40-AB54AA1232B5}"/>
              </a:ext>
            </a:extLst>
          </p:cNvPr>
          <p:cNvSpPr/>
          <p:nvPr/>
        </p:nvSpPr>
        <p:spPr>
          <a:xfrm>
            <a:off x="6517367" y="331818"/>
            <a:ext cx="5368245" cy="61943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DOCKER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965831-9082-5C1D-C617-EB0A344B200D}"/>
              </a:ext>
            </a:extLst>
          </p:cNvPr>
          <p:cNvSpPr/>
          <p:nvPr/>
        </p:nvSpPr>
        <p:spPr>
          <a:xfrm>
            <a:off x="434401" y="249980"/>
            <a:ext cx="5867401" cy="61943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dirty="0"/>
              <a:t>DOCKER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186D29-86D5-86AC-672B-7E9896B99241}"/>
              </a:ext>
            </a:extLst>
          </p:cNvPr>
          <p:cNvSpPr/>
          <p:nvPr/>
        </p:nvSpPr>
        <p:spPr>
          <a:xfrm>
            <a:off x="7847012" y="838200"/>
            <a:ext cx="2895600" cy="32004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70C4FC0-35FF-FB3D-18C2-1B8E38EC31C5}"/>
              </a:ext>
            </a:extLst>
          </p:cNvPr>
          <p:cNvSpPr/>
          <p:nvPr/>
        </p:nvSpPr>
        <p:spPr>
          <a:xfrm>
            <a:off x="8228012" y="1066799"/>
            <a:ext cx="2133600" cy="10885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ANGULAR</a:t>
            </a:r>
          </a:p>
          <a:p>
            <a:pPr algn="ctr"/>
            <a:r>
              <a:rPr lang="es-ES" dirty="0"/>
              <a:t>NPM+NG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9E18C53-E4EA-FC02-C07C-ECEE0BC81E30}"/>
              </a:ext>
            </a:extLst>
          </p:cNvPr>
          <p:cNvSpPr/>
          <p:nvPr/>
        </p:nvSpPr>
        <p:spPr>
          <a:xfrm>
            <a:off x="8228012" y="2514600"/>
            <a:ext cx="1699758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NET CORE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1AC57F-FA71-66F2-5E16-957720486631}"/>
              </a:ext>
            </a:extLst>
          </p:cNvPr>
          <p:cNvSpPr/>
          <p:nvPr/>
        </p:nvSpPr>
        <p:spPr>
          <a:xfrm>
            <a:off x="967801" y="1338944"/>
            <a:ext cx="21336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ANGULAR</a:t>
            </a:r>
          </a:p>
          <a:p>
            <a:pPr algn="ctr"/>
            <a:r>
              <a:rPr lang="es-ES" dirty="0"/>
              <a:t>NPM+NG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AAEAE62-4657-B3FB-95BF-4601DC1DE3D1}"/>
              </a:ext>
            </a:extLst>
          </p:cNvPr>
          <p:cNvSpPr/>
          <p:nvPr/>
        </p:nvSpPr>
        <p:spPr>
          <a:xfrm>
            <a:off x="8357053" y="5148943"/>
            <a:ext cx="2133600" cy="1295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API NET CORE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6DA17DB-6238-B9E0-311B-184B24799482}"/>
              </a:ext>
            </a:extLst>
          </p:cNvPr>
          <p:cNvSpPr/>
          <p:nvPr/>
        </p:nvSpPr>
        <p:spPr>
          <a:xfrm>
            <a:off x="1234501" y="4813256"/>
            <a:ext cx="2133600" cy="1295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API MVC</a:t>
            </a:r>
          </a:p>
          <a:p>
            <a:pPr algn="ctr"/>
            <a:r>
              <a:rPr lang="es-ES" dirty="0"/>
              <a:t>NET CORE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BC9FB1B-7FB9-E042-7417-11A0024B6C6C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9077891" y="3810000"/>
            <a:ext cx="345962" cy="1338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285CF022-B409-7769-3EED-A549D5AD974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9077891" y="2155370"/>
            <a:ext cx="216921" cy="359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A36C6CD-4FD8-A309-17EB-E14681B05022}"/>
              </a:ext>
            </a:extLst>
          </p:cNvPr>
          <p:cNvCxnSpPr>
            <a:cxnSpLocks/>
          </p:cNvCxnSpPr>
          <p:nvPr/>
        </p:nvCxnSpPr>
        <p:spPr>
          <a:xfrm>
            <a:off x="10209212" y="2155370"/>
            <a:ext cx="0" cy="2993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A015BB2-9758-2D29-3228-7A23A7E3BED4}"/>
              </a:ext>
            </a:extLst>
          </p:cNvPr>
          <p:cNvSpPr txBox="1"/>
          <p:nvPr/>
        </p:nvSpPr>
        <p:spPr>
          <a:xfrm>
            <a:off x="3431605" y="4719387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:4000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C76756B-6620-B6C9-695E-F34209F25041}"/>
              </a:ext>
            </a:extLst>
          </p:cNvPr>
          <p:cNvSpPr txBox="1"/>
          <p:nvPr/>
        </p:nvSpPr>
        <p:spPr>
          <a:xfrm>
            <a:off x="10625272" y="5082846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:4000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7D39E3B-C97B-46FC-0A83-214D49EF3DC1}"/>
              </a:ext>
            </a:extLst>
          </p:cNvPr>
          <p:cNvSpPr txBox="1"/>
          <p:nvPr/>
        </p:nvSpPr>
        <p:spPr>
          <a:xfrm>
            <a:off x="3165926" y="1985062"/>
            <a:ext cx="3069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export</a:t>
            </a:r>
            <a:r>
              <a:rPr lang="es-E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const</a:t>
            </a:r>
            <a:r>
              <a:rPr lang="es-E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environment</a:t>
            </a:r>
            <a:r>
              <a:rPr lang="es-E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= {</a:t>
            </a:r>
          </a:p>
          <a:p>
            <a:r>
              <a:rPr lang="es-E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s-ES" sz="1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production</a:t>
            </a:r>
            <a:r>
              <a:rPr lang="es-E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: false,</a:t>
            </a:r>
          </a:p>
          <a:p>
            <a:r>
              <a:rPr lang="es-E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   </a:t>
            </a:r>
            <a:r>
              <a:rPr lang="es-E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apiUrl</a:t>
            </a:r>
            <a:r>
              <a:rPr lang="es-E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: 'http://localhost:4000'</a:t>
            </a:r>
          </a:p>
          <a:p>
            <a:r>
              <a:rPr lang="es-E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es-ES" sz="10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3B88656-A09A-F378-6E4A-6CD7DF5A0035}"/>
              </a:ext>
            </a:extLst>
          </p:cNvPr>
          <p:cNvSpPr txBox="1"/>
          <p:nvPr/>
        </p:nvSpPr>
        <p:spPr>
          <a:xfrm>
            <a:off x="3246906" y="1360715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:4200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AC706E1-BA6A-EE52-EE37-3BDD2051D2A8}"/>
              </a:ext>
            </a:extLst>
          </p:cNvPr>
          <p:cNvSpPr/>
          <p:nvPr/>
        </p:nvSpPr>
        <p:spPr>
          <a:xfrm>
            <a:off x="2340529" y="4573708"/>
            <a:ext cx="1044758" cy="4170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/>
              <a:t>CONTENEDOR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973D21B-24FA-9AD9-A487-FC0A355C1272}"/>
              </a:ext>
            </a:extLst>
          </p:cNvPr>
          <p:cNvSpPr/>
          <p:nvPr/>
        </p:nvSpPr>
        <p:spPr>
          <a:xfrm>
            <a:off x="2209722" y="1194569"/>
            <a:ext cx="896795" cy="406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/>
              <a:t>CONTENEDOR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8CD6AD1-8FC1-DB42-1B89-C6758B58A5E2}"/>
              </a:ext>
            </a:extLst>
          </p:cNvPr>
          <p:cNvSpPr/>
          <p:nvPr/>
        </p:nvSpPr>
        <p:spPr>
          <a:xfrm>
            <a:off x="384285" y="249980"/>
            <a:ext cx="1961015" cy="468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ORQUESTADOR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AAC4BD6-350B-3901-A496-445C5755DCA1}"/>
              </a:ext>
            </a:extLst>
          </p:cNvPr>
          <p:cNvSpPr txBox="1"/>
          <p:nvPr/>
        </p:nvSpPr>
        <p:spPr>
          <a:xfrm>
            <a:off x="3456810" y="5519598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80, 443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7B2D5B7-1D55-3157-387A-4286ABBF8491}"/>
              </a:ext>
            </a:extLst>
          </p:cNvPr>
          <p:cNvSpPr txBox="1"/>
          <p:nvPr/>
        </p:nvSpPr>
        <p:spPr>
          <a:xfrm>
            <a:off x="2427282" y="6189004"/>
            <a:ext cx="3048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ENTRYPOINT</a:t>
            </a:r>
            <a:r>
              <a:rPr lang="es-E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s-E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s-E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dotnet</a:t>
            </a:r>
            <a:r>
              <a:rPr lang="es-E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s-E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s-E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"WebApi.dll"</a:t>
            </a:r>
            <a:r>
              <a:rPr lang="es-E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  <a:endParaRPr lang="es-ES" sz="105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2CF3BF5-7F96-49AE-0F59-A5970711D252}"/>
              </a:ext>
            </a:extLst>
          </p:cNvPr>
          <p:cNvSpPr txBox="1"/>
          <p:nvPr/>
        </p:nvSpPr>
        <p:spPr>
          <a:xfrm>
            <a:off x="300841" y="2757964"/>
            <a:ext cx="1961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UserService</a:t>
            </a:r>
            <a:endParaRPr lang="es-E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s-ES" dirty="0">
              <a:highlight>
                <a:srgbClr val="FFFF00"/>
              </a:highlight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B249866-7606-62A2-B7CF-D4E5A95BEE16}"/>
              </a:ext>
            </a:extLst>
          </p:cNvPr>
          <p:cNvSpPr txBox="1"/>
          <p:nvPr/>
        </p:nvSpPr>
        <p:spPr>
          <a:xfrm>
            <a:off x="293923" y="4479471"/>
            <a:ext cx="213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UserController</a:t>
            </a:r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34A0836-20E2-4437-36B0-A56BD3151ED5}"/>
              </a:ext>
            </a:extLst>
          </p:cNvPr>
          <p:cNvSpPr txBox="1"/>
          <p:nvPr/>
        </p:nvSpPr>
        <p:spPr>
          <a:xfrm>
            <a:off x="2118710" y="2951397"/>
            <a:ext cx="1312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Httpclient</a:t>
            </a:r>
            <a:endParaRPr lang="es-ES" sz="12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Get</a:t>
            </a:r>
            <a:endParaRPr lang="es-ES" sz="12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Post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…</a:t>
            </a:r>
            <a:endParaRPr lang="es-ES" sz="1200" dirty="0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FB8D5E51-C535-F1FC-7DEE-3EE65236CAB5}"/>
              </a:ext>
            </a:extLst>
          </p:cNvPr>
          <p:cNvCxnSpPr/>
          <p:nvPr/>
        </p:nvCxnSpPr>
        <p:spPr>
          <a:xfrm>
            <a:off x="2240736" y="2710857"/>
            <a:ext cx="0" cy="2046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C03689E-4991-3EEE-302D-3FFC83194E10}"/>
              </a:ext>
            </a:extLst>
          </p:cNvPr>
          <p:cNvSpPr txBox="1"/>
          <p:nvPr/>
        </p:nvSpPr>
        <p:spPr>
          <a:xfrm>
            <a:off x="1872820" y="2710857"/>
            <a:ext cx="480998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ENTRYPOINT</a:t>
            </a:r>
            <a:r>
              <a:rPr lang="es-E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s-E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“</a:t>
            </a:r>
            <a:r>
              <a:rPr lang="es-E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npm</a:t>
            </a:r>
            <a:r>
              <a:rPr lang="es-E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 run"</a:t>
            </a:r>
            <a:r>
              <a:rPr lang="es-E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s-E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“</a:t>
            </a:r>
            <a:r>
              <a:rPr lang="es-E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start</a:t>
            </a:r>
            <a:r>
              <a:rPr lang="es-E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 –</a:t>
            </a:r>
            <a:r>
              <a:rPr lang="es-E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configuration</a:t>
            </a:r>
            <a:r>
              <a:rPr lang="es-E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es-E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production</a:t>
            </a:r>
            <a:r>
              <a:rPr lang="es-E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s-E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  <a:endParaRPr lang="es-ES" sz="1050" dirty="0"/>
          </a:p>
        </p:txBody>
      </p:sp>
    </p:spTree>
    <p:extLst>
      <p:ext uri="{BB962C8B-B14F-4D97-AF65-F5344CB8AC3E}">
        <p14:creationId xmlns:p14="http://schemas.microsoft.com/office/powerpoint/2010/main" val="156943111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Personalizado 1">
      <a:dk1>
        <a:srgbClr val="1B1D39"/>
      </a:dk1>
      <a:lt1>
        <a:sysClr val="window" lastClr="FFFFFF"/>
      </a:lt1>
      <a:dk2>
        <a:srgbClr val="F5C200"/>
      </a:dk2>
      <a:lt2>
        <a:srgbClr val="E7E6E6"/>
      </a:lt2>
      <a:accent1>
        <a:srgbClr val="F5C200"/>
      </a:accent1>
      <a:accent2>
        <a:srgbClr val="1B1D39"/>
      </a:accent2>
      <a:accent3>
        <a:srgbClr val="A5A5A5"/>
      </a:accent3>
      <a:accent4>
        <a:srgbClr val="FFC000"/>
      </a:accent4>
      <a:accent5>
        <a:srgbClr val="F5C200"/>
      </a:accent5>
      <a:accent6>
        <a:srgbClr val="F5C200"/>
      </a:accent6>
      <a:hlink>
        <a:srgbClr val="0563C1"/>
      </a:hlink>
      <a:folHlink>
        <a:srgbClr val="954F72"/>
      </a:folHlink>
    </a:clrScheme>
    <a:fontScheme name="TecnoFor">
      <a:majorFont>
        <a:latin typeface="Lexend Bold"/>
        <a:ea typeface="Helvetica"/>
        <a:cs typeface="Helvetica"/>
      </a:majorFont>
      <a:minorFont>
        <a:latin typeface="Lexend"/>
        <a:ea typeface="Arial"/>
        <a:cs typeface="Arial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76200">
          <a:solidFill>
            <a:srgbClr val="1C1E3B"/>
          </a:solidFill>
          <a:extLst>
            <a:ext uri="{C807C97D-BFC1-408E-A445-0C87EB9F89A2}">
              <ask:lineSketchStyleProps xmlns:ask="http://schemas.microsoft.com/office/drawing/2018/sketchyshapes">
                <ask:type>
                  <ask:lineSketchNone/>
                </ask:type>
              </ask:lineSketchStyleProps>
            </a:ext>
          </a:extLst>
        </a:ln>
      </a:spPr>
      <a:bodyPr lIns="72000" tIns="36000" rIns="72000" bIns="36000" rtlCol="0" anchor="ctr" anchorCtr="1"/>
      <a:lstStyle>
        <a:defPPr algn="ctr">
          <a:defRPr sz="4000" dirty="0">
            <a:solidFill>
              <a:srgbClr val="1C1E3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1831</Words>
  <Application>Microsoft Office PowerPoint</Application>
  <PresentationFormat>Personalizado</PresentationFormat>
  <Paragraphs>286</Paragraphs>
  <Slides>28</Slides>
  <Notes>5</Notes>
  <HiddenSlides>6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9" baseType="lpstr">
      <vt:lpstr>Arial</vt:lpstr>
      <vt:lpstr>Calibri</vt:lpstr>
      <vt:lpstr>Cascadia Mono</vt:lpstr>
      <vt:lpstr>Consolas</vt:lpstr>
      <vt:lpstr>inherit</vt:lpstr>
      <vt:lpstr>Lexend</vt:lpstr>
      <vt:lpstr>Lexend Bold</vt:lpstr>
      <vt:lpstr>Lexend Light</vt:lpstr>
      <vt:lpstr>Open Sans</vt:lpstr>
      <vt:lpstr>Source Code Pro</vt:lpstr>
      <vt:lpstr>1_Tema de Office</vt:lpstr>
      <vt:lpstr>Angular Flujo de datos</vt:lpstr>
      <vt:lpstr>Flujo de datos</vt:lpstr>
      <vt:lpstr>Comunicación entre componentes</vt:lpstr>
      <vt:lpstr>Comunicación entre componentes</vt:lpstr>
      <vt:lpstr>Un controlador y múltiples presentadores</vt:lpstr>
      <vt:lpstr>Controlador y presentadores</vt:lpstr>
      <vt:lpstr>Presentación de PowerPoint</vt:lpstr>
      <vt:lpstr>Presentación de PowerPoint</vt:lpstr>
      <vt:lpstr>@Input()</vt:lpstr>
      <vt:lpstr>@Input()</vt:lpstr>
      <vt:lpstr>@Input()</vt:lpstr>
      <vt:lpstr>@Output()</vt:lpstr>
      <vt:lpstr>@Output()</vt:lpstr>
      <vt:lpstr>@Output()</vt:lpstr>
      <vt:lpstr>@Output()</vt:lpstr>
      <vt:lpstr>@Output()</vt:lpstr>
      <vt:lpstr>@Output()</vt:lpstr>
      <vt:lpstr>@Output()</vt:lpstr>
      <vt:lpstr>@Input() + @Output() = </vt:lpstr>
      <vt:lpstr>Múltiples controladores</vt:lpstr>
      <vt:lpstr>Múltiples controladores</vt:lpstr>
      <vt:lpstr>Presentación de PowerPoint</vt:lpstr>
      <vt:lpstr>Otras comunicaciones</vt:lpstr>
      <vt:lpstr>Comunicación entre distintas páginas</vt:lpstr>
      <vt:lpstr>Comunicación entre estructuras</vt:lpstr>
      <vt:lpstr>Angular + .NET CORE</vt:lpstr>
      <vt:lpstr>Presentación de PowerPoint</vt:lpstr>
      <vt:lpstr>Presentación de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>Software Development Course</dc:subject>
  <dc:creator/>
  <cp:keywords>Template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2023-10-05T07:36:17Z</dcterms:modified>
  <cp:category>Template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