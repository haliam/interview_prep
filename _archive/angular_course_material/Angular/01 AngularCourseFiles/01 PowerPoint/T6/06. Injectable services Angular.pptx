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44" r:id="rId2"/>
  </p:sldMasterIdLst>
  <p:notesMasterIdLst>
    <p:notesMasterId r:id="rId26"/>
  </p:notesMasterIdLst>
  <p:handoutMasterIdLst>
    <p:handoutMasterId r:id="rId27"/>
  </p:handoutMasterIdLst>
  <p:sldIdLst>
    <p:sldId id="609" r:id="rId3"/>
    <p:sldId id="751" r:id="rId4"/>
    <p:sldId id="752" r:id="rId5"/>
    <p:sldId id="741" r:id="rId6"/>
    <p:sldId id="742" r:id="rId7"/>
    <p:sldId id="769" r:id="rId8"/>
    <p:sldId id="743" r:id="rId9"/>
    <p:sldId id="762" r:id="rId10"/>
    <p:sldId id="763" r:id="rId11"/>
    <p:sldId id="753" r:id="rId12"/>
    <p:sldId id="764" r:id="rId13"/>
    <p:sldId id="765" r:id="rId14"/>
    <p:sldId id="755" r:id="rId15"/>
    <p:sldId id="756" r:id="rId16"/>
    <p:sldId id="757" r:id="rId17"/>
    <p:sldId id="768" r:id="rId18"/>
    <p:sldId id="770" r:id="rId19"/>
    <p:sldId id="758" r:id="rId20"/>
    <p:sldId id="766" r:id="rId21"/>
    <p:sldId id="767" r:id="rId22"/>
    <p:sldId id="759" r:id="rId23"/>
    <p:sldId id="761" r:id="rId24"/>
    <p:sldId id="760" r:id="rId25"/>
  </p:sldIdLst>
  <p:sldSz cx="12188825"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8D4357-E11A-4DE5-81E4-49C6B73B5D81}">
          <p14:sldIdLst>
            <p14:sldId id="609"/>
            <p14:sldId id="751"/>
            <p14:sldId id="752"/>
            <p14:sldId id="741"/>
            <p14:sldId id="742"/>
            <p14:sldId id="769"/>
            <p14:sldId id="743"/>
            <p14:sldId id="762"/>
            <p14:sldId id="763"/>
            <p14:sldId id="753"/>
            <p14:sldId id="764"/>
            <p14:sldId id="765"/>
            <p14:sldId id="755"/>
            <p14:sldId id="756"/>
            <p14:sldId id="757"/>
            <p14:sldId id="768"/>
            <p14:sldId id="770"/>
            <p14:sldId id="758"/>
            <p14:sldId id="766"/>
            <p14:sldId id="767"/>
            <p14:sldId id="759"/>
            <p14:sldId id="761"/>
            <p14:sldId id="760"/>
          </p14:sldIdLst>
        </p14:section>
        <p14:section name="Resume" id="{4C6CD7CE-4C5C-4256-BE95-6EC46516E444}">
          <p14:sldIdLst/>
        </p14:section>
        <p14:section name="Summary" id="{1888D697-2B49-43A6-BDC2-719250E583B8}">
          <p14:sldIdLst/>
        </p14:section>
      </p14:sectionLst>
    </p:ex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7CC"/>
    <a:srgbClr val="FDFFFF"/>
    <a:srgbClr val="FFA72A"/>
    <a:srgbClr val="FFF0D9"/>
    <a:srgbClr val="F0F5FA"/>
    <a:srgbClr val="1A8AFA"/>
    <a:srgbClr val="603A14"/>
    <a:srgbClr val="E85C0E"/>
    <a:srgbClr val="BAB398"/>
    <a:srgbClr val="ADA485"/>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6140" autoAdjust="0"/>
  </p:normalViewPr>
  <p:slideViewPr>
    <p:cSldViewPr>
      <p:cViewPr varScale="1">
        <p:scale>
          <a:sx n="106" d="100"/>
          <a:sy n="106" d="100"/>
        </p:scale>
        <p:origin x="636" y="114"/>
      </p:cViewPr>
      <p:guideLst>
        <p:guide orient="horz" pos="2160"/>
        <p:guide pos="3839"/>
      </p:guideLst>
    </p:cSldViewPr>
  </p:slideViewPr>
  <p:outlineViewPr>
    <p:cViewPr>
      <p:scale>
        <a:sx n="33" d="100"/>
        <a:sy n="33" d="100"/>
      </p:scale>
      <p:origin x="0" y="-10282"/>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6" d="100"/>
          <a:sy n="66" d="100"/>
        </p:scale>
        <p:origin x="3134"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252000"/>
          </a:xfrm>
          <a:prstGeom prst="rect">
            <a:avLst/>
          </a:prstGeom>
        </p:spPr>
        <p:txBody>
          <a:bodyPr vert="horz" lIns="91440" tIns="45720" rIns="91440" bIns="45720" rtlCol="0"/>
          <a:lstStyle>
            <a:lvl1pPr algn="r">
              <a:defRPr sz="1200"/>
            </a:lvl1pPr>
          </a:lstStyle>
          <a:p>
            <a:fld id="{FE5B4EDC-59C0-49C7-8ADA-5A781B329E02}" type="datetimeFigureOut">
              <a:rPr lang="en-US"/>
              <a:pPr/>
              <a:t>6/14/2023</a:t>
            </a:fld>
            <a:endParaRPr dirty="0"/>
          </a:p>
        </p:txBody>
      </p:sp>
      <p:sp>
        <p:nvSpPr>
          <p:cNvPr id="4" name="Footer Placeholder 3"/>
          <p:cNvSpPr>
            <a:spLocks noGrp="1"/>
          </p:cNvSpPr>
          <p:nvPr>
            <p:ph type="ftr" sz="quarter" idx="2"/>
          </p:nvPr>
        </p:nvSpPr>
        <p:spPr>
          <a:xfrm>
            <a:off x="0" y="8747999"/>
            <a:ext cx="6165000" cy="394413"/>
          </a:xfrm>
          <a:prstGeom prst="rect">
            <a:avLst/>
          </a:prstGeom>
        </p:spPr>
        <p:txBody>
          <a:bodyPr vert="horz" lIns="91440" tIns="45720" rIns="91440" bIns="45720" rtlCol="0" anchor="b"/>
          <a:lstStyle>
            <a:lvl1pPr algn="l">
              <a:defRPr sz="12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endParaRPr sz="1000" dirty="0"/>
          </a:p>
        </p:txBody>
      </p:sp>
      <p:sp>
        <p:nvSpPr>
          <p:cNvPr id="5" name="Slide Number Placeholder 4"/>
          <p:cNvSpPr>
            <a:spLocks noGrp="1"/>
          </p:cNvSpPr>
          <p:nvPr>
            <p:ph type="sldNum" sz="quarter" idx="3"/>
          </p:nvPr>
        </p:nvSpPr>
        <p:spPr>
          <a:xfrm>
            <a:off x="6165000" y="8748000"/>
            <a:ext cx="691412" cy="394412"/>
          </a:xfrm>
          <a:prstGeom prst="rect">
            <a:avLst/>
          </a:prstGeom>
        </p:spPr>
        <p:txBody>
          <a:bodyPr vert="horz" lIns="91440" tIns="45720" rIns="91440" bIns="45720" rtlCol="0" anchor="b"/>
          <a:lstStyle>
            <a:lvl1pPr algn="r">
              <a:defRPr sz="1200"/>
            </a:lvl1pPr>
          </a:lstStyle>
          <a:p>
            <a:fld id="{79429053-DC2A-4342-ADD4-2FD729D91E2C}" type="slidenum">
              <a:rPr sz="1000"/>
              <a:pPr/>
              <a:t>‹Nº›</a:t>
            </a:fld>
            <a:endParaRPr sz="1000"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000"/>
            </a:lvl1pPr>
          </a:lstStyle>
          <a:p>
            <a:endParaRPr lang="en-US" dirty="0"/>
          </a:p>
        </p:txBody>
      </p:sp>
      <p:sp>
        <p:nvSpPr>
          <p:cNvPr id="3" name="Date Placeholder 2"/>
          <p:cNvSpPr>
            <a:spLocks noGrp="1"/>
          </p:cNvSpPr>
          <p:nvPr>
            <p:ph type="dt" idx="1"/>
          </p:nvPr>
        </p:nvSpPr>
        <p:spPr>
          <a:xfrm>
            <a:off x="3884613" y="0"/>
            <a:ext cx="2971800" cy="252000"/>
          </a:xfrm>
          <a:prstGeom prst="rect">
            <a:avLst/>
          </a:prstGeom>
        </p:spPr>
        <p:txBody>
          <a:bodyPr vert="horz" lIns="91440" tIns="45720" rIns="91440" bIns="45720" rtlCol="0"/>
          <a:lstStyle>
            <a:lvl1pPr algn="r">
              <a:defRPr sz="1000"/>
            </a:lvl1pPr>
          </a:lstStyle>
          <a:p>
            <a:fld id="{F2D8D46A-B586-417D-BFBD-8C8FE0AAF762}" type="datetimeFigureOut">
              <a:rPr lang="en-US" smtClean="0"/>
              <a:pPr/>
              <a:t>6/14/2023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381000" y="4343400"/>
            <a:ext cx="6096000" cy="41148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p>
        </p:txBody>
      </p:sp>
      <p:sp>
        <p:nvSpPr>
          <p:cNvPr id="7" name="Slide Number Placeholder 6"/>
          <p:cNvSpPr>
            <a:spLocks noGrp="1"/>
          </p:cNvSpPr>
          <p:nvPr>
            <p:ph type="sldNum" sz="quarter" idx="5"/>
          </p:nvPr>
        </p:nvSpPr>
        <p:spPr>
          <a:xfrm>
            <a:off x="6308999" y="8747999"/>
            <a:ext cx="547413" cy="394413"/>
          </a:xfrm>
          <a:prstGeom prst="rect">
            <a:avLst/>
          </a:prstGeom>
        </p:spPr>
        <p:txBody>
          <a:bodyPr vert="horz" lIns="91440" tIns="45720" rIns="91440" bIns="45720" rtlCol="0" anchor="b"/>
          <a:lstStyle>
            <a:lvl1pPr algn="r">
              <a:defRPr sz="1000"/>
            </a:lvl1pPr>
          </a:lstStyle>
          <a:p>
            <a:fld id="{3EBA5BD7-F043-4D1B-AA17-CD412FC534DE}" type="slidenum">
              <a:rPr lang="en-US" smtClean="0"/>
              <a:pPr/>
              <a:t>‹Nº›</a:t>
            </a:fld>
            <a:endParaRPr lang="en-US"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hf hdr="0" dt="0"/>
  <p:notesStyle>
    <a:lvl1pPr marL="0" algn="l" defTabSz="1218987" rtl="0" eaLnBrk="1" latinLnBrk="0" hangingPunct="1">
      <a:defRPr sz="1600" kern="1200">
        <a:solidFill>
          <a:schemeClr val="tx1"/>
        </a:solidFill>
        <a:latin typeface="+mn-lt"/>
        <a:ea typeface="+mn-ea"/>
        <a:cs typeface="+mn-cs"/>
      </a:defRPr>
    </a:lvl1pPr>
    <a:lvl2pPr marL="177800" indent="0" algn="l" defTabSz="1218987" rtl="0" eaLnBrk="1" latinLnBrk="0" hangingPunct="1">
      <a:defRPr sz="1600" kern="1200">
        <a:solidFill>
          <a:schemeClr val="tx1"/>
        </a:solidFill>
        <a:latin typeface="+mn-lt"/>
        <a:ea typeface="+mn-ea"/>
        <a:cs typeface="+mn-cs"/>
      </a:defRPr>
    </a:lvl2pPr>
    <a:lvl3pPr marL="361950" indent="0" algn="l" defTabSz="1218987" rtl="0" eaLnBrk="1" latinLnBrk="0" hangingPunct="1">
      <a:defRPr sz="1600" kern="1200">
        <a:solidFill>
          <a:schemeClr val="tx1"/>
        </a:solidFill>
        <a:latin typeface="+mn-lt"/>
        <a:ea typeface="+mn-ea"/>
        <a:cs typeface="+mn-cs"/>
      </a:defRPr>
    </a:lvl3pPr>
    <a:lvl4pPr marL="539750" indent="0" algn="l" defTabSz="1218987" rtl="0" eaLnBrk="1" latinLnBrk="0" hangingPunct="1">
      <a:defRPr sz="1600" kern="1200">
        <a:solidFill>
          <a:schemeClr val="tx1"/>
        </a:solidFill>
        <a:latin typeface="+mn-lt"/>
        <a:ea typeface="+mn-ea"/>
        <a:cs typeface="+mn-cs"/>
      </a:defRPr>
    </a:lvl4pPr>
    <a:lvl5pPr marL="717550" indent="0"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46FA6BEF-0D01-42CD-AF49-6C72D33EA441}" type="slidenum">
              <a:rPr lang="en-US" smtClean="0"/>
              <a:t>1</a:t>
            </a:fld>
            <a:endParaRPr lang="en-US"/>
          </a:p>
        </p:txBody>
      </p:sp>
    </p:spTree>
    <p:extLst>
      <p:ext uri="{BB962C8B-B14F-4D97-AF65-F5344CB8AC3E}">
        <p14:creationId xmlns:p14="http://schemas.microsoft.com/office/powerpoint/2010/main" val="2300126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s-ES" dirty="0"/>
              <a:t>Partiendo de la aplicación tal cómo quedó en </a:t>
            </a:r>
            <a:r>
              <a:rPr lang="es-ES" b="1" dirty="0"/>
              <a:t>Flujo de datos entre componentes </a:t>
            </a:r>
            <a:r>
              <a:rPr lang="es-ES" dirty="0"/>
              <a:t>Angular. Al finalizar tendrás una aplicación que comunica componentes entre páginas, reparte responsabilidades y gestiona claramente sus dependencias.</a:t>
            </a:r>
          </a:p>
          <a:p>
            <a:endParaRPr lang="es-ES" dirty="0"/>
          </a:p>
        </p:txBody>
      </p:sp>
      <p:sp>
        <p:nvSpPr>
          <p:cNvPr id="4" name="Marcador de pie de página 3"/>
          <p:cNvSpPr>
            <a:spLocks noGrp="1"/>
          </p:cNvSpPr>
          <p:nvPr>
            <p:ph type="ftr" sz="quarter" idx="4"/>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5"/>
          </p:nvPr>
        </p:nvSpPr>
        <p:spPr/>
        <p:txBody>
          <a:bodyPr/>
          <a:lstStyle/>
          <a:p>
            <a:fld id="{3EBA5BD7-F043-4D1B-AA17-CD412FC534DE}" type="slidenum">
              <a:rPr lang="en-US" smtClean="0"/>
              <a:pPr/>
              <a:t>3</a:t>
            </a:fld>
            <a:endParaRPr lang="en-US" dirty="0"/>
          </a:p>
        </p:txBody>
      </p:sp>
    </p:spTree>
    <p:extLst>
      <p:ext uri="{BB962C8B-B14F-4D97-AF65-F5344CB8AC3E}">
        <p14:creationId xmlns:p14="http://schemas.microsoft.com/office/powerpoint/2010/main" val="131494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s-ES" dirty="0"/>
              <a:t>Ahora verás cómo funciona la </a:t>
            </a:r>
            <a:r>
              <a:rPr lang="es-ES" i="1" dirty="0" err="1"/>
              <a:t>Dependency</a:t>
            </a:r>
            <a:r>
              <a:rPr lang="es-ES" i="1" dirty="0"/>
              <a:t> </a:t>
            </a:r>
            <a:r>
              <a:rPr lang="es-ES" i="1" dirty="0" err="1"/>
              <a:t>Inyection</a:t>
            </a:r>
            <a:r>
              <a:rPr lang="es-ES" i="1" dirty="0"/>
              <a:t> </a:t>
            </a:r>
            <a:r>
              <a:rPr lang="es-ES" dirty="0"/>
              <a:t>en Angular.</a:t>
            </a:r>
          </a:p>
          <a:p>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10</a:t>
            </a:fld>
            <a:endParaRPr lang="en-US" dirty="0"/>
          </a:p>
        </p:txBody>
      </p:sp>
    </p:spTree>
    <p:extLst>
      <p:ext uri="{BB962C8B-B14F-4D97-AF65-F5344CB8AC3E}">
        <p14:creationId xmlns:p14="http://schemas.microsoft.com/office/powerpoint/2010/main" val="3563012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s-ES" dirty="0"/>
              <a:t>Normalmente si el servicio es para un sólo módulo funcional se provee en este y nada más. Algunos servicios de uso común se proveen en el módulo raíz, garantizando así su disponibilidad en cualquier otro módulo de la aplicación.</a:t>
            </a:r>
            <a:endParaRPr lang="es-ES" b="1" dirty="0"/>
          </a:p>
          <a:p>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15</a:t>
            </a:fld>
            <a:endParaRPr lang="en-US" dirty="0"/>
          </a:p>
        </p:txBody>
      </p:sp>
    </p:spTree>
    <p:extLst>
      <p:ext uri="{BB962C8B-B14F-4D97-AF65-F5344CB8AC3E}">
        <p14:creationId xmlns:p14="http://schemas.microsoft.com/office/powerpoint/2010/main" val="4104473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22</a:t>
            </a:fld>
            <a:endParaRPr lang="en-US" dirty="0"/>
          </a:p>
        </p:txBody>
      </p:sp>
    </p:spTree>
    <p:extLst>
      <p:ext uri="{BB962C8B-B14F-4D97-AF65-F5344CB8AC3E}">
        <p14:creationId xmlns:p14="http://schemas.microsoft.com/office/powerpoint/2010/main" val="18629534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arátula limpia">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6901E58-A1D8-A10A-D9D8-CE1515AF66D5}"/>
              </a:ext>
            </a:extLst>
          </p:cNvPr>
          <p:cNvSpPr/>
          <p:nvPr/>
        </p:nvSpPr>
        <p:spPr>
          <a:xfrm>
            <a:off x="5158485" y="1"/>
            <a:ext cx="7030341" cy="6858000"/>
          </a:xfrm>
          <a:prstGeom prst="rect">
            <a:avLst/>
          </a:prstGeom>
          <a:solidFill>
            <a:srgbClr val="1B1D3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indent="0" algn="ctr" defTabSz="1218834" rtl="0" fontAlgn="auto" latinLnBrk="0" hangingPunct="0">
              <a:lnSpc>
                <a:spcPct val="100000"/>
              </a:lnSpc>
              <a:spcBef>
                <a:spcPts val="0"/>
              </a:spcBef>
              <a:spcAft>
                <a:spcPts val="0"/>
              </a:spcAft>
              <a:buClrTx/>
              <a:buSzTx/>
              <a:buFontTx/>
              <a:buNone/>
              <a:tabLst/>
            </a:pPr>
            <a:endParaRPr kumimoji="0" lang="es-ES" sz="1799" b="0" i="0" u="none" strike="noStrike" cap="none" spc="0" normalizeH="0" baseline="0" dirty="0">
              <a:ln>
                <a:noFill/>
              </a:ln>
              <a:solidFill>
                <a:srgbClr val="000000"/>
              </a:solidFill>
              <a:effectLst/>
              <a:uFillTx/>
              <a:latin typeface="+mn-lt"/>
              <a:ea typeface="+mn-ea"/>
              <a:cs typeface="+mn-cs"/>
              <a:sym typeface="Arial"/>
            </a:endParaRPr>
          </a:p>
        </p:txBody>
      </p:sp>
      <p:sp>
        <p:nvSpPr>
          <p:cNvPr id="2" name="Title 1"/>
          <p:cNvSpPr>
            <a:spLocks noGrp="1"/>
          </p:cNvSpPr>
          <p:nvPr>
            <p:ph type="ctrTitle"/>
          </p:nvPr>
        </p:nvSpPr>
        <p:spPr>
          <a:xfrm>
            <a:off x="6111927" y="2003899"/>
            <a:ext cx="5759538" cy="2879387"/>
          </a:xfrm>
        </p:spPr>
        <p:txBody>
          <a:bodyPr anchor="ctr" anchorCtr="1">
            <a:noAutofit/>
          </a:bodyPr>
          <a:lstStyle>
            <a:lvl1pPr algn="ctr">
              <a:defRPr sz="3999">
                <a:solidFill>
                  <a:schemeClr val="bg1"/>
                </a:solidFill>
              </a:defRPr>
            </a:lvl1pPr>
          </a:lstStyle>
          <a:p>
            <a:r>
              <a:rPr lang="es-ES"/>
              <a:t>Haga clic para modificar el estilo de título del patrón</a:t>
            </a:r>
            <a:endParaRPr lang="en-US" dirty="0"/>
          </a:p>
        </p:txBody>
      </p:sp>
      <p:pic>
        <p:nvPicPr>
          <p:cNvPr id="8" name="techie.png" descr="techie.png">
            <a:extLst>
              <a:ext uri="{FF2B5EF4-FFF2-40B4-BE49-F238E27FC236}">
                <a16:creationId xmlns:a16="http://schemas.microsoft.com/office/drawing/2014/main" id="{1153B63E-98A5-BBEE-9C6B-1057BEDC76E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8100000">
            <a:off x="4306441" y="2849298"/>
            <a:ext cx="1336200" cy="1336548"/>
          </a:xfrm>
          <a:prstGeom prst="rect">
            <a:avLst/>
          </a:prstGeom>
          <a:ln w="12700">
            <a:miter lim="400000"/>
          </a:ln>
        </p:spPr>
      </p:pic>
      <p:pic>
        <p:nvPicPr>
          <p:cNvPr id="11" name="LOGO-FINAL.png" descr="LOGO-FINAL.png">
            <a:extLst>
              <a:ext uri="{FF2B5EF4-FFF2-40B4-BE49-F238E27FC236}">
                <a16:creationId xmlns:a16="http://schemas.microsoft.com/office/drawing/2014/main" id="{40C008DC-BE4A-D4B5-81FB-D8FC4CA2A7F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17362" y="3037100"/>
            <a:ext cx="3933202" cy="783803"/>
          </a:xfrm>
          <a:prstGeom prst="rect">
            <a:avLst/>
          </a:prstGeom>
          <a:ln w="12700">
            <a:miter lim="400000"/>
          </a:ln>
        </p:spPr>
      </p:pic>
    </p:spTree>
    <p:extLst>
      <p:ext uri="{BB962C8B-B14F-4D97-AF65-F5344CB8AC3E}">
        <p14:creationId xmlns:p14="http://schemas.microsoft.com/office/powerpoint/2010/main" val="161601475"/>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arátula con imagen">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6901E58-A1D8-A10A-D9D8-CE1515AF66D5}"/>
              </a:ext>
            </a:extLst>
          </p:cNvPr>
          <p:cNvSpPr/>
          <p:nvPr/>
        </p:nvSpPr>
        <p:spPr>
          <a:xfrm>
            <a:off x="5158485" y="-8466"/>
            <a:ext cx="7030341" cy="6858000"/>
          </a:xfrm>
          <a:prstGeom prst="rect">
            <a:avLst/>
          </a:prstGeom>
          <a:solidFill>
            <a:srgbClr val="1B1D3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indent="0" algn="l" defTabSz="1218834" rtl="0" fontAlgn="auto" latinLnBrk="0" hangingPunct="0">
              <a:lnSpc>
                <a:spcPct val="100000"/>
              </a:lnSpc>
              <a:spcBef>
                <a:spcPts val="0"/>
              </a:spcBef>
              <a:spcAft>
                <a:spcPts val="0"/>
              </a:spcAft>
              <a:buClrTx/>
              <a:buSzTx/>
              <a:buFontTx/>
              <a:buNone/>
              <a:tabLst/>
            </a:pPr>
            <a:endParaRPr kumimoji="0" lang="es-ES" sz="1799" b="0" i="0" u="none" strike="noStrike" cap="none" spc="0" normalizeH="0" baseline="0" dirty="0">
              <a:ln>
                <a:noFill/>
              </a:ln>
              <a:solidFill>
                <a:srgbClr val="000000"/>
              </a:solidFill>
              <a:effectLst/>
              <a:uFillTx/>
              <a:latin typeface="+mn-lt"/>
              <a:ea typeface="+mn-ea"/>
              <a:cs typeface="+mn-cs"/>
              <a:sym typeface="Arial"/>
            </a:endParaRPr>
          </a:p>
        </p:txBody>
      </p:sp>
      <p:sp>
        <p:nvSpPr>
          <p:cNvPr id="2" name="Title 1"/>
          <p:cNvSpPr>
            <a:spLocks noGrp="1"/>
          </p:cNvSpPr>
          <p:nvPr>
            <p:ph type="ctrTitle"/>
          </p:nvPr>
        </p:nvSpPr>
        <p:spPr>
          <a:xfrm>
            <a:off x="6111927" y="2003899"/>
            <a:ext cx="5759538" cy="2879387"/>
          </a:xfrm>
        </p:spPr>
        <p:txBody>
          <a:bodyPr anchor="ctr" anchorCtr="1">
            <a:noAutofit/>
          </a:bodyPr>
          <a:lstStyle>
            <a:lvl1pPr algn="ctr">
              <a:defRPr sz="3999">
                <a:solidFill>
                  <a:schemeClr val="bg1"/>
                </a:solidFill>
              </a:defRPr>
            </a:lvl1pPr>
          </a:lstStyle>
          <a:p>
            <a:r>
              <a:rPr lang="es-ES"/>
              <a:t>Haga clic para modificar el estilo de título del patrón</a:t>
            </a:r>
            <a:endParaRPr lang="en-US" dirty="0"/>
          </a:p>
        </p:txBody>
      </p:sp>
      <p:pic>
        <p:nvPicPr>
          <p:cNvPr id="8" name="techie.png" descr="techie.png">
            <a:extLst>
              <a:ext uri="{FF2B5EF4-FFF2-40B4-BE49-F238E27FC236}">
                <a16:creationId xmlns:a16="http://schemas.microsoft.com/office/drawing/2014/main" id="{1153B63E-98A5-BBEE-9C6B-1057BEDC76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8100000">
            <a:off x="4306441" y="2849298"/>
            <a:ext cx="1336200" cy="1336548"/>
          </a:xfrm>
          <a:prstGeom prst="rect">
            <a:avLst/>
          </a:prstGeom>
          <a:ln w="12700">
            <a:miter lim="400000"/>
          </a:ln>
        </p:spPr>
      </p:pic>
      <p:pic>
        <p:nvPicPr>
          <p:cNvPr id="5" name="Imagen 4" descr="Dibujo en blanco y negro&#10;&#10;Descripción generada automáticamente con confianza baja">
            <a:extLst>
              <a:ext uri="{FF2B5EF4-FFF2-40B4-BE49-F238E27FC236}">
                <a16:creationId xmlns:a16="http://schemas.microsoft.com/office/drawing/2014/main" id="{64B3FB7A-0102-D659-3C30-C1C4C3659A5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62983" y="5840440"/>
            <a:ext cx="2457425" cy="469081"/>
          </a:xfrm>
          <a:prstGeom prst="rect">
            <a:avLst/>
          </a:prstGeom>
        </p:spPr>
      </p:pic>
      <p:pic>
        <p:nvPicPr>
          <p:cNvPr id="6" name="Imagen 5" descr="Dibujo en blanco y negro&#10;&#10;Descripción generada automáticamente con confianza baja">
            <a:extLst>
              <a:ext uri="{FF2B5EF4-FFF2-40B4-BE49-F238E27FC236}">
                <a16:creationId xmlns:a16="http://schemas.microsoft.com/office/drawing/2014/main" id="{E0D610C9-30BB-C209-BCCA-3BCE95C72D7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762983" y="5840440"/>
            <a:ext cx="2457425" cy="469081"/>
          </a:xfrm>
          <a:prstGeom prst="rect">
            <a:avLst/>
          </a:prstGeom>
        </p:spPr>
      </p:pic>
    </p:spTree>
    <p:extLst>
      <p:ext uri="{BB962C8B-B14F-4D97-AF65-F5344CB8AC3E}">
        <p14:creationId xmlns:p14="http://schemas.microsoft.com/office/powerpoint/2010/main" val="3879907236"/>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parador">
    <p:bg>
      <p:bgPr>
        <a:solidFill>
          <a:srgbClr val="1C1E3B"/>
        </a:solidFill>
        <a:effectLst/>
      </p:bgPr>
    </p:bg>
    <p:spTree>
      <p:nvGrpSpPr>
        <p:cNvPr id="1" name=""/>
        <p:cNvGrpSpPr/>
        <p:nvPr/>
      </p:nvGrpSpPr>
      <p:grpSpPr>
        <a:xfrm>
          <a:off x="0" y="0"/>
          <a:ext cx="0" cy="0"/>
          <a:chOff x="0" y="0"/>
          <a:chExt cx="0" cy="0"/>
        </a:xfrm>
      </p:grpSpPr>
      <p:pic>
        <p:nvPicPr>
          <p:cNvPr id="7" name="Imagen 6" descr="Dibujo en blanco y negro&#10;&#10;Descripción generada automáticamente con confianza baja">
            <a:extLst>
              <a:ext uri="{FF2B5EF4-FFF2-40B4-BE49-F238E27FC236}">
                <a16:creationId xmlns:a16="http://schemas.microsoft.com/office/drawing/2014/main" id="{AE9D3631-5A5C-021D-E659-1D384017DBB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7468" y="6329921"/>
            <a:ext cx="1345323" cy="256799"/>
          </a:xfrm>
          <a:prstGeom prst="rect">
            <a:avLst/>
          </a:prstGeom>
        </p:spPr>
      </p:pic>
      <p:sp>
        <p:nvSpPr>
          <p:cNvPr id="4" name="Google Shape;48;p8">
            <a:extLst>
              <a:ext uri="{FF2B5EF4-FFF2-40B4-BE49-F238E27FC236}">
                <a16:creationId xmlns:a16="http://schemas.microsoft.com/office/drawing/2014/main" id="{3F57A50C-DED0-9A4A-F7C8-CD569FF06F43}"/>
              </a:ext>
            </a:extLst>
          </p:cNvPr>
          <p:cNvSpPr/>
          <p:nvPr/>
        </p:nvSpPr>
        <p:spPr>
          <a:xfrm>
            <a:off x="950719" y="-69"/>
            <a:ext cx="10287322" cy="685800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599" y="0"/>
                </a:lnTo>
                <a:lnTo>
                  <a:pt x="21600" y="0"/>
                </a:lnTo>
                <a:lnTo>
                  <a:pt x="18001" y="21600"/>
                </a:lnTo>
                <a:close/>
              </a:path>
            </a:pathLst>
          </a:custGeom>
          <a:solidFill>
            <a:srgbClr val="FFFFFF"/>
          </a:solidFill>
          <a:ln w="12700">
            <a:miter lim="400000"/>
          </a:ln>
        </p:spPr>
        <p:txBody>
          <a:bodyPr lIns="0" tIns="0" rIns="0" bIns="0" anchor="ctr"/>
          <a:lstStyle/>
          <a:p>
            <a:pPr algn="ctr"/>
            <a:endParaRPr sz="1799" dirty="0"/>
          </a:p>
        </p:txBody>
      </p:sp>
      <p:pic>
        <p:nvPicPr>
          <p:cNvPr id="5" name="techie.png" descr="techie.png">
            <a:extLst>
              <a:ext uri="{FF2B5EF4-FFF2-40B4-BE49-F238E27FC236}">
                <a16:creationId xmlns:a16="http://schemas.microsoft.com/office/drawing/2014/main" id="{4B8A62A0-CE43-5FE0-5996-117855E8780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7818" y="775699"/>
            <a:ext cx="1180194" cy="1180501"/>
          </a:xfrm>
          <a:prstGeom prst="rect">
            <a:avLst/>
          </a:prstGeom>
          <a:ln w="12700">
            <a:miter lim="400000"/>
          </a:ln>
        </p:spPr>
      </p:pic>
      <p:pic>
        <p:nvPicPr>
          <p:cNvPr id="6" name="techie.png" descr="techie.png">
            <a:extLst>
              <a:ext uri="{FF2B5EF4-FFF2-40B4-BE49-F238E27FC236}">
                <a16:creationId xmlns:a16="http://schemas.microsoft.com/office/drawing/2014/main" id="{F34A3DA2-C704-C58B-4D16-8D97BC00AAB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9102611" y="4975166"/>
            <a:ext cx="1180194" cy="1180501"/>
          </a:xfrm>
          <a:prstGeom prst="rect">
            <a:avLst/>
          </a:prstGeom>
          <a:ln w="12700">
            <a:miter lim="400000"/>
          </a:ln>
        </p:spPr>
      </p:pic>
      <p:sp>
        <p:nvSpPr>
          <p:cNvPr id="2" name="Título 1">
            <a:extLst>
              <a:ext uri="{FF2B5EF4-FFF2-40B4-BE49-F238E27FC236}">
                <a16:creationId xmlns:a16="http://schemas.microsoft.com/office/drawing/2014/main" id="{DF3F2153-8EA8-5CEA-0F22-9F81F24795A9}"/>
              </a:ext>
            </a:extLst>
          </p:cNvPr>
          <p:cNvSpPr>
            <a:spLocks noGrp="1"/>
          </p:cNvSpPr>
          <p:nvPr>
            <p:ph type="title"/>
          </p:nvPr>
        </p:nvSpPr>
        <p:spPr>
          <a:xfrm>
            <a:off x="2359931" y="1268413"/>
            <a:ext cx="7444903" cy="1349282"/>
          </a:xfrm>
        </p:spPr>
        <p:txBody>
          <a:bodyPr anchor="ctr" anchorCtr="1">
            <a:normAutofit/>
          </a:bodyPr>
          <a:lstStyle>
            <a:lvl1pPr algn="ctr">
              <a:defRPr sz="3299"/>
            </a:lvl1pPr>
          </a:lstStyle>
          <a:p>
            <a:r>
              <a:rPr lang="es-ES"/>
              <a:t>Haga clic para modificar el estilo de título del patrón</a:t>
            </a:r>
            <a:endParaRPr lang="es-ES" dirty="0"/>
          </a:p>
        </p:txBody>
      </p:sp>
    </p:spTree>
    <p:extLst>
      <p:ext uri="{BB962C8B-B14F-4D97-AF65-F5344CB8AC3E}">
        <p14:creationId xmlns:p14="http://schemas.microsoft.com/office/powerpoint/2010/main" val="31103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21244-DF76-B9A4-1238-3157FB6751F3}"/>
              </a:ext>
            </a:extLst>
          </p:cNvPr>
          <p:cNvSpPr>
            <a:spLocks noGrp="1"/>
          </p:cNvSpPr>
          <p:nvPr>
            <p:ph type="title"/>
          </p:nvPr>
        </p:nvSpPr>
        <p:spPr>
          <a:xfrm>
            <a:off x="608012" y="457201"/>
            <a:ext cx="11201400" cy="533400"/>
          </a:xfrm>
          <a:prstGeom prst="rect">
            <a:avLst/>
          </a:prstGeom>
        </p:spPr>
        <p:txBody>
          <a:bodyPr/>
          <a:lstStyle/>
          <a:p>
            <a:r>
              <a:rPr lang="es-ES" dirty="0"/>
              <a:t>Haga clic para modificar el estilo de título del patrón</a:t>
            </a:r>
            <a:endParaRPr lang="en-US" dirty="0"/>
          </a:p>
        </p:txBody>
      </p:sp>
      <p:sp>
        <p:nvSpPr>
          <p:cNvPr id="5" name="Content Placeholder 2">
            <a:extLst>
              <a:ext uri="{FF2B5EF4-FFF2-40B4-BE49-F238E27FC236}">
                <a16:creationId xmlns:a16="http://schemas.microsoft.com/office/drawing/2014/main" id="{386D7AF6-E8C0-B5DD-B9A1-3CA8783711BC}"/>
              </a:ext>
            </a:extLst>
          </p:cNvPr>
          <p:cNvSpPr>
            <a:spLocks noGrp="1"/>
          </p:cNvSpPr>
          <p:nvPr>
            <p:ph idx="1"/>
          </p:nvPr>
        </p:nvSpPr>
        <p:spPr>
          <a:xfrm>
            <a:off x="608012" y="1066800"/>
            <a:ext cx="11201400" cy="5448300"/>
          </a:xfrm>
        </p:spPr>
        <p:txBody>
          <a:bodyPr/>
          <a:lstStyle>
            <a:lvl1pPr>
              <a:buFont typeface="Arial" panose="020B0604020202020204" pitchFamily="34" charset="0"/>
              <a:buChar char="•"/>
              <a:defRPr sz="2399">
                <a:solidFill>
                  <a:schemeClr val="accent2">
                    <a:lumMod val="75000"/>
                  </a:schemeClr>
                </a:solidFill>
              </a:defRPr>
            </a:lvl1pPr>
            <a:lvl2pPr>
              <a:buFont typeface="Arial" panose="020B0604020202020204" pitchFamily="34" charset="0"/>
              <a:buChar char="•"/>
              <a:defRPr sz="1999">
                <a:solidFill>
                  <a:schemeClr val="accent2">
                    <a:lumMod val="75000"/>
                  </a:schemeClr>
                </a:solidFill>
              </a:defRPr>
            </a:lvl2pPr>
            <a:lvl3pPr>
              <a:buFont typeface="Arial" panose="020B0604020202020204" pitchFamily="34" charset="0"/>
              <a:buChar char="•"/>
              <a:defRPr sz="1799">
                <a:solidFill>
                  <a:schemeClr val="accent2">
                    <a:lumMod val="75000"/>
                  </a:schemeClr>
                </a:solidFill>
              </a:defRPr>
            </a:lvl3pPr>
            <a:lvl4pPr>
              <a:buFont typeface="Arial" panose="020B0604020202020204" pitchFamily="34" charset="0"/>
              <a:buChar char="•"/>
              <a:defRPr sz="1600">
                <a:solidFill>
                  <a:schemeClr val="accent2">
                    <a:lumMod val="75000"/>
                  </a:schemeClr>
                </a:solidFill>
              </a:defRPr>
            </a:lvl4pPr>
            <a:lvl5pPr>
              <a:buFont typeface="Arial" panose="020B0604020202020204" pitchFamily="34" charset="0"/>
              <a:buChar char="•"/>
              <a:defRPr sz="1400">
                <a:solidFill>
                  <a:schemeClr val="accent2">
                    <a:lumMod val="75000"/>
                  </a:schemeClr>
                </a:solidFill>
              </a:defRPr>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157267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2833" y="4406902"/>
            <a:ext cx="10360501" cy="1362075"/>
          </a:xfrm>
          <a:prstGeom prst="rect">
            <a:avLst/>
          </a:prstGeom>
        </p:spPr>
        <p:txBody>
          <a:bodyPr/>
          <a:lstStyle>
            <a:lvl1pPr algn="l">
              <a:defRPr sz="3999" b="1" cap="all"/>
            </a:lvl1p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962833" y="2906713"/>
            <a:ext cx="10360501" cy="1500187"/>
          </a:xfrm>
          <a:prstGeom prst="rect">
            <a:avLst/>
          </a:prstGeom>
        </p:spPr>
        <p:txBody>
          <a:bodyPr anchor="b"/>
          <a:lstStyle>
            <a:lvl1pPr marL="0" indent="0">
              <a:buNone/>
              <a:defRPr sz="1999"/>
            </a:lvl1pPr>
            <a:lvl2pPr marL="457063" indent="0">
              <a:buNone/>
              <a:defRPr sz="1799"/>
            </a:lvl2pPr>
            <a:lvl3pPr marL="914126" indent="0">
              <a:buNone/>
              <a:defRPr sz="1600"/>
            </a:lvl3pPr>
            <a:lvl4pPr marL="1371189" indent="0">
              <a:buNone/>
              <a:defRPr sz="1400"/>
            </a:lvl4pPr>
            <a:lvl5pPr marL="1828251" indent="0">
              <a:buNone/>
              <a:defRPr sz="1400"/>
            </a:lvl5pPr>
            <a:lvl6pPr marL="2285314" indent="0">
              <a:buNone/>
              <a:defRPr sz="1400"/>
            </a:lvl6pPr>
            <a:lvl7pPr marL="2742377" indent="0">
              <a:buNone/>
              <a:defRPr sz="1400"/>
            </a:lvl7pPr>
            <a:lvl8pPr marL="3199440" indent="0">
              <a:buNone/>
              <a:defRPr sz="1400"/>
            </a:lvl8pPr>
            <a:lvl9pPr marL="3656503"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967985535"/>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25682E51-C6CE-76F7-769C-C200EAF00254}"/>
              </a:ext>
            </a:extLst>
          </p:cNvPr>
          <p:cNvSpPr/>
          <p:nvPr userDrawn="1"/>
        </p:nvSpPr>
        <p:spPr>
          <a:xfrm>
            <a:off x="-1" y="0"/>
            <a:ext cx="12188825" cy="6858000"/>
          </a:xfrm>
          <a:custGeom>
            <a:avLst/>
            <a:gdLst/>
            <a:ahLst/>
            <a:cxnLst/>
            <a:rect l="l" t="t" r="r" b="b"/>
            <a:pathLst>
              <a:path w="13004800" h="9753600">
                <a:moveTo>
                  <a:pt x="0" y="0"/>
                </a:moveTo>
                <a:lnTo>
                  <a:pt x="13004800" y="0"/>
                </a:lnTo>
                <a:lnTo>
                  <a:pt x="13004800" y="9753600"/>
                </a:lnTo>
                <a:lnTo>
                  <a:pt x="0" y="9753600"/>
                </a:lnTo>
                <a:lnTo>
                  <a:pt x="0" y="0"/>
                </a:lnTo>
                <a:close/>
              </a:path>
            </a:pathLst>
          </a:custGeom>
          <a:solidFill>
            <a:srgbClr val="393939"/>
          </a:solidFill>
        </p:spPr>
        <p:txBody>
          <a:bodyPr wrap="square" lIns="0" tIns="0" rIns="0" bIns="0" rtlCol="0"/>
          <a:lstStyle/>
          <a:p>
            <a:endParaRPr sz="1266"/>
          </a:p>
        </p:txBody>
      </p:sp>
    </p:spTree>
    <p:extLst>
      <p:ext uri="{BB962C8B-B14F-4D97-AF65-F5344CB8AC3E}">
        <p14:creationId xmlns:p14="http://schemas.microsoft.com/office/powerpoint/2010/main" val="417664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1">
    <p:bg>
      <p:bgRef idx="1001">
        <a:schemeClr val="bg2"/>
      </p:bgRef>
    </p:bg>
    <p:spTree>
      <p:nvGrpSpPr>
        <p:cNvPr id="1" name=""/>
        <p:cNvGrpSpPr/>
        <p:nvPr/>
      </p:nvGrpSpPr>
      <p:grpSpPr>
        <a:xfrm>
          <a:off x="0" y="0"/>
          <a:ext cx="0" cy="0"/>
          <a:chOff x="0" y="0"/>
          <a:chExt cx="0" cy="0"/>
        </a:xfrm>
      </p:grpSpPr>
      <p:sp>
        <p:nvSpPr>
          <p:cNvPr id="13" name="Title 1"/>
          <p:cNvSpPr>
            <a:spLocks noGrp="1"/>
          </p:cNvSpPr>
          <p:nvPr>
            <p:ph type="title" hasCustomPrompt="1"/>
          </p:nvPr>
        </p:nvSpPr>
        <p:spPr>
          <a:xfrm>
            <a:off x="543006" y="2084187"/>
            <a:ext cx="5551407" cy="1793090"/>
          </a:xfrm>
          <a:noFill/>
        </p:spPr>
        <p:txBody>
          <a:bodyPr lIns="146304" tIns="91440" rIns="146304" bIns="91440" anchor="t" anchorCtr="0"/>
          <a:lstStyle>
            <a:lvl1pPr>
              <a:defRPr lang="en-US" dirty="0">
                <a:solidFill>
                  <a:schemeClr val="bg1">
                    <a:lumMod val="90000"/>
                    <a:lumOff val="10000"/>
                  </a:schemeClr>
                </a:solidFill>
              </a:defRPr>
            </a:lvl1pPr>
          </a:lstStyle>
          <a:p>
            <a:r>
              <a:rPr lang="en-US" dirty="0"/>
              <a:t>Presentation title</a:t>
            </a:r>
          </a:p>
        </p:txBody>
      </p:sp>
      <p:sp>
        <p:nvSpPr>
          <p:cNvPr id="14" name="Text Placeholder 4"/>
          <p:cNvSpPr>
            <a:spLocks noGrp="1"/>
          </p:cNvSpPr>
          <p:nvPr>
            <p:ph type="body" sz="quarter" idx="12" hasCustomPrompt="1"/>
          </p:nvPr>
        </p:nvSpPr>
        <p:spPr>
          <a:xfrm>
            <a:off x="543006" y="3878574"/>
            <a:ext cx="5551408" cy="1792326"/>
          </a:xfrm>
          <a:noFill/>
        </p:spPr>
        <p:txBody>
          <a:bodyPr lIns="146304" tIns="109728" rIns="146304" bIns="109728">
            <a:noAutofit/>
          </a:bodyPr>
          <a:lstStyle>
            <a:lvl1pPr marL="0" indent="0">
              <a:spcBef>
                <a:spcPts val="0"/>
              </a:spcBef>
              <a:buNone/>
              <a:defRPr lang="en-US" dirty="0">
                <a:solidFill>
                  <a:schemeClr val="bg1">
                    <a:lumMod val="90000"/>
                    <a:lumOff val="10000"/>
                  </a:schemeClr>
                </a:solidFill>
              </a:defRPr>
            </a:lvl1pPr>
          </a:lstStyle>
          <a:p>
            <a:pPr lvl="0"/>
            <a:r>
              <a:rPr lang="en-US" dirty="0"/>
              <a:t>Speaker Name</a:t>
            </a:r>
          </a:p>
        </p:txBody>
      </p:sp>
    </p:spTree>
    <p:extLst>
      <p:ext uri="{BB962C8B-B14F-4D97-AF65-F5344CB8AC3E}">
        <p14:creationId xmlns:p14="http://schemas.microsoft.com/office/powerpoint/2010/main" val="1169973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7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idx="1" hasCustomPrompt="1"/>
          </p:nvPr>
        </p:nvSpPr>
        <p:spPr>
          <a:xfrm>
            <a:off x="190413" y="1151121"/>
            <a:ext cx="11804822" cy="5570355"/>
          </a:xfrm>
        </p:spPr>
        <p:txBody>
          <a:bodyPr/>
          <a:lstStyle>
            <a:lvl1pPr>
              <a:defRPr sz="3400">
                <a:solidFill>
                  <a:srgbClr val="444444"/>
                </a:solidFill>
              </a:defRPr>
            </a:lvl1pPr>
            <a:lvl2pPr>
              <a:defRPr sz="3200">
                <a:solidFill>
                  <a:srgbClr val="444444"/>
                </a:solidFill>
              </a:defRPr>
            </a:lvl2pPr>
            <a:lvl3pPr>
              <a:defRPr sz="3000">
                <a:solidFill>
                  <a:srgbClr val="444444"/>
                </a:solidFill>
              </a:defRPr>
            </a:lvl3pPr>
            <a:lvl4pPr>
              <a:defRPr sz="2800">
                <a:solidFill>
                  <a:srgbClr val="444444"/>
                </a:solidFill>
              </a:defRPr>
            </a:lvl4pPr>
            <a:lvl5pPr>
              <a:defRPr sz="2600">
                <a:solidFill>
                  <a:srgbClr val="444444"/>
                </a:solidFill>
              </a:defRPr>
            </a:lvl5pPr>
            <a:lvl6pPr>
              <a:defRPr/>
            </a:lvl6pPr>
            <a:lvl7pPr>
              <a:defRPr/>
            </a:lvl7pPr>
            <a:lvl8pPr>
              <a:defRPr/>
            </a:lvl8pPr>
            <a:lvl9pPr>
              <a:defRPr/>
            </a:lvl9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2" name="Title 1"/>
          <p:cNvSpPr>
            <a:spLocks noGrp="1"/>
          </p:cNvSpPr>
          <p:nvPr>
            <p:ph type="title" hasCustomPrompt="1"/>
          </p:nvPr>
        </p:nvSpPr>
        <p:spPr>
          <a:xfrm>
            <a:off x="188815" y="40341"/>
            <a:ext cx="11804822" cy="1110780"/>
          </a:xfrm>
        </p:spPr>
        <p:txBody>
          <a:bodyPr/>
          <a:lstStyle>
            <a:lvl1pPr>
              <a:defRPr>
                <a:solidFill>
                  <a:srgbClr val="444444"/>
                </a:solidFill>
                <a:effectLst/>
              </a:defRPr>
            </a:lvl1pPr>
          </a:lstStyle>
          <a:p>
            <a:r>
              <a:rPr lang="en-US" dirty="0"/>
              <a:t>Slide Title</a:t>
            </a:r>
            <a:endParaRPr dirty="0"/>
          </a:p>
        </p:txBody>
      </p:sp>
    </p:spTree>
    <p:extLst>
      <p:ext uri="{BB962C8B-B14F-4D97-AF65-F5344CB8AC3E}">
        <p14:creationId xmlns:p14="http://schemas.microsoft.com/office/powerpoint/2010/main" val="1331111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74E8B-8D72-4460-AA08-577B92352323}"/>
              </a:ext>
            </a:extLst>
          </p:cNvPr>
          <p:cNvSpPr>
            <a:spLocks noGrp="1"/>
          </p:cNvSpPr>
          <p:nvPr>
            <p:ph type="title"/>
          </p:nvPr>
        </p:nvSpPr>
        <p:spPr/>
        <p:txBody>
          <a:bodyPr/>
          <a:lstStyle>
            <a:lvl1pPr>
              <a:defRPr>
                <a:solidFill>
                  <a:srgbClr val="444444"/>
                </a:solidFill>
              </a:defRPr>
            </a:lvl1pPr>
          </a:lstStyle>
          <a:p>
            <a:r>
              <a:rPr lang="es-ES"/>
              <a:t>Haga clic para modificar el estilo de título del patrón</a:t>
            </a:r>
          </a:p>
        </p:txBody>
      </p:sp>
    </p:spTree>
    <p:extLst>
      <p:ext uri="{BB962C8B-B14F-4D97-AF65-F5344CB8AC3E}">
        <p14:creationId xmlns:p14="http://schemas.microsoft.com/office/powerpoint/2010/main" val="56848982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62" b="1" i="0">
                <a:solidFill>
                  <a:srgbClr val="393939"/>
                </a:solidFill>
                <a:latin typeface="Trebuchet MS"/>
                <a:cs typeface="Trebuchet MS"/>
              </a:defRPr>
            </a:lvl1pPr>
          </a:lstStyle>
          <a:p>
            <a:endParaRPr/>
          </a:p>
        </p:txBody>
      </p:sp>
      <p:sp>
        <p:nvSpPr>
          <p:cNvPr id="3" name="Holder 3"/>
          <p:cNvSpPr>
            <a:spLocks noGrp="1"/>
          </p:cNvSpPr>
          <p:nvPr>
            <p:ph sz="half" idx="2"/>
          </p:nvPr>
        </p:nvSpPr>
        <p:spPr>
          <a:xfrm>
            <a:off x="609441" y="1577340"/>
            <a:ext cx="5302139" cy="38767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7245" y="1577340"/>
            <a:ext cx="5302139" cy="38767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extLst>
      <p:ext uri="{BB962C8B-B14F-4D97-AF65-F5344CB8AC3E}">
        <p14:creationId xmlns:p14="http://schemas.microsoft.com/office/powerpoint/2010/main" val="3686303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4619" y="1268412"/>
            <a:ext cx="11299332" cy="486092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9" name="LOGO-FINAL.png" descr="LOGO-FINAL.png">
            <a:extLst>
              <a:ext uri="{FF2B5EF4-FFF2-40B4-BE49-F238E27FC236}">
                <a16:creationId xmlns:a16="http://schemas.microsoft.com/office/drawing/2014/main" id="{FD1127DC-3633-9F91-EAC6-DF84F02D8D8F}"/>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0466564" y="6323743"/>
            <a:ext cx="1391279" cy="277252"/>
          </a:xfrm>
          <a:prstGeom prst="rect">
            <a:avLst/>
          </a:prstGeom>
          <a:ln w="12700">
            <a:miter lim="400000"/>
          </a:ln>
        </p:spPr>
      </p:pic>
      <p:pic>
        <p:nvPicPr>
          <p:cNvPr id="10" name="techie.png" descr="techie.png">
            <a:extLst>
              <a:ext uri="{FF2B5EF4-FFF2-40B4-BE49-F238E27FC236}">
                <a16:creationId xmlns:a16="http://schemas.microsoft.com/office/drawing/2014/main" id="{E9C3B265-6261-C31F-6626-0F2960C3D376}"/>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335670" y="206462"/>
            <a:ext cx="437900" cy="438014"/>
          </a:xfrm>
          <a:prstGeom prst="rect">
            <a:avLst/>
          </a:prstGeom>
          <a:ln w="12700">
            <a:miter lim="400000"/>
          </a:ln>
        </p:spPr>
      </p:pic>
      <p:sp>
        <p:nvSpPr>
          <p:cNvPr id="2" name="Title Placeholder 1"/>
          <p:cNvSpPr>
            <a:spLocks noGrp="1"/>
          </p:cNvSpPr>
          <p:nvPr>
            <p:ph type="title"/>
          </p:nvPr>
        </p:nvSpPr>
        <p:spPr>
          <a:xfrm>
            <a:off x="554619" y="381000"/>
            <a:ext cx="11298538" cy="762000"/>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Tree>
    <p:extLst>
      <p:ext uri="{BB962C8B-B14F-4D97-AF65-F5344CB8AC3E}">
        <p14:creationId xmlns:p14="http://schemas.microsoft.com/office/powerpoint/2010/main" val="17362703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defTabSz="914126"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5C200"/>
        </a:buClr>
        <a:buFont typeface="Arial" panose="020B0604020202020204" pitchFamily="34" charset="0"/>
        <a:buChar char="•"/>
        <a:defRPr sz="2799" kern="1200">
          <a:solidFill>
            <a:srgbClr val="1C1E3B"/>
          </a:solidFill>
          <a:latin typeface="+mn-lt"/>
          <a:ea typeface="+mn-ea"/>
          <a:cs typeface="+mn-cs"/>
        </a:defRPr>
      </a:lvl1pPr>
      <a:lvl2pPr marL="685594" indent="-228531" algn="l" defTabSz="914126" rtl="0" eaLnBrk="1" latinLnBrk="0" hangingPunct="1">
        <a:lnSpc>
          <a:spcPct val="90000"/>
        </a:lnSpc>
        <a:spcBef>
          <a:spcPts val="500"/>
        </a:spcBef>
        <a:buClr>
          <a:srgbClr val="F5C200"/>
        </a:buClr>
        <a:buFont typeface="Arial" panose="020B0604020202020204" pitchFamily="34" charset="0"/>
        <a:buChar char="•"/>
        <a:defRPr sz="2399" kern="1200">
          <a:solidFill>
            <a:srgbClr val="1C1E3B"/>
          </a:solidFill>
          <a:latin typeface="Lexend Light" pitchFamily="2" charset="0"/>
          <a:ea typeface="+mn-ea"/>
          <a:cs typeface="+mn-cs"/>
        </a:defRPr>
      </a:lvl2pPr>
      <a:lvl3pPr marL="1142657" indent="-228531" algn="l" defTabSz="914126" rtl="0" eaLnBrk="1" latinLnBrk="0" hangingPunct="1">
        <a:lnSpc>
          <a:spcPct val="90000"/>
        </a:lnSpc>
        <a:spcBef>
          <a:spcPts val="500"/>
        </a:spcBef>
        <a:buClr>
          <a:srgbClr val="F5C200"/>
        </a:buClr>
        <a:buFont typeface="Arial" panose="020B0604020202020204" pitchFamily="34" charset="0"/>
        <a:buChar char="•"/>
        <a:defRPr sz="1999" kern="1200">
          <a:solidFill>
            <a:srgbClr val="1C1E3B"/>
          </a:solidFill>
          <a:latin typeface="Lexend Light" pitchFamily="2" charset="0"/>
          <a:ea typeface="+mn-ea"/>
          <a:cs typeface="+mn-cs"/>
        </a:defRPr>
      </a:lvl3pPr>
      <a:lvl4pPr marL="1599720" indent="-228531" algn="l" defTabSz="914126" rtl="0" eaLnBrk="1" latinLnBrk="0" hangingPunct="1">
        <a:lnSpc>
          <a:spcPct val="90000"/>
        </a:lnSpc>
        <a:spcBef>
          <a:spcPts val="500"/>
        </a:spcBef>
        <a:buClr>
          <a:srgbClr val="F5C200"/>
        </a:buClr>
        <a:buFont typeface="Arial" panose="020B0604020202020204" pitchFamily="34" charset="0"/>
        <a:buChar char="•"/>
        <a:defRPr sz="1799" kern="1200">
          <a:solidFill>
            <a:srgbClr val="1C1E3B"/>
          </a:solidFill>
          <a:latin typeface="Lexend Light" pitchFamily="2" charset="0"/>
          <a:ea typeface="+mn-ea"/>
          <a:cs typeface="+mn-cs"/>
        </a:defRPr>
      </a:lvl4pPr>
      <a:lvl5pPr marL="2056783" indent="-228531" algn="l" defTabSz="914126" rtl="0" eaLnBrk="1" latinLnBrk="0" hangingPunct="1">
        <a:lnSpc>
          <a:spcPct val="90000"/>
        </a:lnSpc>
        <a:spcBef>
          <a:spcPts val="500"/>
        </a:spcBef>
        <a:buClr>
          <a:srgbClr val="F5C200"/>
        </a:buClr>
        <a:buFont typeface="Arial" panose="020B0604020202020204" pitchFamily="34" charset="0"/>
        <a:buChar char="•"/>
        <a:defRPr sz="1799" kern="1200">
          <a:solidFill>
            <a:srgbClr val="1C1E3B"/>
          </a:solidFill>
          <a:latin typeface="Lexend Light" pitchFamily="2"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45">
          <p15:clr>
            <a:srgbClr val="F26B43"/>
          </p15:clr>
        </p15:guide>
        <p15:guide id="2" pos="423">
          <p15:clr>
            <a:srgbClr val="F26B43"/>
          </p15:clr>
        </p15:guide>
        <p15:guide id="3" pos="14938">
          <p15:clr>
            <a:srgbClr val="F26B43"/>
          </p15:clr>
        </p15:guide>
        <p15:guide id="4" orient="horz" pos="1598">
          <p15:clr>
            <a:srgbClr val="F26B43"/>
          </p15:clr>
        </p15:guide>
        <p15:guide id="5" orient="horz" pos="794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es.wikipedia.org/wiki/Singleton"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b="1"/>
              <a:t>Angular</a:t>
            </a:r>
            <a:br>
              <a:rPr lang="en-US" b="1" dirty="0"/>
            </a:br>
            <a:r>
              <a:rPr lang="es-ES" dirty="0"/>
              <a:t>Servicios inyectables</a:t>
            </a:r>
            <a:endParaRPr lang="en-US" b="1" dirty="0"/>
          </a:p>
        </p:txBody>
      </p:sp>
    </p:spTree>
    <p:extLst>
      <p:ext uri="{BB962C8B-B14F-4D97-AF65-F5344CB8AC3E}">
        <p14:creationId xmlns:p14="http://schemas.microsoft.com/office/powerpoint/2010/main" val="13708454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CA5459B-A43D-4CAE-B715-7B23CA9A80DA}"/>
              </a:ext>
            </a:extLst>
          </p:cNvPr>
          <p:cNvSpPr>
            <a:spLocks noGrp="1"/>
          </p:cNvSpPr>
          <p:nvPr>
            <p:ph type="title"/>
          </p:nvPr>
        </p:nvSpPr>
        <p:spPr/>
        <p:txBody>
          <a:bodyPr/>
          <a:lstStyle/>
          <a:p>
            <a:r>
              <a:rPr lang="es-ES"/>
              <a:t>Servicios inyectables</a:t>
            </a:r>
            <a:endParaRPr lang="es-ES" dirty="0"/>
          </a:p>
        </p:txBody>
      </p:sp>
    </p:spTree>
    <p:extLst>
      <p:ext uri="{BB962C8B-B14F-4D97-AF65-F5344CB8AC3E}">
        <p14:creationId xmlns:p14="http://schemas.microsoft.com/office/powerpoint/2010/main" val="1121258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3F7BA69-A6A3-4301-8EAD-E130AF2073AC}"/>
              </a:ext>
            </a:extLst>
          </p:cNvPr>
          <p:cNvSpPr>
            <a:spLocks noGrp="1"/>
          </p:cNvSpPr>
          <p:nvPr>
            <p:ph type="title"/>
          </p:nvPr>
        </p:nvSpPr>
        <p:spPr/>
        <p:txBody>
          <a:bodyPr>
            <a:normAutofit fontScale="90000"/>
          </a:bodyPr>
          <a:lstStyle/>
          <a:p>
            <a:r>
              <a:rPr lang="es-ES" dirty="0"/>
              <a:t>Servicios inyectables en Angular</a:t>
            </a:r>
          </a:p>
        </p:txBody>
      </p:sp>
      <p:sp>
        <p:nvSpPr>
          <p:cNvPr id="5" name="Marcador de contenido 4">
            <a:extLst>
              <a:ext uri="{FF2B5EF4-FFF2-40B4-BE49-F238E27FC236}">
                <a16:creationId xmlns:a16="http://schemas.microsoft.com/office/drawing/2014/main" id="{12305174-E74C-454E-9EE5-0656DC166948}"/>
              </a:ext>
            </a:extLst>
          </p:cNvPr>
          <p:cNvSpPr>
            <a:spLocks noGrp="1"/>
          </p:cNvSpPr>
          <p:nvPr>
            <p:ph idx="1"/>
          </p:nvPr>
        </p:nvSpPr>
        <p:spPr/>
        <p:txBody>
          <a:bodyPr>
            <a:normAutofit/>
          </a:bodyPr>
          <a:lstStyle/>
          <a:p>
            <a:pPr fontAlgn="base"/>
            <a:r>
              <a:rPr lang="es-ES" dirty="0"/>
              <a:t>La presentación, la lógica y el manejo de datos son tres capas de abstracción que usamos los programadores para mantener organizado nuestro código. En Angular, la presentación es cosa de los componentes. </a:t>
            </a:r>
            <a:r>
              <a:rPr lang="es-ES" b="1" dirty="0"/>
              <a:t>La lógica y los datos tienen su lugar en servicios compartidos</a:t>
            </a:r>
            <a:r>
              <a:rPr lang="es-ES" dirty="0"/>
              <a:t>.</a:t>
            </a:r>
          </a:p>
          <a:p>
            <a:r>
              <a:rPr lang="es-ES" dirty="0"/>
              <a:t>Para que los componentes consuman los servicios de forma controlada tenemos </a:t>
            </a:r>
            <a:r>
              <a:rPr lang="es-ES" i="1" dirty="0"/>
              <a:t>inyectables</a:t>
            </a:r>
            <a:r>
              <a:rPr lang="es-ES" dirty="0"/>
              <a:t> en la librería </a:t>
            </a:r>
            <a:r>
              <a:rPr lang="es-ES" b="1" dirty="0"/>
              <a:t>@angular/</a:t>
            </a:r>
            <a:r>
              <a:rPr lang="es-ES" b="1" dirty="0" err="1"/>
              <a:t>core</a:t>
            </a:r>
            <a:r>
              <a:rPr lang="es-ES" b="1" dirty="0"/>
              <a:t> </a:t>
            </a:r>
            <a:r>
              <a:rPr lang="es-ES" dirty="0"/>
              <a:t>con los que realizar la </a:t>
            </a:r>
            <a:r>
              <a:rPr lang="es-ES" b="1" dirty="0"/>
              <a:t>inyección de dependencias</a:t>
            </a:r>
            <a:r>
              <a:rPr lang="es-ES" dirty="0"/>
              <a:t>.</a:t>
            </a:r>
          </a:p>
        </p:txBody>
      </p:sp>
    </p:spTree>
    <p:extLst>
      <p:ext uri="{BB962C8B-B14F-4D97-AF65-F5344CB8AC3E}">
        <p14:creationId xmlns:p14="http://schemas.microsoft.com/office/powerpoint/2010/main" val="3736267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s-ES" dirty="0"/>
              <a:t>Servicios</a:t>
            </a:r>
          </a:p>
        </p:txBody>
      </p:sp>
    </p:spTree>
    <p:extLst>
      <p:ext uri="{BB962C8B-B14F-4D97-AF65-F5344CB8AC3E}">
        <p14:creationId xmlns:p14="http://schemas.microsoft.com/office/powerpoint/2010/main" val="3285007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normAutofit fontScale="90000"/>
          </a:bodyPr>
          <a:lstStyle/>
          <a:p>
            <a:r>
              <a:rPr lang="es-ES" dirty="0"/>
              <a:t>Servicios</a:t>
            </a:r>
          </a:p>
        </p:txBody>
      </p:sp>
      <p:sp>
        <p:nvSpPr>
          <p:cNvPr id="4" name="Marcador de contenido 3">
            <a:extLst>
              <a:ext uri="{FF2B5EF4-FFF2-40B4-BE49-F238E27FC236}">
                <a16:creationId xmlns:a16="http://schemas.microsoft.com/office/drawing/2014/main" id="{B011C24D-9F9C-4845-86B4-2DECA62683C3}"/>
              </a:ext>
            </a:extLst>
          </p:cNvPr>
          <p:cNvSpPr>
            <a:spLocks noGrp="1"/>
          </p:cNvSpPr>
          <p:nvPr>
            <p:ph idx="1"/>
          </p:nvPr>
        </p:nvSpPr>
        <p:spPr/>
        <p:txBody>
          <a:bodyPr>
            <a:normAutofit/>
          </a:bodyPr>
          <a:lstStyle/>
          <a:p>
            <a:r>
              <a:rPr lang="es-ES" dirty="0"/>
              <a:t>Similar a los componentes, es también una clase</a:t>
            </a:r>
          </a:p>
          <a:p>
            <a:r>
              <a:rPr lang="es-ES" dirty="0"/>
              <a:t>Solo debería hacer una cosa específica</a:t>
            </a:r>
          </a:p>
          <a:p>
            <a:r>
              <a:rPr lang="es-ES" b="1" dirty="0">
                <a:solidFill>
                  <a:srgbClr val="FF0000"/>
                </a:solidFill>
              </a:rPr>
              <a:t>Elimina la carga de la lógica empresarial</a:t>
            </a:r>
          </a:p>
          <a:p>
            <a:r>
              <a:rPr lang="es-ES" dirty="0"/>
              <a:t>Decora con</a:t>
            </a:r>
            <a:r>
              <a:rPr lang="es-ES" b="1" dirty="0"/>
              <a:t> @</a:t>
            </a:r>
            <a:r>
              <a:rPr lang="en-US" b="1" dirty="0"/>
              <a:t>Injectable</a:t>
            </a:r>
            <a:r>
              <a:rPr lang="es-ES" b="1" dirty="0"/>
              <a:t> </a:t>
            </a:r>
            <a:r>
              <a:rPr lang="es-ES" dirty="0"/>
              <a:t>cuando necesitamos inyectar dependencias en nuestro servicio</a:t>
            </a:r>
          </a:p>
          <a:p>
            <a:r>
              <a:rPr lang="es-ES" dirty="0"/>
              <a:t>Definimos la API de nuestro servicio creando métodos en la clase</a:t>
            </a:r>
          </a:p>
          <a:p>
            <a:r>
              <a:rPr lang="es-ES" dirty="0"/>
              <a:t>También podemos exponer propiedades públicas en nuestra clase si es necesario</a:t>
            </a:r>
            <a:endParaRPr lang="en-US" dirty="0"/>
          </a:p>
          <a:p>
            <a:endParaRPr lang="en-US" dirty="0"/>
          </a:p>
          <a:p>
            <a:endParaRPr lang="es-ES" dirty="0"/>
          </a:p>
        </p:txBody>
      </p:sp>
    </p:spTree>
    <p:extLst>
      <p:ext uri="{BB962C8B-B14F-4D97-AF65-F5344CB8AC3E}">
        <p14:creationId xmlns:p14="http://schemas.microsoft.com/office/powerpoint/2010/main" val="4224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2D3A9-FA95-1B0A-D227-17CB10BB6FF0}"/>
              </a:ext>
            </a:extLst>
          </p:cNvPr>
          <p:cNvSpPr>
            <a:spLocks noGrp="1"/>
          </p:cNvSpPr>
          <p:nvPr>
            <p:ph type="title"/>
          </p:nvPr>
        </p:nvSpPr>
        <p:spPr/>
        <p:txBody>
          <a:bodyPr>
            <a:normAutofit fontScale="90000"/>
          </a:bodyPr>
          <a:lstStyle/>
          <a:p>
            <a:endParaRPr lang="es-ES"/>
          </a:p>
        </p:txBody>
      </p:sp>
      <p:sp>
        <p:nvSpPr>
          <p:cNvPr id="5" name="CuadroTexto 4">
            <a:extLst>
              <a:ext uri="{FF2B5EF4-FFF2-40B4-BE49-F238E27FC236}">
                <a16:creationId xmlns:a16="http://schemas.microsoft.com/office/drawing/2014/main" id="{BA898856-C9D0-229B-C0FC-2A3B4294064A}"/>
              </a:ext>
            </a:extLst>
          </p:cNvPr>
          <p:cNvSpPr txBox="1"/>
          <p:nvPr/>
        </p:nvSpPr>
        <p:spPr>
          <a:xfrm>
            <a:off x="2894012" y="1371600"/>
            <a:ext cx="6096000"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gn="ctr"/>
            <a:r>
              <a:rPr lang="en-US" sz="2000" b="0" i="0" dirty="0">
                <a:solidFill>
                  <a:srgbClr val="FF0000"/>
                </a:solidFill>
                <a:effectLst/>
                <a:latin typeface="inherit"/>
              </a:rPr>
              <a:t>'root' : The </a:t>
            </a:r>
            <a:r>
              <a:rPr lang="en-US" sz="2000" b="1" i="0" dirty="0">
                <a:solidFill>
                  <a:srgbClr val="FF0000"/>
                </a:solidFill>
                <a:effectLst/>
                <a:latin typeface="inherit"/>
              </a:rPr>
              <a:t>application-level</a:t>
            </a:r>
            <a:r>
              <a:rPr lang="en-US" sz="2000" b="0" i="0" dirty="0">
                <a:solidFill>
                  <a:srgbClr val="FF0000"/>
                </a:solidFill>
                <a:effectLst/>
                <a:latin typeface="inherit"/>
              </a:rPr>
              <a:t> injector in most apps.</a:t>
            </a:r>
            <a:endParaRPr lang="es-ES" sz="2000" dirty="0">
              <a:solidFill>
                <a:srgbClr val="FF0000"/>
              </a:solidFill>
            </a:endParaRPr>
          </a:p>
        </p:txBody>
      </p:sp>
      <p:sp>
        <p:nvSpPr>
          <p:cNvPr id="7" name="CuadroTexto 6">
            <a:extLst>
              <a:ext uri="{FF2B5EF4-FFF2-40B4-BE49-F238E27FC236}">
                <a16:creationId xmlns:a16="http://schemas.microsoft.com/office/drawing/2014/main" id="{C2E2FEEF-A8BD-098F-A8B0-A7D1D02EA1E3}"/>
              </a:ext>
            </a:extLst>
          </p:cNvPr>
          <p:cNvSpPr txBox="1"/>
          <p:nvPr/>
        </p:nvSpPr>
        <p:spPr>
          <a:xfrm>
            <a:off x="2894012" y="2362200"/>
            <a:ext cx="6249988"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l"/>
            <a:r>
              <a:rPr lang="en-US" b="0" i="0" dirty="0">
                <a:solidFill>
                  <a:srgbClr val="444444"/>
                </a:solidFill>
                <a:effectLst/>
                <a:latin typeface="inherit"/>
              </a:rPr>
              <a:t>'platform' : A </a:t>
            </a:r>
            <a:r>
              <a:rPr lang="en-US" b="0" i="0" dirty="0">
                <a:solidFill>
                  <a:srgbClr val="FF0000"/>
                </a:solidFill>
                <a:effectLst/>
                <a:latin typeface="inherit"/>
              </a:rPr>
              <a:t>special</a:t>
            </a:r>
            <a:r>
              <a:rPr lang="en-US" b="0" i="0" dirty="0">
                <a:solidFill>
                  <a:srgbClr val="444444"/>
                </a:solidFill>
                <a:effectLst/>
                <a:latin typeface="inherit"/>
              </a:rPr>
              <a:t> singleton platform injector </a:t>
            </a:r>
            <a:r>
              <a:rPr lang="en-US" b="1" i="0" dirty="0">
                <a:solidFill>
                  <a:srgbClr val="444444"/>
                </a:solidFill>
                <a:effectLst/>
                <a:latin typeface="inherit"/>
              </a:rPr>
              <a:t>shared by all applications on the page.</a:t>
            </a:r>
          </a:p>
        </p:txBody>
      </p:sp>
      <p:pic>
        <p:nvPicPr>
          <p:cNvPr id="1026" name="Picture 2" descr="How Dependency Injection &amp; Resolution Works in Angular - TekTutorialsHub">
            <a:extLst>
              <a:ext uri="{FF2B5EF4-FFF2-40B4-BE49-F238E27FC236}">
                <a16:creationId xmlns:a16="http://schemas.microsoft.com/office/drawing/2014/main" id="{20F035A3-CD39-08B4-717C-A9D1A70A9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1287" y="3429000"/>
            <a:ext cx="4286250" cy="3010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166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2">
            <a:extLst>
              <a:ext uri="{FF2B5EF4-FFF2-40B4-BE49-F238E27FC236}">
                <a16:creationId xmlns:a16="http://schemas.microsoft.com/office/drawing/2014/main" id="{64E3DD32-6774-4E28-A990-9CE832E7EDA1}"/>
              </a:ext>
            </a:extLst>
          </p:cNvPr>
          <p:cNvSpPr/>
          <p:nvPr/>
        </p:nvSpPr>
        <p:spPr>
          <a:xfrm>
            <a:off x="-1" y="0"/>
            <a:ext cx="12188825" cy="6858000"/>
          </a:xfrm>
          <a:custGeom>
            <a:avLst/>
            <a:gdLst/>
            <a:ahLst/>
            <a:cxnLst/>
            <a:rect l="l" t="t" r="r" b="b"/>
            <a:pathLst>
              <a:path w="13004800" h="9753600">
                <a:moveTo>
                  <a:pt x="0" y="0"/>
                </a:moveTo>
                <a:lnTo>
                  <a:pt x="13004800" y="0"/>
                </a:lnTo>
                <a:lnTo>
                  <a:pt x="13004800" y="9753600"/>
                </a:lnTo>
                <a:lnTo>
                  <a:pt x="0" y="9753600"/>
                </a:lnTo>
                <a:lnTo>
                  <a:pt x="0" y="0"/>
                </a:lnTo>
                <a:close/>
              </a:path>
            </a:pathLst>
          </a:custGeom>
          <a:solidFill>
            <a:srgbClr val="393939"/>
          </a:solidFill>
        </p:spPr>
        <p:txBody>
          <a:bodyPr wrap="square" lIns="0" tIns="0" rIns="0" bIns="0" rtlCol="0"/>
          <a:lstStyle/>
          <a:p>
            <a:endParaRPr sz="1266"/>
          </a:p>
        </p:txBody>
      </p:sp>
      <p:sp>
        <p:nvSpPr>
          <p:cNvPr id="2" name="object 2"/>
          <p:cNvSpPr/>
          <p:nvPr/>
        </p:nvSpPr>
        <p:spPr>
          <a:xfrm>
            <a:off x="1676632" y="1808262"/>
            <a:ext cx="4064347" cy="294680"/>
          </a:xfrm>
          <a:custGeom>
            <a:avLst/>
            <a:gdLst/>
            <a:ahLst/>
            <a:cxnLst/>
            <a:rect l="l" t="t" r="r" b="b"/>
            <a:pathLst>
              <a:path w="5780405" h="419100">
                <a:moveTo>
                  <a:pt x="0" y="0"/>
                </a:moveTo>
                <a:lnTo>
                  <a:pt x="5780412" y="0"/>
                </a:lnTo>
                <a:lnTo>
                  <a:pt x="5780412" y="419100"/>
                </a:lnTo>
                <a:lnTo>
                  <a:pt x="0" y="419100"/>
                </a:lnTo>
                <a:lnTo>
                  <a:pt x="0" y="0"/>
                </a:lnTo>
                <a:close/>
              </a:path>
            </a:pathLst>
          </a:custGeom>
          <a:solidFill>
            <a:srgbClr val="393939"/>
          </a:solidFill>
        </p:spPr>
        <p:txBody>
          <a:bodyPr wrap="square" lIns="0" tIns="0" rIns="0" bIns="0" rtlCol="0"/>
          <a:lstStyle/>
          <a:p>
            <a:endParaRPr sz="1266"/>
          </a:p>
        </p:txBody>
      </p:sp>
      <p:sp>
        <p:nvSpPr>
          <p:cNvPr id="3" name="object 3"/>
          <p:cNvSpPr/>
          <p:nvPr/>
        </p:nvSpPr>
        <p:spPr>
          <a:xfrm>
            <a:off x="1676631" y="2102941"/>
            <a:ext cx="5590430" cy="294680"/>
          </a:xfrm>
          <a:custGeom>
            <a:avLst/>
            <a:gdLst/>
            <a:ahLst/>
            <a:cxnLst/>
            <a:rect l="l" t="t" r="r" b="b"/>
            <a:pathLst>
              <a:path w="7950834" h="419100">
                <a:moveTo>
                  <a:pt x="0" y="0"/>
                </a:moveTo>
                <a:lnTo>
                  <a:pt x="7950321" y="0"/>
                </a:lnTo>
                <a:lnTo>
                  <a:pt x="7950321" y="419100"/>
                </a:lnTo>
                <a:lnTo>
                  <a:pt x="0" y="419100"/>
                </a:lnTo>
                <a:lnTo>
                  <a:pt x="0" y="0"/>
                </a:lnTo>
                <a:close/>
              </a:path>
            </a:pathLst>
          </a:custGeom>
          <a:solidFill>
            <a:srgbClr val="393939"/>
          </a:solidFill>
        </p:spPr>
        <p:txBody>
          <a:bodyPr wrap="square" lIns="0" tIns="0" rIns="0" bIns="0" rtlCol="0"/>
          <a:lstStyle/>
          <a:p>
            <a:endParaRPr sz="1266"/>
          </a:p>
        </p:txBody>
      </p:sp>
      <p:sp>
        <p:nvSpPr>
          <p:cNvPr id="4" name="object 4"/>
          <p:cNvSpPr/>
          <p:nvPr/>
        </p:nvSpPr>
        <p:spPr>
          <a:xfrm>
            <a:off x="1676631" y="2692301"/>
            <a:ext cx="3612952" cy="294680"/>
          </a:xfrm>
          <a:custGeom>
            <a:avLst/>
            <a:gdLst/>
            <a:ahLst/>
            <a:cxnLst/>
            <a:rect l="l" t="t" r="r" b="b"/>
            <a:pathLst>
              <a:path w="5138420" h="419100">
                <a:moveTo>
                  <a:pt x="0" y="0"/>
                </a:moveTo>
                <a:lnTo>
                  <a:pt x="5138148" y="0"/>
                </a:lnTo>
                <a:lnTo>
                  <a:pt x="5138148" y="419100"/>
                </a:lnTo>
                <a:lnTo>
                  <a:pt x="0" y="419100"/>
                </a:lnTo>
                <a:lnTo>
                  <a:pt x="0" y="0"/>
                </a:lnTo>
                <a:close/>
              </a:path>
            </a:pathLst>
          </a:custGeom>
          <a:solidFill>
            <a:srgbClr val="393939"/>
          </a:solidFill>
        </p:spPr>
        <p:txBody>
          <a:bodyPr wrap="square" lIns="0" tIns="0" rIns="0" bIns="0" rtlCol="0"/>
          <a:lstStyle/>
          <a:p>
            <a:endParaRPr sz="1266"/>
          </a:p>
        </p:txBody>
      </p:sp>
      <p:sp>
        <p:nvSpPr>
          <p:cNvPr id="5" name="object 5"/>
          <p:cNvSpPr/>
          <p:nvPr/>
        </p:nvSpPr>
        <p:spPr>
          <a:xfrm>
            <a:off x="1676631" y="2986980"/>
            <a:ext cx="3763417" cy="294680"/>
          </a:xfrm>
          <a:custGeom>
            <a:avLst/>
            <a:gdLst/>
            <a:ahLst/>
            <a:cxnLst/>
            <a:rect l="l" t="t" r="r" b="b"/>
            <a:pathLst>
              <a:path w="5352415" h="419100">
                <a:moveTo>
                  <a:pt x="0" y="0"/>
                </a:moveTo>
                <a:lnTo>
                  <a:pt x="5352232" y="0"/>
                </a:lnTo>
                <a:lnTo>
                  <a:pt x="5352232" y="419100"/>
                </a:lnTo>
                <a:lnTo>
                  <a:pt x="0" y="419100"/>
                </a:lnTo>
                <a:lnTo>
                  <a:pt x="0" y="0"/>
                </a:lnTo>
                <a:close/>
              </a:path>
            </a:pathLst>
          </a:custGeom>
          <a:solidFill>
            <a:srgbClr val="393939"/>
          </a:solidFill>
        </p:spPr>
        <p:txBody>
          <a:bodyPr wrap="square" lIns="0" tIns="0" rIns="0" bIns="0" rtlCol="0"/>
          <a:lstStyle/>
          <a:p>
            <a:endParaRPr sz="1266"/>
          </a:p>
        </p:txBody>
      </p:sp>
      <p:sp>
        <p:nvSpPr>
          <p:cNvPr id="6" name="object 6"/>
          <p:cNvSpPr/>
          <p:nvPr/>
        </p:nvSpPr>
        <p:spPr>
          <a:xfrm>
            <a:off x="1676632" y="3281660"/>
            <a:ext cx="602307" cy="294680"/>
          </a:xfrm>
          <a:custGeom>
            <a:avLst/>
            <a:gdLst/>
            <a:ahLst/>
            <a:cxnLst/>
            <a:rect l="l" t="t" r="r" b="b"/>
            <a:pathLst>
              <a:path w="856615" h="419100">
                <a:moveTo>
                  <a:pt x="0" y="0"/>
                </a:moveTo>
                <a:lnTo>
                  <a:pt x="856357" y="0"/>
                </a:lnTo>
                <a:lnTo>
                  <a:pt x="856357" y="419100"/>
                </a:lnTo>
                <a:lnTo>
                  <a:pt x="0" y="419100"/>
                </a:lnTo>
                <a:lnTo>
                  <a:pt x="0" y="0"/>
                </a:lnTo>
                <a:close/>
              </a:path>
            </a:pathLst>
          </a:custGeom>
          <a:solidFill>
            <a:srgbClr val="393939"/>
          </a:solidFill>
        </p:spPr>
        <p:txBody>
          <a:bodyPr wrap="square" lIns="0" tIns="0" rIns="0" bIns="0" rtlCol="0"/>
          <a:lstStyle/>
          <a:p>
            <a:endParaRPr sz="1266"/>
          </a:p>
        </p:txBody>
      </p:sp>
      <p:sp>
        <p:nvSpPr>
          <p:cNvPr id="7" name="object 7"/>
          <p:cNvSpPr/>
          <p:nvPr/>
        </p:nvSpPr>
        <p:spPr>
          <a:xfrm>
            <a:off x="1676631" y="3871019"/>
            <a:ext cx="6021288" cy="294680"/>
          </a:xfrm>
          <a:custGeom>
            <a:avLst/>
            <a:gdLst/>
            <a:ahLst/>
            <a:cxnLst/>
            <a:rect l="l" t="t" r="r" b="b"/>
            <a:pathLst>
              <a:path w="8563610" h="419100">
                <a:moveTo>
                  <a:pt x="0" y="0"/>
                </a:moveTo>
                <a:lnTo>
                  <a:pt x="8563566" y="0"/>
                </a:lnTo>
                <a:lnTo>
                  <a:pt x="8563566" y="419100"/>
                </a:lnTo>
                <a:lnTo>
                  <a:pt x="0" y="419100"/>
                </a:lnTo>
                <a:lnTo>
                  <a:pt x="0" y="0"/>
                </a:lnTo>
                <a:close/>
              </a:path>
            </a:pathLst>
          </a:custGeom>
          <a:solidFill>
            <a:srgbClr val="393939"/>
          </a:solidFill>
        </p:spPr>
        <p:txBody>
          <a:bodyPr wrap="square" lIns="0" tIns="0" rIns="0" bIns="0" rtlCol="0"/>
          <a:lstStyle/>
          <a:p>
            <a:endParaRPr sz="1266"/>
          </a:p>
        </p:txBody>
      </p:sp>
      <p:sp>
        <p:nvSpPr>
          <p:cNvPr id="8" name="object 8"/>
          <p:cNvSpPr/>
          <p:nvPr/>
        </p:nvSpPr>
        <p:spPr>
          <a:xfrm>
            <a:off x="1676631" y="4165699"/>
            <a:ext cx="4666655" cy="294680"/>
          </a:xfrm>
          <a:custGeom>
            <a:avLst/>
            <a:gdLst/>
            <a:ahLst/>
            <a:cxnLst/>
            <a:rect l="l" t="t" r="r" b="b"/>
            <a:pathLst>
              <a:path w="6637020" h="419100">
                <a:moveTo>
                  <a:pt x="0" y="0"/>
                </a:moveTo>
                <a:lnTo>
                  <a:pt x="6636760" y="0"/>
                </a:lnTo>
                <a:lnTo>
                  <a:pt x="6636760" y="419100"/>
                </a:lnTo>
                <a:lnTo>
                  <a:pt x="0" y="419100"/>
                </a:lnTo>
                <a:lnTo>
                  <a:pt x="0" y="0"/>
                </a:lnTo>
                <a:close/>
              </a:path>
            </a:pathLst>
          </a:custGeom>
          <a:solidFill>
            <a:srgbClr val="393939"/>
          </a:solidFill>
        </p:spPr>
        <p:txBody>
          <a:bodyPr wrap="square" lIns="0" tIns="0" rIns="0" bIns="0" rtlCol="0"/>
          <a:lstStyle/>
          <a:p>
            <a:endParaRPr sz="1266"/>
          </a:p>
        </p:txBody>
      </p:sp>
      <p:sp>
        <p:nvSpPr>
          <p:cNvPr id="9" name="object 9"/>
          <p:cNvSpPr/>
          <p:nvPr/>
        </p:nvSpPr>
        <p:spPr>
          <a:xfrm>
            <a:off x="1676632" y="4460379"/>
            <a:ext cx="602307" cy="294680"/>
          </a:xfrm>
          <a:custGeom>
            <a:avLst/>
            <a:gdLst/>
            <a:ahLst/>
            <a:cxnLst/>
            <a:rect l="l" t="t" r="r" b="b"/>
            <a:pathLst>
              <a:path w="856615" h="419100">
                <a:moveTo>
                  <a:pt x="0" y="0"/>
                </a:moveTo>
                <a:lnTo>
                  <a:pt x="856357" y="0"/>
                </a:lnTo>
                <a:lnTo>
                  <a:pt x="856357" y="419100"/>
                </a:lnTo>
                <a:lnTo>
                  <a:pt x="0" y="419100"/>
                </a:lnTo>
                <a:lnTo>
                  <a:pt x="0" y="0"/>
                </a:lnTo>
                <a:close/>
              </a:path>
            </a:pathLst>
          </a:custGeom>
          <a:solidFill>
            <a:srgbClr val="393939"/>
          </a:solidFill>
        </p:spPr>
        <p:txBody>
          <a:bodyPr wrap="square" lIns="0" tIns="0" rIns="0" bIns="0" rtlCol="0"/>
          <a:lstStyle/>
          <a:p>
            <a:endParaRPr sz="1266"/>
          </a:p>
        </p:txBody>
      </p:sp>
      <p:sp>
        <p:nvSpPr>
          <p:cNvPr id="10" name="object 10"/>
          <p:cNvSpPr/>
          <p:nvPr/>
        </p:nvSpPr>
        <p:spPr>
          <a:xfrm>
            <a:off x="1676632" y="4755058"/>
            <a:ext cx="150911" cy="294680"/>
          </a:xfrm>
          <a:custGeom>
            <a:avLst/>
            <a:gdLst/>
            <a:ahLst/>
            <a:cxnLst/>
            <a:rect l="l" t="t" r="r" b="b"/>
            <a:pathLst>
              <a:path w="214629" h="419100">
                <a:moveTo>
                  <a:pt x="0" y="0"/>
                </a:moveTo>
                <a:lnTo>
                  <a:pt x="214088" y="0"/>
                </a:lnTo>
                <a:lnTo>
                  <a:pt x="214088" y="419100"/>
                </a:lnTo>
                <a:lnTo>
                  <a:pt x="0" y="419100"/>
                </a:lnTo>
                <a:lnTo>
                  <a:pt x="0" y="0"/>
                </a:lnTo>
                <a:close/>
              </a:path>
            </a:pathLst>
          </a:custGeom>
          <a:solidFill>
            <a:srgbClr val="393939"/>
          </a:solidFill>
        </p:spPr>
        <p:txBody>
          <a:bodyPr wrap="square" lIns="0" tIns="0" rIns="0" bIns="0" rtlCol="0"/>
          <a:lstStyle/>
          <a:p>
            <a:endParaRPr sz="1266"/>
          </a:p>
        </p:txBody>
      </p:sp>
      <p:sp>
        <p:nvSpPr>
          <p:cNvPr id="11" name="object 11"/>
          <p:cNvSpPr txBox="1">
            <a:spLocks noGrp="1"/>
          </p:cNvSpPr>
          <p:nvPr>
            <p:ph type="title"/>
          </p:nvPr>
        </p:nvSpPr>
        <p:spPr>
          <a:xfrm>
            <a:off x="1665287" y="1798282"/>
            <a:ext cx="1824335" cy="303032"/>
          </a:xfrm>
          <a:prstGeom prst="rect">
            <a:avLst/>
          </a:prstGeom>
        </p:spPr>
        <p:txBody>
          <a:bodyPr vert="horz" wrap="square" lIns="0" tIns="0" rIns="0" bIns="0" rtlCol="0" anchor="ctr">
            <a:spAutoFit/>
          </a:bodyPr>
          <a:lstStyle/>
          <a:p>
            <a:pPr marL="8929">
              <a:lnSpc>
                <a:spcPct val="100000"/>
              </a:lnSpc>
            </a:pPr>
            <a:r>
              <a:rPr sz="1969" spc="-4" dirty="0">
                <a:solidFill>
                  <a:srgbClr val="D78B40"/>
                </a:solidFill>
                <a:latin typeface="Lucida Sans Typewriter"/>
                <a:cs typeface="Lucida Sans Typewriter"/>
              </a:rPr>
              <a:t>export</a:t>
            </a:r>
            <a:r>
              <a:rPr sz="1969" spc="-46" dirty="0">
                <a:solidFill>
                  <a:srgbClr val="D78B40"/>
                </a:solidFill>
                <a:latin typeface="Lucida Sans Typewriter"/>
                <a:cs typeface="Lucida Sans Typewriter"/>
              </a:rPr>
              <a:t> </a:t>
            </a:r>
            <a:r>
              <a:rPr sz="1969" spc="-4" dirty="0">
                <a:solidFill>
                  <a:srgbClr val="D78B40"/>
                </a:solidFill>
                <a:latin typeface="Lucida Sans Typewriter"/>
                <a:cs typeface="Lucida Sans Typewriter"/>
              </a:rPr>
              <a:t>class</a:t>
            </a:r>
            <a:endParaRPr sz="1969">
              <a:latin typeface="Lucida Sans Typewriter"/>
              <a:cs typeface="Lucida Sans Typewriter"/>
            </a:endParaRPr>
          </a:p>
        </p:txBody>
      </p:sp>
      <p:sp>
        <p:nvSpPr>
          <p:cNvPr id="12" name="object 12"/>
          <p:cNvSpPr txBox="1"/>
          <p:nvPr/>
        </p:nvSpPr>
        <p:spPr>
          <a:xfrm>
            <a:off x="3622193" y="1794867"/>
            <a:ext cx="2125712" cy="303032"/>
          </a:xfrm>
          <a:prstGeom prst="rect">
            <a:avLst/>
          </a:prstGeom>
        </p:spPr>
        <p:txBody>
          <a:bodyPr vert="horz" wrap="square" lIns="0" tIns="0" rIns="0" bIns="0" rtlCol="0">
            <a:spAutoFit/>
          </a:bodyPr>
          <a:lstStyle/>
          <a:p>
            <a:pPr marL="8929"/>
            <a:r>
              <a:rPr sz="1969" spc="-4" dirty="0">
                <a:solidFill>
                  <a:srgbClr val="B7C4D1"/>
                </a:solidFill>
                <a:latin typeface="Lucida Console"/>
                <a:cs typeface="Lucida Console"/>
              </a:rPr>
              <a:t>StateService</a:t>
            </a:r>
            <a:r>
              <a:rPr sz="1969" spc="-39" dirty="0">
                <a:solidFill>
                  <a:srgbClr val="B7C4D1"/>
                </a:solidFill>
                <a:latin typeface="Lucida Console"/>
                <a:cs typeface="Lucida Console"/>
              </a:rPr>
              <a:t> </a:t>
            </a:r>
            <a:r>
              <a:rPr sz="1969" spc="-4" dirty="0">
                <a:solidFill>
                  <a:srgbClr val="B7C4D1"/>
                </a:solidFill>
                <a:latin typeface="Lucida Console"/>
                <a:cs typeface="Lucida Console"/>
              </a:rPr>
              <a:t>{</a:t>
            </a:r>
            <a:endParaRPr sz="1969">
              <a:latin typeface="Lucida Console"/>
              <a:cs typeface="Lucida Console"/>
            </a:endParaRPr>
          </a:p>
        </p:txBody>
      </p:sp>
      <p:sp>
        <p:nvSpPr>
          <p:cNvPr id="13" name="object 13"/>
          <p:cNvSpPr txBox="1"/>
          <p:nvPr/>
        </p:nvSpPr>
        <p:spPr>
          <a:xfrm>
            <a:off x="1986756" y="2089547"/>
            <a:ext cx="2426643" cy="303032"/>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private</a:t>
            </a:r>
            <a:r>
              <a:rPr sz="1969" b="1" spc="-39" dirty="0">
                <a:solidFill>
                  <a:srgbClr val="D78B40"/>
                </a:solidFill>
                <a:latin typeface="Lucida Sans Typewriter"/>
                <a:cs typeface="Lucida Sans Typewriter"/>
              </a:rPr>
              <a:t> </a:t>
            </a:r>
            <a:r>
              <a:rPr sz="1969" spc="-4" dirty="0">
                <a:solidFill>
                  <a:srgbClr val="A98BB9"/>
                </a:solidFill>
                <a:latin typeface="Lucida Console"/>
                <a:cs typeface="Lucida Console"/>
              </a:rPr>
              <a:t>_message</a:t>
            </a:r>
            <a:endParaRPr sz="1969">
              <a:latin typeface="Lucida Console"/>
              <a:cs typeface="Lucida Console"/>
            </a:endParaRPr>
          </a:p>
        </p:txBody>
      </p:sp>
      <p:sp>
        <p:nvSpPr>
          <p:cNvPr id="14" name="object 14"/>
          <p:cNvSpPr txBox="1"/>
          <p:nvPr/>
        </p:nvSpPr>
        <p:spPr>
          <a:xfrm>
            <a:off x="4545790" y="2089547"/>
            <a:ext cx="1222474" cy="303032"/>
          </a:xfrm>
          <a:prstGeom prst="rect">
            <a:avLst/>
          </a:prstGeom>
        </p:spPr>
        <p:txBody>
          <a:bodyPr vert="horz" wrap="square" lIns="0" tIns="0" rIns="0" bIns="0" rtlCol="0">
            <a:spAutoFit/>
          </a:bodyPr>
          <a:lstStyle/>
          <a:p>
            <a:pPr marL="8929"/>
            <a:r>
              <a:rPr sz="1969" spc="-4" dirty="0">
                <a:solidFill>
                  <a:srgbClr val="B7C4D1"/>
                </a:solidFill>
                <a:latin typeface="Lucida Console"/>
                <a:cs typeface="Lucida Console"/>
              </a:rPr>
              <a:t>=</a:t>
            </a:r>
            <a:r>
              <a:rPr sz="1969" spc="-56" dirty="0">
                <a:solidFill>
                  <a:srgbClr val="B7C4D1"/>
                </a:solidFill>
                <a:latin typeface="Lucida Console"/>
                <a:cs typeface="Lucida Console"/>
              </a:rPr>
              <a:t> </a:t>
            </a:r>
            <a:r>
              <a:rPr sz="1969" spc="-4" dirty="0">
                <a:solidFill>
                  <a:srgbClr val="7C976C"/>
                </a:solidFill>
                <a:latin typeface="Lucida Console"/>
                <a:cs typeface="Lucida Console"/>
              </a:rPr>
              <a:t>'Hello</a:t>
            </a:r>
            <a:endParaRPr sz="1969">
              <a:latin typeface="Lucida Console"/>
              <a:cs typeface="Lucida Console"/>
            </a:endParaRPr>
          </a:p>
        </p:txBody>
      </p:sp>
      <p:sp>
        <p:nvSpPr>
          <p:cNvPr id="15" name="object 15"/>
          <p:cNvSpPr txBox="1"/>
          <p:nvPr/>
        </p:nvSpPr>
        <p:spPr>
          <a:xfrm>
            <a:off x="5900662" y="2089547"/>
            <a:ext cx="1372939" cy="303032"/>
          </a:xfrm>
          <a:prstGeom prst="rect">
            <a:avLst/>
          </a:prstGeom>
        </p:spPr>
        <p:txBody>
          <a:bodyPr vert="horz" wrap="square" lIns="0" tIns="0" rIns="0" bIns="0" rtlCol="0">
            <a:spAutoFit/>
          </a:bodyPr>
          <a:lstStyle/>
          <a:p>
            <a:pPr marL="8929"/>
            <a:r>
              <a:rPr sz="1969" spc="-4" dirty="0">
                <a:solidFill>
                  <a:srgbClr val="7C976C"/>
                </a:solidFill>
                <a:latin typeface="Lucida Console"/>
                <a:cs typeface="Lucida Console"/>
              </a:rPr>
              <a:t>Message</a:t>
            </a:r>
            <a:r>
              <a:rPr sz="1969" spc="-7" dirty="0">
                <a:solidFill>
                  <a:srgbClr val="7C976C"/>
                </a:solidFill>
                <a:latin typeface="Lucida Console"/>
                <a:cs typeface="Lucida Console"/>
              </a:rPr>
              <a:t>'</a:t>
            </a:r>
            <a:r>
              <a:rPr sz="1969" spc="-4" dirty="0">
                <a:solidFill>
                  <a:srgbClr val="B7C4D1"/>
                </a:solidFill>
                <a:latin typeface="Lucida Console"/>
                <a:cs typeface="Lucida Console"/>
              </a:rPr>
              <a:t>;</a:t>
            </a:r>
            <a:endParaRPr sz="1969">
              <a:latin typeface="Lucida Console"/>
              <a:cs typeface="Lucida Console"/>
            </a:endParaRPr>
          </a:p>
        </p:txBody>
      </p:sp>
      <p:sp>
        <p:nvSpPr>
          <p:cNvPr id="16" name="object 16"/>
          <p:cNvSpPr txBox="1"/>
          <p:nvPr/>
        </p:nvSpPr>
        <p:spPr>
          <a:xfrm>
            <a:off x="1966349" y="2678906"/>
            <a:ext cx="3329880" cy="303032"/>
          </a:xfrm>
          <a:prstGeom prst="rect">
            <a:avLst/>
          </a:prstGeom>
        </p:spPr>
        <p:txBody>
          <a:bodyPr vert="horz" wrap="square" lIns="0" tIns="0" rIns="0" bIns="0" rtlCol="0">
            <a:spAutoFit/>
          </a:bodyPr>
          <a:lstStyle/>
          <a:p>
            <a:pPr marL="8929"/>
            <a:r>
              <a:rPr sz="1969" spc="-4" dirty="0">
                <a:solidFill>
                  <a:srgbClr val="FFD080"/>
                </a:solidFill>
                <a:latin typeface="Lucida Console"/>
                <a:cs typeface="Lucida Console"/>
              </a:rPr>
              <a:t>getMessage</a:t>
            </a:r>
            <a:r>
              <a:rPr sz="1969" spc="-4" dirty="0">
                <a:solidFill>
                  <a:srgbClr val="B7C4D1"/>
                </a:solidFill>
                <a:latin typeface="Lucida Console"/>
                <a:cs typeface="Lucida Console"/>
              </a:rPr>
              <a:t>(): </a:t>
            </a:r>
            <a:r>
              <a:rPr sz="1969" b="1" spc="-4" dirty="0">
                <a:solidFill>
                  <a:srgbClr val="D78B40"/>
                </a:solidFill>
                <a:latin typeface="Lucida Sans Typewriter"/>
                <a:cs typeface="Lucida Sans Typewriter"/>
              </a:rPr>
              <a:t>string</a:t>
            </a:r>
            <a:r>
              <a:rPr sz="1969" b="1" spc="-28" dirty="0">
                <a:solidFill>
                  <a:srgbClr val="D78B40"/>
                </a:solidFill>
                <a:latin typeface="Lucida Sans Typewriter"/>
                <a:cs typeface="Lucida Sans Typewriter"/>
              </a:rPr>
              <a:t> </a:t>
            </a:r>
            <a:r>
              <a:rPr sz="1969" spc="-4" dirty="0">
                <a:solidFill>
                  <a:srgbClr val="B7C4D1"/>
                </a:solidFill>
                <a:latin typeface="Lucida Console"/>
                <a:cs typeface="Lucida Console"/>
              </a:rPr>
              <a:t>{</a:t>
            </a:r>
            <a:endParaRPr sz="1969">
              <a:latin typeface="Lucida Console"/>
              <a:cs typeface="Lucida Console"/>
            </a:endParaRPr>
          </a:p>
        </p:txBody>
      </p:sp>
      <p:sp>
        <p:nvSpPr>
          <p:cNvPr id="17" name="object 17"/>
          <p:cNvSpPr txBox="1"/>
          <p:nvPr/>
        </p:nvSpPr>
        <p:spPr>
          <a:xfrm>
            <a:off x="6783355" y="3857625"/>
            <a:ext cx="921097" cy="303032"/>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void</a:t>
            </a:r>
            <a:r>
              <a:rPr sz="1969" b="1" spc="-63" dirty="0">
                <a:solidFill>
                  <a:srgbClr val="D78B40"/>
                </a:solidFill>
                <a:latin typeface="Lucida Sans Typewriter"/>
                <a:cs typeface="Lucida Sans Typewriter"/>
              </a:rPr>
              <a:t> </a:t>
            </a:r>
            <a:r>
              <a:rPr sz="1969" spc="-4" dirty="0">
                <a:solidFill>
                  <a:srgbClr val="B7C4D1"/>
                </a:solidFill>
                <a:latin typeface="Lucida Console"/>
                <a:cs typeface="Lucida Console"/>
              </a:rPr>
              <a:t>{</a:t>
            </a:r>
            <a:endParaRPr sz="1969">
              <a:latin typeface="Lucida Console"/>
              <a:cs typeface="Lucida Console"/>
            </a:endParaRPr>
          </a:p>
        </p:txBody>
      </p:sp>
      <p:sp>
        <p:nvSpPr>
          <p:cNvPr id="18" name="object 18"/>
          <p:cNvSpPr txBox="1"/>
          <p:nvPr/>
        </p:nvSpPr>
        <p:spPr>
          <a:xfrm>
            <a:off x="1966349" y="2973586"/>
            <a:ext cx="4684514" cy="1793953"/>
          </a:xfrm>
          <a:prstGeom prst="rect">
            <a:avLst/>
          </a:prstGeom>
        </p:spPr>
        <p:txBody>
          <a:bodyPr vert="horz" wrap="square" lIns="0" tIns="0" rIns="0" bIns="0" rtlCol="0">
            <a:spAutoFit/>
          </a:bodyPr>
          <a:lstStyle/>
          <a:p>
            <a:pPr marL="309849">
              <a:lnSpc>
                <a:spcPts val="2341"/>
              </a:lnSpc>
            </a:pPr>
            <a:r>
              <a:rPr sz="1969" b="1" spc="-4" dirty="0">
                <a:solidFill>
                  <a:srgbClr val="D78B40"/>
                </a:solidFill>
                <a:latin typeface="Lucida Sans Typewriter"/>
                <a:cs typeface="Lucida Sans Typewriter"/>
              </a:rPr>
              <a:t>return</a:t>
            </a:r>
            <a:r>
              <a:rPr sz="1969" b="1" spc="-32" dirty="0">
                <a:solidFill>
                  <a:srgbClr val="D78B40"/>
                </a:solidFill>
                <a:latin typeface="Lucida Sans Typewriter"/>
                <a:cs typeface="Lucida Sans Typewriter"/>
              </a:rPr>
              <a:t> </a:t>
            </a:r>
            <a:r>
              <a:rPr sz="1969" b="1" spc="-4" dirty="0">
                <a:solidFill>
                  <a:srgbClr val="D78B40"/>
                </a:solidFill>
                <a:latin typeface="Lucida Sans Typewriter"/>
                <a:cs typeface="Lucida Sans Typewriter"/>
              </a:rPr>
              <a:t>this</a:t>
            </a:r>
            <a:r>
              <a:rPr sz="1969" spc="-4" dirty="0">
                <a:solidFill>
                  <a:srgbClr val="B7C4D1"/>
                </a:solidFill>
                <a:latin typeface="Lucida Console"/>
                <a:cs typeface="Lucida Console"/>
              </a:rPr>
              <a:t>.</a:t>
            </a:r>
            <a:r>
              <a:rPr sz="1969" spc="-4" dirty="0">
                <a:solidFill>
                  <a:srgbClr val="A98BB9"/>
                </a:solidFill>
                <a:latin typeface="Lucida Console"/>
                <a:cs typeface="Lucida Console"/>
              </a:rPr>
              <a:t>_message</a:t>
            </a:r>
            <a:r>
              <a:rPr sz="1969" spc="-4" dirty="0">
                <a:solidFill>
                  <a:srgbClr val="B7C4D1"/>
                </a:solidFill>
                <a:latin typeface="Lucida Console"/>
                <a:cs typeface="Lucida Console"/>
              </a:rPr>
              <a:t>;</a:t>
            </a:r>
            <a:endParaRPr sz="1969">
              <a:latin typeface="Lucida Console"/>
              <a:cs typeface="Lucida Console"/>
            </a:endParaRPr>
          </a:p>
          <a:p>
            <a:pPr marL="8929">
              <a:lnSpc>
                <a:spcPts val="2341"/>
              </a:lnSpc>
            </a:pPr>
            <a:r>
              <a:rPr sz="1969" spc="-4" dirty="0">
                <a:solidFill>
                  <a:srgbClr val="B7C4D1"/>
                </a:solidFill>
                <a:latin typeface="Lucida Console"/>
                <a:cs typeface="Lucida Console"/>
              </a:rPr>
              <a:t>};</a:t>
            </a:r>
            <a:endParaRPr sz="1969">
              <a:latin typeface="Lucida Console"/>
              <a:cs typeface="Lucida Console"/>
            </a:endParaRPr>
          </a:p>
          <a:p>
            <a:pPr>
              <a:spcBef>
                <a:spcPts val="4"/>
              </a:spcBef>
            </a:pPr>
            <a:endParaRPr sz="2074">
              <a:latin typeface="Times New Roman"/>
              <a:cs typeface="Times New Roman"/>
            </a:endParaRPr>
          </a:p>
          <a:p>
            <a:pPr marL="309849" marR="3572" indent="-301366">
              <a:lnSpc>
                <a:spcPts val="2320"/>
              </a:lnSpc>
            </a:pPr>
            <a:r>
              <a:rPr sz="1969" spc="-4" dirty="0">
                <a:solidFill>
                  <a:srgbClr val="FFD080"/>
                </a:solidFill>
                <a:latin typeface="Lucida Console"/>
                <a:cs typeface="Lucida Console"/>
              </a:rPr>
              <a:t>setMessage</a:t>
            </a:r>
            <a:r>
              <a:rPr sz="1969" spc="-4" dirty="0">
                <a:solidFill>
                  <a:srgbClr val="B7C4D1"/>
                </a:solidFill>
                <a:latin typeface="Lucida Console"/>
                <a:cs typeface="Lucida Console"/>
              </a:rPr>
              <a:t>(newMessage: </a:t>
            </a:r>
            <a:r>
              <a:rPr sz="1969" b="1" spc="-4" dirty="0">
                <a:solidFill>
                  <a:srgbClr val="D78B40"/>
                </a:solidFill>
                <a:latin typeface="Lucida Sans Typewriter"/>
                <a:cs typeface="Lucida Sans Typewriter"/>
              </a:rPr>
              <a:t>string</a:t>
            </a:r>
            <a:r>
              <a:rPr sz="1969" spc="-4" dirty="0">
                <a:solidFill>
                  <a:srgbClr val="B7C4D1"/>
                </a:solidFill>
                <a:latin typeface="Lucida Console"/>
                <a:cs typeface="Lucida Console"/>
              </a:rPr>
              <a:t>):  </a:t>
            </a:r>
            <a:r>
              <a:rPr sz="1969" b="1" spc="-4" dirty="0">
                <a:solidFill>
                  <a:srgbClr val="D78B40"/>
                </a:solidFill>
                <a:latin typeface="Lucida Sans Typewriter"/>
                <a:cs typeface="Lucida Sans Typewriter"/>
              </a:rPr>
              <a:t>this</a:t>
            </a:r>
            <a:r>
              <a:rPr sz="1969" spc="-4" dirty="0">
                <a:solidFill>
                  <a:srgbClr val="B7C4D1"/>
                </a:solidFill>
                <a:latin typeface="Lucida Console"/>
                <a:cs typeface="Lucida Console"/>
              </a:rPr>
              <a:t>.</a:t>
            </a:r>
            <a:r>
              <a:rPr sz="1969" spc="-4" dirty="0">
                <a:solidFill>
                  <a:srgbClr val="A98BB9"/>
                </a:solidFill>
                <a:latin typeface="Lucida Console"/>
                <a:cs typeface="Lucida Console"/>
              </a:rPr>
              <a:t>_message </a:t>
            </a:r>
            <a:r>
              <a:rPr sz="1969" spc="-4" dirty="0">
                <a:solidFill>
                  <a:srgbClr val="B7C4D1"/>
                </a:solidFill>
                <a:latin typeface="Lucida Console"/>
                <a:cs typeface="Lucida Console"/>
              </a:rPr>
              <a:t>=</a:t>
            </a:r>
            <a:r>
              <a:rPr sz="1969" spc="-14" dirty="0">
                <a:solidFill>
                  <a:srgbClr val="B7C4D1"/>
                </a:solidFill>
                <a:latin typeface="Lucida Console"/>
                <a:cs typeface="Lucida Console"/>
              </a:rPr>
              <a:t> </a:t>
            </a:r>
            <a:r>
              <a:rPr sz="1969" spc="-4" dirty="0">
                <a:solidFill>
                  <a:srgbClr val="B7C4D1"/>
                </a:solidFill>
                <a:latin typeface="Lucida Console"/>
                <a:cs typeface="Lucida Console"/>
              </a:rPr>
              <a:t>newMessage;</a:t>
            </a:r>
            <a:endParaRPr sz="1969">
              <a:latin typeface="Lucida Console"/>
              <a:cs typeface="Lucida Console"/>
            </a:endParaRPr>
          </a:p>
          <a:p>
            <a:pPr marL="8929">
              <a:lnSpc>
                <a:spcPts val="2250"/>
              </a:lnSpc>
            </a:pPr>
            <a:r>
              <a:rPr sz="1969" spc="-4" dirty="0">
                <a:solidFill>
                  <a:srgbClr val="B7C4D1"/>
                </a:solidFill>
                <a:latin typeface="Lucida Console"/>
                <a:cs typeface="Lucida Console"/>
              </a:rPr>
              <a:t>};</a:t>
            </a:r>
            <a:endParaRPr sz="1969">
              <a:latin typeface="Lucida Console"/>
              <a:cs typeface="Lucida Console"/>
            </a:endParaRPr>
          </a:p>
        </p:txBody>
      </p:sp>
      <p:sp>
        <p:nvSpPr>
          <p:cNvPr id="19" name="object 19"/>
          <p:cNvSpPr txBox="1"/>
          <p:nvPr/>
        </p:nvSpPr>
        <p:spPr>
          <a:xfrm>
            <a:off x="1665288" y="4741664"/>
            <a:ext cx="168770" cy="303032"/>
          </a:xfrm>
          <a:prstGeom prst="rect">
            <a:avLst/>
          </a:prstGeom>
        </p:spPr>
        <p:txBody>
          <a:bodyPr vert="horz" wrap="square" lIns="0" tIns="0" rIns="0" bIns="0" rtlCol="0">
            <a:spAutoFit/>
          </a:bodyPr>
          <a:lstStyle/>
          <a:p>
            <a:pPr marL="8929"/>
            <a:r>
              <a:rPr sz="1969" spc="-4" dirty="0">
                <a:solidFill>
                  <a:srgbClr val="B7C4D1"/>
                </a:solidFill>
                <a:latin typeface="Lucida Console"/>
                <a:cs typeface="Lucida Console"/>
              </a:rPr>
              <a:t>}</a:t>
            </a:r>
            <a:endParaRPr sz="1969">
              <a:latin typeface="Lucida Console"/>
              <a:cs typeface="Lucida Console"/>
            </a:endParaRPr>
          </a:p>
        </p:txBody>
      </p:sp>
      <p:sp>
        <p:nvSpPr>
          <p:cNvPr id="20" name="object 20"/>
          <p:cNvSpPr txBox="1"/>
          <p:nvPr/>
        </p:nvSpPr>
        <p:spPr>
          <a:xfrm>
            <a:off x="1718865" y="5929312"/>
            <a:ext cx="3560266" cy="778996"/>
          </a:xfrm>
          <a:prstGeom prst="rect">
            <a:avLst/>
          </a:prstGeom>
        </p:spPr>
        <p:txBody>
          <a:bodyPr vert="horz" wrap="square" lIns="0" tIns="0" rIns="0" bIns="0" rtlCol="0">
            <a:spAutoFit/>
          </a:bodyPr>
          <a:lstStyle/>
          <a:p>
            <a:pPr marL="8929"/>
            <a:r>
              <a:rPr sz="5062" b="1" spc="60" dirty="0">
                <a:solidFill>
                  <a:srgbClr val="53585F"/>
                </a:solidFill>
                <a:latin typeface="Trebuchet MS"/>
                <a:cs typeface="Trebuchet MS"/>
              </a:rPr>
              <a:t>Just </a:t>
            </a:r>
            <a:r>
              <a:rPr sz="5062" b="1" spc="21" dirty="0">
                <a:solidFill>
                  <a:srgbClr val="53585F"/>
                </a:solidFill>
                <a:latin typeface="Trebuchet MS"/>
                <a:cs typeface="Trebuchet MS"/>
              </a:rPr>
              <a:t>a</a:t>
            </a:r>
            <a:r>
              <a:rPr sz="5062" b="1" spc="-643" dirty="0">
                <a:solidFill>
                  <a:srgbClr val="53585F"/>
                </a:solidFill>
                <a:latin typeface="Trebuchet MS"/>
                <a:cs typeface="Trebuchet MS"/>
              </a:rPr>
              <a:t> </a:t>
            </a:r>
            <a:r>
              <a:rPr sz="5062" b="1" spc="172" dirty="0">
                <a:solidFill>
                  <a:srgbClr val="53585F"/>
                </a:solidFill>
                <a:latin typeface="Trebuchet MS"/>
                <a:cs typeface="Trebuchet MS"/>
              </a:rPr>
              <a:t>Class</a:t>
            </a:r>
            <a:endParaRPr sz="5062">
              <a:latin typeface="Trebuchet MS"/>
              <a:cs typeface="Trebuchet MS"/>
            </a:endParaRPr>
          </a:p>
        </p:txBody>
      </p:sp>
    </p:spTree>
    <p:extLst>
      <p:ext uri="{BB962C8B-B14F-4D97-AF65-F5344CB8AC3E}">
        <p14:creationId xmlns:p14="http://schemas.microsoft.com/office/powerpoint/2010/main" val="42694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normAutofit fontScale="90000"/>
          </a:bodyPr>
          <a:lstStyle/>
          <a:p>
            <a:r>
              <a:rPr lang="es-ES" dirty="0"/>
              <a:t>Inyección de dependencias</a:t>
            </a:r>
          </a:p>
        </p:txBody>
      </p:sp>
      <p:sp>
        <p:nvSpPr>
          <p:cNvPr id="5" name="Marcador de contenido 4">
            <a:extLst>
              <a:ext uri="{FF2B5EF4-FFF2-40B4-BE49-F238E27FC236}">
                <a16:creationId xmlns:a16="http://schemas.microsoft.com/office/drawing/2014/main" id="{4BCC76A0-2A4D-4661-BBE2-CC45A5DD0613}"/>
              </a:ext>
            </a:extLst>
          </p:cNvPr>
          <p:cNvSpPr>
            <a:spLocks noGrp="1"/>
          </p:cNvSpPr>
          <p:nvPr>
            <p:ph idx="1"/>
          </p:nvPr>
        </p:nvSpPr>
        <p:spPr/>
        <p:txBody>
          <a:bodyPr/>
          <a:lstStyle/>
          <a:p>
            <a:r>
              <a:rPr lang="es-ES" dirty="0"/>
              <a:t>Proporciona la instancia de una clase con </a:t>
            </a:r>
            <a:r>
              <a:rPr lang="es-ES" b="1" dirty="0"/>
              <a:t>dependencias completamente formadas</a:t>
            </a:r>
          </a:p>
          <a:p>
            <a:r>
              <a:rPr lang="es-ES" dirty="0"/>
              <a:t>Mantiene un </a:t>
            </a:r>
            <a:r>
              <a:rPr lang="es-ES" b="1" dirty="0"/>
              <a:t>contenedor de instancias de servicio </a:t>
            </a:r>
            <a:r>
              <a:rPr lang="es-ES" dirty="0"/>
              <a:t>creadas previamente</a:t>
            </a:r>
          </a:p>
          <a:p>
            <a:r>
              <a:rPr lang="es-ES" dirty="0"/>
              <a:t>Para usar Inyección de dependencias para un servicio, </a:t>
            </a:r>
            <a:r>
              <a:rPr lang="es-ES" b="1" dirty="0"/>
              <a:t>lo registramos como proveedor </a:t>
            </a:r>
            <a:r>
              <a:rPr lang="es-ES" dirty="0"/>
              <a:t>de una de estas dos maneras: </a:t>
            </a:r>
            <a:r>
              <a:rPr lang="es-ES" b="1" dirty="0"/>
              <a:t>al iniciar la aplicación </a:t>
            </a:r>
            <a:r>
              <a:rPr lang="es-ES" dirty="0"/>
              <a:t>o </a:t>
            </a:r>
            <a:r>
              <a:rPr lang="es-ES" b="1" dirty="0"/>
              <a:t>en los metadatos </a:t>
            </a:r>
            <a:r>
              <a:rPr lang="es-ES" dirty="0"/>
              <a:t>del componente</a:t>
            </a:r>
          </a:p>
        </p:txBody>
      </p:sp>
    </p:spTree>
    <p:extLst>
      <p:ext uri="{BB962C8B-B14F-4D97-AF65-F5344CB8AC3E}">
        <p14:creationId xmlns:p14="http://schemas.microsoft.com/office/powerpoint/2010/main" val="1400042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0"/>
            <a:ext cx="12188825" cy="6858000"/>
          </a:xfrm>
          <a:custGeom>
            <a:avLst/>
            <a:gdLst/>
            <a:ahLst/>
            <a:cxnLst/>
            <a:rect l="l" t="t" r="r" b="b"/>
            <a:pathLst>
              <a:path w="13004800" h="9753600">
                <a:moveTo>
                  <a:pt x="0" y="0"/>
                </a:moveTo>
                <a:lnTo>
                  <a:pt x="13004800" y="0"/>
                </a:lnTo>
                <a:lnTo>
                  <a:pt x="13004800" y="9753600"/>
                </a:lnTo>
                <a:lnTo>
                  <a:pt x="0" y="9753600"/>
                </a:lnTo>
                <a:lnTo>
                  <a:pt x="0" y="0"/>
                </a:lnTo>
                <a:close/>
              </a:path>
            </a:pathLst>
          </a:custGeom>
          <a:solidFill>
            <a:srgbClr val="393939"/>
          </a:solidFill>
        </p:spPr>
        <p:txBody>
          <a:bodyPr wrap="square" lIns="0" tIns="0" rIns="0" bIns="0" rtlCol="0"/>
          <a:lstStyle/>
          <a:p>
            <a:endParaRPr sz="1266"/>
          </a:p>
        </p:txBody>
      </p:sp>
      <p:sp>
        <p:nvSpPr>
          <p:cNvPr id="3" name="object 3"/>
          <p:cNvSpPr/>
          <p:nvPr/>
        </p:nvSpPr>
        <p:spPr>
          <a:xfrm>
            <a:off x="1715293" y="1071562"/>
            <a:ext cx="3913882" cy="294680"/>
          </a:xfrm>
          <a:custGeom>
            <a:avLst/>
            <a:gdLst/>
            <a:ahLst/>
            <a:cxnLst/>
            <a:rect l="l" t="t" r="r" b="b"/>
            <a:pathLst>
              <a:path w="5566410" h="419100">
                <a:moveTo>
                  <a:pt x="0" y="0"/>
                </a:moveTo>
                <a:lnTo>
                  <a:pt x="5566321" y="0"/>
                </a:lnTo>
                <a:lnTo>
                  <a:pt x="5566321" y="419100"/>
                </a:lnTo>
                <a:lnTo>
                  <a:pt x="0" y="419100"/>
                </a:lnTo>
                <a:lnTo>
                  <a:pt x="0" y="0"/>
                </a:lnTo>
                <a:close/>
              </a:path>
            </a:pathLst>
          </a:custGeom>
          <a:solidFill>
            <a:srgbClr val="393939"/>
          </a:solidFill>
        </p:spPr>
        <p:txBody>
          <a:bodyPr wrap="square" lIns="0" tIns="0" rIns="0" bIns="0" rtlCol="0"/>
          <a:lstStyle/>
          <a:p>
            <a:endParaRPr sz="1266"/>
          </a:p>
        </p:txBody>
      </p:sp>
      <p:sp>
        <p:nvSpPr>
          <p:cNvPr id="4" name="object 4"/>
          <p:cNvSpPr/>
          <p:nvPr/>
        </p:nvSpPr>
        <p:spPr>
          <a:xfrm>
            <a:off x="1715293" y="1366242"/>
            <a:ext cx="6172200" cy="294680"/>
          </a:xfrm>
          <a:custGeom>
            <a:avLst/>
            <a:gdLst/>
            <a:ahLst/>
            <a:cxnLst/>
            <a:rect l="l" t="t" r="r" b="b"/>
            <a:pathLst>
              <a:path w="8778240" h="419100">
                <a:moveTo>
                  <a:pt x="0" y="0"/>
                </a:moveTo>
                <a:lnTo>
                  <a:pt x="8777655" y="0"/>
                </a:lnTo>
                <a:lnTo>
                  <a:pt x="8777655" y="419100"/>
                </a:lnTo>
                <a:lnTo>
                  <a:pt x="0" y="419100"/>
                </a:lnTo>
                <a:lnTo>
                  <a:pt x="0" y="0"/>
                </a:lnTo>
                <a:close/>
              </a:path>
            </a:pathLst>
          </a:custGeom>
          <a:solidFill>
            <a:srgbClr val="393939"/>
          </a:solidFill>
        </p:spPr>
        <p:txBody>
          <a:bodyPr wrap="square" lIns="0" tIns="0" rIns="0" bIns="0" rtlCol="0"/>
          <a:lstStyle/>
          <a:p>
            <a:endParaRPr sz="1266"/>
          </a:p>
        </p:txBody>
      </p:sp>
      <p:sp>
        <p:nvSpPr>
          <p:cNvPr id="5" name="object 5"/>
          <p:cNvSpPr/>
          <p:nvPr/>
        </p:nvSpPr>
        <p:spPr>
          <a:xfrm>
            <a:off x="1715294" y="1955601"/>
            <a:ext cx="1956941" cy="294680"/>
          </a:xfrm>
          <a:custGeom>
            <a:avLst/>
            <a:gdLst/>
            <a:ahLst/>
            <a:cxnLst/>
            <a:rect l="l" t="t" r="r" b="b"/>
            <a:pathLst>
              <a:path w="2783205" h="419100">
                <a:moveTo>
                  <a:pt x="0" y="0"/>
                </a:moveTo>
                <a:lnTo>
                  <a:pt x="2783154" y="0"/>
                </a:lnTo>
                <a:lnTo>
                  <a:pt x="2783154" y="419100"/>
                </a:lnTo>
                <a:lnTo>
                  <a:pt x="0" y="419100"/>
                </a:lnTo>
                <a:lnTo>
                  <a:pt x="0" y="0"/>
                </a:lnTo>
                <a:close/>
              </a:path>
            </a:pathLst>
          </a:custGeom>
          <a:solidFill>
            <a:srgbClr val="393939"/>
          </a:solidFill>
        </p:spPr>
        <p:txBody>
          <a:bodyPr wrap="square" lIns="0" tIns="0" rIns="0" bIns="0" rtlCol="0"/>
          <a:lstStyle/>
          <a:p>
            <a:endParaRPr sz="1266"/>
          </a:p>
        </p:txBody>
      </p:sp>
      <p:sp>
        <p:nvSpPr>
          <p:cNvPr id="6" name="object 6"/>
          <p:cNvSpPr/>
          <p:nvPr/>
        </p:nvSpPr>
        <p:spPr>
          <a:xfrm>
            <a:off x="1715293" y="2250281"/>
            <a:ext cx="5419427" cy="294680"/>
          </a:xfrm>
          <a:custGeom>
            <a:avLst/>
            <a:gdLst/>
            <a:ahLst/>
            <a:cxnLst/>
            <a:rect l="l" t="t" r="r" b="b"/>
            <a:pathLst>
              <a:path w="7707630" h="419100">
                <a:moveTo>
                  <a:pt x="0" y="0"/>
                </a:moveTo>
                <a:lnTo>
                  <a:pt x="7707210" y="0"/>
                </a:lnTo>
                <a:lnTo>
                  <a:pt x="7707210" y="419100"/>
                </a:lnTo>
                <a:lnTo>
                  <a:pt x="0" y="419100"/>
                </a:lnTo>
                <a:lnTo>
                  <a:pt x="0" y="0"/>
                </a:lnTo>
                <a:close/>
              </a:path>
            </a:pathLst>
          </a:custGeom>
          <a:solidFill>
            <a:srgbClr val="393939"/>
          </a:solidFill>
        </p:spPr>
        <p:txBody>
          <a:bodyPr wrap="square" lIns="0" tIns="0" rIns="0" bIns="0" rtlCol="0"/>
          <a:lstStyle/>
          <a:p>
            <a:endParaRPr sz="1266"/>
          </a:p>
        </p:txBody>
      </p:sp>
      <p:sp>
        <p:nvSpPr>
          <p:cNvPr id="7" name="object 7"/>
          <p:cNvSpPr/>
          <p:nvPr/>
        </p:nvSpPr>
        <p:spPr>
          <a:xfrm>
            <a:off x="1715294" y="2839640"/>
            <a:ext cx="4215259" cy="294680"/>
          </a:xfrm>
          <a:custGeom>
            <a:avLst/>
            <a:gdLst/>
            <a:ahLst/>
            <a:cxnLst/>
            <a:rect l="l" t="t" r="r" b="b"/>
            <a:pathLst>
              <a:path w="5995035" h="419100">
                <a:moveTo>
                  <a:pt x="0" y="0"/>
                </a:moveTo>
                <a:lnTo>
                  <a:pt x="5994501" y="0"/>
                </a:lnTo>
                <a:lnTo>
                  <a:pt x="5994501" y="419100"/>
                </a:lnTo>
                <a:lnTo>
                  <a:pt x="0" y="419100"/>
                </a:lnTo>
                <a:lnTo>
                  <a:pt x="0" y="0"/>
                </a:lnTo>
                <a:close/>
              </a:path>
            </a:pathLst>
          </a:custGeom>
          <a:solidFill>
            <a:srgbClr val="393939"/>
          </a:solidFill>
        </p:spPr>
        <p:txBody>
          <a:bodyPr wrap="square" lIns="0" tIns="0" rIns="0" bIns="0" rtlCol="0"/>
          <a:lstStyle/>
          <a:p>
            <a:endParaRPr sz="1266"/>
          </a:p>
        </p:txBody>
      </p:sp>
      <p:sp>
        <p:nvSpPr>
          <p:cNvPr id="8" name="object 8"/>
          <p:cNvSpPr/>
          <p:nvPr/>
        </p:nvSpPr>
        <p:spPr>
          <a:xfrm>
            <a:off x="1715293" y="3134320"/>
            <a:ext cx="6623596" cy="294680"/>
          </a:xfrm>
          <a:custGeom>
            <a:avLst/>
            <a:gdLst/>
            <a:ahLst/>
            <a:cxnLst/>
            <a:rect l="l" t="t" r="r" b="b"/>
            <a:pathLst>
              <a:path w="9420225" h="419100">
                <a:moveTo>
                  <a:pt x="0" y="0"/>
                </a:moveTo>
                <a:lnTo>
                  <a:pt x="9419932" y="0"/>
                </a:lnTo>
                <a:lnTo>
                  <a:pt x="9419932" y="419100"/>
                </a:lnTo>
                <a:lnTo>
                  <a:pt x="0" y="419100"/>
                </a:lnTo>
                <a:lnTo>
                  <a:pt x="0" y="0"/>
                </a:lnTo>
                <a:close/>
              </a:path>
            </a:pathLst>
          </a:custGeom>
          <a:solidFill>
            <a:srgbClr val="393939"/>
          </a:solidFill>
        </p:spPr>
        <p:txBody>
          <a:bodyPr wrap="square" lIns="0" tIns="0" rIns="0" bIns="0" rtlCol="0"/>
          <a:lstStyle/>
          <a:p>
            <a:endParaRPr sz="1266"/>
          </a:p>
        </p:txBody>
      </p:sp>
      <p:sp>
        <p:nvSpPr>
          <p:cNvPr id="9" name="object 9"/>
          <p:cNvSpPr/>
          <p:nvPr/>
        </p:nvSpPr>
        <p:spPr>
          <a:xfrm>
            <a:off x="1715294" y="3429000"/>
            <a:ext cx="3161556" cy="294680"/>
          </a:xfrm>
          <a:custGeom>
            <a:avLst/>
            <a:gdLst/>
            <a:ahLst/>
            <a:cxnLst/>
            <a:rect l="l" t="t" r="r" b="b"/>
            <a:pathLst>
              <a:path w="4496435" h="419100">
                <a:moveTo>
                  <a:pt x="0" y="0"/>
                </a:moveTo>
                <a:lnTo>
                  <a:pt x="4495876" y="0"/>
                </a:lnTo>
                <a:lnTo>
                  <a:pt x="4495876" y="419100"/>
                </a:lnTo>
                <a:lnTo>
                  <a:pt x="0" y="419100"/>
                </a:lnTo>
                <a:lnTo>
                  <a:pt x="0" y="0"/>
                </a:lnTo>
                <a:close/>
              </a:path>
            </a:pathLst>
          </a:custGeom>
          <a:solidFill>
            <a:srgbClr val="393939"/>
          </a:solidFill>
        </p:spPr>
        <p:txBody>
          <a:bodyPr wrap="square" lIns="0" tIns="0" rIns="0" bIns="0" rtlCol="0"/>
          <a:lstStyle/>
          <a:p>
            <a:endParaRPr sz="1266"/>
          </a:p>
        </p:txBody>
      </p:sp>
      <p:sp>
        <p:nvSpPr>
          <p:cNvPr id="10" name="object 10"/>
          <p:cNvSpPr/>
          <p:nvPr/>
        </p:nvSpPr>
        <p:spPr>
          <a:xfrm>
            <a:off x="1715294" y="3723680"/>
            <a:ext cx="7978229" cy="294680"/>
          </a:xfrm>
          <a:custGeom>
            <a:avLst/>
            <a:gdLst/>
            <a:ahLst/>
            <a:cxnLst/>
            <a:rect l="l" t="t" r="r" b="b"/>
            <a:pathLst>
              <a:path w="11346815" h="419100">
                <a:moveTo>
                  <a:pt x="0" y="0"/>
                </a:moveTo>
                <a:lnTo>
                  <a:pt x="11346726" y="0"/>
                </a:lnTo>
                <a:lnTo>
                  <a:pt x="11346726" y="419100"/>
                </a:lnTo>
                <a:lnTo>
                  <a:pt x="0" y="419100"/>
                </a:lnTo>
                <a:lnTo>
                  <a:pt x="0" y="0"/>
                </a:lnTo>
                <a:close/>
              </a:path>
            </a:pathLst>
          </a:custGeom>
          <a:solidFill>
            <a:srgbClr val="393939"/>
          </a:solidFill>
        </p:spPr>
        <p:txBody>
          <a:bodyPr wrap="square" lIns="0" tIns="0" rIns="0" bIns="0" rtlCol="0"/>
          <a:lstStyle/>
          <a:p>
            <a:endParaRPr sz="1266"/>
          </a:p>
        </p:txBody>
      </p:sp>
      <p:sp>
        <p:nvSpPr>
          <p:cNvPr id="11" name="object 11"/>
          <p:cNvSpPr/>
          <p:nvPr/>
        </p:nvSpPr>
        <p:spPr>
          <a:xfrm>
            <a:off x="1715293" y="4313039"/>
            <a:ext cx="5268961" cy="294680"/>
          </a:xfrm>
          <a:custGeom>
            <a:avLst/>
            <a:gdLst/>
            <a:ahLst/>
            <a:cxnLst/>
            <a:rect l="l" t="t" r="r" b="b"/>
            <a:pathLst>
              <a:path w="7493634" h="419100">
                <a:moveTo>
                  <a:pt x="0" y="0"/>
                </a:moveTo>
                <a:lnTo>
                  <a:pt x="7493127" y="0"/>
                </a:lnTo>
                <a:lnTo>
                  <a:pt x="7493127" y="419100"/>
                </a:lnTo>
                <a:lnTo>
                  <a:pt x="0" y="419100"/>
                </a:lnTo>
                <a:lnTo>
                  <a:pt x="0" y="0"/>
                </a:lnTo>
                <a:close/>
              </a:path>
            </a:pathLst>
          </a:custGeom>
          <a:solidFill>
            <a:srgbClr val="393939"/>
          </a:solidFill>
        </p:spPr>
        <p:txBody>
          <a:bodyPr wrap="square" lIns="0" tIns="0" rIns="0" bIns="0" rtlCol="0"/>
          <a:lstStyle/>
          <a:p>
            <a:endParaRPr sz="1266"/>
          </a:p>
        </p:txBody>
      </p:sp>
      <p:sp>
        <p:nvSpPr>
          <p:cNvPr id="12" name="object 12"/>
          <p:cNvSpPr/>
          <p:nvPr/>
        </p:nvSpPr>
        <p:spPr>
          <a:xfrm>
            <a:off x="1715293" y="4607719"/>
            <a:ext cx="2107853" cy="294680"/>
          </a:xfrm>
          <a:custGeom>
            <a:avLst/>
            <a:gdLst/>
            <a:ahLst/>
            <a:cxnLst/>
            <a:rect l="l" t="t" r="r" b="b"/>
            <a:pathLst>
              <a:path w="2997835" h="419100">
                <a:moveTo>
                  <a:pt x="0" y="0"/>
                </a:moveTo>
                <a:lnTo>
                  <a:pt x="2997250" y="0"/>
                </a:lnTo>
                <a:lnTo>
                  <a:pt x="2997250" y="419100"/>
                </a:lnTo>
                <a:lnTo>
                  <a:pt x="0" y="419100"/>
                </a:lnTo>
                <a:lnTo>
                  <a:pt x="0" y="0"/>
                </a:lnTo>
                <a:close/>
              </a:path>
            </a:pathLst>
          </a:custGeom>
          <a:solidFill>
            <a:srgbClr val="393939"/>
          </a:solidFill>
        </p:spPr>
        <p:txBody>
          <a:bodyPr wrap="square" lIns="0" tIns="0" rIns="0" bIns="0" rtlCol="0"/>
          <a:lstStyle/>
          <a:p>
            <a:endParaRPr sz="1266"/>
          </a:p>
        </p:txBody>
      </p:sp>
      <p:sp>
        <p:nvSpPr>
          <p:cNvPr id="13" name="object 13"/>
          <p:cNvSpPr/>
          <p:nvPr/>
        </p:nvSpPr>
        <p:spPr>
          <a:xfrm>
            <a:off x="1715293" y="4902398"/>
            <a:ext cx="6021288" cy="294680"/>
          </a:xfrm>
          <a:custGeom>
            <a:avLst/>
            <a:gdLst/>
            <a:ahLst/>
            <a:cxnLst/>
            <a:rect l="l" t="t" r="r" b="b"/>
            <a:pathLst>
              <a:path w="8563610" h="419100">
                <a:moveTo>
                  <a:pt x="0" y="0"/>
                </a:moveTo>
                <a:lnTo>
                  <a:pt x="8563571" y="0"/>
                </a:lnTo>
                <a:lnTo>
                  <a:pt x="8563571" y="419100"/>
                </a:lnTo>
                <a:lnTo>
                  <a:pt x="0" y="419100"/>
                </a:lnTo>
                <a:lnTo>
                  <a:pt x="0" y="0"/>
                </a:lnTo>
                <a:close/>
              </a:path>
            </a:pathLst>
          </a:custGeom>
          <a:solidFill>
            <a:srgbClr val="393939"/>
          </a:solidFill>
        </p:spPr>
        <p:txBody>
          <a:bodyPr wrap="square" lIns="0" tIns="0" rIns="0" bIns="0" rtlCol="0"/>
          <a:lstStyle/>
          <a:p>
            <a:endParaRPr sz="1266"/>
          </a:p>
        </p:txBody>
      </p:sp>
      <p:sp>
        <p:nvSpPr>
          <p:cNvPr id="14" name="object 14"/>
          <p:cNvSpPr/>
          <p:nvPr/>
        </p:nvSpPr>
        <p:spPr>
          <a:xfrm>
            <a:off x="1715293" y="5197078"/>
            <a:ext cx="8279606" cy="294680"/>
          </a:xfrm>
          <a:custGeom>
            <a:avLst/>
            <a:gdLst/>
            <a:ahLst/>
            <a:cxnLst/>
            <a:rect l="l" t="t" r="r" b="b"/>
            <a:pathLst>
              <a:path w="11775440" h="419100">
                <a:moveTo>
                  <a:pt x="0" y="0"/>
                </a:moveTo>
                <a:lnTo>
                  <a:pt x="11774906" y="0"/>
                </a:lnTo>
                <a:lnTo>
                  <a:pt x="11774906" y="419100"/>
                </a:lnTo>
                <a:lnTo>
                  <a:pt x="0" y="419100"/>
                </a:lnTo>
                <a:lnTo>
                  <a:pt x="0" y="0"/>
                </a:lnTo>
                <a:close/>
              </a:path>
            </a:pathLst>
          </a:custGeom>
          <a:solidFill>
            <a:srgbClr val="393939"/>
          </a:solidFill>
        </p:spPr>
        <p:txBody>
          <a:bodyPr wrap="square" lIns="0" tIns="0" rIns="0" bIns="0" rtlCol="0"/>
          <a:lstStyle/>
          <a:p>
            <a:endParaRPr sz="1266"/>
          </a:p>
        </p:txBody>
      </p:sp>
      <p:sp>
        <p:nvSpPr>
          <p:cNvPr id="15" name="object 15"/>
          <p:cNvSpPr/>
          <p:nvPr/>
        </p:nvSpPr>
        <p:spPr>
          <a:xfrm>
            <a:off x="1715294" y="5491758"/>
            <a:ext cx="150911" cy="294680"/>
          </a:xfrm>
          <a:custGeom>
            <a:avLst/>
            <a:gdLst/>
            <a:ahLst/>
            <a:cxnLst/>
            <a:rect l="l" t="t" r="r" b="b"/>
            <a:pathLst>
              <a:path w="214629" h="419100">
                <a:moveTo>
                  <a:pt x="0" y="0"/>
                </a:moveTo>
                <a:lnTo>
                  <a:pt x="214088" y="0"/>
                </a:lnTo>
                <a:lnTo>
                  <a:pt x="214088" y="419100"/>
                </a:lnTo>
                <a:lnTo>
                  <a:pt x="0" y="419100"/>
                </a:lnTo>
                <a:lnTo>
                  <a:pt x="0" y="0"/>
                </a:lnTo>
                <a:close/>
              </a:path>
            </a:pathLst>
          </a:custGeom>
          <a:solidFill>
            <a:srgbClr val="393939"/>
          </a:solidFill>
        </p:spPr>
        <p:txBody>
          <a:bodyPr wrap="square" lIns="0" tIns="0" rIns="0" bIns="0" rtlCol="0"/>
          <a:lstStyle/>
          <a:p>
            <a:endParaRPr sz="1266"/>
          </a:p>
        </p:txBody>
      </p:sp>
      <p:sp>
        <p:nvSpPr>
          <p:cNvPr id="16" name="object 16"/>
          <p:cNvSpPr txBox="1">
            <a:spLocks noGrp="1"/>
          </p:cNvSpPr>
          <p:nvPr>
            <p:ph type="title"/>
          </p:nvPr>
        </p:nvSpPr>
        <p:spPr>
          <a:xfrm>
            <a:off x="1709936" y="1057118"/>
            <a:ext cx="3781276" cy="303032"/>
          </a:xfrm>
          <a:prstGeom prst="rect">
            <a:avLst/>
          </a:prstGeom>
        </p:spPr>
        <p:txBody>
          <a:bodyPr vert="horz" wrap="square" lIns="0" tIns="0" rIns="0" bIns="0" rtlCol="0" anchor="ctr">
            <a:spAutoFit/>
          </a:bodyPr>
          <a:lstStyle/>
          <a:p>
            <a:pPr marL="8929">
              <a:lnSpc>
                <a:spcPct val="100000"/>
              </a:lnSpc>
            </a:pPr>
            <a:r>
              <a:rPr sz="1969" spc="-4" dirty="0">
                <a:solidFill>
                  <a:srgbClr val="B7C4D1"/>
                </a:solidFill>
                <a:latin typeface="Lucida Console"/>
                <a:cs typeface="Lucida Console"/>
              </a:rPr>
              <a:t>//</a:t>
            </a:r>
            <a:r>
              <a:rPr sz="1969" spc="-14" dirty="0">
                <a:solidFill>
                  <a:srgbClr val="B7C4D1"/>
                </a:solidFill>
                <a:latin typeface="Lucida Console"/>
                <a:cs typeface="Lucida Console"/>
              </a:rPr>
              <a:t> </a:t>
            </a:r>
            <a:r>
              <a:rPr sz="1969" spc="-4" dirty="0">
                <a:solidFill>
                  <a:srgbClr val="B7C4D1"/>
                </a:solidFill>
                <a:latin typeface="Lucida Console"/>
                <a:cs typeface="Lucida Console"/>
              </a:rPr>
              <a:t>experiments.service.ts</a:t>
            </a:r>
            <a:endParaRPr sz="1969">
              <a:latin typeface="Lucida Console"/>
              <a:cs typeface="Lucida Console"/>
            </a:endParaRPr>
          </a:p>
        </p:txBody>
      </p:sp>
      <p:sp>
        <p:nvSpPr>
          <p:cNvPr id="17" name="object 17"/>
          <p:cNvSpPr txBox="1"/>
          <p:nvPr/>
        </p:nvSpPr>
        <p:spPr>
          <a:xfrm>
            <a:off x="5473218" y="1348383"/>
            <a:ext cx="2426643" cy="303032"/>
          </a:xfrm>
          <a:prstGeom prst="rect">
            <a:avLst/>
          </a:prstGeom>
        </p:spPr>
        <p:txBody>
          <a:bodyPr vert="horz" wrap="square" lIns="0" tIns="0" rIns="0" bIns="0" rtlCol="0">
            <a:spAutoFit/>
          </a:bodyPr>
          <a:lstStyle/>
          <a:p>
            <a:pPr marL="8929"/>
            <a:r>
              <a:rPr sz="1969" spc="-4" dirty="0">
                <a:solidFill>
                  <a:srgbClr val="7C976C"/>
                </a:solidFill>
                <a:latin typeface="Lucida Console"/>
                <a:cs typeface="Lucida Console"/>
              </a:rPr>
              <a:t>'</a:t>
            </a:r>
            <a:r>
              <a:rPr lang="es-ES" sz="1969" spc="-4" dirty="0">
                <a:solidFill>
                  <a:srgbClr val="7C976C"/>
                </a:solidFill>
                <a:latin typeface="Lucida Console"/>
                <a:cs typeface="Lucida Console"/>
              </a:rPr>
              <a:t>@</a:t>
            </a:r>
            <a:r>
              <a:rPr sz="1969" spc="-4" dirty="0">
                <a:solidFill>
                  <a:srgbClr val="7C976C"/>
                </a:solidFill>
                <a:latin typeface="Lucida Console"/>
                <a:cs typeface="Lucida Console"/>
              </a:rPr>
              <a:t>angular/core'</a:t>
            </a:r>
            <a:r>
              <a:rPr sz="1969" spc="-4" dirty="0">
                <a:solidFill>
                  <a:srgbClr val="B7C4D1"/>
                </a:solidFill>
                <a:latin typeface="Lucida Console"/>
                <a:cs typeface="Lucida Console"/>
              </a:rPr>
              <a:t>;</a:t>
            </a:r>
            <a:endParaRPr sz="1969" dirty="0">
              <a:latin typeface="Lucida Console"/>
              <a:cs typeface="Lucida Console"/>
            </a:endParaRPr>
          </a:p>
        </p:txBody>
      </p:sp>
      <p:sp>
        <p:nvSpPr>
          <p:cNvPr id="18" name="object 18"/>
          <p:cNvSpPr txBox="1"/>
          <p:nvPr/>
        </p:nvSpPr>
        <p:spPr>
          <a:xfrm>
            <a:off x="1709935" y="1348383"/>
            <a:ext cx="3630811" cy="909095"/>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import </a:t>
            </a:r>
            <a:r>
              <a:rPr sz="1969" spc="-4" dirty="0">
                <a:solidFill>
                  <a:srgbClr val="B7C4D1"/>
                </a:solidFill>
                <a:latin typeface="Lucida Console"/>
                <a:cs typeface="Lucida Console"/>
              </a:rPr>
              <a:t>{Injectable}</a:t>
            </a:r>
            <a:r>
              <a:rPr sz="1969" spc="-18" dirty="0">
                <a:solidFill>
                  <a:srgbClr val="B7C4D1"/>
                </a:solidFill>
                <a:latin typeface="Lucida Console"/>
                <a:cs typeface="Lucida Console"/>
              </a:rPr>
              <a:t> </a:t>
            </a:r>
            <a:r>
              <a:rPr sz="1969" b="1" spc="-4" dirty="0">
                <a:solidFill>
                  <a:srgbClr val="D78B40"/>
                </a:solidFill>
                <a:latin typeface="Lucida Sans Typewriter"/>
                <a:cs typeface="Lucida Sans Typewriter"/>
              </a:rPr>
              <a:t>from</a:t>
            </a:r>
            <a:endParaRPr sz="1969" dirty="0">
              <a:latin typeface="Lucida Sans Typewriter"/>
              <a:cs typeface="Lucida Sans Typewriter"/>
            </a:endParaRPr>
          </a:p>
          <a:p>
            <a:pPr>
              <a:spcBef>
                <a:spcPts val="14"/>
              </a:spcBef>
            </a:pPr>
            <a:endParaRPr sz="1969" dirty="0">
              <a:latin typeface="Times New Roman"/>
              <a:cs typeface="Times New Roman"/>
            </a:endParaRPr>
          </a:p>
          <a:p>
            <a:pPr marL="8929"/>
            <a:r>
              <a:rPr sz="1969" spc="-4" dirty="0">
                <a:solidFill>
                  <a:srgbClr val="FF0000"/>
                </a:solidFill>
                <a:latin typeface="Lucida Console"/>
                <a:cs typeface="Lucida Console"/>
              </a:rPr>
              <a:t>@Injectable()</a:t>
            </a:r>
            <a:endParaRPr sz="1969" dirty="0">
              <a:solidFill>
                <a:srgbClr val="FF0000"/>
              </a:solidFill>
              <a:latin typeface="Lucida Console"/>
              <a:cs typeface="Lucida Console"/>
            </a:endParaRPr>
          </a:p>
        </p:txBody>
      </p:sp>
      <p:sp>
        <p:nvSpPr>
          <p:cNvPr id="19" name="object 19"/>
          <p:cNvSpPr txBox="1"/>
          <p:nvPr/>
        </p:nvSpPr>
        <p:spPr>
          <a:xfrm>
            <a:off x="1709935" y="2232422"/>
            <a:ext cx="5286821" cy="909095"/>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export class </a:t>
            </a:r>
            <a:r>
              <a:rPr sz="1969" spc="-4" dirty="0">
                <a:solidFill>
                  <a:srgbClr val="B7C4D1"/>
                </a:solidFill>
                <a:latin typeface="Lucida Console"/>
                <a:cs typeface="Lucida Console"/>
              </a:rPr>
              <a:t>ExperimentsService {</a:t>
            </a:r>
            <a:r>
              <a:rPr sz="1969" spc="7" dirty="0">
                <a:solidFill>
                  <a:srgbClr val="B7C4D1"/>
                </a:solidFill>
                <a:latin typeface="Lucida Console"/>
                <a:cs typeface="Lucida Console"/>
              </a:rPr>
              <a:t> </a:t>
            </a:r>
            <a:r>
              <a:rPr sz="1969" spc="-4" dirty="0">
                <a:solidFill>
                  <a:srgbClr val="B7C4D1"/>
                </a:solidFill>
                <a:latin typeface="Lucida Console"/>
                <a:cs typeface="Lucida Console"/>
              </a:rPr>
              <a:t>}</a:t>
            </a:r>
            <a:endParaRPr sz="1969" dirty="0">
              <a:latin typeface="Lucida Console"/>
              <a:cs typeface="Lucida Console"/>
            </a:endParaRPr>
          </a:p>
          <a:p>
            <a:pPr>
              <a:spcBef>
                <a:spcPts val="14"/>
              </a:spcBef>
            </a:pPr>
            <a:endParaRPr sz="1969" dirty="0">
              <a:latin typeface="Times New Roman"/>
              <a:cs typeface="Times New Roman"/>
            </a:endParaRPr>
          </a:p>
          <a:p>
            <a:pPr marL="8929"/>
            <a:r>
              <a:rPr sz="1969" spc="-4" dirty="0">
                <a:solidFill>
                  <a:srgbClr val="B7C4D1"/>
                </a:solidFill>
                <a:latin typeface="Lucida Console"/>
                <a:cs typeface="Lucida Console"/>
              </a:rPr>
              <a:t>//</a:t>
            </a:r>
            <a:r>
              <a:rPr sz="1969" spc="-11" dirty="0">
                <a:solidFill>
                  <a:srgbClr val="B7C4D1"/>
                </a:solidFill>
                <a:latin typeface="Lucida Console"/>
                <a:cs typeface="Lucida Console"/>
              </a:rPr>
              <a:t> </a:t>
            </a:r>
            <a:r>
              <a:rPr sz="1969" spc="-4" dirty="0">
                <a:solidFill>
                  <a:srgbClr val="B7C4D1"/>
                </a:solidFill>
                <a:latin typeface="Lucida Console"/>
                <a:cs typeface="Lucida Console"/>
              </a:rPr>
              <a:t>experiments.component.ts</a:t>
            </a:r>
            <a:endParaRPr sz="1969" dirty="0">
              <a:latin typeface="Lucida Console"/>
              <a:cs typeface="Lucida Console"/>
            </a:endParaRPr>
          </a:p>
        </p:txBody>
      </p:sp>
      <p:sp>
        <p:nvSpPr>
          <p:cNvPr id="20" name="object 20"/>
          <p:cNvSpPr txBox="1"/>
          <p:nvPr/>
        </p:nvSpPr>
        <p:spPr>
          <a:xfrm>
            <a:off x="6677476" y="3116461"/>
            <a:ext cx="1673870" cy="303032"/>
          </a:xfrm>
          <a:prstGeom prst="rect">
            <a:avLst/>
          </a:prstGeom>
        </p:spPr>
        <p:txBody>
          <a:bodyPr vert="horz" wrap="square" lIns="0" tIns="0" rIns="0" bIns="0" rtlCol="0">
            <a:spAutoFit/>
          </a:bodyPr>
          <a:lstStyle/>
          <a:p>
            <a:pPr marL="8929"/>
            <a:r>
              <a:rPr sz="1969" spc="-4" dirty="0">
                <a:solidFill>
                  <a:srgbClr val="7C976C"/>
                </a:solidFill>
                <a:latin typeface="Lucida Console"/>
                <a:cs typeface="Lucida Console"/>
              </a:rPr>
              <a:t>'../common/</a:t>
            </a:r>
            <a:endParaRPr sz="1969" dirty="0">
              <a:latin typeface="Lucida Console"/>
              <a:cs typeface="Lucida Console"/>
            </a:endParaRPr>
          </a:p>
        </p:txBody>
      </p:sp>
      <p:sp>
        <p:nvSpPr>
          <p:cNvPr id="21" name="object 21"/>
          <p:cNvSpPr txBox="1"/>
          <p:nvPr/>
        </p:nvSpPr>
        <p:spPr>
          <a:xfrm>
            <a:off x="1709936" y="3116461"/>
            <a:ext cx="4834979" cy="589905"/>
          </a:xfrm>
          <a:prstGeom prst="rect">
            <a:avLst/>
          </a:prstGeom>
        </p:spPr>
        <p:txBody>
          <a:bodyPr vert="horz" wrap="square" lIns="0" tIns="0" rIns="0" bIns="0" rtlCol="0">
            <a:spAutoFit/>
          </a:bodyPr>
          <a:lstStyle/>
          <a:p>
            <a:pPr marL="8929">
              <a:lnSpc>
                <a:spcPts val="2341"/>
              </a:lnSpc>
            </a:pPr>
            <a:r>
              <a:rPr sz="1969" b="1" spc="-4" dirty="0">
                <a:solidFill>
                  <a:srgbClr val="D78B40"/>
                </a:solidFill>
                <a:latin typeface="Lucida Sans Typewriter"/>
                <a:cs typeface="Lucida Sans Typewriter"/>
              </a:rPr>
              <a:t>import </a:t>
            </a:r>
            <a:r>
              <a:rPr sz="1969" spc="-4" dirty="0">
                <a:solidFill>
                  <a:srgbClr val="B7C4D1"/>
                </a:solidFill>
                <a:latin typeface="Lucida Console"/>
                <a:cs typeface="Lucida Console"/>
              </a:rPr>
              <a:t>{ExperimentsService}</a:t>
            </a:r>
            <a:r>
              <a:rPr sz="1969" dirty="0">
                <a:solidFill>
                  <a:srgbClr val="B7C4D1"/>
                </a:solidFill>
                <a:latin typeface="Lucida Console"/>
                <a:cs typeface="Lucida Console"/>
              </a:rPr>
              <a:t> </a:t>
            </a:r>
            <a:r>
              <a:rPr sz="1969" b="1" spc="-4" dirty="0">
                <a:solidFill>
                  <a:srgbClr val="D78B40"/>
                </a:solidFill>
                <a:latin typeface="Lucida Sans Typewriter"/>
                <a:cs typeface="Lucida Sans Typewriter"/>
              </a:rPr>
              <a:t>from</a:t>
            </a:r>
            <a:endParaRPr sz="1969" dirty="0">
              <a:latin typeface="Lucida Sans Typewriter"/>
              <a:cs typeface="Lucida Sans Typewriter"/>
            </a:endParaRPr>
          </a:p>
          <a:p>
            <a:pPr marL="8929">
              <a:lnSpc>
                <a:spcPts val="2341"/>
              </a:lnSpc>
            </a:pPr>
            <a:r>
              <a:rPr sz="1969" spc="-4" dirty="0">
                <a:solidFill>
                  <a:srgbClr val="7C976C"/>
                </a:solidFill>
                <a:latin typeface="Lucida Console"/>
                <a:cs typeface="Lucida Console"/>
              </a:rPr>
              <a:t>experiments.service'</a:t>
            </a:r>
            <a:r>
              <a:rPr sz="1969" spc="-4" dirty="0">
                <a:solidFill>
                  <a:srgbClr val="B7C4D1"/>
                </a:solidFill>
                <a:latin typeface="Lucida Console"/>
                <a:cs typeface="Lucida Console"/>
              </a:rPr>
              <a:t>;</a:t>
            </a:r>
            <a:endParaRPr sz="1969" dirty="0">
              <a:latin typeface="Lucida Console"/>
              <a:cs typeface="Lucida Console"/>
            </a:endParaRPr>
          </a:p>
        </p:txBody>
      </p:sp>
      <p:sp>
        <p:nvSpPr>
          <p:cNvPr id="22" name="object 22"/>
          <p:cNvSpPr txBox="1"/>
          <p:nvPr/>
        </p:nvSpPr>
        <p:spPr>
          <a:xfrm>
            <a:off x="1709936" y="3705820"/>
            <a:ext cx="7996089" cy="1195968"/>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import </a:t>
            </a:r>
            <a:r>
              <a:rPr sz="1969" spc="-4" dirty="0">
                <a:solidFill>
                  <a:srgbClr val="B7C4D1"/>
                </a:solidFill>
                <a:latin typeface="Lucida Console"/>
                <a:cs typeface="Lucida Console"/>
              </a:rPr>
              <a:t>{StateService} </a:t>
            </a:r>
            <a:r>
              <a:rPr sz="1969" b="1" spc="-4" dirty="0">
                <a:solidFill>
                  <a:srgbClr val="D78B40"/>
                </a:solidFill>
                <a:latin typeface="Lucida Sans Typewriter"/>
                <a:cs typeface="Lucida Sans Typewriter"/>
              </a:rPr>
              <a:t>from</a:t>
            </a:r>
            <a:r>
              <a:rPr sz="1969" b="1" spc="49" dirty="0">
                <a:solidFill>
                  <a:srgbClr val="D78B40"/>
                </a:solidFill>
                <a:latin typeface="Lucida Sans Typewriter"/>
                <a:cs typeface="Lucida Sans Typewriter"/>
              </a:rPr>
              <a:t> </a:t>
            </a:r>
            <a:r>
              <a:rPr sz="1969" spc="-4" dirty="0">
                <a:solidFill>
                  <a:srgbClr val="7C976C"/>
                </a:solidFill>
                <a:latin typeface="Lucida Console"/>
                <a:cs typeface="Lucida Console"/>
              </a:rPr>
              <a:t>'../common/state.service'</a:t>
            </a:r>
            <a:r>
              <a:rPr sz="1969" spc="-4" dirty="0">
                <a:solidFill>
                  <a:srgbClr val="B7C4D1"/>
                </a:solidFill>
                <a:latin typeface="Lucida Console"/>
                <a:cs typeface="Lucida Console"/>
              </a:rPr>
              <a:t>;</a:t>
            </a:r>
            <a:endParaRPr sz="1969" dirty="0">
              <a:latin typeface="Lucida Console"/>
              <a:cs typeface="Lucida Console"/>
            </a:endParaRPr>
          </a:p>
          <a:p>
            <a:pPr>
              <a:spcBef>
                <a:spcPts val="14"/>
              </a:spcBef>
            </a:pPr>
            <a:endParaRPr sz="1969" dirty="0">
              <a:latin typeface="Times New Roman"/>
              <a:cs typeface="Times New Roman"/>
            </a:endParaRPr>
          </a:p>
          <a:p>
            <a:pPr marL="8929">
              <a:lnSpc>
                <a:spcPts val="2341"/>
              </a:lnSpc>
            </a:pPr>
            <a:r>
              <a:rPr sz="1969" b="1" spc="-4" dirty="0">
                <a:solidFill>
                  <a:srgbClr val="D78B40"/>
                </a:solidFill>
                <a:latin typeface="Lucida Sans Typewriter"/>
                <a:cs typeface="Lucida Sans Typewriter"/>
              </a:rPr>
              <a:t>export class </a:t>
            </a:r>
            <a:r>
              <a:rPr sz="1969" spc="-4" dirty="0">
                <a:solidFill>
                  <a:srgbClr val="B7C4D1"/>
                </a:solidFill>
                <a:latin typeface="Lucida Console"/>
                <a:cs typeface="Lucida Console"/>
              </a:rPr>
              <a:t>ExperimentsComponent</a:t>
            </a:r>
            <a:r>
              <a:rPr sz="1969" spc="11" dirty="0">
                <a:solidFill>
                  <a:srgbClr val="B7C4D1"/>
                </a:solidFill>
                <a:latin typeface="Lucida Console"/>
                <a:cs typeface="Lucida Console"/>
              </a:rPr>
              <a:t> </a:t>
            </a:r>
            <a:r>
              <a:rPr sz="1969" spc="-4" dirty="0">
                <a:solidFill>
                  <a:srgbClr val="B7C4D1"/>
                </a:solidFill>
                <a:latin typeface="Lucida Console"/>
                <a:cs typeface="Lucida Console"/>
              </a:rPr>
              <a:t>{</a:t>
            </a:r>
            <a:endParaRPr sz="1969" dirty="0">
              <a:latin typeface="Lucida Console"/>
              <a:cs typeface="Lucida Console"/>
            </a:endParaRPr>
          </a:p>
          <a:p>
            <a:pPr marL="309849">
              <a:lnSpc>
                <a:spcPts val="2341"/>
              </a:lnSpc>
            </a:pPr>
            <a:r>
              <a:rPr sz="1969" b="1" spc="-4" dirty="0">
                <a:solidFill>
                  <a:srgbClr val="D78B40"/>
                </a:solidFill>
                <a:latin typeface="Lucida Sans Typewriter"/>
                <a:cs typeface="Lucida Sans Typewriter"/>
              </a:rPr>
              <a:t>constructor</a:t>
            </a:r>
            <a:r>
              <a:rPr sz="1969" spc="-4" dirty="0">
                <a:solidFill>
                  <a:srgbClr val="B7C4D1"/>
                </a:solidFill>
                <a:latin typeface="Lucida Console"/>
                <a:cs typeface="Lucida Console"/>
              </a:rPr>
              <a:t>(</a:t>
            </a:r>
            <a:endParaRPr sz="1969" dirty="0">
              <a:latin typeface="Lucida Console"/>
              <a:cs typeface="Lucida Console"/>
            </a:endParaRPr>
          </a:p>
        </p:txBody>
      </p:sp>
      <p:sp>
        <p:nvSpPr>
          <p:cNvPr id="23" name="object 23"/>
          <p:cNvSpPr txBox="1"/>
          <p:nvPr/>
        </p:nvSpPr>
        <p:spPr>
          <a:xfrm>
            <a:off x="2312062" y="4884539"/>
            <a:ext cx="1072009" cy="303032"/>
          </a:xfrm>
          <a:prstGeom prst="rect">
            <a:avLst/>
          </a:prstGeom>
        </p:spPr>
        <p:txBody>
          <a:bodyPr vert="horz" wrap="square" lIns="0" tIns="0" rIns="0" bIns="0" rtlCol="0">
            <a:spAutoFit/>
          </a:bodyPr>
          <a:lstStyle/>
          <a:p>
            <a:pPr marL="8929"/>
            <a:r>
              <a:rPr sz="1969" b="1" spc="-4" dirty="0">
                <a:solidFill>
                  <a:srgbClr val="D78B40"/>
                </a:solidFill>
                <a:latin typeface="Lucida Sans Typewriter"/>
                <a:cs typeface="Lucida Sans Typewriter"/>
              </a:rPr>
              <a:t>private</a:t>
            </a:r>
            <a:endParaRPr sz="1969" dirty="0">
              <a:latin typeface="Lucida Sans Typewriter"/>
              <a:cs typeface="Lucida Sans Typewriter"/>
            </a:endParaRPr>
          </a:p>
        </p:txBody>
      </p:sp>
      <p:sp>
        <p:nvSpPr>
          <p:cNvPr id="24" name="object 24"/>
          <p:cNvSpPr txBox="1"/>
          <p:nvPr/>
        </p:nvSpPr>
        <p:spPr>
          <a:xfrm>
            <a:off x="2312062" y="5179219"/>
            <a:ext cx="1072009" cy="303032"/>
          </a:xfrm>
          <a:prstGeom prst="rect">
            <a:avLst/>
          </a:prstGeom>
        </p:spPr>
        <p:txBody>
          <a:bodyPr vert="horz" wrap="square" lIns="0" tIns="0" rIns="0" bIns="0" rtlCol="0">
            <a:spAutoFit/>
          </a:bodyPr>
          <a:lstStyle/>
          <a:p>
            <a:pPr marL="8929"/>
            <a:r>
              <a:rPr sz="1969" b="1" spc="-4" dirty="0">
                <a:solidFill>
                  <a:srgbClr val="FF0000"/>
                </a:solidFill>
                <a:latin typeface="Lucida Sans Typewriter"/>
                <a:cs typeface="Lucida Sans Typewriter"/>
              </a:rPr>
              <a:t>private</a:t>
            </a:r>
            <a:endParaRPr sz="1969" dirty="0">
              <a:solidFill>
                <a:srgbClr val="FF0000"/>
              </a:solidFill>
              <a:latin typeface="Lucida Sans Typewriter"/>
              <a:cs typeface="Lucida Sans Typewriter"/>
            </a:endParaRPr>
          </a:p>
        </p:txBody>
      </p:sp>
      <p:sp>
        <p:nvSpPr>
          <p:cNvPr id="25" name="object 25"/>
          <p:cNvSpPr txBox="1"/>
          <p:nvPr/>
        </p:nvSpPr>
        <p:spPr>
          <a:xfrm>
            <a:off x="3516313" y="4884539"/>
            <a:ext cx="6491436" cy="589905"/>
          </a:xfrm>
          <a:prstGeom prst="rect">
            <a:avLst/>
          </a:prstGeom>
        </p:spPr>
        <p:txBody>
          <a:bodyPr vert="horz" wrap="square" lIns="0" tIns="0" rIns="0" bIns="0" rtlCol="0">
            <a:spAutoFit/>
          </a:bodyPr>
          <a:lstStyle/>
          <a:p>
            <a:pPr marL="8929">
              <a:lnSpc>
                <a:spcPts val="2341"/>
              </a:lnSpc>
            </a:pPr>
            <a:r>
              <a:rPr sz="1969" spc="-4" dirty="0">
                <a:solidFill>
                  <a:srgbClr val="B7C4D1"/>
                </a:solidFill>
                <a:latin typeface="Lucida Console"/>
                <a:cs typeface="Lucida Console"/>
              </a:rPr>
              <a:t>_stateService: StateService,</a:t>
            </a:r>
            <a:endParaRPr sz="1969" dirty="0">
              <a:latin typeface="Lucida Console"/>
              <a:cs typeface="Lucida Console"/>
            </a:endParaRPr>
          </a:p>
          <a:p>
            <a:pPr marL="8929">
              <a:lnSpc>
                <a:spcPts val="2341"/>
              </a:lnSpc>
            </a:pPr>
            <a:r>
              <a:rPr sz="1969" spc="-4" dirty="0">
                <a:solidFill>
                  <a:srgbClr val="FF0000"/>
                </a:solidFill>
                <a:latin typeface="Lucida Console"/>
                <a:cs typeface="Lucida Console"/>
              </a:rPr>
              <a:t>_experimentsService: ExperimentsService</a:t>
            </a:r>
            <a:r>
              <a:rPr sz="1969" spc="-4" dirty="0">
                <a:solidFill>
                  <a:srgbClr val="B7C4D1"/>
                </a:solidFill>
                <a:latin typeface="Lucida Console"/>
                <a:cs typeface="Lucida Console"/>
              </a:rPr>
              <a:t>)</a:t>
            </a:r>
            <a:r>
              <a:rPr sz="1969" spc="35" dirty="0">
                <a:solidFill>
                  <a:srgbClr val="B7C4D1"/>
                </a:solidFill>
                <a:latin typeface="Lucida Console"/>
                <a:cs typeface="Lucida Console"/>
              </a:rPr>
              <a:t> </a:t>
            </a:r>
            <a:r>
              <a:rPr sz="1969" spc="-4" dirty="0">
                <a:solidFill>
                  <a:srgbClr val="B7C4D1"/>
                </a:solidFill>
                <a:latin typeface="Lucida Console"/>
                <a:cs typeface="Lucida Console"/>
              </a:rPr>
              <a:t>{}</a:t>
            </a:r>
            <a:endParaRPr sz="1969" dirty="0">
              <a:latin typeface="Lucida Console"/>
              <a:cs typeface="Lucida Console"/>
            </a:endParaRPr>
          </a:p>
        </p:txBody>
      </p:sp>
      <p:sp>
        <p:nvSpPr>
          <p:cNvPr id="26" name="object 26"/>
          <p:cNvSpPr txBox="1"/>
          <p:nvPr/>
        </p:nvSpPr>
        <p:spPr>
          <a:xfrm>
            <a:off x="1709936" y="5473899"/>
            <a:ext cx="6259264" cy="1235916"/>
          </a:xfrm>
          <a:prstGeom prst="rect">
            <a:avLst/>
          </a:prstGeom>
        </p:spPr>
        <p:txBody>
          <a:bodyPr vert="horz" wrap="square" lIns="0" tIns="0" rIns="0" bIns="0" rtlCol="0">
            <a:spAutoFit/>
          </a:bodyPr>
          <a:lstStyle/>
          <a:p>
            <a:pPr marL="8929"/>
            <a:r>
              <a:rPr sz="1969" spc="-4" dirty="0">
                <a:solidFill>
                  <a:srgbClr val="B7C4D1"/>
                </a:solidFill>
                <a:latin typeface="Lucida Console"/>
                <a:cs typeface="Lucida Console"/>
              </a:rPr>
              <a:t>}</a:t>
            </a:r>
            <a:endParaRPr sz="1969">
              <a:latin typeface="Lucida Console"/>
              <a:cs typeface="Lucida Console"/>
            </a:endParaRPr>
          </a:p>
          <a:p>
            <a:pPr marL="17859">
              <a:spcBef>
                <a:spcPts val="1223"/>
              </a:spcBef>
            </a:pPr>
            <a:r>
              <a:rPr sz="5062" b="1" spc="-116" dirty="0">
                <a:solidFill>
                  <a:srgbClr val="53585F"/>
                </a:solidFill>
                <a:latin typeface="Trebuchet MS"/>
                <a:cs typeface="Trebuchet MS"/>
              </a:rPr>
              <a:t>Dependency</a:t>
            </a:r>
            <a:r>
              <a:rPr sz="5062" b="1" spc="-309" dirty="0">
                <a:solidFill>
                  <a:srgbClr val="53585F"/>
                </a:solidFill>
                <a:latin typeface="Trebuchet MS"/>
                <a:cs typeface="Trebuchet MS"/>
              </a:rPr>
              <a:t> </a:t>
            </a:r>
            <a:r>
              <a:rPr sz="5062" b="1" spc="-148" dirty="0">
                <a:solidFill>
                  <a:srgbClr val="53585F"/>
                </a:solidFill>
                <a:latin typeface="Trebuchet MS"/>
                <a:cs typeface="Trebuchet MS"/>
              </a:rPr>
              <a:t>Injection</a:t>
            </a:r>
            <a:endParaRPr sz="5062">
              <a:latin typeface="Trebuchet MS"/>
              <a:cs typeface="Trebuchet MS"/>
            </a:endParaRPr>
          </a:p>
        </p:txBody>
      </p:sp>
    </p:spTree>
    <p:extLst>
      <p:ext uri="{BB962C8B-B14F-4D97-AF65-F5344CB8AC3E}">
        <p14:creationId xmlns:p14="http://schemas.microsoft.com/office/powerpoint/2010/main" val="1432922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F58039-401B-4E2B-B75C-46C5BC6E06C7}"/>
              </a:ext>
            </a:extLst>
          </p:cNvPr>
          <p:cNvSpPr>
            <a:spLocks noGrp="1"/>
          </p:cNvSpPr>
          <p:nvPr>
            <p:ph type="title"/>
          </p:nvPr>
        </p:nvSpPr>
        <p:spPr/>
        <p:txBody>
          <a:bodyPr>
            <a:normAutofit fontScale="90000"/>
          </a:bodyPr>
          <a:lstStyle/>
          <a:p>
            <a:r>
              <a:rPr lang="es-ES" dirty="0"/>
              <a:t>Servicios</a:t>
            </a:r>
          </a:p>
        </p:txBody>
      </p:sp>
      <p:sp>
        <p:nvSpPr>
          <p:cNvPr id="3" name="Marcador de contenido 2">
            <a:extLst>
              <a:ext uri="{FF2B5EF4-FFF2-40B4-BE49-F238E27FC236}">
                <a16:creationId xmlns:a16="http://schemas.microsoft.com/office/drawing/2014/main" id="{8DAE83C3-2687-4572-BD93-53AE3E32A3BA}"/>
              </a:ext>
            </a:extLst>
          </p:cNvPr>
          <p:cNvSpPr>
            <a:spLocks noGrp="1"/>
          </p:cNvSpPr>
          <p:nvPr>
            <p:ph idx="1"/>
          </p:nvPr>
        </p:nvSpPr>
        <p:spPr/>
        <p:txBody>
          <a:bodyPr/>
          <a:lstStyle/>
          <a:p>
            <a:r>
              <a:rPr lang="es-ES" dirty="0"/>
              <a:t>Como casi todo en Angular, los servicios son </a:t>
            </a:r>
            <a:r>
              <a:rPr lang="es-ES" b="1" dirty="0"/>
              <a:t>clases </a:t>
            </a:r>
            <a:r>
              <a:rPr lang="es-ES" b="1" dirty="0" err="1"/>
              <a:t>TypeScript</a:t>
            </a:r>
            <a:r>
              <a:rPr lang="es-ES" dirty="0"/>
              <a:t>. Su propósito es contener lógica de negocio, clases para acceso a datos o utilidades de infraestructura. Estas clases son perfectamente </a:t>
            </a:r>
            <a:r>
              <a:rPr lang="es-ES" dirty="0" err="1"/>
              <a:t>instanciables</a:t>
            </a:r>
            <a:r>
              <a:rPr lang="es-ES" dirty="0"/>
              <a:t> desde cualquier otro fichero que las importe. Pero, </a:t>
            </a:r>
            <a:r>
              <a:rPr lang="es-ES" b="1" dirty="0"/>
              <a:t>Angular nos sugiere y facilita que usemos su sistema de inyección </a:t>
            </a:r>
            <a:r>
              <a:rPr lang="es-ES" dirty="0"/>
              <a:t>de dependencias.</a:t>
            </a:r>
          </a:p>
          <a:p>
            <a:r>
              <a:rPr lang="es-ES" dirty="0"/>
              <a:t>Este sistema se basa en convenios y configuraciones que controlan la instancia concreta que será inyectada al objeto dependiente. </a:t>
            </a:r>
          </a:p>
        </p:txBody>
      </p:sp>
    </p:spTree>
    <p:extLst>
      <p:ext uri="{BB962C8B-B14F-4D97-AF65-F5344CB8AC3E}">
        <p14:creationId xmlns:p14="http://schemas.microsoft.com/office/powerpoint/2010/main" val="4073963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normAutofit fontScale="90000"/>
          </a:bodyPr>
          <a:lstStyle/>
          <a:p>
            <a:r>
              <a:rPr lang="es-ES"/>
              <a:t>@Injectable</a:t>
            </a:r>
            <a:endParaRPr lang="es-ES" dirty="0"/>
          </a:p>
        </p:txBody>
      </p:sp>
      <p:sp>
        <p:nvSpPr>
          <p:cNvPr id="5" name="Marcador de contenido 4">
            <a:extLst>
              <a:ext uri="{FF2B5EF4-FFF2-40B4-BE49-F238E27FC236}">
                <a16:creationId xmlns:a16="http://schemas.microsoft.com/office/drawing/2014/main" id="{AC025D7D-0F21-4263-9034-AB68C6050237}"/>
              </a:ext>
            </a:extLst>
          </p:cNvPr>
          <p:cNvSpPr>
            <a:spLocks noGrp="1"/>
          </p:cNvSpPr>
          <p:nvPr>
            <p:ph idx="1"/>
          </p:nvPr>
        </p:nvSpPr>
        <p:spPr/>
        <p:txBody>
          <a:bodyPr/>
          <a:lstStyle/>
          <a:p>
            <a:r>
              <a:rPr lang="es-ES" dirty="0"/>
              <a:t>Decoramos nuestra clase de servicio con </a:t>
            </a:r>
            <a:r>
              <a:rPr lang="es-ES" b="1" dirty="0"/>
              <a:t>@</a:t>
            </a:r>
            <a:r>
              <a:rPr lang="es-ES" b="1" dirty="0" err="1"/>
              <a:t>Injectable</a:t>
            </a:r>
            <a:r>
              <a:rPr lang="es-ES" b="1" dirty="0"/>
              <a:t> </a:t>
            </a:r>
            <a:r>
              <a:rPr lang="es-ES" dirty="0"/>
              <a:t>para marcarla como disponible para inyectar</a:t>
            </a:r>
          </a:p>
          <a:p>
            <a:r>
              <a:rPr lang="es-ES" dirty="0"/>
              <a:t>El Inyector lanzará un error de tipo </a:t>
            </a:r>
            <a:r>
              <a:rPr lang="es-ES" b="1" dirty="0" err="1"/>
              <a:t>NoAnnotationError</a:t>
            </a:r>
            <a:r>
              <a:rPr lang="es-ES" dirty="0"/>
              <a:t> al intentar instanciar una clase que no está establecida como @</a:t>
            </a:r>
            <a:r>
              <a:rPr lang="es-ES" dirty="0" err="1"/>
              <a:t>Injectable</a:t>
            </a:r>
            <a:endParaRPr lang="es-ES" dirty="0"/>
          </a:p>
        </p:txBody>
      </p:sp>
    </p:spTree>
    <p:extLst>
      <p:ext uri="{BB962C8B-B14F-4D97-AF65-F5344CB8AC3E}">
        <p14:creationId xmlns:p14="http://schemas.microsoft.com/office/powerpoint/2010/main" val="4095504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15294" y="1678781"/>
            <a:ext cx="5290393" cy="250031"/>
          </a:xfrm>
          <a:custGeom>
            <a:avLst/>
            <a:gdLst/>
            <a:ahLst/>
            <a:cxnLst/>
            <a:rect l="l" t="t" r="r" b="b"/>
            <a:pathLst>
              <a:path w="7524115" h="355600">
                <a:moveTo>
                  <a:pt x="0" y="0"/>
                </a:moveTo>
                <a:lnTo>
                  <a:pt x="7523708" y="0"/>
                </a:lnTo>
                <a:lnTo>
                  <a:pt x="7523708" y="355600"/>
                </a:lnTo>
                <a:lnTo>
                  <a:pt x="0" y="355600"/>
                </a:lnTo>
                <a:lnTo>
                  <a:pt x="0" y="0"/>
                </a:lnTo>
                <a:close/>
              </a:path>
            </a:pathLst>
          </a:custGeom>
          <a:solidFill>
            <a:srgbClr val="393939"/>
          </a:solidFill>
        </p:spPr>
        <p:txBody>
          <a:bodyPr wrap="square" lIns="0" tIns="0" rIns="0" bIns="0" rtlCol="0"/>
          <a:lstStyle/>
          <a:p>
            <a:endParaRPr sz="1266"/>
          </a:p>
        </p:txBody>
      </p:sp>
      <p:sp>
        <p:nvSpPr>
          <p:cNvPr id="3" name="object 3"/>
          <p:cNvSpPr/>
          <p:nvPr/>
        </p:nvSpPr>
        <p:spPr>
          <a:xfrm>
            <a:off x="1715294" y="2178844"/>
            <a:ext cx="1677442" cy="250031"/>
          </a:xfrm>
          <a:custGeom>
            <a:avLst/>
            <a:gdLst/>
            <a:ahLst/>
            <a:cxnLst/>
            <a:rect l="l" t="t" r="r" b="b"/>
            <a:pathLst>
              <a:path w="2385695" h="355600">
                <a:moveTo>
                  <a:pt x="0" y="0"/>
                </a:moveTo>
                <a:lnTo>
                  <a:pt x="2385568" y="0"/>
                </a:lnTo>
                <a:lnTo>
                  <a:pt x="2385568" y="355600"/>
                </a:lnTo>
                <a:lnTo>
                  <a:pt x="0" y="355600"/>
                </a:lnTo>
                <a:lnTo>
                  <a:pt x="0" y="0"/>
                </a:lnTo>
                <a:close/>
              </a:path>
            </a:pathLst>
          </a:custGeom>
          <a:solidFill>
            <a:srgbClr val="393939"/>
          </a:solidFill>
        </p:spPr>
        <p:txBody>
          <a:bodyPr wrap="square" lIns="0" tIns="0" rIns="0" bIns="0" rtlCol="0"/>
          <a:lstStyle/>
          <a:p>
            <a:endParaRPr sz="1266"/>
          </a:p>
        </p:txBody>
      </p:sp>
      <p:sp>
        <p:nvSpPr>
          <p:cNvPr id="4" name="object 4"/>
          <p:cNvSpPr/>
          <p:nvPr/>
        </p:nvSpPr>
        <p:spPr>
          <a:xfrm>
            <a:off x="1715293" y="2428875"/>
            <a:ext cx="3483918" cy="250031"/>
          </a:xfrm>
          <a:custGeom>
            <a:avLst/>
            <a:gdLst/>
            <a:ahLst/>
            <a:cxnLst/>
            <a:rect l="l" t="t" r="r" b="b"/>
            <a:pathLst>
              <a:path w="4954905" h="355600">
                <a:moveTo>
                  <a:pt x="0" y="0"/>
                </a:moveTo>
                <a:lnTo>
                  <a:pt x="4954638" y="0"/>
                </a:lnTo>
                <a:lnTo>
                  <a:pt x="4954638" y="355600"/>
                </a:lnTo>
                <a:lnTo>
                  <a:pt x="0" y="355600"/>
                </a:lnTo>
                <a:lnTo>
                  <a:pt x="0" y="0"/>
                </a:lnTo>
                <a:close/>
              </a:path>
            </a:pathLst>
          </a:custGeom>
          <a:solidFill>
            <a:srgbClr val="393939"/>
          </a:solidFill>
        </p:spPr>
        <p:txBody>
          <a:bodyPr wrap="square" lIns="0" tIns="0" rIns="0" bIns="0" rtlCol="0"/>
          <a:lstStyle/>
          <a:p>
            <a:endParaRPr sz="1266"/>
          </a:p>
        </p:txBody>
      </p:sp>
      <p:sp>
        <p:nvSpPr>
          <p:cNvPr id="5" name="object 5"/>
          <p:cNvSpPr/>
          <p:nvPr/>
        </p:nvSpPr>
        <p:spPr>
          <a:xfrm>
            <a:off x="1715294" y="2678906"/>
            <a:ext cx="4837658" cy="250031"/>
          </a:xfrm>
          <a:custGeom>
            <a:avLst/>
            <a:gdLst/>
            <a:ahLst/>
            <a:cxnLst/>
            <a:rect l="l" t="t" r="r" b="b"/>
            <a:pathLst>
              <a:path w="6880225" h="355600">
                <a:moveTo>
                  <a:pt x="0" y="0"/>
                </a:moveTo>
                <a:lnTo>
                  <a:pt x="6879882" y="0"/>
                </a:lnTo>
                <a:lnTo>
                  <a:pt x="6879882" y="355600"/>
                </a:lnTo>
                <a:lnTo>
                  <a:pt x="0" y="355600"/>
                </a:lnTo>
                <a:lnTo>
                  <a:pt x="0" y="0"/>
                </a:lnTo>
                <a:close/>
              </a:path>
            </a:pathLst>
          </a:custGeom>
          <a:solidFill>
            <a:srgbClr val="393939"/>
          </a:solidFill>
        </p:spPr>
        <p:txBody>
          <a:bodyPr wrap="square" lIns="0" tIns="0" rIns="0" bIns="0" rtlCol="0"/>
          <a:lstStyle/>
          <a:p>
            <a:endParaRPr sz="1266"/>
          </a:p>
        </p:txBody>
      </p:sp>
      <p:sp>
        <p:nvSpPr>
          <p:cNvPr id="6" name="object 6"/>
          <p:cNvSpPr/>
          <p:nvPr/>
        </p:nvSpPr>
        <p:spPr>
          <a:xfrm>
            <a:off x="1715293" y="3178969"/>
            <a:ext cx="3096816" cy="250031"/>
          </a:xfrm>
          <a:custGeom>
            <a:avLst/>
            <a:gdLst/>
            <a:ahLst/>
            <a:cxnLst/>
            <a:rect l="l" t="t" r="r" b="b"/>
            <a:pathLst>
              <a:path w="4404360" h="355600">
                <a:moveTo>
                  <a:pt x="0" y="0"/>
                </a:moveTo>
                <a:lnTo>
                  <a:pt x="4404118" y="0"/>
                </a:lnTo>
                <a:lnTo>
                  <a:pt x="4404118" y="355600"/>
                </a:lnTo>
                <a:lnTo>
                  <a:pt x="0" y="355600"/>
                </a:lnTo>
                <a:lnTo>
                  <a:pt x="0" y="0"/>
                </a:lnTo>
                <a:close/>
              </a:path>
            </a:pathLst>
          </a:custGeom>
          <a:solidFill>
            <a:srgbClr val="393939"/>
          </a:solidFill>
        </p:spPr>
        <p:txBody>
          <a:bodyPr wrap="square" lIns="0" tIns="0" rIns="0" bIns="0" rtlCol="0"/>
          <a:lstStyle/>
          <a:p>
            <a:endParaRPr sz="1266"/>
          </a:p>
        </p:txBody>
      </p:sp>
      <p:sp>
        <p:nvSpPr>
          <p:cNvPr id="7" name="object 7"/>
          <p:cNvSpPr/>
          <p:nvPr/>
        </p:nvSpPr>
        <p:spPr>
          <a:xfrm>
            <a:off x="1715293" y="3429000"/>
            <a:ext cx="3225850" cy="250031"/>
          </a:xfrm>
          <a:custGeom>
            <a:avLst/>
            <a:gdLst/>
            <a:ahLst/>
            <a:cxnLst/>
            <a:rect l="l" t="t" r="r" b="b"/>
            <a:pathLst>
              <a:path w="4587875" h="355600">
                <a:moveTo>
                  <a:pt x="0" y="0"/>
                </a:moveTo>
                <a:lnTo>
                  <a:pt x="4587620" y="0"/>
                </a:lnTo>
                <a:lnTo>
                  <a:pt x="4587620" y="355600"/>
                </a:lnTo>
                <a:lnTo>
                  <a:pt x="0" y="355600"/>
                </a:lnTo>
                <a:lnTo>
                  <a:pt x="0" y="0"/>
                </a:lnTo>
                <a:close/>
              </a:path>
            </a:pathLst>
          </a:custGeom>
          <a:solidFill>
            <a:srgbClr val="393939"/>
          </a:solidFill>
        </p:spPr>
        <p:txBody>
          <a:bodyPr wrap="square" lIns="0" tIns="0" rIns="0" bIns="0" rtlCol="0"/>
          <a:lstStyle/>
          <a:p>
            <a:endParaRPr sz="1266"/>
          </a:p>
        </p:txBody>
      </p:sp>
      <p:sp>
        <p:nvSpPr>
          <p:cNvPr id="8" name="object 8"/>
          <p:cNvSpPr/>
          <p:nvPr/>
        </p:nvSpPr>
        <p:spPr>
          <a:xfrm>
            <a:off x="1715293" y="3679031"/>
            <a:ext cx="516136" cy="250031"/>
          </a:xfrm>
          <a:custGeom>
            <a:avLst/>
            <a:gdLst/>
            <a:ahLst/>
            <a:cxnLst/>
            <a:rect l="l" t="t" r="r" b="b"/>
            <a:pathLst>
              <a:path w="734060" h="355600">
                <a:moveTo>
                  <a:pt x="0" y="0"/>
                </a:moveTo>
                <a:lnTo>
                  <a:pt x="734020" y="0"/>
                </a:lnTo>
                <a:lnTo>
                  <a:pt x="734020" y="355600"/>
                </a:lnTo>
                <a:lnTo>
                  <a:pt x="0" y="355600"/>
                </a:lnTo>
                <a:lnTo>
                  <a:pt x="0" y="0"/>
                </a:lnTo>
                <a:close/>
              </a:path>
            </a:pathLst>
          </a:custGeom>
          <a:solidFill>
            <a:srgbClr val="393939"/>
          </a:solidFill>
        </p:spPr>
        <p:txBody>
          <a:bodyPr wrap="square" lIns="0" tIns="0" rIns="0" bIns="0" rtlCol="0"/>
          <a:lstStyle/>
          <a:p>
            <a:endParaRPr sz="1266"/>
          </a:p>
        </p:txBody>
      </p:sp>
      <p:sp>
        <p:nvSpPr>
          <p:cNvPr id="9" name="object 9"/>
          <p:cNvSpPr/>
          <p:nvPr/>
        </p:nvSpPr>
        <p:spPr>
          <a:xfrm>
            <a:off x="1715293" y="4179094"/>
            <a:ext cx="5161359" cy="250031"/>
          </a:xfrm>
          <a:custGeom>
            <a:avLst/>
            <a:gdLst/>
            <a:ahLst/>
            <a:cxnLst/>
            <a:rect l="l" t="t" r="r" b="b"/>
            <a:pathLst>
              <a:path w="7340600" h="355600">
                <a:moveTo>
                  <a:pt x="0" y="0"/>
                </a:moveTo>
                <a:lnTo>
                  <a:pt x="7340206" y="0"/>
                </a:lnTo>
                <a:lnTo>
                  <a:pt x="7340206" y="355600"/>
                </a:lnTo>
                <a:lnTo>
                  <a:pt x="0" y="355600"/>
                </a:lnTo>
                <a:lnTo>
                  <a:pt x="0" y="0"/>
                </a:lnTo>
                <a:close/>
              </a:path>
            </a:pathLst>
          </a:custGeom>
          <a:solidFill>
            <a:srgbClr val="393939"/>
          </a:solidFill>
        </p:spPr>
        <p:txBody>
          <a:bodyPr wrap="square" lIns="0" tIns="0" rIns="0" bIns="0" rtlCol="0"/>
          <a:lstStyle/>
          <a:p>
            <a:endParaRPr sz="1266"/>
          </a:p>
        </p:txBody>
      </p:sp>
      <p:sp>
        <p:nvSpPr>
          <p:cNvPr id="10" name="object 10"/>
          <p:cNvSpPr/>
          <p:nvPr/>
        </p:nvSpPr>
        <p:spPr>
          <a:xfrm>
            <a:off x="1715293" y="4429125"/>
            <a:ext cx="4000054" cy="250031"/>
          </a:xfrm>
          <a:custGeom>
            <a:avLst/>
            <a:gdLst/>
            <a:ahLst/>
            <a:cxnLst/>
            <a:rect l="l" t="t" r="r" b="b"/>
            <a:pathLst>
              <a:path w="5688965" h="355600">
                <a:moveTo>
                  <a:pt x="0" y="0"/>
                </a:moveTo>
                <a:lnTo>
                  <a:pt x="5688660" y="0"/>
                </a:lnTo>
                <a:lnTo>
                  <a:pt x="5688660" y="355600"/>
                </a:lnTo>
                <a:lnTo>
                  <a:pt x="0" y="355600"/>
                </a:lnTo>
                <a:lnTo>
                  <a:pt x="0" y="0"/>
                </a:lnTo>
                <a:close/>
              </a:path>
            </a:pathLst>
          </a:custGeom>
          <a:solidFill>
            <a:srgbClr val="393939"/>
          </a:solidFill>
        </p:spPr>
        <p:txBody>
          <a:bodyPr wrap="square" lIns="0" tIns="0" rIns="0" bIns="0" rtlCol="0"/>
          <a:lstStyle/>
          <a:p>
            <a:endParaRPr sz="1266"/>
          </a:p>
        </p:txBody>
      </p:sp>
      <p:sp>
        <p:nvSpPr>
          <p:cNvPr id="11" name="object 11"/>
          <p:cNvSpPr/>
          <p:nvPr/>
        </p:nvSpPr>
        <p:spPr>
          <a:xfrm>
            <a:off x="1715293" y="4679156"/>
            <a:ext cx="516136" cy="250031"/>
          </a:xfrm>
          <a:custGeom>
            <a:avLst/>
            <a:gdLst/>
            <a:ahLst/>
            <a:cxnLst/>
            <a:rect l="l" t="t" r="r" b="b"/>
            <a:pathLst>
              <a:path w="734060" h="355600">
                <a:moveTo>
                  <a:pt x="0" y="0"/>
                </a:moveTo>
                <a:lnTo>
                  <a:pt x="734020" y="0"/>
                </a:lnTo>
                <a:lnTo>
                  <a:pt x="734020" y="355600"/>
                </a:lnTo>
                <a:lnTo>
                  <a:pt x="0" y="355600"/>
                </a:lnTo>
                <a:lnTo>
                  <a:pt x="0" y="0"/>
                </a:lnTo>
                <a:close/>
              </a:path>
            </a:pathLst>
          </a:custGeom>
          <a:solidFill>
            <a:srgbClr val="393939"/>
          </a:solidFill>
        </p:spPr>
        <p:txBody>
          <a:bodyPr wrap="square" lIns="0" tIns="0" rIns="0" bIns="0" rtlCol="0"/>
          <a:lstStyle/>
          <a:p>
            <a:endParaRPr sz="1266"/>
          </a:p>
        </p:txBody>
      </p:sp>
      <p:sp>
        <p:nvSpPr>
          <p:cNvPr id="12" name="object 12"/>
          <p:cNvSpPr/>
          <p:nvPr/>
        </p:nvSpPr>
        <p:spPr>
          <a:xfrm>
            <a:off x="1715294" y="4929188"/>
            <a:ext cx="129034" cy="250031"/>
          </a:xfrm>
          <a:custGeom>
            <a:avLst/>
            <a:gdLst/>
            <a:ahLst/>
            <a:cxnLst/>
            <a:rect l="l" t="t" r="r" b="b"/>
            <a:pathLst>
              <a:path w="183515" h="355600">
                <a:moveTo>
                  <a:pt x="0" y="0"/>
                </a:moveTo>
                <a:lnTo>
                  <a:pt x="183504" y="0"/>
                </a:lnTo>
                <a:lnTo>
                  <a:pt x="183504" y="355600"/>
                </a:lnTo>
                <a:lnTo>
                  <a:pt x="0" y="355600"/>
                </a:lnTo>
                <a:lnTo>
                  <a:pt x="0" y="0"/>
                </a:lnTo>
                <a:close/>
              </a:path>
            </a:pathLst>
          </a:custGeom>
          <a:solidFill>
            <a:srgbClr val="393939"/>
          </a:solidFill>
        </p:spPr>
        <p:txBody>
          <a:bodyPr wrap="square" lIns="0" tIns="0" rIns="0" bIns="0" rtlCol="0"/>
          <a:lstStyle/>
          <a:p>
            <a:endParaRPr sz="1266"/>
          </a:p>
        </p:txBody>
      </p:sp>
      <p:sp>
        <p:nvSpPr>
          <p:cNvPr id="13" name="object 13"/>
          <p:cNvSpPr txBox="1"/>
          <p:nvPr/>
        </p:nvSpPr>
        <p:spPr>
          <a:xfrm>
            <a:off x="4290472" y="1660922"/>
            <a:ext cx="533995"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from</a:t>
            </a:r>
            <a:endParaRPr sz="1687">
              <a:latin typeface="Lucida Sans Typewriter"/>
              <a:cs typeface="Lucida Sans Typewriter"/>
            </a:endParaRPr>
          </a:p>
        </p:txBody>
      </p:sp>
      <p:sp>
        <p:nvSpPr>
          <p:cNvPr id="14" name="object 14"/>
          <p:cNvSpPr txBox="1"/>
          <p:nvPr/>
        </p:nvSpPr>
        <p:spPr>
          <a:xfrm>
            <a:off x="4935607" y="1660922"/>
            <a:ext cx="2082403"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a:t>
            </a:r>
            <a:r>
              <a:rPr lang="es-ES" sz="1687" spc="-4" dirty="0">
                <a:solidFill>
                  <a:srgbClr val="7C976C"/>
                </a:solidFill>
                <a:latin typeface="Lucida Console"/>
                <a:cs typeface="Lucida Console"/>
              </a:rPr>
              <a:t>@</a:t>
            </a:r>
            <a:r>
              <a:rPr sz="1687" spc="-4" dirty="0">
                <a:solidFill>
                  <a:srgbClr val="7C976C"/>
                </a:solidFill>
                <a:latin typeface="Lucida Console"/>
                <a:cs typeface="Lucida Console"/>
              </a:rPr>
              <a:t>angular/core'</a:t>
            </a:r>
            <a:r>
              <a:rPr sz="1687" spc="-4" dirty="0">
                <a:solidFill>
                  <a:srgbClr val="B7C4D1"/>
                </a:solidFill>
                <a:latin typeface="Lucida Console"/>
                <a:cs typeface="Lucida Console"/>
              </a:rPr>
              <a:t>;</a:t>
            </a:r>
            <a:endParaRPr sz="1687" dirty="0">
              <a:latin typeface="Lucida Console"/>
              <a:cs typeface="Lucida Console"/>
            </a:endParaRPr>
          </a:p>
        </p:txBody>
      </p:sp>
      <p:sp>
        <p:nvSpPr>
          <p:cNvPr id="15" name="object 15"/>
          <p:cNvSpPr txBox="1"/>
          <p:nvPr/>
        </p:nvSpPr>
        <p:spPr>
          <a:xfrm>
            <a:off x="1709936" y="1660922"/>
            <a:ext cx="2469505" cy="773481"/>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import</a:t>
            </a:r>
            <a:r>
              <a:rPr sz="1687" b="1" spc="-28" dirty="0">
                <a:solidFill>
                  <a:srgbClr val="D78B40"/>
                </a:solidFill>
                <a:latin typeface="Lucida Sans Typewriter"/>
                <a:cs typeface="Lucida Sans Typewriter"/>
              </a:rPr>
              <a:t> </a:t>
            </a:r>
            <a:r>
              <a:rPr sz="1687" spc="-4" dirty="0">
                <a:solidFill>
                  <a:srgbClr val="B7C4D1"/>
                </a:solidFill>
                <a:latin typeface="Lucida Console"/>
                <a:cs typeface="Lucida Console"/>
              </a:rPr>
              <a:t>{Injectable}</a:t>
            </a:r>
            <a:endParaRPr sz="1687" dirty="0">
              <a:latin typeface="Lucida Console"/>
              <a:cs typeface="Lucida Console"/>
            </a:endParaRPr>
          </a:p>
          <a:p>
            <a:pPr>
              <a:spcBef>
                <a:spcPts val="11"/>
              </a:spcBef>
            </a:pPr>
            <a:endParaRPr sz="1652" dirty="0">
              <a:latin typeface="Times New Roman"/>
              <a:cs typeface="Times New Roman"/>
            </a:endParaRPr>
          </a:p>
          <a:p>
            <a:pPr marL="8929"/>
            <a:r>
              <a:rPr sz="1687" spc="-4" dirty="0">
                <a:solidFill>
                  <a:srgbClr val="FF0000"/>
                </a:solidFill>
                <a:latin typeface="Lucida Console"/>
                <a:cs typeface="Lucida Console"/>
              </a:rPr>
              <a:t>@Injectable()</a:t>
            </a:r>
            <a:endParaRPr sz="1687" dirty="0">
              <a:solidFill>
                <a:srgbClr val="FF0000"/>
              </a:solidFill>
              <a:latin typeface="Lucida Console"/>
              <a:cs typeface="Lucida Console"/>
            </a:endParaRPr>
          </a:p>
        </p:txBody>
      </p:sp>
      <p:sp>
        <p:nvSpPr>
          <p:cNvPr id="16" name="object 16"/>
          <p:cNvSpPr txBox="1"/>
          <p:nvPr/>
        </p:nvSpPr>
        <p:spPr>
          <a:xfrm>
            <a:off x="1709936" y="2411016"/>
            <a:ext cx="3501777"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export class </a:t>
            </a:r>
            <a:r>
              <a:rPr sz="1687" spc="-4" dirty="0">
                <a:solidFill>
                  <a:srgbClr val="B7C4D1"/>
                </a:solidFill>
                <a:latin typeface="Lucida Console"/>
                <a:cs typeface="Lucida Console"/>
              </a:rPr>
              <a:t>StateService</a:t>
            </a:r>
            <a:r>
              <a:rPr sz="1687" spc="-7" dirty="0">
                <a:solidFill>
                  <a:srgbClr val="B7C4D1"/>
                </a:solidFill>
                <a:latin typeface="Lucida Console"/>
                <a:cs typeface="Lucida Console"/>
              </a:rPr>
              <a:t> </a:t>
            </a:r>
            <a:r>
              <a:rPr sz="1687" spc="-4" dirty="0">
                <a:solidFill>
                  <a:srgbClr val="B7C4D1"/>
                </a:solidFill>
                <a:latin typeface="Lucida Console"/>
                <a:cs typeface="Lucida Console"/>
              </a:rPr>
              <a:t>{</a:t>
            </a:r>
            <a:endParaRPr sz="1687">
              <a:latin typeface="Lucida Console"/>
              <a:cs typeface="Lucida Console"/>
            </a:endParaRPr>
          </a:p>
        </p:txBody>
      </p:sp>
      <p:sp>
        <p:nvSpPr>
          <p:cNvPr id="17" name="object 17"/>
          <p:cNvSpPr txBox="1"/>
          <p:nvPr/>
        </p:nvSpPr>
        <p:spPr>
          <a:xfrm>
            <a:off x="5386179" y="2661047"/>
            <a:ext cx="1179165"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Message</a:t>
            </a:r>
            <a:r>
              <a:rPr sz="1687" spc="-7" dirty="0">
                <a:solidFill>
                  <a:srgbClr val="7C976C"/>
                </a:solidFill>
                <a:latin typeface="Lucida Console"/>
                <a:cs typeface="Lucida Console"/>
              </a:rPr>
              <a:t>'</a:t>
            </a:r>
            <a:r>
              <a:rPr sz="1687" spc="-4" dirty="0">
                <a:solidFill>
                  <a:srgbClr val="B7C4D1"/>
                </a:solidFill>
                <a:latin typeface="Lucida Console"/>
                <a:cs typeface="Lucida Console"/>
              </a:rPr>
              <a:t>;</a:t>
            </a:r>
            <a:endParaRPr sz="1687">
              <a:latin typeface="Lucida Console"/>
              <a:cs typeface="Lucida Console"/>
            </a:endParaRPr>
          </a:p>
        </p:txBody>
      </p:sp>
      <p:sp>
        <p:nvSpPr>
          <p:cNvPr id="18" name="object 18"/>
          <p:cNvSpPr txBox="1"/>
          <p:nvPr/>
        </p:nvSpPr>
        <p:spPr>
          <a:xfrm>
            <a:off x="1967989" y="2661047"/>
            <a:ext cx="3307110" cy="1283300"/>
          </a:xfrm>
          <a:prstGeom prst="rect">
            <a:avLst/>
          </a:prstGeom>
        </p:spPr>
        <p:txBody>
          <a:bodyPr vert="horz" wrap="square" lIns="0" tIns="0" rIns="0" bIns="0" rtlCol="0">
            <a:spAutoFit/>
          </a:bodyPr>
          <a:lstStyle/>
          <a:p>
            <a:pPr marL="72328"/>
            <a:r>
              <a:rPr sz="1687" b="1" spc="-4" dirty="0">
                <a:solidFill>
                  <a:srgbClr val="D78B40"/>
                </a:solidFill>
                <a:latin typeface="Lucida Sans Typewriter"/>
                <a:cs typeface="Lucida Sans Typewriter"/>
              </a:rPr>
              <a:t>private </a:t>
            </a:r>
            <a:r>
              <a:rPr sz="1687" spc="-4" dirty="0">
                <a:solidFill>
                  <a:srgbClr val="A98BB9"/>
                </a:solidFill>
                <a:latin typeface="Lucida Console"/>
                <a:cs typeface="Lucida Console"/>
              </a:rPr>
              <a:t>_message </a:t>
            </a:r>
            <a:r>
              <a:rPr sz="1687" spc="-4" dirty="0">
                <a:solidFill>
                  <a:srgbClr val="B7C4D1"/>
                </a:solidFill>
                <a:latin typeface="Lucida Console"/>
                <a:cs typeface="Lucida Console"/>
              </a:rPr>
              <a:t>=</a:t>
            </a:r>
            <a:r>
              <a:rPr sz="1687" spc="-18" dirty="0">
                <a:solidFill>
                  <a:srgbClr val="B7C4D1"/>
                </a:solidFill>
                <a:latin typeface="Lucida Console"/>
                <a:cs typeface="Lucida Console"/>
              </a:rPr>
              <a:t> </a:t>
            </a:r>
            <a:r>
              <a:rPr sz="1687" spc="-4" dirty="0">
                <a:solidFill>
                  <a:srgbClr val="7C976C"/>
                </a:solidFill>
                <a:latin typeface="Lucida Console"/>
                <a:cs typeface="Lucida Console"/>
              </a:rPr>
              <a:t>'Hello</a:t>
            </a:r>
            <a:endParaRPr sz="1687">
              <a:latin typeface="Lucida Console"/>
              <a:cs typeface="Lucida Console"/>
            </a:endParaRPr>
          </a:p>
          <a:p>
            <a:pPr>
              <a:spcBef>
                <a:spcPts val="11"/>
              </a:spcBef>
            </a:pPr>
            <a:endParaRPr sz="1652">
              <a:latin typeface="Times New Roman"/>
              <a:cs typeface="Times New Roman"/>
            </a:endParaRPr>
          </a:p>
          <a:p>
            <a:pPr marL="8929">
              <a:lnSpc>
                <a:spcPts val="1997"/>
              </a:lnSpc>
            </a:pPr>
            <a:r>
              <a:rPr sz="1687" spc="-4" dirty="0">
                <a:solidFill>
                  <a:srgbClr val="FFD080"/>
                </a:solidFill>
                <a:latin typeface="Lucida Console"/>
                <a:cs typeface="Lucida Console"/>
              </a:rPr>
              <a:t>getMessage</a:t>
            </a:r>
            <a:r>
              <a:rPr sz="1687" spc="-4" dirty="0">
                <a:solidFill>
                  <a:srgbClr val="B7C4D1"/>
                </a:solidFill>
                <a:latin typeface="Lucida Console"/>
                <a:cs typeface="Lucida Console"/>
              </a:rPr>
              <a:t>(): </a:t>
            </a:r>
            <a:r>
              <a:rPr sz="1687" b="1" spc="-4" dirty="0">
                <a:solidFill>
                  <a:srgbClr val="D78B40"/>
                </a:solidFill>
                <a:latin typeface="Lucida Sans Typewriter"/>
                <a:cs typeface="Lucida Sans Typewriter"/>
              </a:rPr>
              <a:t>string</a:t>
            </a:r>
            <a:r>
              <a:rPr sz="1687" b="1" spc="-25" dirty="0">
                <a:solidFill>
                  <a:srgbClr val="D78B40"/>
                </a:solidFill>
                <a:latin typeface="Lucida Sans Typewriter"/>
                <a:cs typeface="Lucida Sans Typewriter"/>
              </a:rPr>
              <a:t> </a:t>
            </a:r>
            <a:r>
              <a:rPr sz="1687" spc="-4" dirty="0">
                <a:solidFill>
                  <a:srgbClr val="B7C4D1"/>
                </a:solidFill>
                <a:latin typeface="Lucida Console"/>
                <a:cs typeface="Lucida Console"/>
              </a:rPr>
              <a:t>{</a:t>
            </a:r>
            <a:endParaRPr sz="1687">
              <a:latin typeface="Lucida Console"/>
              <a:cs typeface="Lucida Console"/>
            </a:endParaRPr>
          </a:p>
          <a:p>
            <a:pPr marL="266542">
              <a:lnSpc>
                <a:spcPts val="1969"/>
              </a:lnSpc>
            </a:pPr>
            <a:r>
              <a:rPr sz="1687" b="1" spc="-4" dirty="0">
                <a:solidFill>
                  <a:srgbClr val="D78B40"/>
                </a:solidFill>
                <a:latin typeface="Lucida Sans Typewriter"/>
                <a:cs typeface="Lucida Sans Typewriter"/>
              </a:rPr>
              <a:t>return</a:t>
            </a:r>
            <a:r>
              <a:rPr sz="1687" b="1" spc="-28" dirty="0">
                <a:solidFill>
                  <a:srgbClr val="D78B40"/>
                </a:solidFill>
                <a:latin typeface="Lucida Sans Typewriter"/>
                <a:cs typeface="Lucida Sans Typewriter"/>
              </a:rPr>
              <a:t> </a:t>
            </a:r>
            <a:r>
              <a:rPr sz="1687" b="1" spc="-4" dirty="0">
                <a:solidFill>
                  <a:srgbClr val="D78B40"/>
                </a:solidFill>
                <a:latin typeface="Lucida Sans Typewriter"/>
                <a:cs typeface="Lucida Sans Typewriter"/>
              </a:rPr>
              <a:t>this</a:t>
            </a:r>
            <a:r>
              <a:rPr sz="1687" spc="-4" dirty="0">
                <a:solidFill>
                  <a:srgbClr val="B7C4D1"/>
                </a:solidFill>
                <a:latin typeface="Lucida Console"/>
                <a:cs typeface="Lucida Console"/>
              </a:rPr>
              <a:t>.</a:t>
            </a:r>
            <a:r>
              <a:rPr sz="1687" spc="-4" dirty="0">
                <a:solidFill>
                  <a:srgbClr val="A98BB9"/>
                </a:solidFill>
                <a:latin typeface="Lucida Console"/>
                <a:cs typeface="Lucida Console"/>
              </a:rPr>
              <a:t>_message</a:t>
            </a:r>
            <a:r>
              <a:rPr sz="1687" spc="-4" dirty="0">
                <a:solidFill>
                  <a:srgbClr val="B7C4D1"/>
                </a:solidFill>
                <a:latin typeface="Lucida Console"/>
                <a:cs typeface="Lucida Console"/>
              </a:rPr>
              <a:t>;</a:t>
            </a:r>
            <a:endParaRPr sz="1687">
              <a:latin typeface="Lucida Console"/>
              <a:cs typeface="Lucida Console"/>
            </a:endParaRPr>
          </a:p>
          <a:p>
            <a:pPr marL="8929">
              <a:lnSpc>
                <a:spcPts val="1997"/>
              </a:lnSpc>
            </a:pPr>
            <a:r>
              <a:rPr sz="1687" spc="-4" dirty="0">
                <a:solidFill>
                  <a:srgbClr val="B7C4D1"/>
                </a:solidFill>
                <a:latin typeface="Lucida Console"/>
                <a:cs typeface="Lucida Console"/>
              </a:rPr>
              <a:t>};</a:t>
            </a:r>
            <a:endParaRPr sz="1687">
              <a:latin typeface="Lucida Console"/>
              <a:cs typeface="Lucida Console"/>
            </a:endParaRPr>
          </a:p>
        </p:txBody>
      </p:sp>
      <p:sp>
        <p:nvSpPr>
          <p:cNvPr id="19" name="object 19"/>
          <p:cNvSpPr txBox="1"/>
          <p:nvPr/>
        </p:nvSpPr>
        <p:spPr>
          <a:xfrm>
            <a:off x="6096850" y="4161235"/>
            <a:ext cx="792063"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void</a:t>
            </a:r>
            <a:r>
              <a:rPr sz="1687" b="1" spc="-63" dirty="0">
                <a:solidFill>
                  <a:srgbClr val="D78B40"/>
                </a:solidFill>
                <a:latin typeface="Lucida Sans Typewriter"/>
                <a:cs typeface="Lucida Sans Typewriter"/>
              </a:rPr>
              <a:t> </a:t>
            </a:r>
            <a:r>
              <a:rPr sz="1687" spc="-4" dirty="0">
                <a:solidFill>
                  <a:srgbClr val="B7C4D1"/>
                </a:solidFill>
                <a:latin typeface="Lucida Console"/>
                <a:cs typeface="Lucida Console"/>
              </a:rPr>
              <a:t>{</a:t>
            </a:r>
            <a:endParaRPr sz="1687">
              <a:latin typeface="Lucida Console"/>
              <a:cs typeface="Lucida Console"/>
            </a:endParaRPr>
          </a:p>
        </p:txBody>
      </p:sp>
      <p:sp>
        <p:nvSpPr>
          <p:cNvPr id="20" name="object 20"/>
          <p:cNvSpPr txBox="1"/>
          <p:nvPr/>
        </p:nvSpPr>
        <p:spPr>
          <a:xfrm>
            <a:off x="1967989" y="4175522"/>
            <a:ext cx="4017913" cy="756617"/>
          </a:xfrm>
          <a:prstGeom prst="rect">
            <a:avLst/>
          </a:prstGeom>
        </p:spPr>
        <p:txBody>
          <a:bodyPr vert="horz" wrap="square" lIns="0" tIns="0" rIns="0" bIns="0" rtlCol="0">
            <a:spAutoFit/>
          </a:bodyPr>
          <a:lstStyle/>
          <a:p>
            <a:pPr marL="266542" marR="3572" indent="-258059">
              <a:lnSpc>
                <a:spcPts val="1969"/>
              </a:lnSpc>
            </a:pPr>
            <a:r>
              <a:rPr sz="1687" spc="-4" dirty="0">
                <a:solidFill>
                  <a:srgbClr val="FFD080"/>
                </a:solidFill>
                <a:latin typeface="Lucida Console"/>
                <a:cs typeface="Lucida Console"/>
              </a:rPr>
              <a:t>setMessage</a:t>
            </a:r>
            <a:r>
              <a:rPr sz="1687" spc="-4" dirty="0">
                <a:solidFill>
                  <a:srgbClr val="B7C4D1"/>
                </a:solidFill>
                <a:latin typeface="Lucida Console"/>
                <a:cs typeface="Lucida Console"/>
              </a:rPr>
              <a:t>(newMessage: </a:t>
            </a:r>
            <a:r>
              <a:rPr sz="1687" b="1" spc="-4" dirty="0">
                <a:solidFill>
                  <a:srgbClr val="D78B40"/>
                </a:solidFill>
                <a:latin typeface="Lucida Sans Typewriter"/>
                <a:cs typeface="Lucida Sans Typewriter"/>
              </a:rPr>
              <a:t>string</a:t>
            </a:r>
            <a:r>
              <a:rPr sz="1687" spc="-4" dirty="0">
                <a:solidFill>
                  <a:srgbClr val="B7C4D1"/>
                </a:solidFill>
                <a:latin typeface="Lucida Console"/>
                <a:cs typeface="Lucida Console"/>
              </a:rPr>
              <a:t>):  </a:t>
            </a:r>
            <a:r>
              <a:rPr sz="1687" b="1" spc="-4" dirty="0">
                <a:solidFill>
                  <a:srgbClr val="D78B40"/>
                </a:solidFill>
                <a:latin typeface="Lucida Sans Typewriter"/>
                <a:cs typeface="Lucida Sans Typewriter"/>
              </a:rPr>
              <a:t>this</a:t>
            </a:r>
            <a:r>
              <a:rPr sz="1687" spc="-4" dirty="0">
                <a:solidFill>
                  <a:srgbClr val="B7C4D1"/>
                </a:solidFill>
                <a:latin typeface="Lucida Console"/>
                <a:cs typeface="Lucida Console"/>
              </a:rPr>
              <a:t>.</a:t>
            </a:r>
            <a:r>
              <a:rPr sz="1687" spc="-4" dirty="0">
                <a:solidFill>
                  <a:srgbClr val="A98BB9"/>
                </a:solidFill>
                <a:latin typeface="Lucida Console"/>
                <a:cs typeface="Lucida Console"/>
              </a:rPr>
              <a:t>_message </a:t>
            </a:r>
            <a:r>
              <a:rPr sz="1687" spc="-4" dirty="0">
                <a:solidFill>
                  <a:srgbClr val="B7C4D1"/>
                </a:solidFill>
                <a:latin typeface="Lucida Console"/>
                <a:cs typeface="Lucida Console"/>
              </a:rPr>
              <a:t>=</a:t>
            </a:r>
            <a:r>
              <a:rPr sz="1687" spc="-11" dirty="0">
                <a:solidFill>
                  <a:srgbClr val="B7C4D1"/>
                </a:solidFill>
                <a:latin typeface="Lucida Console"/>
                <a:cs typeface="Lucida Console"/>
              </a:rPr>
              <a:t> </a:t>
            </a:r>
            <a:r>
              <a:rPr sz="1687" spc="-4" dirty="0">
                <a:solidFill>
                  <a:srgbClr val="B7C4D1"/>
                </a:solidFill>
                <a:latin typeface="Lucida Console"/>
                <a:cs typeface="Lucida Console"/>
              </a:rPr>
              <a:t>newMessage;</a:t>
            </a:r>
            <a:endParaRPr sz="1687">
              <a:latin typeface="Lucida Console"/>
              <a:cs typeface="Lucida Console"/>
            </a:endParaRPr>
          </a:p>
          <a:p>
            <a:pPr marL="8929">
              <a:lnSpc>
                <a:spcPts val="1912"/>
              </a:lnSpc>
            </a:pPr>
            <a:r>
              <a:rPr sz="1687" spc="-4" dirty="0">
                <a:solidFill>
                  <a:srgbClr val="B7C4D1"/>
                </a:solidFill>
                <a:latin typeface="Lucida Console"/>
                <a:cs typeface="Lucida Console"/>
              </a:rPr>
              <a:t>};</a:t>
            </a:r>
            <a:endParaRPr sz="1687">
              <a:latin typeface="Lucida Console"/>
              <a:cs typeface="Lucida Console"/>
            </a:endParaRPr>
          </a:p>
        </p:txBody>
      </p:sp>
      <p:sp>
        <p:nvSpPr>
          <p:cNvPr id="21" name="object 21"/>
          <p:cNvSpPr txBox="1"/>
          <p:nvPr/>
        </p:nvSpPr>
        <p:spPr>
          <a:xfrm>
            <a:off x="1709936" y="4911329"/>
            <a:ext cx="146893"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a:t>
            </a:r>
            <a:endParaRPr sz="1687">
              <a:latin typeface="Lucida Console"/>
              <a:cs typeface="Lucida Console"/>
            </a:endParaRPr>
          </a:p>
        </p:txBody>
      </p:sp>
      <p:sp>
        <p:nvSpPr>
          <p:cNvPr id="22" name="object 22"/>
          <p:cNvSpPr txBox="1"/>
          <p:nvPr/>
        </p:nvSpPr>
        <p:spPr>
          <a:xfrm>
            <a:off x="1718865" y="5929312"/>
            <a:ext cx="3428107" cy="778996"/>
          </a:xfrm>
          <a:prstGeom prst="rect">
            <a:avLst/>
          </a:prstGeom>
        </p:spPr>
        <p:txBody>
          <a:bodyPr vert="horz" wrap="square" lIns="0" tIns="0" rIns="0" bIns="0" rtlCol="0">
            <a:spAutoFit/>
          </a:bodyPr>
          <a:lstStyle/>
          <a:p>
            <a:pPr marL="8929"/>
            <a:r>
              <a:rPr sz="5062" b="1" spc="-80" dirty="0">
                <a:solidFill>
                  <a:srgbClr val="53585F"/>
                </a:solidFill>
                <a:latin typeface="Trebuchet MS"/>
                <a:cs typeface="Trebuchet MS"/>
              </a:rPr>
              <a:t>@Injectable</a:t>
            </a:r>
            <a:endParaRPr sz="5062">
              <a:latin typeface="Trebuchet MS"/>
              <a:cs typeface="Trebuchet MS"/>
            </a:endParaRPr>
          </a:p>
        </p:txBody>
      </p:sp>
    </p:spTree>
    <p:extLst>
      <p:ext uri="{BB962C8B-B14F-4D97-AF65-F5344CB8AC3E}">
        <p14:creationId xmlns:p14="http://schemas.microsoft.com/office/powerpoint/2010/main" val="185728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14D2B9-B7F6-4CD6-ACF9-56267F0F2B87}"/>
              </a:ext>
            </a:extLst>
          </p:cNvPr>
          <p:cNvSpPr>
            <a:spLocks noGrp="1"/>
          </p:cNvSpPr>
          <p:nvPr>
            <p:ph type="title"/>
          </p:nvPr>
        </p:nvSpPr>
        <p:spPr/>
        <p:txBody>
          <a:bodyPr>
            <a:normAutofit fontScale="90000"/>
          </a:bodyPr>
          <a:lstStyle/>
          <a:p>
            <a:r>
              <a:rPr lang="es-ES" dirty="0"/>
              <a:t>Inyectables</a:t>
            </a:r>
          </a:p>
        </p:txBody>
      </p:sp>
      <p:sp>
        <p:nvSpPr>
          <p:cNvPr id="5" name="Marcador de contenido 4">
            <a:extLst>
              <a:ext uri="{FF2B5EF4-FFF2-40B4-BE49-F238E27FC236}">
                <a16:creationId xmlns:a16="http://schemas.microsoft.com/office/drawing/2014/main" id="{D542A768-8F52-42DA-8424-8AD947A93685}"/>
              </a:ext>
            </a:extLst>
          </p:cNvPr>
          <p:cNvSpPr>
            <a:spLocks noGrp="1"/>
          </p:cNvSpPr>
          <p:nvPr>
            <p:ph idx="1"/>
          </p:nvPr>
        </p:nvSpPr>
        <p:spPr/>
        <p:txBody>
          <a:bodyPr/>
          <a:lstStyle/>
          <a:p>
            <a:r>
              <a:rPr lang="es-ES" dirty="0"/>
              <a:t>La particularidad de las clases de servicios está en su decorador: </a:t>
            </a:r>
            <a:r>
              <a:rPr lang="es-ES" b="1" dirty="0"/>
              <a:t>@</a:t>
            </a:r>
            <a:r>
              <a:rPr lang="es-ES" b="1" dirty="0" err="1"/>
              <a:t>Injectable</a:t>
            </a:r>
            <a:r>
              <a:rPr lang="es-ES" b="1" dirty="0"/>
              <a:t>()</a:t>
            </a:r>
            <a:r>
              <a:rPr lang="es-ES" dirty="0"/>
              <a:t>. </a:t>
            </a:r>
          </a:p>
          <a:p>
            <a:r>
              <a:rPr lang="es-ES" dirty="0"/>
              <a:t>Esta función viene en el </a:t>
            </a:r>
            <a:r>
              <a:rPr lang="es-ES" b="1" dirty="0"/>
              <a:t>@angular/</a:t>
            </a:r>
            <a:r>
              <a:rPr lang="es-ES" b="1" dirty="0" err="1"/>
              <a:t>core</a:t>
            </a:r>
            <a:r>
              <a:rPr lang="es-ES" dirty="0"/>
              <a:t> e indica que esta clase puede ser inyectada dinámicamente a quien la demande. </a:t>
            </a:r>
          </a:p>
          <a:p>
            <a:r>
              <a:rPr lang="es-ES" dirty="0"/>
              <a:t>Aunque es muy sencillo crearlos a mano, el CLI nos ofrece su comando especializado para crear servicios:</a:t>
            </a:r>
          </a:p>
          <a:p>
            <a:endParaRPr lang="es-ES" dirty="0"/>
          </a:p>
          <a:p>
            <a:endParaRPr lang="es-ES" dirty="0"/>
          </a:p>
        </p:txBody>
      </p:sp>
      <p:sp>
        <p:nvSpPr>
          <p:cNvPr id="7" name="Rectangle 4">
            <a:extLst>
              <a:ext uri="{FF2B5EF4-FFF2-40B4-BE49-F238E27FC236}">
                <a16:creationId xmlns:a16="http://schemas.microsoft.com/office/drawing/2014/main" id="{55ED1D05-E023-4A8E-A03D-2824B6B1D6E3}"/>
              </a:ext>
            </a:extLst>
          </p:cNvPr>
          <p:cNvSpPr>
            <a:spLocks noChangeArrowheads="1"/>
          </p:cNvSpPr>
          <p:nvPr/>
        </p:nvSpPr>
        <p:spPr bwMode="auto">
          <a:xfrm>
            <a:off x="1141412" y="3276600"/>
            <a:ext cx="9599611" cy="33855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1600" b="1" noProof="1">
                <a:latin typeface="Consolas" pitchFamily="49" charset="0"/>
                <a:cs typeface="Consolas" pitchFamily="49" charset="0"/>
              </a:rPr>
              <a:t>&gt; ng g s views/operations/operations</a:t>
            </a:r>
          </a:p>
        </p:txBody>
      </p:sp>
      <p:sp>
        <p:nvSpPr>
          <p:cNvPr id="8" name="Rectángulo 7">
            <a:extLst>
              <a:ext uri="{FF2B5EF4-FFF2-40B4-BE49-F238E27FC236}">
                <a16:creationId xmlns:a16="http://schemas.microsoft.com/office/drawing/2014/main" id="{8CF231F7-19B3-4DF5-87DF-E9A7C4F45D5D}"/>
              </a:ext>
            </a:extLst>
          </p:cNvPr>
          <p:cNvSpPr/>
          <p:nvPr/>
        </p:nvSpPr>
        <p:spPr>
          <a:xfrm>
            <a:off x="10216035" y="180232"/>
            <a:ext cx="1821977" cy="830997"/>
          </a:xfrm>
          <a:prstGeom prst="rect">
            <a:avLst/>
          </a:prstGeom>
        </p:spPr>
        <p:txBody>
          <a:bodyPr wrap="square">
            <a:spAutoFit/>
          </a:bodyPr>
          <a:lstStyle/>
          <a:p>
            <a:r>
              <a:rPr lang="en-US" sz="4800" b="1" dirty="0">
                <a:solidFill>
                  <a:srgbClr val="FF0000"/>
                </a:solidFill>
              </a:rPr>
              <a:t>LAB1a </a:t>
            </a:r>
            <a:endParaRPr lang="es-ES" sz="4800" dirty="0">
              <a:solidFill>
                <a:srgbClr val="FF0000"/>
              </a:solidFill>
            </a:endParaRPr>
          </a:p>
        </p:txBody>
      </p:sp>
      <p:sp>
        <p:nvSpPr>
          <p:cNvPr id="9" name="Rectángulo 8">
            <a:extLst>
              <a:ext uri="{FF2B5EF4-FFF2-40B4-BE49-F238E27FC236}">
                <a16:creationId xmlns:a16="http://schemas.microsoft.com/office/drawing/2014/main" id="{6CFF1792-C9DB-4D6C-9539-D39CC59169D9}"/>
              </a:ext>
            </a:extLst>
          </p:cNvPr>
          <p:cNvSpPr/>
          <p:nvPr/>
        </p:nvSpPr>
        <p:spPr>
          <a:xfrm>
            <a:off x="10366848" y="874318"/>
            <a:ext cx="1637436" cy="369332"/>
          </a:xfrm>
          <a:prstGeom prst="rect">
            <a:avLst/>
          </a:prstGeom>
        </p:spPr>
        <p:txBody>
          <a:bodyPr wrap="none">
            <a:spAutoFit/>
          </a:bodyPr>
          <a:lstStyle/>
          <a:p>
            <a:r>
              <a:rPr lang="es-ES" dirty="0"/>
              <a:t>C:\Labs\T6\EX1</a:t>
            </a:r>
          </a:p>
        </p:txBody>
      </p:sp>
    </p:spTree>
    <p:extLst>
      <p:ext uri="{BB962C8B-B14F-4D97-AF65-F5344CB8AC3E}">
        <p14:creationId xmlns:p14="http://schemas.microsoft.com/office/powerpoint/2010/main" val="4182941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7602A4-CC27-4B7E-B614-88807BEF40E9}"/>
              </a:ext>
            </a:extLst>
          </p:cNvPr>
          <p:cNvSpPr>
            <a:spLocks noGrp="1"/>
          </p:cNvSpPr>
          <p:nvPr>
            <p:ph type="title"/>
          </p:nvPr>
        </p:nvSpPr>
        <p:spPr/>
        <p:txBody>
          <a:bodyPr>
            <a:normAutofit fontScale="90000"/>
          </a:bodyPr>
          <a:lstStyle/>
          <a:p>
            <a:r>
              <a:rPr lang="es-ES" dirty="0"/>
              <a:t>Inyectables</a:t>
            </a:r>
          </a:p>
        </p:txBody>
      </p:sp>
      <p:sp>
        <p:nvSpPr>
          <p:cNvPr id="3" name="Marcador de contenido 2">
            <a:extLst>
              <a:ext uri="{FF2B5EF4-FFF2-40B4-BE49-F238E27FC236}">
                <a16:creationId xmlns:a16="http://schemas.microsoft.com/office/drawing/2014/main" id="{D924DF60-C69E-498B-9CC0-CF31EC637899}"/>
              </a:ext>
            </a:extLst>
          </p:cNvPr>
          <p:cNvSpPr>
            <a:spLocks noGrp="1"/>
          </p:cNvSpPr>
          <p:nvPr>
            <p:ph idx="1"/>
          </p:nvPr>
        </p:nvSpPr>
        <p:spPr>
          <a:xfrm>
            <a:off x="837982" y="1673939"/>
            <a:ext cx="4037230" cy="4726861"/>
          </a:xfrm>
        </p:spPr>
        <p:txBody>
          <a:bodyPr>
            <a:normAutofit/>
          </a:bodyPr>
          <a:lstStyle/>
          <a:p>
            <a:r>
              <a:rPr lang="es-ES" dirty="0"/>
              <a:t>El resultado es el fichero </a:t>
            </a:r>
            <a:r>
              <a:rPr lang="es-ES" b="1" dirty="0" err="1"/>
              <a:t>operations.service.ts</a:t>
            </a:r>
            <a:r>
              <a:rPr lang="es-ES" b="1" dirty="0"/>
              <a:t>. </a:t>
            </a:r>
          </a:p>
          <a:p>
            <a:r>
              <a:rPr lang="es-ES" dirty="0"/>
              <a:t>Ahora tienes centralizado en este servicio toda la lógica de datos. </a:t>
            </a:r>
          </a:p>
          <a:p>
            <a:pPr fontAlgn="base"/>
            <a:r>
              <a:rPr lang="es-ES" dirty="0"/>
              <a:t>Los demás componentes la podrán utilizar e incluso podrán compartir los datos en memoria, como el </a:t>
            </a:r>
            <a:r>
              <a:rPr lang="es-ES" i="1" dirty="0"/>
              <a:t>array</a:t>
            </a:r>
            <a:r>
              <a:rPr lang="es-ES" dirty="0"/>
              <a:t> de operaciones.</a:t>
            </a:r>
          </a:p>
        </p:txBody>
      </p:sp>
      <p:sp>
        <p:nvSpPr>
          <p:cNvPr id="5" name="Rectangle 4">
            <a:extLst>
              <a:ext uri="{FF2B5EF4-FFF2-40B4-BE49-F238E27FC236}">
                <a16:creationId xmlns:a16="http://schemas.microsoft.com/office/drawing/2014/main" id="{9C0FF32F-E2EE-46C3-B877-3A609873B686}"/>
              </a:ext>
            </a:extLst>
          </p:cNvPr>
          <p:cNvSpPr>
            <a:spLocks noChangeArrowheads="1"/>
          </p:cNvSpPr>
          <p:nvPr/>
        </p:nvSpPr>
        <p:spPr bwMode="auto">
          <a:xfrm>
            <a:off x="5484812" y="1295400"/>
            <a:ext cx="6400800" cy="547842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1400" b="1" noProof="1">
                <a:latin typeface="Consolas" pitchFamily="49" charset="0"/>
                <a:cs typeface="Consolas" pitchFamily="49" charset="0"/>
              </a:rPr>
              <a:t>import { Injectable } from "@angular/core";</a:t>
            </a:r>
          </a:p>
          <a:p>
            <a:pPr eaLnBrk="0" hangingPunct="0">
              <a:buClr>
                <a:schemeClr val="accent5">
                  <a:lumMod val="40000"/>
                  <a:lumOff val="60000"/>
                </a:schemeClr>
              </a:buClr>
              <a:buSzPct val="70000"/>
            </a:pPr>
            <a:r>
              <a:rPr lang="en-US" sz="1400" b="1" noProof="1">
                <a:latin typeface="Consolas" pitchFamily="49" charset="0"/>
                <a:cs typeface="Consolas" pitchFamily="49" charset="0"/>
              </a:rPr>
              <a:t>import { Operation } from "./operation";</a:t>
            </a:r>
          </a:p>
          <a:p>
            <a:pPr eaLnBrk="0" hangingPunct="0">
              <a:buClr>
                <a:schemeClr val="accent5">
                  <a:lumMod val="40000"/>
                  <a:lumOff val="60000"/>
                </a:schemeClr>
              </a:buClr>
              <a:buSzPct val="70000"/>
            </a:pPr>
            <a:endParaRPr lang="en-US" sz="1400" b="1" noProof="1">
              <a:latin typeface="Consolas" pitchFamily="49" charset="0"/>
              <a:cs typeface="Consolas" pitchFamily="49" charset="0"/>
            </a:endParaRPr>
          </a:p>
          <a:p>
            <a:pPr eaLnBrk="0" hangingPunct="0">
              <a:buClr>
                <a:schemeClr val="accent5">
                  <a:lumMod val="40000"/>
                  <a:lumOff val="60000"/>
                </a:schemeClr>
              </a:buClr>
              <a:buSzPct val="70000"/>
            </a:pPr>
            <a:r>
              <a:rPr lang="en-US" sz="1400" b="1" noProof="1">
                <a:solidFill>
                  <a:srgbClr val="FF0000"/>
                </a:solidFill>
                <a:latin typeface="Consolas" pitchFamily="49" charset="0"/>
                <a:cs typeface="Consolas" pitchFamily="49" charset="0"/>
              </a:rPr>
              <a:t>@Injectable()</a:t>
            </a:r>
          </a:p>
          <a:p>
            <a:pPr eaLnBrk="0" hangingPunct="0">
              <a:buClr>
                <a:schemeClr val="accent5">
                  <a:lumMod val="40000"/>
                  <a:lumOff val="60000"/>
                </a:schemeClr>
              </a:buClr>
              <a:buSzPct val="70000"/>
            </a:pPr>
            <a:r>
              <a:rPr lang="en-US" sz="1400" b="1" noProof="1">
                <a:latin typeface="Consolas" pitchFamily="49" charset="0"/>
                <a:cs typeface="Consolas" pitchFamily="49" charset="0"/>
              </a:rPr>
              <a:t>export class OperationsService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private operations: Operation[] =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constructor()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getNumberOfOperations(): number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return this.operations.length;</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getOperationsList(): Operation[]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return this.operations;</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getOperationById(id: string): Operation | undefined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return this.operations.find(o =&gt; o._id === id);</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saveOperation(operation: Operation)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operation._id = new Date().getTime().toString();</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this.operations.push(operation);</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deleteOperation(operation: Operation)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const index = this.operations.indexOf(operation);</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this.operations.splice(index, 1);</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a:t>
            </a:r>
          </a:p>
        </p:txBody>
      </p:sp>
      <p:sp>
        <p:nvSpPr>
          <p:cNvPr id="6" name="Rectángulo 5">
            <a:extLst>
              <a:ext uri="{FF2B5EF4-FFF2-40B4-BE49-F238E27FC236}">
                <a16:creationId xmlns:a16="http://schemas.microsoft.com/office/drawing/2014/main" id="{1995B6E3-EFB3-4D9A-825D-0AF53AB70325}"/>
              </a:ext>
            </a:extLst>
          </p:cNvPr>
          <p:cNvSpPr/>
          <p:nvPr/>
        </p:nvSpPr>
        <p:spPr>
          <a:xfrm>
            <a:off x="10216035" y="180232"/>
            <a:ext cx="1821977" cy="830997"/>
          </a:xfrm>
          <a:prstGeom prst="rect">
            <a:avLst/>
          </a:prstGeom>
        </p:spPr>
        <p:txBody>
          <a:bodyPr wrap="square">
            <a:spAutoFit/>
          </a:bodyPr>
          <a:lstStyle/>
          <a:p>
            <a:r>
              <a:rPr lang="en-US" sz="4800" b="1" dirty="0">
                <a:solidFill>
                  <a:srgbClr val="FF0000"/>
                </a:solidFill>
              </a:rPr>
              <a:t>LAB1a </a:t>
            </a:r>
            <a:endParaRPr lang="es-ES" sz="4800" dirty="0">
              <a:solidFill>
                <a:srgbClr val="FF0000"/>
              </a:solidFill>
            </a:endParaRPr>
          </a:p>
        </p:txBody>
      </p:sp>
      <p:sp>
        <p:nvSpPr>
          <p:cNvPr id="7" name="Rectángulo 6">
            <a:extLst>
              <a:ext uri="{FF2B5EF4-FFF2-40B4-BE49-F238E27FC236}">
                <a16:creationId xmlns:a16="http://schemas.microsoft.com/office/drawing/2014/main" id="{168098B9-61DB-41A4-B51B-BE29F8BF193D}"/>
              </a:ext>
            </a:extLst>
          </p:cNvPr>
          <p:cNvSpPr/>
          <p:nvPr/>
        </p:nvSpPr>
        <p:spPr>
          <a:xfrm>
            <a:off x="10366848" y="874318"/>
            <a:ext cx="1637436" cy="369332"/>
          </a:xfrm>
          <a:prstGeom prst="rect">
            <a:avLst/>
          </a:prstGeom>
        </p:spPr>
        <p:txBody>
          <a:bodyPr wrap="none">
            <a:spAutoFit/>
          </a:bodyPr>
          <a:lstStyle/>
          <a:p>
            <a:r>
              <a:rPr lang="es-ES" dirty="0"/>
              <a:t>C:\Labs\T6\EX1</a:t>
            </a:r>
          </a:p>
        </p:txBody>
      </p:sp>
    </p:spTree>
    <p:extLst>
      <p:ext uri="{BB962C8B-B14F-4D97-AF65-F5344CB8AC3E}">
        <p14:creationId xmlns:p14="http://schemas.microsoft.com/office/powerpoint/2010/main" val="788136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7BFF5-007E-4BA5-A1FC-2E473FAA6594}"/>
              </a:ext>
            </a:extLst>
          </p:cNvPr>
          <p:cNvSpPr>
            <a:spLocks noGrp="1"/>
          </p:cNvSpPr>
          <p:nvPr>
            <p:ph type="title"/>
          </p:nvPr>
        </p:nvSpPr>
        <p:spPr/>
        <p:txBody>
          <a:bodyPr>
            <a:normAutofit fontScale="90000"/>
          </a:bodyPr>
          <a:lstStyle/>
          <a:p>
            <a:r>
              <a:rPr lang="es-ES" dirty="0" err="1"/>
              <a:t>Providers</a:t>
            </a:r>
            <a:endParaRPr lang="es-ES" dirty="0"/>
          </a:p>
        </p:txBody>
      </p:sp>
      <p:sp>
        <p:nvSpPr>
          <p:cNvPr id="5" name="Marcador de contenido 4">
            <a:extLst>
              <a:ext uri="{FF2B5EF4-FFF2-40B4-BE49-F238E27FC236}">
                <a16:creationId xmlns:a16="http://schemas.microsoft.com/office/drawing/2014/main" id="{5E98E293-7490-4AC2-BBE4-A238356854A8}"/>
              </a:ext>
            </a:extLst>
          </p:cNvPr>
          <p:cNvSpPr>
            <a:spLocks noGrp="1"/>
          </p:cNvSpPr>
          <p:nvPr>
            <p:ph idx="1"/>
          </p:nvPr>
        </p:nvSpPr>
        <p:spPr/>
        <p:txBody>
          <a:bodyPr>
            <a:normAutofit/>
          </a:bodyPr>
          <a:lstStyle/>
          <a:p>
            <a:r>
              <a:rPr lang="es-ES" dirty="0"/>
              <a:t>Declarar y decorar la clase no es suficiente. Necesitas </a:t>
            </a:r>
            <a:r>
              <a:rPr lang="es-ES" b="1" dirty="0"/>
              <a:t>registrarla como un proveedor</a:t>
            </a:r>
            <a:r>
              <a:rPr lang="es-ES" dirty="0"/>
              <a:t> en algún módulo. Por ahora hazlo en el cercano módulo de Operaciones usando el array </a:t>
            </a:r>
            <a:r>
              <a:rPr lang="es-ES" b="1" dirty="0" err="1"/>
              <a:t>providers</a:t>
            </a:r>
            <a:r>
              <a:rPr lang="es-ES" b="1" dirty="0"/>
              <a:t>:[]</a:t>
            </a:r>
          </a:p>
          <a:p>
            <a:endParaRPr lang="es-ES" b="1" dirty="0"/>
          </a:p>
          <a:p>
            <a:endParaRPr lang="es-ES" b="1" dirty="0"/>
          </a:p>
          <a:p>
            <a:endParaRPr lang="es-ES" b="1" dirty="0"/>
          </a:p>
          <a:p>
            <a:endParaRPr lang="es-ES" b="1" dirty="0"/>
          </a:p>
          <a:p>
            <a:pPr fontAlgn="base"/>
            <a:r>
              <a:rPr lang="es-ES" dirty="0"/>
              <a:t>A partir de este momento cualquier otro servicio o componente de este módulo que lo reclame </a:t>
            </a:r>
            <a:r>
              <a:rPr lang="es-ES" b="1" dirty="0"/>
              <a:t>será proveído con una misma instancia</a:t>
            </a:r>
            <a:r>
              <a:rPr lang="es-ES" dirty="0"/>
              <a:t> de este servicio. </a:t>
            </a:r>
          </a:p>
          <a:p>
            <a:pPr fontAlgn="base"/>
            <a:r>
              <a:rPr lang="es-ES" dirty="0"/>
              <a:t>Se crea un </a:t>
            </a:r>
            <a:r>
              <a:rPr lang="es-ES" i="1" dirty="0" err="1">
                <a:hlinkClick r:id="rId3"/>
              </a:rPr>
              <a:t>singleton</a:t>
            </a:r>
            <a:r>
              <a:rPr lang="es-ES" dirty="0"/>
              <a:t> por cada módulo en el que se provea un servicio. </a:t>
            </a:r>
          </a:p>
          <a:p>
            <a:endParaRPr lang="es-ES" dirty="0"/>
          </a:p>
        </p:txBody>
      </p:sp>
      <p:sp>
        <p:nvSpPr>
          <p:cNvPr id="7" name="Rectangle 4">
            <a:extLst>
              <a:ext uri="{FF2B5EF4-FFF2-40B4-BE49-F238E27FC236}">
                <a16:creationId xmlns:a16="http://schemas.microsoft.com/office/drawing/2014/main" id="{F9FB3FCD-D87E-4DB2-A01E-EF149127AFA6}"/>
              </a:ext>
            </a:extLst>
          </p:cNvPr>
          <p:cNvSpPr>
            <a:spLocks noChangeArrowheads="1"/>
          </p:cNvSpPr>
          <p:nvPr/>
        </p:nvSpPr>
        <p:spPr bwMode="auto">
          <a:xfrm>
            <a:off x="1141412" y="2209800"/>
            <a:ext cx="9599611" cy="156966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1600" b="1" noProof="1">
                <a:latin typeface="Consolas" pitchFamily="49" charset="0"/>
                <a:cs typeface="Consolas" pitchFamily="49" charset="0"/>
              </a:rPr>
              <a:t>@NgModule({</a:t>
            </a:r>
          </a:p>
          <a:p>
            <a:pPr eaLnBrk="0" hangingPunct="0">
              <a:buClr>
                <a:schemeClr val="accent5">
                  <a:lumMod val="40000"/>
                  <a:lumOff val="60000"/>
                </a:schemeClr>
              </a:buClr>
              <a:buSzPct val="70000"/>
            </a:pPr>
            <a:r>
              <a:rPr lang="en-US" sz="1600" b="1" noProof="1">
                <a:latin typeface="Consolas" pitchFamily="49" charset="0"/>
                <a:cs typeface="Consolas" pitchFamily="49" charset="0"/>
              </a:rPr>
              <a:t>  imports: [CommonModule, FormsModule, OperationsRoutingModule],</a:t>
            </a:r>
          </a:p>
          <a:p>
            <a:pPr eaLnBrk="0" hangingPunct="0">
              <a:buClr>
                <a:schemeClr val="accent5">
                  <a:lumMod val="40000"/>
                  <a:lumOff val="60000"/>
                </a:schemeClr>
              </a:buClr>
              <a:buSzPct val="70000"/>
            </a:pPr>
            <a:r>
              <a:rPr lang="en-US" sz="1600" b="1" noProof="1">
                <a:latin typeface="Consolas" pitchFamily="49" charset="0"/>
                <a:cs typeface="Consolas" pitchFamily="49" charset="0"/>
              </a:rPr>
              <a:t>  declarations: [ OperationsComponent, NewComponent, ListComponent, ItemComponent],</a:t>
            </a:r>
          </a:p>
          <a:p>
            <a:pPr eaLnBrk="0" hangingPunct="0">
              <a:buClr>
                <a:schemeClr val="accent5">
                  <a:lumMod val="40000"/>
                  <a:lumOff val="60000"/>
                </a:schemeClr>
              </a:buClr>
              <a:buSzPct val="70000"/>
            </a:pPr>
            <a:r>
              <a:rPr lang="en-US" sz="1600" b="1" noProof="1">
                <a:solidFill>
                  <a:srgbClr val="FF0000"/>
                </a:solidFill>
                <a:latin typeface="Consolas" pitchFamily="49" charset="0"/>
                <a:cs typeface="Consolas" pitchFamily="49" charset="0"/>
              </a:rPr>
              <a:t>  providers: [OperationsService]</a:t>
            </a:r>
          </a:p>
          <a:p>
            <a:pPr eaLnBrk="0" hangingPunct="0">
              <a:buClr>
                <a:schemeClr val="accent5">
                  <a:lumMod val="40000"/>
                  <a:lumOff val="60000"/>
                </a:schemeClr>
              </a:buClr>
              <a:buSzPct val="70000"/>
            </a:pPr>
            <a:r>
              <a:rPr lang="en-US" sz="1600" b="1" noProof="1">
                <a:latin typeface="Consolas" pitchFamily="49" charset="0"/>
                <a:cs typeface="Consolas" pitchFamily="49" charset="0"/>
              </a:rPr>
              <a:t>})</a:t>
            </a:r>
          </a:p>
          <a:p>
            <a:pPr eaLnBrk="0" hangingPunct="0">
              <a:buClr>
                <a:schemeClr val="accent5">
                  <a:lumMod val="40000"/>
                  <a:lumOff val="60000"/>
                </a:schemeClr>
              </a:buClr>
              <a:buSzPct val="70000"/>
            </a:pPr>
            <a:r>
              <a:rPr lang="en-US" sz="1600" b="1" noProof="1">
                <a:latin typeface="Consolas" pitchFamily="49" charset="0"/>
                <a:cs typeface="Consolas" pitchFamily="49" charset="0"/>
              </a:rPr>
              <a:t>export class OperationsModule {}</a:t>
            </a:r>
          </a:p>
        </p:txBody>
      </p:sp>
      <p:sp>
        <p:nvSpPr>
          <p:cNvPr id="8" name="Rectángulo 7">
            <a:extLst>
              <a:ext uri="{FF2B5EF4-FFF2-40B4-BE49-F238E27FC236}">
                <a16:creationId xmlns:a16="http://schemas.microsoft.com/office/drawing/2014/main" id="{6EC8A274-5A9D-4EF9-94CA-436803D77770}"/>
              </a:ext>
            </a:extLst>
          </p:cNvPr>
          <p:cNvSpPr/>
          <p:nvPr/>
        </p:nvSpPr>
        <p:spPr>
          <a:xfrm>
            <a:off x="10216035" y="180232"/>
            <a:ext cx="1821977" cy="830997"/>
          </a:xfrm>
          <a:prstGeom prst="rect">
            <a:avLst/>
          </a:prstGeom>
        </p:spPr>
        <p:txBody>
          <a:bodyPr wrap="square">
            <a:spAutoFit/>
          </a:bodyPr>
          <a:lstStyle/>
          <a:p>
            <a:r>
              <a:rPr lang="en-US" sz="4800" b="1" dirty="0">
                <a:solidFill>
                  <a:srgbClr val="FF0000"/>
                </a:solidFill>
              </a:rPr>
              <a:t>LAB1a </a:t>
            </a:r>
            <a:endParaRPr lang="es-ES" sz="4800" dirty="0">
              <a:solidFill>
                <a:srgbClr val="FF0000"/>
              </a:solidFill>
            </a:endParaRPr>
          </a:p>
        </p:txBody>
      </p:sp>
      <p:sp>
        <p:nvSpPr>
          <p:cNvPr id="9" name="Rectángulo 8">
            <a:extLst>
              <a:ext uri="{FF2B5EF4-FFF2-40B4-BE49-F238E27FC236}">
                <a16:creationId xmlns:a16="http://schemas.microsoft.com/office/drawing/2014/main" id="{C225ED03-0C25-45FC-B4E6-30C9E2279AA8}"/>
              </a:ext>
            </a:extLst>
          </p:cNvPr>
          <p:cNvSpPr/>
          <p:nvPr/>
        </p:nvSpPr>
        <p:spPr>
          <a:xfrm>
            <a:off x="10366848" y="874318"/>
            <a:ext cx="1637436" cy="369332"/>
          </a:xfrm>
          <a:prstGeom prst="rect">
            <a:avLst/>
          </a:prstGeom>
        </p:spPr>
        <p:txBody>
          <a:bodyPr wrap="none">
            <a:spAutoFit/>
          </a:bodyPr>
          <a:lstStyle/>
          <a:p>
            <a:r>
              <a:rPr lang="es-ES" dirty="0"/>
              <a:t>C:\Labs\T6\EX1</a:t>
            </a:r>
          </a:p>
        </p:txBody>
      </p:sp>
    </p:spTree>
    <p:extLst>
      <p:ext uri="{BB962C8B-B14F-4D97-AF65-F5344CB8AC3E}">
        <p14:creationId xmlns:p14="http://schemas.microsoft.com/office/powerpoint/2010/main" val="1441907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47BEFE3-0352-9F90-08F7-32831B638C66}"/>
              </a:ext>
            </a:extLst>
          </p:cNvPr>
          <p:cNvSpPr txBox="1"/>
          <p:nvPr/>
        </p:nvSpPr>
        <p:spPr>
          <a:xfrm>
            <a:off x="1293812" y="2450471"/>
            <a:ext cx="3886200"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s-ES" dirty="0"/>
              <a:t>Modulo A</a:t>
            </a:r>
          </a:p>
          <a:p>
            <a:r>
              <a:rPr lang="es-ES" dirty="0"/>
              <a:t>	Componente A</a:t>
            </a:r>
          </a:p>
        </p:txBody>
      </p:sp>
      <p:sp>
        <p:nvSpPr>
          <p:cNvPr id="5" name="CuadroTexto 4">
            <a:extLst>
              <a:ext uri="{FF2B5EF4-FFF2-40B4-BE49-F238E27FC236}">
                <a16:creationId xmlns:a16="http://schemas.microsoft.com/office/drawing/2014/main" id="{C21D3F21-CEDC-4139-2269-E3DA68ADC9C0}"/>
              </a:ext>
            </a:extLst>
          </p:cNvPr>
          <p:cNvSpPr txBox="1"/>
          <p:nvPr/>
        </p:nvSpPr>
        <p:spPr>
          <a:xfrm>
            <a:off x="7770812" y="2438400"/>
            <a:ext cx="3886200"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s-ES" dirty="0"/>
              <a:t>Modulo B</a:t>
            </a:r>
          </a:p>
          <a:p>
            <a:r>
              <a:rPr lang="es-ES" dirty="0"/>
              <a:t>	Componente B</a:t>
            </a:r>
          </a:p>
        </p:txBody>
      </p:sp>
      <p:sp>
        <p:nvSpPr>
          <p:cNvPr id="6" name="CuadroTexto 5">
            <a:extLst>
              <a:ext uri="{FF2B5EF4-FFF2-40B4-BE49-F238E27FC236}">
                <a16:creationId xmlns:a16="http://schemas.microsoft.com/office/drawing/2014/main" id="{8BE46F32-D8EE-1AB2-EAF1-2FAE6825EC19}"/>
              </a:ext>
            </a:extLst>
          </p:cNvPr>
          <p:cNvSpPr txBox="1"/>
          <p:nvPr/>
        </p:nvSpPr>
        <p:spPr>
          <a:xfrm>
            <a:off x="4722812" y="4495914"/>
            <a:ext cx="3886200" cy="92333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s-ES" dirty="0"/>
              <a:t>Servicio Compartido A</a:t>
            </a:r>
          </a:p>
          <a:p>
            <a:endParaRPr lang="es-ES" dirty="0"/>
          </a:p>
          <a:p>
            <a:r>
              <a:rPr lang="es-ES" dirty="0"/>
              <a:t>Observable(1,</a:t>
            </a:r>
            <a:r>
              <a:rPr lang="es-ES" dirty="0">
                <a:solidFill>
                  <a:srgbClr val="0097CC"/>
                </a:solidFill>
              </a:rPr>
              <a:t>2</a:t>
            </a:r>
            <a:r>
              <a:rPr lang="es-ES" dirty="0"/>
              <a:t>,</a:t>
            </a:r>
            <a:r>
              <a:rPr lang="es-ES" dirty="0">
                <a:solidFill>
                  <a:srgbClr val="FF0000"/>
                </a:solidFill>
              </a:rPr>
              <a:t>3</a:t>
            </a:r>
            <a:r>
              <a:rPr lang="es-ES" dirty="0"/>
              <a:t>,4,5)</a:t>
            </a:r>
          </a:p>
        </p:txBody>
      </p:sp>
      <p:cxnSp>
        <p:nvCxnSpPr>
          <p:cNvPr id="8" name="Conector recto de flecha 7">
            <a:extLst>
              <a:ext uri="{FF2B5EF4-FFF2-40B4-BE49-F238E27FC236}">
                <a16:creationId xmlns:a16="http://schemas.microsoft.com/office/drawing/2014/main" id="{81324EF8-F53D-E828-2EEE-9C4A2ADA93C1}"/>
              </a:ext>
            </a:extLst>
          </p:cNvPr>
          <p:cNvCxnSpPr>
            <a:stCxn id="4" idx="2"/>
            <a:endCxn id="6" idx="0"/>
          </p:cNvCxnSpPr>
          <p:nvPr/>
        </p:nvCxnSpPr>
        <p:spPr>
          <a:xfrm>
            <a:off x="3236912" y="3096802"/>
            <a:ext cx="3429000" cy="1399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0A485B7A-551F-B89D-BC4E-E670E254D021}"/>
              </a:ext>
            </a:extLst>
          </p:cNvPr>
          <p:cNvCxnSpPr>
            <a:cxnSpLocks/>
            <a:stCxn id="5" idx="2"/>
            <a:endCxn id="6" idx="0"/>
          </p:cNvCxnSpPr>
          <p:nvPr/>
        </p:nvCxnSpPr>
        <p:spPr>
          <a:xfrm flipH="1">
            <a:off x="6665912" y="3084731"/>
            <a:ext cx="3048000" cy="141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6296C5EE-C23A-F5A4-AAB4-1D789754517F}"/>
              </a:ext>
            </a:extLst>
          </p:cNvPr>
          <p:cNvSpPr txBox="1"/>
          <p:nvPr/>
        </p:nvSpPr>
        <p:spPr>
          <a:xfrm>
            <a:off x="1674812" y="4880335"/>
            <a:ext cx="2202769"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s-ES" dirty="0" err="1"/>
              <a:t>AppModule</a:t>
            </a:r>
            <a:endParaRPr lang="es-ES" dirty="0"/>
          </a:p>
          <a:p>
            <a:r>
              <a:rPr lang="es-ES" dirty="0" err="1"/>
              <a:t>Providers</a:t>
            </a:r>
            <a:r>
              <a:rPr lang="es-ES" dirty="0"/>
              <a:t>: []</a:t>
            </a:r>
          </a:p>
        </p:txBody>
      </p:sp>
      <p:cxnSp>
        <p:nvCxnSpPr>
          <p:cNvPr id="13" name="Conector recto de flecha 12">
            <a:extLst>
              <a:ext uri="{FF2B5EF4-FFF2-40B4-BE49-F238E27FC236}">
                <a16:creationId xmlns:a16="http://schemas.microsoft.com/office/drawing/2014/main" id="{25288EB1-3166-3C0B-C0CC-01B3E51327DF}"/>
              </a:ext>
            </a:extLst>
          </p:cNvPr>
          <p:cNvCxnSpPr>
            <a:cxnSpLocks/>
            <a:stCxn id="12" idx="3"/>
            <a:endCxn id="6" idx="1"/>
          </p:cNvCxnSpPr>
          <p:nvPr/>
        </p:nvCxnSpPr>
        <p:spPr>
          <a:xfrm flipV="1">
            <a:off x="3877581" y="4957579"/>
            <a:ext cx="845231" cy="245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CC73F6D4-AC18-63D8-E54B-0C4B735AA8F1}"/>
              </a:ext>
            </a:extLst>
          </p:cNvPr>
          <p:cNvSpPr txBox="1"/>
          <p:nvPr/>
        </p:nvSpPr>
        <p:spPr>
          <a:xfrm>
            <a:off x="10242250" y="3101329"/>
            <a:ext cx="987661" cy="369332"/>
          </a:xfrm>
          <a:prstGeom prst="rect">
            <a:avLst/>
          </a:prstGeom>
          <a:noFill/>
        </p:spPr>
        <p:txBody>
          <a:bodyPr wrap="square">
            <a:spAutoFit/>
          </a:bodyPr>
          <a:lstStyle/>
          <a:p>
            <a:r>
              <a:rPr lang="es-ES" dirty="0"/>
              <a:t>0</a:t>
            </a:r>
          </a:p>
        </p:txBody>
      </p:sp>
    </p:spTree>
    <p:extLst>
      <p:ext uri="{BB962C8B-B14F-4D97-AF65-F5344CB8AC3E}">
        <p14:creationId xmlns:p14="http://schemas.microsoft.com/office/powerpoint/2010/main" val="428319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5BC7CA8-D4A5-AD8E-DB8B-36F1D616D4CF}"/>
              </a:ext>
            </a:extLst>
          </p:cNvPr>
          <p:cNvSpPr txBox="1"/>
          <p:nvPr/>
        </p:nvSpPr>
        <p:spPr>
          <a:xfrm>
            <a:off x="1065212" y="1002671"/>
            <a:ext cx="3886200"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s-ES" dirty="0"/>
              <a:t>Modulo A</a:t>
            </a:r>
          </a:p>
          <a:p>
            <a:r>
              <a:rPr lang="es-ES" dirty="0"/>
              <a:t>	Componente A</a:t>
            </a:r>
          </a:p>
        </p:txBody>
      </p:sp>
      <p:sp>
        <p:nvSpPr>
          <p:cNvPr id="5" name="CuadroTexto 4">
            <a:extLst>
              <a:ext uri="{FF2B5EF4-FFF2-40B4-BE49-F238E27FC236}">
                <a16:creationId xmlns:a16="http://schemas.microsoft.com/office/drawing/2014/main" id="{8A7545E4-9404-D956-83F3-E48F93B0E386}"/>
              </a:ext>
            </a:extLst>
          </p:cNvPr>
          <p:cNvSpPr txBox="1"/>
          <p:nvPr/>
        </p:nvSpPr>
        <p:spPr>
          <a:xfrm>
            <a:off x="7542212" y="990600"/>
            <a:ext cx="3886200"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s-ES" dirty="0"/>
              <a:t>Modulo B</a:t>
            </a:r>
          </a:p>
          <a:p>
            <a:r>
              <a:rPr lang="es-ES" dirty="0"/>
              <a:t>	Componente B</a:t>
            </a:r>
          </a:p>
        </p:txBody>
      </p:sp>
      <p:cxnSp>
        <p:nvCxnSpPr>
          <p:cNvPr id="6" name="Conector recto de flecha 5">
            <a:extLst>
              <a:ext uri="{FF2B5EF4-FFF2-40B4-BE49-F238E27FC236}">
                <a16:creationId xmlns:a16="http://schemas.microsoft.com/office/drawing/2014/main" id="{C2D23804-E8E2-EE67-A97B-265776B70F11}"/>
              </a:ext>
            </a:extLst>
          </p:cNvPr>
          <p:cNvCxnSpPr>
            <a:stCxn id="4" idx="2"/>
          </p:cNvCxnSpPr>
          <p:nvPr/>
        </p:nvCxnSpPr>
        <p:spPr>
          <a:xfrm>
            <a:off x="3008312" y="1649002"/>
            <a:ext cx="3429000" cy="1399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D50D72DD-C7BD-9EC2-25D9-39CDEE0147A7}"/>
              </a:ext>
            </a:extLst>
          </p:cNvPr>
          <p:cNvSpPr txBox="1"/>
          <p:nvPr/>
        </p:nvSpPr>
        <p:spPr>
          <a:xfrm>
            <a:off x="3960812" y="3060185"/>
            <a:ext cx="4495800" cy="92333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s-ES" dirty="0"/>
              <a:t>Servicio Compartido A</a:t>
            </a:r>
          </a:p>
          <a:p>
            <a:endParaRPr lang="es-ES" dirty="0"/>
          </a:p>
          <a:p>
            <a:r>
              <a:rPr lang="es-ES" dirty="0"/>
              <a:t>Observable(dato1,dato2,dato3…)</a:t>
            </a:r>
          </a:p>
        </p:txBody>
      </p:sp>
      <p:sp>
        <p:nvSpPr>
          <p:cNvPr id="10" name="CuadroTexto 9">
            <a:extLst>
              <a:ext uri="{FF2B5EF4-FFF2-40B4-BE49-F238E27FC236}">
                <a16:creationId xmlns:a16="http://schemas.microsoft.com/office/drawing/2014/main" id="{12061502-D0D7-FC9D-7A96-A2A06F3B9F53}"/>
              </a:ext>
            </a:extLst>
          </p:cNvPr>
          <p:cNvSpPr txBox="1"/>
          <p:nvPr/>
        </p:nvSpPr>
        <p:spPr>
          <a:xfrm>
            <a:off x="3960812" y="5459591"/>
            <a:ext cx="4495800"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s-ES" dirty="0"/>
              <a:t>REST</a:t>
            </a:r>
          </a:p>
        </p:txBody>
      </p:sp>
      <p:cxnSp>
        <p:nvCxnSpPr>
          <p:cNvPr id="11" name="Conector recto de flecha 10">
            <a:extLst>
              <a:ext uri="{FF2B5EF4-FFF2-40B4-BE49-F238E27FC236}">
                <a16:creationId xmlns:a16="http://schemas.microsoft.com/office/drawing/2014/main" id="{B41CCA06-A462-22F5-7729-C347B18D6ED7}"/>
              </a:ext>
            </a:extLst>
          </p:cNvPr>
          <p:cNvCxnSpPr>
            <a:cxnSpLocks/>
            <a:stCxn id="9" idx="2"/>
            <a:endCxn id="10" idx="0"/>
          </p:cNvCxnSpPr>
          <p:nvPr/>
        </p:nvCxnSpPr>
        <p:spPr>
          <a:xfrm>
            <a:off x="6208712" y="3983515"/>
            <a:ext cx="0" cy="1476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636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2C5FE4F-F16A-4FAF-81DD-1B1491A66195}"/>
              </a:ext>
            </a:extLst>
          </p:cNvPr>
          <p:cNvSpPr>
            <a:spLocks noGrp="1"/>
          </p:cNvSpPr>
          <p:nvPr>
            <p:ph type="title"/>
          </p:nvPr>
        </p:nvSpPr>
        <p:spPr/>
        <p:txBody>
          <a:bodyPr/>
          <a:lstStyle/>
          <a:p>
            <a:r>
              <a:rPr lang="es-ES" dirty="0"/>
              <a:t>Dependencias</a:t>
            </a:r>
          </a:p>
        </p:txBody>
      </p:sp>
    </p:spTree>
    <p:extLst>
      <p:ext uri="{BB962C8B-B14F-4D97-AF65-F5344CB8AC3E}">
        <p14:creationId xmlns:p14="http://schemas.microsoft.com/office/powerpoint/2010/main" val="1726722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normAutofit fontScale="90000"/>
          </a:bodyPr>
          <a:lstStyle/>
          <a:p>
            <a:r>
              <a:rPr lang="es-ES" dirty="0"/>
              <a:t>Inyectar un servicio</a:t>
            </a:r>
          </a:p>
        </p:txBody>
      </p:sp>
      <p:sp>
        <p:nvSpPr>
          <p:cNvPr id="4" name="Marcador de contenido 3">
            <a:extLst>
              <a:ext uri="{FF2B5EF4-FFF2-40B4-BE49-F238E27FC236}">
                <a16:creationId xmlns:a16="http://schemas.microsoft.com/office/drawing/2014/main" id="{C9812989-4744-4467-843B-3DBB5B7721F4}"/>
              </a:ext>
            </a:extLst>
          </p:cNvPr>
          <p:cNvSpPr>
            <a:spLocks noGrp="1"/>
          </p:cNvSpPr>
          <p:nvPr>
            <p:ph idx="1"/>
          </p:nvPr>
        </p:nvSpPr>
        <p:spPr/>
        <p:txBody>
          <a:bodyPr/>
          <a:lstStyle/>
          <a:p>
            <a:r>
              <a:rPr lang="es-ES" b="1" dirty="0"/>
              <a:t>Inyectar un servicio es tan simple como importar la clase de servicio y luego definirla dentro de los parámetros del constructor del consumidor</a:t>
            </a:r>
          </a:p>
          <a:p>
            <a:r>
              <a:rPr lang="es-ES" dirty="0"/>
              <a:t>Al igual que los componentes, </a:t>
            </a:r>
            <a:r>
              <a:rPr lang="es-ES" b="1" dirty="0"/>
              <a:t>podemos inyectar dependencias en el constructor de un servicio</a:t>
            </a:r>
          </a:p>
          <a:p>
            <a:r>
              <a:rPr lang="es-ES" dirty="0"/>
              <a:t>Puede haber solo una instancia de un tipo de servicio en un inyector en particular, pero puede haber múltiples inyectores que operan en diferentes niveles del árbol de componentes de la aplicación. </a:t>
            </a:r>
          </a:p>
          <a:p>
            <a:r>
              <a:rPr lang="es-ES" dirty="0"/>
              <a:t>Cualquiera de esos inyectores podría tener su propia instancia del servicio.</a:t>
            </a:r>
          </a:p>
        </p:txBody>
      </p:sp>
    </p:spTree>
    <p:extLst>
      <p:ext uri="{BB962C8B-B14F-4D97-AF65-F5344CB8AC3E}">
        <p14:creationId xmlns:p14="http://schemas.microsoft.com/office/powerpoint/2010/main" val="2163646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15293" y="383977"/>
            <a:ext cx="5161359" cy="250031"/>
          </a:xfrm>
          <a:custGeom>
            <a:avLst/>
            <a:gdLst/>
            <a:ahLst/>
            <a:cxnLst/>
            <a:rect l="l" t="t" r="r" b="b"/>
            <a:pathLst>
              <a:path w="7340600" h="355600">
                <a:moveTo>
                  <a:pt x="0" y="0"/>
                </a:moveTo>
                <a:lnTo>
                  <a:pt x="7340206" y="0"/>
                </a:lnTo>
                <a:lnTo>
                  <a:pt x="7340206" y="355600"/>
                </a:lnTo>
                <a:lnTo>
                  <a:pt x="0" y="355600"/>
                </a:lnTo>
                <a:lnTo>
                  <a:pt x="0" y="0"/>
                </a:lnTo>
                <a:close/>
              </a:path>
            </a:pathLst>
          </a:custGeom>
          <a:solidFill>
            <a:srgbClr val="393939"/>
          </a:solidFill>
        </p:spPr>
        <p:txBody>
          <a:bodyPr wrap="square" lIns="0" tIns="0" rIns="0" bIns="0" rtlCol="0"/>
          <a:lstStyle/>
          <a:p>
            <a:endParaRPr sz="1266"/>
          </a:p>
        </p:txBody>
      </p:sp>
      <p:sp>
        <p:nvSpPr>
          <p:cNvPr id="3" name="object 3"/>
          <p:cNvSpPr/>
          <p:nvPr/>
        </p:nvSpPr>
        <p:spPr>
          <a:xfrm>
            <a:off x="1715294" y="634008"/>
            <a:ext cx="6838801" cy="250031"/>
          </a:xfrm>
          <a:custGeom>
            <a:avLst/>
            <a:gdLst/>
            <a:ahLst/>
            <a:cxnLst/>
            <a:rect l="l" t="t" r="r" b="b"/>
            <a:pathLst>
              <a:path w="9726295" h="355600">
                <a:moveTo>
                  <a:pt x="0" y="0"/>
                </a:moveTo>
                <a:lnTo>
                  <a:pt x="9725774" y="0"/>
                </a:lnTo>
                <a:lnTo>
                  <a:pt x="9725774" y="355600"/>
                </a:lnTo>
                <a:lnTo>
                  <a:pt x="0" y="355600"/>
                </a:lnTo>
                <a:lnTo>
                  <a:pt x="0" y="0"/>
                </a:lnTo>
                <a:close/>
              </a:path>
            </a:pathLst>
          </a:custGeom>
          <a:solidFill>
            <a:srgbClr val="393939"/>
          </a:solidFill>
        </p:spPr>
        <p:txBody>
          <a:bodyPr wrap="square" lIns="0" tIns="0" rIns="0" bIns="0" rtlCol="0"/>
          <a:lstStyle/>
          <a:p>
            <a:endParaRPr sz="1266"/>
          </a:p>
        </p:txBody>
      </p:sp>
      <p:sp>
        <p:nvSpPr>
          <p:cNvPr id="4" name="object 4"/>
          <p:cNvSpPr/>
          <p:nvPr/>
        </p:nvSpPr>
        <p:spPr>
          <a:xfrm>
            <a:off x="1715293" y="1134070"/>
            <a:ext cx="1548408" cy="250031"/>
          </a:xfrm>
          <a:custGeom>
            <a:avLst/>
            <a:gdLst/>
            <a:ahLst/>
            <a:cxnLst/>
            <a:rect l="l" t="t" r="r" b="b"/>
            <a:pathLst>
              <a:path w="2202180" h="355600">
                <a:moveTo>
                  <a:pt x="0" y="0"/>
                </a:moveTo>
                <a:lnTo>
                  <a:pt x="2202065" y="0"/>
                </a:lnTo>
                <a:lnTo>
                  <a:pt x="2202065" y="355600"/>
                </a:lnTo>
                <a:lnTo>
                  <a:pt x="0" y="355600"/>
                </a:lnTo>
                <a:lnTo>
                  <a:pt x="0" y="0"/>
                </a:lnTo>
                <a:close/>
              </a:path>
            </a:pathLst>
          </a:custGeom>
          <a:solidFill>
            <a:srgbClr val="393939"/>
          </a:solidFill>
        </p:spPr>
        <p:txBody>
          <a:bodyPr wrap="square" lIns="0" tIns="0" rIns="0" bIns="0" rtlCol="0"/>
          <a:lstStyle/>
          <a:p>
            <a:endParaRPr sz="1266"/>
          </a:p>
        </p:txBody>
      </p:sp>
      <p:sp>
        <p:nvSpPr>
          <p:cNvPr id="5" name="object 5"/>
          <p:cNvSpPr/>
          <p:nvPr/>
        </p:nvSpPr>
        <p:spPr>
          <a:xfrm>
            <a:off x="1715293" y="1384102"/>
            <a:ext cx="2451646" cy="250031"/>
          </a:xfrm>
          <a:custGeom>
            <a:avLst/>
            <a:gdLst/>
            <a:ahLst/>
            <a:cxnLst/>
            <a:rect l="l" t="t" r="r" b="b"/>
            <a:pathLst>
              <a:path w="3486785" h="355600">
                <a:moveTo>
                  <a:pt x="0" y="0"/>
                </a:moveTo>
                <a:lnTo>
                  <a:pt x="3486594" y="0"/>
                </a:lnTo>
                <a:lnTo>
                  <a:pt x="3486594" y="355600"/>
                </a:lnTo>
                <a:lnTo>
                  <a:pt x="0" y="355600"/>
                </a:lnTo>
                <a:lnTo>
                  <a:pt x="0" y="0"/>
                </a:lnTo>
                <a:close/>
              </a:path>
            </a:pathLst>
          </a:custGeom>
          <a:solidFill>
            <a:srgbClr val="393939"/>
          </a:solidFill>
        </p:spPr>
        <p:txBody>
          <a:bodyPr wrap="square" lIns="0" tIns="0" rIns="0" bIns="0" rtlCol="0"/>
          <a:lstStyle/>
          <a:p>
            <a:endParaRPr sz="1266"/>
          </a:p>
        </p:txBody>
      </p:sp>
      <p:sp>
        <p:nvSpPr>
          <p:cNvPr id="6" name="object 6"/>
          <p:cNvSpPr/>
          <p:nvPr/>
        </p:nvSpPr>
        <p:spPr>
          <a:xfrm>
            <a:off x="1715294" y="1634133"/>
            <a:ext cx="5806529" cy="250031"/>
          </a:xfrm>
          <a:custGeom>
            <a:avLst/>
            <a:gdLst/>
            <a:ahLst/>
            <a:cxnLst/>
            <a:rect l="l" t="t" r="r" b="b"/>
            <a:pathLst>
              <a:path w="8258175" h="355600">
                <a:moveTo>
                  <a:pt x="0" y="0"/>
                </a:moveTo>
                <a:lnTo>
                  <a:pt x="8257730" y="0"/>
                </a:lnTo>
                <a:lnTo>
                  <a:pt x="8257730" y="355600"/>
                </a:lnTo>
                <a:lnTo>
                  <a:pt x="0" y="355600"/>
                </a:lnTo>
                <a:lnTo>
                  <a:pt x="0" y="0"/>
                </a:lnTo>
                <a:close/>
              </a:path>
            </a:pathLst>
          </a:custGeom>
          <a:solidFill>
            <a:srgbClr val="393939"/>
          </a:solidFill>
        </p:spPr>
        <p:txBody>
          <a:bodyPr wrap="square" lIns="0" tIns="0" rIns="0" bIns="0" rtlCol="0"/>
          <a:lstStyle/>
          <a:p>
            <a:endParaRPr sz="1266"/>
          </a:p>
        </p:txBody>
      </p:sp>
      <p:sp>
        <p:nvSpPr>
          <p:cNvPr id="7" name="object 7"/>
          <p:cNvSpPr/>
          <p:nvPr/>
        </p:nvSpPr>
        <p:spPr>
          <a:xfrm>
            <a:off x="1715293" y="1884164"/>
            <a:ext cx="258068" cy="250031"/>
          </a:xfrm>
          <a:custGeom>
            <a:avLst/>
            <a:gdLst/>
            <a:ahLst/>
            <a:cxnLst/>
            <a:rect l="l" t="t" r="r" b="b"/>
            <a:pathLst>
              <a:path w="367030" h="355600">
                <a:moveTo>
                  <a:pt x="0" y="0"/>
                </a:moveTo>
                <a:lnTo>
                  <a:pt x="367009" y="0"/>
                </a:lnTo>
                <a:lnTo>
                  <a:pt x="367009" y="355600"/>
                </a:lnTo>
                <a:lnTo>
                  <a:pt x="0" y="355600"/>
                </a:lnTo>
                <a:lnTo>
                  <a:pt x="0" y="0"/>
                </a:lnTo>
                <a:close/>
              </a:path>
            </a:pathLst>
          </a:custGeom>
          <a:solidFill>
            <a:srgbClr val="393939"/>
          </a:solidFill>
        </p:spPr>
        <p:txBody>
          <a:bodyPr wrap="square" lIns="0" tIns="0" rIns="0" bIns="0" rtlCol="0"/>
          <a:lstStyle/>
          <a:p>
            <a:endParaRPr sz="1266"/>
          </a:p>
        </p:txBody>
      </p:sp>
      <p:sp>
        <p:nvSpPr>
          <p:cNvPr id="8" name="object 8"/>
          <p:cNvSpPr/>
          <p:nvPr/>
        </p:nvSpPr>
        <p:spPr>
          <a:xfrm>
            <a:off x="1715293" y="2134195"/>
            <a:ext cx="3612952" cy="250031"/>
          </a:xfrm>
          <a:custGeom>
            <a:avLst/>
            <a:gdLst/>
            <a:ahLst/>
            <a:cxnLst/>
            <a:rect l="l" t="t" r="r" b="b"/>
            <a:pathLst>
              <a:path w="5138420" h="355600">
                <a:moveTo>
                  <a:pt x="0" y="0"/>
                </a:moveTo>
                <a:lnTo>
                  <a:pt x="5138140" y="0"/>
                </a:lnTo>
                <a:lnTo>
                  <a:pt x="5138140" y="355600"/>
                </a:lnTo>
                <a:lnTo>
                  <a:pt x="0" y="355600"/>
                </a:lnTo>
                <a:lnTo>
                  <a:pt x="0" y="0"/>
                </a:lnTo>
                <a:close/>
              </a:path>
            </a:pathLst>
          </a:custGeom>
          <a:solidFill>
            <a:srgbClr val="393939"/>
          </a:solidFill>
        </p:spPr>
        <p:txBody>
          <a:bodyPr wrap="square" lIns="0" tIns="0" rIns="0" bIns="0" rtlCol="0"/>
          <a:lstStyle/>
          <a:p>
            <a:endParaRPr sz="1266"/>
          </a:p>
        </p:txBody>
      </p:sp>
      <p:sp>
        <p:nvSpPr>
          <p:cNvPr id="9" name="object 9"/>
          <p:cNvSpPr/>
          <p:nvPr/>
        </p:nvSpPr>
        <p:spPr>
          <a:xfrm>
            <a:off x="1715293" y="2384227"/>
            <a:ext cx="3871020" cy="250031"/>
          </a:xfrm>
          <a:custGeom>
            <a:avLst/>
            <a:gdLst/>
            <a:ahLst/>
            <a:cxnLst/>
            <a:rect l="l" t="t" r="r" b="b"/>
            <a:pathLst>
              <a:path w="5505450" h="355600">
                <a:moveTo>
                  <a:pt x="0" y="0"/>
                </a:moveTo>
                <a:lnTo>
                  <a:pt x="5505157" y="0"/>
                </a:lnTo>
                <a:lnTo>
                  <a:pt x="5505157" y="355600"/>
                </a:lnTo>
                <a:lnTo>
                  <a:pt x="0" y="355600"/>
                </a:lnTo>
                <a:lnTo>
                  <a:pt x="0" y="0"/>
                </a:lnTo>
                <a:close/>
              </a:path>
            </a:pathLst>
          </a:custGeom>
          <a:solidFill>
            <a:srgbClr val="393939"/>
          </a:solidFill>
        </p:spPr>
        <p:txBody>
          <a:bodyPr wrap="square" lIns="0" tIns="0" rIns="0" bIns="0" rtlCol="0"/>
          <a:lstStyle/>
          <a:p>
            <a:endParaRPr sz="1266"/>
          </a:p>
        </p:txBody>
      </p:sp>
      <p:sp>
        <p:nvSpPr>
          <p:cNvPr id="10" name="object 10"/>
          <p:cNvSpPr/>
          <p:nvPr/>
        </p:nvSpPr>
        <p:spPr>
          <a:xfrm>
            <a:off x="1715293" y="2634258"/>
            <a:ext cx="6193631" cy="250031"/>
          </a:xfrm>
          <a:custGeom>
            <a:avLst/>
            <a:gdLst/>
            <a:ahLst/>
            <a:cxnLst/>
            <a:rect l="l" t="t" r="r" b="b"/>
            <a:pathLst>
              <a:path w="8808720" h="355600">
                <a:moveTo>
                  <a:pt x="0" y="0"/>
                </a:moveTo>
                <a:lnTo>
                  <a:pt x="8808237" y="0"/>
                </a:lnTo>
                <a:lnTo>
                  <a:pt x="8808237" y="355600"/>
                </a:lnTo>
                <a:lnTo>
                  <a:pt x="0" y="355600"/>
                </a:lnTo>
                <a:lnTo>
                  <a:pt x="0" y="0"/>
                </a:lnTo>
                <a:close/>
              </a:path>
            </a:pathLst>
          </a:custGeom>
          <a:solidFill>
            <a:srgbClr val="393939"/>
          </a:solidFill>
        </p:spPr>
        <p:txBody>
          <a:bodyPr wrap="square" lIns="0" tIns="0" rIns="0" bIns="0" rtlCol="0"/>
          <a:lstStyle/>
          <a:p>
            <a:endParaRPr sz="1266"/>
          </a:p>
        </p:txBody>
      </p:sp>
      <p:sp>
        <p:nvSpPr>
          <p:cNvPr id="11" name="object 11"/>
          <p:cNvSpPr/>
          <p:nvPr/>
        </p:nvSpPr>
        <p:spPr>
          <a:xfrm>
            <a:off x="1715293" y="2884289"/>
            <a:ext cx="2322612" cy="250031"/>
          </a:xfrm>
          <a:custGeom>
            <a:avLst/>
            <a:gdLst/>
            <a:ahLst/>
            <a:cxnLst/>
            <a:rect l="l" t="t" r="r" b="b"/>
            <a:pathLst>
              <a:path w="3303270" h="355600">
                <a:moveTo>
                  <a:pt x="0" y="0"/>
                </a:moveTo>
                <a:lnTo>
                  <a:pt x="3303092" y="0"/>
                </a:lnTo>
                <a:lnTo>
                  <a:pt x="3303092" y="355600"/>
                </a:lnTo>
                <a:lnTo>
                  <a:pt x="0" y="355600"/>
                </a:lnTo>
                <a:lnTo>
                  <a:pt x="0" y="0"/>
                </a:lnTo>
                <a:close/>
              </a:path>
            </a:pathLst>
          </a:custGeom>
          <a:solidFill>
            <a:srgbClr val="393939"/>
          </a:solidFill>
        </p:spPr>
        <p:txBody>
          <a:bodyPr wrap="square" lIns="0" tIns="0" rIns="0" bIns="0" rtlCol="0"/>
          <a:lstStyle/>
          <a:p>
            <a:endParaRPr sz="1266"/>
          </a:p>
        </p:txBody>
      </p:sp>
      <p:sp>
        <p:nvSpPr>
          <p:cNvPr id="12" name="object 12"/>
          <p:cNvSpPr/>
          <p:nvPr/>
        </p:nvSpPr>
        <p:spPr>
          <a:xfrm>
            <a:off x="1715293" y="3384352"/>
            <a:ext cx="6967835" cy="250031"/>
          </a:xfrm>
          <a:custGeom>
            <a:avLst/>
            <a:gdLst/>
            <a:ahLst/>
            <a:cxnLst/>
            <a:rect l="l" t="t" r="r" b="b"/>
            <a:pathLst>
              <a:path w="9909810" h="355600">
                <a:moveTo>
                  <a:pt x="0" y="0"/>
                </a:moveTo>
                <a:lnTo>
                  <a:pt x="9909276" y="0"/>
                </a:lnTo>
                <a:lnTo>
                  <a:pt x="9909276" y="355600"/>
                </a:lnTo>
                <a:lnTo>
                  <a:pt x="0" y="355600"/>
                </a:lnTo>
                <a:lnTo>
                  <a:pt x="0" y="0"/>
                </a:lnTo>
                <a:close/>
              </a:path>
            </a:pathLst>
          </a:custGeom>
          <a:solidFill>
            <a:srgbClr val="393939"/>
          </a:solidFill>
        </p:spPr>
        <p:txBody>
          <a:bodyPr wrap="square" lIns="0" tIns="0" rIns="0" bIns="0" rtlCol="0"/>
          <a:lstStyle/>
          <a:p>
            <a:endParaRPr sz="1266"/>
          </a:p>
        </p:txBody>
      </p:sp>
      <p:sp>
        <p:nvSpPr>
          <p:cNvPr id="13" name="object 13"/>
          <p:cNvSpPr/>
          <p:nvPr/>
        </p:nvSpPr>
        <p:spPr>
          <a:xfrm>
            <a:off x="1715293" y="3884414"/>
            <a:ext cx="1806476" cy="250031"/>
          </a:xfrm>
          <a:custGeom>
            <a:avLst/>
            <a:gdLst/>
            <a:ahLst/>
            <a:cxnLst/>
            <a:rect l="l" t="t" r="r" b="b"/>
            <a:pathLst>
              <a:path w="2569210" h="355600">
                <a:moveTo>
                  <a:pt x="0" y="0"/>
                </a:moveTo>
                <a:lnTo>
                  <a:pt x="2569070" y="0"/>
                </a:lnTo>
                <a:lnTo>
                  <a:pt x="2569070" y="355600"/>
                </a:lnTo>
                <a:lnTo>
                  <a:pt x="0" y="355600"/>
                </a:lnTo>
                <a:lnTo>
                  <a:pt x="0" y="0"/>
                </a:lnTo>
                <a:close/>
              </a:path>
            </a:pathLst>
          </a:custGeom>
          <a:solidFill>
            <a:srgbClr val="393939"/>
          </a:solidFill>
        </p:spPr>
        <p:txBody>
          <a:bodyPr wrap="square" lIns="0" tIns="0" rIns="0" bIns="0" rtlCol="0"/>
          <a:lstStyle/>
          <a:p>
            <a:endParaRPr sz="1266"/>
          </a:p>
        </p:txBody>
      </p:sp>
      <p:sp>
        <p:nvSpPr>
          <p:cNvPr id="14" name="object 14"/>
          <p:cNvSpPr/>
          <p:nvPr/>
        </p:nvSpPr>
        <p:spPr>
          <a:xfrm>
            <a:off x="1715294" y="4134445"/>
            <a:ext cx="6580733" cy="250031"/>
          </a:xfrm>
          <a:custGeom>
            <a:avLst/>
            <a:gdLst/>
            <a:ahLst/>
            <a:cxnLst/>
            <a:rect l="l" t="t" r="r" b="b"/>
            <a:pathLst>
              <a:path w="9359265" h="355600">
                <a:moveTo>
                  <a:pt x="0" y="0"/>
                </a:moveTo>
                <a:lnTo>
                  <a:pt x="9358757" y="0"/>
                </a:lnTo>
                <a:lnTo>
                  <a:pt x="9358757" y="355600"/>
                </a:lnTo>
                <a:lnTo>
                  <a:pt x="0" y="355600"/>
                </a:lnTo>
                <a:lnTo>
                  <a:pt x="0" y="0"/>
                </a:lnTo>
                <a:close/>
              </a:path>
            </a:pathLst>
          </a:custGeom>
          <a:solidFill>
            <a:srgbClr val="393939"/>
          </a:solidFill>
        </p:spPr>
        <p:txBody>
          <a:bodyPr wrap="square" lIns="0" tIns="0" rIns="0" bIns="0" rtlCol="0"/>
          <a:lstStyle/>
          <a:p>
            <a:endParaRPr sz="1266"/>
          </a:p>
        </p:txBody>
      </p:sp>
      <p:sp>
        <p:nvSpPr>
          <p:cNvPr id="15" name="object 15"/>
          <p:cNvSpPr/>
          <p:nvPr/>
        </p:nvSpPr>
        <p:spPr>
          <a:xfrm>
            <a:off x="1715294" y="4384477"/>
            <a:ext cx="387102" cy="250031"/>
          </a:xfrm>
          <a:custGeom>
            <a:avLst/>
            <a:gdLst/>
            <a:ahLst/>
            <a:cxnLst/>
            <a:rect l="l" t="t" r="r" b="b"/>
            <a:pathLst>
              <a:path w="550544" h="355600">
                <a:moveTo>
                  <a:pt x="0" y="0"/>
                </a:moveTo>
                <a:lnTo>
                  <a:pt x="550515" y="0"/>
                </a:lnTo>
                <a:lnTo>
                  <a:pt x="550515" y="355600"/>
                </a:lnTo>
                <a:lnTo>
                  <a:pt x="0" y="355600"/>
                </a:lnTo>
                <a:lnTo>
                  <a:pt x="0" y="0"/>
                </a:lnTo>
                <a:close/>
              </a:path>
            </a:pathLst>
          </a:custGeom>
          <a:solidFill>
            <a:srgbClr val="393939"/>
          </a:solidFill>
        </p:spPr>
        <p:txBody>
          <a:bodyPr wrap="square" lIns="0" tIns="0" rIns="0" bIns="0" rtlCol="0"/>
          <a:lstStyle/>
          <a:p>
            <a:endParaRPr sz="1266"/>
          </a:p>
        </p:txBody>
      </p:sp>
      <p:sp>
        <p:nvSpPr>
          <p:cNvPr id="16" name="object 16"/>
          <p:cNvSpPr/>
          <p:nvPr/>
        </p:nvSpPr>
        <p:spPr>
          <a:xfrm>
            <a:off x="1715293" y="4884539"/>
            <a:ext cx="4387155" cy="250031"/>
          </a:xfrm>
          <a:custGeom>
            <a:avLst/>
            <a:gdLst/>
            <a:ahLst/>
            <a:cxnLst/>
            <a:rect l="l" t="t" r="r" b="b"/>
            <a:pathLst>
              <a:path w="6239509" h="355600">
                <a:moveTo>
                  <a:pt x="0" y="0"/>
                </a:moveTo>
                <a:lnTo>
                  <a:pt x="6239167" y="0"/>
                </a:lnTo>
                <a:lnTo>
                  <a:pt x="6239167" y="355600"/>
                </a:lnTo>
                <a:lnTo>
                  <a:pt x="0" y="355600"/>
                </a:lnTo>
                <a:lnTo>
                  <a:pt x="0" y="0"/>
                </a:lnTo>
                <a:close/>
              </a:path>
            </a:pathLst>
          </a:custGeom>
          <a:solidFill>
            <a:srgbClr val="393939"/>
          </a:solidFill>
        </p:spPr>
        <p:txBody>
          <a:bodyPr wrap="square" lIns="0" tIns="0" rIns="0" bIns="0" rtlCol="0"/>
          <a:lstStyle/>
          <a:p>
            <a:endParaRPr sz="1266"/>
          </a:p>
        </p:txBody>
      </p:sp>
      <p:sp>
        <p:nvSpPr>
          <p:cNvPr id="17" name="object 17"/>
          <p:cNvSpPr/>
          <p:nvPr/>
        </p:nvSpPr>
        <p:spPr>
          <a:xfrm>
            <a:off x="1715294" y="5134570"/>
            <a:ext cx="4774257" cy="250031"/>
          </a:xfrm>
          <a:custGeom>
            <a:avLst/>
            <a:gdLst/>
            <a:ahLst/>
            <a:cxnLst/>
            <a:rect l="l" t="t" r="r" b="b"/>
            <a:pathLst>
              <a:path w="6790055" h="355600">
                <a:moveTo>
                  <a:pt x="0" y="0"/>
                </a:moveTo>
                <a:lnTo>
                  <a:pt x="6789686" y="0"/>
                </a:lnTo>
                <a:lnTo>
                  <a:pt x="6789686" y="355600"/>
                </a:lnTo>
                <a:lnTo>
                  <a:pt x="0" y="355600"/>
                </a:lnTo>
                <a:lnTo>
                  <a:pt x="0" y="0"/>
                </a:lnTo>
                <a:close/>
              </a:path>
            </a:pathLst>
          </a:custGeom>
          <a:solidFill>
            <a:srgbClr val="393939"/>
          </a:solidFill>
        </p:spPr>
        <p:txBody>
          <a:bodyPr wrap="square" lIns="0" tIns="0" rIns="0" bIns="0" rtlCol="0"/>
          <a:lstStyle/>
          <a:p>
            <a:endParaRPr sz="1266"/>
          </a:p>
        </p:txBody>
      </p:sp>
      <p:sp>
        <p:nvSpPr>
          <p:cNvPr id="18" name="object 18"/>
          <p:cNvSpPr/>
          <p:nvPr/>
        </p:nvSpPr>
        <p:spPr>
          <a:xfrm>
            <a:off x="1715294" y="5384602"/>
            <a:ext cx="387102" cy="250031"/>
          </a:xfrm>
          <a:custGeom>
            <a:avLst/>
            <a:gdLst/>
            <a:ahLst/>
            <a:cxnLst/>
            <a:rect l="l" t="t" r="r" b="b"/>
            <a:pathLst>
              <a:path w="550544" h="355600">
                <a:moveTo>
                  <a:pt x="0" y="0"/>
                </a:moveTo>
                <a:lnTo>
                  <a:pt x="550515" y="0"/>
                </a:lnTo>
                <a:lnTo>
                  <a:pt x="550515" y="355600"/>
                </a:lnTo>
                <a:lnTo>
                  <a:pt x="0" y="355600"/>
                </a:lnTo>
                <a:lnTo>
                  <a:pt x="0" y="0"/>
                </a:lnTo>
                <a:close/>
              </a:path>
            </a:pathLst>
          </a:custGeom>
          <a:solidFill>
            <a:srgbClr val="393939"/>
          </a:solidFill>
        </p:spPr>
        <p:txBody>
          <a:bodyPr wrap="square" lIns="0" tIns="0" rIns="0" bIns="0" rtlCol="0"/>
          <a:lstStyle/>
          <a:p>
            <a:endParaRPr sz="1266"/>
          </a:p>
        </p:txBody>
      </p:sp>
      <p:sp>
        <p:nvSpPr>
          <p:cNvPr id="19" name="object 19"/>
          <p:cNvSpPr/>
          <p:nvPr/>
        </p:nvSpPr>
        <p:spPr>
          <a:xfrm>
            <a:off x="1715293" y="5634633"/>
            <a:ext cx="258068" cy="250031"/>
          </a:xfrm>
          <a:custGeom>
            <a:avLst/>
            <a:gdLst/>
            <a:ahLst/>
            <a:cxnLst/>
            <a:rect l="l" t="t" r="r" b="b"/>
            <a:pathLst>
              <a:path w="367030" h="355600">
                <a:moveTo>
                  <a:pt x="0" y="0"/>
                </a:moveTo>
                <a:lnTo>
                  <a:pt x="367009" y="0"/>
                </a:lnTo>
                <a:lnTo>
                  <a:pt x="367009" y="355600"/>
                </a:lnTo>
                <a:lnTo>
                  <a:pt x="0" y="355600"/>
                </a:lnTo>
                <a:lnTo>
                  <a:pt x="0" y="0"/>
                </a:lnTo>
                <a:close/>
              </a:path>
            </a:pathLst>
          </a:custGeom>
          <a:solidFill>
            <a:srgbClr val="393939"/>
          </a:solidFill>
        </p:spPr>
        <p:txBody>
          <a:bodyPr wrap="square" lIns="0" tIns="0" rIns="0" bIns="0" rtlCol="0"/>
          <a:lstStyle/>
          <a:p>
            <a:endParaRPr sz="1266"/>
          </a:p>
        </p:txBody>
      </p:sp>
      <p:sp>
        <p:nvSpPr>
          <p:cNvPr id="20" name="object 20"/>
          <p:cNvSpPr txBox="1"/>
          <p:nvPr/>
        </p:nvSpPr>
        <p:spPr>
          <a:xfrm>
            <a:off x="1709936" y="366118"/>
            <a:ext cx="792063"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import</a:t>
            </a:r>
            <a:endParaRPr sz="1687">
              <a:latin typeface="Lucida Sans Typewriter"/>
              <a:cs typeface="Lucida Sans Typewriter"/>
            </a:endParaRPr>
          </a:p>
        </p:txBody>
      </p:sp>
      <p:sp>
        <p:nvSpPr>
          <p:cNvPr id="21" name="object 21"/>
          <p:cNvSpPr txBox="1"/>
          <p:nvPr/>
        </p:nvSpPr>
        <p:spPr>
          <a:xfrm>
            <a:off x="2613128" y="366118"/>
            <a:ext cx="1437233"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{Component}</a:t>
            </a:r>
            <a:endParaRPr sz="1687">
              <a:latin typeface="Lucida Console"/>
              <a:cs typeface="Lucida Console"/>
            </a:endParaRPr>
          </a:p>
        </p:txBody>
      </p:sp>
      <p:sp>
        <p:nvSpPr>
          <p:cNvPr id="22" name="object 22"/>
          <p:cNvSpPr txBox="1"/>
          <p:nvPr/>
        </p:nvSpPr>
        <p:spPr>
          <a:xfrm>
            <a:off x="4161447" y="366118"/>
            <a:ext cx="533995"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from</a:t>
            </a:r>
            <a:endParaRPr sz="1687">
              <a:latin typeface="Lucida Sans Typewriter"/>
              <a:cs typeface="Lucida Sans Typewriter"/>
            </a:endParaRPr>
          </a:p>
        </p:txBody>
      </p:sp>
      <p:sp>
        <p:nvSpPr>
          <p:cNvPr id="23" name="object 23"/>
          <p:cNvSpPr txBox="1"/>
          <p:nvPr/>
        </p:nvSpPr>
        <p:spPr>
          <a:xfrm>
            <a:off x="4806581" y="366118"/>
            <a:ext cx="2082403"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a:t>
            </a:r>
            <a:r>
              <a:rPr lang="es-ES" sz="1687" spc="-4" dirty="0">
                <a:solidFill>
                  <a:srgbClr val="7C976C"/>
                </a:solidFill>
                <a:latin typeface="Lucida Console"/>
                <a:cs typeface="Lucida Console"/>
              </a:rPr>
              <a:t>@</a:t>
            </a:r>
            <a:r>
              <a:rPr sz="1687" spc="-4" dirty="0">
                <a:solidFill>
                  <a:srgbClr val="7C976C"/>
                </a:solidFill>
                <a:latin typeface="Lucida Console"/>
                <a:cs typeface="Lucida Console"/>
              </a:rPr>
              <a:t>angular/core'</a:t>
            </a:r>
            <a:r>
              <a:rPr sz="1687" spc="-4" dirty="0">
                <a:solidFill>
                  <a:srgbClr val="B7C4D1"/>
                </a:solidFill>
                <a:latin typeface="Lucida Console"/>
                <a:cs typeface="Lucida Console"/>
              </a:rPr>
              <a:t>;</a:t>
            </a:r>
            <a:endParaRPr sz="1687" dirty="0">
              <a:latin typeface="Lucida Console"/>
              <a:cs typeface="Lucida Console"/>
            </a:endParaRPr>
          </a:p>
        </p:txBody>
      </p:sp>
      <p:sp>
        <p:nvSpPr>
          <p:cNvPr id="24" name="object 24"/>
          <p:cNvSpPr txBox="1"/>
          <p:nvPr/>
        </p:nvSpPr>
        <p:spPr>
          <a:xfrm>
            <a:off x="1709936" y="616149"/>
            <a:ext cx="792063"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import</a:t>
            </a:r>
            <a:endParaRPr sz="1687">
              <a:latin typeface="Lucida Sans Typewriter"/>
              <a:cs typeface="Lucida Sans Typewriter"/>
            </a:endParaRPr>
          </a:p>
        </p:txBody>
      </p:sp>
      <p:sp>
        <p:nvSpPr>
          <p:cNvPr id="25" name="object 25"/>
          <p:cNvSpPr txBox="1"/>
          <p:nvPr/>
        </p:nvSpPr>
        <p:spPr>
          <a:xfrm>
            <a:off x="2613128" y="616149"/>
            <a:ext cx="1824335"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{StateService}</a:t>
            </a:r>
            <a:endParaRPr sz="1687">
              <a:latin typeface="Lucida Console"/>
              <a:cs typeface="Lucida Console"/>
            </a:endParaRPr>
          </a:p>
        </p:txBody>
      </p:sp>
      <p:sp>
        <p:nvSpPr>
          <p:cNvPr id="26" name="object 26"/>
          <p:cNvSpPr txBox="1"/>
          <p:nvPr/>
        </p:nvSpPr>
        <p:spPr>
          <a:xfrm>
            <a:off x="4548531" y="616149"/>
            <a:ext cx="533995"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from</a:t>
            </a:r>
            <a:endParaRPr sz="1687">
              <a:latin typeface="Lucida Sans Typewriter"/>
              <a:cs typeface="Lucida Sans Typewriter"/>
            </a:endParaRPr>
          </a:p>
        </p:txBody>
      </p:sp>
      <p:sp>
        <p:nvSpPr>
          <p:cNvPr id="27" name="object 27"/>
          <p:cNvSpPr txBox="1"/>
          <p:nvPr/>
        </p:nvSpPr>
        <p:spPr>
          <a:xfrm>
            <a:off x="5193665" y="616149"/>
            <a:ext cx="3372743"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'../common/state.service'</a:t>
            </a:r>
            <a:r>
              <a:rPr sz="1687" spc="-4" dirty="0">
                <a:solidFill>
                  <a:srgbClr val="B7C4D1"/>
                </a:solidFill>
                <a:latin typeface="Lucida Console"/>
                <a:cs typeface="Lucida Console"/>
              </a:rPr>
              <a:t>;</a:t>
            </a:r>
            <a:endParaRPr sz="1687">
              <a:latin typeface="Lucida Console"/>
              <a:cs typeface="Lucida Console"/>
            </a:endParaRPr>
          </a:p>
        </p:txBody>
      </p:sp>
      <p:sp>
        <p:nvSpPr>
          <p:cNvPr id="28" name="object 28"/>
          <p:cNvSpPr txBox="1"/>
          <p:nvPr/>
        </p:nvSpPr>
        <p:spPr>
          <a:xfrm>
            <a:off x="1709936" y="1130498"/>
            <a:ext cx="2469505" cy="512961"/>
          </a:xfrm>
          <a:prstGeom prst="rect">
            <a:avLst/>
          </a:prstGeom>
        </p:spPr>
        <p:txBody>
          <a:bodyPr vert="horz" wrap="square" lIns="0" tIns="0" rIns="0" bIns="0" rtlCol="0">
            <a:spAutoFit/>
          </a:bodyPr>
          <a:lstStyle/>
          <a:p>
            <a:pPr marL="266542" marR="3572" indent="-258059">
              <a:lnSpc>
                <a:spcPts val="1969"/>
              </a:lnSpc>
            </a:pPr>
            <a:r>
              <a:rPr sz="1687" spc="-4" dirty="0">
                <a:solidFill>
                  <a:srgbClr val="B7C4D1"/>
                </a:solidFill>
                <a:latin typeface="Lucida Console"/>
                <a:cs typeface="Lucida Console"/>
              </a:rPr>
              <a:t>@Component({  </a:t>
            </a:r>
            <a:r>
              <a:rPr sz="1687" spc="-4" dirty="0">
                <a:solidFill>
                  <a:srgbClr val="A98BB9"/>
                </a:solidFill>
                <a:latin typeface="Lucida Console"/>
                <a:cs typeface="Lucida Console"/>
              </a:rPr>
              <a:t>selector</a:t>
            </a:r>
            <a:r>
              <a:rPr sz="1687" spc="-4" dirty="0">
                <a:solidFill>
                  <a:srgbClr val="B7C4D1"/>
                </a:solidFill>
                <a:latin typeface="Lucida Console"/>
                <a:cs typeface="Lucida Console"/>
              </a:rPr>
              <a:t>:</a:t>
            </a:r>
            <a:r>
              <a:rPr sz="1687" spc="-39" dirty="0">
                <a:solidFill>
                  <a:srgbClr val="B7C4D1"/>
                </a:solidFill>
                <a:latin typeface="Lucida Console"/>
                <a:cs typeface="Lucida Console"/>
              </a:rPr>
              <a:t> </a:t>
            </a:r>
            <a:r>
              <a:rPr sz="1687" spc="-4" dirty="0">
                <a:solidFill>
                  <a:srgbClr val="7C976C"/>
                </a:solidFill>
                <a:latin typeface="Lucida Console"/>
                <a:cs typeface="Lucida Console"/>
              </a:rPr>
              <a:t>'home'</a:t>
            </a:r>
            <a:r>
              <a:rPr sz="1687" spc="-4" dirty="0">
                <a:solidFill>
                  <a:srgbClr val="B7C4D1"/>
                </a:solidFill>
                <a:latin typeface="Lucida Console"/>
                <a:cs typeface="Lucida Console"/>
              </a:rPr>
              <a:t>,</a:t>
            </a:r>
            <a:endParaRPr sz="1687" dirty="0">
              <a:latin typeface="Lucida Console"/>
              <a:cs typeface="Lucida Console"/>
            </a:endParaRPr>
          </a:p>
        </p:txBody>
      </p:sp>
      <p:sp>
        <p:nvSpPr>
          <p:cNvPr id="29" name="object 29"/>
          <p:cNvSpPr txBox="1"/>
          <p:nvPr/>
        </p:nvSpPr>
        <p:spPr>
          <a:xfrm>
            <a:off x="1967989" y="1616274"/>
            <a:ext cx="1566267" cy="259623"/>
          </a:xfrm>
          <a:prstGeom prst="rect">
            <a:avLst/>
          </a:prstGeom>
        </p:spPr>
        <p:txBody>
          <a:bodyPr vert="horz" wrap="square" lIns="0" tIns="0" rIns="0" bIns="0" rtlCol="0">
            <a:spAutoFit/>
          </a:bodyPr>
          <a:lstStyle/>
          <a:p>
            <a:pPr marL="8929"/>
            <a:r>
              <a:rPr sz="1687" spc="-4" dirty="0">
                <a:solidFill>
                  <a:srgbClr val="A98BB9"/>
                </a:solidFill>
                <a:latin typeface="Lucida Console"/>
                <a:cs typeface="Lucida Console"/>
              </a:rPr>
              <a:t>templateUrl</a:t>
            </a:r>
            <a:r>
              <a:rPr sz="1687" spc="-4" dirty="0">
                <a:solidFill>
                  <a:srgbClr val="B7C4D1"/>
                </a:solidFill>
                <a:latin typeface="Lucida Console"/>
                <a:cs typeface="Lucida Console"/>
              </a:rPr>
              <a:t>:</a:t>
            </a:r>
            <a:endParaRPr sz="1687">
              <a:latin typeface="Lucida Console"/>
              <a:cs typeface="Lucida Console"/>
            </a:endParaRPr>
          </a:p>
        </p:txBody>
      </p:sp>
      <p:sp>
        <p:nvSpPr>
          <p:cNvPr id="30" name="object 30"/>
          <p:cNvSpPr txBox="1"/>
          <p:nvPr/>
        </p:nvSpPr>
        <p:spPr>
          <a:xfrm>
            <a:off x="3645338" y="1616274"/>
            <a:ext cx="3889325"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'app/home/home.component.html'</a:t>
            </a:r>
            <a:endParaRPr sz="1687">
              <a:latin typeface="Lucida Console"/>
              <a:cs typeface="Lucida Console"/>
            </a:endParaRPr>
          </a:p>
        </p:txBody>
      </p:sp>
      <p:sp>
        <p:nvSpPr>
          <p:cNvPr id="31" name="object 31"/>
          <p:cNvSpPr txBox="1"/>
          <p:nvPr/>
        </p:nvSpPr>
        <p:spPr>
          <a:xfrm>
            <a:off x="1709936" y="1866305"/>
            <a:ext cx="275927"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a:t>
            </a:r>
            <a:endParaRPr sz="1687">
              <a:latin typeface="Lucida Console"/>
              <a:cs typeface="Lucida Console"/>
            </a:endParaRPr>
          </a:p>
        </p:txBody>
      </p:sp>
      <p:sp>
        <p:nvSpPr>
          <p:cNvPr id="32" name="object 32"/>
          <p:cNvSpPr txBox="1"/>
          <p:nvPr/>
        </p:nvSpPr>
        <p:spPr>
          <a:xfrm>
            <a:off x="1709936" y="2116337"/>
            <a:ext cx="1566267"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export</a:t>
            </a:r>
            <a:r>
              <a:rPr sz="1687" b="1" spc="-46" dirty="0">
                <a:solidFill>
                  <a:srgbClr val="D78B40"/>
                </a:solidFill>
                <a:latin typeface="Lucida Sans Typewriter"/>
                <a:cs typeface="Lucida Sans Typewriter"/>
              </a:rPr>
              <a:t> </a:t>
            </a:r>
            <a:r>
              <a:rPr sz="1687" b="1" spc="-4" dirty="0">
                <a:solidFill>
                  <a:srgbClr val="D78B40"/>
                </a:solidFill>
                <a:latin typeface="Lucida Sans Typewriter"/>
                <a:cs typeface="Lucida Sans Typewriter"/>
              </a:rPr>
              <a:t>class</a:t>
            </a:r>
            <a:endParaRPr sz="1687">
              <a:latin typeface="Lucida Sans Typewriter"/>
              <a:cs typeface="Lucida Sans Typewriter"/>
            </a:endParaRPr>
          </a:p>
        </p:txBody>
      </p:sp>
      <p:sp>
        <p:nvSpPr>
          <p:cNvPr id="33" name="object 33"/>
          <p:cNvSpPr txBox="1"/>
          <p:nvPr/>
        </p:nvSpPr>
        <p:spPr>
          <a:xfrm>
            <a:off x="3387287" y="2116337"/>
            <a:ext cx="1953816"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HomeComponent</a:t>
            </a:r>
            <a:r>
              <a:rPr sz="1687" spc="-35" dirty="0">
                <a:solidFill>
                  <a:srgbClr val="B7C4D1"/>
                </a:solidFill>
                <a:latin typeface="Lucida Console"/>
                <a:cs typeface="Lucida Console"/>
              </a:rPr>
              <a:t> </a:t>
            </a:r>
            <a:r>
              <a:rPr sz="1687" spc="-4" dirty="0">
                <a:solidFill>
                  <a:srgbClr val="B7C4D1"/>
                </a:solidFill>
                <a:latin typeface="Lucida Console"/>
                <a:cs typeface="Lucida Console"/>
              </a:rPr>
              <a:t>{</a:t>
            </a:r>
            <a:endParaRPr sz="1687">
              <a:latin typeface="Lucida Console"/>
              <a:cs typeface="Lucida Console"/>
            </a:endParaRPr>
          </a:p>
        </p:txBody>
      </p:sp>
      <p:sp>
        <p:nvSpPr>
          <p:cNvPr id="34" name="object 34"/>
          <p:cNvSpPr txBox="1"/>
          <p:nvPr/>
        </p:nvSpPr>
        <p:spPr>
          <a:xfrm>
            <a:off x="1967989" y="2366368"/>
            <a:ext cx="792063" cy="259623"/>
          </a:xfrm>
          <a:prstGeom prst="rect">
            <a:avLst/>
          </a:prstGeom>
        </p:spPr>
        <p:txBody>
          <a:bodyPr vert="horz" wrap="square" lIns="0" tIns="0" rIns="0" bIns="0" rtlCol="0">
            <a:spAutoFit/>
          </a:bodyPr>
          <a:lstStyle/>
          <a:p>
            <a:pPr marL="8929"/>
            <a:r>
              <a:rPr sz="1687" spc="-4" dirty="0">
                <a:solidFill>
                  <a:srgbClr val="A98BB9"/>
                </a:solidFill>
                <a:latin typeface="Lucida Console"/>
                <a:cs typeface="Lucida Console"/>
              </a:rPr>
              <a:t>titl</a:t>
            </a:r>
            <a:r>
              <a:rPr sz="1687" spc="-7" dirty="0">
                <a:solidFill>
                  <a:srgbClr val="A98BB9"/>
                </a:solidFill>
                <a:latin typeface="Lucida Console"/>
                <a:cs typeface="Lucida Console"/>
              </a:rPr>
              <a:t>e</a:t>
            </a:r>
            <a:r>
              <a:rPr sz="1687" spc="-4" dirty="0">
                <a:solidFill>
                  <a:srgbClr val="B7C4D1"/>
                </a:solidFill>
                <a:latin typeface="Lucida Console"/>
                <a:cs typeface="Lucida Console"/>
              </a:rPr>
              <a:t>:</a:t>
            </a:r>
            <a:endParaRPr sz="1687">
              <a:latin typeface="Lucida Console"/>
              <a:cs typeface="Lucida Console"/>
            </a:endParaRPr>
          </a:p>
        </p:txBody>
      </p:sp>
      <p:sp>
        <p:nvSpPr>
          <p:cNvPr id="35" name="object 35"/>
          <p:cNvSpPr txBox="1"/>
          <p:nvPr/>
        </p:nvSpPr>
        <p:spPr>
          <a:xfrm>
            <a:off x="2871179" y="2366368"/>
            <a:ext cx="1824335"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string </a:t>
            </a:r>
            <a:r>
              <a:rPr sz="1687" spc="-4" dirty="0">
                <a:solidFill>
                  <a:srgbClr val="B7C4D1"/>
                </a:solidFill>
                <a:latin typeface="Lucida Console"/>
                <a:cs typeface="Lucida Console"/>
              </a:rPr>
              <a:t>=</a:t>
            </a:r>
            <a:r>
              <a:rPr sz="1687" spc="-42" dirty="0">
                <a:solidFill>
                  <a:srgbClr val="B7C4D1"/>
                </a:solidFill>
                <a:latin typeface="Lucida Console"/>
                <a:cs typeface="Lucida Console"/>
              </a:rPr>
              <a:t> </a:t>
            </a:r>
            <a:r>
              <a:rPr sz="1687" spc="-4" dirty="0">
                <a:solidFill>
                  <a:srgbClr val="7C976C"/>
                </a:solidFill>
                <a:latin typeface="Lucida Console"/>
                <a:cs typeface="Lucida Console"/>
              </a:rPr>
              <a:t>'Home</a:t>
            </a:r>
            <a:endParaRPr sz="1687" dirty="0">
              <a:latin typeface="Lucida Console"/>
              <a:cs typeface="Lucida Console"/>
            </a:endParaRPr>
          </a:p>
        </p:txBody>
      </p:sp>
      <p:sp>
        <p:nvSpPr>
          <p:cNvPr id="36" name="object 36"/>
          <p:cNvSpPr txBox="1"/>
          <p:nvPr/>
        </p:nvSpPr>
        <p:spPr>
          <a:xfrm>
            <a:off x="4806647" y="2366368"/>
            <a:ext cx="792063"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Page</a:t>
            </a:r>
            <a:r>
              <a:rPr sz="1687" spc="-7" dirty="0">
                <a:solidFill>
                  <a:srgbClr val="7C976C"/>
                </a:solidFill>
                <a:latin typeface="Lucida Console"/>
                <a:cs typeface="Lucida Console"/>
              </a:rPr>
              <a:t>'</a:t>
            </a:r>
            <a:r>
              <a:rPr sz="1687" spc="-4" dirty="0">
                <a:solidFill>
                  <a:srgbClr val="B7C4D1"/>
                </a:solidFill>
                <a:latin typeface="Lucida Console"/>
                <a:cs typeface="Lucida Console"/>
              </a:rPr>
              <a:t>;</a:t>
            </a:r>
            <a:endParaRPr sz="1687">
              <a:latin typeface="Lucida Console"/>
              <a:cs typeface="Lucida Console"/>
            </a:endParaRPr>
          </a:p>
        </p:txBody>
      </p:sp>
      <p:sp>
        <p:nvSpPr>
          <p:cNvPr id="37" name="object 37"/>
          <p:cNvSpPr txBox="1"/>
          <p:nvPr/>
        </p:nvSpPr>
        <p:spPr>
          <a:xfrm>
            <a:off x="1967989" y="2616399"/>
            <a:ext cx="2727573" cy="259623"/>
          </a:xfrm>
          <a:prstGeom prst="rect">
            <a:avLst/>
          </a:prstGeom>
        </p:spPr>
        <p:txBody>
          <a:bodyPr vert="horz" wrap="square" lIns="0" tIns="0" rIns="0" bIns="0" rtlCol="0">
            <a:spAutoFit/>
          </a:bodyPr>
          <a:lstStyle/>
          <a:p>
            <a:pPr marL="8929">
              <a:tabLst>
                <a:tab pos="911689" algn="l"/>
              </a:tabLst>
            </a:pPr>
            <a:r>
              <a:rPr sz="1687" spc="-4" dirty="0">
                <a:solidFill>
                  <a:srgbClr val="A98BB9"/>
                </a:solidFill>
                <a:latin typeface="Lucida Console"/>
                <a:cs typeface="Lucida Console"/>
              </a:rPr>
              <a:t>body</a:t>
            </a:r>
            <a:r>
              <a:rPr sz="1687" spc="-4" dirty="0">
                <a:solidFill>
                  <a:srgbClr val="B7C4D1"/>
                </a:solidFill>
                <a:latin typeface="Lucida Console"/>
                <a:cs typeface="Lucida Console"/>
              </a:rPr>
              <a:t>:	</a:t>
            </a:r>
            <a:r>
              <a:rPr sz="1687" b="1" spc="-4" dirty="0">
                <a:solidFill>
                  <a:srgbClr val="D78B40"/>
                </a:solidFill>
                <a:latin typeface="Lucida Sans Typewriter"/>
                <a:cs typeface="Lucida Sans Typewriter"/>
              </a:rPr>
              <a:t>string </a:t>
            </a:r>
            <a:r>
              <a:rPr sz="1687" spc="-4" dirty="0">
                <a:solidFill>
                  <a:srgbClr val="B7C4D1"/>
                </a:solidFill>
                <a:latin typeface="Lucida Console"/>
                <a:cs typeface="Lucida Console"/>
              </a:rPr>
              <a:t>=</a:t>
            </a:r>
            <a:r>
              <a:rPr sz="1687" spc="-42" dirty="0">
                <a:solidFill>
                  <a:srgbClr val="B7C4D1"/>
                </a:solidFill>
                <a:latin typeface="Lucida Console"/>
                <a:cs typeface="Lucida Console"/>
              </a:rPr>
              <a:t> </a:t>
            </a:r>
            <a:r>
              <a:rPr sz="1687" spc="-4" dirty="0">
                <a:solidFill>
                  <a:srgbClr val="7C976C"/>
                </a:solidFill>
                <a:latin typeface="Lucida Console"/>
                <a:cs typeface="Lucida Console"/>
              </a:rPr>
              <a:t>'This</a:t>
            </a:r>
            <a:endParaRPr sz="1687">
              <a:latin typeface="Lucida Console"/>
              <a:cs typeface="Lucida Console"/>
            </a:endParaRPr>
          </a:p>
        </p:txBody>
      </p:sp>
      <p:sp>
        <p:nvSpPr>
          <p:cNvPr id="38" name="object 38"/>
          <p:cNvSpPr txBox="1"/>
          <p:nvPr/>
        </p:nvSpPr>
        <p:spPr>
          <a:xfrm>
            <a:off x="4806647" y="2616399"/>
            <a:ext cx="1566267"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is the</a:t>
            </a:r>
            <a:r>
              <a:rPr sz="1687" spc="-49" dirty="0">
                <a:solidFill>
                  <a:srgbClr val="7C976C"/>
                </a:solidFill>
                <a:latin typeface="Lucida Console"/>
                <a:cs typeface="Lucida Console"/>
              </a:rPr>
              <a:t> </a:t>
            </a:r>
            <a:r>
              <a:rPr sz="1687" spc="-4" dirty="0">
                <a:solidFill>
                  <a:srgbClr val="7C976C"/>
                </a:solidFill>
                <a:latin typeface="Lucida Console"/>
                <a:cs typeface="Lucida Console"/>
              </a:rPr>
              <a:t>about</a:t>
            </a:r>
            <a:endParaRPr sz="1687">
              <a:latin typeface="Lucida Console"/>
              <a:cs typeface="Lucida Console"/>
            </a:endParaRPr>
          </a:p>
        </p:txBody>
      </p:sp>
      <p:sp>
        <p:nvSpPr>
          <p:cNvPr id="39" name="object 39"/>
          <p:cNvSpPr txBox="1"/>
          <p:nvPr/>
        </p:nvSpPr>
        <p:spPr>
          <a:xfrm>
            <a:off x="6484135" y="2616399"/>
            <a:ext cx="533995"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home</a:t>
            </a:r>
            <a:endParaRPr sz="1687">
              <a:latin typeface="Lucida Console"/>
              <a:cs typeface="Lucida Console"/>
            </a:endParaRPr>
          </a:p>
        </p:txBody>
      </p:sp>
      <p:sp>
        <p:nvSpPr>
          <p:cNvPr id="40" name="object 40"/>
          <p:cNvSpPr txBox="1"/>
          <p:nvPr/>
        </p:nvSpPr>
        <p:spPr>
          <a:xfrm>
            <a:off x="7129324" y="2616399"/>
            <a:ext cx="792063" cy="259623"/>
          </a:xfrm>
          <a:prstGeom prst="rect">
            <a:avLst/>
          </a:prstGeom>
        </p:spPr>
        <p:txBody>
          <a:bodyPr vert="horz" wrap="square" lIns="0" tIns="0" rIns="0" bIns="0" rtlCol="0">
            <a:spAutoFit/>
          </a:bodyPr>
          <a:lstStyle/>
          <a:p>
            <a:pPr marL="8929"/>
            <a:r>
              <a:rPr sz="1687" spc="-4" dirty="0">
                <a:solidFill>
                  <a:srgbClr val="7C976C"/>
                </a:solidFill>
                <a:latin typeface="Lucida Console"/>
                <a:cs typeface="Lucida Console"/>
              </a:rPr>
              <a:t>body</a:t>
            </a:r>
            <a:r>
              <a:rPr sz="1687" spc="-7" dirty="0">
                <a:solidFill>
                  <a:srgbClr val="7C976C"/>
                </a:solidFill>
                <a:latin typeface="Lucida Console"/>
                <a:cs typeface="Lucida Console"/>
              </a:rPr>
              <a:t>'</a:t>
            </a:r>
            <a:r>
              <a:rPr sz="1687" spc="-4" dirty="0">
                <a:solidFill>
                  <a:srgbClr val="B7C4D1"/>
                </a:solidFill>
                <a:latin typeface="Lucida Console"/>
                <a:cs typeface="Lucida Console"/>
              </a:rPr>
              <a:t>;</a:t>
            </a:r>
            <a:endParaRPr sz="1687">
              <a:latin typeface="Lucida Console"/>
              <a:cs typeface="Lucida Console"/>
            </a:endParaRPr>
          </a:p>
        </p:txBody>
      </p:sp>
      <p:sp>
        <p:nvSpPr>
          <p:cNvPr id="41" name="object 41"/>
          <p:cNvSpPr txBox="1"/>
          <p:nvPr/>
        </p:nvSpPr>
        <p:spPr>
          <a:xfrm>
            <a:off x="4548531" y="3366493"/>
            <a:ext cx="1824335"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_stateService:</a:t>
            </a:r>
            <a:endParaRPr sz="1687">
              <a:latin typeface="Lucida Console"/>
              <a:cs typeface="Lucida Console"/>
            </a:endParaRPr>
          </a:p>
        </p:txBody>
      </p:sp>
      <p:sp>
        <p:nvSpPr>
          <p:cNvPr id="42" name="object 42"/>
          <p:cNvSpPr txBox="1"/>
          <p:nvPr/>
        </p:nvSpPr>
        <p:spPr>
          <a:xfrm>
            <a:off x="6484094" y="3366493"/>
            <a:ext cx="2211884" cy="259623"/>
          </a:xfrm>
          <a:prstGeom prst="rect">
            <a:avLst/>
          </a:prstGeom>
        </p:spPr>
        <p:txBody>
          <a:bodyPr vert="horz" wrap="square" lIns="0" tIns="0" rIns="0" bIns="0" rtlCol="0">
            <a:spAutoFit/>
          </a:bodyPr>
          <a:lstStyle/>
          <a:p>
            <a:pPr marL="8929"/>
            <a:r>
              <a:rPr sz="1687" spc="-4" dirty="0">
                <a:solidFill>
                  <a:srgbClr val="B7C4D1"/>
                </a:solidFill>
                <a:latin typeface="Lucida Console"/>
                <a:cs typeface="Lucida Console"/>
              </a:rPr>
              <a:t>StateService) {</a:t>
            </a:r>
            <a:r>
              <a:rPr sz="1687" spc="-32" dirty="0">
                <a:solidFill>
                  <a:srgbClr val="B7C4D1"/>
                </a:solidFill>
                <a:latin typeface="Lucida Console"/>
                <a:cs typeface="Lucida Console"/>
              </a:rPr>
              <a:t> </a:t>
            </a:r>
            <a:r>
              <a:rPr sz="1687" spc="-4" dirty="0">
                <a:solidFill>
                  <a:srgbClr val="B7C4D1"/>
                </a:solidFill>
                <a:latin typeface="Lucida Console"/>
                <a:cs typeface="Lucida Console"/>
              </a:rPr>
              <a:t>}</a:t>
            </a:r>
            <a:endParaRPr sz="1687" dirty="0">
              <a:latin typeface="Lucida Console"/>
              <a:cs typeface="Lucida Console"/>
            </a:endParaRPr>
          </a:p>
        </p:txBody>
      </p:sp>
      <p:sp>
        <p:nvSpPr>
          <p:cNvPr id="43" name="object 43"/>
          <p:cNvSpPr txBox="1"/>
          <p:nvPr/>
        </p:nvSpPr>
        <p:spPr>
          <a:xfrm>
            <a:off x="1967989" y="2866430"/>
            <a:ext cx="2469505" cy="1287340"/>
          </a:xfrm>
          <a:prstGeom prst="rect">
            <a:avLst/>
          </a:prstGeom>
        </p:spPr>
        <p:txBody>
          <a:bodyPr vert="horz" wrap="square" lIns="0" tIns="0" rIns="0" bIns="0" rtlCol="0">
            <a:spAutoFit/>
          </a:bodyPr>
          <a:lstStyle/>
          <a:p>
            <a:pPr marL="8929"/>
            <a:r>
              <a:rPr sz="1687" spc="-4" dirty="0">
                <a:solidFill>
                  <a:srgbClr val="A98BB9"/>
                </a:solidFill>
                <a:latin typeface="Lucida Console"/>
                <a:cs typeface="Lucida Console"/>
              </a:rPr>
              <a:t>message</a:t>
            </a:r>
            <a:r>
              <a:rPr sz="1687" spc="-4" dirty="0">
                <a:solidFill>
                  <a:srgbClr val="B7C4D1"/>
                </a:solidFill>
                <a:latin typeface="Lucida Console"/>
                <a:cs typeface="Lucida Console"/>
              </a:rPr>
              <a:t>:</a:t>
            </a:r>
            <a:r>
              <a:rPr sz="1687" spc="-42" dirty="0">
                <a:solidFill>
                  <a:srgbClr val="B7C4D1"/>
                </a:solidFill>
                <a:latin typeface="Lucida Console"/>
                <a:cs typeface="Lucida Console"/>
              </a:rPr>
              <a:t> </a:t>
            </a:r>
            <a:r>
              <a:rPr sz="1687" b="1" spc="-4" dirty="0">
                <a:solidFill>
                  <a:srgbClr val="D78B40"/>
                </a:solidFill>
                <a:latin typeface="Lucida Sans Typewriter"/>
                <a:cs typeface="Lucida Sans Typewriter"/>
              </a:rPr>
              <a:t>string</a:t>
            </a:r>
            <a:r>
              <a:rPr sz="1687" spc="-4" dirty="0">
                <a:solidFill>
                  <a:srgbClr val="B7C4D1"/>
                </a:solidFill>
                <a:latin typeface="Lucida Console"/>
                <a:cs typeface="Lucida Console"/>
              </a:rPr>
              <a:t>;</a:t>
            </a:r>
            <a:endParaRPr sz="1687">
              <a:latin typeface="Lucida Console"/>
              <a:cs typeface="Lucida Console"/>
            </a:endParaRPr>
          </a:p>
          <a:p>
            <a:pPr>
              <a:spcBef>
                <a:spcPts val="11"/>
              </a:spcBef>
            </a:pPr>
            <a:endParaRPr sz="1652">
              <a:latin typeface="Times New Roman"/>
              <a:cs typeface="Times New Roman"/>
            </a:endParaRPr>
          </a:p>
          <a:p>
            <a:pPr marL="8929"/>
            <a:r>
              <a:rPr sz="1687" b="1" spc="-4" dirty="0">
                <a:solidFill>
                  <a:srgbClr val="D78B40"/>
                </a:solidFill>
                <a:latin typeface="Lucida Sans Typewriter"/>
                <a:cs typeface="Lucida Sans Typewriter"/>
              </a:rPr>
              <a:t>constructor</a:t>
            </a:r>
            <a:r>
              <a:rPr sz="1687" spc="-4" dirty="0">
                <a:solidFill>
                  <a:srgbClr val="B7C4D1"/>
                </a:solidFill>
                <a:latin typeface="Lucida Console"/>
                <a:cs typeface="Lucida Console"/>
              </a:rPr>
              <a:t>(</a:t>
            </a:r>
            <a:r>
              <a:rPr sz="1687" b="1" spc="-4" dirty="0">
                <a:solidFill>
                  <a:srgbClr val="D78B40"/>
                </a:solidFill>
                <a:latin typeface="Lucida Sans Typewriter"/>
                <a:cs typeface="Lucida Sans Typewriter"/>
              </a:rPr>
              <a:t>private</a:t>
            </a:r>
            <a:endParaRPr sz="1687">
              <a:latin typeface="Lucida Sans Typewriter"/>
              <a:cs typeface="Lucida Sans Typewriter"/>
            </a:endParaRPr>
          </a:p>
          <a:p>
            <a:pPr>
              <a:spcBef>
                <a:spcPts val="11"/>
              </a:spcBef>
            </a:pPr>
            <a:endParaRPr sz="1652">
              <a:latin typeface="Times New Roman"/>
              <a:cs typeface="Times New Roman"/>
            </a:endParaRPr>
          </a:p>
          <a:p>
            <a:pPr marL="8929"/>
            <a:r>
              <a:rPr sz="1687" spc="-4" dirty="0">
                <a:solidFill>
                  <a:srgbClr val="FFD080"/>
                </a:solidFill>
                <a:latin typeface="Lucida Console"/>
                <a:cs typeface="Lucida Console"/>
              </a:rPr>
              <a:t>ngOnInit</a:t>
            </a:r>
            <a:r>
              <a:rPr sz="1687" spc="-4" dirty="0">
                <a:solidFill>
                  <a:srgbClr val="B7C4D1"/>
                </a:solidFill>
                <a:latin typeface="Lucida Console"/>
                <a:cs typeface="Lucida Console"/>
              </a:rPr>
              <a:t>()</a:t>
            </a:r>
            <a:r>
              <a:rPr sz="1687" spc="-49" dirty="0">
                <a:solidFill>
                  <a:srgbClr val="B7C4D1"/>
                </a:solidFill>
                <a:latin typeface="Lucida Console"/>
                <a:cs typeface="Lucida Console"/>
              </a:rPr>
              <a:t> </a:t>
            </a:r>
            <a:r>
              <a:rPr sz="1687" spc="-4" dirty="0">
                <a:solidFill>
                  <a:srgbClr val="B7C4D1"/>
                </a:solidFill>
                <a:latin typeface="Lucida Console"/>
                <a:cs typeface="Lucida Console"/>
              </a:rPr>
              <a:t>{</a:t>
            </a:r>
            <a:endParaRPr sz="1687">
              <a:latin typeface="Lucida Console"/>
              <a:cs typeface="Lucida Console"/>
            </a:endParaRPr>
          </a:p>
        </p:txBody>
      </p:sp>
      <p:sp>
        <p:nvSpPr>
          <p:cNvPr id="44" name="object 44"/>
          <p:cNvSpPr txBox="1"/>
          <p:nvPr/>
        </p:nvSpPr>
        <p:spPr>
          <a:xfrm>
            <a:off x="2226043" y="4116587"/>
            <a:ext cx="1824335"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this</a:t>
            </a:r>
            <a:r>
              <a:rPr sz="1687" spc="-4" dirty="0">
                <a:solidFill>
                  <a:srgbClr val="B7C4D1"/>
                </a:solidFill>
                <a:latin typeface="Lucida Console"/>
                <a:cs typeface="Lucida Console"/>
              </a:rPr>
              <a:t>.</a:t>
            </a:r>
            <a:r>
              <a:rPr sz="1687" spc="-4" dirty="0">
                <a:solidFill>
                  <a:srgbClr val="A98BB9"/>
                </a:solidFill>
                <a:latin typeface="Lucida Console"/>
                <a:cs typeface="Lucida Console"/>
              </a:rPr>
              <a:t>message</a:t>
            </a:r>
            <a:r>
              <a:rPr sz="1687" spc="-46" dirty="0">
                <a:solidFill>
                  <a:srgbClr val="A98BB9"/>
                </a:solidFill>
                <a:latin typeface="Lucida Console"/>
                <a:cs typeface="Lucida Console"/>
              </a:rPr>
              <a:t> </a:t>
            </a:r>
            <a:r>
              <a:rPr sz="1687" spc="-4" dirty="0">
                <a:solidFill>
                  <a:srgbClr val="B7C4D1"/>
                </a:solidFill>
                <a:latin typeface="Lucida Console"/>
                <a:cs typeface="Lucida Console"/>
              </a:rPr>
              <a:t>=</a:t>
            </a:r>
            <a:endParaRPr sz="1687">
              <a:latin typeface="Lucida Console"/>
              <a:cs typeface="Lucida Console"/>
            </a:endParaRPr>
          </a:p>
        </p:txBody>
      </p:sp>
      <p:sp>
        <p:nvSpPr>
          <p:cNvPr id="45" name="object 45"/>
          <p:cNvSpPr txBox="1"/>
          <p:nvPr/>
        </p:nvSpPr>
        <p:spPr>
          <a:xfrm>
            <a:off x="4161447" y="4116587"/>
            <a:ext cx="4146947" cy="259623"/>
          </a:xfrm>
          <a:prstGeom prst="rect">
            <a:avLst/>
          </a:prstGeom>
        </p:spPr>
        <p:txBody>
          <a:bodyPr vert="horz" wrap="square" lIns="0" tIns="0" rIns="0" bIns="0" rtlCol="0">
            <a:spAutoFit/>
          </a:bodyPr>
          <a:lstStyle/>
          <a:p>
            <a:pPr marL="8929"/>
            <a:r>
              <a:rPr sz="1687" b="1" spc="-4" dirty="0">
                <a:solidFill>
                  <a:srgbClr val="D78B40"/>
                </a:solidFill>
                <a:latin typeface="Lucida Sans Typewriter"/>
                <a:cs typeface="Lucida Sans Typewriter"/>
              </a:rPr>
              <a:t>this</a:t>
            </a:r>
            <a:r>
              <a:rPr sz="1687" spc="-4" dirty="0">
                <a:solidFill>
                  <a:srgbClr val="B7C4D1"/>
                </a:solidFill>
                <a:latin typeface="Lucida Console"/>
                <a:cs typeface="Lucida Console"/>
              </a:rPr>
              <a:t>._stateService.</a:t>
            </a:r>
            <a:r>
              <a:rPr sz="1687" spc="-4" dirty="0">
                <a:solidFill>
                  <a:srgbClr val="FFD080"/>
                </a:solidFill>
                <a:latin typeface="Lucida Console"/>
                <a:cs typeface="Lucida Console"/>
              </a:rPr>
              <a:t>getMessage</a:t>
            </a:r>
            <a:r>
              <a:rPr sz="1687" spc="-4" dirty="0">
                <a:solidFill>
                  <a:srgbClr val="B7C4D1"/>
                </a:solidFill>
                <a:latin typeface="Lucida Console"/>
                <a:cs typeface="Lucida Console"/>
              </a:rPr>
              <a:t>();</a:t>
            </a:r>
            <a:endParaRPr sz="1687">
              <a:latin typeface="Lucida Console"/>
              <a:cs typeface="Lucida Console"/>
            </a:endParaRPr>
          </a:p>
        </p:txBody>
      </p:sp>
      <p:sp>
        <p:nvSpPr>
          <p:cNvPr id="46" name="object 46"/>
          <p:cNvSpPr txBox="1"/>
          <p:nvPr/>
        </p:nvSpPr>
        <p:spPr>
          <a:xfrm>
            <a:off x="1709935" y="4366617"/>
            <a:ext cx="8763595" cy="2370072"/>
          </a:xfrm>
          <a:prstGeom prst="rect">
            <a:avLst/>
          </a:prstGeom>
        </p:spPr>
        <p:txBody>
          <a:bodyPr vert="horz" wrap="square" lIns="0" tIns="0" rIns="0" bIns="0" rtlCol="0">
            <a:spAutoFit/>
          </a:bodyPr>
          <a:lstStyle/>
          <a:p>
            <a:pPr marL="266988"/>
            <a:r>
              <a:rPr sz="1687" spc="-4" dirty="0">
                <a:solidFill>
                  <a:srgbClr val="B7C4D1"/>
                </a:solidFill>
                <a:latin typeface="Lucida Console"/>
                <a:cs typeface="Lucida Console"/>
              </a:rPr>
              <a:t>}</a:t>
            </a:r>
            <a:endParaRPr sz="1687" dirty="0">
              <a:latin typeface="Lucida Console"/>
              <a:cs typeface="Lucida Console"/>
            </a:endParaRPr>
          </a:p>
          <a:p>
            <a:pPr>
              <a:spcBef>
                <a:spcPts val="11"/>
              </a:spcBef>
            </a:pPr>
            <a:endParaRPr sz="1652" dirty="0">
              <a:latin typeface="Times New Roman"/>
              <a:cs typeface="Times New Roman"/>
            </a:endParaRPr>
          </a:p>
          <a:p>
            <a:pPr marL="266542">
              <a:lnSpc>
                <a:spcPts val="1997"/>
              </a:lnSpc>
            </a:pPr>
            <a:r>
              <a:rPr sz="1687" spc="-4" dirty="0">
                <a:solidFill>
                  <a:srgbClr val="FFD080"/>
                </a:solidFill>
                <a:latin typeface="Lucida Console"/>
                <a:cs typeface="Lucida Console"/>
              </a:rPr>
              <a:t>updateMessage</a:t>
            </a:r>
            <a:r>
              <a:rPr sz="1687" spc="-4" dirty="0">
                <a:solidFill>
                  <a:srgbClr val="B7C4D1"/>
                </a:solidFill>
                <a:latin typeface="Lucida Console"/>
                <a:cs typeface="Lucida Console"/>
              </a:rPr>
              <a:t>(m: </a:t>
            </a:r>
            <a:r>
              <a:rPr sz="1687" b="1" spc="-4" dirty="0">
                <a:solidFill>
                  <a:srgbClr val="D78B40"/>
                </a:solidFill>
                <a:latin typeface="Lucida Sans Typewriter"/>
                <a:cs typeface="Lucida Sans Typewriter"/>
              </a:rPr>
              <a:t>string</a:t>
            </a:r>
            <a:r>
              <a:rPr sz="1687" spc="-4" dirty="0">
                <a:solidFill>
                  <a:srgbClr val="B7C4D1"/>
                </a:solidFill>
                <a:latin typeface="Lucida Console"/>
                <a:cs typeface="Lucida Console"/>
              </a:rPr>
              <a:t>): </a:t>
            </a:r>
            <a:r>
              <a:rPr sz="1687" b="1" spc="-4" dirty="0">
                <a:solidFill>
                  <a:srgbClr val="D78B40"/>
                </a:solidFill>
                <a:latin typeface="Lucida Sans Typewriter"/>
                <a:cs typeface="Lucida Sans Typewriter"/>
              </a:rPr>
              <a:t>void </a:t>
            </a:r>
            <a:r>
              <a:rPr sz="1687" spc="-4" dirty="0">
                <a:solidFill>
                  <a:srgbClr val="B7C4D1"/>
                </a:solidFill>
                <a:latin typeface="Lucida Console"/>
                <a:cs typeface="Lucida Console"/>
              </a:rPr>
              <a:t>{</a:t>
            </a:r>
            <a:endParaRPr sz="1687" dirty="0">
              <a:latin typeface="Lucida Console"/>
              <a:cs typeface="Lucida Console"/>
            </a:endParaRPr>
          </a:p>
          <a:p>
            <a:pPr marR="51344" algn="ctr">
              <a:lnSpc>
                <a:spcPts val="1969"/>
              </a:lnSpc>
            </a:pPr>
            <a:r>
              <a:rPr sz="1687" b="1" spc="-4" dirty="0">
                <a:solidFill>
                  <a:srgbClr val="D78B40"/>
                </a:solidFill>
                <a:latin typeface="Lucida Sans Typewriter"/>
                <a:cs typeface="Lucida Sans Typewriter"/>
              </a:rPr>
              <a:t>this</a:t>
            </a:r>
            <a:r>
              <a:rPr sz="1687" spc="-4" dirty="0">
                <a:solidFill>
                  <a:srgbClr val="B7C4D1"/>
                </a:solidFill>
                <a:latin typeface="Lucida Console"/>
                <a:cs typeface="Lucida Console"/>
              </a:rPr>
              <a:t>._stateService.</a:t>
            </a:r>
            <a:r>
              <a:rPr sz="1687" spc="-4" dirty="0">
                <a:solidFill>
                  <a:srgbClr val="FFD080"/>
                </a:solidFill>
                <a:latin typeface="Lucida Console"/>
                <a:cs typeface="Lucida Console"/>
              </a:rPr>
              <a:t>setMessage</a:t>
            </a:r>
            <a:r>
              <a:rPr sz="1687" spc="-4" dirty="0">
                <a:solidFill>
                  <a:srgbClr val="B7C4D1"/>
                </a:solidFill>
                <a:latin typeface="Lucida Console"/>
                <a:cs typeface="Lucida Console"/>
              </a:rPr>
              <a:t>(m);</a:t>
            </a:r>
            <a:endParaRPr sz="1687" dirty="0">
              <a:latin typeface="Lucida Console"/>
              <a:cs typeface="Lucida Console"/>
            </a:endParaRPr>
          </a:p>
          <a:p>
            <a:pPr marL="266988">
              <a:lnSpc>
                <a:spcPts val="1969"/>
              </a:lnSpc>
            </a:pPr>
            <a:r>
              <a:rPr sz="1687" spc="-4" dirty="0">
                <a:solidFill>
                  <a:srgbClr val="B7C4D1"/>
                </a:solidFill>
                <a:latin typeface="Lucida Console"/>
                <a:cs typeface="Lucida Console"/>
              </a:rPr>
              <a:t>}</a:t>
            </a:r>
            <a:endParaRPr sz="1687" dirty="0">
              <a:latin typeface="Lucida Console"/>
              <a:cs typeface="Lucida Console"/>
            </a:endParaRPr>
          </a:p>
          <a:p>
            <a:pPr marL="8929">
              <a:lnSpc>
                <a:spcPts val="1997"/>
              </a:lnSpc>
            </a:pPr>
            <a:r>
              <a:rPr sz="1687" spc="-4" dirty="0">
                <a:solidFill>
                  <a:srgbClr val="B7C4D1"/>
                </a:solidFill>
                <a:latin typeface="Lucida Console"/>
                <a:cs typeface="Lucida Console"/>
              </a:rPr>
              <a:t>}</a:t>
            </a:r>
            <a:endParaRPr sz="1687" dirty="0">
              <a:latin typeface="Lucida Console"/>
              <a:cs typeface="Lucida Console"/>
            </a:endParaRPr>
          </a:p>
          <a:p>
            <a:pPr marL="17859">
              <a:spcBef>
                <a:spcPts val="436"/>
              </a:spcBef>
            </a:pPr>
            <a:r>
              <a:rPr sz="5062" b="1" spc="-112" dirty="0">
                <a:solidFill>
                  <a:srgbClr val="53585F"/>
                </a:solidFill>
                <a:latin typeface="Trebuchet MS"/>
                <a:cs typeface="Trebuchet MS"/>
              </a:rPr>
              <a:t>Injecting </a:t>
            </a:r>
            <a:r>
              <a:rPr sz="5062" b="1" spc="21" dirty="0">
                <a:solidFill>
                  <a:srgbClr val="53585F"/>
                </a:solidFill>
                <a:latin typeface="Trebuchet MS"/>
                <a:cs typeface="Trebuchet MS"/>
              </a:rPr>
              <a:t>a</a:t>
            </a:r>
            <a:r>
              <a:rPr sz="5062" b="1" spc="-453" dirty="0">
                <a:solidFill>
                  <a:srgbClr val="53585F"/>
                </a:solidFill>
                <a:latin typeface="Trebuchet MS"/>
                <a:cs typeface="Trebuchet MS"/>
              </a:rPr>
              <a:t> </a:t>
            </a:r>
            <a:r>
              <a:rPr sz="5062" b="1" spc="-56" dirty="0">
                <a:solidFill>
                  <a:srgbClr val="53585F"/>
                </a:solidFill>
                <a:latin typeface="Trebuchet MS"/>
                <a:cs typeface="Trebuchet MS"/>
              </a:rPr>
              <a:t>Service</a:t>
            </a:r>
            <a:endParaRPr sz="5062" dirty="0">
              <a:latin typeface="Trebuchet MS"/>
              <a:cs typeface="Trebuchet MS"/>
            </a:endParaRPr>
          </a:p>
        </p:txBody>
      </p:sp>
    </p:spTree>
    <p:extLst>
      <p:ext uri="{BB962C8B-B14F-4D97-AF65-F5344CB8AC3E}">
        <p14:creationId xmlns:p14="http://schemas.microsoft.com/office/powerpoint/2010/main" val="2136387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236E28B-361A-4E42-A74F-FA4A51D60482}"/>
              </a:ext>
            </a:extLst>
          </p:cNvPr>
          <p:cNvSpPr>
            <a:spLocks noGrp="1"/>
          </p:cNvSpPr>
          <p:nvPr>
            <p:ph type="title"/>
          </p:nvPr>
        </p:nvSpPr>
        <p:spPr/>
        <p:txBody>
          <a:bodyPr>
            <a:normAutofit fontScale="90000"/>
          </a:bodyPr>
          <a:lstStyle/>
          <a:p>
            <a:r>
              <a:rPr lang="es-ES" dirty="0"/>
              <a:t>Dependencias</a:t>
            </a:r>
          </a:p>
        </p:txBody>
      </p:sp>
      <p:sp>
        <p:nvSpPr>
          <p:cNvPr id="5" name="Marcador de contenido 4">
            <a:extLst>
              <a:ext uri="{FF2B5EF4-FFF2-40B4-BE49-F238E27FC236}">
                <a16:creationId xmlns:a16="http://schemas.microsoft.com/office/drawing/2014/main" id="{C3430B7E-B506-454C-909F-9115B11ECE34}"/>
              </a:ext>
            </a:extLst>
          </p:cNvPr>
          <p:cNvSpPr>
            <a:spLocks noGrp="1"/>
          </p:cNvSpPr>
          <p:nvPr>
            <p:ph idx="1"/>
          </p:nvPr>
        </p:nvSpPr>
        <p:spPr/>
        <p:txBody>
          <a:bodyPr/>
          <a:lstStyle/>
          <a:p>
            <a:r>
              <a:rPr lang="es-ES" dirty="0"/>
              <a:t>Al consumo de los servicios inyectables se le conoce como dependencia</a:t>
            </a:r>
          </a:p>
          <a:p>
            <a:r>
              <a:rPr lang="es-ES" dirty="0"/>
              <a:t>Cada componente o servicio puede </a:t>
            </a:r>
            <a:r>
              <a:rPr lang="es-ES" b="1" dirty="0"/>
              <a:t>declarar en su constructor sus dependencias</a:t>
            </a:r>
            <a:r>
              <a:rPr lang="es-ES" dirty="0"/>
              <a:t> hacia servicios inyectables</a:t>
            </a:r>
          </a:p>
          <a:p>
            <a:endParaRPr lang="es-ES" dirty="0"/>
          </a:p>
          <a:p>
            <a:endParaRPr lang="es-ES" dirty="0"/>
          </a:p>
        </p:txBody>
      </p:sp>
    </p:spTree>
    <p:extLst>
      <p:ext uri="{BB962C8B-B14F-4D97-AF65-F5344CB8AC3E}">
        <p14:creationId xmlns:p14="http://schemas.microsoft.com/office/powerpoint/2010/main" val="3811782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7602A4-CC27-4B7E-B614-88807BEF40E9}"/>
              </a:ext>
            </a:extLst>
          </p:cNvPr>
          <p:cNvSpPr>
            <a:spLocks noGrp="1"/>
          </p:cNvSpPr>
          <p:nvPr>
            <p:ph type="title"/>
          </p:nvPr>
        </p:nvSpPr>
        <p:spPr/>
        <p:txBody>
          <a:bodyPr>
            <a:normAutofit fontScale="90000"/>
          </a:bodyPr>
          <a:lstStyle/>
          <a:p>
            <a:r>
              <a:rPr lang="es-ES" dirty="0"/>
              <a:t>Dependencias</a:t>
            </a:r>
          </a:p>
        </p:txBody>
      </p:sp>
      <p:sp>
        <p:nvSpPr>
          <p:cNvPr id="3" name="Marcador de contenido 2">
            <a:extLst>
              <a:ext uri="{FF2B5EF4-FFF2-40B4-BE49-F238E27FC236}">
                <a16:creationId xmlns:a16="http://schemas.microsoft.com/office/drawing/2014/main" id="{D924DF60-C69E-498B-9CC0-CF31EC637899}"/>
              </a:ext>
            </a:extLst>
          </p:cNvPr>
          <p:cNvSpPr>
            <a:spLocks noGrp="1"/>
          </p:cNvSpPr>
          <p:nvPr>
            <p:ph idx="1"/>
          </p:nvPr>
        </p:nvSpPr>
        <p:spPr>
          <a:xfrm>
            <a:off x="455612" y="1371601"/>
            <a:ext cx="3505200" cy="4419599"/>
          </a:xfrm>
        </p:spPr>
        <p:txBody>
          <a:bodyPr>
            <a:normAutofit lnSpcReduction="10000"/>
          </a:bodyPr>
          <a:lstStyle/>
          <a:p>
            <a:r>
              <a:rPr lang="es-ES" dirty="0"/>
              <a:t>Por ejemplo en el componente </a:t>
            </a:r>
            <a:r>
              <a:rPr lang="es-ES" b="1" dirty="0" err="1"/>
              <a:t>OperationsComponent</a:t>
            </a:r>
            <a:r>
              <a:rPr lang="es-ES" dirty="0"/>
              <a:t> teníamos incrustada toda la lógica y mantenimiento de los datos. </a:t>
            </a:r>
          </a:p>
          <a:p>
            <a:r>
              <a:rPr lang="es-ES" dirty="0"/>
              <a:t>Debe quedarse solamente con sus responsabilidades de presentación y delegar en el nuevo servicio todo lo demás.</a:t>
            </a:r>
          </a:p>
        </p:txBody>
      </p:sp>
      <p:sp>
        <p:nvSpPr>
          <p:cNvPr id="5" name="Rectangle 4">
            <a:extLst>
              <a:ext uri="{FF2B5EF4-FFF2-40B4-BE49-F238E27FC236}">
                <a16:creationId xmlns:a16="http://schemas.microsoft.com/office/drawing/2014/main" id="{9C0FF32F-E2EE-46C3-B877-3A609873B686}"/>
              </a:ext>
            </a:extLst>
          </p:cNvPr>
          <p:cNvSpPr>
            <a:spLocks noChangeArrowheads="1"/>
          </p:cNvSpPr>
          <p:nvPr/>
        </p:nvSpPr>
        <p:spPr bwMode="auto">
          <a:xfrm>
            <a:off x="4037012" y="1371601"/>
            <a:ext cx="7848600" cy="440120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1400" b="1" noProof="1">
                <a:latin typeface="Consolas" pitchFamily="49" charset="0"/>
                <a:cs typeface="Consolas" pitchFamily="49" charset="0"/>
              </a:rPr>
              <a:t>export class OperationsComponent implements OnInit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numberOfOperations = 0;</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operations: Operation[] =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constructor(</a:t>
            </a:r>
            <a:r>
              <a:rPr lang="en-US" sz="1400" b="1" noProof="1">
                <a:solidFill>
                  <a:srgbClr val="FF0000"/>
                </a:solidFill>
                <a:latin typeface="Consolas" pitchFamily="49" charset="0"/>
                <a:cs typeface="Consolas" pitchFamily="49" charset="0"/>
              </a:rPr>
              <a:t>private operationsService: OperationsService</a:t>
            </a: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ngOnInit()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this.refreshData();</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saveOperation(operation: Operation)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this.operationsService.saveOperation(operation);</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this.refreshData();</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public deleteOperation(operation: Operation)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this.operationsService.deleteOperation(operation);</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this.refreshData();</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private refreshData() {</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this.numberOfOperations = this.operationsService.getNumberOfOperations();</a:t>
            </a:r>
          </a:p>
          <a:p>
            <a:pPr eaLnBrk="0" hangingPunct="0">
              <a:buClr>
                <a:schemeClr val="accent5">
                  <a:lumMod val="40000"/>
                  <a:lumOff val="60000"/>
                </a:schemeClr>
              </a:buClr>
              <a:buSzPct val="70000"/>
            </a:pPr>
            <a:r>
              <a:rPr lang="en-US" sz="1400" b="1" noProof="1">
                <a:latin typeface="Consolas" pitchFamily="49" charset="0"/>
                <a:cs typeface="Consolas" pitchFamily="49" charset="0"/>
              </a:rPr>
              <a:t>    this.operations = this.operationsService.getOperationsList();</a:t>
            </a:r>
          </a:p>
          <a:p>
            <a:pPr eaLnBrk="0" hangingPunct="0">
              <a:buClr>
                <a:schemeClr val="accent5">
                  <a:lumMod val="40000"/>
                  <a:lumOff val="60000"/>
                </a:schemeClr>
              </a:buClr>
              <a:buSzPct val="70000"/>
            </a:pPr>
            <a:r>
              <a:rPr lang="en-US" sz="1400" b="1" noProof="1">
                <a:latin typeface="Consolas" pitchFamily="49" charset="0"/>
                <a:cs typeface="Consolas" pitchFamily="49" charset="0"/>
              </a:rPr>
              <a:t>  }</a:t>
            </a:r>
          </a:p>
          <a:p>
            <a:pPr eaLnBrk="0" hangingPunct="0">
              <a:buClr>
                <a:schemeClr val="accent5">
                  <a:lumMod val="40000"/>
                  <a:lumOff val="60000"/>
                </a:schemeClr>
              </a:buClr>
              <a:buSzPct val="70000"/>
            </a:pPr>
            <a:r>
              <a:rPr lang="en-US" sz="1400" b="1" noProof="1">
                <a:latin typeface="Consolas" pitchFamily="49" charset="0"/>
                <a:cs typeface="Consolas" pitchFamily="49" charset="0"/>
              </a:rPr>
              <a:t>}</a:t>
            </a:r>
          </a:p>
        </p:txBody>
      </p:sp>
      <p:sp>
        <p:nvSpPr>
          <p:cNvPr id="6" name="Rectángulo 5">
            <a:extLst>
              <a:ext uri="{FF2B5EF4-FFF2-40B4-BE49-F238E27FC236}">
                <a16:creationId xmlns:a16="http://schemas.microsoft.com/office/drawing/2014/main" id="{1995B6E3-EFB3-4D9A-825D-0AF53AB70325}"/>
              </a:ext>
            </a:extLst>
          </p:cNvPr>
          <p:cNvSpPr/>
          <p:nvPr/>
        </p:nvSpPr>
        <p:spPr>
          <a:xfrm>
            <a:off x="10216035" y="180232"/>
            <a:ext cx="1821977" cy="830997"/>
          </a:xfrm>
          <a:prstGeom prst="rect">
            <a:avLst/>
          </a:prstGeom>
        </p:spPr>
        <p:txBody>
          <a:bodyPr wrap="square">
            <a:spAutoFit/>
          </a:bodyPr>
          <a:lstStyle/>
          <a:p>
            <a:r>
              <a:rPr lang="en-US" sz="4800" b="1" dirty="0">
                <a:solidFill>
                  <a:srgbClr val="FF0000"/>
                </a:solidFill>
              </a:rPr>
              <a:t>LAB1b </a:t>
            </a:r>
            <a:endParaRPr lang="es-ES" sz="4800" dirty="0">
              <a:solidFill>
                <a:srgbClr val="FF0000"/>
              </a:solidFill>
            </a:endParaRPr>
          </a:p>
        </p:txBody>
      </p:sp>
      <p:sp>
        <p:nvSpPr>
          <p:cNvPr id="7" name="Rectángulo 6">
            <a:extLst>
              <a:ext uri="{FF2B5EF4-FFF2-40B4-BE49-F238E27FC236}">
                <a16:creationId xmlns:a16="http://schemas.microsoft.com/office/drawing/2014/main" id="{168098B9-61DB-41A4-B51B-BE29F8BF193D}"/>
              </a:ext>
            </a:extLst>
          </p:cNvPr>
          <p:cNvSpPr/>
          <p:nvPr/>
        </p:nvSpPr>
        <p:spPr>
          <a:xfrm>
            <a:off x="10366848" y="874318"/>
            <a:ext cx="1637436" cy="369332"/>
          </a:xfrm>
          <a:prstGeom prst="rect">
            <a:avLst/>
          </a:prstGeom>
        </p:spPr>
        <p:txBody>
          <a:bodyPr wrap="none">
            <a:spAutoFit/>
          </a:bodyPr>
          <a:lstStyle/>
          <a:p>
            <a:r>
              <a:rPr lang="es-ES" dirty="0"/>
              <a:t>C:\Labs\T6\EX1</a:t>
            </a:r>
          </a:p>
        </p:txBody>
      </p:sp>
    </p:spTree>
    <p:extLst>
      <p:ext uri="{BB962C8B-B14F-4D97-AF65-F5344CB8AC3E}">
        <p14:creationId xmlns:p14="http://schemas.microsoft.com/office/powerpoint/2010/main" val="3877479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446C32-4A7B-4F8B-8901-EBDBA516BDBA}"/>
              </a:ext>
            </a:extLst>
          </p:cNvPr>
          <p:cNvSpPr>
            <a:spLocks noGrp="1"/>
          </p:cNvSpPr>
          <p:nvPr>
            <p:ph type="title"/>
          </p:nvPr>
        </p:nvSpPr>
        <p:spPr/>
        <p:txBody>
          <a:bodyPr>
            <a:normAutofit fontScale="90000"/>
          </a:bodyPr>
          <a:lstStyle/>
          <a:p>
            <a:r>
              <a:rPr lang="es-ES" dirty="0"/>
              <a:t>Dependencias</a:t>
            </a:r>
          </a:p>
        </p:txBody>
      </p:sp>
      <p:sp>
        <p:nvSpPr>
          <p:cNvPr id="3" name="Marcador de contenido 2">
            <a:extLst>
              <a:ext uri="{FF2B5EF4-FFF2-40B4-BE49-F238E27FC236}">
                <a16:creationId xmlns:a16="http://schemas.microsoft.com/office/drawing/2014/main" id="{0A65A94D-136D-45FC-A5A8-8DBCF7366926}"/>
              </a:ext>
            </a:extLst>
          </p:cNvPr>
          <p:cNvSpPr>
            <a:spLocks noGrp="1"/>
          </p:cNvSpPr>
          <p:nvPr>
            <p:ph idx="1"/>
          </p:nvPr>
        </p:nvSpPr>
        <p:spPr/>
        <p:txBody>
          <a:bodyPr/>
          <a:lstStyle/>
          <a:p>
            <a:r>
              <a:rPr lang="es-ES" dirty="0"/>
              <a:t>Como ves, </a:t>
            </a:r>
            <a:r>
              <a:rPr lang="es-ES" b="1" dirty="0"/>
              <a:t>el constructor no tiene otra función que la de recibir las dependencias</a:t>
            </a:r>
            <a:r>
              <a:rPr lang="es-ES" dirty="0"/>
              <a:t>. </a:t>
            </a:r>
          </a:p>
          <a:p>
            <a:r>
              <a:rPr lang="es-ES" dirty="0"/>
              <a:t>Una vez construida la instancia se puede acceder a ellas a través de </a:t>
            </a:r>
            <a:r>
              <a:rPr lang="es-ES" b="1" dirty="0" err="1"/>
              <a:t>this.operationsService</a:t>
            </a:r>
            <a:r>
              <a:rPr lang="es-ES"/>
              <a:t>. </a:t>
            </a:r>
          </a:p>
          <a:p>
            <a:r>
              <a:rPr lang="es-ES"/>
              <a:t>Ahora </a:t>
            </a:r>
            <a:r>
              <a:rPr lang="es-ES" dirty="0"/>
              <a:t>este componente ya no sabe nada sobre dónde se almacenan o cómo se recuperan los datos.</a:t>
            </a:r>
          </a:p>
          <a:p>
            <a:endParaRPr lang="es-ES" dirty="0"/>
          </a:p>
          <a:p>
            <a:endParaRPr lang="es-ES" dirty="0"/>
          </a:p>
        </p:txBody>
      </p:sp>
    </p:spTree>
    <p:extLst>
      <p:ext uri="{BB962C8B-B14F-4D97-AF65-F5344CB8AC3E}">
        <p14:creationId xmlns:p14="http://schemas.microsoft.com/office/powerpoint/2010/main" val="441835975"/>
      </p:ext>
    </p:extLst>
  </p:cSld>
  <p:clrMapOvr>
    <a:masterClrMapping/>
  </p:clrMapOvr>
</p:sld>
</file>

<file path=ppt/theme/theme1.xml><?xml version="1.0" encoding="utf-8"?>
<a:theme xmlns:a="http://schemas.openxmlformats.org/drawingml/2006/main" name="1_Tema de Office">
  <a:themeElements>
    <a:clrScheme name="Personalizado 1">
      <a:dk1>
        <a:srgbClr val="1B1D39"/>
      </a:dk1>
      <a:lt1>
        <a:sysClr val="window" lastClr="FFFFFF"/>
      </a:lt1>
      <a:dk2>
        <a:srgbClr val="F5C200"/>
      </a:dk2>
      <a:lt2>
        <a:srgbClr val="E7E6E6"/>
      </a:lt2>
      <a:accent1>
        <a:srgbClr val="F5C200"/>
      </a:accent1>
      <a:accent2>
        <a:srgbClr val="1B1D39"/>
      </a:accent2>
      <a:accent3>
        <a:srgbClr val="A5A5A5"/>
      </a:accent3>
      <a:accent4>
        <a:srgbClr val="FFC000"/>
      </a:accent4>
      <a:accent5>
        <a:srgbClr val="F5C200"/>
      </a:accent5>
      <a:accent6>
        <a:srgbClr val="F5C200"/>
      </a:accent6>
      <a:hlink>
        <a:srgbClr val="0563C1"/>
      </a:hlink>
      <a:folHlink>
        <a:srgbClr val="954F72"/>
      </a:folHlink>
    </a:clrScheme>
    <a:fontScheme name="TecnoFor">
      <a:majorFont>
        <a:latin typeface="Lexend Bold"/>
        <a:ea typeface="Helvetica"/>
        <a:cs typeface="Helvetica"/>
      </a:majorFont>
      <a:minorFont>
        <a:latin typeface="Lexend"/>
        <a:ea typeface="Arial"/>
        <a:cs typeface="Arial"/>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76200">
          <a:solidFill>
            <a:srgbClr val="1C1E3B"/>
          </a:solidFill>
          <a:extLst>
            <a:ext uri="{C807C97D-BFC1-408E-A445-0C87EB9F89A2}">
              <ask:lineSketchStyleProps xmlns:ask="http://schemas.microsoft.com/office/drawing/2018/sketchyshapes">
                <ask:type>
                  <ask:lineSketchNone/>
                </ask:type>
              </ask:lineSketchStyleProps>
            </a:ext>
          </a:extLst>
        </a:ln>
      </a:spPr>
      <a:bodyPr lIns="72000" tIns="36000" rIns="72000" bIns="36000" rtlCol="0" anchor="ctr" anchorCtr="1"/>
      <a:lstStyle>
        <a:defPPr algn="ctr">
          <a:defRPr sz="4000" dirty="0">
            <a:solidFill>
              <a:srgbClr val="1C1E3B"/>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1582</Words>
  <Application>Microsoft Office PowerPoint</Application>
  <PresentationFormat>Personalizado</PresentationFormat>
  <Paragraphs>240</Paragraphs>
  <Slides>23</Slides>
  <Notes>5</Notes>
  <HiddenSlides>3</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23</vt:i4>
      </vt:variant>
    </vt:vector>
  </HeadingPairs>
  <TitlesOfParts>
    <vt:vector size="35" baseType="lpstr">
      <vt:lpstr>Arial</vt:lpstr>
      <vt:lpstr>Calibri</vt:lpstr>
      <vt:lpstr>Consolas</vt:lpstr>
      <vt:lpstr>inherit</vt:lpstr>
      <vt:lpstr>Lexend</vt:lpstr>
      <vt:lpstr>Lexend Bold</vt:lpstr>
      <vt:lpstr>Lexend Light</vt:lpstr>
      <vt:lpstr>Lucida Console</vt:lpstr>
      <vt:lpstr>Lucida Sans Typewriter</vt:lpstr>
      <vt:lpstr>Times New Roman</vt:lpstr>
      <vt:lpstr>Trebuchet MS</vt:lpstr>
      <vt:lpstr>1_Tema de Office</vt:lpstr>
      <vt:lpstr>Angular Servicios inyectables</vt:lpstr>
      <vt:lpstr>Servicios inyectables</vt:lpstr>
      <vt:lpstr>Servicios inyectables en Angular</vt:lpstr>
      <vt:lpstr>Servicios</vt:lpstr>
      <vt:lpstr>Servicios</vt:lpstr>
      <vt:lpstr>Presentación de PowerPoint</vt:lpstr>
      <vt:lpstr>export class</vt:lpstr>
      <vt:lpstr>Inyección de dependencias</vt:lpstr>
      <vt:lpstr>// experiments.service.ts</vt:lpstr>
      <vt:lpstr>Servicios</vt:lpstr>
      <vt:lpstr>@Injectable</vt:lpstr>
      <vt:lpstr>Presentación de PowerPoint</vt:lpstr>
      <vt:lpstr>Inyectables</vt:lpstr>
      <vt:lpstr>Inyectables</vt:lpstr>
      <vt:lpstr>Providers</vt:lpstr>
      <vt:lpstr>Presentación de PowerPoint</vt:lpstr>
      <vt:lpstr>Presentación de PowerPoint</vt:lpstr>
      <vt:lpstr>Dependencias</vt:lpstr>
      <vt:lpstr>Inyectar un servicio</vt:lpstr>
      <vt:lpstr>Presentación de PowerPoint</vt:lpstr>
      <vt:lpstr>Dependencias</vt:lpstr>
      <vt:lpstr>Dependencias</vt:lpstr>
      <vt:lpstr>Dependencias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subject>Software Development Course</dc:subject>
  <dc:creator/>
  <cp:keywords>Template</cp:keywords>
  <dc:description>Software University Foundation - http://softuni.org</dc:description>
  <cp:lastModifiedBy/>
  <cp:revision>1</cp:revision>
  <dcterms:created xsi:type="dcterms:W3CDTF">2014-01-02T17:00:34Z</dcterms:created>
  <dcterms:modified xsi:type="dcterms:W3CDTF">2023-06-14T12:03:03Z</dcterms:modified>
  <cp:category>Template</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TC027879909991</vt:lpwstr>
  </property>
</Properties>
</file>