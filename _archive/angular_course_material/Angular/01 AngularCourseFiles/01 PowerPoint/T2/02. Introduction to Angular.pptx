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25" r:id="rId2"/>
  </p:sldMasterIdLst>
  <p:notesMasterIdLst>
    <p:notesMasterId r:id="rId99"/>
  </p:notesMasterIdLst>
  <p:handoutMasterIdLst>
    <p:handoutMasterId r:id="rId100"/>
  </p:handoutMasterIdLst>
  <p:sldIdLst>
    <p:sldId id="609" r:id="rId3"/>
    <p:sldId id="516" r:id="rId4"/>
    <p:sldId id="610" r:id="rId5"/>
    <p:sldId id="611" r:id="rId6"/>
    <p:sldId id="612" r:id="rId7"/>
    <p:sldId id="613" r:id="rId8"/>
    <p:sldId id="614" r:id="rId9"/>
    <p:sldId id="724" r:id="rId10"/>
    <p:sldId id="723" r:id="rId11"/>
    <p:sldId id="725" r:id="rId12"/>
    <p:sldId id="726" r:id="rId13"/>
    <p:sldId id="736" r:id="rId14"/>
    <p:sldId id="733" r:id="rId15"/>
    <p:sldId id="734" r:id="rId16"/>
    <p:sldId id="727" r:id="rId17"/>
    <p:sldId id="729" r:id="rId18"/>
    <p:sldId id="730" r:id="rId19"/>
    <p:sldId id="731" r:id="rId20"/>
    <p:sldId id="718" r:id="rId21"/>
    <p:sldId id="719" r:id="rId22"/>
    <p:sldId id="720" r:id="rId23"/>
    <p:sldId id="636" r:id="rId24"/>
    <p:sldId id="637" r:id="rId25"/>
    <p:sldId id="272" r:id="rId26"/>
    <p:sldId id="276" r:id="rId27"/>
    <p:sldId id="640" r:id="rId28"/>
    <p:sldId id="519" r:id="rId29"/>
    <p:sldId id="520" r:id="rId30"/>
    <p:sldId id="617" r:id="rId31"/>
    <p:sldId id="616" r:id="rId32"/>
    <p:sldId id="735" r:id="rId33"/>
    <p:sldId id="732" r:id="rId34"/>
    <p:sldId id="622" r:id="rId35"/>
    <p:sldId id="623" r:id="rId36"/>
    <p:sldId id="618" r:id="rId37"/>
    <p:sldId id="624" r:id="rId38"/>
    <p:sldId id="626" r:id="rId39"/>
    <p:sldId id="627" r:id="rId40"/>
    <p:sldId id="631" r:id="rId41"/>
    <p:sldId id="628" r:id="rId42"/>
    <p:sldId id="629" r:id="rId43"/>
    <p:sldId id="630" r:id="rId44"/>
    <p:sldId id="633" r:id="rId45"/>
    <p:sldId id="634" r:id="rId46"/>
    <p:sldId id="635" r:id="rId47"/>
    <p:sldId id="650" r:id="rId48"/>
    <p:sldId id="673" r:id="rId49"/>
    <p:sldId id="642" r:id="rId50"/>
    <p:sldId id="639" r:id="rId51"/>
    <p:sldId id="643" r:id="rId52"/>
    <p:sldId id="644" r:id="rId53"/>
    <p:sldId id="649" r:id="rId54"/>
    <p:sldId id="645" r:id="rId55"/>
    <p:sldId id="648" r:id="rId56"/>
    <p:sldId id="674" r:id="rId57"/>
    <p:sldId id="708" r:id="rId58"/>
    <p:sldId id="675" r:id="rId59"/>
    <p:sldId id="676" r:id="rId60"/>
    <p:sldId id="678" r:id="rId61"/>
    <p:sldId id="679" r:id="rId62"/>
    <p:sldId id="677" r:id="rId63"/>
    <p:sldId id="651" r:id="rId64"/>
    <p:sldId id="652" r:id="rId65"/>
    <p:sldId id="653" r:id="rId66"/>
    <p:sldId id="654" r:id="rId67"/>
    <p:sldId id="655" r:id="rId68"/>
    <p:sldId id="656" r:id="rId69"/>
    <p:sldId id="657" r:id="rId70"/>
    <p:sldId id="658" r:id="rId71"/>
    <p:sldId id="680" r:id="rId72"/>
    <p:sldId id="682" r:id="rId73"/>
    <p:sldId id="683" r:id="rId74"/>
    <p:sldId id="684" r:id="rId75"/>
    <p:sldId id="685" r:id="rId76"/>
    <p:sldId id="686" r:id="rId77"/>
    <p:sldId id="687" r:id="rId78"/>
    <p:sldId id="688" r:id="rId79"/>
    <p:sldId id="691" r:id="rId80"/>
    <p:sldId id="689" r:id="rId81"/>
    <p:sldId id="690" r:id="rId82"/>
    <p:sldId id="692" r:id="rId83"/>
    <p:sldId id="693" r:id="rId84"/>
    <p:sldId id="694" r:id="rId85"/>
    <p:sldId id="737" r:id="rId86"/>
    <p:sldId id="695" r:id="rId87"/>
    <p:sldId id="696" r:id="rId88"/>
    <p:sldId id="697" r:id="rId89"/>
    <p:sldId id="698" r:id="rId90"/>
    <p:sldId id="699" r:id="rId91"/>
    <p:sldId id="700" r:id="rId92"/>
    <p:sldId id="701" r:id="rId93"/>
    <p:sldId id="738" r:id="rId94"/>
    <p:sldId id="716" r:id="rId95"/>
    <p:sldId id="717" r:id="rId96"/>
    <p:sldId id="274" r:id="rId97"/>
    <p:sldId id="722" r:id="rId98"/>
  </p:sldIdLst>
  <p:sldSz cx="12188825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48D4357-E11A-4DE5-81E4-49C6B73B5D81}">
          <p14:sldIdLst>
            <p14:sldId id="609"/>
            <p14:sldId id="516"/>
            <p14:sldId id="610"/>
            <p14:sldId id="611"/>
            <p14:sldId id="612"/>
            <p14:sldId id="613"/>
            <p14:sldId id="614"/>
            <p14:sldId id="724"/>
            <p14:sldId id="723"/>
            <p14:sldId id="725"/>
            <p14:sldId id="726"/>
            <p14:sldId id="736"/>
            <p14:sldId id="733"/>
            <p14:sldId id="734"/>
            <p14:sldId id="727"/>
            <p14:sldId id="729"/>
            <p14:sldId id="730"/>
            <p14:sldId id="731"/>
          </p14:sldIdLst>
        </p14:section>
        <p14:section name="Why Angular?" id="{4C6CD7CE-4C5C-4256-BE95-6EC46516E444}">
          <p14:sldIdLst>
            <p14:sldId id="718"/>
            <p14:sldId id="719"/>
            <p14:sldId id="720"/>
            <p14:sldId id="636"/>
          </p14:sldIdLst>
        </p14:section>
        <p14:section name="Big picture" id="{F6BFFD42-1914-498B-BBE8-64BB7D9F19D6}">
          <p14:sldIdLst>
            <p14:sldId id="637"/>
            <p14:sldId id="272"/>
            <p14:sldId id="276"/>
            <p14:sldId id="640"/>
          </p14:sldIdLst>
        </p14:section>
        <p14:section name="Install" id="{2A66BF89-E444-4ACD-B9D1-FE1B5069345D}">
          <p14:sldIdLst>
            <p14:sldId id="519"/>
            <p14:sldId id="520"/>
            <p14:sldId id="617"/>
            <p14:sldId id="616"/>
            <p14:sldId id="735"/>
            <p14:sldId id="732"/>
            <p14:sldId id="622"/>
            <p14:sldId id="623"/>
            <p14:sldId id="618"/>
            <p14:sldId id="624"/>
            <p14:sldId id="626"/>
            <p14:sldId id="627"/>
            <p14:sldId id="631"/>
            <p14:sldId id="628"/>
            <p14:sldId id="629"/>
            <p14:sldId id="630"/>
            <p14:sldId id="633"/>
            <p14:sldId id="634"/>
            <p14:sldId id="635"/>
            <p14:sldId id="650"/>
          </p14:sldIdLst>
        </p14:section>
        <p14:section name="NgModule" id="{2167916C-442A-4AC4-B8FE-251DC6D8BEE9}">
          <p14:sldIdLst>
            <p14:sldId id="673"/>
            <p14:sldId id="642"/>
            <p14:sldId id="639"/>
            <p14:sldId id="643"/>
            <p14:sldId id="644"/>
            <p14:sldId id="649"/>
            <p14:sldId id="645"/>
            <p14:sldId id="648"/>
            <p14:sldId id="674"/>
            <p14:sldId id="708"/>
            <p14:sldId id="675"/>
            <p14:sldId id="676"/>
            <p14:sldId id="678"/>
            <p14:sldId id="679"/>
            <p14:sldId id="677"/>
            <p14:sldId id="651"/>
            <p14:sldId id="652"/>
            <p14:sldId id="653"/>
            <p14:sldId id="654"/>
            <p14:sldId id="655"/>
            <p14:sldId id="656"/>
            <p14:sldId id="657"/>
            <p14:sldId id="658"/>
            <p14:sldId id="680"/>
            <p14:sldId id="682"/>
            <p14:sldId id="683"/>
            <p14:sldId id="684"/>
            <p14:sldId id="685"/>
            <p14:sldId id="686"/>
            <p14:sldId id="687"/>
            <p14:sldId id="688"/>
            <p14:sldId id="691"/>
            <p14:sldId id="689"/>
            <p14:sldId id="690"/>
            <p14:sldId id="692"/>
            <p14:sldId id="693"/>
            <p14:sldId id="694"/>
            <p14:sldId id="737"/>
            <p14:sldId id="695"/>
            <p14:sldId id="696"/>
            <p14:sldId id="697"/>
            <p14:sldId id="698"/>
            <p14:sldId id="699"/>
            <p14:sldId id="700"/>
            <p14:sldId id="701"/>
            <p14:sldId id="738"/>
            <p14:sldId id="716"/>
            <p14:sldId id="717"/>
          </p14:sldIdLst>
        </p14:section>
        <p14:section name="Summary" id="{1888D697-2B49-43A6-BDC2-719250E583B8}">
          <p14:sldIdLst>
            <p14:sldId id="274"/>
            <p14:sldId id="7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398"/>
    <a:srgbClr val="FDFFFF"/>
    <a:srgbClr val="FFA72A"/>
    <a:srgbClr val="FFF0D9"/>
    <a:srgbClr val="F0F5FA"/>
    <a:srgbClr val="1A8AFA"/>
    <a:srgbClr val="0097CC"/>
    <a:srgbClr val="603A14"/>
    <a:srgbClr val="E85C0E"/>
    <a:srgbClr val="ADA48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98" autoAdjust="0"/>
    <p:restoredTop sz="96374" autoAdjust="0"/>
  </p:normalViewPr>
  <p:slideViewPr>
    <p:cSldViewPr>
      <p:cViewPr varScale="1">
        <p:scale>
          <a:sx n="111" d="100"/>
          <a:sy n="111" d="100"/>
        </p:scale>
        <p:origin x="906" y="78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02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134" y="101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10/3/2023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‹Nº›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A6BEF-0D01-42CD-AF49-6C72D33EA4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26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091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If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that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did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not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help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then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, try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to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stop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the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Windows NAT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Driver and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update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the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1" i="1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excludedportrange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as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follows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: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rgbClr val="232629"/>
              </a:solidFill>
              <a:effectLst/>
              <a:latin typeface="var(--theme-question-body-font-family)"/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type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16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netsh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 </a:t>
            </a:r>
            <a:r>
              <a:rPr kumimoji="0" lang="es-ES" altLang="es-ES" sz="16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int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 ipv4 </a:t>
            </a:r>
            <a:r>
              <a:rPr kumimoji="0" lang="es-ES" altLang="es-ES" sz="16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add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 </a:t>
            </a:r>
            <a:r>
              <a:rPr kumimoji="0" lang="es-ES" altLang="es-ES" sz="16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excludedportrange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 </a:t>
            </a:r>
            <a:r>
              <a:rPr kumimoji="0" lang="es-ES" altLang="es-ES" sz="16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protocol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=</a:t>
            </a:r>
            <a:r>
              <a:rPr kumimoji="0" lang="es-ES" altLang="es-ES" sz="16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tcp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 </a:t>
            </a:r>
            <a:r>
              <a:rPr kumimoji="0" lang="es-ES" altLang="es-ES" sz="16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startport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=4200 </a:t>
            </a:r>
            <a:r>
              <a:rPr kumimoji="0" lang="es-ES" altLang="es-ES" sz="16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numberofports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=1</a:t>
            </a:r>
            <a:r>
              <a:rPr kumimoji="0" lang="es-ES" altLang="es-ES" sz="16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if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you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want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to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exclude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port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4200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only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if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you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want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more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just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update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numberofports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rgbClr val="232629"/>
              </a:solidFill>
              <a:effectLst/>
              <a:latin typeface="inherit"/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then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start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the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Windows NAT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Driver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again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and run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your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I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have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solved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this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issue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by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simply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going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to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Control Panel\Network and Internet\Network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Connections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and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then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I 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disabled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all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the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Hyper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-V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Connections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/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Adapters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and I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kept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the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ones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I use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like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the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Wifi and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Physical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Ethernet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Adapter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. No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restart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needed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. Once done, try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to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run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your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Angular app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on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4200 and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it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should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work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.</a:t>
            </a:r>
          </a:p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998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Módulos</a:t>
            </a:r>
          </a:p>
          <a:p>
            <a:br>
              <a:rPr lang="es-ES" dirty="0"/>
            </a:b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módulos son </a:t>
            </a:r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contenedores dónde almacenar los componentes y servicios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 una aplicación. En Angular cada programa se puede ver como un árbol de módulos jerárquico. A partir de un módulo raíz se enlazan otros módulos en un proceso llamado importación.</a:t>
            </a:r>
          </a:p>
          <a:p>
            <a:endParaRPr lang="es-ES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br>
              <a:rPr lang="es-ES" dirty="0"/>
            </a:br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1.1 Definición mediante decoradores</a:t>
            </a:r>
          </a:p>
          <a:p>
            <a:br>
              <a:rPr lang="es-ES" dirty="0"/>
            </a:b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Antes de importar cualquier módulo hay que definirlo. En Angular </a:t>
            </a:r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módulos de declaran como clases de </a:t>
            </a:r>
            <a:r>
              <a:rPr lang="es-ES" sz="16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TypeScript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habitualmente vacías, decoradas con una función especial. Es la función @</a:t>
            </a:r>
            <a:r>
              <a:rPr lang="es-ES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NgModule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que recibe un objeto como único argumento. En las propiedades de ese objeto es dónde se configura el módulo.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368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1.2 Importación de otros módulos</a:t>
            </a:r>
          </a:p>
          <a:p>
            <a:pPr fontAlgn="base"/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módulo App también se conoce como </a:t>
            </a:r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módulo raíz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porque de él surgen las demás ramas que conforman una aplicación. La asignación de los nodos hijos se realiza en la propiedad </a:t>
            </a:r>
            <a:r>
              <a:rPr lang="es-ES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imports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:[], que es un array de punteros a otros módulos.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120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Estas </a:t>
            </a:r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sentencias de importación son propias del lenguaje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 nada tienen que ver con Angular. En ellas se indica que este fichero importa el contenido de otros ficheros </a:t>
            </a:r>
            <a:r>
              <a:rPr lang="es-ES" sz="16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TypeScript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La importación se realiza a través de la ruta física relativa al fichero actual, o en el directorio </a:t>
            </a:r>
            <a:r>
              <a:rPr lang="es-ES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node_modules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si es código de terceros.</a:t>
            </a:r>
          </a:p>
          <a:p>
            <a:pPr fontAlgn="base"/>
            <a:br>
              <a:rPr lang="es-ES" dirty="0"/>
            </a:b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general no tendrás que preocuparte de estas importaciones físicas, pues el </a:t>
            </a:r>
            <a:r>
              <a:rPr lang="es-ES" sz="16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VSCode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 las extensiones esenciales se encargan de hacerlo automáticamente.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387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Hasta ahora los módulos involucrados son librerías de terceros o se crearon mágicamente con la aplicación. Es hora de </a:t>
            </a:r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crear tu primer módulo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Para eso usaremos otro comando del </a:t>
            </a:r>
            <a:r>
              <a:rPr lang="es-ES" sz="16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el ng </a:t>
            </a:r>
            <a:r>
              <a:rPr lang="es-ES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module. En una ventana del terminal escribe: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263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1.2 Importación de otros módulos</a:t>
            </a:r>
          </a:p>
          <a:p>
            <a:pPr fontAlgn="base"/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módulo App también se conoce como </a:t>
            </a:r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módulo raíz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porque de él surgen las demás ramas que conforman una aplicación. La asignación de los nodos hijos se realiza en la propiedad </a:t>
            </a:r>
            <a:r>
              <a:rPr lang="es-ES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imports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:[], que es un array de punteros a otros módulos.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15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1.2 Importación de otros módulos</a:t>
            </a:r>
          </a:p>
          <a:p>
            <a:pPr fontAlgn="base"/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módulo App también se conoce como </a:t>
            </a:r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módulo raíz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porque de él surgen las demás ramas que conforman una aplicación. La asignación de los nodos hijos se realiza en la propiedad </a:t>
            </a:r>
            <a:r>
              <a:rPr lang="es-ES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imports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:[], que es un array de punteros a otros módulos.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570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 el prefijo 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cf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que en este se corresponde con </a:t>
            </a:r>
            <a:r>
              <a:rPr lang="es-ES" sz="16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cash-flow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el nombre de la aplicación. El prefijo fue asignado durante la generación de la aplicación y se usará en todos los componentes propios para evitar colisiones con terceros.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203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1.2 Importación de otros módulos</a:t>
            </a:r>
          </a:p>
          <a:p>
            <a:pPr fontAlgn="base"/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módulo App también se conoce como </a:t>
            </a:r>
            <a:r>
              <a:rPr lang="es-E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módulo raíz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porque de él surgen las demás ramas que conforman una aplicación. La asignación de los nodos hijos se realiza en la propiedad </a:t>
            </a:r>
            <a:r>
              <a:rPr lang="es-ES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imports</a:t>
            </a:r>
            <a:r>
              <a:rPr lang="es-E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:[], que es un array de punteros a otros módulos.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251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Lo hemos hecho en el componente </a:t>
            </a:r>
            <a:r>
              <a:rPr lang="es-ES" b="1" dirty="0" err="1"/>
              <a:t>footer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869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621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8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átula limp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6901E58-A1D8-A10A-D9D8-CE1515AF66D5}"/>
              </a:ext>
            </a:extLst>
          </p:cNvPr>
          <p:cNvSpPr/>
          <p:nvPr/>
        </p:nvSpPr>
        <p:spPr>
          <a:xfrm>
            <a:off x="5158485" y="1"/>
            <a:ext cx="7030341" cy="6858000"/>
          </a:xfrm>
          <a:prstGeom prst="rect">
            <a:avLst/>
          </a:prstGeom>
          <a:solidFill>
            <a:srgbClr val="1B1D3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121883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799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 anchor="ctr" anchorCtr="1">
            <a:noAutofit/>
          </a:bodyPr>
          <a:lstStyle>
            <a:lvl1pPr algn="ctr">
              <a:defRPr sz="3999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8" name="techie.png" descr="techie.png">
            <a:extLst>
              <a:ext uri="{FF2B5EF4-FFF2-40B4-BE49-F238E27FC236}">
                <a16:creationId xmlns:a16="http://schemas.microsoft.com/office/drawing/2014/main" id="{1153B63E-98A5-BBEE-9C6B-1057BEDC76E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4306441" y="2849298"/>
            <a:ext cx="1336200" cy="1336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LOGO-FINAL.png" descr="LOGO-FINAL.png">
            <a:extLst>
              <a:ext uri="{FF2B5EF4-FFF2-40B4-BE49-F238E27FC236}">
                <a16:creationId xmlns:a16="http://schemas.microsoft.com/office/drawing/2014/main" id="{40C008DC-BE4A-D4B5-81FB-D8FC4CA2A7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362" y="3037100"/>
            <a:ext cx="3933202" cy="78380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91833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átula con imagen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6901E58-A1D8-A10A-D9D8-CE1515AF66D5}"/>
              </a:ext>
            </a:extLst>
          </p:cNvPr>
          <p:cNvSpPr/>
          <p:nvPr/>
        </p:nvSpPr>
        <p:spPr>
          <a:xfrm>
            <a:off x="5158485" y="-8466"/>
            <a:ext cx="7030341" cy="6858000"/>
          </a:xfrm>
          <a:prstGeom prst="rect">
            <a:avLst/>
          </a:prstGeom>
          <a:solidFill>
            <a:srgbClr val="1B1D3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121883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799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 anchor="ctr" anchorCtr="1">
            <a:noAutofit/>
          </a:bodyPr>
          <a:lstStyle>
            <a:lvl1pPr algn="ctr">
              <a:defRPr sz="3999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8" name="techie.png" descr="techie.png">
            <a:extLst>
              <a:ext uri="{FF2B5EF4-FFF2-40B4-BE49-F238E27FC236}">
                <a16:creationId xmlns:a16="http://schemas.microsoft.com/office/drawing/2014/main" id="{1153B63E-98A5-BBEE-9C6B-1057BEDC76E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4306441" y="2849298"/>
            <a:ext cx="1336200" cy="1336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n 4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64B3FB7A-0102-D659-3C30-C1C4C3659A5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2983" y="5840440"/>
            <a:ext cx="2457425" cy="469081"/>
          </a:xfrm>
          <a:prstGeom prst="rect">
            <a:avLst/>
          </a:prstGeom>
        </p:spPr>
      </p:pic>
      <p:pic>
        <p:nvPicPr>
          <p:cNvPr id="6" name="Imagen 5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E0D610C9-30BB-C209-BCCA-3BCE95C72D7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2983" y="5840440"/>
            <a:ext cx="2457425" cy="46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70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dor">
    <p:bg>
      <p:bgPr>
        <a:solidFill>
          <a:srgbClr val="1C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AE9D3631-5A5C-021D-E659-1D384017DB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468" y="6329921"/>
            <a:ext cx="1345323" cy="256799"/>
          </a:xfrm>
          <a:prstGeom prst="rect">
            <a:avLst/>
          </a:prstGeom>
        </p:spPr>
      </p:pic>
      <p:sp>
        <p:nvSpPr>
          <p:cNvPr id="4" name="Google Shape;48;p8">
            <a:extLst>
              <a:ext uri="{FF2B5EF4-FFF2-40B4-BE49-F238E27FC236}">
                <a16:creationId xmlns:a16="http://schemas.microsoft.com/office/drawing/2014/main" id="{3F57A50C-DED0-9A4A-F7C8-CD569FF06F43}"/>
              </a:ext>
            </a:extLst>
          </p:cNvPr>
          <p:cNvSpPr/>
          <p:nvPr/>
        </p:nvSpPr>
        <p:spPr>
          <a:xfrm>
            <a:off x="950719" y="-69"/>
            <a:ext cx="10287322" cy="6858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599" y="0"/>
                </a:lnTo>
                <a:lnTo>
                  <a:pt x="21600" y="0"/>
                </a:lnTo>
                <a:lnTo>
                  <a:pt x="18001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799" dirty="0"/>
          </a:p>
        </p:txBody>
      </p:sp>
      <p:pic>
        <p:nvPicPr>
          <p:cNvPr id="5" name="techie.png" descr="techie.png">
            <a:extLst>
              <a:ext uri="{FF2B5EF4-FFF2-40B4-BE49-F238E27FC236}">
                <a16:creationId xmlns:a16="http://schemas.microsoft.com/office/drawing/2014/main" id="{4B8A62A0-CE43-5FE0-5996-117855E878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7818" y="775699"/>
            <a:ext cx="1180194" cy="118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techie.png" descr="techie.png">
            <a:extLst>
              <a:ext uri="{FF2B5EF4-FFF2-40B4-BE49-F238E27FC236}">
                <a16:creationId xmlns:a16="http://schemas.microsoft.com/office/drawing/2014/main" id="{F34A3DA2-C704-C58B-4D16-8D97BC00AA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102611" y="4975166"/>
            <a:ext cx="1180194" cy="118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F3F2153-8EA8-5CEA-0F22-9F81F2479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931" y="1268413"/>
            <a:ext cx="7444903" cy="1349282"/>
          </a:xfrm>
        </p:spPr>
        <p:txBody>
          <a:bodyPr anchor="ctr" anchorCtr="1">
            <a:normAutofit/>
          </a:bodyPr>
          <a:lstStyle>
            <a:lvl1pPr algn="ctr">
              <a:defRPr sz="3299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0419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jilla - 1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3A50C8BD-05DD-C59B-0DEF-436057288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769" y="346854"/>
            <a:ext cx="8422140" cy="70238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CA39762-9178-D073-095C-C19E6FA2DB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5670" y="6309520"/>
            <a:ext cx="1288427" cy="365125"/>
          </a:xfrm>
          <a:prstGeom prst="rect">
            <a:avLst/>
          </a:prstGeom>
        </p:spPr>
        <p:txBody>
          <a:bodyPr/>
          <a:lstStyle/>
          <a:p>
            <a:fld id="{8F033F82-FDC3-4A09-A83A-27BA32D429C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12070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536">
          <p15:clr>
            <a:srgbClr val="FBAE40"/>
          </p15:clr>
        </p15:guide>
        <p15:guide id="2" pos="14824">
          <p15:clr>
            <a:srgbClr val="FBAE40"/>
          </p15:clr>
        </p15:guide>
        <p15:guide id="3" orient="horz" pos="1712">
          <p15:clr>
            <a:srgbClr val="FBAE40"/>
          </p15:clr>
        </p15:guide>
        <p15:guide id="4" orient="horz" pos="783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F21244-DF76-B9A4-1238-3157FB675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381001"/>
            <a:ext cx="10819032" cy="685800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6D7AF6-E8C0-B5DD-B9A1-3CA878371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1219200"/>
            <a:ext cx="10819032" cy="52959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399">
                <a:solidFill>
                  <a:schemeClr val="accent2">
                    <a:lumMod val="75000"/>
                  </a:schemeClr>
                </a:solidFill>
              </a:defRPr>
            </a:lvl1pPr>
            <a:lvl2pPr>
              <a:buFont typeface="Arial" panose="020B0604020202020204" pitchFamily="34" charset="0"/>
              <a:buChar char="•"/>
              <a:defRPr sz="1999">
                <a:solidFill>
                  <a:schemeClr val="accent2">
                    <a:lumMod val="75000"/>
                  </a:schemeClr>
                </a:solidFill>
              </a:defRPr>
            </a:lvl2pPr>
            <a:lvl3pPr>
              <a:buFont typeface="Arial" panose="020B0604020202020204" pitchFamily="34" charset="0"/>
              <a:buChar char="•"/>
              <a:defRPr sz="1799">
                <a:solidFill>
                  <a:schemeClr val="accent2">
                    <a:lumMod val="75000"/>
                  </a:schemeClr>
                </a:solidFill>
              </a:defRPr>
            </a:lvl3pPr>
            <a:lvl4pPr>
              <a:buFont typeface="Arial" panose="020B0604020202020204" pitchFamily="34" charset="0"/>
              <a:buChar char="•"/>
              <a:defRPr sz="16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buFont typeface="Arial" panose="020B0604020202020204" pitchFamily="34" charset="0"/>
              <a:buChar char="•"/>
              <a:defRPr sz="14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44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0" y="580571"/>
            <a:ext cx="10512863" cy="56486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350336"/>
            <a:ext cx="5180251" cy="5126666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2099"/>
            </a:lvl1pPr>
            <a:lvl2pPr>
              <a:buFont typeface="Arial" panose="020B0604020202020204" pitchFamily="34" charset="0"/>
              <a:buChar char="•"/>
              <a:defRPr sz="1799"/>
            </a:lvl2pPr>
            <a:lvl3pPr>
              <a:buFont typeface="Arial" panose="020B0604020202020204" pitchFamily="34" charset="0"/>
              <a:buChar char="•"/>
              <a:defRPr sz="1600"/>
            </a:lvl3pPr>
            <a:lvl4pPr>
              <a:buFont typeface="Arial" panose="020B0604020202020204" pitchFamily="34" charset="0"/>
              <a:buChar char="•"/>
              <a:defRPr sz="1400"/>
            </a:lvl4pPr>
            <a:lvl5pPr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350338"/>
            <a:ext cx="5180251" cy="5126663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2099"/>
            </a:lvl1pPr>
            <a:lvl2pPr>
              <a:buFont typeface="Arial" panose="020B0604020202020204" pitchFamily="34" charset="0"/>
              <a:buChar char="•"/>
              <a:defRPr sz="1799"/>
            </a:lvl2pPr>
            <a:lvl3pPr>
              <a:buFont typeface="Arial" panose="020B0604020202020204" pitchFamily="34" charset="0"/>
              <a:buChar char="•"/>
              <a:defRPr sz="1600"/>
            </a:lvl3pPr>
            <a:lvl4pPr>
              <a:buFont typeface="Arial" panose="020B0604020202020204" pitchFamily="34" charset="0"/>
              <a:buChar char="•"/>
              <a:defRPr sz="1400"/>
            </a:lvl4pPr>
            <a:lvl5pPr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42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692832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2833" y="4406902"/>
            <a:ext cx="10360501" cy="1362075"/>
          </a:xfrm>
          <a:prstGeom prst="rect">
            <a:avLst/>
          </a:prstGeom>
        </p:spPr>
        <p:txBody>
          <a:bodyPr/>
          <a:lstStyle>
            <a:lvl1pPr algn="l">
              <a:defRPr sz="3999" b="1" cap="all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99"/>
            </a:lvl1pPr>
            <a:lvl2pPr marL="457063" indent="0">
              <a:buNone/>
              <a:defRPr sz="1799"/>
            </a:lvl2pPr>
            <a:lvl3pPr marL="914126" indent="0">
              <a:buNone/>
              <a:defRPr sz="1600"/>
            </a:lvl3pPr>
            <a:lvl4pPr marL="1371189" indent="0">
              <a:buNone/>
              <a:defRPr sz="1400"/>
            </a:lvl4pPr>
            <a:lvl5pPr marL="1828251" indent="0">
              <a:buNone/>
              <a:defRPr sz="1400"/>
            </a:lvl5pPr>
            <a:lvl6pPr marL="2285314" indent="0">
              <a:buNone/>
              <a:defRPr sz="1400"/>
            </a:lvl6pPr>
            <a:lvl7pPr marL="2742377" indent="0">
              <a:buNone/>
              <a:defRPr sz="1400"/>
            </a:lvl7pPr>
            <a:lvl8pPr marL="3199440" indent="0">
              <a:buNone/>
              <a:defRPr sz="1400"/>
            </a:lvl8pPr>
            <a:lvl9pPr marL="3656503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69273275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1C00B9-0D6C-75BE-2043-F2CF5BEB4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271" y="1358900"/>
            <a:ext cx="11338215" cy="4860132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799"/>
            </a:lvl3pPr>
            <a:lvl4pPr>
              <a:defRPr sz="1799"/>
            </a:lvl4pPr>
            <a:lvl5pPr>
              <a:defRPr sz="1799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Título 8">
            <a:extLst>
              <a:ext uri="{FF2B5EF4-FFF2-40B4-BE49-F238E27FC236}">
                <a16:creationId xmlns:a16="http://schemas.microsoft.com/office/drawing/2014/main" id="{085FA085-2B4F-BE33-7B85-47312F32D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769" y="346854"/>
            <a:ext cx="8422140" cy="70238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8586974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075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size 1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/>
              <a:t>Edit Title</a:t>
            </a:r>
            <a:endParaRPr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2" hasCustomPrompt="1"/>
          </p:nvPr>
        </p:nvSpPr>
        <p:spPr>
          <a:xfrm>
            <a:off x="381874" y="1196978"/>
            <a:ext cx="11455591" cy="5008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pl-PL"/>
              <a:t>Up to seven lines of text.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80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12" y="380999"/>
            <a:ext cx="11387844" cy="7620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31811" y="1219200"/>
            <a:ext cx="11387845" cy="1955618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0"/>
            </a:lvl2pPr>
            <a:lvl3pPr marL="224051" indent="0">
              <a:buNone/>
              <a:defRPr/>
            </a:lvl3pPr>
            <a:lvl4pPr marL="448102" indent="0">
              <a:buNone/>
              <a:defRPr/>
            </a:lvl4pPr>
            <a:lvl5pPr marL="67215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259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1811" y="1295400"/>
            <a:ext cx="11463424" cy="5426076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1811" y="380999"/>
            <a:ext cx="11461825" cy="77012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Slide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6818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62" b="1" i="0">
                <a:solidFill>
                  <a:srgbClr val="393939"/>
                </a:solidFill>
                <a:latin typeface="Trebuchet MS"/>
                <a:cs typeface="Trebuchet MS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441" y="1577340"/>
            <a:ext cx="5302139" cy="387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7245" y="1577340"/>
            <a:ext cx="5302139" cy="387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5940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415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11" y="380999"/>
            <a:ext cx="11387845" cy="7620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31811" y="1189177"/>
            <a:ext cx="11387846" cy="198564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0" indent="0">
              <a:buFontTx/>
              <a:buNone/>
              <a:defRPr sz="1960"/>
            </a:lvl2pPr>
            <a:lvl3pPr marL="224051" indent="0">
              <a:buNone/>
              <a:defRPr/>
            </a:lvl3pPr>
            <a:lvl4pPr marL="448102" indent="0">
              <a:buNone/>
              <a:defRPr/>
            </a:lvl4pPr>
            <a:lvl5pPr marL="67215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4761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619" y="1268412"/>
            <a:ext cx="11299332" cy="4860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pic>
        <p:nvPicPr>
          <p:cNvPr id="9" name="LOGO-FINAL.png" descr="LOGO-FINAL.png">
            <a:extLst>
              <a:ext uri="{FF2B5EF4-FFF2-40B4-BE49-F238E27FC236}">
                <a16:creationId xmlns:a16="http://schemas.microsoft.com/office/drawing/2014/main" id="{FD1127DC-3633-9F91-EAC6-DF84F02D8D8F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6564" y="6323743"/>
            <a:ext cx="1391279" cy="2772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techie.png" descr="techie.png">
            <a:extLst>
              <a:ext uri="{FF2B5EF4-FFF2-40B4-BE49-F238E27FC236}">
                <a16:creationId xmlns:a16="http://schemas.microsoft.com/office/drawing/2014/main" id="{E9C3B265-6261-C31F-6626-0F2960C3D376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670" y="206462"/>
            <a:ext cx="437900" cy="43801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4619" y="457200"/>
            <a:ext cx="11298538" cy="702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13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50" r:id="rId5"/>
    <p:sldLayoutId id="2147483751" r:id="rId6"/>
    <p:sldLayoutId id="2147483753" r:id="rId7"/>
    <p:sldLayoutId id="2147483754" r:id="rId8"/>
    <p:sldLayoutId id="2147483755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</p:sldLayoutIdLst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Clr>
          <a:srgbClr val="F5C200"/>
        </a:buClr>
        <a:buFont typeface="Arial" panose="020B0604020202020204" pitchFamily="34" charset="0"/>
        <a:buChar char="•"/>
        <a:defRPr sz="2799" kern="1200">
          <a:solidFill>
            <a:srgbClr val="1C1E3B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23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9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7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7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45">
          <p15:clr>
            <a:srgbClr val="F26B43"/>
          </p15:clr>
        </p15:guide>
        <p15:guide id="2" pos="423">
          <p15:clr>
            <a:srgbClr val="F26B43"/>
          </p15:clr>
        </p15:guide>
        <p15:guide id="3" pos="14938">
          <p15:clr>
            <a:srgbClr val="F26B43"/>
          </p15:clr>
        </p15:guide>
        <p15:guide id="4" orient="horz" pos="1598">
          <p15:clr>
            <a:srgbClr val="F26B43"/>
          </p15:clr>
        </p15:guide>
        <p15:guide id="5" orient="horz" pos="79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angular.io/docs/ts/latest/guide/architecture.html#services" TargetMode="External"/><Relationship Id="rId3" Type="http://schemas.openxmlformats.org/officeDocument/2006/relationships/hyperlink" Target="https://angular.io/docs/ts/latest/guide/architecture.html#components" TargetMode="External"/><Relationship Id="rId7" Type="http://schemas.openxmlformats.org/officeDocument/2006/relationships/hyperlink" Target="https://angular.io/docs/ts/latest/guide/architecture.html#directives" TargetMode="External"/><Relationship Id="rId2" Type="http://schemas.openxmlformats.org/officeDocument/2006/relationships/hyperlink" Target="https://angular.io/docs/ts/latest/guide/architecture.html#modules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angular.io/docs/ts/latest/guide/architecture.html#data-binding" TargetMode="External"/><Relationship Id="rId5" Type="http://schemas.openxmlformats.org/officeDocument/2006/relationships/hyperlink" Target="https://angular.io/docs/ts/latest/guide/architecture.html#metadata" TargetMode="External"/><Relationship Id="rId10" Type="http://schemas.openxmlformats.org/officeDocument/2006/relationships/image" Target="../media/image9.png"/><Relationship Id="rId4" Type="http://schemas.openxmlformats.org/officeDocument/2006/relationships/hyperlink" Target="https://angular.io/docs/ts/latest/guide/architecture.html#templates" TargetMode="External"/><Relationship Id="rId9" Type="http://schemas.openxmlformats.org/officeDocument/2006/relationships/hyperlink" Target="https://angular.io/docs/ts/latest/guide/architecture.html#dependency-injection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gular/angular-cli/wiki" TargetMode="Externa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60485038/ng-server-listen-eacces-permission-denied-127-0-0-1420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etplace.visualstudio.com/items?itemName=PKief.material-icon-theme" TargetMode="External"/><Relationship Id="rId2" Type="http://schemas.openxmlformats.org/officeDocument/2006/relationships/hyperlink" Target="https://marketplace.visualstudio.com/items?itemName=johnpapa.angular-essentials" TargetMode="Externa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ypescriptlang.org/" TargetMode="Externa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4200/" TargetMode="External"/><Relationship Id="rId2" Type="http://schemas.openxmlformats.org/officeDocument/2006/relationships/hyperlink" Target="https://webpack.github.io/" TargetMode="Externa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angular/angular-cli/wiki/serve" TargetMode="Externa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olepetterdahlmann.com/2016/08/19/angular-2-startup-project-in-visual-studio-code-and-visual-studio/" TargetMode="Externa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angular.io/generated/live-examples/getting-started-v0/stackblitz.htm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gular/angular-cli/wiki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/>
              <a:t>Angular</a:t>
            </a:r>
            <a:br>
              <a:rPr lang="en-US" b="1"/>
            </a:br>
            <a:r>
              <a:rPr lang="en-US" b="1"/>
              <a:t>Getting Started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084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62833" y="4406902"/>
            <a:ext cx="10360501" cy="1362075"/>
          </a:xfrm>
        </p:spPr>
        <p:txBody>
          <a:bodyPr>
            <a:normAutofit/>
          </a:bodyPr>
          <a:lstStyle/>
          <a:p>
            <a:r>
              <a:rPr lang="en-US"/>
              <a:t>Why Angular?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/>
          <a:lstStyle/>
          <a:p>
            <a:r>
              <a:rPr lang="en-US"/>
              <a:t>What The Fuzz Is All About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71990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3"/>
            <a:ext cx="12188825" cy="70521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10" y="346298"/>
            <a:ext cx="11652805" cy="89943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wrong with Web Development?</a:t>
            </a:r>
          </a:p>
        </p:txBody>
      </p:sp>
    </p:spTree>
    <p:extLst>
      <p:ext uri="{BB962C8B-B14F-4D97-AF65-F5344CB8AC3E}">
        <p14:creationId xmlns:p14="http://schemas.microsoft.com/office/powerpoint/2010/main" val="11996400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should know?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HTML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CSS (Not that important)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Basic JavaScript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Programming Fundamentals (Functions, Conditions, Loops)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6469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Angular?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b="1" dirty="0"/>
              <a:t>Frontend/Client side JavaScript framework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Created and maintained </a:t>
            </a:r>
            <a:r>
              <a:rPr lang="en-US" b="1" dirty="0"/>
              <a:t>by google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Used to build powerful single page applications (</a:t>
            </a:r>
            <a:r>
              <a:rPr lang="en-US" b="1" dirty="0"/>
              <a:t>SPAs</a:t>
            </a:r>
            <a:r>
              <a:rPr lang="en-US" dirty="0"/>
              <a:t>)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Part of the very powerful </a:t>
            </a:r>
            <a:r>
              <a:rPr lang="en-US" b="1" dirty="0"/>
              <a:t>MEAN stack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What HTML would be if created for </a:t>
            </a:r>
            <a:r>
              <a:rPr lang="en-US" b="1" dirty="0"/>
              <a:t>dynamic web applications</a:t>
            </a:r>
          </a:p>
        </p:txBody>
      </p:sp>
    </p:spTree>
    <p:extLst>
      <p:ext uri="{BB962C8B-B14F-4D97-AF65-F5344CB8AC3E}">
        <p14:creationId xmlns:p14="http://schemas.microsoft.com/office/powerpoint/2010/main" val="210572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angular is NOT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A server side framework/technology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 err="1"/>
              <a:t>Javascript</a:t>
            </a:r>
            <a:r>
              <a:rPr lang="en-US" dirty="0"/>
              <a:t> library (jQuery, React,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Design pattern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Platform or language (.NET, Java)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Plugin or extension</a:t>
            </a:r>
          </a:p>
        </p:txBody>
      </p:sp>
    </p:spTree>
    <p:extLst>
      <p:ext uri="{BB962C8B-B14F-4D97-AF65-F5344CB8AC3E}">
        <p14:creationId xmlns:p14="http://schemas.microsoft.com/office/powerpoint/2010/main" val="715776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Version History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AngularJS/Angular 1</a:t>
            </a:r>
          </a:p>
          <a:p>
            <a:r>
              <a:rPr lang="en-US" b="1" dirty="0"/>
              <a:t>Angular 2:</a:t>
            </a:r>
            <a:r>
              <a:rPr lang="en-US" dirty="0"/>
              <a:t> Complete rewrite of Angular JS</a:t>
            </a:r>
          </a:p>
          <a:p>
            <a:r>
              <a:rPr lang="en-US" b="1" dirty="0"/>
              <a:t>Angular 4:</a:t>
            </a:r>
            <a:r>
              <a:rPr lang="en-US" dirty="0"/>
              <a:t> Backward compatible with Angular 2. Include </a:t>
            </a:r>
            <a:r>
              <a:rPr lang="en-US" dirty="0" err="1"/>
              <a:t>HttpClient</a:t>
            </a:r>
            <a:r>
              <a:rPr lang="en-US" dirty="0"/>
              <a:t>, a smaller, easier to use, and more powerful library for making HTTP Requests. It provides new router life cycle events for Guards and Resolvers.</a:t>
            </a:r>
          </a:p>
          <a:p>
            <a:r>
              <a:rPr lang="en-US" b="1" dirty="0"/>
              <a:t>Angular 5:</a:t>
            </a:r>
            <a:r>
              <a:rPr lang="en-US" dirty="0"/>
              <a:t> It provided some improvements to support for progressive web apps, also provides improvements related to Material Design.</a:t>
            </a:r>
          </a:p>
          <a:p>
            <a:r>
              <a:rPr lang="en-US" b="1" dirty="0"/>
              <a:t>Angular 6:</a:t>
            </a:r>
            <a:r>
              <a:rPr lang="en-US" dirty="0"/>
              <a:t> More…</a:t>
            </a:r>
          </a:p>
          <a:p>
            <a:r>
              <a:rPr lang="en-US" b="1" dirty="0"/>
              <a:t>Angular 7:</a:t>
            </a:r>
            <a:r>
              <a:rPr lang="en-US" dirty="0"/>
              <a:t> More…</a:t>
            </a:r>
          </a:p>
          <a:p>
            <a:r>
              <a:rPr lang="en-US" b="1" dirty="0"/>
              <a:t>Angular 8:</a:t>
            </a:r>
            <a:r>
              <a:rPr lang="en-US" dirty="0"/>
              <a:t> More…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219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E2B35-274A-4A43-A24D-094A45E72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Angular</a:t>
            </a:r>
            <a:r>
              <a:rPr lang="es-ES" dirty="0"/>
              <a:t> 6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BB5DCD-5EB6-486D-B015-24E0B8CC4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version was released on 4 may, 2018. </a:t>
            </a:r>
          </a:p>
          <a:p>
            <a:r>
              <a:rPr lang="en-US" dirty="0"/>
              <a:t>It was a major release which provides some features like: </a:t>
            </a:r>
          </a:p>
          <a:p>
            <a:pPr lvl="1"/>
            <a:r>
              <a:rPr lang="en-US" dirty="0"/>
              <a:t>ng update, ng add, </a:t>
            </a:r>
          </a:p>
          <a:p>
            <a:pPr lvl="1"/>
            <a:r>
              <a:rPr lang="en-US" dirty="0"/>
              <a:t>Angular Elements, </a:t>
            </a:r>
          </a:p>
          <a:p>
            <a:pPr lvl="1"/>
            <a:r>
              <a:rPr lang="en-US" dirty="0"/>
              <a:t>Angular Material + CDK Components, </a:t>
            </a:r>
          </a:p>
          <a:p>
            <a:pPr lvl="1"/>
            <a:r>
              <a:rPr lang="en-US" dirty="0"/>
              <a:t>Angular Material Starter Components, </a:t>
            </a:r>
          </a:p>
          <a:p>
            <a:pPr lvl="1"/>
            <a:r>
              <a:rPr lang="en-US" dirty="0"/>
              <a:t>CLI Workspaces, </a:t>
            </a:r>
          </a:p>
          <a:p>
            <a:pPr lvl="1"/>
            <a:r>
              <a:rPr lang="en-US" dirty="0"/>
              <a:t>Library Support, </a:t>
            </a:r>
          </a:p>
          <a:p>
            <a:pPr lvl="1"/>
            <a:r>
              <a:rPr lang="en-US" dirty="0"/>
              <a:t>Tree Shakable Providers, </a:t>
            </a:r>
          </a:p>
          <a:p>
            <a:pPr lvl="1"/>
            <a:r>
              <a:rPr lang="en-US" dirty="0"/>
              <a:t>Animations Performance Improvements, </a:t>
            </a:r>
          </a:p>
          <a:p>
            <a:pPr lvl="1"/>
            <a:r>
              <a:rPr lang="en-US" dirty="0"/>
              <a:t>and </a:t>
            </a:r>
            <a:r>
              <a:rPr lang="en-US" dirty="0" err="1">
                <a:solidFill>
                  <a:srgbClr val="FF0000"/>
                </a:solidFill>
              </a:rPr>
              <a:t>RxJS</a:t>
            </a:r>
            <a:r>
              <a:rPr lang="en-US" dirty="0"/>
              <a:t> v6.</a:t>
            </a:r>
            <a:br>
              <a:rPr lang="en-U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762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94419-A536-4436-A254-A473F1FC3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7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A8D728-6ACE-4E24-928B-5C4A2978E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was released on October 18, 2018. It consists of many extensive features:</a:t>
            </a:r>
          </a:p>
          <a:p>
            <a:pPr lvl="1"/>
            <a:r>
              <a:rPr lang="en-US" dirty="0"/>
              <a:t>Updates regarding Application Performance</a:t>
            </a:r>
          </a:p>
          <a:p>
            <a:pPr lvl="1"/>
            <a:r>
              <a:rPr lang="en-US" dirty="0"/>
              <a:t>Angular Material &amp; CDK</a:t>
            </a:r>
          </a:p>
          <a:p>
            <a:pPr lvl="1"/>
            <a:r>
              <a:rPr lang="en-US" dirty="0"/>
              <a:t>Virtual Scrolling</a:t>
            </a:r>
          </a:p>
          <a:p>
            <a:pPr lvl="1"/>
            <a:r>
              <a:rPr lang="en-US" dirty="0"/>
              <a:t>Improved Accessibility of Selects</a:t>
            </a:r>
          </a:p>
          <a:p>
            <a:pPr lvl="1"/>
            <a:r>
              <a:rPr lang="en-US" dirty="0"/>
              <a:t>Supports Content Projection using web standard for custom elements</a:t>
            </a:r>
          </a:p>
          <a:p>
            <a:pPr lvl="1"/>
            <a:r>
              <a:rPr lang="en-US" dirty="0"/>
              <a:t>Dependency updates regarding TypeScript 3.1, </a:t>
            </a:r>
            <a:r>
              <a:rPr lang="en-US" dirty="0" err="1"/>
              <a:t>RxJS</a:t>
            </a:r>
            <a:r>
              <a:rPr lang="en-US" dirty="0"/>
              <a:t> 6.3, Node 10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4910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E7B6E-799C-4940-BBF5-AE958115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8 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AF2336-CC62-4A7F-89BB-3227DA188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Was released on May 28, 2019. Featuring Differential loading for all application code, Dynamic imports for lazy routes, Web workers, TypeScript 3.4 support, and Angular Ivy as an opt-in preview. </a:t>
            </a:r>
          </a:p>
          <a:p>
            <a:r>
              <a:rPr lang="en-US" dirty="0"/>
              <a:t>Angular Ivy opt-in preview includes:</a:t>
            </a:r>
          </a:p>
          <a:p>
            <a:pPr lvl="1"/>
            <a:r>
              <a:rPr lang="en-US" dirty="0"/>
              <a:t>Generated code that is easier to read and debug at runtime.</a:t>
            </a:r>
          </a:p>
          <a:p>
            <a:pPr lvl="1"/>
            <a:r>
              <a:rPr lang="en-US" dirty="0"/>
              <a:t>Faster re-build time.</a:t>
            </a:r>
          </a:p>
          <a:p>
            <a:pPr lvl="1"/>
            <a:r>
              <a:rPr lang="en-US" dirty="0"/>
              <a:t>Improved payload size.</a:t>
            </a:r>
          </a:p>
          <a:p>
            <a:pPr lvl="1"/>
            <a:r>
              <a:rPr lang="en-US" dirty="0"/>
              <a:t>Improved template type checking.</a:t>
            </a:r>
          </a:p>
          <a:p>
            <a:pPr lvl="1"/>
            <a:r>
              <a:rPr lang="en-US" dirty="0"/>
              <a:t>Backwards compatibility.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0752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C5EEEB-0F1E-4B64-A80B-69CD6C9DE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Angular 9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03C0A9-3717-4CCC-8C5A-41D6F1C78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Default </a:t>
            </a:r>
            <a:r>
              <a:rPr lang="es-ES" dirty="0" err="1"/>
              <a:t>Ivy</a:t>
            </a:r>
            <a:r>
              <a:rPr lang="es-ES" dirty="0"/>
              <a:t> </a:t>
            </a:r>
            <a:r>
              <a:rPr lang="es-ES" dirty="0" err="1"/>
              <a:t>Compiler</a:t>
            </a:r>
            <a:r>
              <a:rPr lang="es-ES" dirty="0"/>
              <a:t>.</a:t>
            </a:r>
          </a:p>
          <a:p>
            <a:r>
              <a:rPr lang="es-ES" dirty="0" err="1"/>
              <a:t>Smaller</a:t>
            </a:r>
            <a:r>
              <a:rPr lang="es-ES" dirty="0"/>
              <a:t> </a:t>
            </a:r>
            <a:r>
              <a:rPr lang="es-ES" dirty="0" err="1"/>
              <a:t>Bundle</a:t>
            </a:r>
            <a:r>
              <a:rPr lang="es-ES" dirty="0"/>
              <a:t> </a:t>
            </a:r>
            <a:r>
              <a:rPr lang="es-ES" dirty="0" err="1"/>
              <a:t>Size</a:t>
            </a:r>
            <a:r>
              <a:rPr lang="es-ES" dirty="0"/>
              <a:t>.</a:t>
            </a:r>
          </a:p>
          <a:p>
            <a:r>
              <a:rPr lang="es-ES" dirty="0" err="1"/>
              <a:t>Better</a:t>
            </a:r>
            <a:r>
              <a:rPr lang="es-ES" dirty="0"/>
              <a:t> </a:t>
            </a:r>
            <a:r>
              <a:rPr lang="es-ES" dirty="0" err="1"/>
              <a:t>Debugging</a:t>
            </a:r>
            <a:r>
              <a:rPr lang="es-ES" dirty="0"/>
              <a:t>.</a:t>
            </a:r>
          </a:p>
          <a:p>
            <a:r>
              <a:rPr lang="es-ES" dirty="0" err="1"/>
              <a:t>Faster</a:t>
            </a:r>
            <a:r>
              <a:rPr lang="es-ES" dirty="0"/>
              <a:t> </a:t>
            </a:r>
            <a:r>
              <a:rPr lang="es-ES" dirty="0" err="1"/>
              <a:t>Compilation</a:t>
            </a:r>
            <a:r>
              <a:rPr lang="es-ES" dirty="0"/>
              <a:t>.</a:t>
            </a:r>
          </a:p>
          <a:p>
            <a:r>
              <a:rPr lang="es-ES" dirty="0" err="1"/>
              <a:t>Ahead</a:t>
            </a:r>
            <a:r>
              <a:rPr lang="es-ES" dirty="0"/>
              <a:t>-</a:t>
            </a:r>
            <a:r>
              <a:rPr lang="es-ES" dirty="0" err="1"/>
              <a:t>of</a:t>
            </a:r>
            <a:r>
              <a:rPr lang="es-ES" dirty="0"/>
              <a:t>-time (AOT)</a:t>
            </a:r>
          </a:p>
          <a:p>
            <a:r>
              <a:rPr lang="es-ES" dirty="0"/>
              <a:t>Angular 9 </a:t>
            </a:r>
            <a:r>
              <a:rPr lang="es-ES" dirty="0" err="1"/>
              <a:t>requires</a:t>
            </a:r>
            <a:r>
              <a:rPr lang="es-ES" dirty="0"/>
              <a:t> </a:t>
            </a:r>
            <a:r>
              <a:rPr lang="es-ES" dirty="0" err="1"/>
              <a:t>Typescript</a:t>
            </a:r>
            <a:r>
              <a:rPr lang="es-ES" dirty="0"/>
              <a:t> 3.7.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1858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31D092C9-EE89-EF4A-63DE-9A2451BD1076}"/>
              </a:ext>
            </a:extLst>
          </p:cNvPr>
          <p:cNvSpPr/>
          <p:nvPr/>
        </p:nvSpPr>
        <p:spPr>
          <a:xfrm>
            <a:off x="5823857" y="228600"/>
            <a:ext cx="3810000" cy="28875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4625D5F-C208-C03A-10E2-99F673B4DE0A}"/>
              </a:ext>
            </a:extLst>
          </p:cNvPr>
          <p:cNvSpPr txBox="1"/>
          <p:nvPr/>
        </p:nvSpPr>
        <p:spPr>
          <a:xfrm>
            <a:off x="10440988" y="1329459"/>
            <a:ext cx="111823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JS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3460BCE-9953-4F58-6D72-06849A9C0E6F}"/>
              </a:ext>
            </a:extLst>
          </p:cNvPr>
          <p:cNvCxnSpPr>
            <a:cxnSpLocks/>
          </p:cNvCxnSpPr>
          <p:nvPr/>
        </p:nvCxnSpPr>
        <p:spPr>
          <a:xfrm>
            <a:off x="9646331" y="1698791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B78FCA13-9BE3-0F6E-4E5A-C8C8A63B2BFE}"/>
              </a:ext>
            </a:extLst>
          </p:cNvPr>
          <p:cNvSpPr txBox="1"/>
          <p:nvPr/>
        </p:nvSpPr>
        <p:spPr>
          <a:xfrm>
            <a:off x="10440988" y="1698791"/>
            <a:ext cx="111823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HTML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592261A-8DE1-6456-D537-8B951A0AF8F6}"/>
              </a:ext>
            </a:extLst>
          </p:cNvPr>
          <p:cNvSpPr txBox="1"/>
          <p:nvPr/>
        </p:nvSpPr>
        <p:spPr>
          <a:xfrm>
            <a:off x="5988731" y="274327"/>
            <a:ext cx="28956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TS1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DA97DF1-B71D-6623-12B7-030FA4321230}"/>
              </a:ext>
            </a:extLst>
          </p:cNvPr>
          <p:cNvSpPr txBox="1"/>
          <p:nvPr/>
        </p:nvSpPr>
        <p:spPr>
          <a:xfrm>
            <a:off x="5988731" y="689388"/>
            <a:ext cx="28956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HTML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5BFC111-3118-A912-3F06-C9A6CBC22EEF}"/>
              </a:ext>
            </a:extLst>
          </p:cNvPr>
          <p:cNvSpPr txBox="1"/>
          <p:nvPr/>
        </p:nvSpPr>
        <p:spPr>
          <a:xfrm>
            <a:off x="5988731" y="1085024"/>
            <a:ext cx="28956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CSS/SCSS/LCSS…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96FB392-02F5-C7D4-DCFD-1864FB383649}"/>
              </a:ext>
            </a:extLst>
          </p:cNvPr>
          <p:cNvSpPr txBox="1"/>
          <p:nvPr/>
        </p:nvSpPr>
        <p:spPr>
          <a:xfrm>
            <a:off x="5988731" y="1837728"/>
            <a:ext cx="28956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TS2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7CF02B4-EB6C-8783-DE15-8E67A4D0F5BB}"/>
              </a:ext>
            </a:extLst>
          </p:cNvPr>
          <p:cNvSpPr txBox="1"/>
          <p:nvPr/>
        </p:nvSpPr>
        <p:spPr>
          <a:xfrm>
            <a:off x="5988731" y="2252789"/>
            <a:ext cx="28956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HTML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1427D05-EF6F-E2C8-8A7B-922B751C53C1}"/>
              </a:ext>
            </a:extLst>
          </p:cNvPr>
          <p:cNvSpPr txBox="1"/>
          <p:nvPr/>
        </p:nvSpPr>
        <p:spPr>
          <a:xfrm>
            <a:off x="5988731" y="2648425"/>
            <a:ext cx="28956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CSS/SCSS/LCSS…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B14F9AA-244C-42FC-073D-74F5B8FAF1D2}"/>
              </a:ext>
            </a:extLst>
          </p:cNvPr>
          <p:cNvSpPr txBox="1"/>
          <p:nvPr/>
        </p:nvSpPr>
        <p:spPr>
          <a:xfrm>
            <a:off x="10439400" y="2086535"/>
            <a:ext cx="111823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CSS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683D5BA-4A2B-38E8-F609-4DEECCEF3CDC}"/>
              </a:ext>
            </a:extLst>
          </p:cNvPr>
          <p:cNvSpPr/>
          <p:nvPr/>
        </p:nvSpPr>
        <p:spPr>
          <a:xfrm>
            <a:off x="5789612" y="3352800"/>
            <a:ext cx="3810000" cy="28875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EE26BC4-B6D2-FE26-5E45-C5808FDD9F4F}"/>
              </a:ext>
            </a:extLst>
          </p:cNvPr>
          <p:cNvSpPr txBox="1"/>
          <p:nvPr/>
        </p:nvSpPr>
        <p:spPr>
          <a:xfrm>
            <a:off x="5954486" y="3398527"/>
            <a:ext cx="28956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TS1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016A682-05BF-9628-01A6-C11ED68F7715}"/>
              </a:ext>
            </a:extLst>
          </p:cNvPr>
          <p:cNvSpPr txBox="1"/>
          <p:nvPr/>
        </p:nvSpPr>
        <p:spPr>
          <a:xfrm>
            <a:off x="5954486" y="3813588"/>
            <a:ext cx="28956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HTML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5531B6C-BAC0-B0F7-6EE5-275B2577430E}"/>
              </a:ext>
            </a:extLst>
          </p:cNvPr>
          <p:cNvSpPr txBox="1"/>
          <p:nvPr/>
        </p:nvSpPr>
        <p:spPr>
          <a:xfrm>
            <a:off x="5954486" y="4209224"/>
            <a:ext cx="28956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CSS/SCSS/LCSS…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EA175A8-D77E-8FC8-F029-E29C1C55FEA0}"/>
              </a:ext>
            </a:extLst>
          </p:cNvPr>
          <p:cNvSpPr txBox="1"/>
          <p:nvPr/>
        </p:nvSpPr>
        <p:spPr>
          <a:xfrm>
            <a:off x="5954486" y="4961928"/>
            <a:ext cx="28956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TS2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82263F1-7C99-16BD-136C-4875B4AE72E4}"/>
              </a:ext>
            </a:extLst>
          </p:cNvPr>
          <p:cNvSpPr txBox="1"/>
          <p:nvPr/>
        </p:nvSpPr>
        <p:spPr>
          <a:xfrm>
            <a:off x="5954486" y="5376989"/>
            <a:ext cx="28956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HTML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5E4050-7278-E3CB-8095-FA508C5FC115}"/>
              </a:ext>
            </a:extLst>
          </p:cNvPr>
          <p:cNvSpPr txBox="1"/>
          <p:nvPr/>
        </p:nvSpPr>
        <p:spPr>
          <a:xfrm>
            <a:off x="5954486" y="5772625"/>
            <a:ext cx="28956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CSS/SCSS/LCSS…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1087494-A743-2113-5B17-0344E178B409}"/>
              </a:ext>
            </a:extLst>
          </p:cNvPr>
          <p:cNvSpPr txBox="1"/>
          <p:nvPr/>
        </p:nvSpPr>
        <p:spPr>
          <a:xfrm>
            <a:off x="10439400" y="4395156"/>
            <a:ext cx="1118237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JS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D0A78EA-590D-7860-C89E-1CB9B6CF4760}"/>
              </a:ext>
            </a:extLst>
          </p:cNvPr>
          <p:cNvSpPr txBox="1"/>
          <p:nvPr/>
        </p:nvSpPr>
        <p:spPr>
          <a:xfrm>
            <a:off x="10439400" y="4777262"/>
            <a:ext cx="1118237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HTML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6047125-30FB-41A2-7795-F278845E84A2}"/>
              </a:ext>
            </a:extLst>
          </p:cNvPr>
          <p:cNvSpPr txBox="1"/>
          <p:nvPr/>
        </p:nvSpPr>
        <p:spPr>
          <a:xfrm>
            <a:off x="10437812" y="5165006"/>
            <a:ext cx="1118237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CSS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11B65851-FDC6-01C1-DE86-0D025509DEBD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9646331" y="4961928"/>
            <a:ext cx="7930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1689180-99A7-629A-09A2-6673E4976908}"/>
              </a:ext>
            </a:extLst>
          </p:cNvPr>
          <p:cNvSpPr txBox="1"/>
          <p:nvPr/>
        </p:nvSpPr>
        <p:spPr>
          <a:xfrm>
            <a:off x="4873777" y="138405"/>
            <a:ext cx="1146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Lazy</a:t>
            </a:r>
            <a:endParaRPr lang="es-ES" dirty="0"/>
          </a:p>
          <a:p>
            <a:r>
              <a:rPr lang="es-ES" dirty="0" err="1"/>
              <a:t>Loading</a:t>
            </a:r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CBD6333-DD00-B69B-AEBB-18817703DDDB}"/>
              </a:ext>
            </a:extLst>
          </p:cNvPr>
          <p:cNvSpPr txBox="1"/>
          <p:nvPr/>
        </p:nvSpPr>
        <p:spPr>
          <a:xfrm>
            <a:off x="4909609" y="3292181"/>
            <a:ext cx="1146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Lazy</a:t>
            </a:r>
            <a:endParaRPr lang="es-ES" dirty="0"/>
          </a:p>
          <a:p>
            <a:r>
              <a:rPr lang="es-ES" dirty="0" err="1"/>
              <a:t>Loading</a:t>
            </a:r>
            <a:endParaRPr lang="es-ES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44001CC-5ADE-B832-A657-23CA940E83C7}"/>
              </a:ext>
            </a:extLst>
          </p:cNvPr>
          <p:cNvSpPr txBox="1"/>
          <p:nvPr/>
        </p:nvSpPr>
        <p:spPr>
          <a:xfrm>
            <a:off x="10703974" y="950921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200K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BC57DC1-458D-AF39-E43A-2168D8589230}"/>
              </a:ext>
            </a:extLst>
          </p:cNvPr>
          <p:cNvSpPr txBox="1"/>
          <p:nvPr/>
        </p:nvSpPr>
        <p:spPr>
          <a:xfrm>
            <a:off x="10727333" y="4065483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180K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BC4583A-CD75-4D4F-E10C-BB3DDA1462A9}"/>
              </a:ext>
            </a:extLst>
          </p:cNvPr>
          <p:cNvSpPr/>
          <p:nvPr/>
        </p:nvSpPr>
        <p:spPr>
          <a:xfrm>
            <a:off x="805542" y="1329459"/>
            <a:ext cx="3948197" cy="20995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2980486-D916-7244-2839-859A979E7CCE}"/>
              </a:ext>
            </a:extLst>
          </p:cNvPr>
          <p:cNvSpPr txBox="1"/>
          <p:nvPr/>
        </p:nvSpPr>
        <p:spPr>
          <a:xfrm>
            <a:off x="970417" y="2190718"/>
            <a:ext cx="370726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AppComponent</a:t>
            </a:r>
            <a:r>
              <a:rPr lang="es-E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dirty="0"/>
              <a:t>'</a:t>
            </a:r>
            <a:r>
              <a:rPr lang="es-ES" dirty="0" err="1">
                <a:solidFill>
                  <a:schemeClr val="tx1"/>
                </a:solidFill>
              </a:rPr>
              <a:t>cf-root</a:t>
            </a:r>
            <a:r>
              <a:rPr lang="es-ES" dirty="0"/>
              <a:t>’ -&gt; </a:t>
            </a:r>
            <a:r>
              <a:rPr lang="es-ES" dirty="0">
                <a:solidFill>
                  <a:srgbClr val="FF0000"/>
                </a:solidFill>
              </a:rPr>
              <a:t>TS</a:t>
            </a:r>
            <a:r>
              <a:rPr lang="es-ES" dirty="0"/>
              <a:t> + 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5408AE4-540D-7F8D-E303-814B9E5BF6B6}"/>
              </a:ext>
            </a:extLst>
          </p:cNvPr>
          <p:cNvSpPr txBox="1"/>
          <p:nvPr/>
        </p:nvSpPr>
        <p:spPr>
          <a:xfrm>
            <a:off x="970416" y="2605779"/>
            <a:ext cx="3707263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HTML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93FAC90-F0CB-7089-1D0E-9846B3A87A09}"/>
              </a:ext>
            </a:extLst>
          </p:cNvPr>
          <p:cNvSpPr txBox="1"/>
          <p:nvPr/>
        </p:nvSpPr>
        <p:spPr>
          <a:xfrm>
            <a:off x="970417" y="3001415"/>
            <a:ext cx="3707262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CSS</a:t>
            </a:r>
            <a:r>
              <a:rPr lang="es-ES" dirty="0"/>
              <a:t>/SCSS/LCSS…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070B062-1639-BF87-CB7B-048DB172328C}"/>
              </a:ext>
            </a:extLst>
          </p:cNvPr>
          <p:cNvSpPr txBox="1"/>
          <p:nvPr/>
        </p:nvSpPr>
        <p:spPr>
          <a:xfrm>
            <a:off x="-1233871" y="2204969"/>
            <a:ext cx="1146023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Directa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82963EC2-0B2C-0986-23C6-9161F20814A2}"/>
              </a:ext>
            </a:extLst>
          </p:cNvPr>
          <p:cNvCxnSpPr>
            <a:cxnSpLocks/>
            <a:stCxn id="62" idx="2"/>
            <a:endCxn id="45" idx="1"/>
          </p:cNvCxnSpPr>
          <p:nvPr/>
        </p:nvCxnSpPr>
        <p:spPr>
          <a:xfrm>
            <a:off x="2779640" y="4418909"/>
            <a:ext cx="1143797" cy="1150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0E1FB0A3-DA81-CB28-BD71-0C1C1F095BC1}"/>
              </a:ext>
            </a:extLst>
          </p:cNvPr>
          <p:cNvSpPr txBox="1"/>
          <p:nvPr/>
        </p:nvSpPr>
        <p:spPr>
          <a:xfrm>
            <a:off x="3923437" y="5384881"/>
            <a:ext cx="1118237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JS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F4F333D-879B-CDBF-396C-91AF93C72529}"/>
              </a:ext>
            </a:extLst>
          </p:cNvPr>
          <p:cNvSpPr txBox="1"/>
          <p:nvPr/>
        </p:nvSpPr>
        <p:spPr>
          <a:xfrm>
            <a:off x="3923437" y="5754213"/>
            <a:ext cx="1118237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HTML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48E1080-3110-8530-2720-DC217601655B}"/>
              </a:ext>
            </a:extLst>
          </p:cNvPr>
          <p:cNvSpPr txBox="1"/>
          <p:nvPr/>
        </p:nvSpPr>
        <p:spPr>
          <a:xfrm>
            <a:off x="3921849" y="6141957"/>
            <a:ext cx="1118237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CSS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FA17551-C2DE-58F4-3294-AF867BA645E3}"/>
              </a:ext>
            </a:extLst>
          </p:cNvPr>
          <p:cNvSpPr txBox="1"/>
          <p:nvPr/>
        </p:nvSpPr>
        <p:spPr>
          <a:xfrm>
            <a:off x="4186423" y="5006343"/>
            <a:ext cx="53893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ES" dirty="0"/>
              <a:t>56K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6F8EFB1-EE2D-B199-3A7B-D9433AE3AE1A}"/>
              </a:ext>
            </a:extLst>
          </p:cNvPr>
          <p:cNvSpPr txBox="1"/>
          <p:nvPr/>
        </p:nvSpPr>
        <p:spPr>
          <a:xfrm>
            <a:off x="836612" y="1396038"/>
            <a:ext cx="381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 err="1">
                <a:effectLst/>
                <a:latin typeface="Consolas" panose="020B0609020204030204" pitchFamily="49" charset="0"/>
              </a:rPr>
              <a:t>AppModule</a:t>
            </a:r>
            <a:endParaRPr lang="es-ES" b="0" dirty="0">
              <a:effectLst/>
              <a:latin typeface="Consolas" panose="020B0609020204030204" pitchFamily="49" charset="0"/>
            </a:endParaRPr>
          </a:p>
          <a:p>
            <a:r>
              <a:rPr lang="es-ES" b="0" dirty="0" err="1">
                <a:effectLst/>
                <a:latin typeface="Consolas" panose="020B0609020204030204" pitchFamily="49" charset="0"/>
              </a:rPr>
              <a:t>bootstrap</a:t>
            </a:r>
            <a:r>
              <a:rPr lang="es-ES" b="0" dirty="0">
                <a:effectLst/>
                <a:latin typeface="Consolas" panose="020B0609020204030204" pitchFamily="49" charset="0"/>
              </a:rPr>
              <a:t>: [</a:t>
            </a:r>
            <a:r>
              <a:rPr lang="es-ES" b="0" dirty="0" err="1">
                <a:effectLst/>
                <a:latin typeface="Consolas" panose="020B0609020204030204" pitchFamily="49" charset="0"/>
              </a:rPr>
              <a:t>AppComponent</a:t>
            </a:r>
            <a:r>
              <a:rPr lang="es-ES" b="0" dirty="0"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0C532FA-C0D6-888A-46CE-7F2D9746B7A5}"/>
              </a:ext>
            </a:extLst>
          </p:cNvPr>
          <p:cNvSpPr txBox="1"/>
          <p:nvPr/>
        </p:nvSpPr>
        <p:spPr>
          <a:xfrm>
            <a:off x="805542" y="3495579"/>
            <a:ext cx="3948196" cy="923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tx1"/>
                </a:solidFill>
              </a:rPr>
              <a:t>AppRoutingModule</a:t>
            </a:r>
            <a:endParaRPr lang="es-ES" dirty="0">
              <a:solidFill>
                <a:schemeClr val="tx1"/>
              </a:solidFill>
            </a:endParaRPr>
          </a:p>
          <a:p>
            <a:endParaRPr lang="es-ES" dirty="0">
              <a:solidFill>
                <a:schemeClr val="tx1"/>
              </a:solidFill>
            </a:endParaRPr>
          </a:p>
          <a:p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5B1E0CC9-1C39-2EA2-3687-0C7C8B34DA6F}"/>
              </a:ext>
            </a:extLst>
          </p:cNvPr>
          <p:cNvSpPr txBox="1"/>
          <p:nvPr/>
        </p:nvSpPr>
        <p:spPr>
          <a:xfrm>
            <a:off x="939349" y="3886200"/>
            <a:ext cx="3707263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tx1"/>
                </a:solidFill>
              </a:rPr>
              <a:t>const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routes</a:t>
            </a:r>
            <a:r>
              <a:rPr lang="es-ES" dirty="0">
                <a:solidFill>
                  <a:schemeClr val="tx1"/>
                </a:solidFill>
              </a:rPr>
              <a:t>: </a:t>
            </a:r>
            <a:r>
              <a:rPr lang="es-ES" dirty="0" err="1">
                <a:solidFill>
                  <a:schemeClr val="tx1"/>
                </a:solidFill>
              </a:rPr>
              <a:t>Routes</a:t>
            </a:r>
            <a:r>
              <a:rPr lang="es-ES" dirty="0">
                <a:solidFill>
                  <a:schemeClr val="tx1"/>
                </a:solidFill>
              </a:rPr>
              <a:t> = [];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93CBECCC-7FA2-D8EF-1C86-11D728553DD6}"/>
              </a:ext>
            </a:extLst>
          </p:cNvPr>
          <p:cNvSpPr txBox="1"/>
          <p:nvPr/>
        </p:nvSpPr>
        <p:spPr>
          <a:xfrm>
            <a:off x="-1525587" y="2666868"/>
            <a:ext cx="1981200" cy="8540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main.ts</a:t>
            </a:r>
            <a:endParaRPr lang="es-E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platformBrowserDynamic</a:t>
            </a:r>
            <a:r>
              <a:rPr lang="es-E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s-ES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bootstrapModule</a:t>
            </a:r>
            <a:r>
              <a:rPr lang="es-E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AppModule</a:t>
            </a:r>
            <a:r>
              <a:rPr lang="es-E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es-E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72BA8D3C-330B-E7D3-F7DE-9F63927F84AF}"/>
              </a:ext>
            </a:extLst>
          </p:cNvPr>
          <p:cNvSpPr txBox="1"/>
          <p:nvPr/>
        </p:nvSpPr>
        <p:spPr>
          <a:xfrm>
            <a:off x="-1546493" y="3604759"/>
            <a:ext cx="2002106" cy="5078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index.html</a:t>
            </a:r>
          </a:p>
          <a:p>
            <a:r>
              <a:rPr lang="es-ES" sz="9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9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cf-root</a:t>
            </a:r>
            <a:r>
              <a:rPr lang="es-ES" sz="9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9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cf-root</a:t>
            </a:r>
            <a:r>
              <a:rPr lang="es-ES" sz="9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2754A5B5-E59C-C4EB-260B-C577452600EC}"/>
              </a:ext>
            </a:extLst>
          </p:cNvPr>
          <p:cNvSpPr txBox="1"/>
          <p:nvPr/>
        </p:nvSpPr>
        <p:spPr>
          <a:xfrm>
            <a:off x="1522412" y="4823248"/>
            <a:ext cx="220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Tsc</a:t>
            </a:r>
            <a:r>
              <a:rPr lang="es-ES" dirty="0"/>
              <a:t> + </a:t>
            </a:r>
            <a:r>
              <a:rPr lang="es-ES" dirty="0" err="1"/>
              <a:t>Webpack</a:t>
            </a:r>
            <a:endParaRPr lang="es-ES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51F1B7EF-F2D7-2E90-DBCA-38C7C6F82AA7}"/>
              </a:ext>
            </a:extLst>
          </p:cNvPr>
          <p:cNvSpPr txBox="1"/>
          <p:nvPr/>
        </p:nvSpPr>
        <p:spPr>
          <a:xfrm>
            <a:off x="9904412" y="3641648"/>
            <a:ext cx="1967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Tsc</a:t>
            </a:r>
            <a:r>
              <a:rPr lang="es-ES" dirty="0"/>
              <a:t> + </a:t>
            </a:r>
            <a:r>
              <a:rPr lang="es-ES" dirty="0" err="1"/>
              <a:t>Webpack</a:t>
            </a:r>
            <a:endParaRPr lang="es-ES" dirty="0"/>
          </a:p>
          <a:p>
            <a:endParaRPr lang="es-ES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91AD81C9-1FE1-6142-E62A-A6084214CAD1}"/>
              </a:ext>
            </a:extLst>
          </p:cNvPr>
          <p:cNvSpPr txBox="1"/>
          <p:nvPr/>
        </p:nvSpPr>
        <p:spPr>
          <a:xfrm>
            <a:off x="9904412" y="618393"/>
            <a:ext cx="1967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Tsc</a:t>
            </a:r>
            <a:r>
              <a:rPr lang="es-ES" dirty="0"/>
              <a:t> + </a:t>
            </a:r>
            <a:r>
              <a:rPr lang="es-ES" dirty="0" err="1"/>
              <a:t>Webpack</a:t>
            </a:r>
            <a:endParaRPr lang="es-ES" dirty="0"/>
          </a:p>
          <a:p>
            <a:endParaRPr lang="es-ES" dirty="0"/>
          </a:p>
        </p:txBody>
      </p: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DDA2AFF1-9165-C071-A343-CB41EF38B6D8}"/>
              </a:ext>
            </a:extLst>
          </p:cNvPr>
          <p:cNvCxnSpPr>
            <a:cxnSpLocks/>
          </p:cNvCxnSpPr>
          <p:nvPr/>
        </p:nvCxnSpPr>
        <p:spPr>
          <a:xfrm flipV="1">
            <a:off x="8075612" y="3604759"/>
            <a:ext cx="0" cy="3337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1E51F914-C7F3-715F-971D-A6D2DDBAC182}"/>
              </a:ext>
            </a:extLst>
          </p:cNvPr>
          <p:cNvCxnSpPr>
            <a:cxnSpLocks/>
          </p:cNvCxnSpPr>
          <p:nvPr/>
        </p:nvCxnSpPr>
        <p:spPr>
          <a:xfrm flipV="1">
            <a:off x="8228012" y="3604759"/>
            <a:ext cx="0" cy="19295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91893DAD-F4F5-415B-457A-5A587874D988}"/>
              </a:ext>
            </a:extLst>
          </p:cNvPr>
          <p:cNvCxnSpPr>
            <a:cxnSpLocks/>
          </p:cNvCxnSpPr>
          <p:nvPr/>
        </p:nvCxnSpPr>
        <p:spPr>
          <a:xfrm flipV="1">
            <a:off x="8609012" y="533400"/>
            <a:ext cx="0" cy="50099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07854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86DFF-8CA8-DFA4-D71F-68CA3858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D04A74A-8ECD-5D87-3DFC-11EA014BE536}"/>
              </a:ext>
            </a:extLst>
          </p:cNvPr>
          <p:cNvSpPr txBox="1"/>
          <p:nvPr/>
        </p:nvSpPr>
        <p:spPr>
          <a:xfrm>
            <a:off x="7008812" y="26958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B5A68F-21B1-74BF-30EF-97DAD6CEEC33}"/>
              </a:ext>
            </a:extLst>
          </p:cNvPr>
          <p:cNvSpPr txBox="1"/>
          <p:nvPr/>
        </p:nvSpPr>
        <p:spPr>
          <a:xfrm>
            <a:off x="7161212" y="28482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DBE5784-7C21-B991-1CCD-6D4A35336494}"/>
              </a:ext>
            </a:extLst>
          </p:cNvPr>
          <p:cNvSpPr txBox="1"/>
          <p:nvPr/>
        </p:nvSpPr>
        <p:spPr>
          <a:xfrm>
            <a:off x="7313612" y="30006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79478BD-894A-3A0F-CE7C-F15BB4BA42AB}"/>
              </a:ext>
            </a:extLst>
          </p:cNvPr>
          <p:cNvSpPr txBox="1"/>
          <p:nvPr/>
        </p:nvSpPr>
        <p:spPr>
          <a:xfrm>
            <a:off x="7466012" y="31530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26F898C-3CAD-3B1E-C181-41E66133B9F2}"/>
              </a:ext>
            </a:extLst>
          </p:cNvPr>
          <p:cNvSpPr txBox="1"/>
          <p:nvPr/>
        </p:nvSpPr>
        <p:spPr>
          <a:xfrm>
            <a:off x="7618412" y="33054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79DB47C-4011-E3CF-B3E0-7DF257DDEE33}"/>
              </a:ext>
            </a:extLst>
          </p:cNvPr>
          <p:cNvSpPr txBox="1"/>
          <p:nvPr/>
        </p:nvSpPr>
        <p:spPr>
          <a:xfrm>
            <a:off x="7770812" y="3457854"/>
            <a:ext cx="182880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80E568C-053C-314C-08D7-27B370CA205F}"/>
              </a:ext>
            </a:extLst>
          </p:cNvPr>
          <p:cNvSpPr txBox="1"/>
          <p:nvPr/>
        </p:nvSpPr>
        <p:spPr>
          <a:xfrm>
            <a:off x="7923212" y="36102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DA152EC-1B1B-075D-D840-13E865027891}"/>
              </a:ext>
            </a:extLst>
          </p:cNvPr>
          <p:cNvSpPr txBox="1"/>
          <p:nvPr/>
        </p:nvSpPr>
        <p:spPr>
          <a:xfrm>
            <a:off x="8075612" y="37626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4D019AE-C943-413B-1762-72A32A07BA56}"/>
              </a:ext>
            </a:extLst>
          </p:cNvPr>
          <p:cNvSpPr txBox="1"/>
          <p:nvPr/>
        </p:nvSpPr>
        <p:spPr>
          <a:xfrm>
            <a:off x="8228012" y="39150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76B9E99-EA47-400B-BC62-FF81E97BA101}"/>
              </a:ext>
            </a:extLst>
          </p:cNvPr>
          <p:cNvSpPr txBox="1"/>
          <p:nvPr/>
        </p:nvSpPr>
        <p:spPr>
          <a:xfrm>
            <a:off x="8380412" y="40674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9F73DBC-8292-62F7-3F3E-2EA71F8195B8}"/>
              </a:ext>
            </a:extLst>
          </p:cNvPr>
          <p:cNvSpPr txBox="1"/>
          <p:nvPr/>
        </p:nvSpPr>
        <p:spPr>
          <a:xfrm>
            <a:off x="8532812" y="42198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486175B-2C13-1D1B-5EBE-6703265DBE9D}"/>
              </a:ext>
            </a:extLst>
          </p:cNvPr>
          <p:cNvSpPr txBox="1"/>
          <p:nvPr/>
        </p:nvSpPr>
        <p:spPr>
          <a:xfrm>
            <a:off x="8685212" y="43722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3E2B3F4-A6C7-B712-D558-04F344ADF256}"/>
              </a:ext>
            </a:extLst>
          </p:cNvPr>
          <p:cNvSpPr txBox="1"/>
          <p:nvPr/>
        </p:nvSpPr>
        <p:spPr>
          <a:xfrm>
            <a:off x="8837612" y="45246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9E34D48-0274-89CC-5147-C7B05D437039}"/>
              </a:ext>
            </a:extLst>
          </p:cNvPr>
          <p:cNvSpPr txBox="1"/>
          <p:nvPr/>
        </p:nvSpPr>
        <p:spPr>
          <a:xfrm>
            <a:off x="8990012" y="4677054"/>
            <a:ext cx="18288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3080EFC-DFA6-C795-B3EB-9EC0BE6A1917}"/>
              </a:ext>
            </a:extLst>
          </p:cNvPr>
          <p:cNvSpPr txBox="1"/>
          <p:nvPr/>
        </p:nvSpPr>
        <p:spPr>
          <a:xfrm>
            <a:off x="747939" y="39150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BROWSER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903E5FD-ACCB-407D-B0DC-A5D9FB7DB01B}"/>
              </a:ext>
            </a:extLst>
          </p:cNvPr>
          <p:cNvSpPr txBox="1"/>
          <p:nvPr/>
        </p:nvSpPr>
        <p:spPr>
          <a:xfrm>
            <a:off x="5200195" y="4189970"/>
            <a:ext cx="18288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html</a:t>
            </a:r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2BAF246-198A-A58B-6F44-8400E33D3886}"/>
              </a:ext>
            </a:extLst>
          </p:cNvPr>
          <p:cNvSpPr txBox="1"/>
          <p:nvPr/>
        </p:nvSpPr>
        <p:spPr>
          <a:xfrm>
            <a:off x="8977538" y="5440502"/>
            <a:ext cx="18288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css</a:t>
            </a:r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41D6C29-9368-24FC-F66F-2CE64DD99D2B}"/>
              </a:ext>
            </a:extLst>
          </p:cNvPr>
          <p:cNvSpPr txBox="1"/>
          <p:nvPr/>
        </p:nvSpPr>
        <p:spPr>
          <a:xfrm>
            <a:off x="9129938" y="5592902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css</a:t>
            </a:r>
            <a:endParaRPr lang="es-ES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AB4ABFA-CEA9-3874-EA79-5AB02625505A}"/>
              </a:ext>
            </a:extLst>
          </p:cNvPr>
          <p:cNvSpPr txBox="1"/>
          <p:nvPr/>
        </p:nvSpPr>
        <p:spPr>
          <a:xfrm>
            <a:off x="9282338" y="5745302"/>
            <a:ext cx="18288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css</a:t>
            </a:r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ADBEB41-0FA5-6996-94D7-CC1254426271}"/>
              </a:ext>
            </a:extLst>
          </p:cNvPr>
          <p:cNvSpPr txBox="1"/>
          <p:nvPr/>
        </p:nvSpPr>
        <p:spPr>
          <a:xfrm>
            <a:off x="9434738" y="5897702"/>
            <a:ext cx="18288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css</a:t>
            </a:r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EA8010D-D11E-6C4F-9B81-78D9761C04EE}"/>
              </a:ext>
            </a:extLst>
          </p:cNvPr>
          <p:cNvSpPr txBox="1"/>
          <p:nvPr/>
        </p:nvSpPr>
        <p:spPr>
          <a:xfrm>
            <a:off x="9587138" y="6050102"/>
            <a:ext cx="18288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css</a:t>
            </a:r>
            <a:endParaRPr lang="es-ES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D31D302-ECF3-E028-010B-A6350488ADC0}"/>
              </a:ext>
            </a:extLst>
          </p:cNvPr>
          <p:cNvSpPr txBox="1"/>
          <p:nvPr/>
        </p:nvSpPr>
        <p:spPr>
          <a:xfrm>
            <a:off x="5352595" y="4342370"/>
            <a:ext cx="18288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html</a:t>
            </a:r>
            <a:endParaRPr lang="es-E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7B546E9-6010-6743-BB28-45A07AE9931C}"/>
              </a:ext>
            </a:extLst>
          </p:cNvPr>
          <p:cNvSpPr txBox="1"/>
          <p:nvPr/>
        </p:nvSpPr>
        <p:spPr>
          <a:xfrm>
            <a:off x="5504995" y="4494770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html</a:t>
            </a:r>
            <a:endParaRPr lang="es-E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8BE702C-4785-ACBA-0B72-FE3D17860D89}"/>
              </a:ext>
            </a:extLst>
          </p:cNvPr>
          <p:cNvSpPr txBox="1"/>
          <p:nvPr/>
        </p:nvSpPr>
        <p:spPr>
          <a:xfrm>
            <a:off x="5657395" y="4647170"/>
            <a:ext cx="18288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html</a:t>
            </a:r>
            <a:endParaRPr lang="es-ES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89F6EF1-E522-14AF-7A3F-DE89EE341D19}"/>
              </a:ext>
            </a:extLst>
          </p:cNvPr>
          <p:cNvSpPr txBox="1"/>
          <p:nvPr/>
        </p:nvSpPr>
        <p:spPr>
          <a:xfrm>
            <a:off x="5809795" y="4799570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html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9489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86DFF-8CA8-DFA4-D71F-68CA3858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D04A74A-8ECD-5D87-3DFC-11EA014BE536}"/>
              </a:ext>
            </a:extLst>
          </p:cNvPr>
          <p:cNvSpPr txBox="1"/>
          <p:nvPr/>
        </p:nvSpPr>
        <p:spPr>
          <a:xfrm>
            <a:off x="7008812" y="26958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3080EFC-DFA6-C795-B3EB-9EC0BE6A1917}"/>
              </a:ext>
            </a:extLst>
          </p:cNvPr>
          <p:cNvSpPr txBox="1"/>
          <p:nvPr/>
        </p:nvSpPr>
        <p:spPr>
          <a:xfrm>
            <a:off x="747939" y="3915054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BROWSER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2BAF246-198A-A58B-6F44-8400E33D3886}"/>
              </a:ext>
            </a:extLst>
          </p:cNvPr>
          <p:cNvSpPr txBox="1"/>
          <p:nvPr/>
        </p:nvSpPr>
        <p:spPr>
          <a:xfrm>
            <a:off x="7301138" y="2935607"/>
            <a:ext cx="18288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css</a:t>
            </a:r>
            <a:endParaRPr lang="es-ES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89F6EF1-E522-14AF-7A3F-DE89EE341D19}"/>
              </a:ext>
            </a:extLst>
          </p:cNvPr>
          <p:cNvSpPr txBox="1"/>
          <p:nvPr/>
        </p:nvSpPr>
        <p:spPr>
          <a:xfrm>
            <a:off x="6266995" y="3175360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html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9BEDA80-AD25-1FC3-6984-6B31AAD0551B}"/>
              </a:ext>
            </a:extLst>
          </p:cNvPr>
          <p:cNvSpPr txBox="1"/>
          <p:nvPr/>
        </p:nvSpPr>
        <p:spPr>
          <a:xfrm>
            <a:off x="7445829" y="4055147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0EBADA-F7AA-07AE-D5C9-B9CEB96065FC}"/>
              </a:ext>
            </a:extLst>
          </p:cNvPr>
          <p:cNvSpPr txBox="1"/>
          <p:nvPr/>
        </p:nvSpPr>
        <p:spPr>
          <a:xfrm>
            <a:off x="7738155" y="4294900"/>
            <a:ext cx="18288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css</a:t>
            </a:r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DF2B40D-B391-05C3-99EF-C369915F6F5D}"/>
              </a:ext>
            </a:extLst>
          </p:cNvPr>
          <p:cNvSpPr txBox="1"/>
          <p:nvPr/>
        </p:nvSpPr>
        <p:spPr>
          <a:xfrm>
            <a:off x="6704012" y="4534653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html</a:t>
            </a:r>
            <a:endParaRPr lang="es-E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9CDEA9D-0E65-6990-8366-16A4BE3A100E}"/>
              </a:ext>
            </a:extLst>
          </p:cNvPr>
          <p:cNvSpPr txBox="1"/>
          <p:nvPr/>
        </p:nvSpPr>
        <p:spPr>
          <a:xfrm>
            <a:off x="7273246" y="5669397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js</a:t>
            </a:r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2D7DC81-D730-98D7-2744-5B160CC55874}"/>
              </a:ext>
            </a:extLst>
          </p:cNvPr>
          <p:cNvSpPr txBox="1"/>
          <p:nvPr/>
        </p:nvSpPr>
        <p:spPr>
          <a:xfrm>
            <a:off x="7565572" y="5909150"/>
            <a:ext cx="18288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css</a:t>
            </a:r>
            <a:endParaRPr lang="es-ES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88A192A-D91C-B34C-D7AE-25FEC77EA316}"/>
              </a:ext>
            </a:extLst>
          </p:cNvPr>
          <p:cNvSpPr txBox="1"/>
          <p:nvPr/>
        </p:nvSpPr>
        <p:spPr>
          <a:xfrm>
            <a:off x="6531429" y="6148903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html</a:t>
            </a:r>
            <a:endParaRPr lang="es-ES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B6F0540-DEF7-4516-5CFD-194FBD6984C3}"/>
              </a:ext>
            </a:extLst>
          </p:cNvPr>
          <p:cNvSpPr txBox="1"/>
          <p:nvPr/>
        </p:nvSpPr>
        <p:spPr>
          <a:xfrm>
            <a:off x="4570412" y="3925568"/>
            <a:ext cx="1311728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WebPack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9492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4252D4-47DC-4B75-85B9-CE4FE3DAE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Angular 10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E4E163-5E20-44F8-9B60-A88930E5E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Language</a:t>
            </a:r>
            <a:r>
              <a:rPr lang="es-ES" dirty="0"/>
              <a:t> </a:t>
            </a:r>
            <a:r>
              <a:rPr lang="es-ES" dirty="0" err="1"/>
              <a:t>Service</a:t>
            </a:r>
            <a:endParaRPr lang="es-ES" dirty="0"/>
          </a:p>
          <a:p>
            <a:r>
              <a:rPr lang="es-ES" dirty="0" err="1"/>
              <a:t>Language</a:t>
            </a:r>
            <a:r>
              <a:rPr lang="es-ES" dirty="0"/>
              <a:t> </a:t>
            </a:r>
            <a:r>
              <a:rPr lang="es-ES" dirty="0" err="1"/>
              <a:t>Service</a:t>
            </a:r>
            <a:endParaRPr lang="es-ES" dirty="0"/>
          </a:p>
          <a:p>
            <a:r>
              <a:rPr lang="es-ES" dirty="0" err="1"/>
              <a:t>Compiler</a:t>
            </a:r>
            <a:r>
              <a:rPr lang="es-ES" dirty="0"/>
              <a:t> </a:t>
            </a:r>
            <a:r>
              <a:rPr lang="es-ES" dirty="0" err="1"/>
              <a:t>update</a:t>
            </a:r>
            <a:endParaRPr lang="es-ES" dirty="0"/>
          </a:p>
          <a:p>
            <a:r>
              <a:rPr lang="es-ES" dirty="0"/>
              <a:t>Solid </a:t>
            </a:r>
            <a:r>
              <a:rPr lang="es-ES" dirty="0" err="1"/>
              <a:t>Optional</a:t>
            </a:r>
            <a:r>
              <a:rPr lang="es-ES" dirty="0"/>
              <a:t> </a:t>
            </a:r>
            <a:r>
              <a:rPr lang="es-ES" dirty="0" err="1"/>
              <a:t>Settings</a:t>
            </a:r>
            <a:endParaRPr lang="es-ES" dirty="0"/>
          </a:p>
          <a:p>
            <a:r>
              <a:rPr lang="es-ES" dirty="0" err="1"/>
              <a:t>Ngcc</a:t>
            </a:r>
            <a:r>
              <a:rPr lang="es-ES" dirty="0"/>
              <a:t> </a:t>
            </a:r>
          </a:p>
          <a:p>
            <a:r>
              <a:rPr lang="es-ES" dirty="0"/>
              <a:t>Performance </a:t>
            </a:r>
            <a:r>
              <a:rPr lang="es-ES" dirty="0" err="1"/>
              <a:t>improvement</a:t>
            </a:r>
            <a:endParaRPr lang="es-ES" dirty="0"/>
          </a:p>
          <a:p>
            <a:r>
              <a:rPr lang="es-ES" dirty="0" err="1"/>
              <a:t>TypeScript</a:t>
            </a:r>
            <a:r>
              <a:rPr lang="es-ES" dirty="0"/>
              <a:t> 3.9, </a:t>
            </a:r>
            <a:r>
              <a:rPr lang="es-ES" dirty="0" err="1"/>
              <a:t>TSLib</a:t>
            </a:r>
            <a:r>
              <a:rPr lang="es-ES" dirty="0"/>
              <a:t> 2.9 &amp; </a:t>
            </a:r>
            <a:r>
              <a:rPr lang="es-ES" dirty="0" err="1"/>
              <a:t>TSLint</a:t>
            </a:r>
            <a:r>
              <a:rPr lang="es-ES" dirty="0"/>
              <a:t> v6</a:t>
            </a:r>
          </a:p>
          <a:p>
            <a:r>
              <a:rPr lang="es-ES" dirty="0"/>
              <a:t>Local performance</a:t>
            </a:r>
          </a:p>
          <a:p>
            <a:r>
              <a:rPr lang="es-ES" dirty="0" err="1"/>
              <a:t>Converts</a:t>
            </a:r>
            <a:r>
              <a:rPr lang="es-ES" dirty="0"/>
              <a:t> pre-</a:t>
            </a:r>
            <a:r>
              <a:rPr lang="es-ES" dirty="0" err="1"/>
              <a:t>Ivy</a:t>
            </a:r>
            <a:r>
              <a:rPr lang="es-ES" dirty="0"/>
              <a:t> </a:t>
            </a:r>
            <a:r>
              <a:rPr lang="es-ES" dirty="0" err="1"/>
              <a:t>code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E7D23A-F133-4ADD-AA24-F5CF96EF830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72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C014DD1E-5D91-48A3-AD6D-45FBA980D10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507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3B58D-FEE4-49BF-A475-2A166C51E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Angular 11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97CC36-1F7F-4835-8DAC-49F67D0C8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Updated</a:t>
            </a:r>
            <a:r>
              <a:rPr lang="es-ES" dirty="0"/>
              <a:t> Hot Module </a:t>
            </a:r>
            <a:r>
              <a:rPr lang="es-ES" dirty="0" err="1"/>
              <a:t>Replacement</a:t>
            </a:r>
            <a:r>
              <a:rPr lang="es-ES" dirty="0"/>
              <a:t> (HMR) </a:t>
            </a:r>
            <a:r>
              <a:rPr lang="es-ES" dirty="0" err="1"/>
              <a:t>Support</a:t>
            </a:r>
            <a:r>
              <a:rPr lang="es-ES" dirty="0"/>
              <a:t>. ...</a:t>
            </a:r>
          </a:p>
          <a:p>
            <a:r>
              <a:rPr lang="es-ES" dirty="0" err="1"/>
              <a:t>Updates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Operation</a:t>
            </a:r>
            <a:r>
              <a:rPr lang="es-ES" dirty="0"/>
              <a:t> </a:t>
            </a:r>
            <a:r>
              <a:rPr lang="es-ES" dirty="0" err="1"/>
              <a:t>Byelog</a:t>
            </a:r>
            <a:r>
              <a:rPr lang="es-ES" dirty="0"/>
              <a:t>. ...</a:t>
            </a:r>
          </a:p>
          <a:p>
            <a:r>
              <a:rPr lang="es-ES" dirty="0" err="1"/>
              <a:t>Automatic</a:t>
            </a:r>
            <a:r>
              <a:rPr lang="es-ES" dirty="0"/>
              <a:t> </a:t>
            </a:r>
            <a:r>
              <a:rPr lang="es-ES" dirty="0" err="1"/>
              <a:t>Inlining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Fonts</a:t>
            </a:r>
            <a:r>
              <a:rPr lang="es-ES" dirty="0"/>
              <a:t>. ...</a:t>
            </a:r>
          </a:p>
          <a:p>
            <a:r>
              <a:rPr lang="es-ES" dirty="0" err="1"/>
              <a:t>Component</a:t>
            </a:r>
            <a:r>
              <a:rPr lang="es-ES" dirty="0"/>
              <a:t> Test </a:t>
            </a:r>
            <a:r>
              <a:rPr lang="es-ES" dirty="0" err="1"/>
              <a:t>Harnesses</a:t>
            </a:r>
            <a:r>
              <a:rPr lang="es-ES" dirty="0"/>
              <a:t>. ...</a:t>
            </a:r>
          </a:p>
          <a:p>
            <a:r>
              <a:rPr lang="es-ES" dirty="0" err="1"/>
              <a:t>Updated</a:t>
            </a:r>
            <a:r>
              <a:rPr lang="es-ES" dirty="0"/>
              <a:t> </a:t>
            </a:r>
            <a:r>
              <a:rPr lang="es-ES" dirty="0" err="1"/>
              <a:t>Language</a:t>
            </a:r>
            <a:r>
              <a:rPr lang="es-ES" dirty="0"/>
              <a:t> </a:t>
            </a:r>
            <a:r>
              <a:rPr lang="es-ES" dirty="0" err="1"/>
              <a:t>Service</a:t>
            </a:r>
            <a:r>
              <a:rPr lang="es-ES" dirty="0"/>
              <a:t> </a:t>
            </a:r>
            <a:r>
              <a:rPr lang="es-ES" dirty="0" err="1"/>
              <a:t>Preview</a:t>
            </a:r>
            <a:r>
              <a:rPr lang="es-ES" dirty="0"/>
              <a:t>. ...</a:t>
            </a:r>
          </a:p>
          <a:p>
            <a:r>
              <a:rPr lang="es-ES" dirty="0" err="1"/>
              <a:t>Faster</a:t>
            </a:r>
            <a:r>
              <a:rPr lang="es-ES" dirty="0"/>
              <a:t> </a:t>
            </a:r>
            <a:r>
              <a:rPr lang="es-ES" dirty="0" err="1"/>
              <a:t>Builds</a:t>
            </a:r>
            <a:r>
              <a:rPr lang="es-ES" dirty="0"/>
              <a:t>. ...</a:t>
            </a:r>
          </a:p>
          <a:p>
            <a:r>
              <a:rPr lang="es-ES" dirty="0"/>
              <a:t>Experimental </a:t>
            </a:r>
            <a:r>
              <a:rPr lang="es-ES" dirty="0" err="1"/>
              <a:t>Webpack</a:t>
            </a:r>
            <a:r>
              <a:rPr lang="es-ES" dirty="0"/>
              <a:t> 5 </a:t>
            </a:r>
            <a:r>
              <a:rPr lang="es-ES" dirty="0" err="1"/>
              <a:t>Support</a:t>
            </a:r>
            <a:r>
              <a:rPr lang="es-ES" dirty="0"/>
              <a:t>. ...</a:t>
            </a:r>
          </a:p>
          <a:p>
            <a:r>
              <a:rPr lang="es-ES" dirty="0" err="1"/>
              <a:t>Moving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ESLint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17C88A-24C1-465D-A78E-1439B2C2EA0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72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C014DD1E-5D91-48A3-AD6D-45FBA980D10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82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603FF-B60C-4624-91FB-F8E51D03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12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EE4598-B064-46A9-A51F-964737DA4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Ivy Everywhere. Angular 12 is the step in the Angular revolution</a:t>
            </a:r>
          </a:p>
          <a:p>
            <a:r>
              <a:rPr lang="en-US" dirty="0"/>
              <a:t>Migrating from legacy i18n message IDs</a:t>
            </a:r>
          </a:p>
          <a:p>
            <a:r>
              <a:rPr lang="en-US" dirty="0"/>
              <a:t>Adios Protractor</a:t>
            </a:r>
          </a:p>
          <a:p>
            <a:r>
              <a:rPr lang="en-US" dirty="0"/>
              <a:t>Deprecating support for IE11</a:t>
            </a:r>
          </a:p>
          <a:p>
            <a:r>
              <a:rPr lang="en-US" dirty="0" err="1"/>
              <a:t>Nullish</a:t>
            </a:r>
            <a:r>
              <a:rPr lang="en-US" dirty="0"/>
              <a:t> Coalescing</a:t>
            </a:r>
          </a:p>
          <a:p>
            <a:r>
              <a:rPr lang="en-US" dirty="0"/>
              <a:t>Improvements around Styles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35DC11-862C-47E3-B303-7F80C27826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72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C014DD1E-5D91-48A3-AD6D-45FBA980D10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562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B2FD6-9816-4023-9447-082BD9B2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13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45CB65-314F-4D0A-A37A-DB08C467D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 Engine is no longer available. </a:t>
            </a:r>
          </a:p>
          <a:p>
            <a:r>
              <a:rPr lang="en-US" dirty="0"/>
              <a:t>Changes to the Angular Package Format (APF)</a:t>
            </a:r>
          </a:p>
          <a:p>
            <a:r>
              <a:rPr lang="en-US" dirty="0">
                <a:solidFill>
                  <a:srgbClr val="FF0000"/>
                </a:solidFill>
              </a:rPr>
              <a:t>IE 11 support removed. </a:t>
            </a:r>
          </a:p>
          <a:p>
            <a:r>
              <a:rPr lang="en-US" dirty="0"/>
              <a:t>TypeScript 4.4 support. </a:t>
            </a:r>
          </a:p>
          <a:p>
            <a:r>
              <a:rPr lang="en-US" dirty="0"/>
              <a:t>Node. </a:t>
            </a:r>
          </a:p>
          <a:p>
            <a:r>
              <a:rPr lang="en-US" dirty="0"/>
              <a:t>Version 7.4 of </a:t>
            </a:r>
            <a:r>
              <a:rPr lang="en-US" dirty="0" err="1"/>
              <a:t>RxJS</a:t>
            </a:r>
            <a:r>
              <a:rPr lang="en-US" dirty="0"/>
              <a:t>. </a:t>
            </a:r>
          </a:p>
          <a:p>
            <a:r>
              <a:rPr lang="en-US" dirty="0"/>
              <a:t>Router changes. </a:t>
            </a:r>
          </a:p>
          <a:p>
            <a:r>
              <a:rPr lang="en-US" dirty="0"/>
              <a:t>Angular CLI enhancements.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01971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Angular?</a:t>
            </a:r>
          </a:p>
        </p:txBody>
      </p:sp>
      <p:sp>
        <p:nvSpPr>
          <p:cNvPr id="6" name="Subtitl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Fuzz Is All About</a:t>
            </a:r>
          </a:p>
        </p:txBody>
      </p:sp>
    </p:spTree>
    <p:extLst>
      <p:ext uri="{BB962C8B-B14F-4D97-AF65-F5344CB8AC3E}">
        <p14:creationId xmlns:p14="http://schemas.microsoft.com/office/powerpoint/2010/main" val="1447998527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Angular?</a:t>
            </a:r>
            <a:endParaRPr lang="bg-BG" dirty="0"/>
          </a:p>
        </p:txBody>
      </p:sp>
      <p:sp>
        <p:nvSpPr>
          <p:cNvPr id="465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Angular is:</a:t>
            </a:r>
          </a:p>
          <a:p>
            <a:pPr lvl="1"/>
            <a:r>
              <a:rPr lang="en-US" dirty="0"/>
              <a:t>Easy to learn</a:t>
            </a:r>
          </a:p>
          <a:p>
            <a:pPr lvl="1"/>
            <a:r>
              <a:rPr lang="en-US" dirty="0"/>
              <a:t>Modern codebase</a:t>
            </a:r>
          </a:p>
          <a:p>
            <a:pPr lvl="1"/>
            <a:r>
              <a:rPr lang="en-US" dirty="0"/>
              <a:t>Component-based</a:t>
            </a:r>
          </a:p>
          <a:p>
            <a:pPr lvl="1"/>
            <a:r>
              <a:rPr lang="en-US" dirty="0"/>
              <a:t>Uses TypeScript</a:t>
            </a:r>
          </a:p>
          <a:p>
            <a:pPr lvl="1"/>
            <a:r>
              <a:rPr lang="en-US" dirty="0"/>
              <a:t>IDE friendly</a:t>
            </a:r>
          </a:p>
          <a:p>
            <a:pPr lvl="1"/>
            <a:r>
              <a:rPr lang="en-US" dirty="0"/>
              <a:t>Performance oriented</a:t>
            </a:r>
          </a:p>
          <a:p>
            <a:pPr lvl="1"/>
            <a:r>
              <a:rPr lang="en-US" dirty="0"/>
              <a:t>Mobile first</a:t>
            </a:r>
          </a:p>
        </p:txBody>
      </p:sp>
    </p:spTree>
    <p:extLst>
      <p:ext uri="{BB962C8B-B14F-4D97-AF65-F5344CB8AC3E}">
        <p14:creationId xmlns:p14="http://schemas.microsoft.com/office/powerpoint/2010/main" val="84055486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Angular?</a:t>
            </a:r>
            <a:endParaRPr lang="bg-BG" dirty="0"/>
          </a:p>
        </p:txBody>
      </p:sp>
      <p:sp>
        <p:nvSpPr>
          <p:cNvPr id="465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Reasons to use Angular:</a:t>
            </a:r>
          </a:p>
          <a:p>
            <a:pPr lvl="1"/>
            <a:r>
              <a:rPr lang="en-US" dirty="0"/>
              <a:t>Solid community</a:t>
            </a:r>
          </a:p>
          <a:p>
            <a:pPr lvl="1"/>
            <a:r>
              <a:rPr lang="en-US" dirty="0"/>
              <a:t>Backed by Google</a:t>
            </a:r>
          </a:p>
          <a:p>
            <a:pPr lvl="1"/>
            <a:r>
              <a:rPr lang="en-US" dirty="0"/>
              <a:t>MVC pattern</a:t>
            </a:r>
          </a:p>
          <a:p>
            <a:pPr lvl="1"/>
            <a:r>
              <a:rPr lang="en-US" dirty="0"/>
              <a:t>Good flexibility</a:t>
            </a:r>
          </a:p>
          <a:p>
            <a:pPr lvl="1"/>
            <a:r>
              <a:rPr lang="en-US" dirty="0"/>
              <a:t>Dependency injection</a:t>
            </a:r>
          </a:p>
          <a:p>
            <a:pPr lvl="1"/>
            <a:r>
              <a:rPr lang="en-US" dirty="0"/>
              <a:t>Saves a lot of time</a:t>
            </a:r>
          </a:p>
          <a:p>
            <a:pPr lvl="1"/>
            <a:r>
              <a:rPr lang="en-US" dirty="0"/>
              <a:t>Effective data binding</a:t>
            </a:r>
          </a:p>
        </p:txBody>
      </p:sp>
    </p:spTree>
    <p:extLst>
      <p:ext uri="{BB962C8B-B14F-4D97-AF65-F5344CB8AC3E}">
        <p14:creationId xmlns:p14="http://schemas.microsoft.com/office/powerpoint/2010/main" val="331856188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use Angular?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Rapid development &amp; Code Generation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Code Organization &amp; Productivity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Dynamic Content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dirty="0"/>
              <a:t>Cross Platform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b="1" dirty="0"/>
              <a:t>Unit Testing Ready</a:t>
            </a:r>
          </a:p>
          <a:p>
            <a:pPr marL="571329" indent="-571329"/>
            <a:r>
              <a:rPr lang="en-US" dirty="0"/>
              <a:t>Easy to learn</a:t>
            </a:r>
          </a:p>
          <a:p>
            <a:pPr marL="571329" indent="-571329"/>
            <a:r>
              <a:rPr lang="en-US" dirty="0"/>
              <a:t>Modern codebase</a:t>
            </a:r>
          </a:p>
          <a:p>
            <a:pPr marL="571329" indent="-571329"/>
            <a:r>
              <a:rPr lang="en-US" b="1" dirty="0"/>
              <a:t>Component-based</a:t>
            </a:r>
          </a:p>
          <a:p>
            <a:pPr marL="571329" indent="-571329"/>
            <a:r>
              <a:rPr lang="en-US" b="1" dirty="0">
                <a:solidFill>
                  <a:srgbClr val="FF0000"/>
                </a:solidFill>
              </a:rPr>
              <a:t>Uses TypeScript</a:t>
            </a:r>
          </a:p>
          <a:p>
            <a:pPr marL="571329" indent="-571329"/>
            <a:endParaRPr lang="en-US" dirty="0"/>
          </a:p>
          <a:p>
            <a:pPr marL="571329" indent="-571329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24F1D6-32DF-4E54-82F5-1C65582E6B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71329" indent="-571329"/>
            <a:r>
              <a:rPr lang="en-US" dirty="0"/>
              <a:t>IDE friendly</a:t>
            </a:r>
          </a:p>
          <a:p>
            <a:pPr marL="571329" indent="-571329"/>
            <a:r>
              <a:rPr lang="en-US" dirty="0"/>
              <a:t>Performance oriented</a:t>
            </a:r>
          </a:p>
          <a:p>
            <a:pPr marL="571329" indent="-571329"/>
            <a:r>
              <a:rPr lang="en-US" b="1" dirty="0"/>
              <a:t>Mobile first</a:t>
            </a:r>
          </a:p>
          <a:p>
            <a:pPr marL="571329" indent="-571329"/>
            <a:r>
              <a:rPr lang="en-US" dirty="0"/>
              <a:t>Solid community</a:t>
            </a:r>
          </a:p>
          <a:p>
            <a:pPr marL="571329" indent="-571329"/>
            <a:r>
              <a:rPr lang="en-US" dirty="0"/>
              <a:t>Backed by Google</a:t>
            </a:r>
          </a:p>
          <a:p>
            <a:pPr marL="571329" indent="-571329"/>
            <a:r>
              <a:rPr lang="en-US" b="1" dirty="0"/>
              <a:t>MVC pattern</a:t>
            </a:r>
          </a:p>
          <a:p>
            <a:pPr marL="571329" indent="-571329"/>
            <a:r>
              <a:rPr lang="en-US" dirty="0"/>
              <a:t>Good flexibility</a:t>
            </a:r>
          </a:p>
          <a:p>
            <a:pPr marL="571329" indent="-571329"/>
            <a:r>
              <a:rPr lang="en-US" b="1" dirty="0"/>
              <a:t>Dependency injection</a:t>
            </a:r>
          </a:p>
          <a:p>
            <a:pPr marL="571329" indent="-571329"/>
            <a:r>
              <a:rPr lang="en-US" dirty="0"/>
              <a:t>Saves a lot of time</a:t>
            </a:r>
          </a:p>
          <a:p>
            <a:pPr marL="571329" indent="-571329"/>
            <a:r>
              <a:rPr lang="en-US" b="1" dirty="0">
                <a:solidFill>
                  <a:srgbClr val="FF0000"/>
                </a:solidFill>
              </a:rPr>
              <a:t>Effective data binding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8088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857" y="1709641"/>
            <a:ext cx="8508969" cy="4325562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F6D93BD3-A460-4CC6-B0F1-67956C6B6A9F}"/>
              </a:ext>
            </a:extLst>
          </p:cNvPr>
          <p:cNvSpPr txBox="1"/>
          <p:nvPr/>
        </p:nvSpPr>
        <p:spPr>
          <a:xfrm>
            <a:off x="3656012" y="533400"/>
            <a:ext cx="4431804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-197" dirty="0">
                <a:solidFill>
                  <a:srgbClr val="3E82F7"/>
                </a:solidFill>
                <a:latin typeface="Trebuchet MS"/>
                <a:cs typeface="Trebuchet MS"/>
              </a:rPr>
              <a:t>The </a:t>
            </a:r>
            <a:r>
              <a:rPr sz="5062" b="1" spc="130" dirty="0">
                <a:solidFill>
                  <a:srgbClr val="3E82F7"/>
                </a:solidFill>
                <a:latin typeface="Trebuchet MS"/>
                <a:cs typeface="Trebuchet MS"/>
              </a:rPr>
              <a:t>Big</a:t>
            </a:r>
            <a:r>
              <a:rPr sz="5062" b="1" spc="-383" dirty="0">
                <a:solidFill>
                  <a:srgbClr val="3E82F7"/>
                </a:solidFill>
                <a:latin typeface="Trebuchet MS"/>
                <a:cs typeface="Trebuchet MS"/>
              </a:rPr>
              <a:t> </a:t>
            </a:r>
            <a:r>
              <a:rPr sz="5062" b="1" spc="-116" dirty="0">
                <a:solidFill>
                  <a:srgbClr val="3E82F7"/>
                </a:solidFill>
                <a:latin typeface="Trebuchet MS"/>
                <a:cs typeface="Trebuchet MS"/>
              </a:rPr>
              <a:t>Picture</a:t>
            </a:r>
            <a:endParaRPr sz="5062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96116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Angular</a:t>
            </a:r>
            <a:r>
              <a:rPr lang="da-DK" dirty="0"/>
              <a:t> </a:t>
            </a:r>
            <a:r>
              <a:rPr lang="da-DK" dirty="0" err="1"/>
              <a:t>Modularity</a:t>
            </a:r>
            <a:endParaRPr lang="en-GB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08AA76E-8504-4BC4-88BD-EBE141467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Angular applications are based on Modules.</a:t>
            </a:r>
          </a:p>
          <a:p>
            <a:r>
              <a:rPr lang="da-DK" dirty="0"/>
              <a:t>Angular Modules helps organizing the application </a:t>
            </a:r>
            <a:r>
              <a:rPr lang="da-DK" dirty="0">
                <a:solidFill>
                  <a:srgbClr val="FF0000"/>
                </a:solidFill>
              </a:rPr>
              <a:t>into cohesive blocks of functionality.</a:t>
            </a:r>
          </a:p>
          <a:p>
            <a:r>
              <a:rPr lang="da-DK" dirty="0"/>
              <a:t>A module is implemented as a class.</a:t>
            </a:r>
          </a:p>
          <a:p>
            <a:r>
              <a:rPr lang="da-DK" dirty="0"/>
              <a:t>Declares which components, services etc that belongs together.</a:t>
            </a:r>
            <a:endParaRPr lang="en-GB" dirty="0"/>
          </a:p>
          <a:p>
            <a:endParaRPr lang="es-ES" dirty="0"/>
          </a:p>
        </p:txBody>
      </p:sp>
      <p:pic>
        <p:nvPicPr>
          <p:cNvPr id="4" name="Billede 3"/>
          <p:cNvPicPr/>
          <p:nvPr/>
        </p:nvPicPr>
        <p:blipFill rotWithShape="1">
          <a:blip r:embed="rId2"/>
          <a:srcRect l="20773" t="31330" r="62442" b="47684"/>
          <a:stretch/>
        </p:blipFill>
        <p:spPr bwMode="auto">
          <a:xfrm>
            <a:off x="9371012" y="0"/>
            <a:ext cx="2631168" cy="2057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4360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sz="4800" dirty="0" err="1"/>
              <a:t>Angular</a:t>
            </a:r>
            <a:r>
              <a:rPr lang="da-DK" sz="4800" dirty="0"/>
              <a:t> Architecture</a:t>
            </a:r>
            <a:endParaRPr lang="en-GB" sz="48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5E3DE4-AAF4-4203-A085-FBE0A5D84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The architecture diagram identifies the eight main building blocks of an Angular application:</a:t>
            </a:r>
          </a:p>
          <a:p>
            <a:pPr marL="742813" lvl="1" indent="-285750"/>
            <a:r>
              <a:rPr lang="en-GB" sz="2400" dirty="0">
                <a:hlinkClick r:id="rId2"/>
              </a:rPr>
              <a:t>Modules</a:t>
            </a:r>
            <a:endParaRPr lang="en-GB" sz="2400" dirty="0"/>
          </a:p>
          <a:p>
            <a:pPr marL="742813" lvl="1" indent="-285750"/>
            <a:r>
              <a:rPr lang="en-GB" sz="2400" dirty="0">
                <a:hlinkClick r:id="rId3"/>
              </a:rPr>
              <a:t>Components</a:t>
            </a:r>
            <a:endParaRPr lang="en-GB" sz="2400" dirty="0"/>
          </a:p>
          <a:p>
            <a:pPr marL="742813" lvl="1" indent="-285750"/>
            <a:r>
              <a:rPr lang="en-GB" sz="2400" dirty="0">
                <a:hlinkClick r:id="rId4"/>
              </a:rPr>
              <a:t>Templates</a:t>
            </a:r>
            <a:endParaRPr lang="en-GB" sz="2400" dirty="0"/>
          </a:p>
          <a:p>
            <a:pPr marL="742813" lvl="1" indent="-285750"/>
            <a:r>
              <a:rPr lang="en-GB" sz="2400" dirty="0">
                <a:hlinkClick r:id="rId5"/>
              </a:rPr>
              <a:t>Metadata</a:t>
            </a:r>
            <a:endParaRPr lang="en-GB" sz="2400" dirty="0"/>
          </a:p>
          <a:p>
            <a:pPr marL="742813" lvl="1" indent="-285750"/>
            <a:r>
              <a:rPr lang="en-GB" sz="2400" dirty="0">
                <a:hlinkClick r:id="rId6"/>
              </a:rPr>
              <a:t>Data binding</a:t>
            </a:r>
            <a:endParaRPr lang="en-GB" sz="2400" dirty="0"/>
          </a:p>
          <a:p>
            <a:pPr marL="742813" lvl="1" indent="-285750"/>
            <a:r>
              <a:rPr lang="en-GB" sz="2400" dirty="0">
                <a:hlinkClick r:id="rId7"/>
              </a:rPr>
              <a:t>Directives</a:t>
            </a:r>
            <a:endParaRPr lang="en-GB" sz="2400" dirty="0"/>
          </a:p>
          <a:p>
            <a:pPr marL="742813" lvl="1" indent="-285750"/>
            <a:r>
              <a:rPr lang="en-GB" sz="2400" dirty="0">
                <a:hlinkClick r:id="rId8"/>
              </a:rPr>
              <a:t>Services</a:t>
            </a:r>
            <a:endParaRPr lang="en-GB" sz="2400" dirty="0"/>
          </a:p>
          <a:p>
            <a:pPr marL="742813" lvl="1" indent="-285750"/>
            <a:r>
              <a:rPr lang="en-GB" sz="2400" dirty="0">
                <a:hlinkClick r:id="rId9"/>
              </a:rPr>
              <a:t>Dependency injection</a:t>
            </a:r>
            <a:endParaRPr lang="en-GB" sz="2400" dirty="0"/>
          </a:p>
          <a:p>
            <a:pPr>
              <a:lnSpc>
                <a:spcPct val="90000"/>
              </a:lnSpc>
            </a:pPr>
            <a:endParaRPr lang="en-GB" sz="2800" dirty="0"/>
          </a:p>
          <a:p>
            <a:endParaRPr lang="es-ES" dirty="0"/>
          </a:p>
        </p:txBody>
      </p:sp>
      <p:pic>
        <p:nvPicPr>
          <p:cNvPr id="6" name="Billede 5"/>
          <p:cNvPicPr/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779" t="30739" r="24053" b="18128"/>
          <a:stretch/>
        </p:blipFill>
        <p:spPr bwMode="auto">
          <a:xfrm>
            <a:off x="5103812" y="2576787"/>
            <a:ext cx="6553200" cy="41026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5229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12" y="365127"/>
            <a:ext cx="11387844" cy="777874"/>
          </a:xfrm>
        </p:spPr>
        <p:txBody>
          <a:bodyPr/>
          <a:lstStyle/>
          <a:p>
            <a:r>
              <a:rPr lang="en-US" dirty="0"/>
              <a:t>Core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301249" y="2193781"/>
            <a:ext cx="3879718" cy="3381648"/>
          </a:xfrm>
        </p:spPr>
        <p:txBody>
          <a:bodyPr>
            <a:normAutofit/>
          </a:bodyPr>
          <a:lstStyle/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sz="3600" dirty="0"/>
              <a:t>Data Binding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sz="3600" dirty="0"/>
              <a:t>Templating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sz="3600" dirty="0"/>
              <a:t>HTTP Module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0000"/>
                </a:solidFill>
              </a:rPr>
              <a:t>Observables</a:t>
            </a:r>
          </a:p>
          <a:p>
            <a:pPr marL="571329" indent="-571329">
              <a:buFont typeface="Arial" panose="020B0604020202020204" pitchFamily="34" charset="0"/>
              <a:buChar char="•"/>
            </a:pPr>
            <a:r>
              <a:rPr lang="en-US" sz="3600" dirty="0"/>
              <a:t>Forms Module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421530" y="2193782"/>
            <a:ext cx="3879718" cy="3120806"/>
          </a:xfrm>
          <a:prstGeom prst="rect">
            <a:avLst/>
          </a:prstGeom>
        </p:spPr>
        <p:txBody>
          <a:bodyPr vert="horz" wrap="square" lIns="146266" tIns="91416" rIns="146266" bIns="91416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3921" kern="1200" spc="0" baseline="0"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1961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4097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961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48193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7229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509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93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7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1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329" indent="-571329">
              <a:buFont typeface="Arial" pitchFamily="34" charset="0"/>
              <a:buChar char="•"/>
            </a:pPr>
            <a:r>
              <a:rPr lang="en-US" sz="3600" dirty="0">
                <a:latin typeface="+mn-lt"/>
              </a:rPr>
              <a:t>Components</a:t>
            </a:r>
          </a:p>
          <a:p>
            <a:pPr marL="571329" indent="-571329">
              <a:buFont typeface="Arial" pitchFamily="34" charset="0"/>
              <a:buChar char="•"/>
            </a:pPr>
            <a:r>
              <a:rPr lang="en-US" sz="3600" dirty="0">
                <a:latin typeface="+mn-lt"/>
              </a:rPr>
              <a:t>Services</a:t>
            </a:r>
          </a:p>
          <a:p>
            <a:pPr marL="571329" indent="-571329">
              <a:buFont typeface="Arial" pitchFamily="34" charset="0"/>
              <a:buChar char="•"/>
            </a:pPr>
            <a:r>
              <a:rPr lang="en-US" sz="3600" dirty="0">
                <a:latin typeface="+mn-lt"/>
              </a:rPr>
              <a:t>Routing</a:t>
            </a:r>
          </a:p>
          <a:p>
            <a:pPr marL="571329" indent="-571329">
              <a:buFont typeface="Arial" pitchFamily="34" charset="0"/>
              <a:buChar char="•"/>
            </a:pPr>
            <a:r>
              <a:rPr lang="en-US" sz="3600" dirty="0">
                <a:latin typeface="+mn-lt"/>
              </a:rPr>
              <a:t>Testing</a:t>
            </a:r>
          </a:p>
          <a:p>
            <a:pPr marL="571329" indent="-571329">
              <a:buFont typeface="Arial" pitchFamily="34" charset="0"/>
              <a:buChar char="•"/>
            </a:pPr>
            <a:r>
              <a:rPr lang="en-US" sz="3600" dirty="0">
                <a:latin typeface="+mn-lt"/>
              </a:rPr>
              <a:t>Build Tools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8180967" y="2193780"/>
            <a:ext cx="3879718" cy="3120806"/>
          </a:xfrm>
          <a:prstGeom prst="rect">
            <a:avLst/>
          </a:prstGeom>
        </p:spPr>
        <p:txBody>
          <a:bodyPr vert="horz" wrap="square" lIns="146266" tIns="91416" rIns="146266" bIns="91416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3921" kern="1200" spc="0" baseline="0"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1961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4097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961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48193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7229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509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93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7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1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329" indent="-571329">
              <a:buFont typeface="Arial" pitchFamily="34" charset="0"/>
              <a:buChar char="•"/>
            </a:pPr>
            <a:r>
              <a:rPr lang="en-US" sz="3600" dirty="0">
                <a:latin typeface="+mn-lt"/>
              </a:rPr>
              <a:t>Directives</a:t>
            </a:r>
          </a:p>
          <a:p>
            <a:pPr marL="571329" indent="-571329">
              <a:buFont typeface="Arial" pitchFamily="34" charset="0"/>
              <a:buChar char="•"/>
            </a:pPr>
            <a:r>
              <a:rPr lang="en-US" sz="3600" dirty="0">
                <a:latin typeface="+mn-lt"/>
              </a:rPr>
              <a:t>Pipes</a:t>
            </a:r>
          </a:p>
          <a:p>
            <a:pPr marL="571329" indent="-571329">
              <a:buFont typeface="Arial" pitchFamily="34" charset="0"/>
              <a:buChar char="•"/>
            </a:pPr>
            <a:r>
              <a:rPr lang="en-US" sz="3600" dirty="0">
                <a:latin typeface="+mn-lt"/>
              </a:rPr>
              <a:t>Events</a:t>
            </a:r>
          </a:p>
          <a:p>
            <a:pPr marL="571329" indent="-571329">
              <a:buFont typeface="Arial" pitchFamily="34" charset="0"/>
              <a:buChar char="•"/>
            </a:pPr>
            <a:r>
              <a:rPr lang="en-US" sz="3600" dirty="0">
                <a:latin typeface="+mn-lt"/>
              </a:rPr>
              <a:t>Animation</a:t>
            </a:r>
          </a:p>
          <a:p>
            <a:pPr marL="571329" indent="-571329">
              <a:buFont typeface="Arial" pitchFamily="34" charset="0"/>
              <a:buChar char="•"/>
            </a:pPr>
            <a:r>
              <a:rPr lang="en-US" sz="3600" dirty="0" err="1">
                <a:latin typeface="+mn-lt"/>
              </a:rPr>
              <a:t>TypeScript</a:t>
            </a:r>
            <a:endParaRPr lang="en-US" sz="3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89302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Install It</a:t>
            </a:r>
          </a:p>
        </p:txBody>
      </p:sp>
      <p:sp>
        <p:nvSpPr>
          <p:cNvPr id="6" name="Subtitl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very simple actually</a:t>
            </a:r>
          </a:p>
        </p:txBody>
      </p:sp>
    </p:spTree>
    <p:extLst>
      <p:ext uri="{BB962C8B-B14F-4D97-AF65-F5344CB8AC3E}">
        <p14:creationId xmlns:p14="http://schemas.microsoft.com/office/powerpoint/2010/main" val="3286160237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4700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Pretty easy actually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Install globally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@angular/cli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Use it like this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510703" y="337293"/>
            <a:ext cx="11482933" cy="813827"/>
          </a:xfrm>
        </p:spPr>
        <p:txBody>
          <a:bodyPr/>
          <a:lstStyle/>
          <a:p>
            <a:r>
              <a:rPr lang="en-US" sz="3800" dirty="0"/>
              <a:t>Creating A New App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10707" y="2283137"/>
            <a:ext cx="9599611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npm install -g @angular/cli</a:t>
            </a: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@latest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10704" y="4476690"/>
            <a:ext cx="9599611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ng new cash-flow -p </a:t>
            </a: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cf</a:t>
            </a:r>
            <a:r>
              <a:rPr lang="en-US" sz="2000" b="1" noProof="1">
                <a:latin typeface="Consolas" pitchFamily="49" charset="0"/>
                <a:cs typeface="Consolas" pitchFamily="49" charset="0"/>
              </a:rPr>
              <a:t> --minimal true --routing true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5C7615D-BA35-4CA4-A566-1F3E6DD30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705" y="2749153"/>
            <a:ext cx="9599611" cy="10156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ng version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ng help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ng new help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75AAEEB-A0EB-4A40-82A7-4BA9B27C55F6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B6022F0-7CC2-4878-90B2-6E176BD7063F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C:\Labs\T2\EX1</a:t>
            </a:r>
          </a:p>
        </p:txBody>
      </p:sp>
    </p:spTree>
    <p:extLst>
      <p:ext uri="{BB962C8B-B14F-4D97-AF65-F5344CB8AC3E}">
        <p14:creationId xmlns:p14="http://schemas.microsoft.com/office/powerpoint/2010/main" val="883139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0055F3D-B754-4D8B-92D8-B16890CBAF5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72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C014DD1E-5D91-48A3-AD6D-45FBA980D106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79C483-1CE9-487C-9C98-870C7C153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7860"/>
            <a:ext cx="12188825" cy="660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24360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Running A New App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800" dirty="0"/>
              <a:t>These commands will start a dev server on port 4200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sz="28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To make production build just run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More here: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https://github.com/angular/angular-cli/wiki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113692" y="1752600"/>
            <a:ext cx="9599611" cy="10156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cd cash-flow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npm install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npm start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8B76499-5F7E-4F99-B53E-3A227EB6A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3352800"/>
            <a:ext cx="9599611" cy="7078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ng build -c production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ng serve -c production</a:t>
            </a:r>
          </a:p>
        </p:txBody>
      </p:sp>
    </p:spTree>
    <p:extLst>
      <p:ext uri="{BB962C8B-B14F-4D97-AF65-F5344CB8AC3E}">
        <p14:creationId xmlns:p14="http://schemas.microsoft.com/office/powerpoint/2010/main" val="1693351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67BBB-9914-1F54-34BE-0FC9D6E33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Para depurar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BD85752-B115-D714-889E-900224B22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2697" y="2362200"/>
            <a:ext cx="4315515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ng serve --host 127.0.0.1</a:t>
            </a:r>
            <a:endParaRPr lang="en-US" sz="2000" b="1" noProof="1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6733706-6555-200E-ED70-44CBEB3F2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812" y="2377589"/>
            <a:ext cx="22098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npm start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63E74BB3-F2D9-0206-2DED-A6F55064F697}"/>
              </a:ext>
            </a:extLst>
          </p:cNvPr>
          <p:cNvCxnSpPr/>
          <p:nvPr/>
        </p:nvCxnSpPr>
        <p:spPr>
          <a:xfrm>
            <a:off x="4341812" y="2593033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0D4ECA4-04EF-633F-A71D-90452616C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2697" y="2819400"/>
            <a:ext cx="4315515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ng build</a:t>
            </a:r>
            <a:endParaRPr lang="en-US" sz="2000" b="1" noProof="1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CA19845-A471-60B2-E969-567B093F2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812" y="2834789"/>
            <a:ext cx="22098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npm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build</a:t>
            </a:r>
            <a:endParaRPr lang="en-US" sz="2000" b="1" noProof="1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B857CD1-73EC-2E9C-45B6-39D8E7A7E9C6}"/>
              </a:ext>
            </a:extLst>
          </p:cNvPr>
          <p:cNvCxnSpPr/>
          <p:nvPr/>
        </p:nvCxnSpPr>
        <p:spPr>
          <a:xfrm>
            <a:off x="4341812" y="3050233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>
            <a:extLst>
              <a:ext uri="{FF2B5EF4-FFF2-40B4-BE49-F238E27FC236}">
                <a16:creationId xmlns:a16="http://schemas.microsoft.com/office/drawing/2014/main" id="{C82C7DD8-D04F-9CDE-8E7E-EC18216A5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412" y="1832251"/>
            <a:ext cx="10668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npm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3D2FB05-4884-3A15-455B-360DDD5AC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6412" y="1786020"/>
            <a:ext cx="1524002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angular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ADF5FD0C-F8A7-851E-1DD5-EB233C786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2697" y="3276600"/>
            <a:ext cx="4315515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ng </a:t>
            </a:r>
            <a:r>
              <a:rPr lang="es-E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s-E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-c </a:t>
            </a:r>
            <a:r>
              <a:rPr lang="es-E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production</a:t>
            </a:r>
            <a:endParaRPr lang="es-E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6F3B2D22-CED2-A997-3E44-399390375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812" y="3291989"/>
            <a:ext cx="22098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npm </a:t>
            </a:r>
            <a:r>
              <a:rPr lang="es-E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build:prod</a:t>
            </a:r>
            <a:endParaRPr lang="es-E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8510501B-094A-0BD4-CC6B-9D8F542E38E6}"/>
              </a:ext>
            </a:extLst>
          </p:cNvPr>
          <p:cNvCxnSpPr/>
          <p:nvPr/>
        </p:nvCxnSpPr>
        <p:spPr>
          <a:xfrm>
            <a:off x="4341812" y="3482684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79DF011-5F7A-635C-BA60-95918141F1AD}"/>
              </a:ext>
            </a:extLst>
          </p:cNvPr>
          <p:cNvSpPr txBox="1"/>
          <p:nvPr/>
        </p:nvSpPr>
        <p:spPr>
          <a:xfrm>
            <a:off x="2055812" y="4528049"/>
            <a:ext cx="8281643" cy="17543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"scripts"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"ng"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"ng"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"start"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"ng serve --host 127.0.0.1"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"build"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"ng build"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"watch"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"ng build --watch --configuration development"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FD4623F-52C8-FCD4-74E1-F10FDF4A5199}"/>
              </a:ext>
            </a:extLst>
          </p:cNvPr>
          <p:cNvSpPr txBox="1"/>
          <p:nvPr/>
        </p:nvSpPr>
        <p:spPr>
          <a:xfrm>
            <a:off x="1979612" y="4106518"/>
            <a:ext cx="6094562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dirty="0" err="1"/>
              <a:t>package.json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557798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07F60-0E45-4D74-9398-1EF2D7FC6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>
                <a:hlinkClick r:id="rId3"/>
              </a:rPr>
              <a:t>angular - ng server - listen EACCES: </a:t>
            </a:r>
            <a:r>
              <a:rPr lang="es-ES" dirty="0" err="1">
                <a:hlinkClick r:id="rId3"/>
              </a:rPr>
              <a:t>permission</a:t>
            </a:r>
            <a:r>
              <a:rPr lang="es-ES" dirty="0">
                <a:hlinkClick r:id="rId3"/>
              </a:rPr>
              <a:t> </a:t>
            </a:r>
            <a:r>
              <a:rPr lang="es-ES" dirty="0" err="1">
                <a:hlinkClick r:id="rId3"/>
              </a:rPr>
              <a:t>denied</a:t>
            </a:r>
            <a:r>
              <a:rPr lang="es-ES" dirty="0">
                <a:hlinkClick r:id="rId3"/>
              </a:rPr>
              <a:t> 127.0.0.1:4200 - </a:t>
            </a:r>
            <a:r>
              <a:rPr lang="es-ES" dirty="0" err="1">
                <a:hlinkClick r:id="rId3"/>
              </a:rPr>
              <a:t>Stack</a:t>
            </a:r>
            <a:r>
              <a:rPr lang="es-ES" dirty="0">
                <a:hlinkClick r:id="rId3"/>
              </a:rPr>
              <a:t> </a:t>
            </a:r>
            <a:r>
              <a:rPr lang="es-ES" dirty="0" err="1">
                <a:hlinkClick r:id="rId3"/>
              </a:rPr>
              <a:t>Overflow</a:t>
            </a:r>
            <a:endParaRPr lang="es-ES" dirty="0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AB830393-29CC-460B-B816-EFDA02F48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Sometimes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just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restarting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Windows NAT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driver can </a:t>
            </a: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fix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the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 </a:t>
            </a:r>
            <a:r>
              <a:rPr kumimoji="0" lang="es-ES" altLang="es-ES" sz="28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issue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:</a:t>
            </a: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rgbClr val="232629"/>
              </a:solidFill>
              <a:effectLst/>
              <a:latin typeface="var(--theme-question-body-font-family)"/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Open CMD/PowerShell and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type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net stop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winnat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and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then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 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net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start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var(--ff-mono)"/>
              </a:rPr>
              <a:t>winnat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inherit"/>
              </a:rPr>
              <a:t>.</a:t>
            </a:r>
          </a:p>
          <a:p>
            <a:pPr marL="457063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rgbClr val="232629"/>
              </a:solidFill>
              <a:effectLst/>
              <a:latin typeface="inherit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6B2AD6-9C39-4561-A8D3-D4299A61733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72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C014DD1E-5D91-48A3-AD6D-45FBA980D106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745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17005FD-0A9C-460A-BB10-937EFAC4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Hello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6A76541-6C5E-4719-AFFB-C99ED970B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6261" y="1015542"/>
            <a:ext cx="6976302" cy="508158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40C7619-0009-49A1-81B3-57E1248A7FFB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E143CC9-BFB7-44EA-9228-79544A3F0CFE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C:\Labs\T2\EX1</a:t>
            </a:r>
          </a:p>
        </p:txBody>
      </p:sp>
    </p:spTree>
    <p:extLst>
      <p:ext uri="{BB962C8B-B14F-4D97-AF65-F5344CB8AC3E}">
        <p14:creationId xmlns:p14="http://schemas.microsoft.com/office/powerpoint/2010/main" val="2768549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AB0E2DF-3542-447C-AFBF-F0E3B1529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Visual Studio </a:t>
            </a:r>
            <a:r>
              <a:rPr lang="es-ES" dirty="0" err="1"/>
              <a:t>Code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A67EF77-A624-41FD-A3EF-30EB05666E7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657349" y="1020762"/>
            <a:ext cx="8874125" cy="551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39706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D6C41FD-7AB2-49C0-9B97-0ACE87026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Extensiones para Visual Studio Core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A70D37-C4C5-406E-9899-CB7D4C061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Antes de empezar puedes instalar un </a:t>
            </a:r>
            <a:r>
              <a:rPr lang="es-ES" b="1" dirty="0"/>
              <a:t>paquete de extensiones </a:t>
            </a:r>
            <a:r>
              <a:rPr lang="es-ES" dirty="0"/>
              <a:t>ya configurado y preparado para el desarrollo de aplicaciones con </a:t>
            </a:r>
            <a:r>
              <a:rPr lang="es-ES" i="1" dirty="0"/>
              <a:t>Angular</a:t>
            </a:r>
            <a:r>
              <a:rPr lang="es-ES" dirty="0"/>
              <a:t>, se llama </a:t>
            </a:r>
            <a:r>
              <a:rPr lang="es-ES" dirty="0">
                <a:hlinkClick r:id="rId2"/>
              </a:rPr>
              <a:t>Angular Essentials</a:t>
            </a:r>
            <a:endParaRPr lang="es-ES" dirty="0"/>
          </a:p>
          <a:p>
            <a:r>
              <a:rPr lang="es-ES" dirty="0"/>
              <a:t>Con eso y el </a:t>
            </a:r>
            <a:r>
              <a:rPr lang="es-ES" dirty="0">
                <a:hlinkClick r:id="rId3"/>
              </a:rPr>
              <a:t>Material </a:t>
            </a:r>
            <a:r>
              <a:rPr lang="es-ES" dirty="0" err="1">
                <a:hlinkClick r:id="rId3"/>
              </a:rPr>
              <a:t>Icon</a:t>
            </a:r>
            <a:r>
              <a:rPr lang="es-ES" dirty="0">
                <a:hlinkClick r:id="rId3"/>
              </a:rPr>
              <a:t> </a:t>
            </a:r>
            <a:r>
              <a:rPr lang="es-ES" dirty="0" err="1">
                <a:hlinkClick r:id="rId3"/>
              </a:rPr>
              <a:t>Theme</a:t>
            </a:r>
            <a:r>
              <a:rPr lang="es-ES" dirty="0"/>
              <a:t> verás </a:t>
            </a:r>
            <a:r>
              <a:rPr lang="es-ES" i="1" dirty="0"/>
              <a:t>Angular en colores </a:t>
            </a:r>
            <a:r>
              <a:rPr lang="es-ES" dirty="0">
                <a:solidFill>
                  <a:srgbClr val="BAB398"/>
                </a:solidFill>
                <a:sym typeface="Wingdings" panose="05000000000000000000" pitchFamily="2" charset="2"/>
              </a:rPr>
              <a:t></a:t>
            </a:r>
            <a:endParaRPr lang="es-ES" dirty="0">
              <a:solidFill>
                <a:srgbClr val="BAB3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557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E86FBBAE-B7E4-4C97-91DA-4B4ECF32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dirty="0"/>
              <a:t>Estructura de ficheros y carpetas</a:t>
            </a:r>
            <a:endParaRPr lang="es-E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95140B2-7AAC-443D-A181-B1479BC463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ES" altLang="es-ES" dirty="0"/>
              <a:t>Los ficheros .</a:t>
            </a:r>
            <a:r>
              <a:rPr lang="es-ES" altLang="es-ES" dirty="0" err="1"/>
              <a:t>ts</a:t>
            </a:r>
            <a:r>
              <a:rPr lang="es-ES" altLang="es-ES" dirty="0"/>
              <a:t> son ficheros </a:t>
            </a:r>
            <a:r>
              <a:rPr lang="es-ES" altLang="es-ES" dirty="0" err="1">
                <a:hlinkClick r:id="rId2"/>
              </a:rPr>
              <a:t>TypeScript</a:t>
            </a:r>
            <a:r>
              <a:rPr lang="es-ES" altLang="es-ES" dirty="0"/>
              <a:t>, una evolución del JavaScript con facilidades para el programador. </a:t>
            </a:r>
          </a:p>
          <a:p>
            <a:pPr lvl="0"/>
            <a:r>
              <a:rPr lang="es-ES" altLang="es-ES" dirty="0"/>
              <a:t>Ficheros principales:</a:t>
            </a:r>
          </a:p>
          <a:p>
            <a:pPr marL="457063" lvl="1" indent="0" fontAlgn="base">
              <a:buNone/>
            </a:pPr>
            <a:r>
              <a:rPr lang="es-ES" sz="1800" b="1" dirty="0" err="1"/>
              <a:t>angular.json</a:t>
            </a:r>
            <a:r>
              <a:rPr lang="es-ES" sz="1800" dirty="0"/>
              <a:t> </a:t>
            </a:r>
            <a:r>
              <a:rPr lang="es-ES" sz="1800" i="1" dirty="0"/>
              <a:t>: configuración del propio CLI</a:t>
            </a:r>
            <a:endParaRPr lang="es-ES" sz="1800" dirty="0"/>
          </a:p>
          <a:p>
            <a:pPr marL="457063" lvl="1" indent="0" fontAlgn="base">
              <a:buNone/>
            </a:pPr>
            <a:r>
              <a:rPr lang="es-ES" sz="1800" b="1" dirty="0" err="1"/>
              <a:t>package.json</a:t>
            </a:r>
            <a:r>
              <a:rPr lang="es-ES" sz="1800" dirty="0"/>
              <a:t> </a:t>
            </a:r>
            <a:r>
              <a:rPr lang="es-ES" sz="1800" i="1" dirty="0"/>
              <a:t>: dependencias de librerías y scripts</a:t>
            </a:r>
            <a:endParaRPr lang="es-ES" sz="1800" dirty="0"/>
          </a:p>
          <a:p>
            <a:pPr marL="457063" lvl="1" indent="0" fontAlgn="base">
              <a:buNone/>
            </a:pPr>
            <a:r>
              <a:rPr lang="es-ES" sz="1800" b="1" dirty="0" err="1"/>
              <a:t>src</a:t>
            </a:r>
            <a:r>
              <a:rPr lang="es-ES" sz="1800" b="1" dirty="0"/>
              <a:t>/</a:t>
            </a:r>
            <a:r>
              <a:rPr lang="es-ES" sz="1800" dirty="0"/>
              <a:t> </a:t>
            </a:r>
            <a:r>
              <a:rPr lang="es-ES" sz="1800" i="1" dirty="0"/>
              <a:t>: la carpeta donde están los archivos fuentes</a:t>
            </a:r>
            <a:endParaRPr lang="es-ES" sz="1800" dirty="0"/>
          </a:p>
          <a:p>
            <a:pPr marL="914126" lvl="2" indent="0" fontAlgn="base">
              <a:buNone/>
            </a:pPr>
            <a:r>
              <a:rPr lang="es-ES" sz="1800" b="1" dirty="0"/>
              <a:t>index.html</a:t>
            </a:r>
            <a:r>
              <a:rPr lang="es-ES" sz="1800" dirty="0"/>
              <a:t> </a:t>
            </a:r>
            <a:r>
              <a:rPr lang="es-ES" sz="1800" i="1" dirty="0"/>
              <a:t>: un fichero HTML índice estándar</a:t>
            </a:r>
            <a:endParaRPr lang="es-ES" sz="1800" dirty="0"/>
          </a:p>
          <a:p>
            <a:pPr marL="914126" lvl="2" indent="0" fontAlgn="base">
              <a:buNone/>
            </a:pPr>
            <a:r>
              <a:rPr lang="es-ES" sz="1800" b="1" dirty="0" err="1"/>
              <a:t>main.ts</a:t>
            </a:r>
            <a:r>
              <a:rPr lang="es-ES" sz="1800" dirty="0"/>
              <a:t> </a:t>
            </a:r>
            <a:r>
              <a:rPr lang="es-ES" sz="1800" i="1" dirty="0"/>
              <a:t>: fichero </a:t>
            </a:r>
            <a:r>
              <a:rPr lang="es-ES" sz="1800" i="1" dirty="0" err="1"/>
              <a:t>TypeScript</a:t>
            </a:r>
            <a:r>
              <a:rPr lang="es-ES" sz="1800" i="1" dirty="0"/>
              <a:t> de </a:t>
            </a:r>
            <a:r>
              <a:rPr lang="es-ES" sz="1800" i="1" dirty="0">
                <a:solidFill>
                  <a:srgbClr val="FF0000"/>
                </a:solidFill>
              </a:rPr>
              <a:t>arranque de la aplicación</a:t>
            </a:r>
            <a:endParaRPr lang="es-ES" sz="1800" dirty="0">
              <a:solidFill>
                <a:srgbClr val="FF0000"/>
              </a:solidFill>
            </a:endParaRPr>
          </a:p>
          <a:p>
            <a:pPr marL="914126" lvl="2" indent="0" fontAlgn="base">
              <a:buNone/>
            </a:pPr>
            <a:r>
              <a:rPr lang="es-ES" sz="1800" b="1" dirty="0"/>
              <a:t>app/</a:t>
            </a:r>
            <a:r>
              <a:rPr lang="es-ES" sz="1800" dirty="0"/>
              <a:t> </a:t>
            </a:r>
            <a:r>
              <a:rPr lang="es-ES" sz="1800" i="1" dirty="0"/>
              <a:t>: la carpeta con el código específico de tu aplicación</a:t>
            </a:r>
            <a:endParaRPr lang="es-ES" sz="1800" dirty="0"/>
          </a:p>
          <a:p>
            <a:pPr marL="1371189" lvl="3" indent="0" fontAlgn="base">
              <a:buNone/>
            </a:pPr>
            <a:r>
              <a:rPr lang="es-ES" sz="1800" b="1" dirty="0" err="1"/>
              <a:t>app.module.ts</a:t>
            </a:r>
            <a:r>
              <a:rPr lang="es-ES" sz="1800" dirty="0"/>
              <a:t> </a:t>
            </a:r>
            <a:r>
              <a:rPr lang="es-ES" sz="1800" i="1" dirty="0"/>
              <a:t>: las aplicaciones son un </a:t>
            </a:r>
            <a:r>
              <a:rPr lang="es-ES" sz="1800" b="1" i="1" dirty="0"/>
              <a:t>árbol de módulos</a:t>
            </a:r>
            <a:r>
              <a:rPr lang="es-ES" sz="1800" i="1" dirty="0"/>
              <a:t>, y este fichero es su </a:t>
            </a:r>
            <a:r>
              <a:rPr lang="es-ES" sz="1800" b="1" i="1" dirty="0"/>
              <a:t>raíz</a:t>
            </a:r>
            <a:endParaRPr lang="es-ES" sz="1800" b="1" dirty="0"/>
          </a:p>
          <a:p>
            <a:pPr marL="1371189" lvl="3" indent="0" fontAlgn="base">
              <a:buNone/>
            </a:pPr>
            <a:r>
              <a:rPr lang="es-ES" sz="1800" b="1" dirty="0" err="1"/>
              <a:t>app.component.ts</a:t>
            </a:r>
            <a:r>
              <a:rPr lang="es-ES" sz="1800" dirty="0"/>
              <a:t> </a:t>
            </a:r>
            <a:r>
              <a:rPr lang="es-ES" sz="1800" i="1" dirty="0"/>
              <a:t>: las páginas son un </a:t>
            </a:r>
            <a:r>
              <a:rPr lang="es-ES" sz="1800" b="1" i="1" dirty="0"/>
              <a:t>árbol de componentes</a:t>
            </a:r>
            <a:r>
              <a:rPr lang="es-ES" sz="1800" i="1" dirty="0"/>
              <a:t>, y este fichero es su </a:t>
            </a:r>
            <a:r>
              <a:rPr lang="es-ES" sz="1800" b="1" i="1" dirty="0"/>
              <a:t>raíz</a:t>
            </a:r>
            <a:endParaRPr lang="es-ES" altLang="es-ES" sz="1800" b="1" dirty="0"/>
          </a:p>
        </p:txBody>
      </p:sp>
    </p:spTree>
    <p:extLst>
      <p:ext uri="{BB962C8B-B14F-4D97-AF65-F5344CB8AC3E}">
        <p14:creationId xmlns:p14="http://schemas.microsoft.com/office/powerpoint/2010/main" val="26032185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8E20794-127A-4F1E-AEDD-03929B33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Edición en caliente - Hola Mundo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D88D384-3C9C-460F-AA52-70D8350373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s-ES" altLang="es-ES" dirty="0">
                <a:latin typeface="+mn-lt"/>
              </a:rPr>
              <a:t>Abre el fichero </a:t>
            </a:r>
            <a:r>
              <a:rPr lang="es-ES" altLang="es-ES" b="1" dirty="0" err="1">
                <a:latin typeface="+mn-lt"/>
              </a:rPr>
              <a:t>app.component.ts</a:t>
            </a:r>
            <a:r>
              <a:rPr lang="es-ES" altLang="es-ES" dirty="0">
                <a:latin typeface="+mn-lt"/>
              </a:rPr>
              <a:t> y busca dentro de él una clase llamada </a:t>
            </a:r>
            <a:r>
              <a:rPr lang="es-ES" altLang="es-ES" dirty="0" err="1">
                <a:latin typeface="+mn-lt"/>
              </a:rPr>
              <a:t>AppComponent</a:t>
            </a:r>
            <a:r>
              <a:rPr lang="es-ES" altLang="es-ES" dirty="0">
                <a:latin typeface="+mn-lt"/>
              </a:rPr>
              <a:t>. </a:t>
            </a:r>
          </a:p>
          <a:p>
            <a:pPr lvl="0"/>
            <a:r>
              <a:rPr lang="es-ES" altLang="es-ES" dirty="0">
                <a:latin typeface="+mn-lt"/>
              </a:rPr>
              <a:t>Encontrarás que tiene una propiedad </a:t>
            </a:r>
            <a:r>
              <a:rPr lang="es-ES" altLang="es-ES" b="1" dirty="0" err="1">
                <a:latin typeface="+mn-lt"/>
              </a:rPr>
              <a:t>title</a:t>
            </a:r>
            <a:r>
              <a:rPr lang="es-ES" altLang="es-ES" dirty="0">
                <a:latin typeface="+mn-lt"/>
              </a:rPr>
              <a:t>. </a:t>
            </a:r>
          </a:p>
          <a:p>
            <a:pPr lvl="0"/>
            <a:r>
              <a:rPr lang="es-ES" altLang="es-ES" dirty="0">
                <a:latin typeface="+mn-lt"/>
              </a:rPr>
              <a:t>Asígnale el saludo de rigor: </a:t>
            </a:r>
          </a:p>
          <a:p>
            <a:pPr lvl="0"/>
            <a:endParaRPr lang="es-ES" altLang="es-ES" b="1" dirty="0">
              <a:latin typeface="+mn-lt"/>
            </a:endParaRPr>
          </a:p>
          <a:p>
            <a:pPr lvl="0"/>
            <a:endParaRPr lang="es-ES" altLang="es-ES" b="1" dirty="0">
              <a:latin typeface="+mn-lt"/>
            </a:endParaRPr>
          </a:p>
          <a:p>
            <a:pPr lvl="0"/>
            <a:r>
              <a:rPr lang="es-ES" altLang="es-ES" dirty="0">
                <a:latin typeface="+mn-lt"/>
              </a:rPr>
              <a:t>Guarda y </a:t>
            </a:r>
            <a:r>
              <a:rPr lang="es-ES" altLang="es-ES" dirty="0">
                <a:solidFill>
                  <a:srgbClr val="FF0000"/>
                </a:solidFill>
                <a:latin typeface="+mn-lt"/>
              </a:rPr>
              <a:t>comprueba cómo tu navegador se habrá actualizado automáticamente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5C26F08F-6CFD-465C-B2BF-9D11D6BA5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12" y="2743200"/>
            <a:ext cx="9599611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title = 'Hello World';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4D1991E-9C8D-440B-A188-2E00778E7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707" y="4191000"/>
            <a:ext cx="5962650" cy="1228725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26F8961-899D-4ACF-A286-EF463FEE3F6A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LAB1c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51C8629-16D6-4CF5-99FB-BF69A26B6FD6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C:\Labs\T2\EX1</a:t>
            </a:r>
          </a:p>
        </p:txBody>
      </p:sp>
    </p:spTree>
    <p:extLst>
      <p:ext uri="{BB962C8B-B14F-4D97-AF65-F5344CB8AC3E}">
        <p14:creationId xmlns:p14="http://schemas.microsoft.com/office/powerpoint/2010/main" val="39156837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3C387-608C-42AE-AD9C-D94FA55C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Edición en caliente - Hola Mundo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4B1EFB-D9DA-433E-9FC0-C4960E723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5"/>
            <a:ext cx="5408830" cy="4351338"/>
          </a:xfrm>
        </p:spPr>
        <p:txBody>
          <a:bodyPr/>
          <a:lstStyle/>
          <a:p>
            <a:pPr fontAlgn="base"/>
            <a:r>
              <a:rPr lang="es-ES" dirty="0"/>
              <a:t>Toda </a:t>
            </a:r>
            <a:r>
              <a:rPr lang="es-ES" b="1" dirty="0"/>
              <a:t>esta magia depende de una cadena de comandos</a:t>
            </a:r>
            <a:r>
              <a:rPr lang="es-ES" dirty="0"/>
              <a:t> que lanzan distintas herramientas previamente instaladas y configuradas por el CLI</a:t>
            </a:r>
          </a:p>
          <a:p>
            <a:pPr fontAlgn="base"/>
            <a:r>
              <a:rPr lang="es-ES" dirty="0"/>
              <a:t>Entre ellas cabe mencionar a </a:t>
            </a:r>
            <a:r>
              <a:rPr lang="es-ES" i="1" dirty="0" err="1">
                <a:hlinkClick r:id="rId2"/>
              </a:rPr>
              <a:t>WebPack</a:t>
            </a:r>
            <a:r>
              <a:rPr lang="es-ES" dirty="0"/>
              <a:t>, un coloso que afortunadamente viene instalado y preparado para funcionar de manera transparente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3267D8-3415-4F29-B630-962317A3C87D}"/>
              </a:ext>
            </a:extLst>
          </p:cNvPr>
          <p:cNvSpPr/>
          <p:nvPr/>
        </p:nvSpPr>
        <p:spPr>
          <a:xfrm>
            <a:off x="7161212" y="1905000"/>
            <a:ext cx="4800600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s-ES" sz="1600" dirty="0">
                <a:solidFill>
                  <a:srgbClr val="444444"/>
                </a:solidFill>
                <a:latin typeface="Open Sans"/>
              </a:rPr>
              <a:t>Lo que sucede…</a:t>
            </a:r>
          </a:p>
          <a:p>
            <a:pPr fontAlgn="base"/>
            <a:r>
              <a:rPr lang="es-ES" b="1" dirty="0" err="1">
                <a:solidFill>
                  <a:srgbClr val="444444"/>
                </a:solidFill>
                <a:latin typeface="inherit"/>
              </a:rPr>
              <a:t>npm</a:t>
            </a:r>
            <a:r>
              <a:rPr lang="es-ES" b="1" dirty="0">
                <a:solidFill>
                  <a:srgbClr val="444444"/>
                </a:solidFill>
                <a:latin typeface="inherit"/>
              </a:rPr>
              <a:t> </a:t>
            </a:r>
            <a:r>
              <a:rPr lang="es-ES" b="1" dirty="0" err="1">
                <a:solidFill>
                  <a:srgbClr val="444444"/>
                </a:solidFill>
                <a:latin typeface="inherit"/>
              </a:rPr>
              <a:t>start</a:t>
            </a:r>
            <a:endParaRPr lang="es-ES" b="1" dirty="0">
              <a:solidFill>
                <a:srgbClr val="444444"/>
              </a:solidFill>
              <a:latin typeface="inherit"/>
            </a:endParaRPr>
          </a:p>
          <a:p>
            <a:pPr fontAlgn="base"/>
            <a:r>
              <a:rPr lang="es-ES" b="1" dirty="0">
                <a:solidFill>
                  <a:srgbClr val="444444"/>
                </a:solidFill>
                <a:latin typeface="inherit"/>
              </a:rPr>
              <a:t>ng </a:t>
            </a:r>
            <a:r>
              <a:rPr lang="es-ES" b="1" dirty="0" err="1">
                <a:solidFill>
                  <a:srgbClr val="444444"/>
                </a:solidFill>
                <a:latin typeface="inherit"/>
              </a:rPr>
              <a:t>serve</a:t>
            </a:r>
            <a:endParaRPr lang="es-ES" b="1" dirty="0">
              <a:solidFill>
                <a:srgbClr val="444444"/>
              </a:solidFill>
              <a:latin typeface="inherit"/>
            </a:endParaRPr>
          </a:p>
          <a:p>
            <a:pPr fontAlgn="base"/>
            <a:r>
              <a:rPr lang="es-ES" b="1" dirty="0" err="1">
                <a:solidFill>
                  <a:srgbClr val="444444"/>
                </a:solidFill>
                <a:latin typeface="inherit"/>
              </a:rPr>
              <a:t>webpack</a:t>
            </a:r>
            <a:r>
              <a:rPr lang="es-ES" b="1" dirty="0">
                <a:solidFill>
                  <a:srgbClr val="444444"/>
                </a:solidFill>
                <a:latin typeface="inherit"/>
              </a:rPr>
              <a:t> server </a:t>
            </a:r>
            <a:r>
              <a:rPr lang="es-ES" dirty="0">
                <a:solidFill>
                  <a:srgbClr val="444444"/>
                </a:solidFill>
                <a:latin typeface="inherit"/>
              </a:rPr>
              <a:t>en </a:t>
            </a:r>
            <a:r>
              <a:rPr lang="es-ES" dirty="0">
                <a:solidFill>
                  <a:srgbClr val="40B1F9"/>
                </a:solidFill>
                <a:latin typeface="inherit"/>
                <a:hlinkClick r:id="rId3"/>
              </a:rPr>
              <a:t>http://localhost:4200</a:t>
            </a:r>
            <a:endParaRPr lang="es-ES" dirty="0">
              <a:solidFill>
                <a:srgbClr val="444444"/>
              </a:solidFill>
              <a:latin typeface="inherit"/>
            </a:endParaRPr>
          </a:p>
          <a:p>
            <a:pPr lvl="1" fontAlgn="base"/>
            <a:r>
              <a:rPr lang="es-ES" dirty="0">
                <a:solidFill>
                  <a:srgbClr val="FF0000"/>
                </a:solidFill>
                <a:latin typeface="inherit"/>
              </a:rPr>
              <a:t>vigilancia</a:t>
            </a:r>
            <a:r>
              <a:rPr lang="es-ES" dirty="0">
                <a:solidFill>
                  <a:srgbClr val="444444"/>
                </a:solidFill>
                <a:latin typeface="inherit"/>
              </a:rPr>
              <a:t> de cambios sobre la carpeta </a:t>
            </a:r>
            <a:r>
              <a:rPr lang="es-ES" dirty="0" err="1">
                <a:solidFill>
                  <a:srgbClr val="444444"/>
                </a:solidFill>
                <a:latin typeface="inherit"/>
              </a:rPr>
              <a:t>src</a:t>
            </a:r>
            <a:r>
              <a:rPr lang="es-ES" dirty="0">
                <a:solidFill>
                  <a:srgbClr val="444444"/>
                </a:solidFill>
                <a:latin typeface="inherit"/>
              </a:rPr>
              <a:t>/</a:t>
            </a:r>
          </a:p>
          <a:p>
            <a:pPr fontAlgn="base"/>
            <a:r>
              <a:rPr lang="es-ES" b="1" dirty="0" err="1">
                <a:solidFill>
                  <a:srgbClr val="444444"/>
                </a:solidFill>
                <a:latin typeface="inherit"/>
              </a:rPr>
              <a:t>livereload</a:t>
            </a:r>
            <a:endParaRPr lang="es-ES" b="1" dirty="0">
              <a:solidFill>
                <a:srgbClr val="444444"/>
              </a:solidFill>
              <a:latin typeface="inherit"/>
            </a:endParaRPr>
          </a:p>
          <a:p>
            <a:pPr lvl="1" fontAlgn="base"/>
            <a:r>
              <a:rPr lang="es-ES" dirty="0">
                <a:solidFill>
                  <a:srgbClr val="444444"/>
                </a:solidFill>
                <a:latin typeface="inherit"/>
              </a:rPr>
              <a:t>compilado de la aplicación</a:t>
            </a:r>
          </a:p>
          <a:p>
            <a:pPr lvl="1" fontAlgn="base"/>
            <a:r>
              <a:rPr lang="es-ES" dirty="0">
                <a:solidFill>
                  <a:srgbClr val="444444"/>
                </a:solidFill>
                <a:latin typeface="inherit"/>
              </a:rPr>
              <a:t>recarga del navegador</a:t>
            </a:r>
            <a:endParaRPr lang="es-ES" b="0" i="0" dirty="0">
              <a:solidFill>
                <a:srgbClr val="444444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28770645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10E5B4C-1548-4BEC-8F64-2E7AC25AE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Configuración</a:t>
            </a:r>
          </a:p>
        </p:txBody>
      </p:sp>
    </p:spTree>
    <p:extLst>
      <p:ext uri="{BB962C8B-B14F-4D97-AF65-F5344CB8AC3E}">
        <p14:creationId xmlns:p14="http://schemas.microsoft.com/office/powerpoint/2010/main" val="12037084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54DC1-8A32-4F74-A951-766171BEF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Configuración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B176F70-72F3-4C22-B049-BD4801DA2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CLI viene con pilas incluidas, se puede usar desde el primer momento </a:t>
            </a:r>
          </a:p>
          <a:p>
            <a:r>
              <a:rPr lang="es-ES" dirty="0"/>
              <a:t>Sólo te quedan pequeñas mejoras que hacer</a:t>
            </a:r>
          </a:p>
          <a:p>
            <a:r>
              <a:rPr lang="es-ES" dirty="0"/>
              <a:t>Por ejemplo ajustar el </a:t>
            </a:r>
            <a:r>
              <a:rPr lang="es-ES" b="1" dirty="0" err="1"/>
              <a:t>package.json</a:t>
            </a:r>
            <a:r>
              <a:rPr lang="es-ES" b="1" dirty="0"/>
              <a:t> </a:t>
            </a:r>
            <a:r>
              <a:rPr lang="es-ES" dirty="0"/>
              <a:t>y agregar librerías de terceros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030707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A6254-92CE-4C60-8D83-AEE4EAC3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package.json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8125B1-89B9-43A4-A404-EBB84F843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5"/>
            <a:ext cx="10512862" cy="2068742"/>
          </a:xfrm>
        </p:spPr>
        <p:txBody>
          <a:bodyPr/>
          <a:lstStyle/>
          <a:p>
            <a:r>
              <a:rPr lang="es-ES" dirty="0"/>
              <a:t>El </a:t>
            </a:r>
            <a:r>
              <a:rPr lang="es-ES" b="1" dirty="0" err="1"/>
              <a:t>package.json</a:t>
            </a:r>
            <a:r>
              <a:rPr lang="es-ES" b="1" dirty="0"/>
              <a:t> </a:t>
            </a:r>
            <a:r>
              <a:rPr lang="es-ES" dirty="0"/>
              <a:t>es el fichero estándar de </a:t>
            </a:r>
            <a:r>
              <a:rPr lang="es-ES" dirty="0" err="1"/>
              <a:t>npm</a:t>
            </a:r>
            <a:r>
              <a:rPr lang="es-ES" dirty="0"/>
              <a:t> donde se almacenan las </a:t>
            </a:r>
            <a:r>
              <a:rPr lang="es-ES" b="1" dirty="0"/>
              <a:t>dependencias de terceros</a:t>
            </a:r>
            <a:r>
              <a:rPr lang="es-ES" dirty="0"/>
              <a:t>. </a:t>
            </a:r>
          </a:p>
          <a:p>
            <a:r>
              <a:rPr lang="es-ES" dirty="0"/>
              <a:t>Contiene las librerías que necesita la aplicación para ejecutarse. </a:t>
            </a:r>
          </a:p>
          <a:p>
            <a:r>
              <a:rPr lang="es-ES" dirty="0"/>
              <a:t>Y también las herramientas que necesita el programador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5CCE326-9F8D-48E8-AEA7-1699314F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606" y="3894367"/>
            <a:ext cx="9599611" cy="261610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"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dependencies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":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	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"@angular/animations": "~13.3.0",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	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},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"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devDependencies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":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  "@angular/cli": "1.5.0",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47185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8D2C9-E848-43E4-A6C1-657F8741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package.json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8AF7D6-FF3F-46A5-8DCD-FC45B062C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5"/>
            <a:ext cx="5942230" cy="3584575"/>
          </a:xfrm>
        </p:spPr>
        <p:txBody>
          <a:bodyPr>
            <a:normAutofit/>
          </a:bodyPr>
          <a:lstStyle/>
          <a:p>
            <a:r>
              <a:rPr lang="es-ES" dirty="0"/>
              <a:t>Otro uso del </a:t>
            </a:r>
            <a:r>
              <a:rPr lang="es-ES" b="1" dirty="0" err="1"/>
              <a:t>package.json</a:t>
            </a:r>
            <a:r>
              <a:rPr lang="es-ES" b="1" dirty="0"/>
              <a:t> </a:t>
            </a:r>
            <a:r>
              <a:rPr lang="es-ES" dirty="0"/>
              <a:t>es servir de </a:t>
            </a:r>
            <a:r>
              <a:rPr lang="es-ES" b="1" dirty="0"/>
              <a:t>contenedor de scripts </a:t>
            </a:r>
            <a:r>
              <a:rPr lang="es-ES" dirty="0"/>
              <a:t>para automatizar tareas de operaciones rutinarias. </a:t>
            </a:r>
          </a:p>
          <a:p>
            <a:r>
              <a:rPr lang="es-ES" dirty="0"/>
              <a:t>Pero el </a:t>
            </a:r>
            <a:r>
              <a:rPr lang="es-ES" b="1" dirty="0"/>
              <a:t>comando </a:t>
            </a:r>
            <a:r>
              <a:rPr lang="es-ES" b="1" dirty="0">
                <a:hlinkClick r:id="rId2"/>
              </a:rPr>
              <a:t>ng </a:t>
            </a:r>
            <a:r>
              <a:rPr lang="es-ES" b="1" dirty="0" err="1">
                <a:hlinkClick r:id="rId2"/>
              </a:rPr>
              <a:t>serve</a:t>
            </a:r>
            <a:r>
              <a:rPr lang="es-ES" dirty="0"/>
              <a:t> admite muchas configuraciones. 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F33D51-5862-47F6-8A98-25A642FA9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675" y="4495800"/>
            <a:ext cx="10741462" cy="10156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"watch": "ng build --watch --configuration development",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BC926B1-8C1C-4BC1-BBC9-75B21D05A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837" y="1981200"/>
            <a:ext cx="46863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057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445B2-DCFB-44A4-9EDF-83C63546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Estilos y librerías de terceros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40C43-69D6-469A-8EA9-F2EEA6919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Las librerías que vienen de fábrica tienen todo lo necesario para crear aplicaciones. </a:t>
            </a:r>
          </a:p>
          <a:p>
            <a:r>
              <a:rPr lang="es-ES" dirty="0"/>
              <a:t>Utilidades como </a:t>
            </a:r>
            <a:r>
              <a:rPr lang="es-ES" b="1" dirty="0" err="1"/>
              <a:t>Moment</a:t>
            </a:r>
            <a:r>
              <a:rPr lang="es-ES" dirty="0"/>
              <a:t>, librerías gráficas como </a:t>
            </a:r>
            <a:r>
              <a:rPr lang="es-ES" b="1" dirty="0"/>
              <a:t>chart.js </a:t>
            </a:r>
            <a:r>
              <a:rPr lang="es-ES" dirty="0"/>
              <a:t>o la aplicación de estilos y componentes visuales de </a:t>
            </a:r>
            <a:r>
              <a:rPr lang="es-ES" dirty="0" err="1"/>
              <a:t>frameworks</a:t>
            </a:r>
            <a:r>
              <a:rPr lang="es-ES" dirty="0"/>
              <a:t> como </a:t>
            </a:r>
            <a:r>
              <a:rPr lang="es-ES" b="1" dirty="0"/>
              <a:t>Bootstrap</a:t>
            </a:r>
            <a:r>
              <a:rPr lang="es-ES" dirty="0"/>
              <a:t> o </a:t>
            </a:r>
            <a:r>
              <a:rPr lang="es-ES" b="1" dirty="0" err="1"/>
              <a:t>MaterialDesign</a:t>
            </a:r>
            <a:r>
              <a:rPr lang="es-ES" dirty="0"/>
              <a:t>. </a:t>
            </a:r>
          </a:p>
          <a:p>
            <a:r>
              <a:rPr lang="es-ES" dirty="0"/>
              <a:t>Todos se instalan de igual forma. </a:t>
            </a:r>
          </a:p>
          <a:p>
            <a:pPr lvl="1"/>
            <a:r>
              <a:rPr lang="es-ES" b="1" dirty="0"/>
              <a:t>Descárgalos con </a:t>
            </a:r>
            <a:r>
              <a:rPr lang="es-ES" b="1" dirty="0" err="1"/>
              <a:t>npm</a:t>
            </a:r>
            <a:r>
              <a:rPr lang="es-ES" b="1" dirty="0"/>
              <a:t> y adjuntándolos en .angular-</a:t>
            </a:r>
            <a:r>
              <a:rPr lang="es-ES" b="1" dirty="0" err="1"/>
              <a:t>cli.json</a:t>
            </a:r>
            <a:r>
              <a:rPr lang="es-ES" b="1" dirty="0"/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61747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445B2-DCFB-44A4-9EDF-83C63546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Estilos y librerías de terceros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40C43-69D6-469A-8EA9-F2EEA6919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Por ejemplo… usemos </a:t>
            </a:r>
            <a:r>
              <a:rPr lang="es-ES" dirty="0" err="1"/>
              <a:t>milligram</a:t>
            </a:r>
            <a:r>
              <a:rPr lang="es-ES" dirty="0"/>
              <a:t> y </a:t>
            </a:r>
            <a:r>
              <a:rPr lang="es-ES" dirty="0" err="1"/>
              <a:t>moment</a:t>
            </a:r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Agrégalos a través del fichero </a:t>
            </a:r>
            <a:r>
              <a:rPr lang="es-ES" b="1" dirty="0" err="1"/>
              <a:t>angular.json</a:t>
            </a:r>
            <a:r>
              <a:rPr lang="es-ES" b="1" dirty="0"/>
              <a:t> </a:t>
            </a:r>
            <a:r>
              <a:rPr lang="es-ES" dirty="0"/>
              <a:t>a la colección de </a:t>
            </a:r>
            <a:r>
              <a:rPr lang="es-ES" dirty="0" err="1"/>
              <a:t>styles</a:t>
            </a:r>
            <a:r>
              <a:rPr lang="es-ES" dirty="0"/>
              <a:t> o de scripts que corresponda</a:t>
            </a:r>
          </a:p>
          <a:p>
            <a:endParaRPr lang="es-E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C8BCD77-8F4B-490E-9351-8995CF13E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1676400"/>
            <a:ext cx="10741462" cy="7078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npm </a:t>
            </a: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sz="2000" b="1" noProof="1">
                <a:latin typeface="Consolas" pitchFamily="49" charset="0"/>
                <a:cs typeface="Consolas" pitchFamily="49" charset="0"/>
              </a:rPr>
              <a:t> milligram --save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npm </a:t>
            </a: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install</a:t>
            </a:r>
            <a:r>
              <a:rPr lang="en-US" sz="2000" b="1" noProof="1">
                <a:latin typeface="Consolas" pitchFamily="49" charset="0"/>
                <a:cs typeface="Consolas" pitchFamily="49" charset="0"/>
              </a:rPr>
              <a:t> moment --save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CC9DC21-7506-4EFB-8E4A-3701C82B1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3352800"/>
            <a:ext cx="10741462" cy="20313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"styles": [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    	"node_modules/milligram/dist/milligram.min.css",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    	"styles.css"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    ],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"scripts": ["node_modules/moment/min/moment.min.js"]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FA12EE4-DFDD-4D5B-AFC3-F6B77B27C5AD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LAB1d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0545FBE-DC01-499F-8DF0-F6411FE66576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C:\Labs\T2\EX1</a:t>
            </a:r>
          </a:p>
        </p:txBody>
      </p:sp>
    </p:spTree>
    <p:extLst>
      <p:ext uri="{BB962C8B-B14F-4D97-AF65-F5344CB8AC3E}">
        <p14:creationId xmlns:p14="http://schemas.microsoft.com/office/powerpoint/2010/main" val="26678888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A64D7-0FA1-4D0A-8347-7DC2A0BE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Estilos y librerías de terceros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87837A-4FE0-4512-891B-815C07BF6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Estas colecciones de archivos los usa el cli a través de </a:t>
            </a:r>
            <a:r>
              <a:rPr lang="es-ES" b="1" dirty="0" err="1">
                <a:solidFill>
                  <a:srgbClr val="FF0000"/>
                </a:solidFill>
              </a:rPr>
              <a:t>webpack</a:t>
            </a:r>
            <a:r>
              <a:rPr lang="es-ES" b="1" dirty="0">
                <a:solidFill>
                  <a:srgbClr val="FF0000"/>
                </a:solidFill>
              </a:rPr>
              <a:t> para incluirlos </a:t>
            </a:r>
            <a:r>
              <a:rPr lang="es-ES" b="1" dirty="0" err="1">
                <a:solidFill>
                  <a:srgbClr val="FF0000"/>
                </a:solidFill>
              </a:rPr>
              <a:t>minificados</a:t>
            </a:r>
            <a:r>
              <a:rPr lang="es-ES" b="1" dirty="0">
                <a:solidFill>
                  <a:srgbClr val="FF0000"/>
                </a:solidFill>
              </a:rPr>
              <a:t> y concatenados en un fichero </a:t>
            </a:r>
            <a:r>
              <a:rPr lang="es-ES" b="1" dirty="0" err="1">
                <a:solidFill>
                  <a:srgbClr val="FF0000"/>
                </a:solidFill>
              </a:rPr>
              <a:t>bundle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dirty="0"/>
              <a:t>sustituyendo a las clásicas etiquetas </a:t>
            </a:r>
            <a:r>
              <a:rPr lang="es-ES" dirty="0" err="1"/>
              <a:t>html</a:t>
            </a:r>
            <a:r>
              <a:rPr lang="es-ES" dirty="0"/>
              <a:t>. </a:t>
            </a:r>
          </a:p>
          <a:p>
            <a:r>
              <a:rPr lang="es-ES" dirty="0"/>
              <a:t>De esta forma el fichero index.html apenas tendrás que tocarlo. </a:t>
            </a:r>
          </a:p>
          <a:p>
            <a:r>
              <a:rPr lang="es-ES" dirty="0"/>
              <a:t>Todo, el </a:t>
            </a:r>
            <a:r>
              <a:rPr lang="es-ES" dirty="0" err="1"/>
              <a:t>html</a:t>
            </a:r>
            <a:r>
              <a:rPr lang="es-ES" dirty="0"/>
              <a:t> y sus estilos, se construirá en el cliente a partir de instrucciones JavaScript.</a:t>
            </a:r>
          </a:p>
          <a:p>
            <a:endParaRPr lang="es-ES" dirty="0"/>
          </a:p>
          <a:p>
            <a:pPr fontAlgn="base"/>
            <a:r>
              <a:rPr lang="es-ES" dirty="0"/>
              <a:t>Una cosa más, los cambios en los ficheros de configuración no se auto recargan. Tienes que parar la servidor y volver a lanzarlo para apreciar el estilo </a:t>
            </a:r>
            <a:r>
              <a:rPr lang="es-ES" i="1" dirty="0" err="1"/>
              <a:t>milligram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24494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tsconfig.json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typescript configuration file</a:t>
            </a:r>
          </a:p>
          <a:p>
            <a:pPr lvl="1"/>
            <a:r>
              <a:rPr lang="en-US" b="1" dirty="0"/>
              <a:t>"target": "es5"</a:t>
            </a:r>
            <a:r>
              <a:rPr lang="en-US" dirty="0"/>
              <a:t>, the TypeScript compiler will transpile our code to es5.</a:t>
            </a:r>
          </a:p>
          <a:p>
            <a:pPr lvl="1"/>
            <a:r>
              <a:rPr lang="en-US" b="1" dirty="0"/>
              <a:t>"</a:t>
            </a:r>
            <a:r>
              <a:rPr lang="en-US" b="1" dirty="0" err="1"/>
              <a:t>sourceMap</a:t>
            </a:r>
            <a:r>
              <a:rPr lang="en-US" b="1" dirty="0"/>
              <a:t>": true</a:t>
            </a:r>
            <a:r>
              <a:rPr lang="en-US" dirty="0"/>
              <a:t>, TypeScript will generate map files for debugging.</a:t>
            </a:r>
          </a:p>
          <a:p>
            <a:pPr lvl="1"/>
            <a:r>
              <a:rPr lang="en-US" b="1" dirty="0"/>
              <a:t>"</a:t>
            </a:r>
            <a:r>
              <a:rPr lang="en-US" b="1" dirty="0" err="1"/>
              <a:t>emitDecoratorMetadata</a:t>
            </a:r>
            <a:r>
              <a:rPr lang="en-US" b="1" dirty="0"/>
              <a:t>": true and "</a:t>
            </a:r>
            <a:r>
              <a:rPr lang="en-US" b="1" dirty="0" err="1"/>
              <a:t>experimentalDecorators</a:t>
            </a:r>
            <a:r>
              <a:rPr lang="en-US" b="1" dirty="0"/>
              <a:t>": true</a:t>
            </a:r>
            <a:r>
              <a:rPr lang="en-US" dirty="0"/>
              <a:t>, both need to be set true for our angular application to compile.</a:t>
            </a:r>
          </a:p>
          <a:p>
            <a:pPr lvl="1"/>
            <a:r>
              <a:rPr lang="en-US" b="1" dirty="0"/>
              <a:t>"</a:t>
            </a:r>
            <a:r>
              <a:rPr lang="en-US" b="1" dirty="0" err="1"/>
              <a:t>noImplicitAny</a:t>
            </a:r>
            <a:r>
              <a:rPr lang="en-US" b="1" dirty="0"/>
              <a:t>": </a:t>
            </a:r>
            <a:r>
              <a:rPr lang="en-US" dirty="0"/>
              <a:t>true if you want all your types to be strongly typed; false if not.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From: </a:t>
            </a:r>
            <a:r>
              <a:rPr lang="en-US" dirty="0">
                <a:hlinkClick r:id="rId2"/>
              </a:rPr>
              <a:t>https://olepetterdahlmann.com/2016/08/19/angular-2-startup-project-in-visual-studio-code-and-visual-studio/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90374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E970903-8428-4203-8518-D9D91BE37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Building</a:t>
            </a:r>
            <a:r>
              <a:rPr lang="es-ES" dirty="0"/>
              <a:t> Blocks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231FED1C-EA9F-42E6-8CCC-A5ECC6F2D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8727297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Building</a:t>
            </a:r>
            <a:r>
              <a:rPr lang="es-ES" dirty="0"/>
              <a:t> Blocks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E07777C-9497-4EDB-A3A2-35F19DE35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</a:t>
            </a:r>
          </a:p>
          <a:p>
            <a:r>
              <a:rPr lang="en-US" dirty="0"/>
              <a:t>Component</a:t>
            </a:r>
          </a:p>
          <a:p>
            <a:r>
              <a:rPr lang="en-US" dirty="0"/>
              <a:t>Metadata</a:t>
            </a:r>
          </a:p>
          <a:p>
            <a:r>
              <a:rPr lang="en-US" dirty="0"/>
              <a:t>Template</a:t>
            </a:r>
          </a:p>
          <a:p>
            <a:r>
              <a:rPr lang="en-US" dirty="0"/>
              <a:t>Data Binding</a:t>
            </a:r>
          </a:p>
          <a:p>
            <a:r>
              <a:rPr lang="en-US" dirty="0"/>
              <a:t>Service</a:t>
            </a:r>
          </a:p>
          <a:p>
            <a:r>
              <a:rPr lang="en-US" dirty="0"/>
              <a:t>Directive</a:t>
            </a:r>
          </a:p>
          <a:p>
            <a:r>
              <a:rPr lang="en-US" dirty="0"/>
              <a:t>Dependency Injection</a:t>
            </a:r>
          </a:p>
          <a:p>
            <a:r>
              <a:rPr lang="en-US" dirty="0"/>
              <a:t>Http Handling</a:t>
            </a:r>
            <a:br>
              <a:rPr lang="en-US" dirty="0"/>
            </a:br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799207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modules</a:t>
            </a:r>
            <a:endParaRPr lang="ru-RU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5CF2D1-D39B-408B-8605-9094A4BFA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2800" dirty="0"/>
              <a:t>Angular apps are </a:t>
            </a:r>
            <a:r>
              <a:rPr lang="en-US" sz="2800" b="1" dirty="0"/>
              <a:t>composed of modules</a:t>
            </a:r>
          </a:p>
          <a:p>
            <a:pPr marL="285750" indent="-285750">
              <a:buFont typeface="Arial"/>
              <a:buChar char="•"/>
            </a:pPr>
            <a:r>
              <a:rPr lang="en-US" sz="2800" b="1" dirty="0"/>
              <a:t>Modules export things </a:t>
            </a:r>
            <a:r>
              <a:rPr lang="en-US" sz="2800" dirty="0"/>
              <a:t>— classes, function, values — that other modules import</a:t>
            </a: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¿prefer to write our application as a collection of modules, each module exporting one thing?</a:t>
            </a:r>
          </a:p>
          <a:p>
            <a:endParaRPr lang="es-ES" dirty="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600" y="3505200"/>
            <a:ext cx="3212612" cy="242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2622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Bootstrapping the App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30A248-34FE-4580-AB34-F950B45F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Every application has at least one </a:t>
            </a:r>
            <a:r>
              <a:rPr lang="en-US" b="1" dirty="0" err="1"/>
              <a:t>NgModule</a:t>
            </a:r>
            <a:r>
              <a:rPr lang="en-US" dirty="0"/>
              <a:t>, the root module that you bootstrap to launch the application.</a:t>
            </a:r>
          </a:p>
          <a:p>
            <a:r>
              <a:rPr lang="en-US" dirty="0"/>
              <a:t>Import application dependencies.</a:t>
            </a:r>
          </a:p>
          <a:p>
            <a:r>
              <a:rPr lang="en-US" dirty="0"/>
              <a:t>Call </a:t>
            </a:r>
            <a:r>
              <a:rPr lang="en-US" b="1" dirty="0"/>
              <a:t>bootstrap</a:t>
            </a:r>
            <a:r>
              <a:rPr lang="en-US" dirty="0"/>
              <a:t> and pass in your top-level component as  the first parameter and an array of dependencies as the  second.</a:t>
            </a:r>
          </a:p>
          <a:p>
            <a:endParaRPr lang="es-ES" dirty="0"/>
          </a:p>
        </p:txBody>
      </p:sp>
      <p:sp>
        <p:nvSpPr>
          <p:cNvPr id="3" name="object 3"/>
          <p:cNvSpPr txBox="1"/>
          <p:nvPr/>
        </p:nvSpPr>
        <p:spPr>
          <a:xfrm>
            <a:off x="1992113" y="2098869"/>
            <a:ext cx="8172896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229" indent="-164300">
              <a:spcBef>
                <a:spcPts val="337"/>
              </a:spcBef>
              <a:buChar char="•"/>
              <a:tabLst>
                <a:tab pos="173229" algn="l"/>
              </a:tabLst>
            </a:pPr>
            <a:endParaRPr sz="253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080148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@NgModule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700626-3BC8-4722-984B-297D1E68A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err="1"/>
              <a:t>NgModules</a:t>
            </a:r>
            <a:r>
              <a:rPr lang="en-US" sz="2800" dirty="0"/>
              <a:t> help organize an application into</a:t>
            </a:r>
            <a:br>
              <a:rPr lang="en-US" sz="2800" dirty="0"/>
            </a:br>
            <a:r>
              <a:rPr lang="en-US" sz="2800" dirty="0"/>
              <a:t>cohesive blocks of functionality.</a:t>
            </a:r>
          </a:p>
          <a:p>
            <a:endParaRPr lang="es-E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BFA"/>
              </a:clrFrom>
              <a:clrTo>
                <a:srgbClr val="FBFB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612" y="2912008"/>
            <a:ext cx="7315200" cy="3689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Изображение 2">
            <a:extLst>
              <a:ext uri="{FF2B5EF4-FFF2-40B4-BE49-F238E27FC236}">
                <a16:creationId xmlns:a16="http://schemas.microsoft.com/office/drawing/2014/main" id="{73EFB140-DF02-4A51-BEEA-172CA6438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401" y="487395"/>
            <a:ext cx="3212612" cy="242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8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ngModule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/>
              <a:t>Angular module is a class decorated with </a:t>
            </a:r>
            <a:r>
              <a:rPr lang="en-US" b="1" dirty="0">
                <a:solidFill>
                  <a:srgbClr val="FF0000"/>
                </a:solidFill>
              </a:rPr>
              <a:t>@</a:t>
            </a:r>
            <a:r>
              <a:rPr lang="en-US" b="1" dirty="0" err="1">
                <a:solidFill>
                  <a:srgbClr val="FF0000"/>
                </a:solidFill>
              </a:rPr>
              <a:t>NgModule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metadata</a:t>
            </a:r>
            <a:r>
              <a:rPr lang="en-US" dirty="0"/>
              <a:t>. The metadata:</a:t>
            </a:r>
          </a:p>
          <a:p>
            <a:pPr lvl="1"/>
            <a:r>
              <a:rPr lang="en-US" b="1" dirty="0"/>
              <a:t>declare</a:t>
            </a:r>
            <a:r>
              <a:rPr lang="en-US" dirty="0"/>
              <a:t> which </a:t>
            </a:r>
            <a:r>
              <a:rPr lang="en-US" b="1" dirty="0"/>
              <a:t>components</a:t>
            </a:r>
            <a:r>
              <a:rPr lang="en-US" dirty="0"/>
              <a:t>, </a:t>
            </a:r>
            <a:r>
              <a:rPr lang="en-US" b="1" dirty="0"/>
              <a:t>directives</a:t>
            </a:r>
            <a:r>
              <a:rPr lang="en-US" dirty="0"/>
              <a:t> and </a:t>
            </a:r>
            <a:r>
              <a:rPr lang="en-US" b="1" dirty="0"/>
              <a:t>pipes</a:t>
            </a:r>
            <a:r>
              <a:rPr lang="en-US" dirty="0"/>
              <a:t> belong to the module.</a:t>
            </a:r>
          </a:p>
          <a:p>
            <a:pPr lvl="1"/>
            <a:r>
              <a:rPr lang="en-US" dirty="0"/>
              <a:t>make some of those </a:t>
            </a:r>
            <a:r>
              <a:rPr lang="en-US" b="1" dirty="0"/>
              <a:t>classes public </a:t>
            </a:r>
            <a:r>
              <a:rPr lang="en-US" dirty="0"/>
              <a:t>so that other component </a:t>
            </a:r>
            <a:r>
              <a:rPr lang="en-US" b="1" dirty="0"/>
              <a:t>templates</a:t>
            </a:r>
            <a:r>
              <a:rPr lang="en-US" dirty="0"/>
              <a:t> can use them.</a:t>
            </a:r>
          </a:p>
          <a:p>
            <a:pPr lvl="1"/>
            <a:r>
              <a:rPr lang="en-US" b="1" dirty="0"/>
              <a:t>import other modules </a:t>
            </a:r>
            <a:r>
              <a:rPr lang="en-US" dirty="0"/>
              <a:t>with the components, directives and pipes needed by the components in this module.</a:t>
            </a:r>
          </a:p>
          <a:p>
            <a:pPr lvl="1"/>
            <a:r>
              <a:rPr lang="en-US" b="1" dirty="0"/>
              <a:t>provide services </a:t>
            </a:r>
            <a:r>
              <a:rPr lang="en-US" dirty="0"/>
              <a:t>at the application level that any application component can use.</a:t>
            </a:r>
          </a:p>
          <a:p>
            <a:r>
              <a:rPr lang="en-US" dirty="0"/>
              <a:t>Every Angular app has </a:t>
            </a:r>
            <a:r>
              <a:rPr lang="en-US" b="1" dirty="0"/>
              <a:t>at least one module class</a:t>
            </a:r>
            <a:r>
              <a:rPr lang="en-US" dirty="0"/>
              <a:t>, the root module. We bootstrap that module to launch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5996404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Module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D17629D-F28E-4125-B3FD-8F0E9C9A7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</a:t>
            </a:r>
            <a:r>
              <a:rPr lang="en-US" b="1" dirty="0"/>
              <a:t>ES6 module syntax</a:t>
            </a:r>
          </a:p>
          <a:p>
            <a:r>
              <a:rPr lang="en-US" dirty="0"/>
              <a:t>Angular applications use modules as the </a:t>
            </a:r>
            <a:r>
              <a:rPr lang="en-US" b="1" dirty="0"/>
              <a:t>core mechanism for composition</a:t>
            </a:r>
          </a:p>
          <a:p>
            <a:r>
              <a:rPr lang="en-US" b="1" dirty="0"/>
              <a:t>Modules export </a:t>
            </a:r>
            <a:r>
              <a:rPr lang="en-US" dirty="0"/>
              <a:t>things that other </a:t>
            </a:r>
            <a:r>
              <a:rPr lang="en-US" b="1" dirty="0"/>
              <a:t>modules can import</a:t>
            </a:r>
          </a:p>
          <a:p>
            <a:r>
              <a:rPr lang="en-US" dirty="0"/>
              <a:t>Keep your modules </a:t>
            </a:r>
            <a:r>
              <a:rPr lang="en-US" b="1" dirty="0"/>
              <a:t>fine-grained and self-documenting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32728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96ACE04B-F373-BB56-6E4D-C5B7DBB30DE6}"/>
              </a:ext>
            </a:extLst>
          </p:cNvPr>
          <p:cNvSpPr/>
          <p:nvPr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" name="object 2"/>
          <p:cNvSpPr/>
          <p:nvPr/>
        </p:nvSpPr>
        <p:spPr>
          <a:xfrm>
            <a:off x="1753679" y="1741002"/>
            <a:ext cx="3612952" cy="294680"/>
          </a:xfrm>
          <a:custGeom>
            <a:avLst/>
            <a:gdLst/>
            <a:ahLst/>
            <a:cxnLst/>
            <a:rect l="l" t="t" r="r" b="b"/>
            <a:pathLst>
              <a:path w="5138420" h="419100">
                <a:moveTo>
                  <a:pt x="0" y="0"/>
                </a:moveTo>
                <a:lnTo>
                  <a:pt x="5138140" y="0"/>
                </a:lnTo>
                <a:lnTo>
                  <a:pt x="513814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53679" y="2035681"/>
            <a:ext cx="4666655" cy="294680"/>
          </a:xfrm>
          <a:custGeom>
            <a:avLst/>
            <a:gdLst/>
            <a:ahLst/>
            <a:cxnLst/>
            <a:rect l="l" t="t" r="r" b="b"/>
            <a:pathLst>
              <a:path w="6637020" h="419100">
                <a:moveTo>
                  <a:pt x="0" y="0"/>
                </a:moveTo>
                <a:lnTo>
                  <a:pt x="6636765" y="0"/>
                </a:lnTo>
                <a:lnTo>
                  <a:pt x="663676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51012" y="3429000"/>
            <a:ext cx="3312021" cy="294680"/>
          </a:xfrm>
          <a:custGeom>
            <a:avLst/>
            <a:gdLst/>
            <a:ahLst/>
            <a:cxnLst/>
            <a:rect l="l" t="t" r="r" b="b"/>
            <a:pathLst>
              <a:path w="4710430" h="419100">
                <a:moveTo>
                  <a:pt x="0" y="0"/>
                </a:moveTo>
                <a:lnTo>
                  <a:pt x="4709960" y="0"/>
                </a:lnTo>
                <a:lnTo>
                  <a:pt x="470996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51013" y="3723680"/>
            <a:ext cx="7978229" cy="294680"/>
          </a:xfrm>
          <a:custGeom>
            <a:avLst/>
            <a:gdLst/>
            <a:ahLst/>
            <a:cxnLst/>
            <a:rect l="l" t="t" r="r" b="b"/>
            <a:pathLst>
              <a:path w="11346815" h="419100">
                <a:moveTo>
                  <a:pt x="0" y="0"/>
                </a:moveTo>
                <a:lnTo>
                  <a:pt x="11346726" y="0"/>
                </a:lnTo>
                <a:lnTo>
                  <a:pt x="11346726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48321" y="1726557"/>
            <a:ext cx="770632" cy="3030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8929">
              <a:lnSpc>
                <a:spcPct val="100000"/>
              </a:lnSpc>
            </a:pPr>
            <a:r>
              <a:rPr sz="1969" b="0" spc="-4" dirty="0">
                <a:solidFill>
                  <a:srgbClr val="B7C4D1"/>
                </a:solidFill>
                <a:latin typeface="Lucida Console"/>
                <a:cs typeface="Lucida Console"/>
              </a:rPr>
              <a:t>//</a:t>
            </a:r>
            <a:r>
              <a:rPr sz="1969" b="0" spc="-67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969" b="0" spc="-4" dirty="0">
                <a:solidFill>
                  <a:srgbClr val="B7C4D1"/>
                </a:solidFill>
                <a:latin typeface="Lucida Console"/>
                <a:cs typeface="Lucida Console"/>
              </a:rPr>
              <a:t>In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1584" y="1723143"/>
            <a:ext cx="2577108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home.component.ts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8322" y="2017822"/>
            <a:ext cx="921097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export</a:t>
            </a:r>
            <a:endParaRPr sz="1969">
              <a:latin typeface="Lucida Sans Typewriter"/>
              <a:cs typeface="Lucida Sans Typewriter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02128" y="2017822"/>
            <a:ext cx="3480346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class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HomeComponent {</a:t>
            </a:r>
            <a:r>
              <a:rPr sz="1969" spc="-21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45654" y="3411141"/>
            <a:ext cx="770632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//</a:t>
            </a:r>
            <a:r>
              <a:rPr sz="1969" spc="-67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In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48917" y="3411141"/>
            <a:ext cx="2426643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app.component.ts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5654" y="3705821"/>
            <a:ext cx="3329880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import</a:t>
            </a:r>
            <a:r>
              <a:rPr sz="1969" b="1" spc="-2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{HomeComponent}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7881" y="3705821"/>
            <a:ext cx="620167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from</a:t>
            </a:r>
            <a:endParaRPr sz="1969">
              <a:latin typeface="Lucida Sans Typewriter"/>
              <a:cs typeface="Lucida Sans Typewri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60538" y="3705821"/>
            <a:ext cx="3630811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./home/</a:t>
            </a:r>
            <a:r>
              <a:rPr sz="1969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home.component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8865" y="5929312"/>
            <a:ext cx="2180630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316" dirty="0">
                <a:solidFill>
                  <a:srgbClr val="53585F"/>
                </a:solidFill>
                <a:latin typeface="Trebuchet MS"/>
                <a:cs typeface="Trebuchet MS"/>
              </a:rPr>
              <a:t>Mo</a:t>
            </a:r>
            <a:r>
              <a:rPr sz="5062" b="1" spc="-84" dirty="0">
                <a:solidFill>
                  <a:srgbClr val="53585F"/>
                </a:solidFill>
                <a:latin typeface="Trebuchet MS"/>
                <a:cs typeface="Trebuchet MS"/>
              </a:rPr>
              <a:t>d</a:t>
            </a:r>
            <a:r>
              <a:rPr sz="5062" b="1" spc="-134" dirty="0">
                <a:solidFill>
                  <a:srgbClr val="53585F"/>
                </a:solidFill>
                <a:latin typeface="Trebuchet MS"/>
                <a:cs typeface="Trebuchet MS"/>
              </a:rPr>
              <a:t>u</a:t>
            </a:r>
            <a:r>
              <a:rPr sz="5062" b="1" spc="-143" dirty="0">
                <a:solidFill>
                  <a:srgbClr val="53585F"/>
                </a:solidFill>
                <a:latin typeface="Trebuchet MS"/>
                <a:cs typeface="Trebuchet MS"/>
              </a:rPr>
              <a:t>l</a:t>
            </a:r>
            <a:r>
              <a:rPr sz="5062" b="1" spc="-232" dirty="0">
                <a:solidFill>
                  <a:srgbClr val="53585F"/>
                </a:solidFill>
                <a:latin typeface="Trebuchet MS"/>
                <a:cs typeface="Trebuchet MS"/>
              </a:rPr>
              <a:t>e</a:t>
            </a:r>
            <a:endParaRPr sz="5062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748969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6128C2-2EB5-4FC1-A70A-388D24A8F7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72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C014DD1E-5D91-48A3-AD6D-45FBA980D106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7964EA-4D6E-4F97-B246-B48E9F9A4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860"/>
            <a:ext cx="12188825" cy="660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155798"/>
      </p:ext>
    </p:extLst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C12A5-403B-456C-B635-979B0DAC4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ngModule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399256-7EC4-4835-A8AC-C48052960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 err="1"/>
              <a:t>Imports</a:t>
            </a:r>
            <a:r>
              <a:rPr lang="es-ES" b="1" dirty="0"/>
              <a:t>:</a:t>
            </a:r>
            <a:r>
              <a:rPr lang="es-ES" dirty="0"/>
              <a:t> hace que las declaraciones exportadas de otros módulos estén disponibles en el módulo actual</a:t>
            </a:r>
          </a:p>
          <a:p>
            <a:r>
              <a:rPr lang="es-ES" b="1" dirty="0" err="1"/>
              <a:t>Declarations</a:t>
            </a:r>
            <a:r>
              <a:rPr lang="es-ES" dirty="0"/>
              <a:t>: hace que las directivas (incluidos los componentes y las tuberías) del módulo actual estén disponibles para otras directivas en el módulo actual.</a:t>
            </a:r>
          </a:p>
          <a:p>
            <a:r>
              <a:rPr lang="es-ES" b="1" dirty="0" err="1"/>
              <a:t>Providers</a:t>
            </a:r>
            <a:r>
              <a:rPr lang="es-ES" b="1" dirty="0"/>
              <a:t>:</a:t>
            </a:r>
            <a:r>
              <a:rPr lang="es-ES" dirty="0"/>
              <a:t> hace que los servicios y valores sean conocidos por el Inyector de dependencias. </a:t>
            </a:r>
            <a:r>
              <a:rPr lang="es-ES" dirty="0">
                <a:solidFill>
                  <a:srgbClr val="FF0000"/>
                </a:solidFill>
              </a:rPr>
              <a:t>Se agregan al ámbito raíz y se inyectan a otros servicios o directivas que lo tengan como dependencia.</a:t>
            </a:r>
          </a:p>
        </p:txBody>
      </p:sp>
    </p:spTree>
    <p:extLst>
      <p:ext uri="{BB962C8B-B14F-4D97-AF65-F5344CB8AC3E}">
        <p14:creationId xmlns:p14="http://schemas.microsoft.com/office/powerpoint/2010/main" val="8674662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445B2-DCFB-44A4-9EDF-83C63546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Estilos y librerías de terceros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40C43-69D6-469A-8EA9-F2EEA6919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Mira el módulo </a:t>
            </a:r>
            <a:r>
              <a:rPr lang="es-ES" dirty="0" err="1"/>
              <a:t>AppModule</a:t>
            </a:r>
            <a:r>
              <a:rPr lang="es-ES" dirty="0"/>
              <a:t> original que genera el CLI en el fichero </a:t>
            </a:r>
            <a:r>
              <a:rPr lang="es-ES" dirty="0" err="1"/>
              <a:t>app.module.ts</a:t>
            </a:r>
            <a:r>
              <a:rPr lang="es-ES" dirty="0"/>
              <a:t>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C8BCD77-8F4B-490E-9351-8995CF13E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1828800"/>
            <a:ext cx="10361831" cy="369331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b="1" dirty="0">
                <a:latin typeface="Consolas" panose="020B0609020204030204" pitchFamily="49" charset="0"/>
              </a:rPr>
              <a:t>…</a:t>
            </a:r>
          </a:p>
          <a:p>
            <a:r>
              <a:rPr lang="es-ES" b="1" dirty="0">
                <a:latin typeface="Consolas" panose="020B0609020204030204" pitchFamily="49" charset="0"/>
              </a:rPr>
              <a:t>@</a:t>
            </a:r>
            <a:r>
              <a:rPr lang="es-ES" b="1" dirty="0" err="1">
                <a:latin typeface="Consolas" panose="020B0609020204030204" pitchFamily="49" charset="0"/>
              </a:rPr>
              <a:t>NgModule</a:t>
            </a:r>
            <a:r>
              <a:rPr lang="es-ES" b="1" dirty="0">
                <a:latin typeface="Consolas" panose="020B0609020204030204" pitchFamily="49" charset="0"/>
              </a:rPr>
              <a:t>({</a:t>
            </a:r>
          </a:p>
          <a:p>
            <a:r>
              <a:rPr lang="es-ES" b="1" dirty="0">
                <a:latin typeface="Consolas" panose="020B0609020204030204" pitchFamily="49" charset="0"/>
              </a:rPr>
              <a:t>	</a:t>
            </a:r>
            <a:r>
              <a:rPr lang="es-ES" b="1" dirty="0" err="1">
                <a:latin typeface="Consolas" panose="020B0609020204030204" pitchFamily="49" charset="0"/>
              </a:rPr>
              <a:t>declarations</a:t>
            </a:r>
            <a:r>
              <a:rPr lang="es-ES" b="1" dirty="0">
                <a:latin typeface="Consolas" panose="020B0609020204030204" pitchFamily="49" charset="0"/>
              </a:rPr>
              <a:t>: [</a:t>
            </a:r>
          </a:p>
          <a:p>
            <a:r>
              <a:rPr lang="es-ES" b="1" dirty="0">
                <a:latin typeface="Consolas" panose="020B0609020204030204" pitchFamily="49" charset="0"/>
              </a:rPr>
              <a:t>		</a:t>
            </a:r>
            <a:r>
              <a:rPr lang="es-ES" b="1" dirty="0" err="1">
                <a:latin typeface="Consolas" panose="020B0609020204030204" pitchFamily="49" charset="0"/>
              </a:rPr>
              <a:t>AppComponent</a:t>
            </a:r>
            <a:endParaRPr lang="es-ES" b="1" dirty="0">
              <a:latin typeface="Consolas" panose="020B0609020204030204" pitchFamily="49" charset="0"/>
            </a:endParaRPr>
          </a:p>
          <a:p>
            <a:r>
              <a:rPr lang="es-ES" b="1" dirty="0">
                <a:latin typeface="Consolas" panose="020B0609020204030204" pitchFamily="49" charset="0"/>
              </a:rPr>
              <a:t>	],</a:t>
            </a:r>
          </a:p>
          <a:p>
            <a:r>
              <a:rPr lang="es-ES" b="1" dirty="0">
                <a:latin typeface="Consolas" panose="020B0609020204030204" pitchFamily="49" charset="0"/>
              </a:rPr>
              <a:t>	</a:t>
            </a:r>
            <a:r>
              <a:rPr lang="es-ES" b="1" dirty="0" err="1">
                <a:latin typeface="Consolas" panose="020B0609020204030204" pitchFamily="49" charset="0"/>
              </a:rPr>
              <a:t>imports</a:t>
            </a:r>
            <a:r>
              <a:rPr lang="es-ES" b="1" dirty="0">
                <a:latin typeface="Consolas" panose="020B0609020204030204" pitchFamily="49" charset="0"/>
              </a:rPr>
              <a:t>: [</a:t>
            </a:r>
          </a:p>
          <a:p>
            <a:r>
              <a:rPr lang="es-ES" b="1" dirty="0">
                <a:latin typeface="Consolas" panose="020B0609020204030204" pitchFamily="49" charset="0"/>
              </a:rPr>
              <a:t>		</a:t>
            </a:r>
            <a:r>
              <a:rPr lang="es-ES" b="1" dirty="0" err="1">
                <a:latin typeface="Consolas" panose="020B0609020204030204" pitchFamily="49" charset="0"/>
              </a:rPr>
              <a:t>BrowserModule</a:t>
            </a:r>
            <a:r>
              <a:rPr lang="es-ES" b="1" dirty="0">
                <a:latin typeface="Consolas" panose="020B0609020204030204" pitchFamily="49" charset="0"/>
              </a:rPr>
              <a:t>,</a:t>
            </a:r>
          </a:p>
          <a:p>
            <a:r>
              <a:rPr lang="es-ES" b="1" dirty="0">
                <a:latin typeface="Consolas" panose="020B0609020204030204" pitchFamily="49" charset="0"/>
              </a:rPr>
              <a:t>		</a:t>
            </a:r>
            <a:r>
              <a:rPr lang="es-ES" b="1" dirty="0" err="1">
                <a:latin typeface="Consolas" panose="020B0609020204030204" pitchFamily="49" charset="0"/>
              </a:rPr>
              <a:t>AppRoutingModule</a:t>
            </a:r>
            <a:endParaRPr lang="es-ES" b="1" dirty="0">
              <a:latin typeface="Consolas" panose="020B0609020204030204" pitchFamily="49" charset="0"/>
            </a:endParaRPr>
          </a:p>
          <a:p>
            <a:r>
              <a:rPr lang="es-ES" b="1" dirty="0">
                <a:latin typeface="Consolas" panose="020B0609020204030204" pitchFamily="49" charset="0"/>
              </a:rPr>
              <a:t>	],</a:t>
            </a:r>
          </a:p>
          <a:p>
            <a:r>
              <a:rPr lang="es-ES" b="1" dirty="0">
                <a:latin typeface="Consolas" panose="020B0609020204030204" pitchFamily="49" charset="0"/>
              </a:rPr>
              <a:t>	</a:t>
            </a:r>
            <a:r>
              <a:rPr lang="es-ES" b="1" dirty="0" err="1">
                <a:latin typeface="Consolas" panose="020B0609020204030204" pitchFamily="49" charset="0"/>
              </a:rPr>
              <a:t>providers</a:t>
            </a:r>
            <a:r>
              <a:rPr lang="es-ES" b="1" dirty="0">
                <a:latin typeface="Consolas" panose="020B0609020204030204" pitchFamily="49" charset="0"/>
              </a:rPr>
              <a:t>: [],</a:t>
            </a:r>
          </a:p>
          <a:p>
            <a:r>
              <a:rPr lang="es-ES" b="1" dirty="0">
                <a:latin typeface="Consolas" panose="020B0609020204030204" pitchFamily="49" charset="0"/>
              </a:rPr>
              <a:t>	</a:t>
            </a:r>
            <a:r>
              <a:rPr lang="es-ES" b="1" dirty="0" err="1">
                <a:latin typeface="Consolas" panose="020B0609020204030204" pitchFamily="49" charset="0"/>
              </a:rPr>
              <a:t>bootstrap</a:t>
            </a:r>
            <a:r>
              <a:rPr lang="es-ES" b="1" dirty="0">
                <a:latin typeface="Consolas" panose="020B0609020204030204" pitchFamily="49" charset="0"/>
              </a:rPr>
              <a:t>: [</a:t>
            </a:r>
            <a:r>
              <a:rPr lang="es-ES" b="1" dirty="0" err="1">
                <a:latin typeface="Consolas" panose="020B0609020204030204" pitchFamily="49" charset="0"/>
              </a:rPr>
              <a:t>AppComponent</a:t>
            </a:r>
            <a:r>
              <a:rPr lang="es-ES" b="1" dirty="0">
                <a:latin typeface="Consolas" panose="020B0609020204030204" pitchFamily="49" charset="0"/>
              </a:rPr>
              <a:t>]</a:t>
            </a:r>
          </a:p>
          <a:p>
            <a:r>
              <a:rPr lang="es-ES" b="1" dirty="0">
                <a:latin typeface="Consolas" panose="020B0609020204030204" pitchFamily="49" charset="0"/>
              </a:rPr>
              <a:t>})</a:t>
            </a:r>
          </a:p>
          <a:p>
            <a:r>
              <a:rPr lang="es-ES" b="1" dirty="0" err="1">
                <a:latin typeface="Consolas" panose="020B0609020204030204" pitchFamily="49" charset="0"/>
              </a:rPr>
              <a:t>export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class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AppModule</a:t>
            </a:r>
            <a:r>
              <a:rPr lang="es-ES" b="1" dirty="0">
                <a:latin typeface="Consolas" panose="020B0609020204030204" pitchFamily="49" charset="0"/>
              </a:rPr>
              <a:t> { }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FA12EE4-DFDD-4D5B-AFC3-F6B77B27C5AD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0545FBE-DC01-499F-8DF0-F6411FE66576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C:\Labs\T2\EX2</a:t>
            </a:r>
          </a:p>
        </p:txBody>
      </p:sp>
    </p:spTree>
    <p:extLst>
      <p:ext uri="{BB962C8B-B14F-4D97-AF65-F5344CB8AC3E}">
        <p14:creationId xmlns:p14="http://schemas.microsoft.com/office/powerpoint/2010/main" val="42515192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85E92-F34A-4DAF-92C0-73AC36EC1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Dos mundos paralelos: </a:t>
            </a:r>
            <a:r>
              <a:rPr lang="pt-BR" dirty="0" err="1"/>
              <a:t>imports</a:t>
            </a:r>
            <a:r>
              <a:rPr lang="pt-BR" dirty="0"/>
              <a:t> de Angular e </a:t>
            </a:r>
            <a:r>
              <a:rPr lang="pt-BR" dirty="0" err="1"/>
              <a:t>import</a:t>
            </a:r>
            <a:r>
              <a:rPr lang="pt-BR" dirty="0"/>
              <a:t> de </a:t>
            </a:r>
            <a:r>
              <a:rPr lang="pt-BR" dirty="0" err="1"/>
              <a:t>TypeScript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C3D9B7-7F4F-4CC1-97C5-A73A440D6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es la primera vez que ves código </a:t>
            </a:r>
            <a:r>
              <a:rPr lang="es-ES" dirty="0" err="1"/>
              <a:t>TypeScript</a:t>
            </a:r>
            <a:r>
              <a:rPr lang="es-ES" dirty="0"/>
              <a:t> te llamarán la atención las primeras líneas de cada fichero. </a:t>
            </a:r>
          </a:p>
          <a:p>
            <a:r>
              <a:rPr lang="es-ES" dirty="0"/>
              <a:t>En el </a:t>
            </a:r>
            <a:r>
              <a:rPr lang="es-ES" dirty="0" err="1"/>
              <a:t>app.module.ts</a:t>
            </a:r>
            <a:r>
              <a:rPr lang="es-ES" dirty="0"/>
              <a:t> son algo así: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FF5A658-6BD0-453C-9B2A-6F5807AA6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2743200"/>
            <a:ext cx="10361831" cy="120032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b="1" dirty="0" err="1">
                <a:latin typeface="Consolas" panose="020B0609020204030204" pitchFamily="49" charset="0"/>
              </a:rPr>
              <a:t>import</a:t>
            </a:r>
            <a:r>
              <a:rPr lang="es-ES" b="1" dirty="0">
                <a:latin typeface="Consolas" panose="020B0609020204030204" pitchFamily="49" charset="0"/>
              </a:rPr>
              <a:t> { </a:t>
            </a:r>
            <a:r>
              <a:rPr lang="es-ES" b="1" dirty="0" err="1">
                <a:latin typeface="Consolas" panose="020B0609020204030204" pitchFamily="49" charset="0"/>
              </a:rPr>
              <a:t>BrowserModule</a:t>
            </a:r>
            <a:r>
              <a:rPr lang="es-ES" b="1" dirty="0">
                <a:latin typeface="Consolas" panose="020B0609020204030204" pitchFamily="49" charset="0"/>
              </a:rPr>
              <a:t> } </a:t>
            </a:r>
            <a:r>
              <a:rPr lang="es-ES" b="1" dirty="0" err="1">
                <a:latin typeface="Consolas" panose="020B0609020204030204" pitchFamily="49" charset="0"/>
              </a:rPr>
              <a:t>from</a:t>
            </a:r>
            <a:r>
              <a:rPr lang="es-ES" b="1" dirty="0">
                <a:latin typeface="Consolas" panose="020B0609020204030204" pitchFamily="49" charset="0"/>
              </a:rPr>
              <a:t> "@angular/</a:t>
            </a:r>
            <a:r>
              <a:rPr lang="es-ES" b="1" dirty="0" err="1">
                <a:latin typeface="Consolas" panose="020B0609020204030204" pitchFamily="49" charset="0"/>
              </a:rPr>
              <a:t>platform</a:t>
            </a:r>
            <a:r>
              <a:rPr lang="es-ES" b="1" dirty="0">
                <a:latin typeface="Consolas" panose="020B0609020204030204" pitchFamily="49" charset="0"/>
              </a:rPr>
              <a:t>-browser";</a:t>
            </a:r>
          </a:p>
          <a:p>
            <a:r>
              <a:rPr lang="es-ES" b="1" dirty="0" err="1">
                <a:latin typeface="Consolas" panose="020B0609020204030204" pitchFamily="49" charset="0"/>
              </a:rPr>
              <a:t>import</a:t>
            </a:r>
            <a:r>
              <a:rPr lang="es-ES" b="1" dirty="0">
                <a:latin typeface="Consolas" panose="020B0609020204030204" pitchFamily="49" charset="0"/>
              </a:rPr>
              <a:t> { </a:t>
            </a:r>
            <a:r>
              <a:rPr lang="es-ES" b="1" dirty="0" err="1">
                <a:latin typeface="Consolas" panose="020B0609020204030204" pitchFamily="49" charset="0"/>
              </a:rPr>
              <a:t>NgModule</a:t>
            </a:r>
            <a:r>
              <a:rPr lang="es-ES" b="1" dirty="0">
                <a:latin typeface="Consolas" panose="020B0609020204030204" pitchFamily="49" charset="0"/>
              </a:rPr>
              <a:t> } </a:t>
            </a:r>
            <a:r>
              <a:rPr lang="es-ES" b="1" dirty="0" err="1">
                <a:latin typeface="Consolas" panose="020B0609020204030204" pitchFamily="49" charset="0"/>
              </a:rPr>
              <a:t>from</a:t>
            </a:r>
            <a:r>
              <a:rPr lang="es-ES" b="1" dirty="0">
                <a:latin typeface="Consolas" panose="020B0609020204030204" pitchFamily="49" charset="0"/>
              </a:rPr>
              <a:t> "@angular/</a:t>
            </a:r>
            <a:r>
              <a:rPr lang="es-ES" b="1" dirty="0" err="1">
                <a:latin typeface="Consolas" panose="020B0609020204030204" pitchFamily="49" charset="0"/>
              </a:rPr>
              <a:t>core</a:t>
            </a:r>
            <a:r>
              <a:rPr lang="es-ES" b="1" dirty="0">
                <a:latin typeface="Consolas" panose="020B0609020204030204" pitchFamily="49" charset="0"/>
              </a:rPr>
              <a:t>";</a:t>
            </a:r>
          </a:p>
          <a:p>
            <a:r>
              <a:rPr lang="es-ES" b="1" dirty="0" err="1">
                <a:latin typeface="Consolas" panose="020B0609020204030204" pitchFamily="49" charset="0"/>
              </a:rPr>
              <a:t>import</a:t>
            </a:r>
            <a:r>
              <a:rPr lang="es-ES" b="1" dirty="0">
                <a:latin typeface="Consolas" panose="020B0609020204030204" pitchFamily="49" charset="0"/>
              </a:rPr>
              <a:t> { </a:t>
            </a:r>
            <a:r>
              <a:rPr lang="es-ES" b="1" dirty="0" err="1">
                <a:latin typeface="Consolas" panose="020B0609020204030204" pitchFamily="49" charset="0"/>
              </a:rPr>
              <a:t>AppRoutingModule</a:t>
            </a:r>
            <a:r>
              <a:rPr lang="es-ES" b="1" dirty="0">
                <a:latin typeface="Consolas" panose="020B0609020204030204" pitchFamily="49" charset="0"/>
              </a:rPr>
              <a:t> } </a:t>
            </a:r>
            <a:r>
              <a:rPr lang="es-ES" b="1" dirty="0" err="1">
                <a:latin typeface="Consolas" panose="020B0609020204030204" pitchFamily="49" charset="0"/>
              </a:rPr>
              <a:t>from</a:t>
            </a:r>
            <a:r>
              <a:rPr lang="es-ES" b="1" dirty="0">
                <a:latin typeface="Consolas" panose="020B0609020204030204" pitchFamily="49" charset="0"/>
              </a:rPr>
              <a:t> "./app-</a:t>
            </a:r>
            <a:r>
              <a:rPr lang="es-ES" b="1" dirty="0" err="1">
                <a:latin typeface="Consolas" panose="020B0609020204030204" pitchFamily="49" charset="0"/>
              </a:rPr>
              <a:t>routing.module</a:t>
            </a:r>
            <a:r>
              <a:rPr lang="es-ES" b="1" dirty="0">
                <a:latin typeface="Consolas" panose="020B0609020204030204" pitchFamily="49" charset="0"/>
              </a:rPr>
              <a:t>";</a:t>
            </a:r>
          </a:p>
          <a:p>
            <a:r>
              <a:rPr lang="es-ES" b="1" dirty="0" err="1">
                <a:latin typeface="Consolas" panose="020B0609020204030204" pitchFamily="49" charset="0"/>
              </a:rPr>
              <a:t>import</a:t>
            </a:r>
            <a:r>
              <a:rPr lang="es-ES" b="1" dirty="0">
                <a:latin typeface="Consolas" panose="020B0609020204030204" pitchFamily="49" charset="0"/>
              </a:rPr>
              <a:t> { </a:t>
            </a:r>
            <a:r>
              <a:rPr lang="es-ES" b="1" dirty="0" err="1">
                <a:latin typeface="Consolas" panose="020B0609020204030204" pitchFamily="49" charset="0"/>
              </a:rPr>
              <a:t>AppComponent</a:t>
            </a:r>
            <a:r>
              <a:rPr lang="es-ES" b="1" dirty="0">
                <a:latin typeface="Consolas" panose="020B0609020204030204" pitchFamily="49" charset="0"/>
              </a:rPr>
              <a:t> } </a:t>
            </a:r>
            <a:r>
              <a:rPr lang="es-ES" b="1" dirty="0" err="1">
                <a:latin typeface="Consolas" panose="020B0609020204030204" pitchFamily="49" charset="0"/>
              </a:rPr>
              <a:t>from</a:t>
            </a:r>
            <a:r>
              <a:rPr lang="es-ES" b="1" dirty="0">
                <a:latin typeface="Consolas" panose="020B0609020204030204" pitchFamily="49" charset="0"/>
              </a:rPr>
              <a:t> "./</a:t>
            </a:r>
            <a:r>
              <a:rPr lang="es-ES" b="1" dirty="0" err="1">
                <a:latin typeface="Consolas" panose="020B0609020204030204" pitchFamily="49" charset="0"/>
              </a:rPr>
              <a:t>app.component</a:t>
            </a:r>
            <a:r>
              <a:rPr lang="es-ES" b="1" dirty="0">
                <a:latin typeface="Consolas" panose="020B0609020204030204" pitchFamily="49" charset="0"/>
              </a:rPr>
              <a:t>";</a:t>
            </a:r>
          </a:p>
        </p:txBody>
      </p:sp>
    </p:spTree>
    <p:extLst>
      <p:ext uri="{BB962C8B-B14F-4D97-AF65-F5344CB8AC3E}">
        <p14:creationId xmlns:p14="http://schemas.microsoft.com/office/powerpoint/2010/main" val="14673095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85E92-F34A-4DAF-92C0-73AC36EC1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Generación de módulos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C3D9B7-7F4F-4CC1-97C5-A73A440D6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Esta es la sintaxis abreviada del comando ng </a:t>
            </a:r>
            <a:r>
              <a:rPr lang="es-ES" dirty="0" err="1"/>
              <a:t>generate</a:t>
            </a:r>
            <a:r>
              <a:rPr lang="es-ES" dirty="0"/>
              <a:t> el cual dispone de varios planos de construcción o </a:t>
            </a:r>
            <a:r>
              <a:rPr lang="es-ES" dirty="0" err="1"/>
              <a:t>blueprints</a:t>
            </a:r>
            <a:r>
              <a:rPr lang="es-ES" dirty="0"/>
              <a:t>. </a:t>
            </a:r>
          </a:p>
          <a:p>
            <a:r>
              <a:rPr lang="es-ES" dirty="0"/>
              <a:t>El que he usado aquí es el de module para la construcción de módulos.</a:t>
            </a:r>
          </a:p>
          <a:p>
            <a:endParaRPr lang="es-ES" dirty="0"/>
          </a:p>
          <a:p>
            <a:r>
              <a:rPr lang="es-ES" dirty="0"/>
              <a:t>El resultado es la creación del fichero </a:t>
            </a:r>
            <a:r>
              <a:rPr lang="es-ES" b="1" dirty="0" err="1"/>
              <a:t>lib</a:t>
            </a:r>
            <a:r>
              <a:rPr lang="es-ES" b="1" dirty="0"/>
              <a:t>/</a:t>
            </a:r>
            <a:r>
              <a:rPr lang="es-ES" b="1" dirty="0" err="1"/>
              <a:t>components</a:t>
            </a:r>
            <a:r>
              <a:rPr lang="es-ES" b="1" dirty="0"/>
              <a:t>/</a:t>
            </a:r>
            <a:r>
              <a:rPr lang="es-ES" b="1" dirty="0" err="1"/>
              <a:t>components.module.ts</a:t>
            </a:r>
            <a:r>
              <a:rPr lang="es-ES" b="1" dirty="0"/>
              <a:t> </a:t>
            </a:r>
            <a:r>
              <a:rPr lang="es-ES" dirty="0"/>
              <a:t>con la declaración y decoración del módulo </a:t>
            </a:r>
            <a:r>
              <a:rPr lang="es-ES" b="1" dirty="0" err="1"/>
              <a:t>ComponentsModule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FF5A658-6BD0-453C-9B2A-6F5807AA6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2" y="2450068"/>
            <a:ext cx="10285631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&gt; ng g m lib/components</a:t>
            </a:r>
            <a:endParaRPr lang="es-ES" b="1" dirty="0">
              <a:latin typeface="Consolas" panose="020B0609020204030204" pitchFamily="49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F977E31-7A4E-427A-973F-625A66886984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7EED35F-9DA8-4C12-84D5-DCD58926F3B1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C:\Labs\T2\EX2</a:t>
            </a:r>
          </a:p>
        </p:txBody>
      </p:sp>
    </p:spTree>
    <p:extLst>
      <p:ext uri="{BB962C8B-B14F-4D97-AF65-F5344CB8AC3E}">
        <p14:creationId xmlns:p14="http://schemas.microsoft.com/office/powerpoint/2010/main" val="11825346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9FBAE24-AE80-4308-AA1A-0AE19D8B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Generación de módulos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EAE3B708-5BC2-431B-9B41-249BFB1D5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Este módulo te servirá de contenedor para guardar componentes como veremos más adelante.</a:t>
            </a:r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69D2B2-615B-4CA0-93C1-F0E38938C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2209800"/>
            <a:ext cx="10361831" cy="286232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b="1" dirty="0" err="1">
                <a:latin typeface="Consolas" panose="020B0609020204030204" pitchFamily="49" charset="0"/>
              </a:rPr>
              <a:t>import</a:t>
            </a:r>
            <a:r>
              <a:rPr lang="es-ES" b="1" dirty="0">
                <a:latin typeface="Consolas" panose="020B0609020204030204" pitchFamily="49" charset="0"/>
              </a:rPr>
              <a:t> { </a:t>
            </a:r>
            <a:r>
              <a:rPr lang="es-ES" b="1" dirty="0" err="1">
                <a:latin typeface="Consolas" panose="020B0609020204030204" pitchFamily="49" charset="0"/>
              </a:rPr>
              <a:t>NgModule</a:t>
            </a:r>
            <a:r>
              <a:rPr lang="es-ES" b="1" dirty="0">
                <a:latin typeface="Consolas" panose="020B0609020204030204" pitchFamily="49" charset="0"/>
              </a:rPr>
              <a:t> } </a:t>
            </a:r>
            <a:r>
              <a:rPr lang="es-ES" b="1" dirty="0" err="1">
                <a:latin typeface="Consolas" panose="020B0609020204030204" pitchFamily="49" charset="0"/>
              </a:rPr>
              <a:t>from</a:t>
            </a:r>
            <a:r>
              <a:rPr lang="es-ES" b="1" dirty="0">
                <a:latin typeface="Consolas" panose="020B0609020204030204" pitchFamily="49" charset="0"/>
              </a:rPr>
              <a:t> '@angular/</a:t>
            </a:r>
            <a:r>
              <a:rPr lang="es-ES" b="1" dirty="0" err="1">
                <a:latin typeface="Consolas" panose="020B0609020204030204" pitchFamily="49" charset="0"/>
              </a:rPr>
              <a:t>core</a:t>
            </a:r>
            <a:r>
              <a:rPr lang="es-ES" b="1" dirty="0">
                <a:latin typeface="Consolas" panose="020B0609020204030204" pitchFamily="49" charset="0"/>
              </a:rPr>
              <a:t>';</a:t>
            </a:r>
          </a:p>
          <a:p>
            <a:r>
              <a:rPr lang="es-ES" b="1" dirty="0" err="1">
                <a:latin typeface="Consolas" panose="020B0609020204030204" pitchFamily="49" charset="0"/>
              </a:rPr>
              <a:t>import</a:t>
            </a:r>
            <a:r>
              <a:rPr lang="es-ES" b="1" dirty="0">
                <a:latin typeface="Consolas" panose="020B0609020204030204" pitchFamily="49" charset="0"/>
              </a:rPr>
              <a:t> { </a:t>
            </a:r>
            <a:r>
              <a:rPr lang="es-ES" b="1" dirty="0" err="1">
                <a:latin typeface="Consolas" panose="020B0609020204030204" pitchFamily="49" charset="0"/>
              </a:rPr>
              <a:t>CommonModule</a:t>
            </a:r>
            <a:r>
              <a:rPr lang="es-ES" b="1" dirty="0">
                <a:latin typeface="Consolas" panose="020B0609020204030204" pitchFamily="49" charset="0"/>
              </a:rPr>
              <a:t> } </a:t>
            </a:r>
            <a:r>
              <a:rPr lang="es-ES" b="1" dirty="0" err="1">
                <a:latin typeface="Consolas" panose="020B0609020204030204" pitchFamily="49" charset="0"/>
              </a:rPr>
              <a:t>from</a:t>
            </a:r>
            <a:r>
              <a:rPr lang="es-ES" b="1" dirty="0">
                <a:latin typeface="Consolas" panose="020B0609020204030204" pitchFamily="49" charset="0"/>
              </a:rPr>
              <a:t> '@angular/</a:t>
            </a:r>
            <a:r>
              <a:rPr lang="es-ES" b="1" dirty="0" err="1">
                <a:latin typeface="Consolas" panose="020B0609020204030204" pitchFamily="49" charset="0"/>
              </a:rPr>
              <a:t>common</a:t>
            </a:r>
            <a:r>
              <a:rPr lang="es-ES" b="1" dirty="0">
                <a:latin typeface="Consolas" panose="020B0609020204030204" pitchFamily="49" charset="0"/>
              </a:rPr>
              <a:t>';</a:t>
            </a:r>
          </a:p>
          <a:p>
            <a:br>
              <a:rPr lang="es-ES" b="1" dirty="0">
                <a:latin typeface="Consolas" panose="020B0609020204030204" pitchFamily="49" charset="0"/>
              </a:rPr>
            </a:br>
            <a:r>
              <a:rPr lang="es-ES" b="1" dirty="0">
                <a:latin typeface="Consolas" panose="020B0609020204030204" pitchFamily="49" charset="0"/>
              </a:rPr>
              <a:t>@</a:t>
            </a:r>
            <a:r>
              <a:rPr lang="es-ES" b="1" dirty="0" err="1">
                <a:latin typeface="Consolas" panose="020B0609020204030204" pitchFamily="49" charset="0"/>
              </a:rPr>
              <a:t>NgModule</a:t>
            </a:r>
            <a:r>
              <a:rPr lang="es-ES" b="1" dirty="0">
                <a:latin typeface="Consolas" panose="020B0609020204030204" pitchFamily="49" charset="0"/>
              </a:rPr>
              <a:t>({</a:t>
            </a:r>
          </a:p>
          <a:p>
            <a:r>
              <a:rPr lang="es-ES" b="1" dirty="0">
                <a:latin typeface="Consolas" panose="020B0609020204030204" pitchFamily="49" charset="0"/>
              </a:rPr>
              <a:t>	</a:t>
            </a:r>
            <a:r>
              <a:rPr lang="es-ES" b="1" dirty="0" err="1">
                <a:latin typeface="Consolas" panose="020B0609020204030204" pitchFamily="49" charset="0"/>
              </a:rPr>
              <a:t>imports</a:t>
            </a:r>
            <a:r>
              <a:rPr lang="es-ES" b="1" dirty="0">
                <a:latin typeface="Consolas" panose="020B0609020204030204" pitchFamily="49" charset="0"/>
              </a:rPr>
              <a:t>: [</a:t>
            </a:r>
          </a:p>
          <a:p>
            <a:r>
              <a:rPr lang="es-ES" b="1" dirty="0">
                <a:latin typeface="Consolas" panose="020B0609020204030204" pitchFamily="49" charset="0"/>
              </a:rPr>
              <a:t>		</a:t>
            </a:r>
            <a:r>
              <a:rPr lang="es-ES" b="1" dirty="0" err="1">
                <a:latin typeface="Consolas" panose="020B0609020204030204" pitchFamily="49" charset="0"/>
              </a:rPr>
              <a:t>CommonModule</a:t>
            </a:r>
            <a:endParaRPr lang="es-ES" b="1" dirty="0">
              <a:latin typeface="Consolas" panose="020B0609020204030204" pitchFamily="49" charset="0"/>
            </a:endParaRPr>
          </a:p>
          <a:p>
            <a:r>
              <a:rPr lang="es-ES" b="1" dirty="0">
                <a:latin typeface="Consolas" panose="020B0609020204030204" pitchFamily="49" charset="0"/>
              </a:rPr>
              <a:t>	],</a:t>
            </a:r>
          </a:p>
          <a:p>
            <a:r>
              <a:rPr lang="es-ES" b="1" dirty="0">
                <a:latin typeface="Consolas" panose="020B0609020204030204" pitchFamily="49" charset="0"/>
              </a:rPr>
              <a:t>	</a:t>
            </a:r>
            <a:r>
              <a:rPr lang="es-ES" b="1" dirty="0" err="1">
                <a:latin typeface="Consolas" panose="020B0609020204030204" pitchFamily="49" charset="0"/>
              </a:rPr>
              <a:t>declarations</a:t>
            </a:r>
            <a:r>
              <a:rPr lang="es-ES" b="1" dirty="0">
                <a:latin typeface="Consolas" panose="020B0609020204030204" pitchFamily="49" charset="0"/>
              </a:rPr>
              <a:t>: []</a:t>
            </a:r>
          </a:p>
          <a:p>
            <a:r>
              <a:rPr lang="es-ES" b="1" dirty="0">
                <a:latin typeface="Consolas" panose="020B0609020204030204" pitchFamily="49" charset="0"/>
              </a:rPr>
              <a:t>})</a:t>
            </a:r>
          </a:p>
          <a:p>
            <a:r>
              <a:rPr lang="es-ES" b="1" dirty="0" err="1">
                <a:latin typeface="Consolas" panose="020B0609020204030204" pitchFamily="49" charset="0"/>
              </a:rPr>
              <a:t>export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class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ComponentsModule</a:t>
            </a:r>
            <a:r>
              <a:rPr lang="es-ES" b="1" dirty="0">
                <a:latin typeface="Consolas" panose="020B0609020204030204" pitchFamily="49" charset="0"/>
              </a:rPr>
              <a:t> { }</a:t>
            </a:r>
          </a:p>
        </p:txBody>
      </p:sp>
    </p:spTree>
    <p:extLst>
      <p:ext uri="{BB962C8B-B14F-4D97-AF65-F5344CB8AC3E}">
        <p14:creationId xmlns:p14="http://schemas.microsoft.com/office/powerpoint/2010/main" val="17124805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5ACF9-2F2E-49B4-B363-1806E440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Importación de módulos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41FB82-F883-4EF1-80E3-D2F7A83B8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dirty="0"/>
              <a:t>Por ahora hay asegurar que </a:t>
            </a:r>
            <a:r>
              <a:rPr lang="es-ES" b="1" dirty="0"/>
              <a:t>este módulo es importado por el raíz</a:t>
            </a:r>
            <a:r>
              <a:rPr lang="es-ES" dirty="0"/>
              <a:t>. </a:t>
            </a:r>
          </a:p>
          <a:p>
            <a:pPr fontAlgn="base"/>
            <a:r>
              <a:rPr lang="es-ES" dirty="0"/>
              <a:t>Para ello importamos en módulo principal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40323-0A95-43E8-8088-E0F5C467A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1" y="2362200"/>
            <a:ext cx="10361831" cy="175432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b="1" dirty="0" err="1">
                <a:latin typeface="Consolas" panose="020B0609020204030204" pitchFamily="49" charset="0"/>
              </a:rPr>
              <a:t>import</a:t>
            </a:r>
            <a:r>
              <a:rPr lang="es-ES" b="1" dirty="0">
                <a:latin typeface="Consolas" panose="020B0609020204030204" pitchFamily="49" charset="0"/>
              </a:rPr>
              <a:t> { </a:t>
            </a:r>
            <a:r>
              <a:rPr lang="es-ES" b="1" dirty="0" err="1">
                <a:latin typeface="Consolas" panose="020B0609020204030204" pitchFamily="49" charset="0"/>
              </a:rPr>
              <a:t>ComponentsModule</a:t>
            </a:r>
            <a:r>
              <a:rPr lang="es-ES" b="1" dirty="0">
                <a:latin typeface="Consolas" panose="020B0609020204030204" pitchFamily="49" charset="0"/>
              </a:rPr>
              <a:t> } </a:t>
            </a:r>
            <a:r>
              <a:rPr lang="es-ES" b="1" dirty="0" err="1">
                <a:latin typeface="Consolas" panose="020B0609020204030204" pitchFamily="49" charset="0"/>
              </a:rPr>
              <a:t>from</a:t>
            </a:r>
            <a:r>
              <a:rPr lang="es-ES" b="1" dirty="0">
                <a:latin typeface="Consolas" panose="020B0609020204030204" pitchFamily="49" charset="0"/>
              </a:rPr>
              <a:t> './</a:t>
            </a:r>
            <a:r>
              <a:rPr lang="es-ES" b="1" dirty="0" err="1">
                <a:latin typeface="Consolas" panose="020B0609020204030204" pitchFamily="49" charset="0"/>
              </a:rPr>
              <a:t>lib</a:t>
            </a:r>
            <a:r>
              <a:rPr lang="es-ES" b="1" dirty="0">
                <a:latin typeface="Consolas" panose="020B0609020204030204" pitchFamily="49" charset="0"/>
              </a:rPr>
              <a:t>/</a:t>
            </a:r>
            <a:r>
              <a:rPr lang="es-ES" b="1" dirty="0" err="1">
                <a:latin typeface="Consolas" panose="020B0609020204030204" pitchFamily="49" charset="0"/>
              </a:rPr>
              <a:t>components</a:t>
            </a:r>
            <a:r>
              <a:rPr lang="es-ES" b="1" dirty="0">
                <a:latin typeface="Consolas" panose="020B0609020204030204" pitchFamily="49" charset="0"/>
              </a:rPr>
              <a:t>/</a:t>
            </a:r>
            <a:r>
              <a:rPr lang="es-ES" b="1" dirty="0" err="1">
                <a:latin typeface="Consolas" panose="020B0609020204030204" pitchFamily="49" charset="0"/>
              </a:rPr>
              <a:t>components.module</a:t>
            </a:r>
            <a:r>
              <a:rPr lang="es-ES" b="1" dirty="0">
                <a:latin typeface="Consolas" panose="020B0609020204030204" pitchFamily="49" charset="0"/>
              </a:rPr>
              <a:t>';</a:t>
            </a:r>
          </a:p>
          <a:p>
            <a:r>
              <a:rPr lang="es-ES" b="1" dirty="0">
                <a:latin typeface="Consolas" panose="020B0609020204030204" pitchFamily="49" charset="0"/>
              </a:rPr>
              <a:t>…</a:t>
            </a:r>
          </a:p>
          <a:p>
            <a:endParaRPr lang="es-ES" b="1" dirty="0">
              <a:latin typeface="Consolas" panose="020B0609020204030204" pitchFamily="49" charset="0"/>
            </a:endParaRPr>
          </a:p>
          <a:p>
            <a:r>
              <a:rPr lang="es-ES" b="1" dirty="0">
                <a:latin typeface="Consolas" panose="020B0609020204030204" pitchFamily="49" charset="0"/>
              </a:rPr>
              <a:t>@</a:t>
            </a:r>
            <a:r>
              <a:rPr lang="es-ES" b="1" dirty="0" err="1">
                <a:latin typeface="Consolas" panose="020B0609020204030204" pitchFamily="49" charset="0"/>
              </a:rPr>
              <a:t>NgModule</a:t>
            </a:r>
            <a:r>
              <a:rPr lang="es-ES" b="1" dirty="0">
                <a:latin typeface="Consolas" panose="020B0609020204030204" pitchFamily="49" charset="0"/>
              </a:rPr>
              <a:t>({</a:t>
            </a:r>
          </a:p>
          <a:p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imports</a:t>
            </a:r>
            <a:r>
              <a:rPr lang="es-ES" b="1" dirty="0">
                <a:latin typeface="Consolas" panose="020B0609020204030204" pitchFamily="49" charset="0"/>
              </a:rPr>
              <a:t>: [</a:t>
            </a:r>
            <a:r>
              <a:rPr lang="es-ES" b="1" dirty="0" err="1">
                <a:latin typeface="Consolas" panose="020B0609020204030204" pitchFamily="49" charset="0"/>
              </a:rPr>
              <a:t>AppRoutingModule</a:t>
            </a:r>
            <a:r>
              <a:rPr lang="es-ES" b="1" dirty="0">
                <a:latin typeface="Consolas" panose="020B0609020204030204" pitchFamily="49" charset="0"/>
              </a:rPr>
              <a:t>, </a:t>
            </a:r>
            <a:r>
              <a:rPr lang="es-ES" b="1" dirty="0" err="1">
                <a:latin typeface="Consolas" panose="020B0609020204030204" pitchFamily="49" charset="0"/>
              </a:rPr>
              <a:t>BrowserModule</a:t>
            </a:r>
            <a:r>
              <a:rPr lang="es-ES" b="1" dirty="0">
                <a:latin typeface="Consolas" panose="020B0609020204030204" pitchFamily="49" charset="0"/>
              </a:rPr>
              <a:t>, </a:t>
            </a:r>
            <a:r>
              <a:rPr lang="es-ES" b="1" dirty="0" err="1">
                <a:latin typeface="Consolas" panose="020B0609020204030204" pitchFamily="49" charset="0"/>
              </a:rPr>
              <a:t>ComponentsModule</a:t>
            </a:r>
            <a:r>
              <a:rPr lang="es-ES" b="1" dirty="0">
                <a:latin typeface="Consolas" panose="020B0609020204030204" pitchFamily="49" charset="0"/>
              </a:rPr>
              <a:t>],</a:t>
            </a:r>
          </a:p>
          <a:p>
            <a:r>
              <a:rPr lang="es-ES" b="1" dirty="0"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CED99D5-4EA6-4143-AD66-5E62F3D082A5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LAB2c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A49616B-59F3-4440-847B-74678EC85CA0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C:\Labs\T2\EX2</a:t>
            </a:r>
          </a:p>
        </p:txBody>
      </p:sp>
    </p:spTree>
    <p:extLst>
      <p:ext uri="{BB962C8B-B14F-4D97-AF65-F5344CB8AC3E}">
        <p14:creationId xmlns:p14="http://schemas.microsoft.com/office/powerpoint/2010/main" val="4693968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Componentes</a:t>
            </a:r>
          </a:p>
        </p:txBody>
      </p:sp>
    </p:spTree>
    <p:extLst>
      <p:ext uri="{BB962C8B-B14F-4D97-AF65-F5344CB8AC3E}">
        <p14:creationId xmlns:p14="http://schemas.microsoft.com/office/powerpoint/2010/main" val="23877483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Components [Directives with Template] </a:t>
            </a:r>
          </a:p>
        </p:txBody>
      </p:sp>
      <p:sp>
        <p:nvSpPr>
          <p:cNvPr id="5" name="Rectangle 4"/>
          <p:cNvSpPr/>
          <p:nvPr/>
        </p:nvSpPr>
        <p:spPr>
          <a:xfrm>
            <a:off x="1903412" y="2438400"/>
            <a:ext cx="1905000" cy="1905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r>
              <a:rPr lang="en-US" sz="1969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Component </a:t>
            </a:r>
          </a:p>
        </p:txBody>
      </p:sp>
      <p:sp>
        <p:nvSpPr>
          <p:cNvPr id="6" name="Equal 5"/>
          <p:cNvSpPr/>
          <p:nvPr/>
        </p:nvSpPr>
        <p:spPr>
          <a:xfrm>
            <a:off x="3851955" y="3200400"/>
            <a:ext cx="762000" cy="45720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22813" y="2438400"/>
            <a:ext cx="1709057" cy="1905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r>
              <a:rPr lang="en-US" sz="2391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Template</a:t>
            </a:r>
          </a:p>
        </p:txBody>
      </p:sp>
      <p:sp>
        <p:nvSpPr>
          <p:cNvPr id="8" name="Plus 7"/>
          <p:cNvSpPr/>
          <p:nvPr/>
        </p:nvSpPr>
        <p:spPr>
          <a:xfrm>
            <a:off x="6420983" y="3200400"/>
            <a:ext cx="533400" cy="4572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  <p:sp>
        <p:nvSpPr>
          <p:cNvPr id="9" name="Rectangle 8"/>
          <p:cNvSpPr/>
          <p:nvPr/>
        </p:nvSpPr>
        <p:spPr>
          <a:xfrm>
            <a:off x="6997924" y="2438400"/>
            <a:ext cx="1524002" cy="1905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 dirty="0"/>
          </a:p>
        </p:txBody>
      </p:sp>
      <p:sp>
        <p:nvSpPr>
          <p:cNvPr id="10" name="Rectangle 9"/>
          <p:cNvSpPr/>
          <p:nvPr/>
        </p:nvSpPr>
        <p:spPr>
          <a:xfrm>
            <a:off x="9066212" y="2438400"/>
            <a:ext cx="1371600" cy="1905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r>
              <a:rPr lang="en-US" sz="1969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Metadata</a:t>
            </a:r>
          </a:p>
        </p:txBody>
      </p:sp>
      <p:sp>
        <p:nvSpPr>
          <p:cNvPr id="11" name="Plus 10"/>
          <p:cNvSpPr/>
          <p:nvPr/>
        </p:nvSpPr>
        <p:spPr>
          <a:xfrm>
            <a:off x="8532812" y="3222954"/>
            <a:ext cx="533400" cy="4572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  <p:sp>
        <p:nvSpPr>
          <p:cNvPr id="12" name="TextBox 11"/>
          <p:cNvSpPr txBox="1"/>
          <p:nvPr/>
        </p:nvSpPr>
        <p:spPr>
          <a:xfrm>
            <a:off x="7150325" y="3005603"/>
            <a:ext cx="1219200" cy="287128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91439" tIns="45719" rIns="91439" bIns="45719" rtlCol="0">
            <a:spAutoFit/>
          </a:bodyPr>
          <a:lstStyle/>
          <a:p>
            <a:r>
              <a:rPr lang="en-US" sz="1266" b="1" dirty="0"/>
              <a:t>Properties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325" y="3368931"/>
            <a:ext cx="1219200" cy="287128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91439" tIns="45719" rIns="91439" bIns="45719" rtlCol="0">
            <a:spAutoFit/>
          </a:bodyPr>
          <a:lstStyle/>
          <a:p>
            <a:r>
              <a:rPr lang="en-US" sz="1266" b="1" dirty="0"/>
              <a:t>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8231" y="2438400"/>
            <a:ext cx="963387" cy="400108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Class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1F399B57-0CA3-8D57-0A4C-4646FE4B50A0}"/>
              </a:ext>
            </a:extLst>
          </p:cNvPr>
          <p:cNvSpPr txBox="1"/>
          <p:nvPr/>
        </p:nvSpPr>
        <p:spPr>
          <a:xfrm>
            <a:off x="7150325" y="3733800"/>
            <a:ext cx="1219200" cy="481925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91439" tIns="45719" rIns="91439" bIns="45719" rtlCol="0">
            <a:spAutoFit/>
          </a:bodyPr>
          <a:lstStyle/>
          <a:p>
            <a:r>
              <a:rPr lang="en-US" sz="1266" b="1" dirty="0"/>
              <a:t>Events</a:t>
            </a:r>
          </a:p>
          <a:p>
            <a:r>
              <a:rPr lang="en-US" sz="1266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8867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Componente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1EADAA-3EED-41F3-A2BA-1F1EC768F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Los componentes son solo </a:t>
            </a:r>
            <a:r>
              <a:rPr lang="es-ES" b="1" dirty="0"/>
              <a:t>clases de ES6</a:t>
            </a:r>
          </a:p>
          <a:p>
            <a:r>
              <a:rPr lang="en-US" dirty="0"/>
              <a:t>Los</a:t>
            </a:r>
            <a:r>
              <a:rPr lang="en-US" b="1" dirty="0"/>
              <a:t> Providers (Services) </a:t>
            </a:r>
            <a:r>
              <a:rPr lang="es-ES" dirty="0"/>
              <a:t>se inyectan en el constructor</a:t>
            </a:r>
          </a:p>
          <a:p>
            <a:r>
              <a:rPr lang="es-ES" dirty="0"/>
              <a:t>Necesitas definir </a:t>
            </a:r>
            <a:r>
              <a:rPr lang="es-ES" b="1" dirty="0"/>
              <a:t>explícitamente proveedores y directivas </a:t>
            </a:r>
            <a:r>
              <a:rPr lang="es-ES" dirty="0"/>
              <a:t>dentro de la decoración componente</a:t>
            </a:r>
          </a:p>
          <a:p>
            <a:r>
              <a:rPr lang="es-ES" dirty="0"/>
              <a:t>Manejas al </a:t>
            </a:r>
            <a:r>
              <a:rPr lang="es-ES" b="1" dirty="0">
                <a:solidFill>
                  <a:srgbClr val="FF0000"/>
                </a:solidFill>
              </a:rPr>
              <a:t>ciclo de vida </a:t>
            </a:r>
            <a:r>
              <a:rPr lang="es-ES" dirty="0"/>
              <a:t>de los componentes mediante ganchos (</a:t>
            </a:r>
            <a:r>
              <a:rPr lang="en-US" b="1" dirty="0">
                <a:solidFill>
                  <a:srgbClr val="FF0000"/>
                </a:solidFill>
              </a:rPr>
              <a:t>hooks</a:t>
            </a:r>
            <a:r>
              <a:rPr lang="en-US" dirty="0"/>
              <a:t>)</a:t>
            </a:r>
            <a:endParaRPr lang="es-ES" dirty="0"/>
          </a:p>
          <a:p>
            <a:r>
              <a:rPr lang="es-ES" b="1" dirty="0"/>
              <a:t>Las propiedades y los métodos </a:t>
            </a:r>
            <a:r>
              <a:rPr lang="es-ES" dirty="0"/>
              <a:t>de la clase del componente</a:t>
            </a:r>
            <a:r>
              <a:rPr lang="es-ES" b="1" dirty="0"/>
              <a:t> están disponibles para la plantilla</a:t>
            </a:r>
          </a:p>
        </p:txBody>
      </p:sp>
    </p:spTree>
    <p:extLst>
      <p:ext uri="{BB962C8B-B14F-4D97-AF65-F5344CB8AC3E}">
        <p14:creationId xmlns:p14="http://schemas.microsoft.com/office/powerpoint/2010/main" val="32222463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Metadata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C01781-A6CC-477E-993A-CCF151EBD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Metadata </a:t>
            </a:r>
            <a:r>
              <a:rPr lang="en-US" dirty="0" err="1"/>
              <a:t>permite</a:t>
            </a:r>
            <a:r>
              <a:rPr lang="en-US" dirty="0"/>
              <a:t> a Angular </a:t>
            </a:r>
            <a:r>
              <a:rPr lang="en-US" dirty="0" err="1"/>
              <a:t>procesar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clase</a:t>
            </a:r>
            <a:endParaRPr lang="en-US" dirty="0"/>
          </a:p>
          <a:p>
            <a:r>
              <a:rPr lang="en-US" b="1" dirty="0"/>
              <a:t>We can attach metadata with TypeScript using decorators</a:t>
            </a:r>
          </a:p>
          <a:p>
            <a:r>
              <a:rPr lang="es-ES" dirty="0"/>
              <a:t>Los decoradores </a:t>
            </a:r>
            <a:r>
              <a:rPr lang="es-ES" b="1" dirty="0"/>
              <a:t>son solo funciones</a:t>
            </a:r>
          </a:p>
          <a:p>
            <a:r>
              <a:rPr lang="es-ES" dirty="0"/>
              <a:t>El más común es el decorador </a:t>
            </a:r>
            <a:r>
              <a:rPr lang="es-ES" b="1" dirty="0"/>
              <a:t>@</a:t>
            </a:r>
            <a:r>
              <a:rPr lang="es-ES" b="1" dirty="0" err="1"/>
              <a:t>Component</a:t>
            </a:r>
            <a:r>
              <a:rPr lang="es-ES" b="1" dirty="0"/>
              <a:t>()</a:t>
            </a:r>
          </a:p>
          <a:p>
            <a:r>
              <a:rPr lang="es-ES" dirty="0"/>
              <a:t>Obtiene la configuración mediante:</a:t>
            </a:r>
          </a:p>
          <a:p>
            <a:pPr lvl="1"/>
            <a:r>
              <a:rPr lang="es-ES" dirty="0"/>
              <a:t>Selector</a:t>
            </a:r>
          </a:p>
          <a:p>
            <a:pPr lvl="1"/>
            <a:r>
              <a:rPr lang="es-ES" dirty="0"/>
              <a:t>Plantilla (</a:t>
            </a:r>
            <a:r>
              <a:rPr lang="es-ES" dirty="0" err="1"/>
              <a:t>Url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Proveedores</a:t>
            </a:r>
          </a:p>
          <a:p>
            <a:pPr lvl="1"/>
            <a:r>
              <a:rPr lang="es-ES" dirty="0"/>
              <a:t>Directivas</a:t>
            </a:r>
          </a:p>
          <a:p>
            <a:pPr lvl="1"/>
            <a:r>
              <a:rPr lang="es-ES" dirty="0"/>
              <a:t>Tuberías</a:t>
            </a:r>
          </a:p>
          <a:p>
            <a:pPr lvl="1"/>
            <a:r>
              <a:rPr lang="es-ES" dirty="0"/>
              <a:t>Estilos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40793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Decorate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7F6C52F-8349-46FF-94E6-159F7D9D5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Convertimos nuestra clase en algo que Angular sabe utilizar mediante decoradores y con metadatos específicos</a:t>
            </a:r>
          </a:p>
          <a:p>
            <a:r>
              <a:rPr lang="es-ES" dirty="0"/>
              <a:t>Use la sintaxis </a:t>
            </a:r>
            <a:r>
              <a:rPr lang="es-ES" b="1" dirty="0"/>
              <a:t>@&lt;</a:t>
            </a:r>
            <a:r>
              <a:rPr lang="es-ES" b="1" dirty="0" err="1"/>
              <a:t>decorator</a:t>
            </a:r>
            <a:r>
              <a:rPr lang="es-ES" b="1" dirty="0"/>
              <a:t>&gt; </a:t>
            </a:r>
            <a:r>
              <a:rPr lang="es-ES" dirty="0"/>
              <a:t>para decorar sus clases</a:t>
            </a:r>
          </a:p>
          <a:p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 err="1"/>
              <a:t>formas</a:t>
            </a:r>
            <a:r>
              <a:rPr lang="en-US" dirty="0"/>
              <a:t> de </a:t>
            </a:r>
            <a:r>
              <a:rPr lang="en-US" dirty="0" err="1"/>
              <a:t>componentes</a:t>
            </a:r>
            <a:r>
              <a:rPr lang="en-US" dirty="0"/>
              <a:t> son:</a:t>
            </a:r>
          </a:p>
          <a:p>
            <a:pPr lvl="1"/>
            <a:r>
              <a:rPr lang="en-US" b="1" dirty="0"/>
              <a:t>@Injectable</a:t>
            </a:r>
          </a:p>
          <a:p>
            <a:pPr lvl="1"/>
            <a:r>
              <a:rPr lang="en-US" b="1" dirty="0"/>
              <a:t>@Directive</a:t>
            </a:r>
          </a:p>
          <a:p>
            <a:pPr lvl="1"/>
            <a:r>
              <a:rPr lang="en-US" b="1" dirty="0"/>
              <a:t>@Pipe</a:t>
            </a:r>
          </a:p>
          <a:p>
            <a:r>
              <a:rPr lang="es-ES" dirty="0"/>
              <a:t>También puedes decorar propiedades y métodos dentro de tu clase</a:t>
            </a:r>
          </a:p>
          <a:p>
            <a:r>
              <a:rPr lang="es-ES" dirty="0"/>
              <a:t>Los dos decoradores miembros más comunes son:</a:t>
            </a:r>
          </a:p>
          <a:p>
            <a:pPr lvl="1"/>
            <a:r>
              <a:rPr lang="es-ES" b="1" dirty="0"/>
              <a:t>@Input</a:t>
            </a:r>
          </a:p>
          <a:p>
            <a:pPr lvl="1"/>
            <a:r>
              <a:rPr lang="en-US" b="1" dirty="0"/>
              <a:t>@Output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65206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20705" y="2397621"/>
            <a:ext cx="6021288" cy="294680"/>
          </a:xfrm>
          <a:custGeom>
            <a:avLst/>
            <a:gdLst/>
            <a:ahLst/>
            <a:cxnLst/>
            <a:rect l="l" t="t" r="r" b="b"/>
            <a:pathLst>
              <a:path w="8563610" h="419100">
                <a:moveTo>
                  <a:pt x="0" y="0"/>
                </a:moveTo>
                <a:lnTo>
                  <a:pt x="8563570" y="0"/>
                </a:lnTo>
                <a:lnTo>
                  <a:pt x="856357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20705" y="2986980"/>
            <a:ext cx="1806476" cy="294680"/>
          </a:xfrm>
          <a:custGeom>
            <a:avLst/>
            <a:gdLst/>
            <a:ahLst/>
            <a:cxnLst/>
            <a:rect l="l" t="t" r="r" b="b"/>
            <a:pathLst>
              <a:path w="2569210" h="419100">
                <a:moveTo>
                  <a:pt x="0" y="0"/>
                </a:moveTo>
                <a:lnTo>
                  <a:pt x="2569069" y="0"/>
                </a:lnTo>
                <a:lnTo>
                  <a:pt x="2569069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20705" y="3281660"/>
            <a:ext cx="3913882" cy="294680"/>
          </a:xfrm>
          <a:custGeom>
            <a:avLst/>
            <a:gdLst/>
            <a:ahLst/>
            <a:cxnLst/>
            <a:rect l="l" t="t" r="r" b="b"/>
            <a:pathLst>
              <a:path w="5566410" h="419100">
                <a:moveTo>
                  <a:pt x="0" y="0"/>
                </a:moveTo>
                <a:lnTo>
                  <a:pt x="5566319" y="0"/>
                </a:lnTo>
                <a:lnTo>
                  <a:pt x="5566319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20705" y="3576340"/>
            <a:ext cx="6774061" cy="294680"/>
          </a:xfrm>
          <a:custGeom>
            <a:avLst/>
            <a:gdLst/>
            <a:ahLst/>
            <a:cxnLst/>
            <a:rect l="l" t="t" r="r" b="b"/>
            <a:pathLst>
              <a:path w="9634220" h="419100">
                <a:moveTo>
                  <a:pt x="0" y="0"/>
                </a:moveTo>
                <a:lnTo>
                  <a:pt x="9634015" y="0"/>
                </a:lnTo>
                <a:lnTo>
                  <a:pt x="963401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20706" y="3871019"/>
            <a:ext cx="301377" cy="294680"/>
          </a:xfrm>
          <a:custGeom>
            <a:avLst/>
            <a:gdLst/>
            <a:ahLst/>
            <a:cxnLst/>
            <a:rect l="l" t="t" r="r" b="b"/>
            <a:pathLst>
              <a:path w="428625" h="419100">
                <a:moveTo>
                  <a:pt x="0" y="0"/>
                </a:moveTo>
                <a:lnTo>
                  <a:pt x="428177" y="0"/>
                </a:lnTo>
                <a:lnTo>
                  <a:pt x="42817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1720705" y="4165699"/>
            <a:ext cx="5419427" cy="294680"/>
          </a:xfrm>
          <a:custGeom>
            <a:avLst/>
            <a:gdLst/>
            <a:ahLst/>
            <a:cxnLst/>
            <a:rect l="l" t="t" r="r" b="b"/>
            <a:pathLst>
              <a:path w="7707630" h="419100">
                <a:moveTo>
                  <a:pt x="0" y="0"/>
                </a:moveTo>
                <a:lnTo>
                  <a:pt x="7707209" y="0"/>
                </a:lnTo>
                <a:lnTo>
                  <a:pt x="7707209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09936" y="2382730"/>
            <a:ext cx="2727573" cy="3030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8929">
              <a:lnSpc>
                <a:spcPct val="100000"/>
              </a:lnSpc>
            </a:pP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import</a:t>
            </a:r>
            <a:r>
              <a:rPr sz="1969" b="1" spc="-32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{Component}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0034" y="2384227"/>
            <a:ext cx="620167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from</a:t>
            </a:r>
            <a:endParaRPr sz="1969">
              <a:latin typeface="Lucida Sans Typewriter"/>
              <a:cs typeface="Lucida Sans Typewriter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22690" y="2384227"/>
            <a:ext cx="2426643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angular/core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9936" y="2973586"/>
            <a:ext cx="3931741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341"/>
              </a:lnSpc>
            </a:pP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@Component({</a:t>
            </a:r>
            <a:endParaRPr sz="1969" dirty="0">
              <a:latin typeface="Lucida Console"/>
              <a:cs typeface="Lucida Console"/>
            </a:endParaRPr>
          </a:p>
          <a:p>
            <a:pPr marL="309849">
              <a:lnSpc>
                <a:spcPts val="2341"/>
              </a:lnSpc>
            </a:pPr>
            <a:r>
              <a:rPr sz="1969" spc="-4" dirty="0">
                <a:solidFill>
                  <a:srgbClr val="A98BB9"/>
                </a:solidFill>
                <a:latin typeface="Lucida Console"/>
                <a:cs typeface="Lucida Console"/>
              </a:rPr>
              <a:t>selector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969" spc="-25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experiments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,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0997" y="3562946"/>
            <a:ext cx="1824335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A98BB9"/>
                </a:solidFill>
                <a:latin typeface="Lucida Console"/>
                <a:cs typeface="Lucida Console"/>
              </a:rPr>
              <a:t>templateUrl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67905" y="3562946"/>
            <a:ext cx="4534495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./experiments.component.html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9936" y="3857625"/>
            <a:ext cx="319236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})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09936" y="4152305"/>
            <a:ext cx="1824335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export</a:t>
            </a:r>
            <a:r>
              <a:rPr sz="1969" b="1" spc="-46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class</a:t>
            </a:r>
            <a:endParaRPr sz="1969">
              <a:latin typeface="Lucida Sans Typewriter"/>
              <a:cs typeface="Lucida Sans Typewriter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6841" y="4152305"/>
            <a:ext cx="3480792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ExperimentsComponent</a:t>
            </a:r>
            <a:r>
              <a:rPr sz="1969" spc="-14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{}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8866" y="5929312"/>
            <a:ext cx="2609701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-49" dirty="0">
                <a:solidFill>
                  <a:srgbClr val="53585F"/>
                </a:solidFill>
                <a:latin typeface="Trebuchet MS"/>
                <a:cs typeface="Trebuchet MS"/>
              </a:rPr>
              <a:t>De</a:t>
            </a:r>
            <a:r>
              <a:rPr sz="5062" b="1" spc="-46" dirty="0">
                <a:solidFill>
                  <a:srgbClr val="53585F"/>
                </a:solidFill>
                <a:latin typeface="Trebuchet MS"/>
                <a:cs typeface="Trebuchet MS"/>
              </a:rPr>
              <a:t>c</a:t>
            </a:r>
            <a:r>
              <a:rPr sz="5062" b="1" spc="-176" dirty="0">
                <a:solidFill>
                  <a:srgbClr val="53585F"/>
                </a:solidFill>
                <a:latin typeface="Trebuchet MS"/>
                <a:cs typeface="Trebuchet MS"/>
              </a:rPr>
              <a:t>orate</a:t>
            </a:r>
            <a:endParaRPr sz="5062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4066682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Component Fundamentals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52E044-0DE4-4820-B104-F53A07FD2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  <a:p>
            <a:r>
              <a:rPr lang="en-US" dirty="0"/>
              <a:t>Import</a:t>
            </a:r>
          </a:p>
          <a:p>
            <a:r>
              <a:rPr lang="en-US" dirty="0"/>
              <a:t>Decorate</a:t>
            </a:r>
          </a:p>
          <a:p>
            <a:r>
              <a:rPr lang="en-US" dirty="0"/>
              <a:t>Enhance</a:t>
            </a:r>
          </a:p>
          <a:p>
            <a:r>
              <a:rPr lang="en-US" dirty="0"/>
              <a:t>Repeat</a:t>
            </a:r>
          </a:p>
          <a:p>
            <a:r>
              <a:rPr lang="en-US" dirty="0"/>
              <a:t>Lifecycle Hooks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04260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8865" y="5911453"/>
            <a:ext cx="3364706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-77" dirty="0">
                <a:solidFill>
                  <a:srgbClr val="3E82F7"/>
                </a:solidFill>
                <a:latin typeface="Trebuchet MS"/>
                <a:cs typeface="Trebuchet MS"/>
              </a:rPr>
              <a:t>Component</a:t>
            </a:r>
            <a:endParaRPr sz="5062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67123" y="2107406"/>
            <a:ext cx="8063508" cy="26431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</p:spTree>
    <p:extLst>
      <p:ext uri="{BB962C8B-B14F-4D97-AF65-F5344CB8AC3E}">
        <p14:creationId xmlns:p14="http://schemas.microsoft.com/office/powerpoint/2010/main" val="20964660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445B2-DCFB-44A4-9EDF-83C63546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Componentes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40C43-69D6-469A-8EA9-F2EEA6919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Los módulos son contenedores. </a:t>
            </a:r>
          </a:p>
          <a:p>
            <a:r>
              <a:rPr lang="es-ES" dirty="0"/>
              <a:t>Lo primero que vamos a guardar en ellos serán componentes.</a:t>
            </a:r>
          </a:p>
          <a:p>
            <a:r>
              <a:rPr lang="es-ES" dirty="0"/>
              <a:t>Los componentes son los bloques básicos de construcción de las páginas web en Angular. </a:t>
            </a:r>
          </a:p>
          <a:p>
            <a:r>
              <a:rPr lang="es-ES" dirty="0"/>
              <a:t>Contienen una parte visual en </a:t>
            </a:r>
            <a:r>
              <a:rPr lang="es-ES" dirty="0" err="1"/>
              <a:t>html</a:t>
            </a:r>
            <a:r>
              <a:rPr lang="es-ES" dirty="0"/>
              <a:t> (la Vista) y una funcional en </a:t>
            </a:r>
            <a:r>
              <a:rPr lang="es-ES" dirty="0" err="1"/>
              <a:t>Typescript</a:t>
            </a:r>
            <a:r>
              <a:rPr lang="es-ES" dirty="0"/>
              <a:t> (el Controlador).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2600757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445B2-DCFB-44A4-9EDF-83C63546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s-ES" dirty="0"/>
              <a:t>Anatomía de un componente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40C43-69D6-469A-8EA9-F2EEA6919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Los componentes, como el resto de artefactos en Angular, serán </a:t>
            </a:r>
            <a:r>
              <a:rPr lang="es-ES" b="1" dirty="0"/>
              <a:t>clases </a:t>
            </a:r>
            <a:r>
              <a:rPr lang="es-ES" b="1" dirty="0" err="1"/>
              <a:t>TypeScript</a:t>
            </a:r>
            <a:r>
              <a:rPr lang="es-ES" b="1" dirty="0"/>
              <a:t> decoradas </a:t>
            </a:r>
            <a:r>
              <a:rPr lang="es-ES" dirty="0"/>
              <a:t>con funciones específicas. </a:t>
            </a:r>
          </a:p>
          <a:p>
            <a:r>
              <a:rPr lang="es-ES" dirty="0"/>
              <a:t>En este caso la función es</a:t>
            </a:r>
            <a:r>
              <a:rPr lang="es-ES" b="1" dirty="0"/>
              <a:t> @</a:t>
            </a:r>
            <a:r>
              <a:rPr lang="es-ES" b="1" dirty="0" err="1"/>
              <a:t>Component</a:t>
            </a:r>
            <a:r>
              <a:rPr lang="es-ES" b="1" dirty="0"/>
              <a:t>() </a:t>
            </a:r>
            <a:r>
              <a:rPr lang="es-ES" dirty="0"/>
              <a:t>que recibe un objeto de definición de componente. </a:t>
            </a:r>
          </a:p>
          <a:p>
            <a:r>
              <a:rPr lang="es-ES" dirty="0"/>
              <a:t>Igual que en el caso de los módulos contiene las propiedades en las que configurar el componente.</a:t>
            </a:r>
          </a:p>
          <a:p>
            <a:endParaRPr lang="es-E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C8BCD77-8F4B-490E-9351-8995CF13E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3581400"/>
            <a:ext cx="10741462" cy="20313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b="1" dirty="0" err="1">
                <a:latin typeface="Consolas" panose="020B0609020204030204" pitchFamily="49" charset="0"/>
              </a:rPr>
              <a:t>import</a:t>
            </a:r>
            <a:r>
              <a:rPr lang="es-ES" b="1" dirty="0">
                <a:latin typeface="Consolas" panose="020B0609020204030204" pitchFamily="49" charset="0"/>
              </a:rPr>
              <a:t> { </a:t>
            </a:r>
            <a:r>
              <a:rPr lang="es-ES" b="1" dirty="0" err="1">
                <a:latin typeface="Consolas" panose="020B0609020204030204" pitchFamily="49" charset="0"/>
              </a:rPr>
              <a:t>Component</a:t>
            </a:r>
            <a:r>
              <a:rPr lang="es-ES" b="1" dirty="0">
                <a:latin typeface="Consolas" panose="020B0609020204030204" pitchFamily="49" charset="0"/>
              </a:rPr>
              <a:t> } </a:t>
            </a:r>
            <a:r>
              <a:rPr lang="es-ES" b="1" dirty="0" err="1">
                <a:latin typeface="Consolas" panose="020B0609020204030204" pitchFamily="49" charset="0"/>
              </a:rPr>
              <a:t>from</a:t>
            </a:r>
            <a:r>
              <a:rPr lang="es-ES" b="1" dirty="0">
                <a:latin typeface="Consolas" panose="020B0609020204030204" pitchFamily="49" charset="0"/>
              </a:rPr>
              <a:t> "@angular/</a:t>
            </a:r>
            <a:r>
              <a:rPr lang="es-ES" b="1" dirty="0" err="1">
                <a:latin typeface="Consolas" panose="020B0609020204030204" pitchFamily="49" charset="0"/>
              </a:rPr>
              <a:t>core</a:t>
            </a:r>
            <a:r>
              <a:rPr lang="es-ES" b="1" dirty="0">
                <a:latin typeface="Consolas" panose="020B0609020204030204" pitchFamily="49" charset="0"/>
              </a:rPr>
              <a:t>";</a:t>
            </a:r>
          </a:p>
          <a:p>
            <a:r>
              <a:rPr lang="es-ES" b="1" dirty="0">
                <a:latin typeface="Consolas" panose="020B0609020204030204" pitchFamily="49" charset="0"/>
              </a:rPr>
              <a:t>@</a:t>
            </a:r>
            <a:r>
              <a:rPr lang="es-ES" b="1" dirty="0" err="1">
                <a:latin typeface="Consolas" panose="020B0609020204030204" pitchFamily="49" charset="0"/>
              </a:rPr>
              <a:t>Component</a:t>
            </a:r>
            <a:r>
              <a:rPr lang="es-ES" b="1" dirty="0">
                <a:latin typeface="Consolas" panose="020B0609020204030204" pitchFamily="49" charset="0"/>
              </a:rPr>
              <a:t>({</a:t>
            </a:r>
          </a:p>
          <a:p>
            <a:r>
              <a:rPr lang="es-ES" b="1" dirty="0">
                <a:latin typeface="Consolas" panose="020B0609020204030204" pitchFamily="49" charset="0"/>
              </a:rPr>
              <a:t>  selector: "</a:t>
            </a:r>
            <a:r>
              <a:rPr lang="es-ES" b="1" dirty="0" err="1">
                <a:latin typeface="Consolas" panose="020B0609020204030204" pitchFamily="49" charset="0"/>
              </a:rPr>
              <a:t>cf-root</a:t>
            </a:r>
            <a:r>
              <a:rPr lang="es-ES" b="1" dirty="0">
                <a:latin typeface="Consolas" panose="020B0609020204030204" pitchFamily="49" charset="0"/>
              </a:rPr>
              <a:t>",</a:t>
            </a:r>
          </a:p>
          <a:p>
            <a:r>
              <a:rPr lang="es-ES" b="1" dirty="0">
                <a:latin typeface="Consolas" panose="020B0609020204030204" pitchFamily="49" charset="0"/>
              </a:rPr>
              <a:t>  </a:t>
            </a:r>
            <a:r>
              <a:rPr lang="es-ES" b="1" dirty="0" err="1">
                <a:latin typeface="Consolas" panose="020B0609020204030204" pitchFamily="49" charset="0"/>
              </a:rPr>
              <a:t>template</a:t>
            </a:r>
            <a:r>
              <a:rPr lang="es-ES" b="1" dirty="0">
                <a:latin typeface="Consolas" panose="020B0609020204030204" pitchFamily="49" charset="0"/>
              </a:rPr>
              <a:t>: </a:t>
            </a:r>
            <a:r>
              <a:rPr lang="en-US" b="1" dirty="0">
                <a:latin typeface="Consolas" panose="020B0609020204030204" pitchFamily="49" charset="0"/>
              </a:rPr>
              <a:t>``,</a:t>
            </a:r>
            <a:endParaRPr lang="es-ES" b="1" dirty="0">
              <a:latin typeface="Consolas" panose="020B0609020204030204" pitchFamily="49" charset="0"/>
            </a:endParaRPr>
          </a:p>
          <a:p>
            <a:r>
              <a:rPr lang="es-ES" b="1" dirty="0">
                <a:latin typeface="Consolas" panose="020B0609020204030204" pitchFamily="49" charset="0"/>
              </a:rPr>
              <a:t>  </a:t>
            </a:r>
            <a:r>
              <a:rPr lang="es-ES" b="1" dirty="0" err="1">
                <a:latin typeface="Consolas" panose="020B0609020204030204" pitchFamily="49" charset="0"/>
              </a:rPr>
              <a:t>styles</a:t>
            </a:r>
            <a:r>
              <a:rPr lang="es-ES" b="1" dirty="0">
                <a:latin typeface="Consolas" panose="020B0609020204030204" pitchFamily="49" charset="0"/>
              </a:rPr>
              <a:t>: []</a:t>
            </a:r>
          </a:p>
          <a:p>
            <a:r>
              <a:rPr lang="es-ES" b="1" dirty="0">
                <a:latin typeface="Consolas" panose="020B0609020204030204" pitchFamily="49" charset="0"/>
              </a:rPr>
              <a:t>})</a:t>
            </a:r>
          </a:p>
          <a:p>
            <a:r>
              <a:rPr lang="es-ES" b="1" dirty="0" err="1">
                <a:latin typeface="Consolas" panose="020B0609020204030204" pitchFamily="49" charset="0"/>
              </a:rPr>
              <a:t>export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class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AppComponent</a:t>
            </a:r>
            <a:r>
              <a:rPr lang="es-ES" b="1" dirty="0">
                <a:latin typeface="Consolas" panose="020B0609020204030204" pitchFamily="49" charset="0"/>
              </a:rPr>
              <a:t> {}</a:t>
            </a:r>
          </a:p>
        </p:txBody>
      </p:sp>
    </p:spTree>
    <p:extLst>
      <p:ext uri="{BB962C8B-B14F-4D97-AF65-F5344CB8AC3E}">
        <p14:creationId xmlns:p14="http://schemas.microsoft.com/office/powerpoint/2010/main" val="21691076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5232CB-DF85-4821-8EF8-76E0F019F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Anatomía de un componente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8D6AC6-44E6-486D-9926-05840E244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Los componentes definen nuevas etiquetas HTML para ser usadas dentro de otros componentes. </a:t>
            </a:r>
          </a:p>
          <a:p>
            <a:r>
              <a:rPr lang="es-ES" dirty="0"/>
              <a:t>Excepcionalmente en este caso por ser el componente raíz se consume en el página </a:t>
            </a:r>
            <a:r>
              <a:rPr lang="es-ES" b="1" dirty="0"/>
              <a:t>index.html</a:t>
            </a:r>
            <a:r>
              <a:rPr lang="es-ES" dirty="0"/>
              <a:t>. </a:t>
            </a:r>
          </a:p>
          <a:p>
            <a:r>
              <a:rPr lang="es-ES" dirty="0"/>
              <a:t>El nombre de la nueva etiqueta se conoce como selector. </a:t>
            </a:r>
          </a:p>
          <a:p>
            <a:r>
              <a:rPr lang="es-ES" dirty="0"/>
              <a:t>En este caso la propiedad </a:t>
            </a:r>
            <a:r>
              <a:rPr lang="es-ES" sz="2800" b="1" dirty="0"/>
              <a:t>selector: "</a:t>
            </a:r>
            <a:r>
              <a:rPr lang="es-ES" sz="2800" b="1" dirty="0" err="1"/>
              <a:t>cf-root</a:t>
            </a:r>
            <a:r>
              <a:rPr lang="es-ES" sz="2800" b="1" dirty="0"/>
              <a:t>" </a:t>
            </a:r>
            <a:r>
              <a:rPr lang="es-ES" dirty="0"/>
              <a:t>permite el uso de este componente dentro de otro con esta invocación </a:t>
            </a:r>
            <a:r>
              <a:rPr lang="es-ES" sz="2800" b="1" dirty="0">
                <a:latin typeface="Consolas" panose="020B0609020204030204" pitchFamily="49" charset="0"/>
              </a:rPr>
              <a:t>&lt;</a:t>
            </a:r>
            <a:r>
              <a:rPr lang="es-ES" sz="2800" b="1" dirty="0" err="1">
                <a:latin typeface="Consolas" panose="020B0609020204030204" pitchFamily="49" charset="0"/>
              </a:rPr>
              <a:t>cf-root</a:t>
            </a:r>
            <a:r>
              <a:rPr lang="es-ES" sz="2800" b="1" dirty="0">
                <a:latin typeface="Consolas" panose="020B0609020204030204" pitchFamily="49" charset="0"/>
              </a:rPr>
              <a:t>&gt;&lt;/</a:t>
            </a:r>
            <a:r>
              <a:rPr lang="es-ES" sz="2800" b="1" dirty="0" err="1">
                <a:latin typeface="Consolas" panose="020B0609020204030204" pitchFamily="49" charset="0"/>
              </a:rPr>
              <a:t>cf-root</a:t>
            </a:r>
            <a:r>
              <a:rPr lang="es-ES" sz="2800" b="1" dirty="0">
                <a:latin typeface="Consolas" panose="020B0609020204030204" pitchFamily="49" charset="0"/>
              </a:rPr>
              <a:t>&gt;</a:t>
            </a:r>
          </a:p>
          <a:p>
            <a:endParaRPr lang="es-ES" sz="2800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29662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34A02-81DB-417E-9A3E-695F3FC58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Anatomía de un componente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2D946B-4D29-4EF8-AA5E-FEC88F4AC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plantilla representa la parte visual del componente. De forma simplificada, o cuando tiene poco contenido, puede escribirse directamente en la propiedad </a:t>
            </a:r>
            <a:r>
              <a:rPr lang="es-ES" dirty="0" err="1"/>
              <a:t>template</a:t>
            </a:r>
            <a:r>
              <a:rPr lang="es-ES" dirty="0"/>
              <a:t> del objeto decorador. Pero es </a:t>
            </a:r>
            <a:r>
              <a:rPr lang="es-ES" b="1" dirty="0"/>
              <a:t>más frecuente </a:t>
            </a:r>
            <a:r>
              <a:rPr lang="es-ES" dirty="0"/>
              <a:t>encontrar la plantilla </a:t>
            </a:r>
            <a:r>
              <a:rPr lang="es-ES" b="1" dirty="0"/>
              <a:t>en su propio fichero </a:t>
            </a:r>
            <a:r>
              <a:rPr lang="es-ES" b="1" dirty="0" err="1"/>
              <a:t>html</a:t>
            </a:r>
            <a:r>
              <a:rPr lang="es-ES" b="1" dirty="0"/>
              <a:t> </a:t>
            </a:r>
            <a:r>
              <a:rPr lang="es-ES" dirty="0"/>
              <a:t>y referenciarlo como una ruta relativa en la propiedad </a:t>
            </a:r>
            <a:r>
              <a:rPr lang="es-ES" b="1" dirty="0" err="1"/>
              <a:t>templateUrl</a:t>
            </a:r>
            <a:r>
              <a:rPr lang="es-ES" dirty="0"/>
              <a:t>.</a:t>
            </a:r>
          </a:p>
          <a:p>
            <a:r>
              <a:rPr lang="es-ES" dirty="0"/>
              <a:t>La propiedad </a:t>
            </a:r>
            <a:r>
              <a:rPr lang="es-ES" b="1" dirty="0" err="1"/>
              <a:t>styles</a:t>
            </a:r>
            <a:r>
              <a:rPr lang="es-ES" dirty="0"/>
              <a:t> y su gemela </a:t>
            </a:r>
            <a:r>
              <a:rPr lang="es-ES" b="1" dirty="0" err="1"/>
              <a:t>stylesUrl</a:t>
            </a:r>
            <a:r>
              <a:rPr lang="es-ES" dirty="0"/>
              <a:t> permiten asignar </a:t>
            </a:r>
            <a:r>
              <a:rPr lang="es-ES" b="1" dirty="0"/>
              <a:t>estilos CSS, SASS o LESS</a:t>
            </a:r>
            <a:r>
              <a:rPr lang="es-ES" dirty="0"/>
              <a:t> al componente. Estos estilos se incrustan durante la compilación en los nodos del DOM generado. </a:t>
            </a:r>
            <a:r>
              <a:rPr lang="es-ES" b="1" dirty="0"/>
              <a:t>Son exclusivos del componente </a:t>
            </a:r>
            <a:r>
              <a:rPr lang="es-ES" dirty="0"/>
              <a:t>y facilitan el desarrollo granular de aplicaciones.</a:t>
            </a:r>
          </a:p>
        </p:txBody>
      </p:sp>
    </p:spTree>
    <p:extLst>
      <p:ext uri="{BB962C8B-B14F-4D97-AF65-F5344CB8AC3E}">
        <p14:creationId xmlns:p14="http://schemas.microsoft.com/office/powerpoint/2010/main" val="39118117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47FA8-1043-41FF-85DE-5D161450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Anatomía de un componente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B30832-9B35-47B6-BC67-C7C6B2CC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b="1" dirty="0"/>
              <a:t>En la clase del componente nos encontraremos la implementación de su funcionalidad</a:t>
            </a:r>
            <a:r>
              <a:rPr lang="es-ES" dirty="0"/>
              <a:t>. Normalmente expondrá propiedades y métodos para ser consumidos e invocados de forma declarativa desde la vista.</a:t>
            </a:r>
          </a:p>
          <a:p>
            <a:pPr fontAlgn="base"/>
            <a:r>
              <a:rPr lang="es-ES" dirty="0"/>
              <a:t>Una aplicación web en Angular se monta como un </a:t>
            </a:r>
            <a:r>
              <a:rPr lang="es-ES" b="1" dirty="0"/>
              <a:t>árbol de componentes</a:t>
            </a:r>
            <a:r>
              <a:rPr lang="es-ES" dirty="0"/>
              <a:t>. El componente raíz ya viene creado; ahora toca darle contenido mediante una estructura de página y las vistas funcionales.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81863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445B2-DCFB-44A4-9EDF-83C63546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s-ES" dirty="0"/>
              <a:t>Generación de componentes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40C43-69D6-469A-8EA9-F2EEA6919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Para crear nuevos componentes vamos a usar de nuevo el CLI con su comando </a:t>
            </a:r>
            <a:r>
              <a:rPr lang="es-ES" b="1" dirty="0"/>
              <a:t>ng </a:t>
            </a:r>
            <a:r>
              <a:rPr lang="es-ES" b="1" dirty="0" err="1"/>
              <a:t>generate</a:t>
            </a:r>
            <a:r>
              <a:rPr lang="es-ES" b="1" dirty="0"/>
              <a:t> </a:t>
            </a:r>
            <a:r>
              <a:rPr lang="es-ES" b="1" dirty="0" err="1"/>
              <a:t>component</a:t>
            </a:r>
            <a:r>
              <a:rPr lang="es-ES" dirty="0"/>
              <a:t>. Pero ahora con los planos para construir un componente. La sintaxis completa del comando </a:t>
            </a:r>
            <a:r>
              <a:rPr lang="es-ES" b="1" dirty="0" err="1"/>
              <a:t>generate</a:t>
            </a:r>
            <a:r>
              <a:rPr lang="es-ES" dirty="0"/>
              <a:t> permite crear componentes en diversas formas.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C8BCD77-8F4B-490E-9351-8995CF13E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2743200"/>
            <a:ext cx="10741462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&gt; ng g c lib/components/</a:t>
            </a:r>
            <a:r>
              <a:rPr lang="en-US" sz="2400" b="1" dirty="0" err="1">
                <a:latin typeface="Consolas" panose="020B0609020204030204" pitchFamily="49" charset="0"/>
              </a:rPr>
              <a:t>nav</a:t>
            </a:r>
            <a:r>
              <a:rPr lang="en-US" sz="2400" b="1" dirty="0">
                <a:latin typeface="Consolas" panose="020B0609020204030204" pitchFamily="49" charset="0"/>
              </a:rPr>
              <a:t> 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&gt; ng g c lib/components/footer --export</a:t>
            </a:r>
            <a:endParaRPr lang="es-ES" sz="2400" b="1" dirty="0">
              <a:latin typeface="Consolas" panose="020B0609020204030204" pitchFamily="49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2B09294-9182-4AD9-8A25-A8F77A3BE83C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LAB3a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69D8C09-331E-4696-BFDD-F831A8AD5F9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C:\Labs\T2\EX3</a:t>
            </a:r>
          </a:p>
        </p:txBody>
      </p:sp>
    </p:spTree>
    <p:extLst>
      <p:ext uri="{BB962C8B-B14F-4D97-AF65-F5344CB8AC3E}">
        <p14:creationId xmlns:p14="http://schemas.microsoft.com/office/powerpoint/2010/main" val="22109279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B621F-B4AB-4A0B-AE85-F131C13DD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Generación de componentes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BEF87E-7377-424F-8DCA-5A1BB8E11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Fíjate en el componente del fichero </a:t>
            </a:r>
            <a:r>
              <a:rPr lang="es-ES" b="1" dirty="0" err="1"/>
              <a:t>nav.component.ts</a:t>
            </a:r>
            <a:r>
              <a:rPr lang="es-ES" dirty="0"/>
              <a:t>. Su estructura es igual a la del componente raíz. Destaca que el nombre del componente coincide con el nombre del </a:t>
            </a:r>
            <a:r>
              <a:rPr lang="es-ES" b="1" dirty="0"/>
              <a:t>selector: </a:t>
            </a:r>
            <a:r>
              <a:rPr lang="es-ES" b="1" dirty="0" err="1"/>
              <a:t>cf-nav</a:t>
            </a:r>
            <a:r>
              <a:rPr lang="es-ES" b="1" dirty="0"/>
              <a:t> </a:t>
            </a:r>
            <a:r>
              <a:rPr lang="es-ES" dirty="0"/>
              <a:t>y </a:t>
            </a:r>
            <a:r>
              <a:rPr lang="es-ES" b="1" dirty="0" err="1"/>
              <a:t>NavComponent</a:t>
            </a:r>
            <a:r>
              <a:rPr lang="es-ES" dirty="0"/>
              <a:t>. Esto será lo normal a partir de ahora. </a:t>
            </a:r>
            <a:r>
              <a:rPr lang="es-ES" dirty="0">
                <a:solidFill>
                  <a:srgbClr val="FF0000"/>
                </a:solidFill>
              </a:rPr>
              <a:t>Sólo el componente raíz tiene la excepción de que su nombre App no coincide con </a:t>
            </a:r>
            <a:r>
              <a:rPr lang="es-ES" dirty="0" err="1">
                <a:solidFill>
                  <a:srgbClr val="FF0000"/>
                </a:solidFill>
              </a:rPr>
              <a:t>us</a:t>
            </a:r>
            <a:r>
              <a:rPr lang="es-ES" dirty="0">
                <a:solidFill>
                  <a:srgbClr val="FF0000"/>
                </a:solidFill>
              </a:rPr>
              <a:t> selector </a:t>
            </a:r>
            <a:r>
              <a:rPr lang="es-ES" dirty="0" err="1">
                <a:solidFill>
                  <a:srgbClr val="FF0000"/>
                </a:solidFill>
              </a:rPr>
              <a:t>root</a:t>
            </a:r>
            <a:r>
              <a:rPr lang="es-ES" dirty="0">
                <a:solidFill>
                  <a:srgbClr val="FF0000"/>
                </a:solidFill>
              </a:rPr>
              <a:t>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D51AB99-0004-45E8-A085-E4678DC02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3184525"/>
            <a:ext cx="10741462" cy="224676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…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@Component({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  selector: "</a:t>
            </a:r>
            <a:r>
              <a:rPr lang="en-US" sz="2000" b="1" dirty="0" err="1">
                <a:latin typeface="Consolas" panose="020B0609020204030204" pitchFamily="49" charset="0"/>
              </a:rPr>
              <a:t>cf</a:t>
            </a:r>
            <a:r>
              <a:rPr lang="en-US" sz="2000" b="1" dirty="0">
                <a:latin typeface="Consolas" panose="020B0609020204030204" pitchFamily="49" charset="0"/>
              </a:rPr>
              <a:t>-nav",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  </a:t>
            </a:r>
            <a:r>
              <a:rPr lang="es-ES" sz="2000" b="1" dirty="0" err="1">
                <a:latin typeface="Consolas" panose="020B0609020204030204" pitchFamily="49" charset="0"/>
              </a:rPr>
              <a:t>template</a:t>
            </a:r>
            <a:r>
              <a:rPr lang="es-ES" sz="2000" b="1" dirty="0">
                <a:latin typeface="Consolas" panose="020B0609020204030204" pitchFamily="49" charset="0"/>
              </a:rPr>
              <a:t>: </a:t>
            </a:r>
            <a:r>
              <a:rPr lang="en-US" sz="2000" b="1" dirty="0">
                <a:latin typeface="Consolas" panose="020B0609020204030204" pitchFamily="49" charset="0"/>
              </a:rPr>
              <a:t>``,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  styles: []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})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export class </a:t>
            </a:r>
            <a:r>
              <a:rPr lang="en-US" sz="2000" b="1" dirty="0" err="1">
                <a:latin typeface="Consolas" panose="020B0609020204030204" pitchFamily="49" charset="0"/>
              </a:rPr>
              <a:t>NavComponent</a:t>
            </a:r>
            <a:r>
              <a:rPr lang="en-US" sz="2000" b="1" dirty="0">
                <a:latin typeface="Consolas" panose="020B0609020204030204" pitchFamily="49" charset="0"/>
              </a:rPr>
              <a:t> {}</a:t>
            </a:r>
          </a:p>
        </p:txBody>
      </p:sp>
    </p:spTree>
    <p:extLst>
      <p:ext uri="{BB962C8B-B14F-4D97-AF65-F5344CB8AC3E}">
        <p14:creationId xmlns:p14="http://schemas.microsoft.com/office/powerpoint/2010/main" val="8490096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9C765-6CD4-431E-BE0B-76E5A0CC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Componentes públicos y privados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34BACF-A069-4184-8F22-67650B41F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s-ES" dirty="0"/>
              <a:t>La clave del código limpio es </a:t>
            </a:r>
            <a:r>
              <a:rPr lang="es-ES" b="1" dirty="0"/>
              <a:t>exponer funcionalidad de manera expresiva pero ocultar la implementación</a:t>
            </a:r>
            <a:r>
              <a:rPr lang="es-ES" dirty="0"/>
              <a:t>. </a:t>
            </a:r>
          </a:p>
          <a:p>
            <a:pPr fontAlgn="base"/>
            <a:r>
              <a:rPr lang="es-ES" dirty="0"/>
              <a:t>Esto es sencillo con los lenguajes de POO, pero en HTML no es nada fácil. </a:t>
            </a:r>
          </a:p>
          <a:p>
            <a:pPr fontAlgn="base"/>
            <a:r>
              <a:rPr lang="es-ES" dirty="0"/>
              <a:t>Con la </a:t>
            </a:r>
            <a:r>
              <a:rPr lang="es-ES" b="1" dirty="0"/>
              <a:t>programación basada en componentes</a:t>
            </a:r>
            <a:r>
              <a:rPr lang="es-ES" dirty="0"/>
              <a:t> podemos crear pantallas complejas, reutilizables, que a su vez contengan y oculten la complejidad interna a sus consumidores.</a:t>
            </a:r>
          </a:p>
        </p:txBody>
      </p:sp>
    </p:spTree>
    <p:extLst>
      <p:ext uri="{BB962C8B-B14F-4D97-AF65-F5344CB8AC3E}">
        <p14:creationId xmlns:p14="http://schemas.microsoft.com/office/powerpoint/2010/main" val="31239381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9C765-6CD4-431E-BE0B-76E5A0CC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Componentes públicos y privados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34BACF-A069-4184-8F22-67650B41F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Los componentes no deciden por sí mismos su </a:t>
            </a:r>
            <a:r>
              <a:rPr lang="es-ES" b="1" dirty="0"/>
              <a:t>visibilidad</a:t>
            </a:r>
            <a:r>
              <a:rPr lang="es-ES" dirty="0"/>
              <a:t>. </a:t>
            </a:r>
          </a:p>
          <a:p>
            <a:r>
              <a:rPr lang="es-ES" dirty="0"/>
              <a:t>Cuando generamos un componente, se declara en un módulo contenedor, en su propiedad </a:t>
            </a:r>
            <a:r>
              <a:rPr lang="es-ES" b="1" dirty="0"/>
              <a:t>declares:[]</a:t>
            </a:r>
            <a:r>
              <a:rPr lang="es-ES" dirty="0"/>
              <a:t>.</a:t>
            </a:r>
            <a:r>
              <a:rPr lang="es-ES" b="1" dirty="0"/>
              <a:t> </a:t>
            </a:r>
            <a:r>
              <a:rPr lang="es-ES" dirty="0"/>
              <a:t>Eso lo hace visible y utilizable por cualquier otro componente del mismo módulo. Pero </a:t>
            </a:r>
            <a:r>
              <a:rPr lang="es-ES" b="1" dirty="0"/>
              <a:t>si quieres </a:t>
            </a:r>
            <a:r>
              <a:rPr lang="es-ES" b="1" dirty="0">
                <a:solidFill>
                  <a:srgbClr val="FF0000"/>
                </a:solidFill>
              </a:rPr>
              <a:t>usarlo desde fuera </a:t>
            </a:r>
            <a:r>
              <a:rPr lang="es-ES" b="1" dirty="0"/>
              <a:t>tendrás que exportarlo</a:t>
            </a:r>
            <a:r>
              <a:rPr lang="es-ES" dirty="0"/>
              <a:t>. </a:t>
            </a:r>
          </a:p>
          <a:p>
            <a:r>
              <a:rPr lang="es-ES" dirty="0"/>
              <a:t>Eso se hace en la propiedad </a:t>
            </a:r>
            <a:r>
              <a:rPr lang="es-ES" b="1" dirty="0" err="1"/>
              <a:t>exports</a:t>
            </a:r>
            <a:r>
              <a:rPr lang="es-ES" b="1" dirty="0"/>
              <a:t>:[] </a:t>
            </a:r>
            <a:r>
              <a:rPr lang="es-ES" dirty="0"/>
              <a:t>del módulo en el que se crea</a:t>
            </a:r>
          </a:p>
          <a:p>
            <a:r>
              <a:rPr lang="es-ES" dirty="0"/>
              <a:t>La exportación debe hacerse a mano o indicarse con el </a:t>
            </a:r>
            <a:r>
              <a:rPr lang="es-ES" dirty="0" err="1"/>
              <a:t>flag</a:t>
            </a:r>
            <a:r>
              <a:rPr lang="es-ES" dirty="0"/>
              <a:t> </a:t>
            </a:r>
            <a:r>
              <a:rPr lang="es-ES" b="1" dirty="0">
                <a:solidFill>
                  <a:srgbClr val="FF0000"/>
                </a:solidFill>
              </a:rPr>
              <a:t>--</a:t>
            </a:r>
            <a:r>
              <a:rPr lang="es-ES" b="1" dirty="0" err="1">
                <a:solidFill>
                  <a:srgbClr val="FF0000"/>
                </a:solidFill>
              </a:rPr>
              <a:t>export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dirty="0"/>
              <a:t>para que lo haga el cli. </a:t>
            </a:r>
          </a:p>
        </p:txBody>
      </p:sp>
    </p:spTree>
    <p:extLst>
      <p:ext uri="{BB962C8B-B14F-4D97-AF65-F5344CB8AC3E}">
        <p14:creationId xmlns:p14="http://schemas.microsoft.com/office/powerpoint/2010/main" val="25470462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CAF0A-0382-400F-B244-C68A3286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Componentes públicos y privados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E95ACD-C158-48F7-87F3-052BB8D02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b="1" dirty="0"/>
              <a:t>Los componentes privados suelen ser sencillos</a:t>
            </a:r>
            <a:r>
              <a:rPr lang="es-ES" dirty="0"/>
              <a:t>. A veces son creados para ser específicamente consumidos dentro de otros componentes. en esas situaciones interesa que sean privados y que generen poco ruido.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5135CE5-A2AD-4BA2-B851-C81047134036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LAB3b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13F6F4F-9EE0-4E76-A6E5-817F9B47C434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C:\Labs\T2\EX3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03FF767-CB65-4B2D-87CF-9D0EA4999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2590800"/>
            <a:ext cx="10741462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&gt; ng g c lib/components/</a:t>
            </a:r>
            <a:r>
              <a:rPr lang="en-US" sz="2400" b="1" dirty="0" err="1">
                <a:latin typeface="Consolas" panose="020B0609020204030204" pitchFamily="49" charset="0"/>
              </a:rPr>
              <a:t>nav</a:t>
            </a:r>
            <a:r>
              <a:rPr lang="en-US" sz="2400" b="1" dirty="0">
                <a:latin typeface="Consolas" panose="020B0609020204030204" pitchFamily="49" charset="0"/>
              </a:rPr>
              <a:t>/title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--flat</a:t>
            </a:r>
          </a:p>
        </p:txBody>
      </p:sp>
    </p:spTree>
    <p:extLst>
      <p:ext uri="{BB962C8B-B14F-4D97-AF65-F5344CB8AC3E}">
        <p14:creationId xmlns:p14="http://schemas.microsoft.com/office/powerpoint/2010/main" val="227653366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318CE-D656-4901-9A85-870C1267D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Organización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647962CD-C682-486E-BC76-08E9CAF6A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s-ES" dirty="0"/>
              <a:t>Todos los programas tiene partes repetitivas. Los principios de </a:t>
            </a:r>
            <a:r>
              <a:rPr lang="es-ES" b="1" dirty="0"/>
              <a:t>organización y código limpio</a:t>
            </a:r>
            <a:r>
              <a:rPr lang="es-ES" dirty="0"/>
              <a:t> nos permiten identificarlas y reutilizarlas. Con los componentes ocurre lo mismo. El módulo y los componentes recién creados suelen ser comunes a casi todas las aplicaciones. Estos y otros muchos surgirán de manera natural durante el desarrollo de una aplicación para ser utilizados en múltiples páginas.</a:t>
            </a:r>
          </a:p>
          <a:p>
            <a:r>
              <a:rPr lang="es-ES" dirty="0"/>
              <a:t>Son </a:t>
            </a:r>
            <a:r>
              <a:rPr lang="es-ES" b="1" dirty="0"/>
              <a:t>componentes de infraestructura</a:t>
            </a:r>
            <a:r>
              <a:rPr lang="es-ES" dirty="0"/>
              <a:t>. Conviene guardarlos en una carpeta especial. Aquí la hemos llamado </a:t>
            </a:r>
            <a:r>
              <a:rPr lang="es-ES" b="1" dirty="0" err="1"/>
              <a:t>lib</a:t>
            </a:r>
            <a:r>
              <a:rPr lang="es-ES" dirty="0"/>
              <a:t>, pero </a:t>
            </a:r>
            <a:r>
              <a:rPr lang="es-ES" b="1" dirty="0" err="1"/>
              <a:t>tools</a:t>
            </a:r>
            <a:r>
              <a:rPr lang="es-ES" dirty="0"/>
              <a:t>, </a:t>
            </a:r>
            <a:r>
              <a:rPr lang="es-ES" b="1" dirty="0" err="1"/>
              <a:t>common</a:t>
            </a:r>
            <a:r>
              <a:rPr lang="es-ES" dirty="0"/>
              <a:t>, </a:t>
            </a:r>
            <a:r>
              <a:rPr lang="es-ES" b="1" dirty="0" err="1"/>
              <a:t>shared</a:t>
            </a:r>
            <a:r>
              <a:rPr lang="es-ES" dirty="0"/>
              <a:t> suelen ser otros nombres habituales.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54550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9A94B-E8F3-40E4-9535-B02CA8FA0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Crear un nuevo home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6CB907-0C50-48D4-BAF8-90BA71DE2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esta aplicación hasta ahora nada funcional, te propongo crear un módulo funcional con un único componente para mostrar el contenido de la página home de la aplicación. </a:t>
            </a:r>
          </a:p>
          <a:p>
            <a:r>
              <a:rPr lang="es-ES" dirty="0"/>
              <a:t>Puede parecer sobre-ingeniería, pero a la larga le verás sentido, y por ahora te permitirá practicar con la creación de módulos y componentes.</a:t>
            </a:r>
          </a:p>
          <a:p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F186DFF-26B2-4EDA-858B-065D0141C616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LAB4a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82953A1-57C6-407A-B263-23BD0D3666AC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C:\Labs\T2\EX4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15C80B9-24C5-4F7F-AF6C-2C9600B83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3200400"/>
            <a:ext cx="10741462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&gt; ng g m views/home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&gt; ng g c views/home/home --export --flat</a:t>
            </a:r>
          </a:p>
        </p:txBody>
      </p:sp>
    </p:spTree>
    <p:extLst>
      <p:ext uri="{BB962C8B-B14F-4D97-AF65-F5344CB8AC3E}">
        <p14:creationId xmlns:p14="http://schemas.microsoft.com/office/powerpoint/2010/main" val="262600328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AD0DA-1624-4E35-AE01-361896DF0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D2FF79-E93A-4216-85F4-09628412E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fichero </a:t>
            </a:r>
            <a:r>
              <a:rPr lang="es-ES" b="1" dirty="0" err="1"/>
              <a:t>home.module.ts</a:t>
            </a:r>
            <a:r>
              <a:rPr lang="es-ES" b="1" dirty="0"/>
              <a:t> </a:t>
            </a:r>
            <a:r>
              <a:rPr lang="es-ES" dirty="0"/>
              <a:t>que define el módulo debe quedar así: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F2D1BD9-77E7-4C71-AF1C-A6896918A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393" y="1752600"/>
            <a:ext cx="10741462" cy="304698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latin typeface="Consolas" panose="020B0609020204030204" pitchFamily="49" charset="0"/>
              </a:rPr>
              <a:t>NgModule</a:t>
            </a:r>
            <a:r>
              <a:rPr lang="en-US" sz="2400" b="1" dirty="0">
                <a:latin typeface="Consolas" panose="020B0609020204030204" pitchFamily="49" charset="0"/>
              </a:rPr>
              <a:t>({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imports: [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  </a:t>
            </a:r>
            <a:r>
              <a:rPr lang="en-US" sz="2400" b="1" dirty="0" err="1">
                <a:latin typeface="Consolas" panose="020B0609020204030204" pitchFamily="49" charset="0"/>
              </a:rPr>
              <a:t>CommonModule</a:t>
            </a:r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  ],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declarations: [</a:t>
            </a:r>
            <a:r>
              <a:rPr lang="en-US" sz="2400" b="1" dirty="0" err="1">
                <a:latin typeface="Consolas" panose="020B0609020204030204" pitchFamily="49" charset="0"/>
              </a:rPr>
              <a:t>HomeComponent</a:t>
            </a:r>
            <a:r>
              <a:rPr lang="en-US" sz="2400" b="1" dirty="0">
                <a:latin typeface="Consolas" panose="020B0609020204030204" pitchFamily="49" charset="0"/>
              </a:rPr>
              <a:t>],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  exports: [</a:t>
            </a:r>
            <a:r>
              <a:rPr lang="en-US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HomeComponent</a:t>
            </a:r>
            <a:r>
              <a:rPr lang="en-US" sz="2400" b="1" dirty="0">
                <a:latin typeface="Consolas" panose="020B0609020204030204" pitchFamily="49" charset="0"/>
              </a:rPr>
              <a:t>]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})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export class </a:t>
            </a:r>
            <a:r>
              <a:rPr lang="en-US" sz="2400" b="1" dirty="0" err="1">
                <a:latin typeface="Consolas" panose="020B0609020204030204" pitchFamily="49" charset="0"/>
              </a:rPr>
              <a:t>HomeModule</a:t>
            </a:r>
            <a:r>
              <a:rPr lang="en-US" sz="2400" b="1" dirty="0">
                <a:latin typeface="Consolas" panose="020B0609020204030204" pitchFamily="49" charset="0"/>
              </a:rPr>
              <a:t> { }</a:t>
            </a:r>
          </a:p>
        </p:txBody>
      </p:sp>
    </p:spTree>
    <p:extLst>
      <p:ext uri="{BB962C8B-B14F-4D97-AF65-F5344CB8AC3E}">
        <p14:creationId xmlns:p14="http://schemas.microsoft.com/office/powerpoint/2010/main" val="24678020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AF751-6B4C-4796-BED6-09276D15A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Modificamos el componente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043D11-20D8-4D05-AFA4-8CE1B5BE2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dirty="0"/>
              <a:t>En el componente podemos empezar a usar las capacidades de Angular para crear páginas web de contenido dinámico.</a:t>
            </a:r>
            <a:br>
              <a:rPr lang="es-ES" dirty="0"/>
            </a:br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043AB0A-732C-435C-937D-99F382B0F06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LAB4b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C4D903C-E348-4DA6-9F30-C84F780FCC6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C:\Labs\T2\EX4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049141-E477-4542-9307-3CEDF8CB7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393" y="2057400"/>
            <a:ext cx="10741462" cy="418576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import { Component, </a:t>
            </a:r>
            <a:r>
              <a:rPr lang="en-US" sz="1400" b="1" dirty="0" err="1">
                <a:latin typeface="Consolas" panose="020B0609020204030204" pitchFamily="49" charset="0"/>
              </a:rPr>
              <a:t>OnInit</a:t>
            </a:r>
            <a:r>
              <a:rPr lang="en-US" sz="1400" b="1" dirty="0">
                <a:latin typeface="Consolas" panose="020B0609020204030204" pitchFamily="49" charset="0"/>
              </a:rPr>
              <a:t> } from "@angular/core";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import * as moment from "moment";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@Component({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  selector: "</a:t>
            </a:r>
            <a:r>
              <a:rPr lang="en-US" sz="1400" b="1" dirty="0" err="1">
                <a:latin typeface="Consolas" panose="020B0609020204030204" pitchFamily="49" charset="0"/>
              </a:rPr>
              <a:t>cf</a:t>
            </a:r>
            <a:r>
              <a:rPr lang="en-US" sz="1400" b="1" dirty="0">
                <a:latin typeface="Consolas" panose="020B0609020204030204" pitchFamily="49" charset="0"/>
              </a:rPr>
              <a:t>-home",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  template: `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&lt;main&gt;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&lt;header&gt;Main content of the Home Page&lt;/header&gt;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&lt;div&gt;Still a work in progress... for Now: {{ now }}&lt;/div&gt;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&lt;div&gt;... to be continued... Tomorrow: {{ tomorrow }}&lt;/div&gt;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&lt;/main&gt;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  `,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  styles: []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})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export class </a:t>
            </a:r>
            <a:r>
              <a:rPr lang="en-US" sz="1400" b="1" dirty="0" err="1">
                <a:latin typeface="Consolas" panose="020B0609020204030204" pitchFamily="49" charset="0"/>
              </a:rPr>
              <a:t>HomeComponent</a:t>
            </a:r>
            <a:r>
              <a:rPr lang="en-US" sz="1400" b="1" dirty="0">
                <a:latin typeface="Consolas" panose="020B0609020204030204" pitchFamily="49" charset="0"/>
              </a:rPr>
              <a:t> implements </a:t>
            </a:r>
            <a:r>
              <a:rPr lang="en-US" sz="1400" b="1" dirty="0" err="1">
                <a:latin typeface="Consolas" panose="020B0609020204030204" pitchFamily="49" charset="0"/>
              </a:rPr>
              <a:t>OnInit</a:t>
            </a:r>
            <a:r>
              <a:rPr lang="en-US" sz="1400" b="1" dirty="0">
                <a:latin typeface="Consolas" panose="020B0609020204030204" pitchFamily="49" charset="0"/>
              </a:rPr>
              <a:t> {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now = moment().format();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tomorrow = moment().add(1, "days").format();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  constructor() {}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  </a:t>
            </a:r>
            <a:r>
              <a:rPr lang="en-US" sz="1400" b="1" dirty="0" err="1">
                <a:latin typeface="Consolas" panose="020B0609020204030204" pitchFamily="49" charset="0"/>
              </a:rPr>
              <a:t>ngOnInit</a:t>
            </a:r>
            <a:r>
              <a:rPr lang="en-US" sz="1400" b="1" dirty="0">
                <a:latin typeface="Consolas" panose="020B0609020204030204" pitchFamily="49" charset="0"/>
              </a:rPr>
              <a:t>() {}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27813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31D092C9-EE89-EF4A-63DE-9A2451BD1076}"/>
              </a:ext>
            </a:extLst>
          </p:cNvPr>
          <p:cNvSpPr/>
          <p:nvPr/>
        </p:nvSpPr>
        <p:spPr>
          <a:xfrm>
            <a:off x="7573283" y="902656"/>
            <a:ext cx="3429000" cy="288752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592261A-8DE1-6456-D537-8B951A0AF8F6}"/>
              </a:ext>
            </a:extLst>
          </p:cNvPr>
          <p:cNvSpPr txBox="1"/>
          <p:nvPr/>
        </p:nvSpPr>
        <p:spPr>
          <a:xfrm>
            <a:off x="7738157" y="948383"/>
            <a:ext cx="3111726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NavComponent</a:t>
            </a:r>
            <a:r>
              <a:rPr lang="es-ES" dirty="0"/>
              <a:t> </a:t>
            </a:r>
            <a:r>
              <a:rPr lang="es-ES" dirty="0">
                <a:solidFill>
                  <a:schemeClr val="tx1"/>
                </a:solidFill>
              </a:rPr>
              <a:t>&lt;</a:t>
            </a:r>
            <a:r>
              <a:rPr lang="es-ES" dirty="0" err="1">
                <a:solidFill>
                  <a:schemeClr val="tx1"/>
                </a:solidFill>
              </a:rPr>
              <a:t>cf-nav</a:t>
            </a:r>
            <a:r>
              <a:rPr lang="es-ES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DA97DF1-B71D-6623-12B7-030FA4321230}"/>
              </a:ext>
            </a:extLst>
          </p:cNvPr>
          <p:cNvSpPr txBox="1"/>
          <p:nvPr/>
        </p:nvSpPr>
        <p:spPr>
          <a:xfrm>
            <a:off x="7738157" y="1363444"/>
            <a:ext cx="3111726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HTML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5BFC111-3118-A912-3F06-C9A6CBC22EEF}"/>
              </a:ext>
            </a:extLst>
          </p:cNvPr>
          <p:cNvSpPr txBox="1"/>
          <p:nvPr/>
        </p:nvSpPr>
        <p:spPr>
          <a:xfrm>
            <a:off x="7738157" y="1759080"/>
            <a:ext cx="3111726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CSS/SCSS/LCSS…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96FB392-02F5-C7D4-DCFD-1864FB383649}"/>
              </a:ext>
            </a:extLst>
          </p:cNvPr>
          <p:cNvSpPr txBox="1"/>
          <p:nvPr/>
        </p:nvSpPr>
        <p:spPr>
          <a:xfrm>
            <a:off x="7738157" y="2511784"/>
            <a:ext cx="3111726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FooterComponent</a:t>
            </a:r>
            <a:r>
              <a:rPr lang="es-ES" dirty="0"/>
              <a:t> </a:t>
            </a:r>
            <a:r>
              <a:rPr lang="es-ES" dirty="0">
                <a:solidFill>
                  <a:schemeClr val="tx1"/>
                </a:solidFill>
              </a:rPr>
              <a:t>&lt;</a:t>
            </a:r>
            <a:r>
              <a:rPr lang="es-ES" dirty="0" err="1">
                <a:solidFill>
                  <a:schemeClr val="tx1"/>
                </a:solidFill>
              </a:rPr>
              <a:t>cf-footer</a:t>
            </a:r>
            <a:r>
              <a:rPr lang="es-ES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7CF02B4-EB6C-8783-DE15-8E67A4D0F5BB}"/>
              </a:ext>
            </a:extLst>
          </p:cNvPr>
          <p:cNvSpPr txBox="1"/>
          <p:nvPr/>
        </p:nvSpPr>
        <p:spPr>
          <a:xfrm>
            <a:off x="7738157" y="2926845"/>
            <a:ext cx="3111724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HTML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1427D05-EF6F-E2C8-8A7B-922B751C53C1}"/>
              </a:ext>
            </a:extLst>
          </p:cNvPr>
          <p:cNvSpPr txBox="1"/>
          <p:nvPr/>
        </p:nvSpPr>
        <p:spPr>
          <a:xfrm>
            <a:off x="7738157" y="3322481"/>
            <a:ext cx="3111724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CSS/SCSS/LCSS…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683D5BA-4A2B-38E8-F609-4DEECCEF3CDC}"/>
              </a:ext>
            </a:extLst>
          </p:cNvPr>
          <p:cNvSpPr/>
          <p:nvPr/>
        </p:nvSpPr>
        <p:spPr>
          <a:xfrm>
            <a:off x="7637017" y="4491827"/>
            <a:ext cx="3365266" cy="1524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EE26BC4-B6D2-FE26-5E45-C5808FDD9F4F}"/>
              </a:ext>
            </a:extLst>
          </p:cNvPr>
          <p:cNvSpPr txBox="1"/>
          <p:nvPr/>
        </p:nvSpPr>
        <p:spPr>
          <a:xfrm>
            <a:off x="7738157" y="4673524"/>
            <a:ext cx="3111724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bg1"/>
                </a:solidFill>
              </a:rPr>
              <a:t>HomeComponent</a:t>
            </a:r>
            <a:r>
              <a:rPr lang="es-ES" dirty="0">
                <a:solidFill>
                  <a:schemeClr val="tx1"/>
                </a:solidFill>
              </a:rPr>
              <a:t> &lt;</a:t>
            </a:r>
            <a:r>
              <a:rPr lang="es-ES" dirty="0" err="1">
                <a:solidFill>
                  <a:schemeClr val="tx1"/>
                </a:solidFill>
              </a:rPr>
              <a:t>cf</a:t>
            </a:r>
            <a:r>
              <a:rPr lang="es-ES" dirty="0">
                <a:solidFill>
                  <a:schemeClr val="tx1"/>
                </a:solidFill>
              </a:rPr>
              <a:t>-home&gt;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016A682-05BF-9628-01A6-C11ED68F7715}"/>
              </a:ext>
            </a:extLst>
          </p:cNvPr>
          <p:cNvSpPr txBox="1"/>
          <p:nvPr/>
        </p:nvSpPr>
        <p:spPr>
          <a:xfrm>
            <a:off x="7738157" y="5088585"/>
            <a:ext cx="3111724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HTML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5531B6C-BAC0-B0F7-6EE5-275B2577430E}"/>
              </a:ext>
            </a:extLst>
          </p:cNvPr>
          <p:cNvSpPr txBox="1"/>
          <p:nvPr/>
        </p:nvSpPr>
        <p:spPr>
          <a:xfrm>
            <a:off x="7738157" y="5484221"/>
            <a:ext cx="3111724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CSS/SCSS/LCSS…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BC4583A-CD75-4D4F-E10C-BB3DDA1462A9}"/>
              </a:ext>
            </a:extLst>
          </p:cNvPr>
          <p:cNvSpPr/>
          <p:nvPr/>
        </p:nvSpPr>
        <p:spPr>
          <a:xfrm>
            <a:off x="2593226" y="915315"/>
            <a:ext cx="3948197" cy="20995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2980486-D916-7244-2839-859A979E7CCE}"/>
              </a:ext>
            </a:extLst>
          </p:cNvPr>
          <p:cNvSpPr txBox="1"/>
          <p:nvPr/>
        </p:nvSpPr>
        <p:spPr>
          <a:xfrm>
            <a:off x="2758101" y="1776574"/>
            <a:ext cx="370726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AppComponent</a:t>
            </a:r>
            <a:r>
              <a:rPr lang="es-E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dirty="0"/>
              <a:t>‘</a:t>
            </a:r>
            <a:r>
              <a:rPr lang="es-ES" dirty="0">
                <a:solidFill>
                  <a:schemeClr val="tx1"/>
                </a:solidFill>
              </a:rPr>
              <a:t>&lt;</a:t>
            </a:r>
            <a:r>
              <a:rPr lang="es-ES" dirty="0" err="1">
                <a:solidFill>
                  <a:schemeClr val="tx1"/>
                </a:solidFill>
              </a:rPr>
              <a:t>cf-root</a:t>
            </a:r>
            <a:r>
              <a:rPr lang="es-ES" dirty="0">
                <a:solidFill>
                  <a:schemeClr val="tx1"/>
                </a:solidFill>
              </a:rPr>
              <a:t>&gt;</a:t>
            </a:r>
            <a:r>
              <a:rPr lang="es-ES" dirty="0"/>
              <a:t>’ -&gt; </a:t>
            </a:r>
            <a:r>
              <a:rPr lang="es-ES" dirty="0">
                <a:solidFill>
                  <a:srgbClr val="FF0000"/>
                </a:solidFill>
              </a:rPr>
              <a:t>TS</a:t>
            </a:r>
            <a:r>
              <a:rPr lang="es-ES" dirty="0"/>
              <a:t> + 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5408AE4-540D-7F8D-E303-814B9E5BF6B6}"/>
              </a:ext>
            </a:extLst>
          </p:cNvPr>
          <p:cNvSpPr txBox="1"/>
          <p:nvPr/>
        </p:nvSpPr>
        <p:spPr>
          <a:xfrm>
            <a:off x="2758100" y="2191635"/>
            <a:ext cx="3707263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HTML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93FAC90-F0CB-7089-1D0E-9846B3A87A09}"/>
              </a:ext>
            </a:extLst>
          </p:cNvPr>
          <p:cNvSpPr txBox="1"/>
          <p:nvPr/>
        </p:nvSpPr>
        <p:spPr>
          <a:xfrm>
            <a:off x="2758101" y="2587271"/>
            <a:ext cx="3707262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CSS</a:t>
            </a:r>
            <a:r>
              <a:rPr lang="es-ES" dirty="0"/>
              <a:t>/SCSS/LCSS…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070B062-1639-BF87-CB7B-048DB172328C}"/>
              </a:ext>
            </a:extLst>
          </p:cNvPr>
          <p:cNvSpPr txBox="1"/>
          <p:nvPr/>
        </p:nvSpPr>
        <p:spPr>
          <a:xfrm>
            <a:off x="553813" y="1790825"/>
            <a:ext cx="1146023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Directa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6F8EFB1-EE2D-B199-3A7B-D9433AE3AE1A}"/>
              </a:ext>
            </a:extLst>
          </p:cNvPr>
          <p:cNvSpPr txBox="1"/>
          <p:nvPr/>
        </p:nvSpPr>
        <p:spPr>
          <a:xfrm>
            <a:off x="2624296" y="981894"/>
            <a:ext cx="381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 err="1">
                <a:effectLst/>
                <a:latin typeface="Consolas" panose="020B0609020204030204" pitchFamily="49" charset="0"/>
              </a:rPr>
              <a:t>AppModule</a:t>
            </a:r>
            <a:endParaRPr lang="es-ES" b="0" dirty="0">
              <a:effectLst/>
              <a:latin typeface="Consolas" panose="020B0609020204030204" pitchFamily="49" charset="0"/>
            </a:endParaRPr>
          </a:p>
          <a:p>
            <a:r>
              <a:rPr lang="es-ES" b="0" dirty="0" err="1">
                <a:effectLst/>
                <a:latin typeface="Consolas" panose="020B0609020204030204" pitchFamily="49" charset="0"/>
              </a:rPr>
              <a:t>bootstrap</a:t>
            </a:r>
            <a:r>
              <a:rPr lang="es-ES" b="0" dirty="0">
                <a:effectLst/>
                <a:latin typeface="Consolas" panose="020B0609020204030204" pitchFamily="49" charset="0"/>
              </a:rPr>
              <a:t>: [</a:t>
            </a:r>
            <a:r>
              <a:rPr lang="es-ES" b="0" dirty="0" err="1">
                <a:effectLst/>
                <a:latin typeface="Consolas" panose="020B0609020204030204" pitchFamily="49" charset="0"/>
              </a:rPr>
              <a:t>AppComponent</a:t>
            </a:r>
            <a:r>
              <a:rPr lang="es-ES" b="0" dirty="0"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0C532FA-C0D6-888A-46CE-7F2D9746B7A5}"/>
              </a:ext>
            </a:extLst>
          </p:cNvPr>
          <p:cNvSpPr txBox="1"/>
          <p:nvPr/>
        </p:nvSpPr>
        <p:spPr>
          <a:xfrm>
            <a:off x="2593226" y="4323610"/>
            <a:ext cx="3948196" cy="923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tx1"/>
                </a:solidFill>
              </a:rPr>
              <a:t>AppRoutingModule</a:t>
            </a:r>
            <a:endParaRPr lang="es-ES" dirty="0">
              <a:solidFill>
                <a:schemeClr val="tx1"/>
              </a:solidFill>
            </a:endParaRPr>
          </a:p>
          <a:p>
            <a:endParaRPr lang="es-ES" dirty="0">
              <a:solidFill>
                <a:schemeClr val="tx1"/>
              </a:solidFill>
            </a:endParaRPr>
          </a:p>
          <a:p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5B1E0CC9-1C39-2EA2-3687-0C7C8B34DA6F}"/>
              </a:ext>
            </a:extLst>
          </p:cNvPr>
          <p:cNvSpPr txBox="1"/>
          <p:nvPr/>
        </p:nvSpPr>
        <p:spPr>
          <a:xfrm>
            <a:off x="2727033" y="4714231"/>
            <a:ext cx="3707263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tx1"/>
                </a:solidFill>
              </a:rPr>
              <a:t>const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routes</a:t>
            </a:r>
            <a:r>
              <a:rPr lang="es-ES" dirty="0">
                <a:solidFill>
                  <a:schemeClr val="tx1"/>
                </a:solidFill>
              </a:rPr>
              <a:t>: </a:t>
            </a:r>
            <a:r>
              <a:rPr lang="es-ES" dirty="0" err="1">
                <a:solidFill>
                  <a:schemeClr val="tx1"/>
                </a:solidFill>
              </a:rPr>
              <a:t>Routes</a:t>
            </a:r>
            <a:r>
              <a:rPr lang="es-ES" dirty="0">
                <a:solidFill>
                  <a:schemeClr val="tx1"/>
                </a:solidFill>
              </a:rPr>
              <a:t> = [];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93CBECCC-7FA2-D8EF-1C86-11D728553DD6}"/>
              </a:ext>
            </a:extLst>
          </p:cNvPr>
          <p:cNvSpPr txBox="1"/>
          <p:nvPr/>
        </p:nvSpPr>
        <p:spPr>
          <a:xfrm>
            <a:off x="262097" y="2252724"/>
            <a:ext cx="1981200" cy="8540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main.ts</a:t>
            </a:r>
            <a:endParaRPr lang="es-E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platformBrowserDynamic</a:t>
            </a:r>
            <a:r>
              <a:rPr lang="es-E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s-ES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bootstrapModule</a:t>
            </a:r>
            <a:r>
              <a:rPr lang="es-E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AppModule</a:t>
            </a:r>
            <a:r>
              <a:rPr lang="es-E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es-E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72BA8D3C-330B-E7D3-F7DE-9F63927F84AF}"/>
              </a:ext>
            </a:extLst>
          </p:cNvPr>
          <p:cNvSpPr txBox="1"/>
          <p:nvPr/>
        </p:nvSpPr>
        <p:spPr>
          <a:xfrm>
            <a:off x="241191" y="3190615"/>
            <a:ext cx="2002106" cy="5078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index.html</a:t>
            </a:r>
          </a:p>
          <a:p>
            <a:r>
              <a:rPr lang="es-ES" sz="9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9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cf-root</a:t>
            </a:r>
            <a:r>
              <a:rPr lang="es-ES" sz="9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9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cf-root</a:t>
            </a:r>
            <a:r>
              <a:rPr lang="es-ES" sz="9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E5C99B-E1AB-8C85-44B8-87FA0D2E69CA}"/>
              </a:ext>
            </a:extLst>
          </p:cNvPr>
          <p:cNvSpPr txBox="1"/>
          <p:nvPr/>
        </p:nvSpPr>
        <p:spPr>
          <a:xfrm>
            <a:off x="7576100" y="4141918"/>
            <a:ext cx="1797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HomeModule</a:t>
            </a:r>
            <a:endParaRPr lang="es-E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F42DDC8-B087-DE8F-944B-9F6045F1DE45}"/>
              </a:ext>
            </a:extLst>
          </p:cNvPr>
          <p:cNvSpPr txBox="1"/>
          <p:nvPr/>
        </p:nvSpPr>
        <p:spPr>
          <a:xfrm>
            <a:off x="7469168" y="572031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ComponentsModule</a:t>
            </a:r>
            <a:endParaRPr lang="es-E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ED77A76-2AA4-B7E9-E4AB-65A4FCDCC4A5}"/>
              </a:ext>
            </a:extLst>
          </p:cNvPr>
          <p:cNvCxnSpPr/>
          <p:nvPr/>
        </p:nvCxnSpPr>
        <p:spPr>
          <a:xfrm flipV="1">
            <a:off x="6541422" y="1317715"/>
            <a:ext cx="924590" cy="310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314D2CCA-4BD7-4A20-7546-AB9AF6483B2E}"/>
              </a:ext>
            </a:extLst>
          </p:cNvPr>
          <p:cNvCxnSpPr>
            <a:cxnSpLocks/>
          </p:cNvCxnSpPr>
          <p:nvPr/>
        </p:nvCxnSpPr>
        <p:spPr>
          <a:xfrm>
            <a:off x="6551756" y="1790825"/>
            <a:ext cx="1118237" cy="2965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77555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AF751-6B4C-4796-BED6-09276D15A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Modificamos el componente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043D11-20D8-4D05-AFA4-8CE1B5BE2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dirty="0"/>
              <a:t>Ahora que ya tenemos </a:t>
            </a:r>
            <a:r>
              <a:rPr lang="es-ES" b="1" dirty="0"/>
              <a:t>componentes de infraestructura y negocio</a:t>
            </a:r>
            <a:r>
              <a:rPr lang="es-ES" dirty="0"/>
              <a:t>, podremos usarlos como bloques constructores de alto nivel en el componente raíz.</a:t>
            </a:r>
            <a:br>
              <a:rPr lang="es-ES" dirty="0"/>
            </a:br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043AB0A-732C-435C-937D-99F382B0F06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LAB4b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C4D903C-E348-4DA6-9F30-C84F780FCC6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C:\Labs\T2\EX4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049141-E477-4542-9307-3CEDF8CB7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81" y="2133600"/>
            <a:ext cx="10741462" cy="286232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@Component({</a:t>
            </a:r>
          </a:p>
          <a:p>
            <a:r>
              <a:rPr lang="en-US" b="1" dirty="0">
                <a:latin typeface="Consolas" panose="020B0609020204030204" pitchFamily="49" charset="0"/>
              </a:rPr>
              <a:t>  selector: "</a:t>
            </a:r>
            <a:r>
              <a:rPr lang="en-US" b="1" dirty="0" err="1">
                <a:latin typeface="Consolas" panose="020B0609020204030204" pitchFamily="49" charset="0"/>
              </a:rPr>
              <a:t>cf</a:t>
            </a:r>
            <a:r>
              <a:rPr lang="en-US" b="1" dirty="0">
                <a:latin typeface="Consolas" panose="020B0609020204030204" pitchFamily="49" charset="0"/>
              </a:rPr>
              <a:t>-root",</a:t>
            </a:r>
          </a:p>
          <a:p>
            <a:r>
              <a:rPr lang="en-US" b="1" dirty="0">
                <a:latin typeface="Consolas" panose="020B0609020204030204" pitchFamily="49" charset="0"/>
              </a:rPr>
              <a:t>  template: `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	&lt;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cf-nav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&gt;&lt;/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cf-nav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b="1" dirty="0">
                <a:latin typeface="Consolas" panose="020B0609020204030204" pitchFamily="49" charset="0"/>
              </a:rPr>
              <a:t>	&lt;</a:t>
            </a:r>
            <a:r>
              <a:rPr lang="en-US" b="1" dirty="0" err="1">
                <a:latin typeface="Consolas" panose="020B0609020204030204" pitchFamily="49" charset="0"/>
              </a:rPr>
              <a:t>cf</a:t>
            </a:r>
            <a:r>
              <a:rPr lang="en-US" b="1" dirty="0">
                <a:latin typeface="Consolas" panose="020B0609020204030204" pitchFamily="49" charset="0"/>
              </a:rPr>
              <a:t>-home&gt;&lt;/</a:t>
            </a:r>
            <a:r>
              <a:rPr lang="en-US" b="1" dirty="0" err="1">
                <a:latin typeface="Consolas" panose="020B0609020204030204" pitchFamily="49" charset="0"/>
              </a:rPr>
              <a:t>cf</a:t>
            </a:r>
            <a:r>
              <a:rPr lang="en-US" b="1" dirty="0">
                <a:latin typeface="Consolas" panose="020B0609020204030204" pitchFamily="49" charset="0"/>
              </a:rPr>
              <a:t>-home&gt;</a:t>
            </a:r>
          </a:p>
          <a:p>
            <a:r>
              <a:rPr lang="en-US" b="1" dirty="0">
                <a:latin typeface="Consolas" panose="020B0609020204030204" pitchFamily="49" charset="0"/>
              </a:rPr>
              <a:t>	&lt;</a:t>
            </a:r>
            <a:r>
              <a:rPr lang="en-US" b="1" dirty="0" err="1">
                <a:latin typeface="Consolas" panose="020B0609020204030204" pitchFamily="49" charset="0"/>
              </a:rPr>
              <a:t>cf</a:t>
            </a:r>
            <a:r>
              <a:rPr lang="en-US" b="1" dirty="0">
                <a:latin typeface="Consolas" panose="020B0609020204030204" pitchFamily="49" charset="0"/>
              </a:rPr>
              <a:t>-footer&gt;&lt;/</a:t>
            </a:r>
            <a:r>
              <a:rPr lang="en-US" b="1" dirty="0" err="1">
                <a:latin typeface="Consolas" panose="020B0609020204030204" pitchFamily="49" charset="0"/>
              </a:rPr>
              <a:t>cf</a:t>
            </a:r>
            <a:r>
              <a:rPr lang="en-US" b="1" dirty="0">
                <a:latin typeface="Consolas" panose="020B0609020204030204" pitchFamily="49" charset="0"/>
              </a:rPr>
              <a:t>-footer&gt;</a:t>
            </a:r>
          </a:p>
          <a:p>
            <a:r>
              <a:rPr lang="en-US" b="1" dirty="0">
                <a:latin typeface="Consolas" panose="020B0609020204030204" pitchFamily="49" charset="0"/>
              </a:rPr>
              <a:t>  `,</a:t>
            </a:r>
          </a:p>
          <a:p>
            <a:r>
              <a:rPr lang="en-US" b="1" dirty="0">
                <a:latin typeface="Consolas" panose="020B0609020204030204" pitchFamily="49" charset="0"/>
              </a:rPr>
              <a:t>  styles: []</a:t>
            </a:r>
          </a:p>
          <a:p>
            <a:r>
              <a:rPr lang="en-US" b="1" dirty="0">
                <a:latin typeface="Consolas" panose="020B0609020204030204" pitchFamily="49" charset="0"/>
              </a:rPr>
              <a:t>})</a:t>
            </a:r>
          </a:p>
          <a:p>
            <a:r>
              <a:rPr lang="en-US" b="1" dirty="0">
                <a:latin typeface="Consolas" panose="020B0609020204030204" pitchFamily="49" charset="0"/>
              </a:rPr>
              <a:t>export class </a:t>
            </a:r>
            <a:r>
              <a:rPr lang="en-US" b="1" dirty="0" err="1">
                <a:latin typeface="Consolas" panose="020B0609020204030204" pitchFamily="49" charset="0"/>
              </a:rPr>
              <a:t>MainComponent</a:t>
            </a:r>
            <a:r>
              <a:rPr lang="en-US" b="1" dirty="0">
                <a:latin typeface="Consolas" panose="020B0609020204030204" pitchFamily="49" charset="0"/>
              </a:rPr>
              <a:t> {}</a:t>
            </a:r>
          </a:p>
        </p:txBody>
      </p:sp>
    </p:spTree>
    <p:extLst>
      <p:ext uri="{BB962C8B-B14F-4D97-AF65-F5344CB8AC3E}">
        <p14:creationId xmlns:p14="http://schemas.microsoft.com/office/powerpoint/2010/main" val="149452924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Class !== Inheritance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6551636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Class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F577FD-6453-4165-AA2F-094648265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the component as an ES6 class</a:t>
            </a:r>
          </a:p>
          <a:p>
            <a:r>
              <a:rPr lang="en-US" dirty="0"/>
              <a:t>Properties and methods on our component class will  be available for binding in our template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9172611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8" name="object 18"/>
          <p:cNvSpPr txBox="1"/>
          <p:nvPr/>
        </p:nvSpPr>
        <p:spPr>
          <a:xfrm>
            <a:off x="1718866" y="5929312"/>
            <a:ext cx="2609701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5062" b="1" spc="112" dirty="0" err="1">
                <a:solidFill>
                  <a:srgbClr val="53585F"/>
                </a:solidFill>
                <a:latin typeface="Trebuchet MS"/>
                <a:cs typeface="Trebuchet MS"/>
              </a:rPr>
              <a:t>Cla</a:t>
            </a:r>
            <a:r>
              <a:rPr lang="es-ES" sz="5062" b="1" spc="98" dirty="0" err="1">
                <a:solidFill>
                  <a:srgbClr val="53585F"/>
                </a:solidFill>
                <a:latin typeface="Trebuchet MS"/>
                <a:cs typeface="Trebuchet MS"/>
              </a:rPr>
              <a:t>s</a:t>
            </a:r>
            <a:r>
              <a:rPr lang="es-ES" sz="5062" b="1" spc="429" dirty="0" err="1">
                <a:solidFill>
                  <a:srgbClr val="53585F"/>
                </a:solidFill>
                <a:latin typeface="Trebuchet MS"/>
                <a:cs typeface="Trebuchet MS"/>
              </a:rPr>
              <a:t>s</a:t>
            </a:r>
            <a:endParaRPr sz="5062" dirty="0">
              <a:latin typeface="Trebuchet MS"/>
              <a:cs typeface="Trebuchet MS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7E43D07-E885-4564-918D-346B855FAC3E}"/>
              </a:ext>
            </a:extLst>
          </p:cNvPr>
          <p:cNvSpPr/>
          <p:nvPr/>
        </p:nvSpPr>
        <p:spPr>
          <a:xfrm>
            <a:off x="1715293" y="3281660"/>
            <a:ext cx="5569893" cy="294680"/>
          </a:xfrm>
          <a:custGeom>
            <a:avLst/>
            <a:gdLst/>
            <a:ahLst/>
            <a:cxnLst/>
            <a:rect l="l" t="t" r="r" b="b"/>
            <a:pathLst>
              <a:path w="7921625" h="419100">
                <a:moveTo>
                  <a:pt x="0" y="0"/>
                </a:moveTo>
                <a:lnTo>
                  <a:pt x="7921307" y="0"/>
                </a:lnTo>
                <a:lnTo>
                  <a:pt x="7921307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14598C39-AF94-40D2-AD92-F01E21AAE9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9936" y="3271680"/>
            <a:ext cx="921097" cy="3030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8929">
              <a:lnSpc>
                <a:spcPct val="100000"/>
              </a:lnSpc>
            </a:pPr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export</a:t>
            </a:r>
            <a:endParaRPr sz="1969">
              <a:latin typeface="Lucida Sans Typewriter"/>
              <a:cs typeface="Lucida Sans Typewriter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C6968488-20AD-4EB9-8C76-C49B104ED51D}"/>
              </a:ext>
            </a:extLst>
          </p:cNvPr>
          <p:cNvSpPr txBox="1"/>
          <p:nvPr/>
        </p:nvSpPr>
        <p:spPr>
          <a:xfrm>
            <a:off x="2763742" y="3268266"/>
            <a:ext cx="770632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class</a:t>
            </a:r>
            <a:endParaRPr sz="1969">
              <a:latin typeface="Lucida Sans Typewriter"/>
              <a:cs typeface="Lucida Sans Typewriter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396F654B-6BB5-4A8F-80B6-70BB6DFDE77D}"/>
              </a:ext>
            </a:extLst>
          </p:cNvPr>
          <p:cNvSpPr txBox="1"/>
          <p:nvPr/>
        </p:nvSpPr>
        <p:spPr>
          <a:xfrm>
            <a:off x="3666841" y="3268266"/>
            <a:ext cx="3631257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ExperimentsComponent {</a:t>
            </a:r>
            <a:r>
              <a:rPr sz="1969" spc="-14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969">
              <a:latin typeface="Lucida Console"/>
              <a:cs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230101731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Import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1DC3C86-2DB1-4B47-B3AC-CC6DC6C3C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the core Angular dependencies</a:t>
            </a:r>
          </a:p>
          <a:p>
            <a:r>
              <a:rPr lang="en-US" dirty="0"/>
              <a:t>Import 3rd party dependencies</a:t>
            </a:r>
          </a:p>
          <a:p>
            <a:r>
              <a:rPr lang="en-US" dirty="0"/>
              <a:t>Import your custom dependencies</a:t>
            </a:r>
          </a:p>
          <a:p>
            <a:r>
              <a:rPr lang="en-US" dirty="0"/>
              <a:t>This approach gives us a more fine-grained control over  the managing our dependencies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8313835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8" name="object 18"/>
          <p:cNvSpPr txBox="1"/>
          <p:nvPr/>
        </p:nvSpPr>
        <p:spPr>
          <a:xfrm>
            <a:off x="1718866" y="5929312"/>
            <a:ext cx="2609701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5062" b="1" spc="-80" dirty="0" err="1">
                <a:solidFill>
                  <a:srgbClr val="53585F"/>
                </a:solidFill>
                <a:latin typeface="Trebuchet MS"/>
                <a:cs typeface="Trebuchet MS"/>
              </a:rPr>
              <a:t>Impo</a:t>
            </a:r>
            <a:r>
              <a:rPr lang="es-ES" sz="5062" b="1" dirty="0" err="1">
                <a:solidFill>
                  <a:srgbClr val="53585F"/>
                </a:solidFill>
                <a:latin typeface="Trebuchet MS"/>
                <a:cs typeface="Trebuchet MS"/>
              </a:rPr>
              <a:t>r</a:t>
            </a:r>
            <a:r>
              <a:rPr lang="es-ES" sz="5062" b="1" spc="-243" dirty="0" err="1">
                <a:solidFill>
                  <a:srgbClr val="53585F"/>
                </a:solidFill>
                <a:latin typeface="Trebuchet MS"/>
                <a:cs typeface="Trebuchet MS"/>
              </a:rPr>
              <a:t>t</a:t>
            </a:r>
            <a:endParaRPr sz="5062" dirty="0">
              <a:latin typeface="Trebuchet MS"/>
              <a:cs typeface="Trebuchet MS"/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1D4F4B85-F942-4808-AAD6-D07F319AAD36}"/>
              </a:ext>
            </a:extLst>
          </p:cNvPr>
          <p:cNvSpPr/>
          <p:nvPr/>
        </p:nvSpPr>
        <p:spPr>
          <a:xfrm>
            <a:off x="1715293" y="2986980"/>
            <a:ext cx="6021288" cy="294680"/>
          </a:xfrm>
          <a:custGeom>
            <a:avLst/>
            <a:gdLst/>
            <a:ahLst/>
            <a:cxnLst/>
            <a:rect l="l" t="t" r="r" b="b"/>
            <a:pathLst>
              <a:path w="8563610" h="419100">
                <a:moveTo>
                  <a:pt x="0" y="0"/>
                </a:moveTo>
                <a:lnTo>
                  <a:pt x="8563571" y="0"/>
                </a:lnTo>
                <a:lnTo>
                  <a:pt x="8563571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E9A9E178-6F47-4DEC-B55C-2D12B6A8919C}"/>
              </a:ext>
            </a:extLst>
          </p:cNvPr>
          <p:cNvSpPr/>
          <p:nvPr/>
        </p:nvSpPr>
        <p:spPr>
          <a:xfrm>
            <a:off x="1715293" y="3576340"/>
            <a:ext cx="5419427" cy="294680"/>
          </a:xfrm>
          <a:custGeom>
            <a:avLst/>
            <a:gdLst/>
            <a:ahLst/>
            <a:cxnLst/>
            <a:rect l="l" t="t" r="r" b="b"/>
            <a:pathLst>
              <a:path w="7707630" h="419100">
                <a:moveTo>
                  <a:pt x="0" y="0"/>
                </a:moveTo>
                <a:lnTo>
                  <a:pt x="7707210" y="0"/>
                </a:lnTo>
                <a:lnTo>
                  <a:pt x="770721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404B6AC9-A6A1-448A-8C66-A32C6C41CEC2}"/>
              </a:ext>
            </a:extLst>
          </p:cNvPr>
          <p:cNvSpPr txBox="1">
            <a:spLocks/>
          </p:cNvSpPr>
          <p:nvPr/>
        </p:nvSpPr>
        <p:spPr>
          <a:xfrm>
            <a:off x="1709936" y="2977001"/>
            <a:ext cx="921097" cy="3030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8929">
              <a:lnSpc>
                <a:spcPct val="100000"/>
              </a:lnSpc>
            </a:pPr>
            <a:r>
              <a:rPr lang="es-ES" sz="1969" b="1" spc="-4">
                <a:solidFill>
                  <a:srgbClr val="D78B40"/>
                </a:solidFill>
                <a:latin typeface="Lucida Sans Typewriter"/>
                <a:cs typeface="Lucida Sans Typewriter"/>
              </a:rPr>
              <a:t>import</a:t>
            </a:r>
            <a:endParaRPr lang="es-ES" sz="1969">
              <a:latin typeface="Lucida Sans Typewriter"/>
              <a:cs typeface="Lucida Sans Typewriter"/>
            </a:endParaRPr>
          </a:p>
        </p:txBody>
      </p:sp>
      <p:sp>
        <p:nvSpPr>
          <p:cNvPr id="24" name="object 6">
            <a:extLst>
              <a:ext uri="{FF2B5EF4-FFF2-40B4-BE49-F238E27FC236}">
                <a16:creationId xmlns:a16="http://schemas.microsoft.com/office/drawing/2014/main" id="{47E8A34D-BBCD-4386-8FE5-C3E83B66C987}"/>
              </a:ext>
            </a:extLst>
          </p:cNvPr>
          <p:cNvSpPr txBox="1"/>
          <p:nvPr/>
        </p:nvSpPr>
        <p:spPr>
          <a:xfrm>
            <a:off x="2763656" y="2973586"/>
            <a:ext cx="1673870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{Component}</a:t>
            </a:r>
            <a:endParaRPr sz="1969">
              <a:latin typeface="Lucida Console"/>
              <a:cs typeface="Lucida Console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C6B57BFB-B579-4C86-825E-09047A873CF1}"/>
              </a:ext>
            </a:extLst>
          </p:cNvPr>
          <p:cNvSpPr txBox="1"/>
          <p:nvPr/>
        </p:nvSpPr>
        <p:spPr>
          <a:xfrm>
            <a:off x="4570034" y="2973586"/>
            <a:ext cx="620167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from</a:t>
            </a:r>
            <a:endParaRPr sz="1969">
              <a:latin typeface="Lucida Sans Typewriter"/>
              <a:cs typeface="Lucida Sans Typewriter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472745AA-A2AF-4B7C-8BB6-C8F3708CB62E}"/>
              </a:ext>
            </a:extLst>
          </p:cNvPr>
          <p:cNvSpPr txBox="1"/>
          <p:nvPr/>
        </p:nvSpPr>
        <p:spPr>
          <a:xfrm>
            <a:off x="5322690" y="2973586"/>
            <a:ext cx="2426643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'@</a:t>
            </a:r>
            <a:r>
              <a:rPr sz="1969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angula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r</a:t>
            </a:r>
            <a:r>
              <a:rPr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/core</a:t>
            </a:r>
            <a:r>
              <a:rPr lang="es-ES" sz="1969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969" dirty="0">
              <a:latin typeface="Lucida Console"/>
              <a:cs typeface="Lucida Console"/>
            </a:endParaRPr>
          </a:p>
        </p:txBody>
      </p:sp>
      <p:sp>
        <p:nvSpPr>
          <p:cNvPr id="27" name="object 9">
            <a:extLst>
              <a:ext uri="{FF2B5EF4-FFF2-40B4-BE49-F238E27FC236}">
                <a16:creationId xmlns:a16="http://schemas.microsoft.com/office/drawing/2014/main" id="{09328E2D-5D4F-4C1C-9D24-96DFE3ED9E6D}"/>
              </a:ext>
            </a:extLst>
          </p:cNvPr>
          <p:cNvSpPr txBox="1"/>
          <p:nvPr/>
        </p:nvSpPr>
        <p:spPr>
          <a:xfrm>
            <a:off x="1709936" y="3562946"/>
            <a:ext cx="921097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export</a:t>
            </a:r>
            <a:endParaRPr sz="1969">
              <a:latin typeface="Lucida Sans Typewriter"/>
              <a:cs typeface="Lucida Sans Typewriter"/>
            </a:endParaRPr>
          </a:p>
        </p:txBody>
      </p:sp>
      <p:sp>
        <p:nvSpPr>
          <p:cNvPr id="28" name="object 10">
            <a:extLst>
              <a:ext uri="{FF2B5EF4-FFF2-40B4-BE49-F238E27FC236}">
                <a16:creationId xmlns:a16="http://schemas.microsoft.com/office/drawing/2014/main" id="{3B2F7E78-FC30-4015-90BA-B7B8E56C65D7}"/>
              </a:ext>
            </a:extLst>
          </p:cNvPr>
          <p:cNvSpPr txBox="1"/>
          <p:nvPr/>
        </p:nvSpPr>
        <p:spPr>
          <a:xfrm>
            <a:off x="2763742" y="3562946"/>
            <a:ext cx="770632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class</a:t>
            </a:r>
            <a:endParaRPr sz="1969">
              <a:latin typeface="Lucida Sans Typewriter"/>
              <a:cs typeface="Lucida Sans Typewriter"/>
            </a:endParaRPr>
          </a:p>
        </p:txBody>
      </p:sp>
      <p:sp>
        <p:nvSpPr>
          <p:cNvPr id="29" name="object 11">
            <a:extLst>
              <a:ext uri="{FF2B5EF4-FFF2-40B4-BE49-F238E27FC236}">
                <a16:creationId xmlns:a16="http://schemas.microsoft.com/office/drawing/2014/main" id="{5E494047-42FA-479E-9B19-B92CD12F465E}"/>
              </a:ext>
            </a:extLst>
          </p:cNvPr>
          <p:cNvSpPr txBox="1"/>
          <p:nvPr/>
        </p:nvSpPr>
        <p:spPr>
          <a:xfrm>
            <a:off x="3666841" y="3562946"/>
            <a:ext cx="3480792" cy="303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ExperimentsComponent</a:t>
            </a:r>
            <a:r>
              <a:rPr sz="1969" spc="-14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969" spc="-4" dirty="0">
                <a:solidFill>
                  <a:srgbClr val="B7C4D1"/>
                </a:solidFill>
                <a:latin typeface="Lucida Console"/>
                <a:cs typeface="Lucida Console"/>
              </a:rPr>
              <a:t>{}</a:t>
            </a:r>
            <a:endParaRPr sz="1969">
              <a:latin typeface="Lucida Console"/>
              <a:cs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375437637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Enhance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0E9124E-CB82-4052-B9D5-65C85838F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an iterative process that will vary on a per-case  basis but the idea is to start small and build your  component out</a:t>
            </a:r>
          </a:p>
          <a:p>
            <a:r>
              <a:rPr lang="en-US" dirty="0"/>
              <a:t>Enhance with composition by adding methods, inputs  and outputs, injecting services, etc.</a:t>
            </a:r>
          </a:p>
          <a:p>
            <a:r>
              <a:rPr lang="en-US" dirty="0"/>
              <a:t>Remember to keep your components small and  focused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4900462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C445416-8863-C267-BEDF-EDBB3A816B23}"/>
              </a:ext>
            </a:extLst>
          </p:cNvPr>
          <p:cNvSpPr/>
          <p:nvPr/>
        </p:nvSpPr>
        <p:spPr>
          <a:xfrm>
            <a:off x="1715293" y="1272481"/>
            <a:ext cx="3871020" cy="187523"/>
          </a:xfrm>
          <a:custGeom>
            <a:avLst/>
            <a:gdLst/>
            <a:ahLst/>
            <a:cxnLst/>
            <a:rect l="l" t="t" r="r" b="b"/>
            <a:pathLst>
              <a:path w="5505450" h="266700">
                <a:moveTo>
                  <a:pt x="0" y="0"/>
                </a:moveTo>
                <a:lnTo>
                  <a:pt x="5505157" y="0"/>
                </a:lnTo>
                <a:lnTo>
                  <a:pt x="5505157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AF99967-3002-7834-A67A-78385A3FC4C1}"/>
              </a:ext>
            </a:extLst>
          </p:cNvPr>
          <p:cNvSpPr/>
          <p:nvPr/>
        </p:nvSpPr>
        <p:spPr>
          <a:xfrm>
            <a:off x="1715293" y="1460004"/>
            <a:ext cx="5225653" cy="187523"/>
          </a:xfrm>
          <a:custGeom>
            <a:avLst/>
            <a:gdLst/>
            <a:ahLst/>
            <a:cxnLst/>
            <a:rect l="l" t="t" r="r" b="b"/>
            <a:pathLst>
              <a:path w="7432040" h="266700">
                <a:moveTo>
                  <a:pt x="0" y="0"/>
                </a:moveTo>
                <a:lnTo>
                  <a:pt x="7431951" y="0"/>
                </a:lnTo>
                <a:lnTo>
                  <a:pt x="7431951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C02ADAD-CD6B-E95F-13A9-0C31FF975F8E}"/>
              </a:ext>
            </a:extLst>
          </p:cNvPr>
          <p:cNvSpPr/>
          <p:nvPr/>
        </p:nvSpPr>
        <p:spPr>
          <a:xfrm>
            <a:off x="1715293" y="1647528"/>
            <a:ext cx="6290072" cy="187523"/>
          </a:xfrm>
          <a:custGeom>
            <a:avLst/>
            <a:gdLst/>
            <a:ahLst/>
            <a:cxnLst/>
            <a:rect l="l" t="t" r="r" b="b"/>
            <a:pathLst>
              <a:path w="8945880" h="266700">
                <a:moveTo>
                  <a:pt x="0" y="0"/>
                </a:moveTo>
                <a:lnTo>
                  <a:pt x="8945867" y="0"/>
                </a:lnTo>
                <a:lnTo>
                  <a:pt x="8945867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A023AD52-18F9-4F59-60D6-7607C7C71993}"/>
              </a:ext>
            </a:extLst>
          </p:cNvPr>
          <p:cNvSpPr/>
          <p:nvPr/>
        </p:nvSpPr>
        <p:spPr>
          <a:xfrm>
            <a:off x="1715293" y="1835051"/>
            <a:ext cx="5129213" cy="187523"/>
          </a:xfrm>
          <a:custGeom>
            <a:avLst/>
            <a:gdLst/>
            <a:ahLst/>
            <a:cxnLst/>
            <a:rect l="l" t="t" r="r" b="b"/>
            <a:pathLst>
              <a:path w="7294880" h="266700">
                <a:moveTo>
                  <a:pt x="0" y="0"/>
                </a:moveTo>
                <a:lnTo>
                  <a:pt x="7294321" y="0"/>
                </a:lnTo>
                <a:lnTo>
                  <a:pt x="7294321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D128EB17-2522-E35A-6E23-3226C16DAADF}"/>
              </a:ext>
            </a:extLst>
          </p:cNvPr>
          <p:cNvSpPr/>
          <p:nvPr/>
        </p:nvSpPr>
        <p:spPr>
          <a:xfrm>
            <a:off x="1715294" y="2210098"/>
            <a:ext cx="1161306" cy="187523"/>
          </a:xfrm>
          <a:custGeom>
            <a:avLst/>
            <a:gdLst/>
            <a:ahLst/>
            <a:cxnLst/>
            <a:rect l="l" t="t" r="r" b="b"/>
            <a:pathLst>
              <a:path w="1651635" h="266700">
                <a:moveTo>
                  <a:pt x="0" y="0"/>
                </a:moveTo>
                <a:lnTo>
                  <a:pt x="1651546" y="0"/>
                </a:lnTo>
                <a:lnTo>
                  <a:pt x="1651546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A9703643-79AB-3BA7-8B42-AC9A859142D1}"/>
              </a:ext>
            </a:extLst>
          </p:cNvPr>
          <p:cNvSpPr/>
          <p:nvPr/>
        </p:nvSpPr>
        <p:spPr>
          <a:xfrm>
            <a:off x="1715293" y="2397621"/>
            <a:ext cx="2516386" cy="187523"/>
          </a:xfrm>
          <a:custGeom>
            <a:avLst/>
            <a:gdLst/>
            <a:ahLst/>
            <a:cxnLst/>
            <a:rect l="l" t="t" r="r" b="b"/>
            <a:pathLst>
              <a:path w="3578860" h="266700">
                <a:moveTo>
                  <a:pt x="0" y="0"/>
                </a:moveTo>
                <a:lnTo>
                  <a:pt x="3578352" y="0"/>
                </a:lnTo>
                <a:lnTo>
                  <a:pt x="3578352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6D57675-F5A5-A760-127B-119B19CACDDB}"/>
              </a:ext>
            </a:extLst>
          </p:cNvPr>
          <p:cNvSpPr/>
          <p:nvPr/>
        </p:nvSpPr>
        <p:spPr>
          <a:xfrm>
            <a:off x="1715293" y="2585145"/>
            <a:ext cx="5709642" cy="187523"/>
          </a:xfrm>
          <a:custGeom>
            <a:avLst/>
            <a:gdLst/>
            <a:ahLst/>
            <a:cxnLst/>
            <a:rect l="l" t="t" r="r" b="b"/>
            <a:pathLst>
              <a:path w="8120380" h="266700">
                <a:moveTo>
                  <a:pt x="0" y="0"/>
                </a:moveTo>
                <a:lnTo>
                  <a:pt x="8120100" y="0"/>
                </a:lnTo>
                <a:lnTo>
                  <a:pt x="81201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CBE013E2-9A51-63F7-ECB5-5BF87EBD9302}"/>
              </a:ext>
            </a:extLst>
          </p:cNvPr>
          <p:cNvSpPr/>
          <p:nvPr/>
        </p:nvSpPr>
        <p:spPr>
          <a:xfrm>
            <a:off x="1715293" y="2772668"/>
            <a:ext cx="193774" cy="187523"/>
          </a:xfrm>
          <a:custGeom>
            <a:avLst/>
            <a:gdLst/>
            <a:ahLst/>
            <a:cxnLst/>
            <a:rect l="l" t="t" r="r" b="b"/>
            <a:pathLst>
              <a:path w="275590" h="266700">
                <a:moveTo>
                  <a:pt x="0" y="0"/>
                </a:moveTo>
                <a:lnTo>
                  <a:pt x="275257" y="0"/>
                </a:lnTo>
                <a:lnTo>
                  <a:pt x="275257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046B4700-2964-6D8C-C8ED-8C7DB00FD91B}"/>
              </a:ext>
            </a:extLst>
          </p:cNvPr>
          <p:cNvSpPr/>
          <p:nvPr/>
        </p:nvSpPr>
        <p:spPr>
          <a:xfrm>
            <a:off x="1715293" y="2960192"/>
            <a:ext cx="3387030" cy="187523"/>
          </a:xfrm>
          <a:custGeom>
            <a:avLst/>
            <a:gdLst/>
            <a:ahLst/>
            <a:cxnLst/>
            <a:rect l="l" t="t" r="r" b="b"/>
            <a:pathLst>
              <a:path w="4817110" h="266700">
                <a:moveTo>
                  <a:pt x="0" y="0"/>
                </a:moveTo>
                <a:lnTo>
                  <a:pt x="4817008" y="0"/>
                </a:lnTo>
                <a:lnTo>
                  <a:pt x="4817008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A21A725F-6ABA-1620-BD19-71FF44710CCA}"/>
              </a:ext>
            </a:extLst>
          </p:cNvPr>
          <p:cNvSpPr/>
          <p:nvPr/>
        </p:nvSpPr>
        <p:spPr>
          <a:xfrm>
            <a:off x="1715293" y="3147715"/>
            <a:ext cx="3580805" cy="187523"/>
          </a:xfrm>
          <a:custGeom>
            <a:avLst/>
            <a:gdLst/>
            <a:ahLst/>
            <a:cxnLst/>
            <a:rect l="l" t="t" r="r" b="b"/>
            <a:pathLst>
              <a:path w="5092700" h="266700">
                <a:moveTo>
                  <a:pt x="0" y="0"/>
                </a:moveTo>
                <a:lnTo>
                  <a:pt x="5092268" y="0"/>
                </a:lnTo>
                <a:lnTo>
                  <a:pt x="5092268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E13FC870-A046-D32F-CE54-0742089BF97F}"/>
              </a:ext>
            </a:extLst>
          </p:cNvPr>
          <p:cNvSpPr/>
          <p:nvPr/>
        </p:nvSpPr>
        <p:spPr>
          <a:xfrm>
            <a:off x="1715293" y="3335239"/>
            <a:ext cx="5225653" cy="187523"/>
          </a:xfrm>
          <a:custGeom>
            <a:avLst/>
            <a:gdLst/>
            <a:ahLst/>
            <a:cxnLst/>
            <a:rect l="l" t="t" r="r" b="b"/>
            <a:pathLst>
              <a:path w="7432040" h="266700">
                <a:moveTo>
                  <a:pt x="0" y="0"/>
                </a:moveTo>
                <a:lnTo>
                  <a:pt x="7431951" y="0"/>
                </a:lnTo>
                <a:lnTo>
                  <a:pt x="7431951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E43DF9F1-BC48-5B69-5FC5-2707B4257091}"/>
              </a:ext>
            </a:extLst>
          </p:cNvPr>
          <p:cNvSpPr/>
          <p:nvPr/>
        </p:nvSpPr>
        <p:spPr>
          <a:xfrm>
            <a:off x="1715293" y="3522762"/>
            <a:ext cx="1742182" cy="187523"/>
          </a:xfrm>
          <a:custGeom>
            <a:avLst/>
            <a:gdLst/>
            <a:ahLst/>
            <a:cxnLst/>
            <a:rect l="l" t="t" r="r" b="b"/>
            <a:pathLst>
              <a:path w="2477770" h="266700">
                <a:moveTo>
                  <a:pt x="0" y="0"/>
                </a:moveTo>
                <a:lnTo>
                  <a:pt x="2477312" y="0"/>
                </a:lnTo>
                <a:lnTo>
                  <a:pt x="2477312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72F95A74-8865-D31A-2E96-7285CDE702AE}"/>
              </a:ext>
            </a:extLst>
          </p:cNvPr>
          <p:cNvSpPr/>
          <p:nvPr/>
        </p:nvSpPr>
        <p:spPr>
          <a:xfrm>
            <a:off x="1715293" y="3710285"/>
            <a:ext cx="2709714" cy="187523"/>
          </a:xfrm>
          <a:custGeom>
            <a:avLst/>
            <a:gdLst/>
            <a:ahLst/>
            <a:cxnLst/>
            <a:rect l="l" t="t" r="r" b="b"/>
            <a:pathLst>
              <a:path w="3853815" h="266700">
                <a:moveTo>
                  <a:pt x="0" y="0"/>
                </a:moveTo>
                <a:lnTo>
                  <a:pt x="3853611" y="0"/>
                </a:lnTo>
                <a:lnTo>
                  <a:pt x="3853611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E28C2435-9345-EBE3-11A4-063874D67F0E}"/>
              </a:ext>
            </a:extLst>
          </p:cNvPr>
          <p:cNvSpPr/>
          <p:nvPr/>
        </p:nvSpPr>
        <p:spPr>
          <a:xfrm>
            <a:off x="1715294" y="4085332"/>
            <a:ext cx="1355080" cy="187523"/>
          </a:xfrm>
          <a:custGeom>
            <a:avLst/>
            <a:gdLst/>
            <a:ahLst/>
            <a:cxnLst/>
            <a:rect l="l" t="t" r="r" b="b"/>
            <a:pathLst>
              <a:path w="1927225" h="266700">
                <a:moveTo>
                  <a:pt x="0" y="0"/>
                </a:moveTo>
                <a:lnTo>
                  <a:pt x="1926805" y="0"/>
                </a:lnTo>
                <a:lnTo>
                  <a:pt x="192680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A6B29903-0566-D971-5040-DFF88C4EB663}"/>
              </a:ext>
            </a:extLst>
          </p:cNvPr>
          <p:cNvSpPr/>
          <p:nvPr/>
        </p:nvSpPr>
        <p:spPr>
          <a:xfrm>
            <a:off x="1715293" y="4272856"/>
            <a:ext cx="3871020" cy="187523"/>
          </a:xfrm>
          <a:custGeom>
            <a:avLst/>
            <a:gdLst/>
            <a:ahLst/>
            <a:cxnLst/>
            <a:rect l="l" t="t" r="r" b="b"/>
            <a:pathLst>
              <a:path w="5505450" h="266700">
                <a:moveTo>
                  <a:pt x="0" y="0"/>
                </a:moveTo>
                <a:lnTo>
                  <a:pt x="5505157" y="0"/>
                </a:lnTo>
                <a:lnTo>
                  <a:pt x="5505157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B339F5FD-3B4F-2F80-E797-B97FCAD64EAC}"/>
              </a:ext>
            </a:extLst>
          </p:cNvPr>
          <p:cNvSpPr/>
          <p:nvPr/>
        </p:nvSpPr>
        <p:spPr>
          <a:xfrm>
            <a:off x="1715293" y="4460379"/>
            <a:ext cx="5322540" cy="187523"/>
          </a:xfrm>
          <a:custGeom>
            <a:avLst/>
            <a:gdLst/>
            <a:ahLst/>
            <a:cxnLst/>
            <a:rect l="l" t="t" r="r" b="b"/>
            <a:pathLst>
              <a:path w="7569834" h="266700">
                <a:moveTo>
                  <a:pt x="0" y="0"/>
                </a:moveTo>
                <a:lnTo>
                  <a:pt x="7569581" y="0"/>
                </a:lnTo>
                <a:lnTo>
                  <a:pt x="7569581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3D8F4D05-8B75-62E2-96D1-C0B6BD5BD5B0}"/>
              </a:ext>
            </a:extLst>
          </p:cNvPr>
          <p:cNvSpPr/>
          <p:nvPr/>
        </p:nvSpPr>
        <p:spPr>
          <a:xfrm>
            <a:off x="1715293" y="4835426"/>
            <a:ext cx="3290590" cy="187523"/>
          </a:xfrm>
          <a:custGeom>
            <a:avLst/>
            <a:gdLst/>
            <a:ahLst/>
            <a:cxnLst/>
            <a:rect l="l" t="t" r="r" b="b"/>
            <a:pathLst>
              <a:path w="4679950" h="266700">
                <a:moveTo>
                  <a:pt x="0" y="0"/>
                </a:moveTo>
                <a:lnTo>
                  <a:pt x="4679378" y="0"/>
                </a:lnTo>
                <a:lnTo>
                  <a:pt x="4679378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0" name="object 19">
            <a:extLst>
              <a:ext uri="{FF2B5EF4-FFF2-40B4-BE49-F238E27FC236}">
                <a16:creationId xmlns:a16="http://schemas.microsoft.com/office/drawing/2014/main" id="{B86C537D-AD33-4447-EF6E-AE771C064582}"/>
              </a:ext>
            </a:extLst>
          </p:cNvPr>
          <p:cNvSpPr/>
          <p:nvPr/>
        </p:nvSpPr>
        <p:spPr>
          <a:xfrm>
            <a:off x="1715293" y="5022949"/>
            <a:ext cx="3580805" cy="187523"/>
          </a:xfrm>
          <a:custGeom>
            <a:avLst/>
            <a:gdLst/>
            <a:ahLst/>
            <a:cxnLst/>
            <a:rect l="l" t="t" r="r" b="b"/>
            <a:pathLst>
              <a:path w="5092700" h="266700">
                <a:moveTo>
                  <a:pt x="0" y="0"/>
                </a:moveTo>
                <a:lnTo>
                  <a:pt x="5092268" y="0"/>
                </a:lnTo>
                <a:lnTo>
                  <a:pt x="5092268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1" name="object 20">
            <a:extLst>
              <a:ext uri="{FF2B5EF4-FFF2-40B4-BE49-F238E27FC236}">
                <a16:creationId xmlns:a16="http://schemas.microsoft.com/office/drawing/2014/main" id="{8DCE3BD1-0F46-B62B-A1F0-E2FF5C777D58}"/>
              </a:ext>
            </a:extLst>
          </p:cNvPr>
          <p:cNvSpPr/>
          <p:nvPr/>
        </p:nvSpPr>
        <p:spPr>
          <a:xfrm>
            <a:off x="1715293" y="5210473"/>
            <a:ext cx="290661" cy="187523"/>
          </a:xfrm>
          <a:custGeom>
            <a:avLst/>
            <a:gdLst/>
            <a:ahLst/>
            <a:cxnLst/>
            <a:rect l="l" t="t" r="r" b="b"/>
            <a:pathLst>
              <a:path w="413384" h="266700">
                <a:moveTo>
                  <a:pt x="0" y="0"/>
                </a:moveTo>
                <a:lnTo>
                  <a:pt x="412885" y="0"/>
                </a:lnTo>
                <a:lnTo>
                  <a:pt x="41288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2" name="object 21">
            <a:extLst>
              <a:ext uri="{FF2B5EF4-FFF2-40B4-BE49-F238E27FC236}">
                <a16:creationId xmlns:a16="http://schemas.microsoft.com/office/drawing/2014/main" id="{F50E5347-2C2B-5B5C-7692-3AB16B88163C}"/>
              </a:ext>
            </a:extLst>
          </p:cNvPr>
          <p:cNvSpPr/>
          <p:nvPr/>
        </p:nvSpPr>
        <p:spPr>
          <a:xfrm>
            <a:off x="1715294" y="5397996"/>
            <a:ext cx="96887" cy="187523"/>
          </a:xfrm>
          <a:custGeom>
            <a:avLst/>
            <a:gdLst/>
            <a:ahLst/>
            <a:cxnLst/>
            <a:rect l="l" t="t" r="r" b="b"/>
            <a:pathLst>
              <a:path w="137795" h="266700">
                <a:moveTo>
                  <a:pt x="0" y="0"/>
                </a:moveTo>
                <a:lnTo>
                  <a:pt x="137628" y="0"/>
                </a:lnTo>
                <a:lnTo>
                  <a:pt x="137628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44675D33-A56C-9562-F1DC-BA7C711F77AF}"/>
              </a:ext>
            </a:extLst>
          </p:cNvPr>
          <p:cNvSpPr txBox="1"/>
          <p:nvPr/>
        </p:nvSpPr>
        <p:spPr>
          <a:xfrm>
            <a:off x="1709936" y="1259086"/>
            <a:ext cx="598736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import</a:t>
            </a:r>
            <a:endParaRPr sz="1266">
              <a:latin typeface="Lucida Sans Typewriter"/>
              <a:cs typeface="Lucida Sans Typewriter"/>
            </a:endParaRPr>
          </a:p>
        </p:txBody>
      </p:sp>
      <p:sp>
        <p:nvSpPr>
          <p:cNvPr id="34" name="object 23">
            <a:extLst>
              <a:ext uri="{FF2B5EF4-FFF2-40B4-BE49-F238E27FC236}">
                <a16:creationId xmlns:a16="http://schemas.microsoft.com/office/drawing/2014/main" id="{9A5A1885-5270-1C64-F15A-93E49B43DE16}"/>
              </a:ext>
            </a:extLst>
          </p:cNvPr>
          <p:cNvSpPr txBox="1"/>
          <p:nvPr/>
        </p:nvSpPr>
        <p:spPr>
          <a:xfrm>
            <a:off x="2387327" y="1259086"/>
            <a:ext cx="3211562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{Component} </a:t>
            </a: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from</a:t>
            </a:r>
            <a:r>
              <a:rPr sz="1266" b="1" spc="1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'@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angular/core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266" dirty="0">
              <a:latin typeface="Lucida Console"/>
              <a:cs typeface="Lucida Console"/>
            </a:endParaRPr>
          </a:p>
        </p:txBody>
      </p:sp>
      <p:sp>
        <p:nvSpPr>
          <p:cNvPr id="35" name="object 24">
            <a:extLst>
              <a:ext uri="{FF2B5EF4-FFF2-40B4-BE49-F238E27FC236}">
                <a16:creationId xmlns:a16="http://schemas.microsoft.com/office/drawing/2014/main" id="{383DE063-2150-0538-DECA-C4F3C1BDFF55}"/>
              </a:ext>
            </a:extLst>
          </p:cNvPr>
          <p:cNvSpPr txBox="1"/>
          <p:nvPr/>
        </p:nvSpPr>
        <p:spPr>
          <a:xfrm>
            <a:off x="1709936" y="1446610"/>
            <a:ext cx="598736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import</a:t>
            </a:r>
            <a:endParaRPr sz="1266">
              <a:latin typeface="Lucida Sans Typewriter"/>
              <a:cs typeface="Lucida Sans Typewriter"/>
            </a:endParaRPr>
          </a:p>
        </p:txBody>
      </p:sp>
      <p:sp>
        <p:nvSpPr>
          <p:cNvPr id="36" name="object 25">
            <a:extLst>
              <a:ext uri="{FF2B5EF4-FFF2-40B4-BE49-F238E27FC236}">
                <a16:creationId xmlns:a16="http://schemas.microsoft.com/office/drawing/2014/main" id="{6CED96B6-BA92-A39E-B53D-49D37AC697D3}"/>
              </a:ext>
            </a:extLst>
          </p:cNvPr>
          <p:cNvSpPr txBox="1"/>
          <p:nvPr/>
        </p:nvSpPr>
        <p:spPr>
          <a:xfrm>
            <a:off x="2387327" y="1446610"/>
            <a:ext cx="4566196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{Experiment} </a:t>
            </a: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from</a:t>
            </a:r>
            <a:r>
              <a:rPr sz="1266" b="1" spc="53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../common/</a:t>
            </a:r>
            <a:r>
              <a:rPr sz="1266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experiment.model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266" dirty="0">
              <a:latin typeface="Lucida Console"/>
              <a:cs typeface="Lucida Console"/>
            </a:endParaRPr>
          </a:p>
        </p:txBody>
      </p:sp>
      <p:sp>
        <p:nvSpPr>
          <p:cNvPr id="37" name="object 26">
            <a:extLst>
              <a:ext uri="{FF2B5EF4-FFF2-40B4-BE49-F238E27FC236}">
                <a16:creationId xmlns:a16="http://schemas.microsoft.com/office/drawing/2014/main" id="{11AF7093-76C1-2351-6FC5-34FC21145FA7}"/>
              </a:ext>
            </a:extLst>
          </p:cNvPr>
          <p:cNvSpPr txBox="1"/>
          <p:nvPr/>
        </p:nvSpPr>
        <p:spPr>
          <a:xfrm>
            <a:off x="1709936" y="1634133"/>
            <a:ext cx="598736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import</a:t>
            </a:r>
            <a:endParaRPr sz="1266">
              <a:latin typeface="Lucida Sans Typewriter"/>
              <a:cs typeface="Lucida Sans Typewriter"/>
            </a:endParaRPr>
          </a:p>
        </p:txBody>
      </p:sp>
      <p:sp>
        <p:nvSpPr>
          <p:cNvPr id="38" name="object 27">
            <a:extLst>
              <a:ext uri="{FF2B5EF4-FFF2-40B4-BE49-F238E27FC236}">
                <a16:creationId xmlns:a16="http://schemas.microsoft.com/office/drawing/2014/main" id="{1F4C3F74-2DF3-D11D-B9F8-1BE6DFD0FD11}"/>
              </a:ext>
            </a:extLst>
          </p:cNvPr>
          <p:cNvSpPr txBox="1"/>
          <p:nvPr/>
        </p:nvSpPr>
        <p:spPr>
          <a:xfrm>
            <a:off x="2387327" y="1634133"/>
            <a:ext cx="5630614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{ExperimentsService} </a:t>
            </a: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from</a:t>
            </a:r>
            <a:r>
              <a:rPr sz="1266" b="1" spc="8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../common/</a:t>
            </a:r>
            <a:r>
              <a:rPr sz="1266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experiments.service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266" dirty="0">
              <a:latin typeface="Lucida Console"/>
              <a:cs typeface="Lucida Console"/>
            </a:endParaRPr>
          </a:p>
        </p:txBody>
      </p:sp>
      <p:sp>
        <p:nvSpPr>
          <p:cNvPr id="39" name="object 28">
            <a:extLst>
              <a:ext uri="{FF2B5EF4-FFF2-40B4-BE49-F238E27FC236}">
                <a16:creationId xmlns:a16="http://schemas.microsoft.com/office/drawing/2014/main" id="{27A24969-97F3-7331-13E9-C1F3899885BC}"/>
              </a:ext>
            </a:extLst>
          </p:cNvPr>
          <p:cNvSpPr txBox="1"/>
          <p:nvPr/>
        </p:nvSpPr>
        <p:spPr>
          <a:xfrm>
            <a:off x="1709936" y="1821656"/>
            <a:ext cx="598736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import</a:t>
            </a:r>
            <a:endParaRPr sz="1266">
              <a:latin typeface="Lucida Sans Typewriter"/>
              <a:cs typeface="Lucida Sans Typewriter"/>
            </a:endParaRPr>
          </a:p>
        </p:txBody>
      </p:sp>
      <p:sp>
        <p:nvSpPr>
          <p:cNvPr id="40" name="object 29">
            <a:extLst>
              <a:ext uri="{FF2B5EF4-FFF2-40B4-BE49-F238E27FC236}">
                <a16:creationId xmlns:a16="http://schemas.microsoft.com/office/drawing/2014/main" id="{A996E8B8-82CB-70CB-273F-B78FB9069EDB}"/>
              </a:ext>
            </a:extLst>
          </p:cNvPr>
          <p:cNvSpPr txBox="1"/>
          <p:nvPr/>
        </p:nvSpPr>
        <p:spPr>
          <a:xfrm>
            <a:off x="2387327" y="1821656"/>
            <a:ext cx="4469309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{StateService} </a:t>
            </a: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from</a:t>
            </a:r>
            <a:r>
              <a:rPr sz="1266" b="1" spc="49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../common/</a:t>
            </a:r>
            <a:r>
              <a:rPr sz="1266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state.service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266" dirty="0">
              <a:latin typeface="Lucida Console"/>
              <a:cs typeface="Lucida Console"/>
            </a:endParaRPr>
          </a:p>
        </p:txBody>
      </p:sp>
      <p:sp>
        <p:nvSpPr>
          <p:cNvPr id="41" name="object 30">
            <a:extLst>
              <a:ext uri="{FF2B5EF4-FFF2-40B4-BE49-F238E27FC236}">
                <a16:creationId xmlns:a16="http://schemas.microsoft.com/office/drawing/2014/main" id="{C931F309-7987-6C6C-B127-1C0562B8626E}"/>
              </a:ext>
            </a:extLst>
          </p:cNvPr>
          <p:cNvSpPr txBox="1"/>
          <p:nvPr/>
        </p:nvSpPr>
        <p:spPr>
          <a:xfrm>
            <a:off x="1709936" y="2196703"/>
            <a:ext cx="5727948" cy="46032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498"/>
              </a:lnSpc>
            </a:pP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@Component({</a:t>
            </a:r>
            <a:endParaRPr sz="1266" dirty="0">
              <a:latin typeface="Lucida Console"/>
              <a:cs typeface="Lucida Console"/>
            </a:endParaRPr>
          </a:p>
          <a:p>
            <a:pPr marL="202250">
              <a:lnSpc>
                <a:spcPts val="1477"/>
              </a:lnSpc>
            </a:pP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selector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266" spc="-18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experiments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,</a:t>
            </a:r>
            <a:endParaRPr sz="1266" dirty="0">
              <a:latin typeface="Lucida Console"/>
              <a:cs typeface="Lucida Console"/>
            </a:endParaRPr>
          </a:p>
          <a:p>
            <a:pPr marL="202250">
              <a:lnSpc>
                <a:spcPts val="1477"/>
              </a:lnSpc>
            </a:pP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templateUrl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266" spc="84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app/experiments/experiments.component.html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endParaRPr sz="1266" dirty="0">
              <a:latin typeface="Lucida Console"/>
              <a:cs typeface="Lucida Console"/>
            </a:endParaRPr>
          </a:p>
          <a:p>
            <a:pPr marL="8929">
              <a:lnSpc>
                <a:spcPts val="1477"/>
              </a:lnSpc>
            </a:pP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})</a:t>
            </a:r>
            <a:endParaRPr sz="1266" dirty="0">
              <a:latin typeface="Lucida Console"/>
              <a:cs typeface="Lucida Console"/>
            </a:endParaRPr>
          </a:p>
          <a:p>
            <a:pPr marL="202250" marR="2132780" indent="-193767">
              <a:lnSpc>
                <a:spcPts val="1477"/>
              </a:lnSpc>
              <a:spcBef>
                <a:spcPts val="63"/>
              </a:spcBef>
            </a:pP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export class 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ExperimentsComponent {  </a:t>
            </a: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title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 </a:t>
            </a: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string 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= 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Experiments</a:t>
            </a:r>
            <a:r>
              <a:rPr sz="1266" spc="11" dirty="0">
                <a:solidFill>
                  <a:srgbClr val="7C976C"/>
                </a:solidFill>
                <a:latin typeface="Lucida Console"/>
                <a:cs typeface="Lucida Console"/>
              </a:rPr>
              <a:t> 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Page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266" dirty="0">
              <a:latin typeface="Lucida Console"/>
              <a:cs typeface="Lucida Console"/>
            </a:endParaRPr>
          </a:p>
          <a:p>
            <a:pPr marL="202250" marR="487544">
              <a:lnSpc>
                <a:spcPts val="1477"/>
              </a:lnSpc>
            </a:pP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body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 </a:t>
            </a: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string 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= 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This is the about experiments body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;  </a:t>
            </a: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message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266" spc="-39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string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266" dirty="0">
              <a:latin typeface="Lucida Console"/>
              <a:cs typeface="Lucida Console"/>
            </a:endParaRPr>
          </a:p>
          <a:p>
            <a:pPr marL="202250">
              <a:lnSpc>
                <a:spcPts val="1434"/>
              </a:lnSpc>
            </a:pP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experiments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266" spc="-7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Experiment[];</a:t>
            </a:r>
            <a:endParaRPr sz="1266" dirty="0">
              <a:latin typeface="Lucida Console"/>
              <a:cs typeface="Lucida Console"/>
            </a:endParaRPr>
          </a:p>
          <a:p>
            <a:pPr>
              <a:spcBef>
                <a:spcPts val="18"/>
              </a:spcBef>
            </a:pPr>
            <a:endParaRPr sz="1230" dirty="0">
              <a:latin typeface="Times New Roman"/>
              <a:cs typeface="Times New Roman"/>
            </a:endParaRPr>
          </a:p>
          <a:p>
            <a:pPr marL="202250">
              <a:lnSpc>
                <a:spcPts val="1498"/>
              </a:lnSpc>
            </a:pP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constructor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(</a:t>
            </a:r>
            <a:endParaRPr sz="1266" dirty="0">
              <a:latin typeface="Lucida Console"/>
              <a:cs typeface="Lucida Console"/>
            </a:endParaRPr>
          </a:p>
          <a:p>
            <a:pPr marL="395571">
              <a:lnSpc>
                <a:spcPts val="1477"/>
              </a:lnSpc>
            </a:pP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private 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_StateService:</a:t>
            </a:r>
            <a:r>
              <a:rPr sz="1266" spc="28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StateService,</a:t>
            </a:r>
            <a:endParaRPr sz="1266" dirty="0">
              <a:latin typeface="Lucida Console"/>
              <a:cs typeface="Lucida Console"/>
            </a:endParaRPr>
          </a:p>
          <a:p>
            <a:pPr marL="395571">
              <a:lnSpc>
                <a:spcPts val="1498"/>
              </a:lnSpc>
            </a:pP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private 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_ExperimentsService: ExperimentsService)</a:t>
            </a:r>
            <a:r>
              <a:rPr sz="1266" spc="70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{}</a:t>
            </a:r>
            <a:endParaRPr sz="1266" dirty="0">
              <a:latin typeface="Lucida Console"/>
              <a:cs typeface="Lucida Console"/>
            </a:endParaRPr>
          </a:p>
          <a:p>
            <a:pPr>
              <a:spcBef>
                <a:spcPts val="18"/>
              </a:spcBef>
            </a:pPr>
            <a:endParaRPr sz="1230" dirty="0">
              <a:latin typeface="Times New Roman"/>
              <a:cs typeface="Times New Roman"/>
            </a:endParaRPr>
          </a:p>
          <a:p>
            <a:pPr marL="202250">
              <a:lnSpc>
                <a:spcPts val="1498"/>
              </a:lnSpc>
            </a:pPr>
            <a:r>
              <a:rPr sz="1266" spc="-4" dirty="0">
                <a:solidFill>
                  <a:srgbClr val="FFD080"/>
                </a:solidFill>
                <a:latin typeface="Lucida Console"/>
                <a:cs typeface="Lucida Console"/>
              </a:rPr>
              <a:t>updateMessage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(m: </a:t>
            </a: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string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): </a:t>
            </a: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void</a:t>
            </a:r>
            <a:r>
              <a:rPr sz="1266" b="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endParaRPr sz="1266" dirty="0">
              <a:latin typeface="Lucida Console"/>
              <a:cs typeface="Lucida Console"/>
            </a:endParaRPr>
          </a:p>
          <a:p>
            <a:pPr marL="395571">
              <a:lnSpc>
                <a:spcPts val="1477"/>
              </a:lnSpc>
            </a:pP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this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._StateService.</a:t>
            </a:r>
            <a:r>
              <a:rPr sz="1266" spc="-4" dirty="0">
                <a:solidFill>
                  <a:srgbClr val="FFD080"/>
                </a:solidFill>
                <a:latin typeface="Lucida Console"/>
                <a:cs typeface="Lucida Console"/>
              </a:rPr>
              <a:t>setMessage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(m);</a:t>
            </a:r>
            <a:endParaRPr sz="1266" dirty="0">
              <a:latin typeface="Lucida Console"/>
              <a:cs typeface="Lucida Console"/>
            </a:endParaRPr>
          </a:p>
          <a:p>
            <a:pPr marL="202250">
              <a:lnSpc>
                <a:spcPts val="1477"/>
              </a:lnSpc>
            </a:pP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266" dirty="0">
              <a:latin typeface="Lucida Console"/>
              <a:cs typeface="Lucida Console"/>
            </a:endParaRPr>
          </a:p>
          <a:p>
            <a:pPr marL="8929">
              <a:lnSpc>
                <a:spcPts val="1498"/>
              </a:lnSpc>
            </a:pP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266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1266" dirty="0">
              <a:latin typeface="Times New Roman"/>
              <a:cs typeface="Times New Roman"/>
            </a:endParaRPr>
          </a:p>
          <a:p>
            <a:pPr>
              <a:spcBef>
                <a:spcPts val="21"/>
              </a:spcBef>
            </a:pPr>
            <a:endParaRPr sz="1125" dirty="0">
              <a:latin typeface="Times New Roman"/>
              <a:cs typeface="Times New Roman"/>
            </a:endParaRPr>
          </a:p>
          <a:p>
            <a:pPr marL="17859"/>
            <a:r>
              <a:rPr sz="5062" b="1" spc="-84" dirty="0">
                <a:solidFill>
                  <a:srgbClr val="53585F"/>
                </a:solidFill>
                <a:latin typeface="Trebuchet MS"/>
                <a:cs typeface="Trebuchet MS"/>
              </a:rPr>
              <a:t>Enhance</a:t>
            </a:r>
            <a:endParaRPr sz="5062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99152981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Repeat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54C388E-D1A8-4F60-97FC-94425102F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Angular provides a framework where building  subcomponents is not only easy, but also strongly  encouraged</a:t>
            </a:r>
          </a:p>
          <a:p>
            <a:r>
              <a:rPr lang="en-US"/>
              <a:t>If a component is getting too large, do not hesitate to  break it into separate pieces and repeat the process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80305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07355" y="2223492"/>
            <a:ext cx="4892576" cy="267891"/>
          </a:xfrm>
          <a:custGeom>
            <a:avLst/>
            <a:gdLst/>
            <a:ahLst/>
            <a:cxnLst/>
            <a:rect l="l" t="t" r="r" b="b"/>
            <a:pathLst>
              <a:path w="6958330" h="381000">
                <a:moveTo>
                  <a:pt x="0" y="0"/>
                </a:moveTo>
                <a:lnTo>
                  <a:pt x="6957896" y="0"/>
                </a:lnTo>
                <a:lnTo>
                  <a:pt x="6957896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07355" y="2491383"/>
            <a:ext cx="8107263" cy="267891"/>
          </a:xfrm>
          <a:custGeom>
            <a:avLst/>
            <a:gdLst/>
            <a:ahLst/>
            <a:cxnLst/>
            <a:rect l="l" t="t" r="r" b="b"/>
            <a:pathLst>
              <a:path w="11530330" h="381000">
                <a:moveTo>
                  <a:pt x="0" y="0"/>
                </a:moveTo>
                <a:lnTo>
                  <a:pt x="11530239" y="0"/>
                </a:lnTo>
                <a:lnTo>
                  <a:pt x="11530239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07355" y="3027164"/>
            <a:ext cx="1677442" cy="267891"/>
          </a:xfrm>
          <a:custGeom>
            <a:avLst/>
            <a:gdLst/>
            <a:ahLst/>
            <a:cxnLst/>
            <a:rect l="l" t="t" r="r" b="b"/>
            <a:pathLst>
              <a:path w="2385695" h="381000">
                <a:moveTo>
                  <a:pt x="0" y="0"/>
                </a:moveTo>
                <a:lnTo>
                  <a:pt x="2385566" y="0"/>
                </a:lnTo>
                <a:lnTo>
                  <a:pt x="2385566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07355" y="3295055"/>
            <a:ext cx="3634383" cy="267891"/>
          </a:xfrm>
          <a:custGeom>
            <a:avLst/>
            <a:gdLst/>
            <a:ahLst/>
            <a:cxnLst/>
            <a:rect l="l" t="t" r="r" b="b"/>
            <a:pathLst>
              <a:path w="5168900" h="381000">
                <a:moveTo>
                  <a:pt x="0" y="0"/>
                </a:moveTo>
                <a:lnTo>
                  <a:pt x="5168720" y="0"/>
                </a:lnTo>
                <a:lnTo>
                  <a:pt x="51687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07355" y="3562945"/>
            <a:ext cx="8386763" cy="267891"/>
          </a:xfrm>
          <a:custGeom>
            <a:avLst/>
            <a:gdLst/>
            <a:ahLst/>
            <a:cxnLst/>
            <a:rect l="l" t="t" r="r" b="b"/>
            <a:pathLst>
              <a:path w="11927840" h="381000">
                <a:moveTo>
                  <a:pt x="0" y="0"/>
                </a:moveTo>
                <a:lnTo>
                  <a:pt x="11927826" y="0"/>
                </a:lnTo>
                <a:lnTo>
                  <a:pt x="11927826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1707355" y="3830836"/>
            <a:ext cx="5731073" cy="267891"/>
          </a:xfrm>
          <a:custGeom>
            <a:avLst/>
            <a:gdLst/>
            <a:ahLst/>
            <a:cxnLst/>
            <a:rect l="l" t="t" r="r" b="b"/>
            <a:pathLst>
              <a:path w="8150859" h="381000">
                <a:moveTo>
                  <a:pt x="0" y="0"/>
                </a:moveTo>
                <a:lnTo>
                  <a:pt x="8150680" y="0"/>
                </a:lnTo>
                <a:lnTo>
                  <a:pt x="815068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/>
          <p:nvPr/>
        </p:nvSpPr>
        <p:spPr>
          <a:xfrm>
            <a:off x="1707355" y="4098726"/>
            <a:ext cx="279946" cy="267891"/>
          </a:xfrm>
          <a:custGeom>
            <a:avLst/>
            <a:gdLst/>
            <a:ahLst/>
            <a:cxnLst/>
            <a:rect l="l" t="t" r="r" b="b"/>
            <a:pathLst>
              <a:path w="398145" h="381000">
                <a:moveTo>
                  <a:pt x="0" y="0"/>
                </a:moveTo>
                <a:lnTo>
                  <a:pt x="397593" y="0"/>
                </a:lnTo>
                <a:lnTo>
                  <a:pt x="39759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707355" y="4366617"/>
            <a:ext cx="5172075" cy="267891"/>
          </a:xfrm>
          <a:custGeom>
            <a:avLst/>
            <a:gdLst/>
            <a:ahLst/>
            <a:cxnLst/>
            <a:rect l="l" t="t" r="r" b="b"/>
            <a:pathLst>
              <a:path w="7355840" h="381000">
                <a:moveTo>
                  <a:pt x="0" y="0"/>
                </a:moveTo>
                <a:lnTo>
                  <a:pt x="7355495" y="0"/>
                </a:lnTo>
                <a:lnTo>
                  <a:pt x="735549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701006" y="2209200"/>
            <a:ext cx="856804" cy="28129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8929">
              <a:lnSpc>
                <a:spcPct val="100000"/>
              </a:lnSpc>
            </a:pPr>
            <a:r>
              <a:rPr sz="1828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import</a:t>
            </a:r>
            <a:endParaRPr sz="1828">
              <a:latin typeface="Lucida Sans Typewriter"/>
              <a:cs typeface="Lucida Sans Typewriter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79459" y="2205633"/>
            <a:ext cx="3791992" cy="28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28" spc="-4" dirty="0">
                <a:solidFill>
                  <a:srgbClr val="B7C4D1"/>
                </a:solidFill>
                <a:latin typeface="Lucida Console"/>
                <a:cs typeface="Lucida Console"/>
              </a:rPr>
              <a:t>{ExperimentDetailComponent}</a:t>
            </a:r>
            <a:endParaRPr sz="1828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0564" y="2473524"/>
            <a:ext cx="577304" cy="28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28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from</a:t>
            </a:r>
            <a:endParaRPr sz="1828">
              <a:latin typeface="Lucida Sans Typewriter"/>
              <a:cs typeface="Lucida Sans Typewri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79459" y="2473524"/>
            <a:ext cx="7146875" cy="28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828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828" spc="-4" dirty="0">
                <a:solidFill>
                  <a:srgbClr val="7C976C"/>
                </a:solidFill>
                <a:latin typeface="Lucida Console"/>
                <a:cs typeface="Lucida Console"/>
              </a:rPr>
              <a:t>./experiment-details/</a:t>
            </a:r>
            <a:r>
              <a:rPr sz="1828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experiment.detail.component</a:t>
            </a:r>
            <a:r>
              <a:rPr lang="es-ES" sz="1828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828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828" dirty="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1006" y="3009305"/>
            <a:ext cx="1695748" cy="28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28" spc="-4" dirty="0">
                <a:solidFill>
                  <a:srgbClr val="B7C4D1"/>
                </a:solidFill>
                <a:latin typeface="Lucida Console"/>
                <a:cs typeface="Lucida Console"/>
              </a:rPr>
              <a:t>@Component({</a:t>
            </a:r>
            <a:endParaRPr sz="1828">
              <a:latin typeface="Lucida Console"/>
              <a:cs typeface="Lucida Conso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80564" y="3277195"/>
            <a:ext cx="1276052" cy="28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28" spc="-4" dirty="0">
                <a:solidFill>
                  <a:srgbClr val="A98BB9"/>
                </a:solidFill>
                <a:latin typeface="Lucida Console"/>
                <a:cs typeface="Lucida Console"/>
              </a:rPr>
              <a:t>selecto</a:t>
            </a:r>
            <a:r>
              <a:rPr sz="1828" spc="-7" dirty="0">
                <a:solidFill>
                  <a:srgbClr val="A98BB9"/>
                </a:solidFill>
                <a:latin typeface="Lucida Console"/>
                <a:cs typeface="Lucida Console"/>
              </a:rPr>
              <a:t>r</a:t>
            </a:r>
            <a:r>
              <a:rPr sz="1828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endParaRPr sz="1828">
              <a:latin typeface="Lucida Console"/>
              <a:cs typeface="Lucida Conso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78358" y="3277195"/>
            <a:ext cx="1974800" cy="28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828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828" spc="-4" dirty="0">
                <a:solidFill>
                  <a:srgbClr val="7C976C"/>
                </a:solidFill>
                <a:latin typeface="Lucida Console"/>
                <a:cs typeface="Lucida Console"/>
              </a:rPr>
              <a:t>experiments</a:t>
            </a:r>
            <a:r>
              <a:rPr lang="es-ES" sz="1828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828" spc="-4" dirty="0">
                <a:solidFill>
                  <a:srgbClr val="B7C4D1"/>
                </a:solidFill>
                <a:latin typeface="Lucida Console"/>
                <a:cs typeface="Lucida Console"/>
              </a:rPr>
              <a:t>,</a:t>
            </a:r>
            <a:endParaRPr sz="1828" dirty="0">
              <a:latin typeface="Lucida Console"/>
              <a:cs typeface="Lucida Conso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80564" y="3545086"/>
            <a:ext cx="1695301" cy="28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28" spc="-4" dirty="0">
                <a:solidFill>
                  <a:srgbClr val="A98BB9"/>
                </a:solidFill>
                <a:latin typeface="Lucida Console"/>
                <a:cs typeface="Lucida Console"/>
              </a:rPr>
              <a:t>templateUrl</a:t>
            </a:r>
            <a:r>
              <a:rPr sz="1828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endParaRPr sz="1828">
              <a:latin typeface="Lucida Console"/>
              <a:cs typeface="Lucida Conso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97697" y="3545086"/>
            <a:ext cx="6307931" cy="28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828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828" spc="-4" dirty="0">
                <a:solidFill>
                  <a:srgbClr val="7C976C"/>
                </a:solidFill>
                <a:latin typeface="Lucida Console"/>
                <a:cs typeface="Lucida Console"/>
              </a:rPr>
              <a:t>app/experiments/experiments.component.html</a:t>
            </a:r>
            <a:r>
              <a:rPr lang="es-ES" sz="1828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828" spc="-4" dirty="0">
                <a:solidFill>
                  <a:srgbClr val="B7C4D1"/>
                </a:solidFill>
                <a:latin typeface="Lucida Console"/>
                <a:cs typeface="Lucida Console"/>
              </a:rPr>
              <a:t>,</a:t>
            </a:r>
            <a:endParaRPr sz="1828" dirty="0">
              <a:latin typeface="Lucida Console"/>
              <a:cs typeface="Lucida Conso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80563" y="3812977"/>
            <a:ext cx="1555552" cy="28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28" spc="-4" dirty="0">
                <a:solidFill>
                  <a:srgbClr val="A98BB9"/>
                </a:solidFill>
                <a:latin typeface="Lucida Console"/>
                <a:cs typeface="Lucida Console"/>
              </a:rPr>
              <a:t>directives</a:t>
            </a:r>
            <a:r>
              <a:rPr sz="1828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endParaRPr sz="1828">
              <a:latin typeface="Lucida Console"/>
              <a:cs typeface="Lucida Conso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57939" y="3812977"/>
            <a:ext cx="3792438" cy="28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28" spc="-4" dirty="0">
                <a:solidFill>
                  <a:srgbClr val="B7C4D1"/>
                </a:solidFill>
                <a:latin typeface="Lucida Console"/>
                <a:cs typeface="Lucida Console"/>
              </a:rPr>
              <a:t>[ExperimentDetailComponent]</a:t>
            </a:r>
            <a:endParaRPr sz="1828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01006" y="4080867"/>
            <a:ext cx="297805" cy="28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28" spc="-4" dirty="0">
                <a:solidFill>
                  <a:srgbClr val="B7C4D1"/>
                </a:solidFill>
                <a:latin typeface="Lucida Console"/>
                <a:cs typeface="Lucida Console"/>
              </a:rPr>
              <a:t>})</a:t>
            </a:r>
            <a:endParaRPr sz="1828">
              <a:latin typeface="Lucida Console"/>
              <a:cs typeface="Lucida Conso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01006" y="4348758"/>
            <a:ext cx="1695301" cy="28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28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export</a:t>
            </a:r>
            <a:r>
              <a:rPr sz="1828" b="1" spc="-46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828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class</a:t>
            </a:r>
            <a:endParaRPr sz="1828">
              <a:latin typeface="Lucida Sans Typewriter"/>
              <a:cs typeface="Lucida Sans Typewriter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18135" y="4348758"/>
            <a:ext cx="3373189" cy="28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828" spc="-4" dirty="0">
                <a:solidFill>
                  <a:srgbClr val="B7C4D1"/>
                </a:solidFill>
                <a:latin typeface="Lucida Console"/>
                <a:cs typeface="Lucida Console"/>
              </a:rPr>
              <a:t>ExperimentsComponent {</a:t>
            </a:r>
            <a:r>
              <a:rPr sz="1828" spc="-14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828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828">
              <a:latin typeface="Lucida Console"/>
              <a:cs typeface="Lucida Conso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18865" y="5929312"/>
            <a:ext cx="2056507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-91" dirty="0">
                <a:solidFill>
                  <a:srgbClr val="53585F"/>
                </a:solidFill>
                <a:latin typeface="Trebuchet MS"/>
                <a:cs typeface="Trebuchet MS"/>
              </a:rPr>
              <a:t>Repeat</a:t>
            </a:r>
            <a:endParaRPr sz="5062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04091448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Angular</a:t>
            </a:r>
            <a:endParaRPr lang="en-GB" dirty="0"/>
          </a:p>
        </p:txBody>
      </p:sp>
      <p:pic>
        <p:nvPicPr>
          <p:cNvPr id="16" name="Marcador de contenido 15">
            <a:extLst>
              <a:ext uri="{FF2B5EF4-FFF2-40B4-BE49-F238E27FC236}">
                <a16:creationId xmlns:a16="http://schemas.microsoft.com/office/drawing/2014/main" id="{9874A6DC-4151-4444-AE01-5366602F2DC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143000"/>
            <a:ext cx="9877425" cy="5091113"/>
          </a:xfrm>
          <a:prstGeom prst="rect">
            <a:avLst/>
          </a:prstGeom>
        </p:spPr>
      </p:pic>
      <p:sp>
        <p:nvSpPr>
          <p:cNvPr id="3" name="Tekstfelt 2"/>
          <p:cNvSpPr txBox="1"/>
          <p:nvPr/>
        </p:nvSpPr>
        <p:spPr>
          <a:xfrm>
            <a:off x="303213" y="6280508"/>
            <a:ext cx="117348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a-DK" sz="2400" dirty="0"/>
              <a:t>Live example: </a:t>
            </a:r>
            <a:r>
              <a:rPr lang="da-DK" sz="2400" dirty="0">
                <a:hlinkClick r:id="rId3"/>
              </a:rPr>
              <a:t>https://angular.io/generated/live-examples/getting-started-v0/stackblitz.html</a:t>
            </a:r>
            <a:r>
              <a:rPr lang="da-DK" sz="2400" dirty="0"/>
              <a:t>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9812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0133012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96</a:t>
            </a:fld>
            <a:endParaRPr lang="en-US" dirty="0"/>
          </a:p>
        </p:txBody>
      </p:sp>
      <p:sp>
        <p:nvSpPr>
          <p:cNvPr id="470019" name="Rectangle 3"/>
          <p:cNvSpPr>
            <a:spLocks noGrp="1" noChangeArrowheads="1"/>
          </p:cNvSpPr>
          <p:nvPr>
            <p:ph idx="1"/>
          </p:nvPr>
        </p:nvSpPr>
        <p:spPr>
          <a:xfrm>
            <a:off x="303212" y="881742"/>
            <a:ext cx="10134600" cy="5715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Pretty easy actually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Install globally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@angular/cli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Use it like this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800" dirty="0"/>
              <a:t>These commands will start a dev server on port 4200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To make production build just run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More here: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https://github.com/angular/angular-cli/wiki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1811" y="380999"/>
            <a:ext cx="11461825" cy="465747"/>
          </a:xfrm>
        </p:spPr>
        <p:txBody>
          <a:bodyPr>
            <a:normAutofit fontScale="90000"/>
          </a:bodyPr>
          <a:lstStyle/>
          <a:p>
            <a:r>
              <a:rPr lang="en-US" sz="3800" dirty="0"/>
              <a:t>Creating A New App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10707" y="1819984"/>
            <a:ext cx="9599611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npm install -g @angular/cli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09400" y="2618941"/>
            <a:ext cx="9599611" cy="13234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ng new some-app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cd some-app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npm install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ng serve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09399" y="4915618"/>
            <a:ext cx="9599611" cy="7078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ng build --prod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ng serve --prod</a:t>
            </a:r>
          </a:p>
        </p:txBody>
      </p:sp>
    </p:spTree>
    <p:extLst>
      <p:ext uri="{BB962C8B-B14F-4D97-AF65-F5344CB8AC3E}">
        <p14:creationId xmlns:p14="http://schemas.microsoft.com/office/powerpoint/2010/main" val="3869470286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Personalizado 1">
      <a:dk1>
        <a:srgbClr val="1B1D39"/>
      </a:dk1>
      <a:lt1>
        <a:sysClr val="window" lastClr="FFFFFF"/>
      </a:lt1>
      <a:dk2>
        <a:srgbClr val="F5C200"/>
      </a:dk2>
      <a:lt2>
        <a:srgbClr val="E7E6E6"/>
      </a:lt2>
      <a:accent1>
        <a:srgbClr val="F5C200"/>
      </a:accent1>
      <a:accent2>
        <a:srgbClr val="1B1D39"/>
      </a:accent2>
      <a:accent3>
        <a:srgbClr val="A5A5A5"/>
      </a:accent3>
      <a:accent4>
        <a:srgbClr val="FFC000"/>
      </a:accent4>
      <a:accent5>
        <a:srgbClr val="F5C200"/>
      </a:accent5>
      <a:accent6>
        <a:srgbClr val="F5C200"/>
      </a:accent6>
      <a:hlink>
        <a:srgbClr val="0563C1"/>
      </a:hlink>
      <a:folHlink>
        <a:srgbClr val="954F72"/>
      </a:folHlink>
    </a:clrScheme>
    <a:fontScheme name="TecnoFor">
      <a:majorFont>
        <a:latin typeface="Lexend Bold"/>
        <a:ea typeface="Helvetica"/>
        <a:cs typeface="Helvetica"/>
      </a:majorFont>
      <a:minorFont>
        <a:latin typeface="Lexend"/>
        <a:ea typeface="Arial"/>
        <a:cs typeface="Arial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76200">
          <a:solidFill>
            <a:srgbClr val="1C1E3B"/>
          </a:solidFill>
          <a:extLst>
            <a:ext uri="{C807C97D-BFC1-408E-A445-0C87EB9F89A2}">
              <ask:lineSketchStyleProps xmlns:ask="http://schemas.microsoft.com/office/drawing/2018/sketchyshapes">
                <ask:type>
                  <ask:lineSketchNone/>
                </ask:type>
              </ask:lineSketchStyleProps>
            </a:ext>
          </a:extLst>
        </a:ln>
      </a:spPr>
      <a:bodyPr lIns="72000" tIns="36000" rIns="72000" bIns="36000" rtlCol="0" anchor="ctr" anchorCtr="1"/>
      <a:lstStyle>
        <a:defPPr algn="ctr">
          <a:defRPr sz="4000" dirty="0">
            <a:solidFill>
              <a:srgbClr val="1C1E3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5592</Words>
  <Application>Microsoft Office PowerPoint</Application>
  <PresentationFormat>Personalizado</PresentationFormat>
  <Paragraphs>868</Paragraphs>
  <Slides>96</Slides>
  <Notes>14</Notes>
  <HiddenSlides>11</HiddenSlides>
  <MMClips>0</MMClips>
  <ScaleCrop>false</ScaleCrop>
  <HeadingPairs>
    <vt:vector size="6" baseType="variant">
      <vt:variant>
        <vt:lpstr>Fuentes usadas</vt:lpstr>
      </vt:variant>
      <vt:variant>
        <vt:i4>16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96</vt:i4>
      </vt:variant>
    </vt:vector>
  </HeadingPairs>
  <TitlesOfParts>
    <vt:vector size="113" baseType="lpstr">
      <vt:lpstr>Aharoni</vt:lpstr>
      <vt:lpstr>Arial</vt:lpstr>
      <vt:lpstr>Calibri</vt:lpstr>
      <vt:lpstr>Consolas</vt:lpstr>
      <vt:lpstr>inherit</vt:lpstr>
      <vt:lpstr>Lexend</vt:lpstr>
      <vt:lpstr>Lexend Bold</vt:lpstr>
      <vt:lpstr>Lexend Light</vt:lpstr>
      <vt:lpstr>Lucida Console</vt:lpstr>
      <vt:lpstr>Lucida Sans Typewriter</vt:lpstr>
      <vt:lpstr>Open Sans</vt:lpstr>
      <vt:lpstr>Tahoma</vt:lpstr>
      <vt:lpstr>Times New Roman</vt:lpstr>
      <vt:lpstr>Trebuchet MS</vt:lpstr>
      <vt:lpstr>var(--ff-mono)</vt:lpstr>
      <vt:lpstr>var(--theme-question-body-font-family)</vt:lpstr>
      <vt:lpstr>1_Tema de Office</vt:lpstr>
      <vt:lpstr>Angular Getting Started</vt:lpstr>
      <vt:lpstr>Why Angular?</vt:lpstr>
      <vt:lpstr>What is wrong with Web Development?</vt:lpstr>
      <vt:lpstr>What you should know?</vt:lpstr>
      <vt:lpstr>What is Angular?</vt:lpstr>
      <vt:lpstr>What is angular is NOT</vt:lpstr>
      <vt:lpstr>Angular Version History</vt:lpstr>
      <vt:lpstr>Angular 6</vt:lpstr>
      <vt:lpstr>Angular 7</vt:lpstr>
      <vt:lpstr>Angular 8 </vt:lpstr>
      <vt:lpstr>Angular 9</vt:lpstr>
      <vt:lpstr>Presentación de PowerPoint</vt:lpstr>
      <vt:lpstr>Presentación de PowerPoint</vt:lpstr>
      <vt:lpstr>Presentación de PowerPoint</vt:lpstr>
      <vt:lpstr>Angular 10</vt:lpstr>
      <vt:lpstr>Angular 11</vt:lpstr>
      <vt:lpstr>Angular 12</vt:lpstr>
      <vt:lpstr>Angular 13</vt:lpstr>
      <vt:lpstr>Why Angular?</vt:lpstr>
      <vt:lpstr>Why Angular?</vt:lpstr>
      <vt:lpstr>Why Angular?</vt:lpstr>
      <vt:lpstr>Why use Angular?</vt:lpstr>
      <vt:lpstr>Presentación de PowerPoint</vt:lpstr>
      <vt:lpstr>Angular Modularity</vt:lpstr>
      <vt:lpstr>Angular Architecture</vt:lpstr>
      <vt:lpstr>Core Features</vt:lpstr>
      <vt:lpstr>Let's Install It</vt:lpstr>
      <vt:lpstr>Creating A New App</vt:lpstr>
      <vt:lpstr>Presentación de PowerPoint</vt:lpstr>
      <vt:lpstr>Running A New App</vt:lpstr>
      <vt:lpstr>Para depurar</vt:lpstr>
      <vt:lpstr>angular - ng server - listen EACCES: permission denied 127.0.0.1:4200 - Stack Overflow</vt:lpstr>
      <vt:lpstr>Hello</vt:lpstr>
      <vt:lpstr>Visual Studio Code</vt:lpstr>
      <vt:lpstr>Extensiones para Visual Studio Core</vt:lpstr>
      <vt:lpstr>Estructura de ficheros y carpetas</vt:lpstr>
      <vt:lpstr>Edición en caliente - Hola Mundo</vt:lpstr>
      <vt:lpstr>Edición en caliente - Hola Mundo</vt:lpstr>
      <vt:lpstr>Configuración</vt:lpstr>
      <vt:lpstr>Configuración</vt:lpstr>
      <vt:lpstr>package.json</vt:lpstr>
      <vt:lpstr>package.json</vt:lpstr>
      <vt:lpstr>Estilos y librerías de terceros</vt:lpstr>
      <vt:lpstr>Estilos y librerías de terceros</vt:lpstr>
      <vt:lpstr>Estilos y librerías de terceros</vt:lpstr>
      <vt:lpstr>tsconfig.json</vt:lpstr>
      <vt:lpstr>The Main Building Blocks</vt:lpstr>
      <vt:lpstr>The Main Building Blocks</vt:lpstr>
      <vt:lpstr>Library modules</vt:lpstr>
      <vt:lpstr>Bootstrapping the App</vt:lpstr>
      <vt:lpstr>@NgModule</vt:lpstr>
      <vt:lpstr>ngModule</vt:lpstr>
      <vt:lpstr>Module</vt:lpstr>
      <vt:lpstr>// In</vt:lpstr>
      <vt:lpstr>Presentación de PowerPoint</vt:lpstr>
      <vt:lpstr>ngModule</vt:lpstr>
      <vt:lpstr>Estilos y librerías de terceros</vt:lpstr>
      <vt:lpstr>Dos mundos paralelos: imports de Angular e import de TypeScript</vt:lpstr>
      <vt:lpstr>Generación de módulos</vt:lpstr>
      <vt:lpstr>Generación de módulos</vt:lpstr>
      <vt:lpstr>Importación de módulos</vt:lpstr>
      <vt:lpstr>Componentes</vt:lpstr>
      <vt:lpstr>Components [Directives with Template] </vt:lpstr>
      <vt:lpstr>Componente</vt:lpstr>
      <vt:lpstr>Metadata</vt:lpstr>
      <vt:lpstr>Decorate</vt:lpstr>
      <vt:lpstr>import {Component}</vt:lpstr>
      <vt:lpstr>Component Fundamentals</vt:lpstr>
      <vt:lpstr>Presentación de PowerPoint</vt:lpstr>
      <vt:lpstr>Componentes</vt:lpstr>
      <vt:lpstr>Anatomía de un componente</vt:lpstr>
      <vt:lpstr>Anatomía de un componente</vt:lpstr>
      <vt:lpstr>Anatomía de un componente</vt:lpstr>
      <vt:lpstr>Anatomía de un componente</vt:lpstr>
      <vt:lpstr>Generación de componentes</vt:lpstr>
      <vt:lpstr>Generación de componentes</vt:lpstr>
      <vt:lpstr>Componentes públicos y privados</vt:lpstr>
      <vt:lpstr>Componentes públicos y privados</vt:lpstr>
      <vt:lpstr>Componentes públicos y privados</vt:lpstr>
      <vt:lpstr>Organización</vt:lpstr>
      <vt:lpstr>Crear un nuevo home</vt:lpstr>
      <vt:lpstr>Resultado</vt:lpstr>
      <vt:lpstr>Modificamos el componente</vt:lpstr>
      <vt:lpstr>Presentación de PowerPoint</vt:lpstr>
      <vt:lpstr>Modificamos el componente</vt:lpstr>
      <vt:lpstr>Class !== Inheritance</vt:lpstr>
      <vt:lpstr>Class</vt:lpstr>
      <vt:lpstr>export</vt:lpstr>
      <vt:lpstr>Import</vt:lpstr>
      <vt:lpstr>Presentación de PowerPoint</vt:lpstr>
      <vt:lpstr>Enhance</vt:lpstr>
      <vt:lpstr>Presentación de PowerPoint</vt:lpstr>
      <vt:lpstr>Repeat</vt:lpstr>
      <vt:lpstr>import</vt:lpstr>
      <vt:lpstr>Angular</vt:lpstr>
      <vt:lpstr>Creating A New App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>Software Development Course</dc:subject>
  <dc:creator/>
  <cp:keywords>Template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2023-10-03T09:05:41Z</dcterms:modified>
  <cp:category>Template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