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41" r:id="rId2"/>
  </p:sldMasterIdLst>
  <p:notesMasterIdLst>
    <p:notesMasterId r:id="rId39"/>
  </p:notesMasterIdLst>
  <p:handoutMasterIdLst>
    <p:handoutMasterId r:id="rId40"/>
  </p:handoutMasterIdLst>
  <p:sldIdLst>
    <p:sldId id="609" r:id="rId3"/>
    <p:sldId id="736" r:id="rId4"/>
    <p:sldId id="738" r:id="rId5"/>
    <p:sldId id="773" r:id="rId6"/>
    <p:sldId id="739" r:id="rId7"/>
    <p:sldId id="740" r:id="rId8"/>
    <p:sldId id="741" r:id="rId9"/>
    <p:sldId id="742" r:id="rId10"/>
    <p:sldId id="743" r:id="rId11"/>
    <p:sldId id="744" r:id="rId12"/>
    <p:sldId id="745" r:id="rId13"/>
    <p:sldId id="746" r:id="rId14"/>
    <p:sldId id="766" r:id="rId15"/>
    <p:sldId id="769" r:id="rId16"/>
    <p:sldId id="770" r:id="rId17"/>
    <p:sldId id="767" r:id="rId18"/>
    <p:sldId id="774" r:id="rId19"/>
    <p:sldId id="771" r:id="rId20"/>
    <p:sldId id="772" r:id="rId21"/>
    <p:sldId id="747" r:id="rId22"/>
    <p:sldId id="748" r:id="rId23"/>
    <p:sldId id="749" r:id="rId24"/>
    <p:sldId id="750" r:id="rId25"/>
    <p:sldId id="751" r:id="rId26"/>
    <p:sldId id="752" r:id="rId27"/>
    <p:sldId id="753" r:id="rId28"/>
    <p:sldId id="754" r:id="rId29"/>
    <p:sldId id="755" r:id="rId30"/>
    <p:sldId id="756" r:id="rId31"/>
    <p:sldId id="768" r:id="rId32"/>
    <p:sldId id="757" r:id="rId33"/>
    <p:sldId id="765" r:id="rId34"/>
    <p:sldId id="758" r:id="rId35"/>
    <p:sldId id="759" r:id="rId36"/>
    <p:sldId id="760" r:id="rId37"/>
    <p:sldId id="761" r:id="rId38"/>
  </p:sldIdLst>
  <p:sldSz cx="12188825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48D4357-E11A-4DE5-81E4-49C6B73B5D81}">
          <p14:sldIdLst>
            <p14:sldId id="609"/>
            <p14:sldId id="736"/>
            <p14:sldId id="738"/>
            <p14:sldId id="773"/>
            <p14:sldId id="739"/>
            <p14:sldId id="740"/>
            <p14:sldId id="741"/>
            <p14:sldId id="742"/>
            <p14:sldId id="743"/>
            <p14:sldId id="744"/>
            <p14:sldId id="745"/>
            <p14:sldId id="746"/>
            <p14:sldId id="766"/>
            <p14:sldId id="769"/>
            <p14:sldId id="770"/>
            <p14:sldId id="767"/>
            <p14:sldId id="774"/>
            <p14:sldId id="771"/>
            <p14:sldId id="772"/>
            <p14:sldId id="747"/>
            <p14:sldId id="748"/>
            <p14:sldId id="749"/>
            <p14:sldId id="750"/>
            <p14:sldId id="751"/>
            <p14:sldId id="752"/>
            <p14:sldId id="753"/>
            <p14:sldId id="754"/>
            <p14:sldId id="755"/>
            <p14:sldId id="756"/>
            <p14:sldId id="768"/>
            <p14:sldId id="757"/>
            <p14:sldId id="765"/>
            <p14:sldId id="758"/>
            <p14:sldId id="759"/>
            <p14:sldId id="760"/>
            <p14:sldId id="761"/>
          </p14:sldIdLst>
        </p14:section>
        <p14:section name="Resume" id="{4C6CD7CE-4C5C-4256-BE95-6EC46516E444}">
          <p14:sldIdLst/>
        </p14:section>
        <p14:section name="Summary" id="{1888D697-2B49-43A6-BDC2-719250E583B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8AFA"/>
    <a:srgbClr val="FDFFFF"/>
    <a:srgbClr val="FFA72A"/>
    <a:srgbClr val="FFF0D9"/>
    <a:srgbClr val="F0F5FA"/>
    <a:srgbClr val="0097CC"/>
    <a:srgbClr val="603A14"/>
    <a:srgbClr val="E85C0E"/>
    <a:srgbClr val="BAB398"/>
    <a:srgbClr val="ADA48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0259" autoAdjust="0"/>
  </p:normalViewPr>
  <p:slideViewPr>
    <p:cSldViewPr>
      <p:cViewPr varScale="1">
        <p:scale>
          <a:sx n="88" d="100"/>
          <a:sy n="88" d="100"/>
        </p:scale>
        <p:origin x="1314" y="90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102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3134" y="101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10/5/2023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‹Nº›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reactivex.io/documentation/operators/do.html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://softuni.org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reactivex.io/documentation/operators/do.html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://softuni.org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FA6BEF-0D01-42CD-AF49-6C72D33EA4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26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es-ES" sz="1600" dirty="0">
                <a:latin typeface="Open Sans"/>
              </a:rPr>
              <a:t>En este ejemplo te muestro vemos en detalle cómo tratar y analizar los eventos de error.</a:t>
            </a:r>
            <a:endParaRPr lang="es-ES" altLang="es-ES" sz="1600" dirty="0">
              <a:solidFill>
                <a:schemeClr val="tx1"/>
              </a:solidFill>
            </a:endParaRPr>
          </a:p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64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este caso no es la respuesta en sí lo que interesa, sino el hecho de haya terminado bien.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735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737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Nota: este operador fue anteriormente conocido como </a:t>
            </a:r>
            <a:r>
              <a:rPr lang="es-ES" sz="16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do.</a:t>
            </a:r>
            <a:r>
              <a:rPr lang="es-ES" sz="160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Ver</a:t>
            </a:r>
            <a:r>
              <a:rPr lang="es-ES" sz="16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 documentación operador do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4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5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05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Nota: este operador fue anteriormente conocido como </a:t>
            </a:r>
            <a:r>
              <a:rPr lang="es-ES" sz="16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do.</a:t>
            </a:r>
            <a:r>
              <a:rPr lang="es-ES" sz="160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Ver</a:t>
            </a:r>
            <a:r>
              <a:rPr lang="es-ES" sz="16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 documentación operador do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4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5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971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es-ES" sz="1600" dirty="0">
                <a:latin typeface="Open Sans"/>
              </a:rPr>
              <a:t>Respira y vuelve a leerlo. 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es-ES" sz="1600" dirty="0">
                <a:latin typeface="Open Sans"/>
              </a:rPr>
              <a:t>Tómate tu tiempo para revisar cada línea. </a:t>
            </a:r>
          </a:p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413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270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átula limp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6901E58-A1D8-A10A-D9D8-CE1515AF66D5}"/>
              </a:ext>
            </a:extLst>
          </p:cNvPr>
          <p:cNvSpPr/>
          <p:nvPr/>
        </p:nvSpPr>
        <p:spPr>
          <a:xfrm>
            <a:off x="5158485" y="1"/>
            <a:ext cx="7030341" cy="6858000"/>
          </a:xfrm>
          <a:prstGeom prst="rect">
            <a:avLst/>
          </a:prstGeom>
          <a:solidFill>
            <a:srgbClr val="1B1D39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1218834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799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927" y="2003899"/>
            <a:ext cx="5759538" cy="2879387"/>
          </a:xfrm>
        </p:spPr>
        <p:txBody>
          <a:bodyPr anchor="ctr" anchorCtr="1">
            <a:noAutofit/>
          </a:bodyPr>
          <a:lstStyle>
            <a:lvl1pPr algn="ctr">
              <a:defRPr sz="3999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pic>
        <p:nvPicPr>
          <p:cNvPr id="8" name="techie.png" descr="techie.png">
            <a:extLst>
              <a:ext uri="{FF2B5EF4-FFF2-40B4-BE49-F238E27FC236}">
                <a16:creationId xmlns:a16="http://schemas.microsoft.com/office/drawing/2014/main" id="{1153B63E-98A5-BBEE-9C6B-1057BEDC76E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100000">
            <a:off x="4306441" y="2849298"/>
            <a:ext cx="1336200" cy="1336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LOGO-FINAL.png" descr="LOGO-FINAL.png">
            <a:extLst>
              <a:ext uri="{FF2B5EF4-FFF2-40B4-BE49-F238E27FC236}">
                <a16:creationId xmlns:a16="http://schemas.microsoft.com/office/drawing/2014/main" id="{40C008DC-BE4A-D4B5-81FB-D8FC4CA2A7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362" y="3037100"/>
            <a:ext cx="3933202" cy="78380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45476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átula con imagen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6901E58-A1D8-A10A-D9D8-CE1515AF66D5}"/>
              </a:ext>
            </a:extLst>
          </p:cNvPr>
          <p:cNvSpPr/>
          <p:nvPr/>
        </p:nvSpPr>
        <p:spPr>
          <a:xfrm>
            <a:off x="5158485" y="-8466"/>
            <a:ext cx="7030341" cy="6858000"/>
          </a:xfrm>
          <a:prstGeom prst="rect">
            <a:avLst/>
          </a:prstGeom>
          <a:solidFill>
            <a:srgbClr val="1B1D39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1218834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799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927" y="2003899"/>
            <a:ext cx="5759538" cy="2879387"/>
          </a:xfrm>
        </p:spPr>
        <p:txBody>
          <a:bodyPr anchor="ctr" anchorCtr="1">
            <a:noAutofit/>
          </a:bodyPr>
          <a:lstStyle>
            <a:lvl1pPr algn="ctr">
              <a:defRPr sz="3999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pic>
        <p:nvPicPr>
          <p:cNvPr id="8" name="techie.png" descr="techie.png">
            <a:extLst>
              <a:ext uri="{FF2B5EF4-FFF2-40B4-BE49-F238E27FC236}">
                <a16:creationId xmlns:a16="http://schemas.microsoft.com/office/drawing/2014/main" id="{1153B63E-98A5-BBEE-9C6B-1057BEDC76E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100000">
            <a:off x="4306441" y="2849298"/>
            <a:ext cx="1336200" cy="1336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Imagen 4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64B3FB7A-0102-D659-3C30-C1C4C3659A5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2983" y="5840440"/>
            <a:ext cx="2457425" cy="469081"/>
          </a:xfrm>
          <a:prstGeom prst="rect">
            <a:avLst/>
          </a:prstGeom>
        </p:spPr>
      </p:pic>
      <p:pic>
        <p:nvPicPr>
          <p:cNvPr id="6" name="Imagen 5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E0D610C9-30BB-C209-BCCA-3BCE95C72D7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2983" y="5840440"/>
            <a:ext cx="2457425" cy="46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541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dor">
    <p:bg>
      <p:bgPr>
        <a:solidFill>
          <a:srgbClr val="1C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AE9D3631-5A5C-021D-E659-1D384017DB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7468" y="6329921"/>
            <a:ext cx="1345323" cy="256799"/>
          </a:xfrm>
          <a:prstGeom prst="rect">
            <a:avLst/>
          </a:prstGeom>
        </p:spPr>
      </p:pic>
      <p:sp>
        <p:nvSpPr>
          <p:cNvPr id="4" name="Google Shape;48;p8">
            <a:extLst>
              <a:ext uri="{FF2B5EF4-FFF2-40B4-BE49-F238E27FC236}">
                <a16:creationId xmlns:a16="http://schemas.microsoft.com/office/drawing/2014/main" id="{3F57A50C-DED0-9A4A-F7C8-CD569FF06F43}"/>
              </a:ext>
            </a:extLst>
          </p:cNvPr>
          <p:cNvSpPr/>
          <p:nvPr/>
        </p:nvSpPr>
        <p:spPr>
          <a:xfrm>
            <a:off x="950719" y="-69"/>
            <a:ext cx="10287322" cy="68580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599" y="0"/>
                </a:lnTo>
                <a:lnTo>
                  <a:pt x="21600" y="0"/>
                </a:lnTo>
                <a:lnTo>
                  <a:pt x="18001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799" dirty="0"/>
          </a:p>
        </p:txBody>
      </p:sp>
      <p:pic>
        <p:nvPicPr>
          <p:cNvPr id="5" name="techie.png" descr="techie.png">
            <a:extLst>
              <a:ext uri="{FF2B5EF4-FFF2-40B4-BE49-F238E27FC236}">
                <a16:creationId xmlns:a16="http://schemas.microsoft.com/office/drawing/2014/main" id="{4B8A62A0-CE43-5FE0-5996-117855E878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7818" y="775699"/>
            <a:ext cx="1180194" cy="118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techie.png" descr="techie.png">
            <a:extLst>
              <a:ext uri="{FF2B5EF4-FFF2-40B4-BE49-F238E27FC236}">
                <a16:creationId xmlns:a16="http://schemas.microsoft.com/office/drawing/2014/main" id="{F34A3DA2-C704-C58B-4D16-8D97BC00AAB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102611" y="4975166"/>
            <a:ext cx="1180194" cy="118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F3F2153-8EA8-5CEA-0F22-9F81F2479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931" y="1268413"/>
            <a:ext cx="7444903" cy="1349282"/>
          </a:xfrm>
        </p:spPr>
        <p:txBody>
          <a:bodyPr anchor="ctr" anchorCtr="1">
            <a:normAutofit/>
          </a:bodyPr>
          <a:lstStyle>
            <a:lvl1pPr algn="ctr">
              <a:defRPr sz="3299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3734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F21244-DF76-B9A4-1238-3157FB675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457201"/>
            <a:ext cx="11201400" cy="533400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86D7AF6-E8C0-B5DD-B9A1-3CA878371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1066800"/>
            <a:ext cx="11201400" cy="54483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399">
                <a:solidFill>
                  <a:schemeClr val="accent2">
                    <a:lumMod val="75000"/>
                  </a:schemeClr>
                </a:solidFill>
              </a:defRPr>
            </a:lvl1pPr>
            <a:lvl2pPr>
              <a:buFont typeface="Arial" panose="020B0604020202020204" pitchFamily="34" charset="0"/>
              <a:buChar char="•"/>
              <a:defRPr sz="1999">
                <a:solidFill>
                  <a:schemeClr val="accent2">
                    <a:lumMod val="75000"/>
                  </a:schemeClr>
                </a:solidFill>
              </a:defRPr>
            </a:lvl2pPr>
            <a:lvl3pPr>
              <a:buFont typeface="Arial" panose="020B0604020202020204" pitchFamily="34" charset="0"/>
              <a:buChar char="•"/>
              <a:defRPr sz="1799">
                <a:solidFill>
                  <a:schemeClr val="accent2">
                    <a:lumMod val="75000"/>
                  </a:schemeClr>
                </a:solidFill>
              </a:defRPr>
            </a:lvl3pPr>
            <a:lvl4pPr>
              <a:buFont typeface="Arial" panose="020B0604020202020204" pitchFamily="34" charset="0"/>
              <a:buChar char="•"/>
              <a:defRPr sz="16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buFont typeface="Arial" panose="020B0604020202020204" pitchFamily="34" charset="0"/>
              <a:buChar char="•"/>
              <a:defRPr sz="14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604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2833" y="4406902"/>
            <a:ext cx="10360501" cy="1362075"/>
          </a:xfrm>
          <a:prstGeom prst="rect">
            <a:avLst/>
          </a:prstGeom>
        </p:spPr>
        <p:txBody>
          <a:bodyPr/>
          <a:lstStyle>
            <a:lvl1pPr algn="l">
              <a:defRPr sz="3999" b="1" cap="all"/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99"/>
            </a:lvl1pPr>
            <a:lvl2pPr marL="457063" indent="0">
              <a:buNone/>
              <a:defRPr sz="1799"/>
            </a:lvl2pPr>
            <a:lvl3pPr marL="914126" indent="0">
              <a:buNone/>
              <a:defRPr sz="1600"/>
            </a:lvl3pPr>
            <a:lvl4pPr marL="1371189" indent="0">
              <a:buNone/>
              <a:defRPr sz="1400"/>
            </a:lvl4pPr>
            <a:lvl5pPr marL="1828251" indent="0">
              <a:buNone/>
              <a:defRPr sz="1400"/>
            </a:lvl5pPr>
            <a:lvl6pPr marL="2285314" indent="0">
              <a:buNone/>
              <a:defRPr sz="1400"/>
            </a:lvl6pPr>
            <a:lvl7pPr marL="2742377" indent="0">
              <a:buNone/>
              <a:defRPr sz="1400"/>
            </a:lvl7pPr>
            <a:lvl8pPr marL="3199440" indent="0">
              <a:buNone/>
              <a:defRPr sz="1400"/>
            </a:lvl8pPr>
            <a:lvl9pPr marL="3656503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97169637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25682E51-C6CE-76F7-769C-C200EAF00254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0"/>
                </a:moveTo>
                <a:lnTo>
                  <a:pt x="13004800" y="0"/>
                </a:lnTo>
                <a:lnTo>
                  <a:pt x="130048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</p:spTree>
    <p:extLst>
      <p:ext uri="{BB962C8B-B14F-4D97-AF65-F5344CB8AC3E}">
        <p14:creationId xmlns:p14="http://schemas.microsoft.com/office/powerpoint/2010/main" val="3866067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006" y="2084187"/>
            <a:ext cx="5551407" cy="1793090"/>
          </a:xfrm>
          <a:noFill/>
        </p:spPr>
        <p:txBody>
          <a:bodyPr lIns="146304" tIns="91440" rIns="146304" bIns="91440" anchor="t" anchorCtr="0"/>
          <a:lstStyle>
            <a:lvl1pPr>
              <a:defRPr lang="en-US" dirty="0">
                <a:solidFill>
                  <a:schemeClr val="bg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006" y="3878574"/>
            <a:ext cx="5551408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lang="en-US" dirty="0">
                <a:solidFill>
                  <a:schemeClr val="bg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7743998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619" y="1268412"/>
            <a:ext cx="11299332" cy="4860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pic>
        <p:nvPicPr>
          <p:cNvPr id="9" name="LOGO-FINAL.png" descr="LOGO-FINAL.png">
            <a:extLst>
              <a:ext uri="{FF2B5EF4-FFF2-40B4-BE49-F238E27FC236}">
                <a16:creationId xmlns:a16="http://schemas.microsoft.com/office/drawing/2014/main" id="{FD1127DC-3633-9F91-EAC6-DF84F02D8D8F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6564" y="6323743"/>
            <a:ext cx="1391279" cy="2772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techie.png" descr="techie.png">
            <a:extLst>
              <a:ext uri="{FF2B5EF4-FFF2-40B4-BE49-F238E27FC236}">
                <a16:creationId xmlns:a16="http://schemas.microsoft.com/office/drawing/2014/main" id="{E9C3B265-6261-C31F-6626-0F2960C3D37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670" y="206462"/>
            <a:ext cx="437900" cy="43801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4619" y="381000"/>
            <a:ext cx="11298538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2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</p:sldLayoutIdLst>
  <p:hf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34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Clr>
          <a:srgbClr val="F5C200"/>
        </a:buClr>
        <a:buFont typeface="Arial" panose="020B0604020202020204" pitchFamily="34" charset="0"/>
        <a:buChar char="•"/>
        <a:defRPr sz="2799" kern="1200">
          <a:solidFill>
            <a:srgbClr val="1C1E3B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23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19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17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17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45">
          <p15:clr>
            <a:srgbClr val="F26B43"/>
          </p15:clr>
        </p15:guide>
        <p15:guide id="2" pos="423">
          <p15:clr>
            <a:srgbClr val="F26B43"/>
          </p15:clr>
        </p15:guide>
        <p15:guide id="3" pos="14938">
          <p15:clr>
            <a:srgbClr val="F26B43"/>
          </p15:clr>
        </p15:guide>
        <p15:guide id="4" orient="horz" pos="1598">
          <p15:clr>
            <a:srgbClr val="F26B43"/>
          </p15:clr>
        </p15:guide>
        <p15:guide id="5" orient="horz" pos="794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reactivex.io/intro.html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ademiaBinaria/angular5/blob/master/6-http/cash-flow/src/app/lib/catch-interceptor.service.t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cademiaBinaria/angular5/blob/master/6-http/cash-flow/src/app/lib/catch-interceptor.service.ts" TargetMode="Externa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Angular</a:t>
            </a:r>
            <a:br>
              <a:rPr lang="en-US" b="1" dirty="0"/>
            </a:br>
            <a:r>
              <a:rPr lang="es-ES" b="1" dirty="0"/>
              <a:t>Comunicaciones http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7084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AB267D0-281D-4C1E-AF27-0A2DFEB47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Intro</a:t>
            </a:r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13970CC-00B2-49BA-8AF6-3A37B88F7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s-ES" sz="2800" dirty="0"/>
              <a:t>Las comunicaciones </a:t>
            </a:r>
            <a:r>
              <a:rPr lang="es-ES" sz="2800" i="1" dirty="0"/>
              <a:t>http</a:t>
            </a:r>
            <a:r>
              <a:rPr lang="es-ES" sz="2800" dirty="0"/>
              <a:t> son una pieza fundamental del desarrollo web, y en </a:t>
            </a:r>
            <a:r>
              <a:rPr lang="es-ES" sz="2800" b="1" dirty="0"/>
              <a:t>Angular</a:t>
            </a:r>
            <a:r>
              <a:rPr lang="es-ES" sz="2800" dirty="0"/>
              <a:t> siempre han sido fáciles y potentes. ¿Siempre?, bueno cuando apareció Angular 2 echábamos en falta algunas cosillas. Pero con la versión actual </a:t>
            </a:r>
            <a:r>
              <a:rPr lang="es-ES" sz="2800" b="1" dirty="0"/>
              <a:t>consumir un servicio REST</a:t>
            </a:r>
            <a:r>
              <a:rPr lang="es-ES" sz="2800" dirty="0"/>
              <a:t> vuelve a ser cosa de niños.</a:t>
            </a:r>
          </a:p>
          <a:p>
            <a:pPr fontAlgn="base"/>
            <a:r>
              <a:rPr lang="es-ES" altLang="es-ES" sz="2800" dirty="0">
                <a:latin typeface="Open Sans"/>
              </a:rPr>
              <a:t>Claro que para ello tendremos que jugar con los </a:t>
            </a:r>
            <a:r>
              <a:rPr lang="es-ES" altLang="es-ES" sz="2800" i="1" dirty="0">
                <a:latin typeface="inherit"/>
              </a:rPr>
              <a:t>observables</a:t>
            </a:r>
            <a:r>
              <a:rPr lang="es-ES" altLang="es-ES" sz="2800" dirty="0">
                <a:latin typeface="Open Sans"/>
              </a:rPr>
              <a:t> y los servicios de la librería 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@angular/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common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/http</a:t>
            </a:r>
            <a:r>
              <a:rPr lang="es-ES" altLang="es-ES" sz="2800" dirty="0">
                <a:latin typeface="Open Sans"/>
              </a:rPr>
              <a:t> con los que realizar </a:t>
            </a:r>
            <a:r>
              <a:rPr lang="es-ES" altLang="es-ES" sz="2800" b="1" dirty="0">
                <a:latin typeface="inherit"/>
              </a:rPr>
              <a:t>comunicaciones asíncronas en Angular</a:t>
            </a:r>
            <a:r>
              <a:rPr lang="es-ES" altLang="es-ES" sz="2800" dirty="0">
                <a:latin typeface="Open Sans"/>
              </a:rPr>
              <a:t>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A1D51F6-2235-47DB-A332-17D387EC8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14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B2864-0F20-4706-B0BD-3281F67F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El servicio HttpClient</a:t>
            </a:r>
            <a:endParaRPr lang="es-E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56ABD1-CED8-4098-9C40-E2511AA49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400" dirty="0">
                <a:latin typeface="Open Sans"/>
              </a:rPr>
              <a:t>La librería </a:t>
            </a:r>
            <a:r>
              <a:rPr lang="es-ES" altLang="es-ES" sz="2400" dirty="0">
                <a:solidFill>
                  <a:srgbClr val="428AC7"/>
                </a:solidFill>
                <a:latin typeface="Source Code Pro"/>
              </a:rPr>
              <a:t>@angular/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common</a:t>
            </a:r>
            <a:r>
              <a:rPr lang="es-ES" altLang="es-ES" sz="2400" dirty="0">
                <a:solidFill>
                  <a:srgbClr val="428AC7"/>
                </a:solidFill>
                <a:latin typeface="Source Code Pro"/>
              </a:rPr>
              <a:t>/http</a:t>
            </a:r>
            <a:r>
              <a:rPr lang="es-ES" altLang="es-ES" sz="2400" dirty="0">
                <a:latin typeface="Open Sans"/>
              </a:rPr>
              <a:t> trae el módulo 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HttpClientModule</a:t>
            </a:r>
            <a:r>
              <a:rPr lang="es-ES" altLang="es-ES" sz="2400" dirty="0">
                <a:latin typeface="Open Sans"/>
              </a:rPr>
              <a:t> con el servicio inyectable 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HttpClient</a:t>
            </a:r>
            <a:r>
              <a:rPr lang="es-ES" altLang="es-ES" sz="2400" dirty="0">
                <a:latin typeface="Open Sans"/>
              </a:rPr>
              <a:t> que debes declarar como dependencia en tus propios constructores.</a:t>
            </a:r>
            <a:endParaRPr lang="es-ES" altLang="es-ES" sz="2400" dirty="0">
              <a:solidFill>
                <a:schemeClr val="tx1"/>
              </a:solidFill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400" dirty="0">
                <a:latin typeface="Open Sans"/>
              </a:rPr>
              <a:t>En el fichero 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operations.service.ts</a:t>
            </a:r>
            <a:r>
              <a:rPr lang="es-ES" altLang="es-ES" sz="2400" dirty="0">
                <a:latin typeface="Open Sans"/>
              </a:rPr>
              <a:t> tienes el código que reclama la dependencia y la configura con una ruta base obtenida de la configuración de 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environment</a:t>
            </a:r>
            <a:r>
              <a:rPr lang="es-ES" altLang="es-ES" sz="2400" dirty="0">
                <a:latin typeface="Open Sans"/>
              </a:rPr>
              <a:t>.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" altLang="es-ES" sz="2400" dirty="0">
              <a:solidFill>
                <a:schemeClr val="tx1"/>
              </a:solidFill>
              <a:latin typeface="Open Sans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" altLang="es-ES" sz="2400" dirty="0">
              <a:solidFill>
                <a:schemeClr val="tx1"/>
              </a:solidFill>
              <a:latin typeface="Open Sans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" altLang="es-E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ES" sz="2400" dirty="0"/>
          </a:p>
          <a:p>
            <a:r>
              <a:rPr lang="es-ES" sz="2400" dirty="0"/>
              <a:t>A partir de este momento sólo queda invocar los métodos REST en la propiedad </a:t>
            </a:r>
            <a:r>
              <a:rPr lang="es-ES" sz="2400" dirty="0" err="1">
                <a:solidFill>
                  <a:srgbClr val="1A8AFA"/>
                </a:solidFill>
              </a:rPr>
              <a:t>this.http</a:t>
            </a:r>
            <a:r>
              <a:rPr lang="es-ES" sz="2400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9B23E9-6C85-44DF-A6FF-E94F854CE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3581400"/>
            <a:ext cx="9599611" cy="107721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export class OperationsService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private url = environment.apiUrl + "pub/items/";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constructor(private http: HttpClient) {}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2C4E321-6132-4B81-A1ED-4BF8C4C2D9A1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LAB1a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7D9DA4E-37AE-44E8-BDB0-95A2F775B42F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C:\Labs\T7\EX1</a:t>
            </a:r>
          </a:p>
        </p:txBody>
      </p:sp>
    </p:spTree>
    <p:extLst>
      <p:ext uri="{BB962C8B-B14F-4D97-AF65-F5344CB8AC3E}">
        <p14:creationId xmlns:p14="http://schemas.microsoft.com/office/powerpoint/2010/main" val="143015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C1146F4-7F95-4BEC-278D-C869C28C3238}"/>
              </a:ext>
            </a:extLst>
          </p:cNvPr>
          <p:cNvSpPr txBox="1"/>
          <p:nvPr/>
        </p:nvSpPr>
        <p:spPr>
          <a:xfrm>
            <a:off x="6528572" y="1066800"/>
            <a:ext cx="169944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Angular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14A0F8F-F65E-27E2-0FF2-92DA326C4ABA}"/>
              </a:ext>
            </a:extLst>
          </p:cNvPr>
          <p:cNvSpPr txBox="1"/>
          <p:nvPr/>
        </p:nvSpPr>
        <p:spPr>
          <a:xfrm>
            <a:off x="1293812" y="4114800"/>
            <a:ext cx="6921726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 err="1"/>
              <a:t>Restful</a:t>
            </a:r>
            <a:r>
              <a:rPr lang="es-ES" dirty="0"/>
              <a:t> (JSON/HTTP)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626DDD96-3C6B-FC51-7104-6BAF904A0974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4754675" y="1436132"/>
            <a:ext cx="2623617" cy="2678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4EDD5383-7A65-5F03-885B-D1BAE77C8565}"/>
              </a:ext>
            </a:extLst>
          </p:cNvPr>
          <p:cNvSpPr txBox="1"/>
          <p:nvPr/>
        </p:nvSpPr>
        <p:spPr>
          <a:xfrm>
            <a:off x="8990012" y="1066800"/>
            <a:ext cx="1699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Cliente/Browser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D26737B-4A7F-78AA-7256-E635BD28209F}"/>
              </a:ext>
            </a:extLst>
          </p:cNvPr>
          <p:cNvSpPr txBox="1"/>
          <p:nvPr/>
        </p:nvSpPr>
        <p:spPr>
          <a:xfrm>
            <a:off x="8761412" y="4114800"/>
            <a:ext cx="2785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Servidor /.NET/Java/</a:t>
            </a:r>
            <a:r>
              <a:rPr lang="es-ES" b="1" dirty="0" err="1"/>
              <a:t>NodeJS</a:t>
            </a:r>
            <a:endParaRPr lang="es-ES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D132064-85AA-2B8E-7DDD-D8D6B45FFE24}"/>
              </a:ext>
            </a:extLst>
          </p:cNvPr>
          <p:cNvSpPr txBox="1"/>
          <p:nvPr/>
        </p:nvSpPr>
        <p:spPr>
          <a:xfrm>
            <a:off x="6299653" y="2406134"/>
            <a:ext cx="2080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JSON/</a:t>
            </a:r>
            <a:r>
              <a:rPr lang="es-ES" dirty="0" err="1"/>
              <a:t>HTTP’s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F3F2F39-7B81-0811-A9CE-18858B09130F}"/>
              </a:ext>
            </a:extLst>
          </p:cNvPr>
          <p:cNvSpPr txBox="1"/>
          <p:nvPr/>
        </p:nvSpPr>
        <p:spPr>
          <a:xfrm>
            <a:off x="6616133" y="2775466"/>
            <a:ext cx="1611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JWT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80E6D03-57D9-440F-71B3-E9FC41143213}"/>
              </a:ext>
            </a:extLst>
          </p:cNvPr>
          <p:cNvSpPr txBox="1"/>
          <p:nvPr/>
        </p:nvSpPr>
        <p:spPr>
          <a:xfrm>
            <a:off x="6287179" y="3745468"/>
            <a:ext cx="3147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OperationsJSONService</a:t>
            </a:r>
            <a:endParaRPr lang="es-ES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1350BB3-FA9B-67B1-6EA2-A3EFF351D5B8}"/>
              </a:ext>
            </a:extLst>
          </p:cNvPr>
          <p:cNvSpPr txBox="1"/>
          <p:nvPr/>
        </p:nvSpPr>
        <p:spPr>
          <a:xfrm>
            <a:off x="693510" y="1066800"/>
            <a:ext cx="3419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1">
                <a:latin typeface="Consolas" pitchFamily="49" charset="0"/>
                <a:cs typeface="Consolas" pitchFamily="49" charset="0"/>
              </a:rPr>
              <a:t>private http: HttpClient</a:t>
            </a:r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C18FDAD-A458-BC33-B283-90F65F52A79B}"/>
              </a:ext>
            </a:extLst>
          </p:cNvPr>
          <p:cNvSpPr txBox="1"/>
          <p:nvPr/>
        </p:nvSpPr>
        <p:spPr>
          <a:xfrm>
            <a:off x="462053" y="2221468"/>
            <a:ext cx="34197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JSON/</a:t>
            </a:r>
            <a:r>
              <a:rPr lang="es-ES" dirty="0" err="1"/>
              <a:t>HTTP’s</a:t>
            </a:r>
            <a:endParaRPr lang="es-ES" dirty="0"/>
          </a:p>
          <a:p>
            <a:r>
              <a:rPr lang="es-ES" dirty="0"/>
              <a:t>(</a:t>
            </a:r>
            <a:r>
              <a:rPr lang="es-ES" dirty="0" err="1"/>
              <a:t>Fetchjson</a:t>
            </a:r>
            <a:r>
              <a:rPr lang="es-ES" dirty="0"/>
              <a:t>)</a:t>
            </a:r>
            <a:r>
              <a:rPr lang="es-ES" dirty="0" err="1"/>
              <a:t>Fetch</a:t>
            </a:r>
            <a:endParaRPr lang="es-ES" dirty="0"/>
          </a:p>
          <a:p>
            <a:r>
              <a:rPr lang="en-US" sz="1800" b="1" noProof="1">
                <a:latin typeface="Consolas" pitchFamily="49" charset="0"/>
                <a:cs typeface="Consolas" pitchFamily="49" charset="0"/>
              </a:rPr>
              <a:t>(ajax)XmlHttpClient</a:t>
            </a:r>
            <a:endParaRPr lang="es-ES" dirty="0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567FCB3E-80B9-684D-D096-621BC6366688}"/>
              </a:ext>
            </a:extLst>
          </p:cNvPr>
          <p:cNvCxnSpPr>
            <a:cxnSpLocks/>
          </p:cNvCxnSpPr>
          <p:nvPr/>
        </p:nvCxnSpPr>
        <p:spPr>
          <a:xfrm>
            <a:off x="2296886" y="1436132"/>
            <a:ext cx="2206624" cy="2678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349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0C102C-2163-4BBD-A530-75FD95DFA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Métodos REST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ABA596-F2A2-4C66-B6B1-0E1795E59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cada verbo http tenemos su método en el servicio </a:t>
            </a:r>
            <a:r>
              <a:rPr lang="es-ES" b="1" dirty="0" err="1"/>
              <a:t>HttpClient</a:t>
            </a:r>
            <a:r>
              <a:rPr lang="es-ES" dirty="0"/>
              <a:t>. </a:t>
            </a:r>
          </a:p>
          <a:p>
            <a:r>
              <a:rPr lang="es-ES" dirty="0"/>
              <a:t>Su </a:t>
            </a:r>
            <a:r>
              <a:rPr lang="es-ES" b="1" dirty="0"/>
              <a:t>primer parámetro será la </a:t>
            </a:r>
            <a:r>
              <a:rPr lang="es-ES" b="1" dirty="0" err="1"/>
              <a:t>url</a:t>
            </a:r>
            <a:r>
              <a:rPr lang="es-ES" dirty="0"/>
              <a:t> a la que invocar. </a:t>
            </a:r>
          </a:p>
          <a:p>
            <a:r>
              <a:rPr lang="es-ES" dirty="0"/>
              <a:t>Los métodos de envío reciben la carga en el segundo argumento, y la envían automáticamente como objetos JSON.</a:t>
            </a:r>
          </a:p>
        </p:txBody>
      </p:sp>
    </p:spTree>
    <p:extLst>
      <p:ext uri="{BB962C8B-B14F-4D97-AF65-F5344CB8AC3E}">
        <p14:creationId xmlns:p14="http://schemas.microsoft.com/office/powerpoint/2010/main" val="1747601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0C102C-2163-4BBD-A530-75FD95DFA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Métodos REST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ABA596-F2A2-4C66-B6B1-0E1795E59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 ejemplo sencillo lo tienes en el servicio </a:t>
            </a:r>
            <a:r>
              <a:rPr lang="es-ES" b="1" dirty="0" err="1"/>
              <a:t>OperationsService</a:t>
            </a:r>
            <a:r>
              <a:rPr lang="es-ES" dirty="0"/>
              <a:t>.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4250E63-9947-4AC4-95AA-FD9D5E32C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612" y="1752600"/>
            <a:ext cx="9599611" cy="304698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public getOperationsList</a:t>
            </a: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$</a:t>
            </a:r>
            <a:r>
              <a:rPr lang="en-US" sz="1600" b="1" noProof="1">
                <a:latin typeface="Consolas" pitchFamily="49" charset="0"/>
                <a:cs typeface="Consolas" pitchFamily="49" charset="0"/>
              </a:rPr>
              <a:t>(): Observable&lt;Operation[]&gt;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	return this.http.get&lt;Operation[]&gt;(this.url);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public getOperationById</a:t>
            </a: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$</a:t>
            </a:r>
            <a:r>
              <a:rPr lang="en-US" sz="1600" b="1" noProof="1">
                <a:latin typeface="Consolas" pitchFamily="49" charset="0"/>
                <a:cs typeface="Consolas" pitchFamily="49" charset="0"/>
              </a:rPr>
              <a:t>(id: string): Observable&lt;Operation&gt;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	return this.http.get&lt;Operation&gt;(this.url + id);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public saveOperation</a:t>
            </a: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$</a:t>
            </a:r>
            <a:r>
              <a:rPr lang="en-US" sz="1600" b="1" noProof="1">
                <a:latin typeface="Consolas" pitchFamily="49" charset="0"/>
                <a:cs typeface="Consolas" pitchFamily="49" charset="0"/>
              </a:rPr>
              <a:t>(operation: Operation): Observable&lt;any&gt;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	return this.http.post(this.url, operation);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public deleteOperation</a:t>
            </a: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$</a:t>
            </a:r>
            <a:r>
              <a:rPr lang="en-US" sz="1600" b="1" noProof="1">
                <a:latin typeface="Consolas" pitchFamily="49" charset="0"/>
                <a:cs typeface="Consolas" pitchFamily="49" charset="0"/>
              </a:rPr>
              <a:t>(operation: Operation): Observable&lt;any&gt;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	return this.http.delete(this.url + operation._id);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26B1FA1-9E2E-41EA-B957-A225D2A803EC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LAB1b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7942525-5EBA-42E4-8C63-C2490555386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C:\Labs\T7\EX1</a:t>
            </a:r>
          </a:p>
        </p:txBody>
      </p:sp>
    </p:spTree>
    <p:extLst>
      <p:ext uri="{BB962C8B-B14F-4D97-AF65-F5344CB8AC3E}">
        <p14:creationId xmlns:p14="http://schemas.microsoft.com/office/powerpoint/2010/main" val="3890387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ED776-6439-4E6D-9F34-50A168BF0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TIP: Métodos REST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B2DEA0-2515-45C3-943F-18AEBEB0D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Cada método de negocio, configura la llamada de infraestructura; parece poca cosa. Podría ser un buen sitio para validar la información antes de ser enviada, o quizás agrupar varias llamadas de red para una misma operación de negocio. </a:t>
            </a:r>
          </a:p>
          <a:p>
            <a:r>
              <a:rPr lang="es-ES" dirty="0">
                <a:solidFill>
                  <a:srgbClr val="FF0000"/>
                </a:solidFill>
              </a:rPr>
              <a:t>El </a:t>
            </a:r>
            <a:r>
              <a:rPr lang="es-ES" b="1" dirty="0">
                <a:solidFill>
                  <a:srgbClr val="FF0000"/>
                </a:solidFill>
              </a:rPr>
              <a:t>$</a:t>
            </a:r>
            <a:r>
              <a:rPr lang="es-ES" dirty="0">
                <a:solidFill>
                  <a:srgbClr val="FF0000"/>
                </a:solidFill>
              </a:rPr>
              <a:t> al final del nombre es un convenio para las funciones que devuelven observables.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33552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4682A-1F2A-482F-9D0C-10A110B39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Observables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3852E49-2800-4145-B954-737C23B57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6526811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465F18D-C58B-4EC4-BC52-DEE21A6B3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Observables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75D591B-429A-4565-A40B-9F5E6DA57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s-ES" dirty="0"/>
              <a:t>Las </a:t>
            </a:r>
            <a:r>
              <a:rPr lang="es-ES" b="1" dirty="0"/>
              <a:t>comunicaciones</a:t>
            </a:r>
            <a:r>
              <a:rPr lang="es-ES" dirty="0"/>
              <a:t> entre navegadores y servidores son varios órdenes de magnitud más lentas que las operaciones en memoria. Por tanto </a:t>
            </a:r>
            <a:r>
              <a:rPr lang="es-ES" b="1" dirty="0"/>
              <a:t>deben realizarse de manera asíncrona </a:t>
            </a:r>
            <a:r>
              <a:rPr lang="es-ES" dirty="0"/>
              <a:t>para garantizar una buena experiencia al usuario.</a:t>
            </a:r>
          </a:p>
          <a:p>
            <a:pPr fontAlgn="base"/>
            <a:r>
              <a:rPr lang="es-ES" dirty="0"/>
              <a:t>Esta experiencia no siempre fue tan buena para el programador. Sobre todo con las primeras comunicaciones </a:t>
            </a:r>
            <a:r>
              <a:rPr lang="es-ES" b="1" i="1" dirty="0"/>
              <a:t>AJAX</a:t>
            </a:r>
            <a:r>
              <a:rPr lang="es-ES" dirty="0"/>
              <a:t> basadas en el paso de funciones </a:t>
            </a:r>
            <a:r>
              <a:rPr lang="es-ES" b="1" i="1" dirty="0" err="1"/>
              <a:t>callback</a:t>
            </a:r>
            <a:r>
              <a:rPr lang="es-ES" dirty="0"/>
              <a:t>. </a:t>
            </a:r>
          </a:p>
          <a:p>
            <a:pPr fontAlgn="base"/>
            <a:r>
              <a:rPr lang="es-ES" dirty="0"/>
              <a:t>La aparición de las </a:t>
            </a:r>
            <a:r>
              <a:rPr lang="es-ES" b="1" i="1" dirty="0" err="1"/>
              <a:t>promises</a:t>
            </a:r>
            <a:r>
              <a:rPr lang="es-ES" dirty="0"/>
              <a:t> mejoró la claridad del código, y ahora con los </a:t>
            </a:r>
            <a:r>
              <a:rPr lang="es-ES" b="1" i="1" dirty="0"/>
              <a:t>Observables</a:t>
            </a:r>
            <a:r>
              <a:rPr lang="es-ES" dirty="0"/>
              <a:t> tenemos además una gran potencia para manipular la </a:t>
            </a:r>
            <a:r>
              <a:rPr lang="es-ES" b="1" dirty="0"/>
              <a:t>información asíncrona</a:t>
            </a:r>
            <a:r>
              <a:rPr lang="es-ES" dirty="0"/>
              <a:t>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64826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0F9F2-E57E-4C2B-8DE4-83DDC4210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Reactive </a:t>
            </a:r>
            <a:r>
              <a:rPr lang="es-ES" dirty="0" err="1"/>
              <a:t>Extensions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57BBD7-16D7-4477-B0B5-E313ACBDE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altLang="es-ES" sz="2800" dirty="0">
                <a:solidFill>
                  <a:schemeClr val="tx1"/>
                </a:solidFill>
                <a:latin typeface="inherit"/>
              </a:rPr>
              <a:t>El patrón </a:t>
            </a:r>
            <a:r>
              <a:rPr lang="es-ES" altLang="es-ES" sz="2400" dirty="0">
                <a:solidFill>
                  <a:srgbClr val="428AC7"/>
                </a:solidFill>
                <a:latin typeface="Source Code Pro"/>
              </a:rPr>
              <a:t>Observable</a:t>
            </a:r>
            <a:r>
              <a:rPr lang="es-ES" altLang="es-ES" sz="2800" dirty="0">
                <a:solidFill>
                  <a:schemeClr val="tx1"/>
                </a:solidFill>
                <a:latin typeface="inherit"/>
              </a:rPr>
              <a:t> fue implementado por Microsoft en la librería </a:t>
            </a:r>
            <a:r>
              <a:rPr lang="es-ES" altLang="es-ES" sz="2800" i="1" dirty="0">
                <a:solidFill>
                  <a:srgbClr val="40B1F9"/>
                </a:solidFill>
                <a:latin typeface="inherit"/>
                <a:hlinkClick r:id="rId2"/>
              </a:rPr>
              <a:t>Reactive </a:t>
            </a:r>
            <a:r>
              <a:rPr lang="es-ES" altLang="es-ES" sz="2800" i="1" dirty="0" err="1">
                <a:solidFill>
                  <a:srgbClr val="40B1F9"/>
                </a:solidFill>
                <a:latin typeface="inherit"/>
                <a:hlinkClick r:id="rId2"/>
              </a:rPr>
              <a:t>Extensions</a:t>
            </a:r>
            <a:r>
              <a:rPr lang="es-ES" altLang="es-ES" sz="2800" dirty="0">
                <a:solidFill>
                  <a:schemeClr val="tx1"/>
                </a:solidFill>
                <a:latin typeface="inherit"/>
              </a:rPr>
              <a:t> más conocida como 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RxJs</a:t>
            </a:r>
            <a:r>
              <a:rPr lang="es-ES" altLang="es-ES" sz="2800" dirty="0">
                <a:solidFill>
                  <a:schemeClr val="tx1"/>
                </a:solidFill>
                <a:latin typeface="inherit"/>
              </a:rPr>
              <a:t>. </a:t>
            </a:r>
          </a:p>
          <a:p>
            <a:r>
              <a:rPr lang="es-ES" altLang="es-ES" sz="2800" dirty="0">
                <a:solidFill>
                  <a:schemeClr val="tx1"/>
                </a:solidFill>
                <a:latin typeface="inherit"/>
              </a:rPr>
              <a:t>El equipo de </a:t>
            </a:r>
            <a:r>
              <a:rPr lang="es-ES" altLang="es-ES" sz="2800" b="1" dirty="0">
                <a:solidFill>
                  <a:schemeClr val="tx1"/>
                </a:solidFill>
                <a:latin typeface="inherit"/>
              </a:rPr>
              <a:t>Angular decidió utilizarla </a:t>
            </a:r>
            <a:r>
              <a:rPr lang="es-ES" altLang="es-ES" sz="2800" dirty="0">
                <a:solidFill>
                  <a:schemeClr val="tx1"/>
                </a:solidFill>
                <a:latin typeface="inherit"/>
              </a:rPr>
              <a:t>para el desarrollo de las comunicaciones asíncronas. </a:t>
            </a:r>
          </a:p>
          <a:p>
            <a:r>
              <a:rPr lang="es-ES" altLang="es-ES" sz="2800" dirty="0">
                <a:solidFill>
                  <a:schemeClr val="tx1"/>
                </a:solidFill>
                <a:latin typeface="inherit"/>
              </a:rPr>
              <a:t>Esta extensa librería puede resultar intimidante en un primer vistazo. Pero con muy poco conocimiento puedes programar casi todas las funcionalidades que se te ocurran</a:t>
            </a:r>
            <a:endParaRPr lang="es-ES" altLang="es-ES" sz="800" dirty="0">
              <a:solidFill>
                <a:schemeClr val="tx1"/>
              </a:solidFill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23970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7251979-CE21-403C-B575-F2D62FCEB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Import</a:t>
            </a:r>
            <a:endParaRPr lang="es-ES" dirty="0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D705B15F-7A22-43FF-8811-B26AC05B0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s-ES" altLang="es-ES" sz="2400" dirty="0">
                <a:latin typeface="Open Sans"/>
              </a:rPr>
              <a:t>Lo primero es importar el código, esto se hace forma similar a cualquier otra clase o función.  </a:t>
            </a:r>
            <a:br>
              <a:rPr lang="es-ES" altLang="es-ES" sz="2400" dirty="0">
                <a:latin typeface="Open Sans"/>
              </a:rPr>
            </a:br>
            <a:r>
              <a:rPr lang="es-ES" altLang="es-ES" sz="2400" dirty="0">
                <a:latin typeface="Open Sans"/>
              </a:rPr>
              <a:t>	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import</a:t>
            </a:r>
            <a:r>
              <a:rPr lang="es-ES" altLang="es-ES" sz="2400" dirty="0">
                <a:solidFill>
                  <a:srgbClr val="428AC7"/>
                </a:solidFill>
                <a:latin typeface="Source Code Pro"/>
              </a:rPr>
              <a:t> { Observable } 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from</a:t>
            </a:r>
            <a:r>
              <a:rPr lang="es-ES" altLang="es-ES" sz="2400" dirty="0">
                <a:solidFill>
                  <a:srgbClr val="428AC7"/>
                </a:solidFill>
                <a:latin typeface="Source Code Pro"/>
              </a:rPr>
              <a:t> "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rxjs</a:t>
            </a:r>
            <a:r>
              <a:rPr lang="es-ES" altLang="es-ES" sz="2400" dirty="0">
                <a:solidFill>
                  <a:srgbClr val="428AC7"/>
                </a:solidFill>
                <a:latin typeface="Source Code Pro"/>
              </a:rPr>
              <a:t>/Observable";</a:t>
            </a:r>
            <a:r>
              <a:rPr lang="es-ES" altLang="es-ES" sz="2400" dirty="0">
                <a:latin typeface="Open Sans"/>
              </a:rPr>
              <a:t>.</a:t>
            </a:r>
            <a:endParaRPr lang="es-ES" altLang="es-ES" sz="2400" dirty="0">
              <a:solidFill>
                <a:schemeClr val="tx1"/>
              </a:solidFill>
            </a:endParaRPr>
          </a:p>
          <a:p>
            <a:pPr defTabSz="914400">
              <a:lnSpc>
                <a:spcPct val="100000"/>
              </a:lnSpc>
            </a:pPr>
            <a:r>
              <a:rPr lang="es-ES" altLang="es-ES" sz="2400" dirty="0">
                <a:latin typeface="Open Sans"/>
              </a:rPr>
              <a:t>Esta es una clase genérica donde sus instancias admiten la manipulación interna de tipos más o menos concretos. Por eso ves en el ejemplo que algunas funciones retornan </a:t>
            </a:r>
            <a:r>
              <a:rPr lang="es-ES" altLang="es-ES" sz="2400" dirty="0">
                <a:solidFill>
                  <a:srgbClr val="428AC7"/>
                </a:solidFill>
                <a:latin typeface="Source Code Pro"/>
              </a:rPr>
              <a:t>: Observable&lt;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Operation</a:t>
            </a:r>
            <a:r>
              <a:rPr lang="es-ES" altLang="es-ES" sz="2400" dirty="0">
                <a:solidFill>
                  <a:srgbClr val="428AC7"/>
                </a:solidFill>
                <a:latin typeface="Source Code Pro"/>
              </a:rPr>
              <a:t>&gt;</a:t>
            </a:r>
            <a:r>
              <a:rPr lang="es-ES" altLang="es-ES" sz="2400" dirty="0">
                <a:latin typeface="Open Sans"/>
              </a:rPr>
              <a:t>, o si no saben que tipo esperar se conforman con </a:t>
            </a:r>
            <a:r>
              <a:rPr lang="es-ES" altLang="es-ES" sz="2400" dirty="0">
                <a:solidFill>
                  <a:srgbClr val="428AC7"/>
                </a:solidFill>
                <a:latin typeface="Source Code Pro"/>
              </a:rPr>
              <a:t>: Observable&lt;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any</a:t>
            </a:r>
            <a:r>
              <a:rPr lang="es-ES" altLang="es-ES" sz="2400" dirty="0">
                <a:solidFill>
                  <a:srgbClr val="428AC7"/>
                </a:solidFill>
                <a:latin typeface="Source Code Pro"/>
              </a:rPr>
              <a:t>&gt;</a:t>
            </a:r>
            <a:r>
              <a:rPr lang="es-ES" altLang="es-ES" sz="2400" dirty="0">
                <a:latin typeface="Open Sans"/>
              </a:rPr>
              <a:t>.</a:t>
            </a:r>
            <a:endParaRPr lang="es-ES" altLang="es-ES" sz="2400" dirty="0">
              <a:solidFill>
                <a:schemeClr val="tx1"/>
              </a:solidFill>
            </a:endParaRPr>
          </a:p>
          <a:p>
            <a:pPr defTabSz="914400">
              <a:lnSpc>
                <a:spcPct val="100000"/>
              </a:lnSpc>
            </a:pPr>
            <a:r>
              <a:rPr lang="es-ES" altLang="es-ES" sz="2400" b="1" dirty="0">
                <a:latin typeface="inherit"/>
              </a:rPr>
              <a:t>Toda operación asíncrona retornará una instancia observable</a:t>
            </a:r>
            <a:r>
              <a:rPr lang="es-ES" altLang="es-ES" sz="2400" dirty="0">
                <a:latin typeface="Open Sans"/>
              </a:rPr>
              <a:t> a la cual habrá que subscribirse para recibir los datos o los errores, cuando termine. </a:t>
            </a:r>
          </a:p>
          <a:p>
            <a:pPr lvl="1" defTabSz="914400">
              <a:lnSpc>
                <a:spcPct val="100000"/>
              </a:lnSpc>
            </a:pPr>
            <a:r>
              <a:rPr lang="es-ES" altLang="es-ES" sz="2000" dirty="0">
                <a:latin typeface="Open Sans"/>
              </a:rPr>
              <a:t>Por limpieza eso debes hacerlo en los componentes que consuman el servicio, no en el propio servicio.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65621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686E10-BE85-42C6-A77C-7B1EF11AD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Lectura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6571F61-D0D5-4C84-BD88-F2AE20D15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1369773"/>
            <a:ext cx="4648200" cy="4876799"/>
          </a:xfrm>
        </p:spPr>
        <p:txBody>
          <a:bodyPr>
            <a:normAutofit/>
          </a:bodyPr>
          <a:lstStyle/>
          <a:p>
            <a:r>
              <a:rPr lang="es-ES" altLang="es-ES" sz="2400" dirty="0">
                <a:latin typeface="Open Sans"/>
              </a:rPr>
              <a:t>En 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operations.component</a:t>
            </a:r>
            <a:r>
              <a:rPr lang="es-ES" altLang="es-ES" sz="2400" dirty="0">
                <a:latin typeface="Open Sans"/>
              </a:rPr>
              <a:t> están las llamadas y las suscripciones necesarias. </a:t>
            </a:r>
          </a:p>
          <a:p>
            <a:r>
              <a:rPr lang="es-ES" altLang="es-ES" sz="2400" dirty="0">
                <a:latin typeface="Open Sans"/>
              </a:rPr>
              <a:t>Por ejemplo el método 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refreshData</a:t>
            </a:r>
            <a:r>
              <a:rPr lang="es-ES" altLang="es-ES" sz="2400" dirty="0">
                <a:solidFill>
                  <a:srgbClr val="428AC7"/>
                </a:solidFill>
                <a:latin typeface="Source Code Pro"/>
              </a:rPr>
              <a:t>() </a:t>
            </a:r>
            <a:r>
              <a:rPr lang="es-ES" altLang="es-ES" sz="2400" dirty="0">
                <a:latin typeface="Open Sans"/>
              </a:rPr>
              <a:t>realiza llamadas y se suscribe para conocer los resultados. </a:t>
            </a:r>
          </a:p>
          <a:p>
            <a:r>
              <a:rPr lang="es-ES" altLang="es-ES" sz="2400" dirty="0">
                <a:latin typeface="Open Sans"/>
              </a:rPr>
              <a:t>Cada suscripción es un </a:t>
            </a:r>
            <a:r>
              <a:rPr lang="es-ES" altLang="es-ES" sz="2400" i="1" dirty="0" err="1">
                <a:latin typeface="inherit"/>
              </a:rPr>
              <a:t>callback</a:t>
            </a:r>
            <a:r>
              <a:rPr lang="es-ES" altLang="es-ES" sz="2400" dirty="0">
                <a:latin typeface="Open Sans"/>
              </a:rPr>
              <a:t> al que habrá que pasarle el contexto mediante </a:t>
            </a:r>
            <a:r>
              <a:rPr lang="es-ES" altLang="es-ES" sz="2400" dirty="0">
                <a:solidFill>
                  <a:srgbClr val="428AC7"/>
                </a:solidFill>
                <a:latin typeface="Source Code Pro"/>
              </a:rPr>
              <a:t>.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bind</a:t>
            </a:r>
            <a:r>
              <a:rPr lang="es-ES" altLang="es-ES" sz="2400" dirty="0">
                <a:solidFill>
                  <a:srgbClr val="428AC7"/>
                </a:solidFill>
                <a:latin typeface="Source Code Pro"/>
              </a:rPr>
              <a:t>(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this</a:t>
            </a:r>
            <a:r>
              <a:rPr lang="es-ES" altLang="es-ES" sz="2400" dirty="0">
                <a:solidFill>
                  <a:srgbClr val="428AC7"/>
                </a:solidFill>
                <a:latin typeface="Source Code Pro"/>
              </a:rPr>
              <a:t>)</a:t>
            </a:r>
            <a:r>
              <a:rPr lang="es-ES" altLang="es-ES" sz="2400" dirty="0">
                <a:latin typeface="Open Sans"/>
              </a:rPr>
              <a:t>.</a:t>
            </a:r>
            <a:endParaRPr lang="es-ES" altLang="es-ES" sz="2400" dirty="0">
              <a:solidFill>
                <a:schemeClr val="tx1"/>
              </a:solidFill>
            </a:endParaRPr>
          </a:p>
          <a:p>
            <a:endParaRPr lang="es-ES" sz="24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0089E2D-D75C-4A9A-8C14-30889926A7E3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LAB2a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45C33F8-7EE1-400E-B7BD-921409372B5F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C:\Labs\T7\EX1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63E0763-FA54-45DD-9027-27FC11566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4812" y="1322487"/>
            <a:ext cx="6486711" cy="507831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this.message = `Refreshing Data`;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this.fullError = null;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this.operationsService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.getOperationsList$()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.subscribe(</a:t>
            </a:r>
            <a:b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this.showOperations.bind(this), </a:t>
            </a:r>
            <a:b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this.catchError.bind(this));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this.operationsService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  .getNumberOfOperations$()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  .subscribe(this.showCount.bind(this), this.catchError.bind(this));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private showOperations(operations: Operation[])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this.operations = operations;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this.message = `operations Ok`;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private showCount(data: any)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this.numberOfOperations = data.count;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this.message = `count Ok`;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private catchError(err: any)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if (err instanceof HttpErrorResponse)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  this.message = `Http Error: ${err.status}, text: ${err.statusText}`;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} else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  this.message = `Unknown error, text: ${err.message}`;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this.fullError = err;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0863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686E10-BE85-42C6-A77C-7B1EF11AD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Lectura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6571F61-D0D5-4C84-BD88-F2AE20D15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82" y="1825624"/>
            <a:ext cx="4189630" cy="4803775"/>
          </a:xfrm>
        </p:spPr>
        <p:txBody>
          <a:bodyPr/>
          <a:lstStyle/>
          <a:p>
            <a:r>
              <a:rPr lang="es-ES" altLang="es-ES" dirty="0"/>
              <a:t>Otra forma</a:t>
            </a:r>
          </a:p>
          <a:p>
            <a:r>
              <a:rPr lang="es-ES" altLang="es-ES" dirty="0" err="1"/>
              <a:t>Puffff</a:t>
            </a:r>
            <a:r>
              <a:rPr lang="es-ES" altLang="es-ES" dirty="0"/>
              <a:t>….</a:t>
            </a:r>
          </a:p>
          <a:p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0089E2D-D75C-4A9A-8C14-30889926A7E3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LAB2a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45C33F8-7EE1-400E-B7BD-921409372B5F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C:\Labs\T7\EX1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63E0763-FA54-45DD-9027-27FC11566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4812" y="1705314"/>
            <a:ext cx="6486711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this.message = `Refreshing Data`;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this.fullError = null;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this.operationsService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.getOperationsList$()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.subscribe(</a:t>
            </a:r>
            <a:b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this.showOperations, </a:t>
            </a:r>
            <a:b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this.catchError);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private showOperations(operations: Operation[])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this.operations = operations;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this.message = `operations Ok`;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private showCount(data: any)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this.numberOfOperations = data.count;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this.message = `count Ok`;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private catchError(err: any)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if (err instanceof HttpErrorResponse)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  this.message = `Http Error: ${err.status}, text: ${err.statusText}`;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} else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  this.message = `Unknown error, text: ${err.message}`;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this.fullError = err;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2687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686E10-BE85-42C6-A77C-7B1EF11AD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Lectura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6571F61-D0D5-4C84-BD88-F2AE20D15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82" y="1825624"/>
            <a:ext cx="4189630" cy="4803775"/>
          </a:xfrm>
        </p:spPr>
        <p:txBody>
          <a:bodyPr>
            <a:normAutofit/>
          </a:bodyPr>
          <a:lstStyle/>
          <a:p>
            <a:r>
              <a:rPr lang="es-ES" altLang="es-ES" dirty="0"/>
              <a:t>Otra forma</a:t>
            </a:r>
          </a:p>
          <a:p>
            <a:r>
              <a:rPr lang="es-ES" altLang="es-ES" dirty="0" err="1"/>
              <a:t>Puffff</a:t>
            </a:r>
            <a:r>
              <a:rPr lang="es-ES" altLang="es-ES" dirty="0"/>
              <a:t>….</a:t>
            </a:r>
          </a:p>
          <a:p>
            <a:endParaRPr lang="es-ES" altLang="es-ES" dirty="0"/>
          </a:p>
          <a:p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0089E2D-D75C-4A9A-8C14-30889926A7E3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LAB2a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45C33F8-7EE1-400E-B7BD-921409372B5F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C:\Labs\T7\EX1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63E0763-FA54-45DD-9027-27FC11566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4812" y="1705314"/>
            <a:ext cx="6486711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this.message = `Refreshing Data`;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this.fullError = null;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this.operationsService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.getOperationsList$()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.subscribe(</a:t>
            </a:r>
            <a:b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 result =&gt; this.showOperations, </a:t>
            </a:r>
            <a:b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 error =&gt; this.catchError);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private showOperations(operations: Operation[])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this.operations = operations;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this.message = `operations Ok`;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private showCount(data: any)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this.numberOfOperations = data.count;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this.message = `count Ok`;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private catchError(err: any)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if (err instanceof HttpErrorResponse)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  this.message = `Http Error: ${err.status}, text: ${err.statusText}`;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} else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  this.message = `Unknown error, text: ${err.message}`;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this.fullError = err;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61582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686E10-BE85-42C6-A77C-7B1EF11AD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Lectura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6571F61-D0D5-4C84-BD88-F2AE20D15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82" y="1825624"/>
            <a:ext cx="4189630" cy="4803775"/>
          </a:xfrm>
        </p:spPr>
        <p:txBody>
          <a:bodyPr>
            <a:normAutofit/>
          </a:bodyPr>
          <a:lstStyle/>
          <a:p>
            <a:r>
              <a:rPr lang="es-ES" altLang="es-ES" dirty="0"/>
              <a:t>Otra forma</a:t>
            </a:r>
          </a:p>
          <a:p>
            <a:r>
              <a:rPr lang="es-ES" altLang="es-ES" dirty="0" err="1"/>
              <a:t>Puffff</a:t>
            </a:r>
            <a:r>
              <a:rPr lang="es-ES" altLang="es-ES" dirty="0"/>
              <a:t>….</a:t>
            </a:r>
          </a:p>
          <a:p>
            <a:endParaRPr lang="es-ES" altLang="es-ES" dirty="0"/>
          </a:p>
          <a:p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0089E2D-D75C-4A9A-8C14-30889926A7E3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LAB2a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45C33F8-7EE1-400E-B7BD-921409372B5F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C:\Labs\T7\EX1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63E0763-FA54-45DD-9027-27FC11566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4812" y="1705314"/>
            <a:ext cx="6486711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this.message = `Refreshing Data`;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this.fullError = null;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this.operationsService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.getOperationsList$()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.subscribe(</a:t>
            </a:r>
            <a:b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 (result: any) =&gt; this.showOperations, </a:t>
            </a:r>
            <a:b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 (error: any) =&gt; this.catchError);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private showOperations(operations: Operation[])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this.operations = operations;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this.message = `operations Ok`;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private showCount(data: any)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this.numberOfOperations = data.count;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this.message = `count Ok`;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private catchError(err: any)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if (err instanceof HttpErrorResponse)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  this.message = `Http Error: ${err.status}, text: ${err.statusText}`;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} else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  this.message = `Unknown error, text: ${err.message}`;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this.fullError = err;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04975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686E10-BE85-42C6-A77C-7B1EF11AD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Lectura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6571F61-D0D5-4C84-BD88-F2AE20D15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82" y="1825624"/>
            <a:ext cx="4189630" cy="4803775"/>
          </a:xfrm>
        </p:spPr>
        <p:txBody>
          <a:bodyPr>
            <a:normAutofit/>
          </a:bodyPr>
          <a:lstStyle/>
          <a:p>
            <a:r>
              <a:rPr lang="es-ES" altLang="es-ES" dirty="0"/>
              <a:t>Y otra…</a:t>
            </a:r>
          </a:p>
          <a:p>
            <a:r>
              <a:rPr lang="es-ES" altLang="es-ES" dirty="0" err="1"/>
              <a:t>Puffff</a:t>
            </a:r>
            <a:r>
              <a:rPr lang="es-ES" altLang="es-ES" dirty="0"/>
              <a:t>….</a:t>
            </a:r>
          </a:p>
          <a:p>
            <a:r>
              <a:rPr lang="es-ES" dirty="0"/>
              <a:t>A que jode…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0089E2D-D75C-4A9A-8C14-30889926A7E3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LAB2a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45C33F8-7EE1-400E-B7BD-921409372B5F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C:\Labs\T7\EX1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63E0763-FA54-45DD-9027-27FC11566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4812" y="1705314"/>
            <a:ext cx="6486711" cy="507831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this.message = `Refreshing Data`;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this.fullError = null;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this.operationsService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.getOperationsList$()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.subscribe({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    next: (data: any) =&gt; this.showOperations(data),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        error: (err: any) =&gt; this.catchError(err),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        //complete: () =&gt; console.info('complete’)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 });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private showOperations(operations: </a:t>
            </a:r>
            <a:r>
              <a:rPr lang="en-US" sz="1200" b="1" u="sng" noProof="1">
                <a:latin typeface="Consolas" pitchFamily="49" charset="0"/>
                <a:cs typeface="Consolas" pitchFamily="49" charset="0"/>
              </a:rPr>
              <a:t>Operation</a:t>
            </a:r>
            <a:r>
              <a:rPr lang="en-US" sz="1200" b="1" noProof="1">
                <a:latin typeface="Consolas" pitchFamily="49" charset="0"/>
                <a:cs typeface="Consolas" pitchFamily="49" charset="0"/>
              </a:rPr>
              <a:t>[])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this.operations = operations;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this.message = `operations Ok`;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private showCount(data: any)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this.numberOfOperations = data.count;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this.message = `count Ok`;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private catchError(err: any)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if (err instanceof HttpErrorResponse)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  this.message = `Http Error: ${err.status}, text: ${err.statusText}`;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} else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  this.message = `Unknown error, text: ${err.message}`;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  this.fullError = err;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49857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A2C6B43-C003-384D-67B4-66DBC187745A}"/>
              </a:ext>
            </a:extLst>
          </p:cNvPr>
          <p:cNvSpPr txBox="1"/>
          <p:nvPr/>
        </p:nvSpPr>
        <p:spPr>
          <a:xfrm>
            <a:off x="1903412" y="1219200"/>
            <a:ext cx="6096000" cy="1754326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b="0" dirty="0" err="1">
                <a:solidFill>
                  <a:srgbClr val="A79873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{ </a:t>
            </a:r>
            <a:r>
              <a:rPr lang="es-ES" b="0" dirty="0" err="1">
                <a:solidFill>
                  <a:srgbClr val="DD6A6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s-ES" b="0" dirty="0" err="1">
                <a:solidFill>
                  <a:srgbClr val="DD6A6F"/>
                </a:solidFill>
                <a:effectLst/>
                <a:latin typeface="Consolas" panose="020B0609020204030204" pitchFamily="49" charset="0"/>
              </a:rPr>
              <a:t>tap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s-ES" b="0" dirty="0" err="1">
                <a:solidFill>
                  <a:srgbClr val="DD6A6F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} </a:t>
            </a:r>
            <a:r>
              <a:rPr lang="es-ES" b="0" dirty="0" err="1">
                <a:solidFill>
                  <a:srgbClr val="A79873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rxjs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s-ES" b="0" dirty="0" err="1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608B4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ES" b="0" dirty="0">
                <a:solidFill>
                  <a:srgbClr val="608B4E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ES" b="0" dirty="0">
                <a:solidFill>
                  <a:srgbClr val="608B4E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s-ES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pipe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s-ES" b="0" dirty="0" err="1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tap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DD6A6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>
                <a:solidFill>
                  <a:srgbClr val="DD6A6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s-ES" b="0" dirty="0" err="1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DD6A6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E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ES" b="0" dirty="0">
                <a:solidFill>
                  <a:srgbClr val="DD6A6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&gt; </a:t>
            </a:r>
            <a:r>
              <a:rPr lang="es-ES" b="0" dirty="0">
                <a:solidFill>
                  <a:srgbClr val="608B4E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? 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big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small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s-ES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subscribe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DD6A6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>
                <a:solidFill>
                  <a:srgbClr val="DD6A6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B10EF7A-8373-B58A-A5D1-29C140096F0F}"/>
              </a:ext>
            </a:extLst>
          </p:cNvPr>
          <p:cNvSpPr txBox="1"/>
          <p:nvPr/>
        </p:nvSpPr>
        <p:spPr>
          <a:xfrm>
            <a:off x="8761412" y="4572000"/>
            <a:ext cx="2590800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Lista de Operaciones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BD5DCA4-706B-70DF-BE7E-BDD797BAC1ED}"/>
              </a:ext>
            </a:extLst>
          </p:cNvPr>
          <p:cNvSpPr txBox="1"/>
          <p:nvPr/>
        </p:nvSpPr>
        <p:spPr>
          <a:xfrm>
            <a:off x="3732212" y="4572000"/>
            <a:ext cx="2590800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Observable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EFD03FB8-2A46-E199-3203-B0A064360C4A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6323012" y="4756666"/>
            <a:ext cx="2438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2F37DCC-FA3E-98EF-C6EB-028A92DB21B0}"/>
              </a:ext>
            </a:extLst>
          </p:cNvPr>
          <p:cNvSpPr txBox="1"/>
          <p:nvPr/>
        </p:nvSpPr>
        <p:spPr>
          <a:xfrm>
            <a:off x="455612" y="355633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>
                <a:solidFill>
                  <a:srgbClr val="F44747"/>
                </a:solidFill>
                <a:effectLst/>
                <a:latin typeface="Menlo"/>
              </a:rPr>
              <a:t>pipe</a:t>
            </a:r>
            <a:r>
              <a:rPr lang="es-ES" b="0" dirty="0">
                <a:solidFill>
                  <a:srgbClr val="D4D4D4"/>
                </a:solidFill>
                <a:effectLst/>
                <a:latin typeface="Menlo"/>
              </a:rPr>
              <a:t>(</a:t>
            </a:r>
            <a:r>
              <a:rPr lang="es-ES" b="0" dirty="0" err="1">
                <a:solidFill>
                  <a:srgbClr val="F44747"/>
                </a:solidFill>
                <a:effectLst/>
                <a:latin typeface="Menlo"/>
              </a:rPr>
              <a:t>tap</a:t>
            </a:r>
            <a:r>
              <a:rPr lang="es-ES" b="0" dirty="0">
                <a:solidFill>
                  <a:srgbClr val="D4D4D4"/>
                </a:solidFill>
                <a:effectLst/>
                <a:latin typeface="Menlo"/>
              </a:rPr>
              <a:t>(</a:t>
            </a:r>
            <a:r>
              <a:rPr lang="es-ES" b="0" dirty="0" err="1">
                <a:solidFill>
                  <a:srgbClr val="DD6A6F"/>
                </a:solidFill>
                <a:effectLst/>
                <a:latin typeface="Menlo"/>
              </a:rPr>
              <a:t>añadirenlista</a:t>
            </a:r>
            <a:r>
              <a:rPr lang="es-ES" b="0" dirty="0">
                <a:solidFill>
                  <a:srgbClr val="D4D4D4"/>
                </a:solidFill>
                <a:effectLst/>
                <a:latin typeface="Menlo"/>
              </a:rPr>
              <a:t>),</a:t>
            </a:r>
          </a:p>
          <a:p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41CF5F9-2B71-0844-7CAB-48BB11B4E21E}"/>
              </a:ext>
            </a:extLst>
          </p:cNvPr>
          <p:cNvSpPr txBox="1"/>
          <p:nvPr/>
        </p:nvSpPr>
        <p:spPr>
          <a:xfrm>
            <a:off x="455612" y="5562600"/>
            <a:ext cx="71067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 err="1">
                <a:solidFill>
                  <a:srgbClr val="F44747"/>
                </a:solidFill>
                <a:effectLst/>
                <a:latin typeface="Menlo"/>
              </a:rPr>
              <a:t>map</a:t>
            </a:r>
            <a:r>
              <a:rPr lang="es-ES" b="0" dirty="0">
                <a:solidFill>
                  <a:srgbClr val="D4D4D4"/>
                </a:solidFill>
                <a:effectLst/>
                <a:latin typeface="Menlo"/>
              </a:rPr>
              <a:t>(</a:t>
            </a:r>
            <a:r>
              <a:rPr lang="es-ES" b="0" dirty="0" err="1">
                <a:solidFill>
                  <a:srgbClr val="FF0000"/>
                </a:solidFill>
                <a:effectLst/>
                <a:latin typeface="Menlo"/>
              </a:rPr>
              <a:t>calculartotal</a:t>
            </a:r>
            <a:r>
              <a:rPr lang="es-ES" b="0" dirty="0">
                <a:solidFill>
                  <a:srgbClr val="D4D4D4"/>
                </a:solidFill>
                <a:effectLst/>
                <a:latin typeface="Menlo"/>
              </a:rPr>
              <a:t>)</a:t>
            </a:r>
          </a:p>
          <a:p>
            <a:r>
              <a:rPr lang="es-ES" b="0" dirty="0">
                <a:solidFill>
                  <a:srgbClr val="D4D4D4"/>
                </a:solidFill>
                <a:effectLst/>
                <a:latin typeface="Menlo"/>
              </a:rPr>
              <a:t>).</a:t>
            </a:r>
            <a:r>
              <a:rPr lang="es-ES" b="0" dirty="0">
                <a:solidFill>
                  <a:srgbClr val="F44747"/>
                </a:solidFill>
                <a:effectLst/>
                <a:latin typeface="Menlo"/>
              </a:rPr>
              <a:t>subscribe</a:t>
            </a:r>
            <a:r>
              <a:rPr lang="es-ES" b="0" dirty="0">
                <a:solidFill>
                  <a:srgbClr val="D4D4D4"/>
                </a:solidFill>
                <a:effectLst/>
                <a:latin typeface="Menlo"/>
              </a:rPr>
              <a:t>(</a:t>
            </a:r>
            <a:r>
              <a:rPr lang="es-ES" b="0" dirty="0">
                <a:solidFill>
                  <a:srgbClr val="DD6A6F"/>
                </a:solidFill>
                <a:effectLst/>
                <a:latin typeface="Menlo"/>
              </a:rPr>
              <a:t>console</a:t>
            </a:r>
            <a:r>
              <a:rPr lang="es-ES" b="0" dirty="0">
                <a:solidFill>
                  <a:srgbClr val="D4D4D4"/>
                </a:solidFill>
                <a:effectLst/>
                <a:latin typeface="Menlo"/>
              </a:rPr>
              <a:t>.</a:t>
            </a:r>
            <a:r>
              <a:rPr lang="es-ES" b="0" dirty="0">
                <a:solidFill>
                  <a:srgbClr val="DD6A6F"/>
                </a:solidFill>
                <a:effectLst/>
                <a:latin typeface="Menlo"/>
              </a:rPr>
              <a:t>log</a:t>
            </a:r>
            <a:r>
              <a:rPr lang="es-ES" b="0" dirty="0">
                <a:solidFill>
                  <a:srgbClr val="D4D4D4"/>
                </a:solidFill>
                <a:effectLst/>
                <a:latin typeface="Menlo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631188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BEDCEAC4-EDCB-5999-DCDE-E3472E6FE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8012" y="2209800"/>
            <a:ext cx="3352800" cy="64633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SERVICIO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12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	Metodo -&gt; Observable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383E93-5BCC-91CC-0C01-11E469B90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3412" y="2242457"/>
            <a:ext cx="3352800" cy="83099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Observable.subscribe(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	Ok &gt; trato los datos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	Error &gt; gestiono el error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88370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781CD-E084-8D65-2AFA-04F1E5B20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E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366ACF-4F15-7A13-5B68-2786DA2ED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5212" y="5105400"/>
            <a:ext cx="3352800" cy="646331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SERVICIO COMPARTIDO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	Datos compartidos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	Metodo -&gt; Observable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14CEA1-610E-0DE2-1D71-91C65BC32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882" y="2871180"/>
            <a:ext cx="3352800" cy="276999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MOD A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3EF433E-C24E-625D-AEA8-783C5A449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4684" y="2782669"/>
            <a:ext cx="3352800" cy="27699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MOD B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76F47DA-DC50-FF69-9BA9-168D108C489E}"/>
              </a:ext>
            </a:extLst>
          </p:cNvPr>
          <p:cNvCxnSpPr>
            <a:cxnSpLocks/>
          </p:cNvCxnSpPr>
          <p:nvPr/>
        </p:nvCxnSpPr>
        <p:spPr>
          <a:xfrm flipH="1">
            <a:off x="6399214" y="3200400"/>
            <a:ext cx="1828798" cy="190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4">
            <a:extLst>
              <a:ext uri="{FF2B5EF4-FFF2-40B4-BE49-F238E27FC236}">
                <a16:creationId xmlns:a16="http://schemas.microsoft.com/office/drawing/2014/main" id="{53E9DCE0-8FD6-6932-D57C-FAE00A70B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" y="3150003"/>
            <a:ext cx="3352800" cy="83099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Observable.subscribe(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	Ok &gt; trato los datos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	Error &gt; gestiono el error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)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ED47B87D-D243-7E35-4ABB-4B4D39CFC844}"/>
              </a:ext>
            </a:extLst>
          </p:cNvPr>
          <p:cNvCxnSpPr>
            <a:cxnSpLocks/>
          </p:cNvCxnSpPr>
          <p:nvPr/>
        </p:nvCxnSpPr>
        <p:spPr>
          <a:xfrm flipH="1" flipV="1">
            <a:off x="3503612" y="4011407"/>
            <a:ext cx="1447800" cy="998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4">
            <a:extLst>
              <a:ext uri="{FF2B5EF4-FFF2-40B4-BE49-F238E27FC236}">
                <a16:creationId xmlns:a16="http://schemas.microsoft.com/office/drawing/2014/main" id="{558395B7-3167-5FE6-57E2-1EA693D65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882" y="5524996"/>
            <a:ext cx="3352800" cy="27699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MOD C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C6384C0-F7AD-E490-D6D4-430094B9F621}"/>
              </a:ext>
            </a:extLst>
          </p:cNvPr>
          <p:cNvCxnSpPr>
            <a:cxnSpLocks/>
          </p:cNvCxnSpPr>
          <p:nvPr/>
        </p:nvCxnSpPr>
        <p:spPr>
          <a:xfrm flipH="1">
            <a:off x="3656012" y="5535018"/>
            <a:ext cx="1066800" cy="827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4">
            <a:extLst>
              <a:ext uri="{FF2B5EF4-FFF2-40B4-BE49-F238E27FC236}">
                <a16:creationId xmlns:a16="http://schemas.microsoft.com/office/drawing/2014/main" id="{BE195422-7907-04E9-315B-43F98A3B2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882" y="5840463"/>
            <a:ext cx="3352800" cy="83099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Observable.subscribe(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	Ok &gt; trato los datos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	Error &gt; gestiono el error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200" b="1" noProof="1">
                <a:latin typeface="Consolas" pitchFamily="49" charset="0"/>
                <a:cs typeface="Consolas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82210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1204D465-D291-4ED3-BBD8-838AC807F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Método subscribe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80873C-89E2-4F17-B70F-90CBDAE57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altLang="es-ES" sz="2800" dirty="0">
                <a:latin typeface="Open Sans"/>
              </a:rPr>
              <a:t>El método 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subscribe</a:t>
            </a:r>
            <a:r>
              <a:rPr lang="es-ES" altLang="es-ES" sz="2800" dirty="0">
                <a:latin typeface="Open Sans"/>
              </a:rPr>
              <a:t> recibe </a:t>
            </a:r>
            <a:r>
              <a:rPr lang="es-ES" altLang="es-ES" sz="2800" b="1" dirty="0">
                <a:latin typeface="Open Sans"/>
              </a:rPr>
              <a:t>hasta tres argumentos </a:t>
            </a:r>
            <a:r>
              <a:rPr lang="es-ES" altLang="es-ES" sz="2800" dirty="0">
                <a:latin typeface="Open Sans"/>
              </a:rPr>
              <a:t>(ok, error, fin) </a:t>
            </a:r>
            <a:r>
              <a:rPr lang="es-ES" altLang="es-ES" sz="2800" b="1" dirty="0">
                <a:latin typeface="Open Sans"/>
              </a:rPr>
              <a:t>donde colocar funciones receptoras </a:t>
            </a:r>
            <a:r>
              <a:rPr lang="es-ES" altLang="es-ES" sz="2800" dirty="0">
                <a:latin typeface="Open Sans"/>
              </a:rPr>
              <a:t>para cada tipo de evento que ocurra. </a:t>
            </a:r>
          </a:p>
          <a:p>
            <a:r>
              <a:rPr lang="es-ES" altLang="es-ES" sz="2800" b="1" dirty="0">
                <a:latin typeface="Open Sans"/>
              </a:rPr>
              <a:t>Sólo el primero es obligatorio</a:t>
            </a:r>
            <a:r>
              <a:rPr lang="es-ES" altLang="es-ES" sz="2800" dirty="0">
                <a:latin typeface="Open Sans"/>
              </a:rPr>
              <a:t>, y es en el que recibes la información directamente desempaquetada. </a:t>
            </a:r>
          </a:p>
          <a:p>
            <a:r>
              <a:rPr lang="es-ES" altLang="es-ES" sz="2800" dirty="0">
                <a:latin typeface="Open Sans"/>
              </a:rPr>
              <a:t>En el segundo, normalmente pondrás lógica para responder ante códigos de error devueltos por el servidor. </a:t>
            </a:r>
          </a:p>
          <a:p>
            <a:pPr lvl="1"/>
            <a:r>
              <a:rPr lang="es-ES" altLang="es-ES" sz="2400" dirty="0">
                <a:latin typeface="Open Sans"/>
              </a:rPr>
              <a:t>Es opcional porque hay técnicas para gestionarlos de manera centralizada 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550233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874EAFFD-635B-4572-AB2D-BD1118C38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altLang="es-ES" dirty="0"/>
              <a:t>Recordatorio para novatos</a:t>
            </a:r>
            <a:endParaRPr lang="es-E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F991AB-AAB7-467F-931E-A19953247C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altLang="es-ES" dirty="0"/>
              <a:t>Es importante comprender la </a:t>
            </a:r>
            <a:r>
              <a:rPr lang="es-ES" altLang="es-ES" b="1" dirty="0"/>
              <a:t>naturaleza asíncrona </a:t>
            </a:r>
            <a:r>
              <a:rPr lang="es-ES" altLang="es-ES" dirty="0"/>
              <a:t>de estas operaciones</a:t>
            </a:r>
          </a:p>
          <a:p>
            <a:pPr lvl="0"/>
            <a:r>
              <a:rPr lang="es-ES" altLang="es-ES" dirty="0"/>
              <a:t>El </a:t>
            </a:r>
            <a:r>
              <a:rPr lang="es-ES" altLang="es-ES" b="1" dirty="0"/>
              <a:t>código de las funciones subscritas se ejecutará en el futuro</a:t>
            </a:r>
            <a:r>
              <a:rPr lang="es-ES" altLang="es-ES" dirty="0"/>
              <a:t>, no de una manera secuencial</a:t>
            </a:r>
          </a:p>
          <a:p>
            <a:pPr lvl="0"/>
            <a:endParaRPr lang="es-ES" altLang="es-ES" dirty="0"/>
          </a:p>
        </p:txBody>
      </p:sp>
    </p:spTree>
    <p:extLst>
      <p:ext uri="{BB962C8B-B14F-4D97-AF65-F5344CB8AC3E}">
        <p14:creationId xmlns:p14="http://schemas.microsoft.com/office/powerpoint/2010/main" val="957860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5622D4-75A5-40B8-A859-B847EF68B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Escritura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DC7A553-5CC0-45BD-AF67-2058B1AF7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s-ES" dirty="0"/>
              <a:t>Si lo que quieres es enviar objetos a un servidor, por ejemplo mediante el verbo </a:t>
            </a:r>
            <a:r>
              <a:rPr lang="es-ES" i="1" dirty="0"/>
              <a:t>POST</a:t>
            </a:r>
            <a:r>
              <a:rPr lang="es-ES" dirty="0"/>
              <a:t>, sólo tienes que pasarle la </a:t>
            </a:r>
            <a:r>
              <a:rPr lang="es-ES" i="1" dirty="0" err="1"/>
              <a:t>payload</a:t>
            </a:r>
            <a:r>
              <a:rPr lang="es-ES" dirty="0"/>
              <a:t> al método de negocio y suscribirte a la respuesta.</a:t>
            </a:r>
          </a:p>
          <a:p>
            <a:pPr fontAlgn="base"/>
            <a:endParaRPr lang="es-ES" dirty="0"/>
          </a:p>
          <a:p>
            <a:pPr fontAlgn="base"/>
            <a:endParaRPr lang="es-ES" dirty="0"/>
          </a:p>
          <a:p>
            <a:pPr fontAlgn="base"/>
            <a:endParaRPr lang="es-ES" dirty="0"/>
          </a:p>
          <a:p>
            <a:pPr fontAlgn="base"/>
            <a:r>
              <a:rPr lang="es-ES" dirty="0"/>
              <a:t>De nuevo, fíjate como refrescamos los datos una vez recibida la respuesta. </a:t>
            </a:r>
          </a:p>
          <a:p>
            <a:pPr lvl="1" fontAlgn="base"/>
            <a:r>
              <a:rPr lang="es-ES" dirty="0"/>
              <a:t>Hacerlo antes podría dar lugar a respuestas incongruentes. </a:t>
            </a:r>
          </a:p>
          <a:p>
            <a:pPr lvl="1" fontAlgn="base"/>
            <a:r>
              <a:rPr lang="es-ES" dirty="0"/>
              <a:t>En nuestro caso no es la respuesta en sí lo que nos interesa, sino el hecho de haya terminado bien.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1D6B839-EFF9-4234-ADA1-CE2A3D068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612" y="1905000"/>
            <a:ext cx="9599611" cy="132343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public saveOperation(operation: Operation)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this.operationsService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.saveOperation</a:t>
            </a: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$</a:t>
            </a:r>
            <a:r>
              <a:rPr lang="en-US" sz="1600" b="1" noProof="1">
                <a:latin typeface="Consolas" pitchFamily="49" charset="0"/>
                <a:cs typeface="Consolas" pitchFamily="49" charset="0"/>
              </a:rPr>
              <a:t>(operation)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.subscribe(data =&gt; this.refreshData());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6E287A9-E8EC-4B4C-928B-F6EE0917BCF3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LAB2b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3E932-32EF-4BDF-81D8-CB8131407EA3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C:\Labs\T7\EX1</a:t>
            </a:r>
          </a:p>
        </p:txBody>
      </p:sp>
    </p:spTree>
    <p:extLst>
      <p:ext uri="{BB962C8B-B14F-4D97-AF65-F5344CB8AC3E}">
        <p14:creationId xmlns:p14="http://schemas.microsoft.com/office/powerpoint/2010/main" val="619090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343AEBC-E24E-4862-AFD1-1A97A2871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Interceptores</a:t>
            </a:r>
          </a:p>
        </p:txBody>
      </p:sp>
    </p:spTree>
    <p:extLst>
      <p:ext uri="{BB962C8B-B14F-4D97-AF65-F5344CB8AC3E}">
        <p14:creationId xmlns:p14="http://schemas.microsoft.com/office/powerpoint/2010/main" val="23896980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34B6460-AD85-402C-BD9C-C533D3F91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Interceptores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D77DC43-D7D6-4226-A755-568607C3F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s-ES" dirty="0"/>
              <a:t>Angular ha </a:t>
            </a:r>
            <a:r>
              <a:rPr lang="es-ES" b="1" dirty="0"/>
              <a:t>incorporado el concepto de </a:t>
            </a:r>
            <a:r>
              <a:rPr lang="es-ES" b="1" dirty="0">
                <a:solidFill>
                  <a:srgbClr val="FF0000"/>
                </a:solidFill>
              </a:rPr>
              <a:t>interceptor</a:t>
            </a:r>
            <a:r>
              <a:rPr lang="es-ES" b="1" dirty="0"/>
              <a:t> </a:t>
            </a:r>
            <a:r>
              <a:rPr lang="es-ES" dirty="0"/>
              <a:t>que había funcionado muy bien en </a:t>
            </a:r>
            <a:r>
              <a:rPr lang="es-ES" i="1" dirty="0" err="1"/>
              <a:t>AngularJS</a:t>
            </a:r>
            <a:r>
              <a:rPr lang="es-ES" dirty="0"/>
              <a:t>. </a:t>
            </a:r>
          </a:p>
          <a:p>
            <a:pPr fontAlgn="base"/>
            <a:r>
              <a:rPr lang="es-ES" dirty="0"/>
              <a:t>Ahora </a:t>
            </a:r>
            <a:r>
              <a:rPr lang="es-ES" b="1" dirty="0"/>
              <a:t>los interceptores son clases con métodos que interceptan </a:t>
            </a:r>
            <a:r>
              <a:rPr lang="es-ES" dirty="0"/>
              <a:t>(de ahí su nombre) </a:t>
            </a:r>
            <a:r>
              <a:rPr lang="es-ES" b="1" dirty="0"/>
              <a:t>todas las peticiones http </a:t>
            </a:r>
            <a:r>
              <a:rPr lang="es-ES" dirty="0"/>
              <a:t>realizadas</a:t>
            </a:r>
            <a:r>
              <a:rPr lang="es-ES" b="1" dirty="0"/>
              <a:t>. </a:t>
            </a:r>
          </a:p>
          <a:p>
            <a:pPr fontAlgn="base"/>
            <a:r>
              <a:rPr lang="es-ES" dirty="0"/>
              <a:t>En esos métodos </a:t>
            </a:r>
            <a:r>
              <a:rPr lang="es-ES" b="1" dirty="0"/>
              <a:t>puedes poner lógica que modifique, cancele o simplemente controle el ciclo </a:t>
            </a:r>
            <a:r>
              <a:rPr lang="es-ES" b="1" dirty="0">
                <a:solidFill>
                  <a:srgbClr val="FF0000"/>
                </a:solidFill>
              </a:rPr>
              <a:t>petición/respuesta </a:t>
            </a:r>
            <a:r>
              <a:rPr lang="es-ES" dirty="0"/>
              <a:t>de cada llamada.</a:t>
            </a:r>
          </a:p>
        </p:txBody>
      </p:sp>
    </p:spTree>
    <p:extLst>
      <p:ext uri="{BB962C8B-B14F-4D97-AF65-F5344CB8AC3E}">
        <p14:creationId xmlns:p14="http://schemas.microsoft.com/office/powerpoint/2010/main" val="2891557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3651AF-1A99-4B27-BB60-91D573930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Implementación de la interfaz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C72942-E5DF-443C-A93A-20CF82384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800" dirty="0">
                <a:latin typeface="Open Sans"/>
              </a:rPr>
              <a:t>Aprovechando </a:t>
            </a:r>
            <a:r>
              <a:rPr lang="es-ES" altLang="es-ES" sz="2800" b="1" dirty="0" err="1">
                <a:latin typeface="inherit"/>
              </a:rPr>
              <a:t>TypeScript</a:t>
            </a:r>
            <a:r>
              <a:rPr lang="es-ES" altLang="es-ES" sz="2800" dirty="0">
                <a:latin typeface="Open Sans"/>
              </a:rPr>
              <a:t> y sus características de programación orientada a objetos, en </a:t>
            </a:r>
            <a:r>
              <a:rPr lang="es-ES" altLang="es-ES" sz="2800" b="1" dirty="0">
                <a:latin typeface="inherit"/>
              </a:rPr>
              <a:t>Angular</a:t>
            </a:r>
            <a:r>
              <a:rPr lang="es-ES" altLang="es-ES" sz="2800" dirty="0">
                <a:latin typeface="Open Sans"/>
              </a:rPr>
              <a:t> han optado por obligarnos a cumplir </a:t>
            </a:r>
            <a:r>
              <a:rPr lang="es-ES" altLang="es-ES" sz="2800" b="1" i="1" dirty="0">
                <a:latin typeface="inherit"/>
              </a:rPr>
              <a:t>interfaces</a:t>
            </a:r>
            <a:r>
              <a:rPr lang="es-ES" altLang="es-ES" sz="2800" dirty="0">
                <a:latin typeface="Open Sans"/>
              </a:rPr>
              <a:t> y como contraparte al cumplir ese contrato invocan a nuestro código en circunstancias controladas.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" altLang="es-ES" sz="2800" dirty="0">
              <a:latin typeface="Open Sans"/>
            </a:endParaRPr>
          </a:p>
          <a:p>
            <a:pPr marL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altLang="es-ES" sz="4000" dirty="0">
                <a:latin typeface="Open Sans"/>
              </a:rPr>
              <a:t>¿Cómo se hace?</a:t>
            </a:r>
            <a:endParaRPr lang="es-ES" altLang="es-ES" sz="1050" dirty="0">
              <a:solidFill>
                <a:schemeClr val="tx1"/>
              </a:solidFill>
            </a:endParaRPr>
          </a:p>
          <a:p>
            <a:endParaRPr lang="es-E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3CD2351-EA35-4721-AB02-EDD4A4A3A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1560" y="90100"/>
            <a:ext cx="25705" cy="27699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696" tIns="0" rIns="12696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3615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4FD333-6949-45E7-9A6F-1E47BC30D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Catch Interceptor </a:t>
            </a:r>
            <a:r>
              <a:rPr lang="es-ES" dirty="0" err="1"/>
              <a:t>Service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666D9A-05D3-4BCE-BE39-847337208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1066800"/>
            <a:ext cx="6477000" cy="5448300"/>
          </a:xfrm>
        </p:spPr>
        <p:txBody>
          <a:bodyPr>
            <a:normAutofit/>
          </a:bodyPr>
          <a:lstStyle/>
          <a:p>
            <a:r>
              <a:rPr lang="es-ES" altLang="es-ES" dirty="0"/>
              <a:t>Para empezar hay que crear un servicio inyectable en un módulo general o en el raíz. Hemos creado el 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CatchInterceptorService</a:t>
            </a:r>
            <a:r>
              <a:rPr lang="es-ES" altLang="es-ES" dirty="0"/>
              <a:t> en 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lib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/catch-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interceptor.service.ts</a:t>
            </a:r>
            <a:r>
              <a:rPr lang="es-ES" altLang="es-ES" dirty="0"/>
              <a:t>. </a:t>
            </a:r>
          </a:p>
          <a:p>
            <a:r>
              <a:rPr lang="es-ES" altLang="es-ES" dirty="0"/>
              <a:t>Su propósito será capturar las respuestas y gestionar de forma centralizada los errores que se obtengan en un único lugar</a:t>
            </a:r>
          </a:p>
          <a:p>
            <a:r>
              <a:rPr lang="es-ES" altLang="es-ES" dirty="0"/>
              <a:t>Como cualquier otro inyectable habrá que proveerlo en un módulo, en nuestro caso lo hacemos en el raíz</a:t>
            </a:r>
          </a:p>
          <a:p>
            <a:r>
              <a:rPr lang="es-ES" altLang="es-ES" dirty="0"/>
              <a:t>Si abres el 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app.module.ts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 </a:t>
            </a:r>
            <a:r>
              <a:rPr lang="es-ES" altLang="es-ES" dirty="0"/>
              <a:t>verás un sistema de aprovisionamiento algo complejo</a:t>
            </a:r>
            <a:endParaRPr lang="es-E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E46498D-0388-4DF0-8C50-30EB7A41D198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LAB3a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863AF0A-414C-42A9-811B-4FFC196E5E79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C:\Labs\T7\EX1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1BCB83D-6C23-4019-9909-EE9F18EC2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523" y="1883136"/>
            <a:ext cx="4572000" cy="181588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providers: [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provide: HTTP_INTERCEPTORS,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useClass: CatchInterceptorService,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multi: true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];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6C13FF4-6824-481F-9029-DB3EE7923880}"/>
              </a:ext>
            </a:extLst>
          </p:cNvPr>
          <p:cNvSpPr/>
          <p:nvPr/>
        </p:nvSpPr>
        <p:spPr>
          <a:xfrm>
            <a:off x="9601257" y="1185725"/>
            <a:ext cx="24753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altLang="es-ES" dirty="0">
                <a:latin typeface="Open Sans"/>
              </a:rPr>
              <a:t>Ten a mano </a:t>
            </a:r>
            <a:r>
              <a:rPr lang="es-ES" altLang="es-ES" dirty="0">
                <a:solidFill>
                  <a:srgbClr val="40B1F9"/>
                </a:solidFill>
                <a:latin typeface="inherit"/>
                <a:hlinkClick r:id="rId3"/>
              </a:rPr>
              <a:t>este enlace</a:t>
            </a:r>
            <a:endParaRPr lang="es-ES" altLang="es-ES" dirty="0"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9641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62DC7C-9454-4D26-90F0-30BDF27BA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Catch Interceptor </a:t>
            </a:r>
            <a:r>
              <a:rPr lang="es-ES" dirty="0" err="1"/>
              <a:t>Service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0C4745-1E09-44D4-8EA1-B658F9C9C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1066800"/>
            <a:ext cx="8763000" cy="5448300"/>
          </a:xfrm>
        </p:spPr>
        <p:txBody>
          <a:bodyPr>
            <a:normAutofit/>
          </a:bodyPr>
          <a:lstStyle/>
          <a:p>
            <a:r>
              <a:rPr lang="es-ES" altLang="es-ES" sz="2800" dirty="0">
                <a:latin typeface="Open Sans"/>
              </a:rPr>
              <a:t>La dependencia que se solicitará es </a:t>
            </a:r>
            <a:r>
              <a:rPr lang="es-ES" altLang="es-ES" sz="2800" b="1" dirty="0">
                <a:solidFill>
                  <a:srgbClr val="428AC7"/>
                </a:solidFill>
                <a:latin typeface="Source Code Pro"/>
              </a:rPr>
              <a:t>HTTP_INTERCEPTORS</a:t>
            </a:r>
            <a:r>
              <a:rPr lang="es-ES" altLang="es-ES" sz="2800" dirty="0">
                <a:latin typeface="Open Sans"/>
              </a:rPr>
              <a:t>, y cuando alguien lo haga (son los servicios de http de Angular a bajo nivel) le será inyectada una instancia de la clase </a:t>
            </a:r>
            <a:r>
              <a:rPr lang="es-ES" altLang="es-ES" sz="2800" b="1" dirty="0" err="1">
                <a:solidFill>
                  <a:srgbClr val="428AC7"/>
                </a:solidFill>
                <a:latin typeface="Source Code Pro"/>
              </a:rPr>
              <a:t>CatchInterceptorService</a:t>
            </a:r>
            <a:r>
              <a:rPr lang="es-ES" altLang="es-ES" sz="2800" dirty="0">
                <a:latin typeface="Open Sans"/>
              </a:rPr>
              <a:t>.</a:t>
            </a:r>
            <a:endParaRPr lang="es-ES" altLang="es-ES" sz="2800" dirty="0">
              <a:solidFill>
                <a:schemeClr val="tx1"/>
              </a:solidFill>
            </a:endParaRPr>
          </a:p>
          <a:p>
            <a:r>
              <a:rPr lang="es-ES" sz="2800" dirty="0"/>
              <a:t>Es decir, </a:t>
            </a:r>
            <a:r>
              <a:rPr lang="es-ES" sz="2800" b="1" dirty="0"/>
              <a:t>tu clase interceptora será usada sin que el que la reclame conozca siquiera su nombre</a:t>
            </a:r>
            <a:r>
              <a:rPr lang="es-ES" sz="2800" dirty="0"/>
              <a:t>. </a:t>
            </a:r>
          </a:p>
          <a:p>
            <a:r>
              <a:rPr lang="es-ES" altLang="es-ES" sz="2800" b="1" dirty="0">
                <a:latin typeface="Open Sans"/>
              </a:rPr>
              <a:t>El parámetro</a:t>
            </a:r>
            <a:r>
              <a:rPr lang="es-ES" altLang="es-ES" sz="2800" dirty="0">
                <a:latin typeface="Open Sans"/>
              </a:rPr>
              <a:t> </a:t>
            </a:r>
            <a:r>
              <a:rPr lang="es-ES" altLang="es-ES" sz="2800" b="1" dirty="0">
                <a:solidFill>
                  <a:srgbClr val="428AC7"/>
                </a:solidFill>
                <a:latin typeface="Source Code Pro"/>
              </a:rPr>
              <a:t>multi: true</a:t>
            </a:r>
            <a:r>
              <a:rPr lang="es-ES" altLang="es-ES" sz="2800" dirty="0">
                <a:latin typeface="Open Sans"/>
              </a:rPr>
              <a:t>, indica que puedes crear </a:t>
            </a:r>
            <a:r>
              <a:rPr lang="es-ES" altLang="es-ES" sz="2800" b="1" dirty="0">
                <a:latin typeface="Open Sans"/>
              </a:rPr>
              <a:t>tantas clases de interceptación como quieras</a:t>
            </a:r>
            <a:r>
              <a:rPr lang="es-ES" altLang="es-ES" sz="2800" dirty="0">
                <a:latin typeface="Open Sans"/>
              </a:rPr>
              <a:t>. </a:t>
            </a:r>
          </a:p>
          <a:p>
            <a:pPr lvl="1"/>
            <a:r>
              <a:rPr lang="es-ES" altLang="es-ES" sz="2400" dirty="0">
                <a:latin typeface="Open Sans"/>
              </a:rPr>
              <a:t>Permite tener múltiples interceptores especializados.</a:t>
            </a:r>
            <a:endParaRPr lang="es-ES" sz="2400" dirty="0"/>
          </a:p>
          <a:p>
            <a:endParaRPr lang="es-ES" sz="28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293DF6-935F-4F94-B294-4F9D6CFAAF00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LAB3a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F6EEA6A-A235-4469-BDD4-94014D6174DA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C:\Labs\T7\EX1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C32C876-2CA0-4321-939F-0C4ABF1937CD}"/>
              </a:ext>
            </a:extLst>
          </p:cNvPr>
          <p:cNvSpPr/>
          <p:nvPr/>
        </p:nvSpPr>
        <p:spPr>
          <a:xfrm>
            <a:off x="9601257" y="1185725"/>
            <a:ext cx="24753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altLang="es-ES" dirty="0">
                <a:latin typeface="Open Sans"/>
              </a:rPr>
              <a:t>Ten a mano </a:t>
            </a:r>
            <a:r>
              <a:rPr lang="es-ES" altLang="es-ES" dirty="0">
                <a:solidFill>
                  <a:srgbClr val="40B1F9"/>
                </a:solidFill>
                <a:latin typeface="inherit"/>
                <a:hlinkClick r:id="rId2"/>
              </a:rPr>
              <a:t>este enlace</a:t>
            </a:r>
            <a:endParaRPr lang="es-ES" altLang="es-ES" dirty="0"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81694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7ACFB-C2A3-4C4D-BEE7-4157D2CEC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El método de interceptación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8A899D-4DA5-4693-955E-66455A963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800" dirty="0">
                <a:latin typeface="Open Sans"/>
              </a:rPr>
              <a:t>Al implementar la interfaz 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HttpInterceptor</a:t>
            </a:r>
            <a:r>
              <a:rPr lang="es-ES" altLang="es-ES" sz="2800" dirty="0">
                <a:latin typeface="Open Sans"/>
              </a:rPr>
              <a:t> estás obligado a crear un método con una firma como esta: 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public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 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intercept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(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req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, 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next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)</a:t>
            </a:r>
            <a:endParaRPr lang="es-ES" altLang="es-ES" sz="2800" dirty="0">
              <a:latin typeface="Open Sans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800" dirty="0">
                <a:latin typeface="Open Sans"/>
              </a:rPr>
              <a:t>Este será invocado para cada llamada que hecha con 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httpClient</a:t>
            </a:r>
            <a:endParaRPr lang="es-ES" altLang="es-ES" sz="2800" dirty="0">
              <a:latin typeface="Open Sans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800" dirty="0">
                <a:latin typeface="Open Sans"/>
              </a:rPr>
              <a:t>A esta función se la conoce como </a:t>
            </a:r>
            <a:r>
              <a:rPr lang="es-ES" altLang="es-ES" sz="2800" b="1" i="1" dirty="0">
                <a:latin typeface="inherit"/>
              </a:rPr>
              <a:t>función interceptora</a:t>
            </a:r>
            <a:r>
              <a:rPr lang="es-ES" altLang="es-ES" sz="2800" b="1" dirty="0">
                <a:latin typeface="Open Sans"/>
              </a:rPr>
              <a:t> </a:t>
            </a:r>
            <a:r>
              <a:rPr lang="es-ES" altLang="es-ES" sz="2800" dirty="0">
                <a:latin typeface="Open Sans"/>
              </a:rPr>
              <a:t>y ya ves que tiene unos argumentos y un tipo de retorno bien definidos… y algo complejos a primera vista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800" dirty="0">
                <a:latin typeface="Open Sans"/>
              </a:rPr>
              <a:t>Veamos una implementación minimalista:</a:t>
            </a:r>
            <a:endParaRPr lang="es-ES" sz="280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2D50F30-4083-4B38-84E4-BFEC370A3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4648200"/>
            <a:ext cx="10134600" cy="83099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public intercept(req: HttpRequest&lt;any&gt;, next: HttpHandler): Observable&lt;HttpEvent&lt;any&gt;&gt;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return next.handle(req);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1B4E6ED-5101-46EB-A6C0-14880AFD3404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LAB3a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4EF8389-69D8-4CB8-ACC7-61E7EF8F3B11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C:\Labs\T7\EX1</a:t>
            </a:r>
          </a:p>
        </p:txBody>
      </p:sp>
    </p:spTree>
    <p:extLst>
      <p:ext uri="{BB962C8B-B14F-4D97-AF65-F5344CB8AC3E}">
        <p14:creationId xmlns:p14="http://schemas.microsoft.com/office/powerpoint/2010/main" val="1958527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8F619-1A3C-486A-914E-B82F24A6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El método de interceptación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3732AD-37EA-4451-974C-8665C5E9A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altLang="es-ES" sz="2800" b="1" dirty="0">
                <a:latin typeface="Open Sans"/>
              </a:rPr>
              <a:t>Recibe un puntero a la petición en curso</a:t>
            </a:r>
            <a:r>
              <a:rPr lang="es-ES" altLang="es-ES" sz="2800" dirty="0">
                <a:latin typeface="Open Sans"/>
              </a:rPr>
              <a:t>, 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req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: 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HttpRequest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&lt;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any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&gt;</a:t>
            </a:r>
            <a:r>
              <a:rPr lang="es-ES" altLang="es-ES" sz="2800" dirty="0">
                <a:latin typeface="Open Sans"/>
              </a:rPr>
              <a:t>, </a:t>
            </a:r>
            <a:r>
              <a:rPr lang="es-ES" altLang="es-ES" sz="2800" b="1" dirty="0">
                <a:latin typeface="Open Sans"/>
              </a:rPr>
              <a:t>y otro a la siguiente clase que la procese</a:t>
            </a:r>
            <a:r>
              <a:rPr lang="es-ES" altLang="es-ES" sz="2800" dirty="0">
                <a:latin typeface="Open Sans"/>
              </a:rPr>
              <a:t>, 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next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: 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HttpHandler</a:t>
            </a:r>
            <a:r>
              <a:rPr lang="es-ES" altLang="es-ES" sz="2800" dirty="0">
                <a:latin typeface="Open Sans"/>
              </a:rPr>
              <a:t>. </a:t>
            </a:r>
          </a:p>
          <a:p>
            <a:r>
              <a:rPr lang="es-ES" altLang="es-ES" sz="2800" dirty="0">
                <a:latin typeface="Open Sans"/>
              </a:rPr>
              <a:t>También </a:t>
            </a:r>
            <a:r>
              <a:rPr lang="es-ES" altLang="es-ES" sz="2800" b="1" dirty="0">
                <a:latin typeface="Open Sans"/>
              </a:rPr>
              <a:t>obliga a devolver un observable</a:t>
            </a:r>
            <a:r>
              <a:rPr lang="es-ES" altLang="es-ES" sz="2800" dirty="0">
                <a:latin typeface="Open Sans"/>
              </a:rPr>
              <a:t>; lógico porque esto es a lo que te suscribes en tu código</a:t>
            </a:r>
          </a:p>
          <a:p>
            <a:r>
              <a:rPr lang="es-ES" altLang="es-ES" sz="2800" dirty="0">
                <a:latin typeface="Open Sans"/>
              </a:rPr>
              <a:t>Afortunadamente el método 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handle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(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req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: 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HttpRequest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&lt;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any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&gt;)</a:t>
            </a:r>
            <a:r>
              <a:rPr lang="es-ES" altLang="es-ES" sz="2800" dirty="0">
                <a:latin typeface="Open Sans"/>
              </a:rPr>
              <a:t> de cualquiera que sea la siguiente clase procesadora retorna un observable. </a:t>
            </a:r>
          </a:p>
          <a:p>
            <a:r>
              <a:rPr lang="es-ES" altLang="es-ES" sz="2800" dirty="0">
                <a:latin typeface="Open Sans"/>
              </a:rPr>
              <a:t>Y así se da continuidad al flujo de la llamada</a:t>
            </a:r>
            <a:endParaRPr lang="es-ES" altLang="es-ES" sz="2800" dirty="0">
              <a:solidFill>
                <a:schemeClr val="tx1"/>
              </a:solidFill>
            </a:endParaRPr>
          </a:p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39354197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7929C27-9F3C-48BC-BB4D-5306920F5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operadores observables</a:t>
            </a:r>
          </a:p>
        </p:txBody>
      </p:sp>
    </p:spTree>
    <p:extLst>
      <p:ext uri="{BB962C8B-B14F-4D97-AF65-F5344CB8AC3E}">
        <p14:creationId xmlns:p14="http://schemas.microsoft.com/office/powerpoint/2010/main" val="21159844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C7231-1F83-415D-8FEB-F137DF3A3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Los operadores observables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B8FAF5E2-F7BE-4AC4-9A4D-D2801BEF3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800" dirty="0">
                <a:latin typeface="Open Sans"/>
              </a:rPr>
              <a:t>Además de tipos de datos como 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Observable&lt;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any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&gt;</a:t>
            </a:r>
            <a:r>
              <a:rPr lang="es-ES" altLang="es-ES" sz="2800" dirty="0">
                <a:latin typeface="Open Sans"/>
              </a:rPr>
              <a:t> con métodos como 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.subscribe(ok, 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err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, 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end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)</a:t>
            </a:r>
            <a:r>
              <a:rPr lang="es-ES" altLang="es-ES" sz="2800" dirty="0">
                <a:latin typeface="Open Sans"/>
              </a:rPr>
              <a:t>, la librería </a:t>
            </a:r>
            <a:r>
              <a:rPr lang="es-ES" altLang="es-ES" sz="2800" b="1" i="1" dirty="0" err="1">
                <a:latin typeface="inherit"/>
              </a:rPr>
              <a:t>RxJs</a:t>
            </a:r>
            <a:r>
              <a:rPr lang="es-ES" altLang="es-ES" sz="2800" i="1" dirty="0">
                <a:latin typeface="inherit"/>
              </a:rPr>
              <a:t> </a:t>
            </a:r>
            <a:r>
              <a:rPr lang="es-ES" altLang="es-ES" sz="2800" dirty="0">
                <a:latin typeface="Open Sans"/>
              </a:rPr>
              <a:t>viene cargadita de </a:t>
            </a:r>
            <a:r>
              <a:rPr lang="es-ES" altLang="es-ES" sz="2800" b="1" dirty="0">
                <a:solidFill>
                  <a:srgbClr val="40B1F9"/>
                </a:solidFill>
                <a:latin typeface="inherit"/>
              </a:rPr>
              <a:t>operadores</a:t>
            </a:r>
            <a:r>
              <a:rPr lang="es-ES" altLang="es-ES" sz="2800" dirty="0">
                <a:latin typeface="Open Sans"/>
              </a:rPr>
              <a:t> que… operan sobre instancias de los observables.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800" dirty="0">
                <a:latin typeface="Open Sans"/>
              </a:rPr>
              <a:t>Estos </a:t>
            </a:r>
            <a:r>
              <a:rPr lang="es-ES" altLang="es-ES" sz="2800" b="1" dirty="0">
                <a:solidFill>
                  <a:srgbClr val="40B1F9"/>
                </a:solidFill>
                <a:latin typeface="inherit"/>
              </a:rPr>
              <a:t>operadores</a:t>
            </a:r>
            <a:r>
              <a:rPr lang="es-ES" altLang="es-ES" sz="2800" dirty="0">
                <a:latin typeface="Open Sans"/>
              </a:rPr>
              <a:t> son funciones que reciben y retornan observables.</a:t>
            </a:r>
            <a:endParaRPr lang="es-ES" altLang="es-ES" sz="2800" dirty="0">
              <a:solidFill>
                <a:schemeClr val="tx1"/>
              </a:solidFill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800" b="1" dirty="0">
                <a:latin typeface="Open Sans"/>
              </a:rPr>
              <a:t>Podemos ver a los observables como </a:t>
            </a:r>
            <a:r>
              <a:rPr lang="es-ES" altLang="es-ES" sz="4000" b="1" i="1" dirty="0" err="1">
                <a:solidFill>
                  <a:srgbClr val="FF0000"/>
                </a:solidFill>
                <a:latin typeface="inherit"/>
              </a:rPr>
              <a:t>streams</a:t>
            </a:r>
            <a:r>
              <a:rPr lang="es-ES" altLang="es-ES" sz="2800" b="1" dirty="0">
                <a:latin typeface="Open Sans"/>
              </a:rPr>
              <a:t>, es decir una corriente de datos que circula por una tubería </a:t>
            </a:r>
          </a:p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22610574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C7231-1F83-415D-8FEB-F137DF3A3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Los operadores observables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B8FAF5E2-F7BE-4AC4-9A4D-D2801BEF3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800" b="1" dirty="0">
                <a:latin typeface="Open Sans"/>
              </a:rPr>
              <a:t>Los operadores serán funciones que afecten al contenido o al caudal </a:t>
            </a:r>
            <a:r>
              <a:rPr lang="es-ES" altLang="es-ES" sz="2800" dirty="0">
                <a:latin typeface="Open Sans"/>
              </a:rPr>
              <a:t>y que se pueden agregar o eliminar ordenadamente en la tubería.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800" dirty="0">
                <a:latin typeface="Open Sans"/>
              </a:rPr>
              <a:t>Una de esas operaciones se llama 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tap</a:t>
            </a:r>
            <a:r>
              <a:rPr lang="es-ES" altLang="es-ES" sz="2800" dirty="0">
                <a:latin typeface="Open Sans"/>
              </a:rPr>
              <a:t>, un grifo.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" altLang="es-E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8425178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90442-DB68-43BA-9A91-F9EDB6746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Operación </a:t>
            </a:r>
            <a:r>
              <a:rPr lang="es-ES" dirty="0" err="1"/>
              <a:t>tap</a:t>
            </a:r>
            <a:r>
              <a:rPr lang="es-ES" dirty="0"/>
              <a:t> (grifo)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C2CCFE-BE37-494A-8CEF-911331AD5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altLang="es-ES" sz="2800" dirty="0">
                <a:latin typeface="Open Sans"/>
              </a:rPr>
              <a:t>La operación 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tap</a:t>
            </a:r>
            <a:r>
              <a:rPr lang="es-ES" altLang="es-ES" sz="2800" dirty="0">
                <a:latin typeface="Open Sans"/>
              </a:rPr>
              <a:t> se usa cuando se quiere actuar ante un cambio en el contenido o caudal pero sin cambiarlo. </a:t>
            </a:r>
          </a:p>
          <a:p>
            <a:r>
              <a:rPr lang="es-ES" altLang="es-ES" sz="2800" dirty="0">
                <a:latin typeface="Open Sans"/>
              </a:rPr>
              <a:t>Para nuestro ejemplo es adecuada porque lo que pretendemos es auditar las llamadas y enterarnos de los errores sin tocar absolutamente nada.</a:t>
            </a:r>
            <a:r>
              <a:rPr lang="es-ES" altLang="es-ES" sz="2800" dirty="0">
                <a:solidFill>
                  <a:schemeClr val="tx1"/>
                </a:solidFill>
              </a:rPr>
              <a:t> </a:t>
            </a:r>
            <a:r>
              <a:rPr lang="es-ES" altLang="es-ES" sz="2800" dirty="0">
                <a:latin typeface="Open Sans"/>
              </a:rPr>
              <a:t>Montamos el código dentro de la función 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intercept</a:t>
            </a:r>
            <a:r>
              <a:rPr lang="es-ES" altLang="es-ES" sz="2800" dirty="0">
                <a:latin typeface="Open Sans"/>
              </a:rPr>
              <a:t>:</a:t>
            </a:r>
            <a:endParaRPr lang="es-ES" altLang="es-ES" sz="2800" dirty="0">
              <a:solidFill>
                <a:schemeClr val="tx1"/>
              </a:solidFill>
            </a:endParaRPr>
          </a:p>
          <a:p>
            <a:endParaRPr lang="es-ES" sz="280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27C5807-6986-49B1-8CBA-4CF229714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2" y="3733800"/>
            <a:ext cx="10134600" cy="206210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const handledRequest = next.handle(req);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const successCallback = this.interceptResponse.bind(this);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const errorCallback = this.catchError.bind(this);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const interceptionOperator = tap&lt;HttpEvent&lt;any&gt;&gt;(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successCallback,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errorCallback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return handledRequest.pipe(interceptionOperator);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5455DFA-1FA1-45EB-93E2-A191D8AA7C9C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LAB4a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57B263D-94A4-41D9-AC1C-E1DC537DABFE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C:\Labs\T7\EX1</a:t>
            </a:r>
          </a:p>
        </p:txBody>
      </p:sp>
    </p:spTree>
    <p:extLst>
      <p:ext uri="{BB962C8B-B14F-4D97-AF65-F5344CB8AC3E}">
        <p14:creationId xmlns:p14="http://schemas.microsoft.com/office/powerpoint/2010/main" val="4606001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9E2AC8-6C65-4A24-9055-C19B3747C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Operación </a:t>
            </a:r>
            <a:r>
              <a:rPr lang="es-ES" dirty="0" err="1"/>
              <a:t>tap</a:t>
            </a:r>
            <a:r>
              <a:rPr lang="es-ES" dirty="0"/>
              <a:t> (grifo)… en detalle</a:t>
            </a:r>
            <a:br>
              <a:rPr lang="es-ES" dirty="0"/>
            </a:br>
            <a:r>
              <a:rPr lang="es-ES" altLang="es-ES" sz="2400" dirty="0">
                <a:latin typeface="Open Sans"/>
              </a:rPr>
              <a:t>Respira y vuelve</a:t>
            </a:r>
            <a:endParaRPr lang="es-ES" sz="2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E017D7-A085-48A1-8CF6-ABA7BEC8D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altLang="es-ES" sz="2800" dirty="0">
                <a:latin typeface="Open Sans"/>
              </a:rPr>
              <a:t>En primer lugar obtenemos un puntero al </a:t>
            </a:r>
            <a:r>
              <a:rPr lang="es-ES" altLang="es-ES" sz="2800" i="1" dirty="0" err="1">
                <a:latin typeface="inherit"/>
              </a:rPr>
              <a:t>stream</a:t>
            </a:r>
            <a:r>
              <a:rPr lang="es-ES" altLang="es-ES" sz="2800" i="1" dirty="0">
                <a:latin typeface="inherit"/>
              </a:rPr>
              <a:t> observable</a:t>
            </a:r>
            <a:r>
              <a:rPr lang="es-ES" altLang="es-ES" sz="2800" dirty="0">
                <a:latin typeface="Open Sans"/>
              </a:rPr>
              <a:t> que es la petición en curso</a:t>
            </a:r>
          </a:p>
          <a:p>
            <a:r>
              <a:rPr lang="es-ES" altLang="es-ES" sz="2800" dirty="0">
                <a:latin typeface="Open Sans"/>
              </a:rPr>
              <a:t>Después asignamos dos funciones locales que actuarán como </a:t>
            </a:r>
            <a:r>
              <a:rPr lang="es-ES" altLang="es-ES" sz="2800" i="1" dirty="0" err="1">
                <a:latin typeface="inherit"/>
              </a:rPr>
              <a:t>callbacks</a:t>
            </a:r>
            <a:r>
              <a:rPr lang="es-ES" altLang="es-ES" sz="2800" dirty="0">
                <a:latin typeface="Open Sans"/>
              </a:rPr>
              <a:t> para cuando lleguen datos o errores respectivamente</a:t>
            </a:r>
          </a:p>
          <a:p>
            <a:r>
              <a:rPr lang="es-ES" altLang="es-ES" sz="2800" dirty="0">
                <a:latin typeface="Open Sans"/>
              </a:rPr>
              <a:t>Preparamos el operador 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tap</a:t>
            </a:r>
            <a:r>
              <a:rPr lang="es-ES" altLang="es-ES" sz="2800" dirty="0">
                <a:latin typeface="Open Sans"/>
              </a:rPr>
              <a:t> de la librería observable asignándole ambos </a:t>
            </a:r>
            <a:r>
              <a:rPr lang="es-ES" altLang="es-ES" sz="2800" i="1" dirty="0" err="1">
                <a:latin typeface="inherit"/>
              </a:rPr>
              <a:t>callbacks</a:t>
            </a:r>
            <a:r>
              <a:rPr lang="es-ES" altLang="es-ES" sz="2800" dirty="0">
                <a:latin typeface="Open Sans"/>
              </a:rPr>
              <a:t> y un tipo de retorno concreto en su genérico</a:t>
            </a:r>
          </a:p>
          <a:p>
            <a:r>
              <a:rPr lang="es-ES" altLang="es-ES" sz="2800" dirty="0">
                <a:latin typeface="Open Sans"/>
              </a:rPr>
              <a:t>Y por último mediante el método 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pipe</a:t>
            </a:r>
            <a:r>
              <a:rPr lang="es-ES" altLang="es-ES" sz="2800" dirty="0">
                <a:latin typeface="Open Sans"/>
              </a:rPr>
              <a:t> enganchamos el operador a la tubería por la que circula el chorro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6165703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71F0B-FE80-439B-A306-6813BC0AD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Operación </a:t>
            </a:r>
            <a:r>
              <a:rPr lang="es-ES" dirty="0" err="1"/>
              <a:t>tap</a:t>
            </a:r>
            <a:r>
              <a:rPr lang="es-ES" dirty="0"/>
              <a:t> (grifo)… en detalle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2B9356-A4B0-4152-8F96-7ABED4DD5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>
                <a:solidFill>
                  <a:srgbClr val="FF0000"/>
                </a:solidFill>
              </a:rPr>
              <a:t>Admito que si es tu primer contacto con este mundo de los observables este código pueda resultar complejo</a:t>
            </a:r>
          </a:p>
          <a:p>
            <a:r>
              <a:rPr lang="es-ES" b="1" dirty="0">
                <a:solidFill>
                  <a:srgbClr val="00B050"/>
                </a:solidFill>
              </a:rPr>
              <a:t>La buena noticia es que este código es una especie de patrón </a:t>
            </a:r>
            <a:r>
              <a:rPr lang="es-ES" dirty="0"/>
              <a:t>o </a:t>
            </a:r>
            <a:r>
              <a:rPr lang="es-ES" dirty="0" err="1"/>
              <a:t>snippet</a:t>
            </a:r>
            <a:r>
              <a:rPr lang="es-ES" dirty="0"/>
              <a:t> que puedes reutilizar para casi cualquier interceptor</a:t>
            </a:r>
          </a:p>
          <a:p>
            <a:r>
              <a:rPr lang="es-ES" dirty="0"/>
              <a:t>Sólo habrá que cambiar el operador y el trabajo interno de sus </a:t>
            </a:r>
            <a:r>
              <a:rPr lang="es-ES" dirty="0" err="1"/>
              <a:t>callbacks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832740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BDD3F-05D9-4C47-8CED-BDD4715F3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Operación </a:t>
            </a:r>
            <a:r>
              <a:rPr lang="es-ES" dirty="0" err="1"/>
              <a:t>tap</a:t>
            </a:r>
            <a:r>
              <a:rPr lang="es-ES"/>
              <a:t> (grifo)… en detalle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1543FD-BBBC-46FF-B6F0-27DF1E92E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s-ES" dirty="0"/>
              <a:t>Con esto tenemos un sistema que envía a la consola información extra como la duración de las llamadas</a:t>
            </a:r>
          </a:p>
          <a:p>
            <a:pPr lvl="1" fontAlgn="base"/>
            <a:r>
              <a:rPr lang="es-ES" dirty="0"/>
              <a:t>Además inspecciona los errores en un único lugar. </a:t>
            </a:r>
          </a:p>
          <a:p>
            <a:pPr lvl="1" fontAlgn="base"/>
            <a:r>
              <a:rPr lang="es-ES" dirty="0"/>
              <a:t>Esto puede incluso hacer innecesario que los componentes procesen errores.</a:t>
            </a:r>
          </a:p>
          <a:p>
            <a:pPr fontAlgn="base"/>
            <a:r>
              <a:rPr lang="es-ES" dirty="0"/>
              <a:t>Ya tenemos los datos almacenados en un servidor con el que nos comunicamos por </a:t>
            </a:r>
            <a:r>
              <a:rPr lang="es-ES" i="1" dirty="0"/>
              <a:t>http</a:t>
            </a:r>
            <a:r>
              <a:rPr lang="es-ES" dirty="0"/>
              <a:t>; aunque por ahora de forma anónima. </a:t>
            </a:r>
          </a:p>
          <a:p>
            <a:pPr fontAlgn="base"/>
            <a:r>
              <a:rPr lang="es-ES" dirty="0"/>
              <a:t>Con el conocimiento actual de los observables, el </a:t>
            </a:r>
            <a:r>
              <a:rPr lang="es-ES" i="1" dirty="0" err="1"/>
              <a:t>httpClient</a:t>
            </a:r>
            <a:r>
              <a:rPr lang="es-ES" dirty="0"/>
              <a:t> y los interceptores estamos a un paso de darle seguridad a las comunicaciones</a:t>
            </a:r>
          </a:p>
        </p:txBody>
      </p:sp>
    </p:spTree>
    <p:extLst>
      <p:ext uri="{BB962C8B-B14F-4D97-AF65-F5344CB8AC3E}">
        <p14:creationId xmlns:p14="http://schemas.microsoft.com/office/powerpoint/2010/main" val="47542380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Personalizado 1">
      <a:dk1>
        <a:srgbClr val="1B1D39"/>
      </a:dk1>
      <a:lt1>
        <a:sysClr val="window" lastClr="FFFFFF"/>
      </a:lt1>
      <a:dk2>
        <a:srgbClr val="F5C200"/>
      </a:dk2>
      <a:lt2>
        <a:srgbClr val="E7E6E6"/>
      </a:lt2>
      <a:accent1>
        <a:srgbClr val="F5C200"/>
      </a:accent1>
      <a:accent2>
        <a:srgbClr val="1B1D39"/>
      </a:accent2>
      <a:accent3>
        <a:srgbClr val="A5A5A5"/>
      </a:accent3>
      <a:accent4>
        <a:srgbClr val="FFC000"/>
      </a:accent4>
      <a:accent5>
        <a:srgbClr val="F5C200"/>
      </a:accent5>
      <a:accent6>
        <a:srgbClr val="F5C200"/>
      </a:accent6>
      <a:hlink>
        <a:srgbClr val="0563C1"/>
      </a:hlink>
      <a:folHlink>
        <a:srgbClr val="954F72"/>
      </a:folHlink>
    </a:clrScheme>
    <a:fontScheme name="TecnoFor">
      <a:majorFont>
        <a:latin typeface="Lexend Bold"/>
        <a:ea typeface="Helvetica"/>
        <a:cs typeface="Helvetica"/>
      </a:majorFont>
      <a:minorFont>
        <a:latin typeface="Lexend"/>
        <a:ea typeface="Arial"/>
        <a:cs typeface="Arial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76200">
          <a:solidFill>
            <a:srgbClr val="1C1E3B"/>
          </a:solidFill>
          <a:extLst>
            <a:ext uri="{C807C97D-BFC1-408E-A445-0C87EB9F89A2}">
              <ask:lineSketchStyleProps xmlns:ask="http://schemas.microsoft.com/office/drawing/2018/sketchyshapes">
                <ask:type>
                  <ask:lineSketchNone/>
                </ask:type>
              </ask:lineSketchStyleProps>
            </a:ext>
          </a:extLst>
        </a:ln>
      </a:spPr>
      <a:bodyPr lIns="72000" tIns="36000" rIns="72000" bIns="36000" rtlCol="0" anchor="ctr" anchorCtr="1"/>
      <a:lstStyle>
        <a:defPPr algn="ctr">
          <a:defRPr sz="4000" dirty="0">
            <a:solidFill>
              <a:srgbClr val="1C1E3B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3307</Words>
  <Application>Microsoft Office PowerPoint</Application>
  <PresentationFormat>Personalizado</PresentationFormat>
  <Paragraphs>381</Paragraphs>
  <Slides>36</Slides>
  <Notes>8</Notes>
  <HiddenSlides>4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7" baseType="lpstr">
      <vt:lpstr>Arial</vt:lpstr>
      <vt:lpstr>Calibri</vt:lpstr>
      <vt:lpstr>Consolas</vt:lpstr>
      <vt:lpstr>inherit</vt:lpstr>
      <vt:lpstr>Lexend</vt:lpstr>
      <vt:lpstr>Lexend Bold</vt:lpstr>
      <vt:lpstr>Lexend Light</vt:lpstr>
      <vt:lpstr>Menlo</vt:lpstr>
      <vt:lpstr>Open Sans</vt:lpstr>
      <vt:lpstr>Source Code Pro</vt:lpstr>
      <vt:lpstr>1_Tema de Office</vt:lpstr>
      <vt:lpstr>Angular Comunicaciones http</vt:lpstr>
      <vt:lpstr>Intro</vt:lpstr>
      <vt:lpstr>El servicio HttpClient</vt:lpstr>
      <vt:lpstr>Presentación de PowerPoint</vt:lpstr>
      <vt:lpstr>Métodos REST</vt:lpstr>
      <vt:lpstr>Métodos REST</vt:lpstr>
      <vt:lpstr>TIP: Métodos REST</vt:lpstr>
      <vt:lpstr>Observables</vt:lpstr>
      <vt:lpstr>Observables</vt:lpstr>
      <vt:lpstr>Reactive Extensions</vt:lpstr>
      <vt:lpstr>Import</vt:lpstr>
      <vt:lpstr>Lectura</vt:lpstr>
      <vt:lpstr>Lectura</vt:lpstr>
      <vt:lpstr>Lectura</vt:lpstr>
      <vt:lpstr>Lectura</vt:lpstr>
      <vt:lpstr>Lectura</vt:lpstr>
      <vt:lpstr>Presentación de PowerPoint</vt:lpstr>
      <vt:lpstr>Presentación de PowerPoint</vt:lpstr>
      <vt:lpstr>Presentación de PowerPoint</vt:lpstr>
      <vt:lpstr>Método subscribe</vt:lpstr>
      <vt:lpstr>Recordatorio para novatos</vt:lpstr>
      <vt:lpstr>Escritura</vt:lpstr>
      <vt:lpstr>Interceptores</vt:lpstr>
      <vt:lpstr>Interceptores</vt:lpstr>
      <vt:lpstr>Implementación de la interfaz</vt:lpstr>
      <vt:lpstr>Catch Interceptor Service</vt:lpstr>
      <vt:lpstr>Catch Interceptor Service</vt:lpstr>
      <vt:lpstr>El método de interceptación</vt:lpstr>
      <vt:lpstr>El método de interceptación</vt:lpstr>
      <vt:lpstr>Los operadores observables</vt:lpstr>
      <vt:lpstr>Los operadores observables</vt:lpstr>
      <vt:lpstr>Los operadores observables</vt:lpstr>
      <vt:lpstr>Operación tap (grifo)</vt:lpstr>
      <vt:lpstr>Operación tap (grifo)… en detalle Respira y vuelve</vt:lpstr>
      <vt:lpstr>Operación tap (grifo)… en detalle</vt:lpstr>
      <vt:lpstr>Operación tap (grifo)… en detalle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subject>Software Development Course</dc:subject>
  <dc:creator/>
  <cp:keywords>Template</cp:keywords>
  <dc:description>Software University Foundation - http://softuni.org</dc:description>
  <cp:lastModifiedBy/>
  <cp:revision>1</cp:revision>
  <dcterms:created xsi:type="dcterms:W3CDTF">2014-01-02T17:00:34Z</dcterms:created>
  <dcterms:modified xsi:type="dcterms:W3CDTF">2023-10-05T12:10:01Z</dcterms:modified>
  <cp:category>Template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</Properties>
</file>