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746" r:id="rId2"/>
  </p:sldMasterIdLst>
  <p:notesMasterIdLst>
    <p:notesMasterId r:id="rId118"/>
  </p:notesMasterIdLst>
  <p:handoutMasterIdLst>
    <p:handoutMasterId r:id="rId119"/>
  </p:handoutMasterIdLst>
  <p:sldIdLst>
    <p:sldId id="596" r:id="rId3"/>
    <p:sldId id="411" r:id="rId4"/>
    <p:sldId id="631" r:id="rId5"/>
    <p:sldId id="473" r:id="rId6"/>
    <p:sldId id="482" r:id="rId7"/>
    <p:sldId id="483" r:id="rId8"/>
    <p:sldId id="523" r:id="rId9"/>
    <p:sldId id="616" r:id="rId10"/>
    <p:sldId id="522" r:id="rId11"/>
    <p:sldId id="617" r:id="rId12"/>
    <p:sldId id="582" r:id="rId13"/>
    <p:sldId id="525" r:id="rId14"/>
    <p:sldId id="618" r:id="rId15"/>
    <p:sldId id="526" r:id="rId16"/>
    <p:sldId id="619" r:id="rId17"/>
    <p:sldId id="620" r:id="rId18"/>
    <p:sldId id="622" r:id="rId19"/>
    <p:sldId id="515" r:id="rId20"/>
    <p:sldId id="615" r:id="rId21"/>
    <p:sldId id="627" r:id="rId22"/>
    <p:sldId id="628" r:id="rId23"/>
    <p:sldId id="629" r:id="rId24"/>
    <p:sldId id="509" r:id="rId25"/>
    <p:sldId id="510" r:id="rId26"/>
    <p:sldId id="511" r:id="rId27"/>
    <p:sldId id="512" r:id="rId28"/>
    <p:sldId id="597" r:id="rId29"/>
    <p:sldId id="626" r:id="rId30"/>
    <p:sldId id="621" r:id="rId31"/>
    <p:sldId id="600" r:id="rId32"/>
    <p:sldId id="623" r:id="rId33"/>
    <p:sldId id="624" r:id="rId34"/>
    <p:sldId id="625" r:id="rId35"/>
    <p:sldId id="601" r:id="rId36"/>
    <p:sldId id="602" r:id="rId37"/>
    <p:sldId id="594" r:id="rId38"/>
    <p:sldId id="583" r:id="rId39"/>
    <p:sldId id="603" r:id="rId40"/>
    <p:sldId id="584" r:id="rId41"/>
    <p:sldId id="585" r:id="rId42"/>
    <p:sldId id="586" r:id="rId43"/>
    <p:sldId id="587" r:id="rId44"/>
    <p:sldId id="588" r:id="rId45"/>
    <p:sldId id="605" r:id="rId46"/>
    <p:sldId id="606" r:id="rId47"/>
    <p:sldId id="598" r:id="rId48"/>
    <p:sldId id="604" r:id="rId49"/>
    <p:sldId id="614" r:id="rId50"/>
    <p:sldId id="589" r:id="rId51"/>
    <p:sldId id="607" r:id="rId52"/>
    <p:sldId id="612" r:id="rId53"/>
    <p:sldId id="608" r:id="rId54"/>
    <p:sldId id="630" r:id="rId55"/>
    <p:sldId id="609" r:id="rId56"/>
    <p:sldId id="610" r:id="rId57"/>
    <p:sldId id="611" r:id="rId58"/>
    <p:sldId id="591" r:id="rId59"/>
    <p:sldId id="592" r:id="rId60"/>
    <p:sldId id="599" r:id="rId61"/>
    <p:sldId id="593" r:id="rId62"/>
    <p:sldId id="528" r:id="rId63"/>
    <p:sldId id="613" r:id="rId64"/>
    <p:sldId id="529" r:id="rId65"/>
    <p:sldId id="530" r:id="rId66"/>
    <p:sldId id="531" r:id="rId67"/>
    <p:sldId id="532" r:id="rId68"/>
    <p:sldId id="542" r:id="rId69"/>
    <p:sldId id="559" r:id="rId70"/>
    <p:sldId id="560" r:id="rId71"/>
    <p:sldId id="561" r:id="rId72"/>
    <p:sldId id="562" r:id="rId73"/>
    <p:sldId id="563" r:id="rId74"/>
    <p:sldId id="564" r:id="rId75"/>
    <p:sldId id="540" r:id="rId76"/>
    <p:sldId id="533" r:id="rId77"/>
    <p:sldId id="551" r:id="rId78"/>
    <p:sldId id="552" r:id="rId79"/>
    <p:sldId id="553" r:id="rId80"/>
    <p:sldId id="554" r:id="rId81"/>
    <p:sldId id="555" r:id="rId82"/>
    <p:sldId id="556" r:id="rId83"/>
    <p:sldId id="557" r:id="rId84"/>
    <p:sldId id="558" r:id="rId85"/>
    <p:sldId id="541" r:id="rId86"/>
    <p:sldId id="537" r:id="rId87"/>
    <p:sldId id="543" r:id="rId88"/>
    <p:sldId id="544" r:id="rId89"/>
    <p:sldId id="545" r:id="rId90"/>
    <p:sldId id="632" r:id="rId91"/>
    <p:sldId id="546" r:id="rId92"/>
    <p:sldId id="547" r:id="rId93"/>
    <p:sldId id="565" r:id="rId94"/>
    <p:sldId id="566" r:id="rId95"/>
    <p:sldId id="481" r:id="rId96"/>
    <p:sldId id="571" r:id="rId97"/>
    <p:sldId id="572" r:id="rId98"/>
    <p:sldId id="573" r:id="rId99"/>
    <p:sldId id="574" r:id="rId100"/>
    <p:sldId id="575" r:id="rId101"/>
    <p:sldId id="576" r:id="rId102"/>
    <p:sldId id="577" r:id="rId103"/>
    <p:sldId id="578" r:id="rId104"/>
    <p:sldId id="579" r:id="rId105"/>
    <p:sldId id="580" r:id="rId106"/>
    <p:sldId id="581" r:id="rId107"/>
    <p:sldId id="480" r:id="rId108"/>
    <p:sldId id="521" r:id="rId109"/>
    <p:sldId id="500" r:id="rId110"/>
    <p:sldId id="470" r:id="rId111"/>
    <p:sldId id="471" r:id="rId112"/>
    <p:sldId id="454" r:id="rId113"/>
    <p:sldId id="501" r:id="rId114"/>
    <p:sldId id="502" r:id="rId115"/>
    <p:sldId id="503" r:id="rId116"/>
    <p:sldId id="504" r:id="rId117"/>
  </p:sldIdLst>
  <p:sldSz cx="12188825"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148D4357-E11A-4DE5-81E4-49C6B73B5D81}">
          <p14:sldIdLst>
            <p14:sldId id="596"/>
            <p14:sldId id="411"/>
            <p14:sldId id="631"/>
          </p14:sldIdLst>
        </p14:section>
        <p14:section name="Introduction to TypeScript" id="{2A66BF89-E444-4ACD-B9D1-FE1B5069345D}">
          <p14:sldIdLst>
            <p14:sldId id="473"/>
            <p14:sldId id="482"/>
            <p14:sldId id="483"/>
            <p14:sldId id="523"/>
            <p14:sldId id="616"/>
            <p14:sldId id="522"/>
            <p14:sldId id="617"/>
            <p14:sldId id="582"/>
            <p14:sldId id="525"/>
            <p14:sldId id="618"/>
            <p14:sldId id="526"/>
            <p14:sldId id="619"/>
            <p14:sldId id="620"/>
            <p14:sldId id="622"/>
            <p14:sldId id="515"/>
            <p14:sldId id="615"/>
            <p14:sldId id="627"/>
            <p14:sldId id="628"/>
            <p14:sldId id="629"/>
            <p14:sldId id="509"/>
            <p14:sldId id="510"/>
            <p14:sldId id="511"/>
            <p14:sldId id="512"/>
            <p14:sldId id="597"/>
            <p14:sldId id="626"/>
            <p14:sldId id="621"/>
            <p14:sldId id="600"/>
            <p14:sldId id="623"/>
            <p14:sldId id="624"/>
            <p14:sldId id="625"/>
            <p14:sldId id="601"/>
            <p14:sldId id="602"/>
            <p14:sldId id="594"/>
            <p14:sldId id="583"/>
            <p14:sldId id="603"/>
            <p14:sldId id="584"/>
            <p14:sldId id="585"/>
            <p14:sldId id="586"/>
            <p14:sldId id="587"/>
            <p14:sldId id="588"/>
            <p14:sldId id="605"/>
            <p14:sldId id="606"/>
            <p14:sldId id="598"/>
            <p14:sldId id="604"/>
            <p14:sldId id="614"/>
            <p14:sldId id="589"/>
            <p14:sldId id="607"/>
            <p14:sldId id="612"/>
            <p14:sldId id="608"/>
            <p14:sldId id="630"/>
            <p14:sldId id="609"/>
            <p14:sldId id="610"/>
            <p14:sldId id="611"/>
            <p14:sldId id="591"/>
            <p14:sldId id="592"/>
            <p14:sldId id="599"/>
            <p14:sldId id="593"/>
            <p14:sldId id="528"/>
            <p14:sldId id="613"/>
            <p14:sldId id="529"/>
            <p14:sldId id="530"/>
            <p14:sldId id="531"/>
            <p14:sldId id="532"/>
            <p14:sldId id="542"/>
            <p14:sldId id="559"/>
            <p14:sldId id="560"/>
            <p14:sldId id="561"/>
            <p14:sldId id="562"/>
            <p14:sldId id="563"/>
            <p14:sldId id="564"/>
            <p14:sldId id="540"/>
            <p14:sldId id="533"/>
            <p14:sldId id="551"/>
            <p14:sldId id="552"/>
            <p14:sldId id="553"/>
            <p14:sldId id="554"/>
            <p14:sldId id="555"/>
            <p14:sldId id="556"/>
            <p14:sldId id="557"/>
            <p14:sldId id="558"/>
            <p14:sldId id="541"/>
            <p14:sldId id="537"/>
            <p14:sldId id="543"/>
            <p14:sldId id="544"/>
            <p14:sldId id="545"/>
            <p14:sldId id="632"/>
            <p14:sldId id="546"/>
            <p14:sldId id="547"/>
            <p14:sldId id="565"/>
            <p14:sldId id="566"/>
            <p14:sldId id="481"/>
            <p14:sldId id="571"/>
            <p14:sldId id="572"/>
            <p14:sldId id="573"/>
            <p14:sldId id="574"/>
            <p14:sldId id="575"/>
            <p14:sldId id="576"/>
            <p14:sldId id="577"/>
            <p14:sldId id="578"/>
            <p14:sldId id="579"/>
            <p14:sldId id="580"/>
            <p14:sldId id="581"/>
            <p14:sldId id="480"/>
          </p14:sldIdLst>
        </p14:section>
        <p14:section name="Tools" id="{67B5A701-8FDE-4946-8EE6-6400DC3376B7}">
          <p14:sldIdLst>
            <p14:sldId id="521"/>
            <p14:sldId id="500"/>
            <p14:sldId id="470"/>
          </p14:sldIdLst>
        </p14:section>
        <p14:section name="Hello World Application" id="{6734BDA6-F475-4D60-A1DB-0971C84637D7}">
          <p14:sldIdLst>
            <p14:sldId id="471"/>
          </p14:sldIdLst>
        </p14:section>
        <p14:section name="Summary" id="{1888D697-2B49-43A6-BDC2-719250E583B8}">
          <p14:sldIdLst>
            <p14:sldId id="454"/>
            <p14:sldId id="501"/>
            <p14:sldId id="502"/>
            <p14:sldId id="503"/>
            <p14:sldId id="504"/>
          </p14:sldIdLst>
        </p14:section>
        <p14:section name="Why Angular?" id="{4C6CD7CE-4C5C-4256-BE95-6EC46516E444}">
          <p14:sldIdLst/>
        </p14:section>
      </p14:sectionLst>
    </p:ext>
    <p:ext uri="{EFAFB233-063F-42B5-8137-9DF3F51BA10A}">
      <p15:sldGuideLst xmlns:p15="http://schemas.microsoft.com/office/powerpoint/2012/main">
        <p15:guide id="1" orient="horz" pos="2160" userDrawn="1">
          <p15:clr>
            <a:srgbClr val="A4A3A4"/>
          </p15:clr>
        </p15:guide>
        <p15:guide id="5" pos="3839"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FFF"/>
    <a:srgbClr val="FFA72A"/>
    <a:srgbClr val="FFF0D9"/>
    <a:srgbClr val="F0F5FA"/>
    <a:srgbClr val="1A8AFA"/>
    <a:srgbClr val="0097CC"/>
    <a:srgbClr val="603A14"/>
    <a:srgbClr val="E85C0E"/>
    <a:srgbClr val="BAB398"/>
    <a:srgbClr val="ADA485"/>
  </p:clrMru>
  <p:extLst>
    <p:ext uri="{E76CE94A-603C-4142-B9EB-6D1370010A27}">
      <p14:discardImageEditData xmlns:p14="http://schemas.microsoft.com/office/powerpoint/2010/main" val="1"/>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376" autoAdjust="0"/>
    <p:restoredTop sz="96374" autoAdjust="0"/>
  </p:normalViewPr>
  <p:slideViewPr>
    <p:cSldViewPr>
      <p:cViewPr>
        <p:scale>
          <a:sx n="100" d="100"/>
          <a:sy n="100" d="100"/>
        </p:scale>
        <p:origin x="600" y="234"/>
      </p:cViewPr>
      <p:guideLst>
        <p:guide orient="horz" pos="2160"/>
        <p:guide pos="3839"/>
      </p:guideLst>
    </p:cSldViewPr>
  </p:slideViewPr>
  <p:outlineViewPr>
    <p:cViewPr>
      <p:scale>
        <a:sx n="33" d="100"/>
        <a:sy n="33" d="100"/>
      </p:scale>
      <p:origin x="0" y="-10282"/>
    </p:cViewPr>
  </p:outlineViewPr>
  <p:notesTextViewPr>
    <p:cViewPr>
      <p:scale>
        <a:sx n="1" d="1"/>
        <a:sy n="1" d="1"/>
      </p:scale>
      <p:origin x="0" y="0"/>
    </p:cViewPr>
  </p:notesTextViewPr>
  <p:sorterViewPr>
    <p:cViewPr>
      <p:scale>
        <a:sx n="100" d="100"/>
        <a:sy n="100" d="100"/>
      </p:scale>
      <p:origin x="0" y="0"/>
    </p:cViewPr>
  </p:sorterViewPr>
  <p:notesViewPr>
    <p:cSldViewPr showGuides="1">
      <p:cViewPr varScale="1">
        <p:scale>
          <a:sx n="66" d="100"/>
          <a:sy n="66" d="100"/>
        </p:scale>
        <p:origin x="3134" y="101"/>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slide" Target="slides/slide110.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tableStyles" Target="tableStyles.xml"/><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slide" Target="slides/slide80.xml"/><Relationship Id="rId90" Type="http://schemas.openxmlformats.org/officeDocument/2006/relationships/slide" Target="slides/slide88.xml"/><Relationship Id="rId95" Type="http://schemas.openxmlformats.org/officeDocument/2006/relationships/slide" Target="slides/slide93.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13" Type="http://schemas.openxmlformats.org/officeDocument/2006/relationships/slide" Target="slides/slide111.xml"/><Relationship Id="rId118"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103" Type="http://schemas.openxmlformats.org/officeDocument/2006/relationships/slide" Target="slides/slide101.xml"/><Relationship Id="rId108" Type="http://schemas.openxmlformats.org/officeDocument/2006/relationships/slide" Target="slides/slide106.xml"/><Relationship Id="rId116" Type="http://schemas.openxmlformats.org/officeDocument/2006/relationships/slide" Target="slides/slide11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11" Type="http://schemas.openxmlformats.org/officeDocument/2006/relationships/slide" Target="slides/slide109.xml"/><Relationship Id="rId1" Type="http://schemas.openxmlformats.org/officeDocument/2006/relationships/customXml" Target="../customXml/item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slide" Target="slides/slide104.xml"/><Relationship Id="rId114" Type="http://schemas.openxmlformats.org/officeDocument/2006/relationships/slide" Target="slides/slide112.xml"/><Relationship Id="rId119" Type="http://schemas.openxmlformats.org/officeDocument/2006/relationships/handoutMaster" Target="handoutMasters/handoutMaster1.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presProps" Target="presProp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1.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s>
</file>

<file path=ppt/handoutMasters/_rels/handoutMaster1.xml.rels><?xml version="1.0" encoding="UTF-8" standalone="yes"?>
<Relationships xmlns="http://schemas.openxmlformats.org/package/2006/relationships"><Relationship Id="rId3" Type="http://schemas.openxmlformats.org/officeDocument/2006/relationships/hyperlink" Target="http://creativecommons.org/licenses/by-nc-sa/4.0/" TargetMode="External"/><Relationship Id="rId2" Type="http://schemas.openxmlformats.org/officeDocument/2006/relationships/hyperlink" Target="http://softuni.org/" TargetMode="External"/><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2520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sz="quarter" idx="1"/>
          </p:nvPr>
        </p:nvSpPr>
        <p:spPr>
          <a:xfrm>
            <a:off x="3884613" y="0"/>
            <a:ext cx="2971800" cy="252000"/>
          </a:xfrm>
          <a:prstGeom prst="rect">
            <a:avLst/>
          </a:prstGeom>
        </p:spPr>
        <p:txBody>
          <a:bodyPr vert="horz" lIns="91440" tIns="45720" rIns="91440" bIns="45720" rtlCol="0"/>
          <a:lstStyle>
            <a:lvl1pPr algn="r">
              <a:defRPr sz="1200"/>
            </a:lvl1pPr>
          </a:lstStyle>
          <a:p>
            <a:fld id="{FE5B4EDC-59C0-49C7-8ADA-5A781B329E02}" type="datetimeFigureOut">
              <a:rPr lang="en-US"/>
              <a:pPr/>
              <a:t>10/2/2023</a:t>
            </a:fld>
            <a:endParaRPr dirty="0"/>
          </a:p>
        </p:txBody>
      </p:sp>
      <p:sp>
        <p:nvSpPr>
          <p:cNvPr id="4" name="Footer Placeholder 3"/>
          <p:cNvSpPr>
            <a:spLocks noGrp="1"/>
          </p:cNvSpPr>
          <p:nvPr>
            <p:ph type="ftr" sz="quarter" idx="2"/>
          </p:nvPr>
        </p:nvSpPr>
        <p:spPr>
          <a:xfrm>
            <a:off x="0" y="8747999"/>
            <a:ext cx="6165000" cy="394413"/>
          </a:xfrm>
          <a:prstGeom prst="rect">
            <a:avLst/>
          </a:prstGeom>
        </p:spPr>
        <p:txBody>
          <a:bodyPr vert="horz" lIns="91440" tIns="45720" rIns="91440" bIns="45720" rtlCol="0" anchor="b"/>
          <a:lstStyle>
            <a:lvl1pPr algn="l">
              <a:defRPr sz="1200"/>
            </a:lvl1pPr>
          </a:lstStyle>
          <a:p>
            <a:r>
              <a:rPr lang="en-US" sz="1000" dirty="0"/>
              <a:t>© Software University Foundation – </a:t>
            </a:r>
            <a:r>
              <a:rPr lang="en-US" sz="1000" u="sng" dirty="0">
                <a:hlinkClick r:id="rId2"/>
              </a:rPr>
              <a:t>http://softuni.org</a:t>
            </a:r>
            <a:endParaRPr lang="en-US" sz="1000" dirty="0"/>
          </a:p>
          <a:p>
            <a:r>
              <a:rPr lang="en-US" sz="1000" dirty="0"/>
              <a:t>This work is licensed under the </a:t>
            </a:r>
            <a:r>
              <a:rPr lang="en-US" sz="1000" u="sng" noProof="1">
                <a:hlinkClick r:id="rId3"/>
              </a:rPr>
              <a:t>Creative Commons Attribution-NonCommercial-ShareAlike</a:t>
            </a:r>
            <a:r>
              <a:rPr lang="en-US" sz="1000" noProof="1"/>
              <a:t> </a:t>
            </a:r>
            <a:r>
              <a:rPr lang="en-US" sz="1000" dirty="0"/>
              <a:t>license.</a:t>
            </a:r>
            <a:endParaRPr sz="1000" dirty="0"/>
          </a:p>
        </p:txBody>
      </p:sp>
      <p:sp>
        <p:nvSpPr>
          <p:cNvPr id="5" name="Slide Number Placeholder 4"/>
          <p:cNvSpPr>
            <a:spLocks noGrp="1"/>
          </p:cNvSpPr>
          <p:nvPr>
            <p:ph type="sldNum" sz="quarter" idx="3"/>
          </p:nvPr>
        </p:nvSpPr>
        <p:spPr>
          <a:xfrm>
            <a:off x="6165000" y="8748000"/>
            <a:ext cx="691412" cy="394412"/>
          </a:xfrm>
          <a:prstGeom prst="rect">
            <a:avLst/>
          </a:prstGeom>
        </p:spPr>
        <p:txBody>
          <a:bodyPr vert="horz" lIns="91440" tIns="45720" rIns="91440" bIns="45720" rtlCol="0" anchor="b"/>
          <a:lstStyle>
            <a:lvl1pPr algn="r">
              <a:defRPr sz="1200"/>
            </a:lvl1pPr>
          </a:lstStyle>
          <a:p>
            <a:fld id="{79429053-DC2A-4342-ADD4-2FD729D91E2C}" type="slidenum">
              <a:rPr sz="1000"/>
              <a:pPr/>
              <a:t>‹Nº›</a:t>
            </a:fld>
            <a:endParaRPr sz="1000" dirty="0"/>
          </a:p>
        </p:txBody>
      </p:sp>
    </p:spTree>
    <p:extLst>
      <p:ext uri="{BB962C8B-B14F-4D97-AF65-F5344CB8AC3E}">
        <p14:creationId xmlns:p14="http://schemas.microsoft.com/office/powerpoint/2010/main" val="4232045756"/>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3" Type="http://schemas.openxmlformats.org/officeDocument/2006/relationships/hyperlink" Target="http://creativecommons.org/licenses/by-nc-sa/4.0/" TargetMode="External"/><Relationship Id="rId2" Type="http://schemas.openxmlformats.org/officeDocument/2006/relationships/hyperlink" Target="http://softuni.org/" TargetMode="External"/><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252000"/>
          </a:xfrm>
          <a:prstGeom prst="rect">
            <a:avLst/>
          </a:prstGeom>
        </p:spPr>
        <p:txBody>
          <a:bodyPr vert="horz" lIns="91440" tIns="45720" rIns="91440" bIns="45720" rtlCol="0"/>
          <a:lstStyle>
            <a:lvl1pPr algn="l">
              <a:defRPr sz="1000"/>
            </a:lvl1pPr>
          </a:lstStyle>
          <a:p>
            <a:endParaRPr lang="en-US" dirty="0"/>
          </a:p>
        </p:txBody>
      </p:sp>
      <p:sp>
        <p:nvSpPr>
          <p:cNvPr id="3" name="Date Placeholder 2"/>
          <p:cNvSpPr>
            <a:spLocks noGrp="1"/>
          </p:cNvSpPr>
          <p:nvPr>
            <p:ph type="dt" idx="1"/>
          </p:nvPr>
        </p:nvSpPr>
        <p:spPr>
          <a:xfrm>
            <a:off x="3884613" y="0"/>
            <a:ext cx="2971800" cy="252000"/>
          </a:xfrm>
          <a:prstGeom prst="rect">
            <a:avLst/>
          </a:prstGeom>
        </p:spPr>
        <p:txBody>
          <a:bodyPr vert="horz" lIns="91440" tIns="45720" rIns="91440" bIns="45720" rtlCol="0"/>
          <a:lstStyle>
            <a:lvl1pPr algn="r">
              <a:defRPr sz="1000"/>
            </a:lvl1pPr>
          </a:lstStyle>
          <a:p>
            <a:fld id="{F2D8D46A-B586-417D-BFBD-8C8FE0AAF762}" type="datetimeFigureOut">
              <a:rPr lang="en-US" smtClean="0"/>
              <a:pPr/>
              <a:t>10/2/2023</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381000" y="4343400"/>
            <a:ext cx="6096000" cy="4114800"/>
          </a:xfrm>
          <a:prstGeom prst="rect">
            <a:avLst/>
          </a:prstGeom>
        </p:spPr>
        <p:txBody>
          <a:bodyPr vert="horz" lIns="91440" tIns="45720" rIns="91440" bIns="45720" rtlCol="0"/>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p>
        </p:txBody>
      </p:sp>
      <p:sp>
        <p:nvSpPr>
          <p:cNvPr id="6" name="Footer Placeholder 5"/>
          <p:cNvSpPr>
            <a:spLocks noGrp="1"/>
          </p:cNvSpPr>
          <p:nvPr>
            <p:ph type="ftr" sz="quarter" idx="4"/>
          </p:nvPr>
        </p:nvSpPr>
        <p:spPr>
          <a:xfrm>
            <a:off x="-1" y="8747999"/>
            <a:ext cx="6308999" cy="394413"/>
          </a:xfrm>
          <a:prstGeom prst="rect">
            <a:avLst/>
          </a:prstGeom>
        </p:spPr>
        <p:txBody>
          <a:bodyPr vert="horz" lIns="91440" tIns="45720" rIns="91440" bIns="45720" rtlCol="0" anchor="b"/>
          <a:lstStyle>
            <a:lvl1pPr algn="l">
              <a:defRPr sz="1000"/>
            </a:lvl1pPr>
          </a:lstStyle>
          <a:p>
            <a:r>
              <a:rPr lang="en-US" sz="1000" dirty="0"/>
              <a:t>© Software University Foundation – </a:t>
            </a:r>
            <a:r>
              <a:rPr lang="en-US" sz="1000" u="sng" dirty="0">
                <a:hlinkClick r:id="rId2"/>
              </a:rPr>
              <a:t>http://softuni.org</a:t>
            </a:r>
            <a:endParaRPr lang="en-US" sz="1000" dirty="0"/>
          </a:p>
          <a:p>
            <a:r>
              <a:rPr lang="en-US" sz="1000" dirty="0"/>
              <a:t>This work is licensed under the </a:t>
            </a:r>
            <a:r>
              <a:rPr lang="en-US" sz="1000" u="sng" noProof="1">
                <a:hlinkClick r:id="rId3"/>
              </a:rPr>
              <a:t>Creative Commons Attribution-NonCommercial-ShareAlike</a:t>
            </a:r>
            <a:r>
              <a:rPr lang="en-US" sz="1000" noProof="1"/>
              <a:t> </a:t>
            </a:r>
            <a:r>
              <a:rPr lang="en-US" sz="1000" dirty="0"/>
              <a:t>license.</a:t>
            </a:r>
          </a:p>
        </p:txBody>
      </p:sp>
      <p:sp>
        <p:nvSpPr>
          <p:cNvPr id="7" name="Slide Number Placeholder 6"/>
          <p:cNvSpPr>
            <a:spLocks noGrp="1"/>
          </p:cNvSpPr>
          <p:nvPr>
            <p:ph type="sldNum" sz="quarter" idx="5"/>
          </p:nvPr>
        </p:nvSpPr>
        <p:spPr>
          <a:xfrm>
            <a:off x="6308999" y="8747999"/>
            <a:ext cx="547413" cy="394413"/>
          </a:xfrm>
          <a:prstGeom prst="rect">
            <a:avLst/>
          </a:prstGeom>
        </p:spPr>
        <p:txBody>
          <a:bodyPr vert="horz" lIns="91440" tIns="45720" rIns="91440" bIns="45720" rtlCol="0" anchor="b"/>
          <a:lstStyle>
            <a:lvl1pPr algn="r">
              <a:defRPr sz="1000"/>
            </a:lvl1pPr>
          </a:lstStyle>
          <a:p>
            <a:fld id="{3EBA5BD7-F043-4D1B-AA17-CD412FC534DE}" type="slidenum">
              <a:rPr lang="en-US" smtClean="0"/>
              <a:pPr/>
              <a:t>‹Nº›</a:t>
            </a:fld>
            <a:endParaRPr lang="en-US" dirty="0"/>
          </a:p>
        </p:txBody>
      </p:sp>
    </p:spTree>
    <p:extLst>
      <p:ext uri="{BB962C8B-B14F-4D97-AF65-F5344CB8AC3E}">
        <p14:creationId xmlns:p14="http://schemas.microsoft.com/office/powerpoint/2010/main" val="276705785"/>
      </p:ext>
    </p:extLst>
  </p:cSld>
  <p:clrMap bg1="lt1" tx1="dk1" bg2="lt2" tx2="dk2" accent1="accent1" accent2="accent2" accent3="accent3" accent4="accent4" accent5="accent5" accent6="accent6" hlink="hlink" folHlink="folHlink"/>
  <p:hf hdr="0" dt="0"/>
  <p:notesStyle>
    <a:lvl1pPr marL="0" algn="l" defTabSz="1218987" rtl="0" eaLnBrk="1" latinLnBrk="0" hangingPunct="1">
      <a:defRPr sz="1600" kern="1200">
        <a:solidFill>
          <a:schemeClr val="tx1"/>
        </a:solidFill>
        <a:latin typeface="+mn-lt"/>
        <a:ea typeface="+mn-ea"/>
        <a:cs typeface="+mn-cs"/>
      </a:defRPr>
    </a:lvl1pPr>
    <a:lvl2pPr marL="177800" indent="0" algn="l" defTabSz="1218987" rtl="0" eaLnBrk="1" latinLnBrk="0" hangingPunct="1">
      <a:defRPr sz="1600" kern="1200">
        <a:solidFill>
          <a:schemeClr val="tx1"/>
        </a:solidFill>
        <a:latin typeface="+mn-lt"/>
        <a:ea typeface="+mn-ea"/>
        <a:cs typeface="+mn-cs"/>
      </a:defRPr>
    </a:lvl2pPr>
    <a:lvl3pPr marL="361950" indent="0" algn="l" defTabSz="1218987" rtl="0" eaLnBrk="1" latinLnBrk="0" hangingPunct="1">
      <a:defRPr sz="1600" kern="1200">
        <a:solidFill>
          <a:schemeClr val="tx1"/>
        </a:solidFill>
        <a:latin typeface="+mn-lt"/>
        <a:ea typeface="+mn-ea"/>
        <a:cs typeface="+mn-cs"/>
      </a:defRPr>
    </a:lvl3pPr>
    <a:lvl4pPr marL="539750" indent="0" algn="l" defTabSz="1218987" rtl="0" eaLnBrk="1" latinLnBrk="0" hangingPunct="1">
      <a:defRPr sz="1600" kern="1200">
        <a:solidFill>
          <a:schemeClr val="tx1"/>
        </a:solidFill>
        <a:latin typeface="+mn-lt"/>
        <a:ea typeface="+mn-ea"/>
        <a:cs typeface="+mn-cs"/>
      </a:defRPr>
    </a:lvl4pPr>
    <a:lvl5pPr marL="717550" indent="0"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oftuni.org/" TargetMode="External"/><Relationship Id="rId2" Type="http://schemas.openxmlformats.org/officeDocument/2006/relationships/slide" Target="../slides/slide3.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oftuni.org/" TargetMode="External"/><Relationship Id="rId2" Type="http://schemas.openxmlformats.org/officeDocument/2006/relationships/slide" Target="../slides/slide26.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oftuni.org/" TargetMode="External"/><Relationship Id="rId2" Type="http://schemas.openxmlformats.org/officeDocument/2006/relationships/slide" Target="../slides/slide47.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oftuni.org/" TargetMode="External"/><Relationship Id="rId2" Type="http://schemas.openxmlformats.org/officeDocument/2006/relationships/slide" Target="../slides/slide61.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oftuni.org/" TargetMode="External"/><Relationship Id="rId2" Type="http://schemas.openxmlformats.org/officeDocument/2006/relationships/slide" Target="../slides/slide87.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oftuni.org/" TargetMode="External"/><Relationship Id="rId2" Type="http://schemas.openxmlformats.org/officeDocument/2006/relationships/slide" Target="../slides/slide100.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oftuni.org/" TargetMode="External"/><Relationship Id="rId2" Type="http://schemas.openxmlformats.org/officeDocument/2006/relationships/slide" Target="../slides/slide111.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dirty="0"/>
          </a:p>
        </p:txBody>
      </p:sp>
      <p:sp>
        <p:nvSpPr>
          <p:cNvPr id="4" name="Slide Number Placeholder 3"/>
          <p:cNvSpPr>
            <a:spLocks noGrp="1"/>
          </p:cNvSpPr>
          <p:nvPr>
            <p:ph type="sldNum" sz="quarter" idx="10"/>
          </p:nvPr>
        </p:nvSpPr>
        <p:spPr/>
        <p:txBody>
          <a:bodyPr/>
          <a:lstStyle/>
          <a:p>
            <a:fld id="{46FA6BEF-0D01-42CD-AF49-6C72D33EA441}" type="slidenum">
              <a:rPr lang="en-US" smtClean="0"/>
              <a:t>1</a:t>
            </a:fld>
            <a:endParaRPr lang="en-US"/>
          </a:p>
        </p:txBody>
      </p:sp>
    </p:spTree>
    <p:extLst>
      <p:ext uri="{BB962C8B-B14F-4D97-AF65-F5344CB8AC3E}">
        <p14:creationId xmlns:p14="http://schemas.microsoft.com/office/powerpoint/2010/main" val="32551488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pie de página 3"/>
          <p:cNvSpPr>
            <a:spLocks noGrp="1"/>
          </p:cNvSpPr>
          <p:nvPr>
            <p:ph type="ftr" sz="quarter" idx="4"/>
          </p:nvPr>
        </p:nvSpPr>
        <p:spPr/>
        <p:txBody>
          <a:bodyPr/>
          <a:lstStyle/>
          <a:p>
            <a:r>
              <a:rPr lang="en-US" sz="1000"/>
              <a:t>© Software University Foundation – </a:t>
            </a:r>
            <a:r>
              <a:rPr lang="en-US" sz="1000" u="sng">
                <a:hlinkClick r:id="rId3"/>
              </a:rPr>
              <a:t>http://softuni.org</a:t>
            </a:r>
            <a:endParaRPr lang="en-US" sz="1000"/>
          </a:p>
          <a:p>
            <a:r>
              <a:rPr lang="en-US" sz="1000"/>
              <a:t>This work is licensed under the </a:t>
            </a:r>
            <a:r>
              <a:rPr lang="en-US" sz="1000" u="sng" noProof="1">
                <a:hlinkClick r:id="rId4"/>
              </a:rPr>
              <a:t>Creative Commons Attribution-NonCommercial-ShareAlike</a:t>
            </a:r>
            <a:r>
              <a:rPr lang="en-US" sz="1000" noProof="1"/>
              <a:t> </a:t>
            </a:r>
            <a:r>
              <a:rPr lang="en-US" sz="1000"/>
              <a:t>license.</a:t>
            </a:r>
            <a:endParaRPr lang="en-US" sz="1000" dirty="0"/>
          </a:p>
        </p:txBody>
      </p:sp>
      <p:sp>
        <p:nvSpPr>
          <p:cNvPr id="5" name="Marcador de número de diapositiva 4"/>
          <p:cNvSpPr>
            <a:spLocks noGrp="1"/>
          </p:cNvSpPr>
          <p:nvPr>
            <p:ph type="sldNum" sz="quarter" idx="5"/>
          </p:nvPr>
        </p:nvSpPr>
        <p:spPr/>
        <p:txBody>
          <a:bodyPr/>
          <a:lstStyle/>
          <a:p>
            <a:fld id="{3EBA5BD7-F043-4D1B-AA17-CD412FC534DE}" type="slidenum">
              <a:rPr lang="en-US" smtClean="0"/>
              <a:pPr/>
              <a:t>3</a:t>
            </a:fld>
            <a:endParaRPr lang="en-US" dirty="0"/>
          </a:p>
        </p:txBody>
      </p:sp>
    </p:spTree>
    <p:extLst>
      <p:ext uri="{BB962C8B-B14F-4D97-AF65-F5344CB8AC3E}">
        <p14:creationId xmlns:p14="http://schemas.microsoft.com/office/powerpoint/2010/main" val="29836363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lang="es-ES" sz="1600" b="1" i="0" kern="1200" dirty="0" err="1">
                <a:solidFill>
                  <a:schemeClr val="tx1"/>
                </a:solidFill>
                <a:effectLst/>
                <a:latin typeface="+mn-lt"/>
                <a:ea typeface="+mn-ea"/>
                <a:cs typeface="+mn-cs"/>
              </a:rPr>
              <a:t>var</a:t>
            </a:r>
            <a:r>
              <a:rPr lang="es-ES" sz="1600" b="0" i="0" kern="1200" dirty="0">
                <a:solidFill>
                  <a:schemeClr val="tx1"/>
                </a:solidFill>
                <a:effectLst/>
                <a:latin typeface="+mn-lt"/>
                <a:ea typeface="+mn-ea"/>
                <a:cs typeface="+mn-cs"/>
              </a:rPr>
              <a:t> </a:t>
            </a:r>
            <a:r>
              <a:rPr lang="es-ES" sz="1600" b="0" i="0" kern="1200" dirty="0" err="1">
                <a:solidFill>
                  <a:schemeClr val="tx1"/>
                </a:solidFill>
                <a:effectLst/>
                <a:latin typeface="+mn-lt"/>
                <a:ea typeface="+mn-ea"/>
                <a:cs typeface="+mn-cs"/>
              </a:rPr>
              <a:t>foo</a:t>
            </a:r>
            <a:r>
              <a:rPr lang="es-ES" sz="1600" b="0" i="0" kern="1200" dirty="0">
                <a:solidFill>
                  <a:schemeClr val="tx1"/>
                </a:solidFill>
                <a:effectLst/>
                <a:latin typeface="+mn-lt"/>
                <a:ea typeface="+mn-ea"/>
                <a:cs typeface="+mn-cs"/>
              </a:rPr>
              <a:t> </a:t>
            </a:r>
            <a:r>
              <a:rPr lang="es-ES" sz="1600" b="1" i="0" kern="1200" dirty="0">
                <a:solidFill>
                  <a:schemeClr val="tx1"/>
                </a:solidFill>
                <a:effectLst/>
                <a:latin typeface="+mn-lt"/>
                <a:ea typeface="+mn-ea"/>
                <a:cs typeface="+mn-cs"/>
              </a:rPr>
              <a:t>=</a:t>
            </a:r>
            <a:r>
              <a:rPr lang="es-ES" sz="1600" b="0" i="0" kern="1200" dirty="0">
                <a:solidFill>
                  <a:schemeClr val="tx1"/>
                </a:solidFill>
                <a:effectLst/>
                <a:latin typeface="+mn-lt"/>
                <a:ea typeface="+mn-ea"/>
                <a:cs typeface="+mn-cs"/>
              </a:rPr>
              <a:t> "</a:t>
            </a:r>
            <a:r>
              <a:rPr lang="es-ES" sz="1600" b="0" i="0" kern="1200" dirty="0" err="1">
                <a:solidFill>
                  <a:schemeClr val="tx1"/>
                </a:solidFill>
                <a:effectLst/>
                <a:latin typeface="+mn-lt"/>
                <a:ea typeface="+mn-ea"/>
                <a:cs typeface="+mn-cs"/>
              </a:rPr>
              <a:t>foo</a:t>
            </a:r>
            <a:r>
              <a:rPr lang="es-ES" sz="1600" b="0" i="0" kern="1200" dirty="0">
                <a:solidFill>
                  <a:schemeClr val="tx1"/>
                </a:solidFill>
                <a:effectLst/>
                <a:latin typeface="+mn-lt"/>
                <a:ea typeface="+mn-ea"/>
                <a:cs typeface="+mn-cs"/>
              </a:rPr>
              <a:t>"; (</a:t>
            </a:r>
            <a:r>
              <a:rPr lang="es-ES" sz="1600" b="1" i="0" kern="1200" dirty="0" err="1">
                <a:solidFill>
                  <a:schemeClr val="tx1"/>
                </a:solidFill>
                <a:effectLst/>
                <a:latin typeface="+mn-lt"/>
                <a:ea typeface="+mn-ea"/>
                <a:cs typeface="+mn-cs"/>
              </a:rPr>
              <a:t>function</a:t>
            </a:r>
            <a:r>
              <a:rPr lang="es-ES" sz="1600" b="0" i="0" kern="1200" dirty="0">
                <a:solidFill>
                  <a:schemeClr val="tx1"/>
                </a:solidFill>
                <a:effectLst/>
                <a:latin typeface="+mn-lt"/>
                <a:ea typeface="+mn-ea"/>
                <a:cs typeface="+mn-cs"/>
              </a:rPr>
              <a:t> (</a:t>
            </a:r>
            <a:r>
              <a:rPr lang="es-ES" sz="1600" b="0" i="0" kern="1200" dirty="0" err="1">
                <a:solidFill>
                  <a:schemeClr val="tx1"/>
                </a:solidFill>
                <a:effectLst/>
                <a:latin typeface="+mn-lt"/>
                <a:ea typeface="+mn-ea"/>
                <a:cs typeface="+mn-cs"/>
              </a:rPr>
              <a:t>innerFoo</a:t>
            </a:r>
            <a:r>
              <a:rPr lang="es-ES" sz="1600" b="0" i="0" kern="1200" dirty="0">
                <a:solidFill>
                  <a:schemeClr val="tx1"/>
                </a:solidFill>
                <a:effectLst/>
                <a:latin typeface="+mn-lt"/>
                <a:ea typeface="+mn-ea"/>
                <a:cs typeface="+mn-cs"/>
              </a:rPr>
              <a:t>) { </a:t>
            </a:r>
            <a:r>
              <a:rPr lang="es-ES" sz="1600" b="0" i="1" kern="1200" dirty="0">
                <a:solidFill>
                  <a:schemeClr val="tx1"/>
                </a:solidFill>
                <a:effectLst/>
                <a:latin typeface="+mn-lt"/>
                <a:ea typeface="+mn-ea"/>
                <a:cs typeface="+mn-cs"/>
              </a:rPr>
              <a:t>// Outputs: "</a:t>
            </a:r>
            <a:r>
              <a:rPr lang="es-ES" sz="1600" b="0" i="1" kern="1200" dirty="0" err="1">
                <a:solidFill>
                  <a:schemeClr val="tx1"/>
                </a:solidFill>
                <a:effectLst/>
                <a:latin typeface="+mn-lt"/>
                <a:ea typeface="+mn-ea"/>
                <a:cs typeface="+mn-cs"/>
              </a:rPr>
              <a:t>foo</a:t>
            </a:r>
            <a:r>
              <a:rPr lang="es-ES" sz="1600" b="0" i="1" kern="1200" dirty="0">
                <a:solidFill>
                  <a:schemeClr val="tx1"/>
                </a:solidFill>
                <a:effectLst/>
                <a:latin typeface="+mn-lt"/>
                <a:ea typeface="+mn-ea"/>
                <a:cs typeface="+mn-cs"/>
              </a:rPr>
              <a:t>"</a:t>
            </a:r>
            <a:r>
              <a:rPr lang="es-ES" sz="1600" b="0" i="0" kern="1200" dirty="0">
                <a:solidFill>
                  <a:schemeClr val="tx1"/>
                </a:solidFill>
                <a:effectLst/>
                <a:latin typeface="+mn-lt"/>
                <a:ea typeface="+mn-ea"/>
                <a:cs typeface="+mn-cs"/>
              </a:rPr>
              <a:t> console.log(</a:t>
            </a:r>
            <a:r>
              <a:rPr lang="es-ES" sz="1600" b="0" i="0" kern="1200" dirty="0" err="1">
                <a:solidFill>
                  <a:schemeClr val="tx1"/>
                </a:solidFill>
                <a:effectLst/>
                <a:latin typeface="+mn-lt"/>
                <a:ea typeface="+mn-ea"/>
                <a:cs typeface="+mn-cs"/>
              </a:rPr>
              <a:t>innerFoo</a:t>
            </a:r>
            <a:r>
              <a:rPr lang="es-ES" sz="1600" b="0" i="0" kern="1200" dirty="0">
                <a:solidFill>
                  <a:schemeClr val="tx1"/>
                </a:solidFill>
                <a:effectLst/>
                <a:latin typeface="+mn-lt"/>
                <a:ea typeface="+mn-ea"/>
                <a:cs typeface="+mn-cs"/>
              </a:rPr>
              <a:t>); })(</a:t>
            </a:r>
            <a:r>
              <a:rPr lang="es-ES" sz="1600" b="0" i="0" kern="1200" dirty="0" err="1">
                <a:solidFill>
                  <a:schemeClr val="tx1"/>
                </a:solidFill>
                <a:effectLst/>
                <a:latin typeface="+mn-lt"/>
                <a:ea typeface="+mn-ea"/>
                <a:cs typeface="+mn-cs"/>
              </a:rPr>
              <a:t>foo</a:t>
            </a:r>
            <a:r>
              <a:rPr lang="es-ES" sz="1600" b="0" i="0" kern="1200" dirty="0">
                <a:solidFill>
                  <a:schemeClr val="tx1"/>
                </a:solidFill>
                <a:effectLst/>
                <a:latin typeface="+mn-lt"/>
                <a:ea typeface="+mn-ea"/>
                <a:cs typeface="+mn-cs"/>
              </a:rPr>
              <a:t>);</a:t>
            </a:r>
            <a:endParaRPr lang="es-ES" dirty="0"/>
          </a:p>
        </p:txBody>
      </p:sp>
      <p:sp>
        <p:nvSpPr>
          <p:cNvPr id="4" name="Marcador de pie de página 3"/>
          <p:cNvSpPr>
            <a:spLocks noGrp="1"/>
          </p:cNvSpPr>
          <p:nvPr>
            <p:ph type="ftr" sz="quarter" idx="10"/>
          </p:nvPr>
        </p:nvSpPr>
        <p:spPr/>
        <p:txBody>
          <a:bodyPr/>
          <a:lstStyle/>
          <a:p>
            <a:r>
              <a:rPr lang="en-US" sz="1000"/>
              <a:t>© Software University Foundation – </a:t>
            </a:r>
            <a:r>
              <a:rPr lang="en-US" sz="1000" u="sng">
                <a:hlinkClick r:id="rId3"/>
              </a:rPr>
              <a:t>http://softuni.org</a:t>
            </a:r>
            <a:endParaRPr lang="en-US" sz="1000"/>
          </a:p>
          <a:p>
            <a:r>
              <a:rPr lang="en-US" sz="1000"/>
              <a:t>This work is licensed under the </a:t>
            </a:r>
            <a:r>
              <a:rPr lang="en-US" sz="1000" u="sng" noProof="1">
                <a:hlinkClick r:id="rId4"/>
              </a:rPr>
              <a:t>Creative Commons Attribution-NonCommercial-ShareAlike</a:t>
            </a:r>
            <a:r>
              <a:rPr lang="en-US" sz="1000" noProof="1"/>
              <a:t> </a:t>
            </a:r>
            <a:r>
              <a:rPr lang="en-US" sz="1000"/>
              <a:t>license.</a:t>
            </a:r>
            <a:endParaRPr lang="en-US" sz="1000" dirty="0"/>
          </a:p>
        </p:txBody>
      </p:sp>
      <p:sp>
        <p:nvSpPr>
          <p:cNvPr id="5" name="Marcador de número de diapositiva 4"/>
          <p:cNvSpPr>
            <a:spLocks noGrp="1"/>
          </p:cNvSpPr>
          <p:nvPr>
            <p:ph type="sldNum" sz="quarter" idx="11"/>
          </p:nvPr>
        </p:nvSpPr>
        <p:spPr/>
        <p:txBody>
          <a:bodyPr/>
          <a:lstStyle/>
          <a:p>
            <a:fld id="{3EBA5BD7-F043-4D1B-AA17-CD412FC534DE}" type="slidenum">
              <a:rPr lang="en-US" smtClean="0"/>
              <a:pPr/>
              <a:t>26</a:t>
            </a:fld>
            <a:endParaRPr lang="en-US" dirty="0"/>
          </a:p>
        </p:txBody>
      </p:sp>
    </p:spTree>
    <p:extLst>
      <p:ext uri="{BB962C8B-B14F-4D97-AF65-F5344CB8AC3E}">
        <p14:creationId xmlns:p14="http://schemas.microsoft.com/office/powerpoint/2010/main" val="5284590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lang="en-US" sz="1600" dirty="0"/>
              <a:t>GitHub pull request #7140</a:t>
            </a:r>
          </a:p>
          <a:p>
            <a:endParaRPr lang="es-ES" dirty="0"/>
          </a:p>
        </p:txBody>
      </p:sp>
      <p:sp>
        <p:nvSpPr>
          <p:cNvPr id="4" name="Marcador de pie de página 3"/>
          <p:cNvSpPr>
            <a:spLocks noGrp="1"/>
          </p:cNvSpPr>
          <p:nvPr>
            <p:ph type="ftr" sz="quarter" idx="10"/>
          </p:nvPr>
        </p:nvSpPr>
        <p:spPr/>
        <p:txBody>
          <a:bodyPr/>
          <a:lstStyle/>
          <a:p>
            <a:r>
              <a:rPr lang="en-US" sz="1000"/>
              <a:t>© Software University Foundation – </a:t>
            </a:r>
            <a:r>
              <a:rPr lang="en-US" sz="1000" u="sng">
                <a:hlinkClick r:id="rId3"/>
              </a:rPr>
              <a:t>http://softuni.org</a:t>
            </a:r>
            <a:endParaRPr lang="en-US" sz="1000"/>
          </a:p>
          <a:p>
            <a:r>
              <a:rPr lang="en-US" sz="1000"/>
              <a:t>This work is licensed under the </a:t>
            </a:r>
            <a:r>
              <a:rPr lang="en-US" sz="1000" u="sng" noProof="1">
                <a:hlinkClick r:id="rId4"/>
              </a:rPr>
              <a:t>Creative Commons Attribution-NonCommercial-ShareAlike</a:t>
            </a:r>
            <a:r>
              <a:rPr lang="en-US" sz="1000" noProof="1"/>
              <a:t> </a:t>
            </a:r>
            <a:r>
              <a:rPr lang="en-US" sz="1000"/>
              <a:t>license.</a:t>
            </a:r>
            <a:endParaRPr lang="en-US" sz="1000" dirty="0"/>
          </a:p>
        </p:txBody>
      </p:sp>
      <p:sp>
        <p:nvSpPr>
          <p:cNvPr id="5" name="Marcador de número de diapositiva 4"/>
          <p:cNvSpPr>
            <a:spLocks noGrp="1"/>
          </p:cNvSpPr>
          <p:nvPr>
            <p:ph type="sldNum" sz="quarter" idx="11"/>
          </p:nvPr>
        </p:nvSpPr>
        <p:spPr/>
        <p:txBody>
          <a:bodyPr/>
          <a:lstStyle/>
          <a:p>
            <a:fld id="{3EBA5BD7-F043-4D1B-AA17-CD412FC534DE}" type="slidenum">
              <a:rPr lang="en-US" smtClean="0"/>
              <a:pPr/>
              <a:t>47</a:t>
            </a:fld>
            <a:endParaRPr lang="en-US" dirty="0"/>
          </a:p>
        </p:txBody>
      </p:sp>
    </p:spTree>
    <p:extLst>
      <p:ext uri="{BB962C8B-B14F-4D97-AF65-F5344CB8AC3E}">
        <p14:creationId xmlns:p14="http://schemas.microsoft.com/office/powerpoint/2010/main" val="29077657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pie de página 3"/>
          <p:cNvSpPr>
            <a:spLocks noGrp="1"/>
          </p:cNvSpPr>
          <p:nvPr>
            <p:ph type="ftr" sz="quarter" idx="10"/>
          </p:nvPr>
        </p:nvSpPr>
        <p:spPr/>
        <p:txBody>
          <a:bodyPr/>
          <a:lstStyle/>
          <a:p>
            <a:r>
              <a:rPr lang="en-US" sz="1000"/>
              <a:t>© Software University Foundation – </a:t>
            </a:r>
            <a:r>
              <a:rPr lang="en-US" sz="1000" u="sng">
                <a:hlinkClick r:id="rId3"/>
              </a:rPr>
              <a:t>http://softuni.org</a:t>
            </a:r>
            <a:endParaRPr lang="en-US" sz="1000"/>
          </a:p>
          <a:p>
            <a:r>
              <a:rPr lang="en-US" sz="1000"/>
              <a:t>This work is licensed under the </a:t>
            </a:r>
            <a:r>
              <a:rPr lang="en-US" sz="1000" u="sng" noProof="1">
                <a:hlinkClick r:id="rId4"/>
              </a:rPr>
              <a:t>Creative Commons Attribution-NonCommercial-ShareAlike</a:t>
            </a:r>
            <a:r>
              <a:rPr lang="en-US" sz="1000" noProof="1"/>
              <a:t> </a:t>
            </a:r>
            <a:r>
              <a:rPr lang="en-US" sz="1000"/>
              <a:t>license.</a:t>
            </a:r>
            <a:endParaRPr lang="en-US" sz="1000" dirty="0"/>
          </a:p>
        </p:txBody>
      </p:sp>
      <p:sp>
        <p:nvSpPr>
          <p:cNvPr id="5" name="Marcador de número de diapositiva 4"/>
          <p:cNvSpPr>
            <a:spLocks noGrp="1"/>
          </p:cNvSpPr>
          <p:nvPr>
            <p:ph type="sldNum" sz="quarter" idx="11"/>
          </p:nvPr>
        </p:nvSpPr>
        <p:spPr/>
        <p:txBody>
          <a:bodyPr/>
          <a:lstStyle/>
          <a:p>
            <a:fld id="{3EBA5BD7-F043-4D1B-AA17-CD412FC534DE}" type="slidenum">
              <a:rPr lang="en-US" smtClean="0"/>
              <a:pPr/>
              <a:t>61</a:t>
            </a:fld>
            <a:endParaRPr lang="en-US" dirty="0"/>
          </a:p>
        </p:txBody>
      </p:sp>
    </p:spTree>
    <p:extLst>
      <p:ext uri="{BB962C8B-B14F-4D97-AF65-F5344CB8AC3E}">
        <p14:creationId xmlns:p14="http://schemas.microsoft.com/office/powerpoint/2010/main" val="20777160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lang="en-US" dirty="0"/>
              <a:t>In the following screen shot, a programming tool combines information from overloading on string parameters with contextual typing to infer that the type of the variable 'e' is '</a:t>
            </a:r>
            <a:r>
              <a:rPr lang="en-US" dirty="0" err="1"/>
              <a:t>MouseEvent</a:t>
            </a:r>
            <a:r>
              <a:rPr lang="en-US" dirty="0"/>
              <a:t>' and that therefore 'e' has a '</a:t>
            </a:r>
            <a:r>
              <a:rPr lang="en-US" dirty="0" err="1"/>
              <a:t>clientX</a:t>
            </a:r>
            <a:r>
              <a:rPr lang="en-US" dirty="0"/>
              <a:t>' property. </a:t>
            </a:r>
            <a:endParaRPr lang="es-ES" dirty="0"/>
          </a:p>
          <a:p>
            <a:endParaRPr lang="es-ES" dirty="0"/>
          </a:p>
        </p:txBody>
      </p:sp>
      <p:sp>
        <p:nvSpPr>
          <p:cNvPr id="4" name="Marcador de pie de página 3"/>
          <p:cNvSpPr>
            <a:spLocks noGrp="1"/>
          </p:cNvSpPr>
          <p:nvPr>
            <p:ph type="ftr" sz="quarter" idx="4"/>
          </p:nvPr>
        </p:nvSpPr>
        <p:spPr/>
        <p:txBody>
          <a:bodyPr/>
          <a:lstStyle/>
          <a:p>
            <a:r>
              <a:rPr lang="en-US" sz="1000"/>
              <a:t>© Software University Foundation – </a:t>
            </a:r>
            <a:r>
              <a:rPr lang="en-US" sz="1000" u="sng">
                <a:hlinkClick r:id="rId3"/>
              </a:rPr>
              <a:t>http://softuni.org</a:t>
            </a:r>
            <a:endParaRPr lang="en-US" sz="1000"/>
          </a:p>
          <a:p>
            <a:r>
              <a:rPr lang="en-US" sz="1000"/>
              <a:t>This work is licensed under the </a:t>
            </a:r>
            <a:r>
              <a:rPr lang="en-US" sz="1000" u="sng" noProof="1">
                <a:hlinkClick r:id="rId4"/>
              </a:rPr>
              <a:t>Creative Commons Attribution-NonCommercial-ShareAlike</a:t>
            </a:r>
            <a:r>
              <a:rPr lang="en-US" sz="1000" noProof="1"/>
              <a:t> </a:t>
            </a:r>
            <a:r>
              <a:rPr lang="en-US" sz="1000"/>
              <a:t>license.</a:t>
            </a:r>
            <a:endParaRPr lang="en-US" sz="1000" dirty="0"/>
          </a:p>
        </p:txBody>
      </p:sp>
      <p:sp>
        <p:nvSpPr>
          <p:cNvPr id="5" name="Marcador de número de diapositiva 4"/>
          <p:cNvSpPr>
            <a:spLocks noGrp="1"/>
          </p:cNvSpPr>
          <p:nvPr>
            <p:ph type="sldNum" sz="quarter" idx="5"/>
          </p:nvPr>
        </p:nvSpPr>
        <p:spPr/>
        <p:txBody>
          <a:bodyPr/>
          <a:lstStyle/>
          <a:p>
            <a:fld id="{3EBA5BD7-F043-4D1B-AA17-CD412FC534DE}" type="slidenum">
              <a:rPr lang="en-US" smtClean="0"/>
              <a:pPr/>
              <a:t>87</a:t>
            </a:fld>
            <a:endParaRPr lang="en-US" dirty="0"/>
          </a:p>
        </p:txBody>
      </p:sp>
    </p:spTree>
    <p:extLst>
      <p:ext uri="{BB962C8B-B14F-4D97-AF65-F5344CB8AC3E}">
        <p14:creationId xmlns:p14="http://schemas.microsoft.com/office/powerpoint/2010/main" val="14286006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a:t>
            </a:r>
          </a:p>
        </p:txBody>
      </p:sp>
      <p:sp>
        <p:nvSpPr>
          <p:cNvPr id="4" name="Marcador de pie de página 3"/>
          <p:cNvSpPr>
            <a:spLocks noGrp="1"/>
          </p:cNvSpPr>
          <p:nvPr>
            <p:ph type="ftr" sz="quarter" idx="4"/>
          </p:nvPr>
        </p:nvSpPr>
        <p:spPr/>
        <p:txBody>
          <a:bodyPr/>
          <a:lstStyle/>
          <a:p>
            <a:r>
              <a:rPr lang="en-US" sz="1000"/>
              <a:t>© Software University Foundation – </a:t>
            </a:r>
            <a:r>
              <a:rPr lang="en-US" sz="1000" u="sng">
                <a:hlinkClick r:id="rId3"/>
              </a:rPr>
              <a:t>http://softuni.org</a:t>
            </a:r>
            <a:endParaRPr lang="en-US" sz="1000"/>
          </a:p>
          <a:p>
            <a:r>
              <a:rPr lang="en-US" sz="1000"/>
              <a:t>This work is licensed under the </a:t>
            </a:r>
            <a:r>
              <a:rPr lang="en-US" sz="1000" u="sng" noProof="1">
                <a:hlinkClick r:id="rId4"/>
              </a:rPr>
              <a:t>Creative Commons Attribution-NonCommercial-ShareAlike</a:t>
            </a:r>
            <a:r>
              <a:rPr lang="en-US" sz="1000" noProof="1"/>
              <a:t> </a:t>
            </a:r>
            <a:r>
              <a:rPr lang="en-US" sz="1000"/>
              <a:t>license.</a:t>
            </a:r>
            <a:endParaRPr lang="en-US" sz="1000" dirty="0"/>
          </a:p>
        </p:txBody>
      </p:sp>
      <p:sp>
        <p:nvSpPr>
          <p:cNvPr id="5" name="Marcador de número de diapositiva 4"/>
          <p:cNvSpPr>
            <a:spLocks noGrp="1"/>
          </p:cNvSpPr>
          <p:nvPr>
            <p:ph type="sldNum" sz="quarter" idx="5"/>
          </p:nvPr>
        </p:nvSpPr>
        <p:spPr/>
        <p:txBody>
          <a:bodyPr/>
          <a:lstStyle/>
          <a:p>
            <a:fld id="{3EBA5BD7-F043-4D1B-AA17-CD412FC534DE}" type="slidenum">
              <a:rPr lang="en-US" smtClean="0"/>
              <a:pPr/>
              <a:t>100</a:t>
            </a:fld>
            <a:endParaRPr lang="en-US" dirty="0"/>
          </a:p>
        </p:txBody>
      </p:sp>
    </p:spTree>
    <p:extLst>
      <p:ext uri="{BB962C8B-B14F-4D97-AF65-F5344CB8AC3E}">
        <p14:creationId xmlns:p14="http://schemas.microsoft.com/office/powerpoint/2010/main" val="11601480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10"/>
          </p:nvPr>
        </p:nvSpPr>
        <p:spPr/>
        <p:txBody>
          <a:bodyPr/>
          <a:lstStyle/>
          <a:p>
            <a:r>
              <a:rPr lang="en-US" sz="1000"/>
              <a:t>© Software University Foundation – </a:t>
            </a:r>
            <a:r>
              <a:rPr lang="en-US" sz="1000" u="sng">
                <a:hlinkClick r:id="rId3"/>
              </a:rPr>
              <a:t>http://softuni.org</a:t>
            </a:r>
            <a:endParaRPr lang="en-US" sz="1000"/>
          </a:p>
          <a:p>
            <a:r>
              <a:rPr lang="en-US" sz="1000"/>
              <a:t>This work is licensed under the </a:t>
            </a:r>
            <a:r>
              <a:rPr lang="en-US" sz="1000" u="sng" noProof="1">
                <a:hlinkClick r:id="rId4"/>
              </a:rPr>
              <a:t>Creative Commons Attribution-NonCommercial-ShareAlike</a:t>
            </a:r>
            <a:r>
              <a:rPr lang="en-US" sz="1000" noProof="1"/>
              <a:t> </a:t>
            </a:r>
            <a:r>
              <a:rPr lang="en-US" sz="1000"/>
              <a:t>license.</a:t>
            </a:r>
            <a:endParaRPr lang="en-US" sz="1000" dirty="0"/>
          </a:p>
        </p:txBody>
      </p:sp>
      <p:sp>
        <p:nvSpPr>
          <p:cNvPr id="5" name="Slide Number Placeholder 4"/>
          <p:cNvSpPr>
            <a:spLocks noGrp="1"/>
          </p:cNvSpPr>
          <p:nvPr>
            <p:ph type="sldNum" sz="quarter" idx="11"/>
          </p:nvPr>
        </p:nvSpPr>
        <p:spPr/>
        <p:txBody>
          <a:bodyPr/>
          <a:lstStyle/>
          <a:p>
            <a:fld id="{3EBA5BD7-F043-4D1B-AA17-CD412FC534DE}" type="slidenum">
              <a:rPr lang="en-US" smtClean="0"/>
              <a:pPr/>
              <a:t>111</a:t>
            </a:fld>
            <a:endParaRPr lang="en-US" dirty="0"/>
          </a:p>
        </p:txBody>
      </p:sp>
    </p:spTree>
    <p:extLst>
      <p:ext uri="{BB962C8B-B14F-4D97-AF65-F5344CB8AC3E}">
        <p14:creationId xmlns:p14="http://schemas.microsoft.com/office/powerpoint/2010/main" val="54240802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8" Type="http://schemas.openxmlformats.org/officeDocument/2006/relationships/hyperlink" Target="http://www.youtube.com/SoftwareUniversity" TargetMode="External"/><Relationship Id="rId3" Type="http://schemas.openxmlformats.org/officeDocument/2006/relationships/hyperlink" Target="http://softuni.org/" TargetMode="External"/><Relationship Id="rId7" Type="http://schemas.openxmlformats.org/officeDocument/2006/relationships/hyperlink" Target="https://twitter.com/softunibg" TargetMode="External"/><Relationship Id="rId2" Type="http://schemas.openxmlformats.org/officeDocument/2006/relationships/hyperlink" Target="http://softuni.bg/" TargetMode="External"/><Relationship Id="rId1" Type="http://schemas.openxmlformats.org/officeDocument/2006/relationships/slideMaster" Target="../slideMasters/slideMaster1.xml"/><Relationship Id="rId6" Type="http://schemas.openxmlformats.org/officeDocument/2006/relationships/hyperlink" Target="https://www.facebook.com/SoftwareUniversity" TargetMode="External"/><Relationship Id="rId5" Type="http://schemas.openxmlformats.org/officeDocument/2006/relationships/hyperlink" Target="http://judge.softuni.bg/" TargetMode="External"/><Relationship Id="rId4" Type="http://schemas.openxmlformats.org/officeDocument/2006/relationships/hyperlink" Target="http://www.nakov.com/" TargetMode="External"/><Relationship Id="rId9" Type="http://schemas.openxmlformats.org/officeDocument/2006/relationships/hyperlink" Target="http://www.introprogramming.info/"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Carátula limpia">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06901E58-A1D8-A10A-D9D8-CE1515AF66D5}"/>
              </a:ext>
            </a:extLst>
          </p:cNvPr>
          <p:cNvSpPr/>
          <p:nvPr/>
        </p:nvSpPr>
        <p:spPr>
          <a:xfrm>
            <a:off x="5158485" y="1"/>
            <a:ext cx="7030341" cy="6858000"/>
          </a:xfrm>
          <a:prstGeom prst="rect">
            <a:avLst/>
          </a:prstGeom>
          <a:solidFill>
            <a:srgbClr val="1B1D39"/>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oAutofit/>
          </a:bodyPr>
          <a:lstStyle/>
          <a:p>
            <a:pPr marL="0" marR="0" indent="0" algn="ctr" defTabSz="1218834" rtl="0" fontAlgn="auto" latinLnBrk="0" hangingPunct="0">
              <a:lnSpc>
                <a:spcPct val="100000"/>
              </a:lnSpc>
              <a:spcBef>
                <a:spcPts val="0"/>
              </a:spcBef>
              <a:spcAft>
                <a:spcPts val="0"/>
              </a:spcAft>
              <a:buClrTx/>
              <a:buSzTx/>
              <a:buFontTx/>
              <a:buNone/>
              <a:tabLst/>
            </a:pPr>
            <a:endParaRPr kumimoji="0" lang="es-ES" sz="1799" b="0" i="0" u="none" strike="noStrike" cap="none" spc="0" normalizeH="0" baseline="0" dirty="0">
              <a:ln>
                <a:noFill/>
              </a:ln>
              <a:solidFill>
                <a:srgbClr val="000000"/>
              </a:solidFill>
              <a:effectLst/>
              <a:uFillTx/>
              <a:latin typeface="+mn-lt"/>
              <a:ea typeface="+mn-ea"/>
              <a:cs typeface="+mn-cs"/>
              <a:sym typeface="Arial"/>
            </a:endParaRPr>
          </a:p>
        </p:txBody>
      </p:sp>
      <p:sp>
        <p:nvSpPr>
          <p:cNvPr id="2" name="Title 1"/>
          <p:cNvSpPr>
            <a:spLocks noGrp="1"/>
          </p:cNvSpPr>
          <p:nvPr>
            <p:ph type="ctrTitle"/>
          </p:nvPr>
        </p:nvSpPr>
        <p:spPr>
          <a:xfrm>
            <a:off x="6111927" y="2003899"/>
            <a:ext cx="5759538" cy="2879387"/>
          </a:xfrm>
        </p:spPr>
        <p:txBody>
          <a:bodyPr anchor="ctr" anchorCtr="1">
            <a:noAutofit/>
          </a:bodyPr>
          <a:lstStyle>
            <a:lvl1pPr algn="ctr">
              <a:defRPr sz="3999">
                <a:solidFill>
                  <a:schemeClr val="bg1"/>
                </a:solidFill>
              </a:defRPr>
            </a:lvl1pPr>
          </a:lstStyle>
          <a:p>
            <a:r>
              <a:rPr lang="es-ES"/>
              <a:t>Haga clic para modificar el estilo de título del patrón</a:t>
            </a:r>
            <a:endParaRPr lang="en-US" dirty="0"/>
          </a:p>
        </p:txBody>
      </p:sp>
      <p:pic>
        <p:nvPicPr>
          <p:cNvPr id="8" name="techie.png" descr="techie.png">
            <a:extLst>
              <a:ext uri="{FF2B5EF4-FFF2-40B4-BE49-F238E27FC236}">
                <a16:creationId xmlns:a16="http://schemas.microsoft.com/office/drawing/2014/main" id="{1153B63E-98A5-BBEE-9C6B-1057BEDC76E0}"/>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rot="8100000">
            <a:off x="4306441" y="2849298"/>
            <a:ext cx="1336200" cy="1336548"/>
          </a:xfrm>
          <a:prstGeom prst="rect">
            <a:avLst/>
          </a:prstGeom>
          <a:ln w="12700">
            <a:miter lim="400000"/>
          </a:ln>
        </p:spPr>
      </p:pic>
      <p:pic>
        <p:nvPicPr>
          <p:cNvPr id="11" name="LOGO-FINAL.png" descr="LOGO-FINAL.png">
            <a:extLst>
              <a:ext uri="{FF2B5EF4-FFF2-40B4-BE49-F238E27FC236}">
                <a16:creationId xmlns:a16="http://schemas.microsoft.com/office/drawing/2014/main" id="{40C008DC-BE4A-D4B5-81FB-D8FC4CA2A7F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317362" y="3037100"/>
            <a:ext cx="3933202" cy="783803"/>
          </a:xfrm>
          <a:prstGeom prst="rect">
            <a:avLst/>
          </a:prstGeom>
          <a:ln w="12700">
            <a:miter lim="400000"/>
          </a:ln>
        </p:spPr>
      </p:pic>
    </p:spTree>
    <p:extLst>
      <p:ext uri="{BB962C8B-B14F-4D97-AF65-F5344CB8AC3E}">
        <p14:creationId xmlns:p14="http://schemas.microsoft.com/office/powerpoint/2010/main" val="1167051350"/>
      </p:ext>
    </p:extLst>
  </p:cSld>
  <p:clrMapOvr>
    <a:masterClrMapping/>
  </p:clrMapOvr>
  <p:extLst>
    <p:ext uri="{DCECCB84-F9BA-43D5-87BE-67443E8EF086}">
      <p15:sldGuideLst xmlns:p15="http://schemas.microsoft.com/office/powerpoint/2012/main">
        <p15:guide id="1" orient="horz" pos="4320">
          <p15:clr>
            <a:srgbClr val="FBAE40"/>
          </p15:clr>
        </p15:guide>
        <p15:guide id="2" pos="768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arátula con imagen">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06901E58-A1D8-A10A-D9D8-CE1515AF66D5}"/>
              </a:ext>
            </a:extLst>
          </p:cNvPr>
          <p:cNvSpPr/>
          <p:nvPr/>
        </p:nvSpPr>
        <p:spPr>
          <a:xfrm>
            <a:off x="5158485" y="-8466"/>
            <a:ext cx="7030341" cy="6858000"/>
          </a:xfrm>
          <a:prstGeom prst="rect">
            <a:avLst/>
          </a:prstGeom>
          <a:solidFill>
            <a:srgbClr val="1B1D39"/>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oAutofit/>
          </a:bodyPr>
          <a:lstStyle/>
          <a:p>
            <a:pPr marL="0" marR="0" indent="0" algn="l" defTabSz="1218834" rtl="0" fontAlgn="auto" latinLnBrk="0" hangingPunct="0">
              <a:lnSpc>
                <a:spcPct val="100000"/>
              </a:lnSpc>
              <a:spcBef>
                <a:spcPts val="0"/>
              </a:spcBef>
              <a:spcAft>
                <a:spcPts val="0"/>
              </a:spcAft>
              <a:buClrTx/>
              <a:buSzTx/>
              <a:buFontTx/>
              <a:buNone/>
              <a:tabLst/>
            </a:pPr>
            <a:endParaRPr kumimoji="0" lang="es-ES" sz="1799" b="0" i="0" u="none" strike="noStrike" cap="none" spc="0" normalizeH="0" baseline="0" dirty="0">
              <a:ln>
                <a:noFill/>
              </a:ln>
              <a:solidFill>
                <a:srgbClr val="000000"/>
              </a:solidFill>
              <a:effectLst/>
              <a:uFillTx/>
              <a:latin typeface="+mn-lt"/>
              <a:ea typeface="+mn-ea"/>
              <a:cs typeface="+mn-cs"/>
              <a:sym typeface="Arial"/>
            </a:endParaRPr>
          </a:p>
        </p:txBody>
      </p:sp>
      <p:sp>
        <p:nvSpPr>
          <p:cNvPr id="2" name="Title 1"/>
          <p:cNvSpPr>
            <a:spLocks noGrp="1"/>
          </p:cNvSpPr>
          <p:nvPr>
            <p:ph type="ctrTitle"/>
          </p:nvPr>
        </p:nvSpPr>
        <p:spPr>
          <a:xfrm>
            <a:off x="6111927" y="2003899"/>
            <a:ext cx="5759538" cy="2879387"/>
          </a:xfrm>
        </p:spPr>
        <p:txBody>
          <a:bodyPr anchor="ctr" anchorCtr="1">
            <a:noAutofit/>
          </a:bodyPr>
          <a:lstStyle>
            <a:lvl1pPr algn="ctr">
              <a:defRPr sz="3999">
                <a:solidFill>
                  <a:schemeClr val="bg1"/>
                </a:solidFill>
              </a:defRPr>
            </a:lvl1pPr>
          </a:lstStyle>
          <a:p>
            <a:r>
              <a:rPr lang="es-ES"/>
              <a:t>Haga clic para modificar el estilo de título del patrón</a:t>
            </a:r>
            <a:endParaRPr lang="en-US" dirty="0"/>
          </a:p>
        </p:txBody>
      </p:sp>
      <p:pic>
        <p:nvPicPr>
          <p:cNvPr id="8" name="techie.png" descr="techie.png">
            <a:extLst>
              <a:ext uri="{FF2B5EF4-FFF2-40B4-BE49-F238E27FC236}">
                <a16:creationId xmlns:a16="http://schemas.microsoft.com/office/drawing/2014/main" id="{1153B63E-98A5-BBEE-9C6B-1057BEDC76E0}"/>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rot="8100000">
            <a:off x="4306441" y="2849298"/>
            <a:ext cx="1336200" cy="1336548"/>
          </a:xfrm>
          <a:prstGeom prst="rect">
            <a:avLst/>
          </a:prstGeom>
          <a:ln w="12700">
            <a:miter lim="400000"/>
          </a:ln>
        </p:spPr>
      </p:pic>
      <p:pic>
        <p:nvPicPr>
          <p:cNvPr id="5" name="Imagen 4" descr="Dibujo en blanco y negro&#10;&#10;Descripción generada automáticamente con confianza baja">
            <a:extLst>
              <a:ext uri="{FF2B5EF4-FFF2-40B4-BE49-F238E27FC236}">
                <a16:creationId xmlns:a16="http://schemas.microsoft.com/office/drawing/2014/main" id="{64B3FB7A-0102-D659-3C30-C1C4C3659A51}"/>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762983" y="5840440"/>
            <a:ext cx="2457425" cy="469081"/>
          </a:xfrm>
          <a:prstGeom prst="rect">
            <a:avLst/>
          </a:prstGeom>
        </p:spPr>
      </p:pic>
      <p:pic>
        <p:nvPicPr>
          <p:cNvPr id="6" name="Imagen 5" descr="Dibujo en blanco y negro&#10;&#10;Descripción generada automáticamente con confianza baja">
            <a:extLst>
              <a:ext uri="{FF2B5EF4-FFF2-40B4-BE49-F238E27FC236}">
                <a16:creationId xmlns:a16="http://schemas.microsoft.com/office/drawing/2014/main" id="{E0D610C9-30BB-C209-BCCA-3BCE95C72D7E}"/>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7762983" y="5840440"/>
            <a:ext cx="2457425" cy="469081"/>
          </a:xfrm>
          <a:prstGeom prst="rect">
            <a:avLst/>
          </a:prstGeom>
        </p:spPr>
      </p:pic>
    </p:spTree>
    <p:extLst>
      <p:ext uri="{BB962C8B-B14F-4D97-AF65-F5344CB8AC3E}">
        <p14:creationId xmlns:p14="http://schemas.microsoft.com/office/powerpoint/2010/main" val="1795098521"/>
      </p:ext>
    </p:extLst>
  </p:cSld>
  <p:clrMapOvr>
    <a:masterClrMapping/>
  </p:clrMapOvr>
  <p:extLst>
    <p:ext uri="{DCECCB84-F9BA-43D5-87BE-67443E8EF086}">
      <p15:sldGuideLst xmlns:p15="http://schemas.microsoft.com/office/powerpoint/2012/main">
        <p15:guide id="1" orient="horz" pos="4320">
          <p15:clr>
            <a:srgbClr val="FBAE40"/>
          </p15:clr>
        </p15:guide>
        <p15:guide id="2" pos="768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eparador">
    <p:bg>
      <p:bgPr>
        <a:solidFill>
          <a:srgbClr val="1C1E3B"/>
        </a:solidFill>
        <a:effectLst/>
      </p:bgPr>
    </p:bg>
    <p:spTree>
      <p:nvGrpSpPr>
        <p:cNvPr id="1" name=""/>
        <p:cNvGrpSpPr/>
        <p:nvPr/>
      </p:nvGrpSpPr>
      <p:grpSpPr>
        <a:xfrm>
          <a:off x="0" y="0"/>
          <a:ext cx="0" cy="0"/>
          <a:chOff x="0" y="0"/>
          <a:chExt cx="0" cy="0"/>
        </a:xfrm>
      </p:grpSpPr>
      <p:pic>
        <p:nvPicPr>
          <p:cNvPr id="7" name="Imagen 6" descr="Dibujo en blanco y negro&#10;&#10;Descripción generada automáticamente con confianza baja">
            <a:extLst>
              <a:ext uri="{FF2B5EF4-FFF2-40B4-BE49-F238E27FC236}">
                <a16:creationId xmlns:a16="http://schemas.microsoft.com/office/drawing/2014/main" id="{AE9D3631-5A5C-021D-E659-1D384017DBB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487468" y="6329921"/>
            <a:ext cx="1345323" cy="256799"/>
          </a:xfrm>
          <a:prstGeom prst="rect">
            <a:avLst/>
          </a:prstGeom>
        </p:spPr>
      </p:pic>
      <p:sp>
        <p:nvSpPr>
          <p:cNvPr id="4" name="Google Shape;48;p8">
            <a:extLst>
              <a:ext uri="{FF2B5EF4-FFF2-40B4-BE49-F238E27FC236}">
                <a16:creationId xmlns:a16="http://schemas.microsoft.com/office/drawing/2014/main" id="{3F57A50C-DED0-9A4A-F7C8-CD569FF06F43}"/>
              </a:ext>
            </a:extLst>
          </p:cNvPr>
          <p:cNvSpPr/>
          <p:nvPr/>
        </p:nvSpPr>
        <p:spPr>
          <a:xfrm>
            <a:off x="950719" y="-69"/>
            <a:ext cx="10287322" cy="6858006"/>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3599" y="0"/>
                </a:lnTo>
                <a:lnTo>
                  <a:pt x="21600" y="0"/>
                </a:lnTo>
                <a:lnTo>
                  <a:pt x="18001" y="21600"/>
                </a:lnTo>
                <a:close/>
              </a:path>
            </a:pathLst>
          </a:custGeom>
          <a:solidFill>
            <a:srgbClr val="FFFFFF"/>
          </a:solidFill>
          <a:ln w="12700">
            <a:miter lim="400000"/>
          </a:ln>
        </p:spPr>
        <p:txBody>
          <a:bodyPr lIns="0" tIns="0" rIns="0" bIns="0" anchor="ctr"/>
          <a:lstStyle/>
          <a:p>
            <a:pPr algn="ctr"/>
            <a:endParaRPr sz="1799" dirty="0"/>
          </a:p>
        </p:txBody>
      </p:sp>
      <p:pic>
        <p:nvPicPr>
          <p:cNvPr id="5" name="techie.png" descr="techie.png">
            <a:extLst>
              <a:ext uri="{FF2B5EF4-FFF2-40B4-BE49-F238E27FC236}">
                <a16:creationId xmlns:a16="http://schemas.microsoft.com/office/drawing/2014/main" id="{4B8A62A0-CE43-5FE0-5996-117855E87805}"/>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907818" y="775699"/>
            <a:ext cx="1180194" cy="1180501"/>
          </a:xfrm>
          <a:prstGeom prst="rect">
            <a:avLst/>
          </a:prstGeom>
          <a:ln w="12700">
            <a:miter lim="400000"/>
          </a:ln>
        </p:spPr>
      </p:pic>
      <p:pic>
        <p:nvPicPr>
          <p:cNvPr id="6" name="techie.png" descr="techie.png">
            <a:extLst>
              <a:ext uri="{FF2B5EF4-FFF2-40B4-BE49-F238E27FC236}">
                <a16:creationId xmlns:a16="http://schemas.microsoft.com/office/drawing/2014/main" id="{F34A3DA2-C704-C58B-4D16-8D97BC00AABB}"/>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rot="10800000">
            <a:off x="9102611" y="4975166"/>
            <a:ext cx="1180194" cy="1180501"/>
          </a:xfrm>
          <a:prstGeom prst="rect">
            <a:avLst/>
          </a:prstGeom>
          <a:ln w="12700">
            <a:miter lim="400000"/>
          </a:ln>
        </p:spPr>
      </p:pic>
      <p:sp>
        <p:nvSpPr>
          <p:cNvPr id="2" name="Título 1">
            <a:extLst>
              <a:ext uri="{FF2B5EF4-FFF2-40B4-BE49-F238E27FC236}">
                <a16:creationId xmlns:a16="http://schemas.microsoft.com/office/drawing/2014/main" id="{DF3F2153-8EA8-5CEA-0F22-9F81F24795A9}"/>
              </a:ext>
            </a:extLst>
          </p:cNvPr>
          <p:cNvSpPr>
            <a:spLocks noGrp="1"/>
          </p:cNvSpPr>
          <p:nvPr>
            <p:ph type="title"/>
          </p:nvPr>
        </p:nvSpPr>
        <p:spPr>
          <a:xfrm>
            <a:off x="2359931" y="1268413"/>
            <a:ext cx="7444903" cy="1349282"/>
          </a:xfrm>
        </p:spPr>
        <p:txBody>
          <a:bodyPr anchor="ctr" anchorCtr="1">
            <a:normAutofit/>
          </a:bodyPr>
          <a:lstStyle>
            <a:lvl1pPr algn="ctr">
              <a:defRPr sz="3299"/>
            </a:lvl1pPr>
          </a:lstStyle>
          <a:p>
            <a:r>
              <a:rPr lang="es-ES"/>
              <a:t>Haga clic para modificar el estilo de título del patrón</a:t>
            </a:r>
            <a:endParaRPr lang="es-ES" dirty="0"/>
          </a:p>
        </p:txBody>
      </p:sp>
    </p:spTree>
    <p:extLst>
      <p:ext uri="{BB962C8B-B14F-4D97-AF65-F5344CB8AC3E}">
        <p14:creationId xmlns:p14="http://schemas.microsoft.com/office/powerpoint/2010/main" val="41197993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ítulo y objetos">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3F21244-DF76-B9A4-1238-3157FB6751F3}"/>
              </a:ext>
            </a:extLst>
          </p:cNvPr>
          <p:cNvSpPr>
            <a:spLocks noGrp="1"/>
          </p:cNvSpPr>
          <p:nvPr>
            <p:ph type="title"/>
          </p:nvPr>
        </p:nvSpPr>
        <p:spPr>
          <a:xfrm>
            <a:off x="608012" y="457201"/>
            <a:ext cx="11201400" cy="533400"/>
          </a:xfrm>
          <a:prstGeom prst="rect">
            <a:avLst/>
          </a:prstGeom>
        </p:spPr>
        <p:txBody>
          <a:bodyPr/>
          <a:lstStyle/>
          <a:p>
            <a:r>
              <a:rPr lang="es-ES" dirty="0"/>
              <a:t>Haga clic para modificar el estilo de título del patrón</a:t>
            </a:r>
            <a:endParaRPr lang="en-US" dirty="0"/>
          </a:p>
        </p:txBody>
      </p:sp>
      <p:sp>
        <p:nvSpPr>
          <p:cNvPr id="5" name="Content Placeholder 2">
            <a:extLst>
              <a:ext uri="{FF2B5EF4-FFF2-40B4-BE49-F238E27FC236}">
                <a16:creationId xmlns:a16="http://schemas.microsoft.com/office/drawing/2014/main" id="{386D7AF6-E8C0-B5DD-B9A1-3CA8783711BC}"/>
              </a:ext>
            </a:extLst>
          </p:cNvPr>
          <p:cNvSpPr>
            <a:spLocks noGrp="1"/>
          </p:cNvSpPr>
          <p:nvPr>
            <p:ph idx="1"/>
          </p:nvPr>
        </p:nvSpPr>
        <p:spPr>
          <a:xfrm>
            <a:off x="608012" y="1066800"/>
            <a:ext cx="11201400" cy="5448300"/>
          </a:xfrm>
        </p:spPr>
        <p:txBody>
          <a:bodyPr/>
          <a:lstStyle>
            <a:lvl1pPr>
              <a:buFont typeface="Arial" panose="020B0604020202020204" pitchFamily="34" charset="0"/>
              <a:buChar char="•"/>
              <a:defRPr sz="2399">
                <a:solidFill>
                  <a:schemeClr val="accent2">
                    <a:lumMod val="75000"/>
                  </a:schemeClr>
                </a:solidFill>
              </a:defRPr>
            </a:lvl1pPr>
            <a:lvl2pPr>
              <a:buFont typeface="Arial" panose="020B0604020202020204" pitchFamily="34" charset="0"/>
              <a:buChar char="•"/>
              <a:defRPr sz="1999">
                <a:solidFill>
                  <a:schemeClr val="accent2">
                    <a:lumMod val="75000"/>
                  </a:schemeClr>
                </a:solidFill>
              </a:defRPr>
            </a:lvl2pPr>
            <a:lvl3pPr>
              <a:buFont typeface="Arial" panose="020B0604020202020204" pitchFamily="34" charset="0"/>
              <a:buChar char="•"/>
              <a:defRPr sz="1799">
                <a:solidFill>
                  <a:schemeClr val="accent2">
                    <a:lumMod val="75000"/>
                  </a:schemeClr>
                </a:solidFill>
              </a:defRPr>
            </a:lvl3pPr>
            <a:lvl4pPr>
              <a:buFont typeface="Arial" panose="020B0604020202020204" pitchFamily="34" charset="0"/>
              <a:buChar char="•"/>
              <a:defRPr sz="1600">
                <a:solidFill>
                  <a:schemeClr val="accent2">
                    <a:lumMod val="75000"/>
                  </a:schemeClr>
                </a:solidFill>
              </a:defRPr>
            </a:lvl4pPr>
            <a:lvl5pPr>
              <a:buFont typeface="Arial" panose="020B0604020202020204" pitchFamily="34" charset="0"/>
              <a:buChar char="•"/>
              <a:defRPr sz="1400">
                <a:solidFill>
                  <a:schemeClr val="accent2">
                    <a:lumMod val="75000"/>
                  </a:schemeClr>
                </a:solidFill>
              </a:defRPr>
            </a:lvl5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Tree>
    <p:extLst>
      <p:ext uri="{BB962C8B-B14F-4D97-AF65-F5344CB8AC3E}">
        <p14:creationId xmlns:p14="http://schemas.microsoft.com/office/powerpoint/2010/main" val="23214616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a:xfrm>
            <a:off x="837980" y="580571"/>
            <a:ext cx="10512863" cy="564862"/>
          </a:xfrm>
          <a:prstGeom prst="rect">
            <a:avLst/>
          </a:prstGeo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837982" y="1350336"/>
            <a:ext cx="5180251" cy="5126666"/>
          </a:xfrm>
        </p:spPr>
        <p:txBody>
          <a:bodyPr>
            <a:normAutofit/>
          </a:bodyPr>
          <a:lstStyle>
            <a:lvl1pPr>
              <a:buFont typeface="Arial" panose="020B0604020202020204" pitchFamily="34" charset="0"/>
              <a:buChar char="•"/>
              <a:defRPr sz="2099"/>
            </a:lvl1pPr>
            <a:lvl2pPr>
              <a:buFont typeface="Arial" panose="020B0604020202020204" pitchFamily="34" charset="0"/>
              <a:buChar char="•"/>
              <a:defRPr sz="1799"/>
            </a:lvl2pPr>
            <a:lvl3pPr>
              <a:buFont typeface="Arial" panose="020B0604020202020204" pitchFamily="34" charset="0"/>
              <a:buChar char="•"/>
              <a:defRPr sz="1600"/>
            </a:lvl3pPr>
            <a:lvl4pPr>
              <a:buFont typeface="Arial" panose="020B0604020202020204" pitchFamily="34" charset="0"/>
              <a:buChar char="•"/>
              <a:defRPr sz="1400"/>
            </a:lvl4pPr>
            <a:lvl5pPr>
              <a:buFont typeface="Arial" panose="020B0604020202020204" pitchFamily="34" charset="0"/>
              <a:buChar char="•"/>
              <a:defRPr sz="1400"/>
            </a:lvl5pPr>
          </a:lstStyle>
          <a:p>
            <a:pPr lvl="0"/>
            <a:r>
              <a:rPr lang="es-ES" dirty="0"/>
              <a:t>Editar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4" name="Content Placeholder 3"/>
          <p:cNvSpPr>
            <a:spLocks noGrp="1"/>
          </p:cNvSpPr>
          <p:nvPr>
            <p:ph sz="half" idx="2"/>
          </p:nvPr>
        </p:nvSpPr>
        <p:spPr>
          <a:xfrm>
            <a:off x="6170592" y="1350338"/>
            <a:ext cx="5180251" cy="5126663"/>
          </a:xfrm>
        </p:spPr>
        <p:txBody>
          <a:bodyPr>
            <a:normAutofit/>
          </a:bodyPr>
          <a:lstStyle>
            <a:lvl1pPr>
              <a:buFont typeface="Arial" panose="020B0604020202020204" pitchFamily="34" charset="0"/>
              <a:buChar char="•"/>
              <a:defRPr sz="2099"/>
            </a:lvl1pPr>
            <a:lvl2pPr>
              <a:buFont typeface="Arial" panose="020B0604020202020204" pitchFamily="34" charset="0"/>
              <a:buChar char="•"/>
              <a:defRPr sz="1799"/>
            </a:lvl2pPr>
            <a:lvl3pPr>
              <a:buFont typeface="Arial" panose="020B0604020202020204" pitchFamily="34" charset="0"/>
              <a:buChar char="•"/>
              <a:defRPr sz="1600"/>
            </a:lvl3pPr>
            <a:lvl4pPr>
              <a:buFont typeface="Arial" panose="020B0604020202020204" pitchFamily="34" charset="0"/>
              <a:buChar char="•"/>
              <a:defRPr sz="1400"/>
            </a:lvl4pPr>
            <a:lvl5pPr>
              <a:buFont typeface="Arial" panose="020B0604020202020204" pitchFamily="34" charset="0"/>
              <a:buChar char="•"/>
              <a:defRPr sz="1400"/>
            </a:lvl5pPr>
          </a:lstStyle>
          <a:p>
            <a:pPr lvl="0"/>
            <a:r>
              <a:rPr lang="es-ES" dirty="0"/>
              <a:t>Editar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Tree>
    <p:extLst>
      <p:ext uri="{BB962C8B-B14F-4D97-AF65-F5344CB8AC3E}">
        <p14:creationId xmlns:p14="http://schemas.microsoft.com/office/powerpoint/2010/main" val="21021432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581673" y="427561"/>
            <a:ext cx="9682136" cy="615027"/>
          </a:xfrm>
          <a:prstGeom prst="rect">
            <a:avLst/>
          </a:prstGeom>
        </p:spPr>
        <p:txBody>
          <a:bodyPr/>
          <a:lstStyle/>
          <a:p>
            <a:r>
              <a:rPr lang="es-ES" dirty="0"/>
              <a:t>Haga clic para modificar el estilo de título del patrón</a:t>
            </a:r>
            <a:endParaRPr lang="en-US" dirty="0"/>
          </a:p>
        </p:txBody>
      </p:sp>
    </p:spTree>
    <p:extLst>
      <p:ext uri="{BB962C8B-B14F-4D97-AF65-F5344CB8AC3E}">
        <p14:creationId xmlns:p14="http://schemas.microsoft.com/office/powerpoint/2010/main" val="5106717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27035717"/>
      </p:ext>
    </p:extLst>
  </p:cSld>
  <p:clrMapOvr>
    <a:masterClrMapping/>
  </p:clrMapOvr>
  <p:transition spd="med">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1_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962833" y="4406902"/>
            <a:ext cx="10360501" cy="1362075"/>
          </a:xfrm>
          <a:prstGeom prst="rect">
            <a:avLst/>
          </a:prstGeom>
        </p:spPr>
        <p:txBody>
          <a:bodyPr/>
          <a:lstStyle>
            <a:lvl1pPr algn="l">
              <a:defRPr sz="3999" b="1" cap="all"/>
            </a:lvl1pPr>
          </a:lstStyle>
          <a:p>
            <a:r>
              <a:rPr lang="es-ES" dirty="0"/>
              <a:t>Haga clic para modificar el estilo de título del patrón</a:t>
            </a:r>
            <a:endParaRPr lang="es-MX" dirty="0"/>
          </a:p>
        </p:txBody>
      </p:sp>
      <p:sp>
        <p:nvSpPr>
          <p:cNvPr id="3" name="2 Marcador de texto"/>
          <p:cNvSpPr>
            <a:spLocks noGrp="1"/>
          </p:cNvSpPr>
          <p:nvPr>
            <p:ph type="body" idx="1"/>
          </p:nvPr>
        </p:nvSpPr>
        <p:spPr>
          <a:xfrm>
            <a:off x="962833" y="2906713"/>
            <a:ext cx="10360501" cy="1500187"/>
          </a:xfrm>
          <a:prstGeom prst="rect">
            <a:avLst/>
          </a:prstGeom>
        </p:spPr>
        <p:txBody>
          <a:bodyPr anchor="b"/>
          <a:lstStyle>
            <a:lvl1pPr marL="0" indent="0">
              <a:buNone/>
              <a:defRPr sz="1999"/>
            </a:lvl1pPr>
            <a:lvl2pPr marL="457063" indent="0">
              <a:buNone/>
              <a:defRPr sz="1799"/>
            </a:lvl2pPr>
            <a:lvl3pPr marL="914126" indent="0">
              <a:buNone/>
              <a:defRPr sz="1600"/>
            </a:lvl3pPr>
            <a:lvl4pPr marL="1371189" indent="0">
              <a:buNone/>
              <a:defRPr sz="1400"/>
            </a:lvl4pPr>
            <a:lvl5pPr marL="1828251" indent="0">
              <a:buNone/>
              <a:defRPr sz="1400"/>
            </a:lvl5pPr>
            <a:lvl6pPr marL="2285314" indent="0">
              <a:buNone/>
              <a:defRPr sz="1400"/>
            </a:lvl6pPr>
            <a:lvl7pPr marL="2742377" indent="0">
              <a:buNone/>
              <a:defRPr sz="1400"/>
            </a:lvl7pPr>
            <a:lvl8pPr marL="3199440" indent="0">
              <a:buNone/>
              <a:defRPr sz="1400"/>
            </a:lvl8pPr>
            <a:lvl9pPr marL="3656503" indent="0">
              <a:buNone/>
              <a:defRPr sz="1400"/>
            </a:lvl9pPr>
          </a:lstStyle>
          <a:p>
            <a:pPr lvl="0"/>
            <a:r>
              <a:rPr lang="es-ES"/>
              <a:t>Haga clic para modificar el estilo de texto del patrón</a:t>
            </a:r>
          </a:p>
        </p:txBody>
      </p:sp>
    </p:spTree>
    <p:extLst>
      <p:ext uri="{BB962C8B-B14F-4D97-AF65-F5344CB8AC3E}">
        <p14:creationId xmlns:p14="http://schemas.microsoft.com/office/powerpoint/2010/main" val="2490218462"/>
      </p:ext>
    </p:extLst>
  </p:cSld>
  <p:clrMapOvr>
    <a:masterClrMapping/>
  </p:clrMapOvr>
  <p:transition spd="med">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Quote slide">
    <p:spTree>
      <p:nvGrpSpPr>
        <p:cNvPr id="1" name=""/>
        <p:cNvGrpSpPr/>
        <p:nvPr/>
      </p:nvGrpSpPr>
      <p:grpSpPr>
        <a:xfrm>
          <a:off x="0" y="0"/>
          <a:ext cx="0" cy="0"/>
          <a:chOff x="0" y="0"/>
          <a:chExt cx="0" cy="0"/>
        </a:xfrm>
      </p:grpSpPr>
      <p:sp>
        <p:nvSpPr>
          <p:cNvPr id="5" name="Title 4"/>
          <p:cNvSpPr>
            <a:spLocks noGrp="1"/>
          </p:cNvSpPr>
          <p:nvPr>
            <p:ph type="title"/>
          </p:nvPr>
        </p:nvSpPr>
        <p:spPr>
          <a:xfrm>
            <a:off x="1079503" y="2906011"/>
            <a:ext cx="10032135" cy="899665"/>
          </a:xfrm>
        </p:spPr>
        <p:txBody>
          <a:bodyPr anchor="ctr" anchorCtr="0"/>
          <a:lstStyle>
            <a:lvl1pPr algn="l">
              <a:defRPr>
                <a:gradFill>
                  <a:gsLst>
                    <a:gs pos="1250">
                      <a:schemeClr val="tx1"/>
                    </a:gs>
                    <a:gs pos="100000">
                      <a:schemeClr val="tx1"/>
                    </a:gs>
                  </a:gsLst>
                  <a:lin ang="5400000" scaled="0"/>
                </a:gradFill>
              </a:defRPr>
            </a:lvl1pPr>
          </a:lstStyle>
          <a:p>
            <a:r>
              <a:rPr lang="en-US"/>
              <a:t>Click to edit Master title style</a:t>
            </a:r>
            <a:endParaRPr lang="en-US" dirty="0"/>
          </a:p>
        </p:txBody>
      </p:sp>
    </p:spTree>
    <p:extLst>
      <p:ext uri="{BB962C8B-B14F-4D97-AF65-F5344CB8AC3E}">
        <p14:creationId xmlns:p14="http://schemas.microsoft.com/office/powerpoint/2010/main" val="1339723495"/>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Title and Content">
    <p:bg>
      <p:bgPr>
        <a:solidFill>
          <a:schemeClr val="bg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F3F27389-A7CC-1304-EF71-3B91B89DFB89}"/>
              </a:ext>
            </a:extLst>
          </p:cNvPr>
          <p:cNvSpPr>
            <a:spLocks noGrp="1"/>
          </p:cNvSpPr>
          <p:nvPr>
            <p:ph type="title"/>
          </p:nvPr>
        </p:nvSpPr>
        <p:spPr>
          <a:xfrm>
            <a:off x="608012" y="457201"/>
            <a:ext cx="11201400" cy="533400"/>
          </a:xfrm>
          <a:prstGeom prst="rect">
            <a:avLst/>
          </a:prstGeom>
        </p:spPr>
        <p:txBody>
          <a:bodyPr/>
          <a:lstStyle/>
          <a:p>
            <a:r>
              <a:rPr lang="es-ES" dirty="0"/>
              <a:t>Haga clic para modificar el estilo de título del patrón</a:t>
            </a:r>
            <a:endParaRPr lang="en-US" dirty="0"/>
          </a:p>
        </p:txBody>
      </p:sp>
      <p:sp>
        <p:nvSpPr>
          <p:cNvPr id="8" name="Content Placeholder 2">
            <a:extLst>
              <a:ext uri="{FF2B5EF4-FFF2-40B4-BE49-F238E27FC236}">
                <a16:creationId xmlns:a16="http://schemas.microsoft.com/office/drawing/2014/main" id="{8D60D937-7964-4C3B-9DAB-5E03BD7453DA}"/>
              </a:ext>
            </a:extLst>
          </p:cNvPr>
          <p:cNvSpPr>
            <a:spLocks noGrp="1"/>
          </p:cNvSpPr>
          <p:nvPr>
            <p:ph idx="1"/>
          </p:nvPr>
        </p:nvSpPr>
        <p:spPr>
          <a:xfrm>
            <a:off x="608012" y="1066800"/>
            <a:ext cx="11201400" cy="5448300"/>
          </a:xfrm>
        </p:spPr>
        <p:txBody>
          <a:bodyPr/>
          <a:lstStyle>
            <a:lvl1pPr>
              <a:buFont typeface="Arial" panose="020B0604020202020204" pitchFamily="34" charset="0"/>
              <a:buChar char="•"/>
              <a:defRPr sz="2399">
                <a:solidFill>
                  <a:schemeClr val="accent2">
                    <a:lumMod val="75000"/>
                  </a:schemeClr>
                </a:solidFill>
              </a:defRPr>
            </a:lvl1pPr>
            <a:lvl2pPr>
              <a:buFont typeface="Arial" panose="020B0604020202020204" pitchFamily="34" charset="0"/>
              <a:buChar char="•"/>
              <a:defRPr sz="1999">
                <a:solidFill>
                  <a:schemeClr val="accent2">
                    <a:lumMod val="75000"/>
                  </a:schemeClr>
                </a:solidFill>
              </a:defRPr>
            </a:lvl2pPr>
            <a:lvl3pPr>
              <a:buFont typeface="Arial" panose="020B0604020202020204" pitchFamily="34" charset="0"/>
              <a:buChar char="•"/>
              <a:defRPr sz="1799">
                <a:solidFill>
                  <a:schemeClr val="accent2">
                    <a:lumMod val="75000"/>
                  </a:schemeClr>
                </a:solidFill>
              </a:defRPr>
            </a:lvl3pPr>
            <a:lvl4pPr>
              <a:buFont typeface="Arial" panose="020B0604020202020204" pitchFamily="34" charset="0"/>
              <a:buChar char="•"/>
              <a:defRPr sz="1600">
                <a:solidFill>
                  <a:schemeClr val="accent2">
                    <a:lumMod val="75000"/>
                  </a:schemeClr>
                </a:solidFill>
              </a:defRPr>
            </a:lvl4pPr>
            <a:lvl5pPr>
              <a:buFont typeface="Arial" panose="020B0604020202020204" pitchFamily="34" charset="0"/>
              <a:buChar char="•"/>
              <a:defRPr sz="1400">
                <a:solidFill>
                  <a:schemeClr val="accent2">
                    <a:lumMod val="75000"/>
                  </a:schemeClr>
                </a:solidFill>
              </a:defRPr>
            </a:lvl5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Tree>
    <p:extLst>
      <p:ext uri="{BB962C8B-B14F-4D97-AF65-F5344CB8AC3E}">
        <p14:creationId xmlns:p14="http://schemas.microsoft.com/office/powerpoint/2010/main" val="14918863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itle &amp; 2-color Non-bulleted tex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92D5EC35-43E5-86A6-35B6-35E4F0EA8D4C}"/>
              </a:ext>
            </a:extLst>
          </p:cNvPr>
          <p:cNvSpPr>
            <a:spLocks noGrp="1"/>
          </p:cNvSpPr>
          <p:nvPr>
            <p:ph type="title"/>
          </p:nvPr>
        </p:nvSpPr>
        <p:spPr>
          <a:xfrm>
            <a:off x="608012" y="457201"/>
            <a:ext cx="11201400" cy="533400"/>
          </a:xfrm>
          <a:prstGeom prst="rect">
            <a:avLst/>
          </a:prstGeom>
        </p:spPr>
        <p:txBody>
          <a:bodyPr/>
          <a:lstStyle/>
          <a:p>
            <a:r>
              <a:rPr lang="es-ES" dirty="0"/>
              <a:t>Haga clic para modificar el estilo de título del patrón</a:t>
            </a:r>
            <a:endParaRPr lang="en-US" dirty="0"/>
          </a:p>
        </p:txBody>
      </p:sp>
      <p:sp>
        <p:nvSpPr>
          <p:cNvPr id="9" name="Content Placeholder 2">
            <a:extLst>
              <a:ext uri="{FF2B5EF4-FFF2-40B4-BE49-F238E27FC236}">
                <a16:creationId xmlns:a16="http://schemas.microsoft.com/office/drawing/2014/main" id="{F5A64D9A-F6D5-757F-17B4-89D05185BA22}"/>
              </a:ext>
            </a:extLst>
          </p:cNvPr>
          <p:cNvSpPr>
            <a:spLocks noGrp="1"/>
          </p:cNvSpPr>
          <p:nvPr>
            <p:ph idx="1"/>
          </p:nvPr>
        </p:nvSpPr>
        <p:spPr>
          <a:xfrm>
            <a:off x="608012" y="1066800"/>
            <a:ext cx="11201400" cy="5448300"/>
          </a:xfrm>
        </p:spPr>
        <p:txBody>
          <a:bodyPr/>
          <a:lstStyle>
            <a:lvl1pPr>
              <a:buFont typeface="Arial" panose="020B0604020202020204" pitchFamily="34" charset="0"/>
              <a:buChar char="•"/>
              <a:defRPr sz="2399">
                <a:solidFill>
                  <a:schemeClr val="accent2">
                    <a:lumMod val="75000"/>
                  </a:schemeClr>
                </a:solidFill>
              </a:defRPr>
            </a:lvl1pPr>
            <a:lvl2pPr>
              <a:buFont typeface="Arial" panose="020B0604020202020204" pitchFamily="34" charset="0"/>
              <a:buChar char="•"/>
              <a:defRPr sz="1999">
                <a:solidFill>
                  <a:schemeClr val="accent2">
                    <a:lumMod val="75000"/>
                  </a:schemeClr>
                </a:solidFill>
              </a:defRPr>
            </a:lvl2pPr>
            <a:lvl3pPr>
              <a:buFont typeface="Arial" panose="020B0604020202020204" pitchFamily="34" charset="0"/>
              <a:buChar char="•"/>
              <a:defRPr sz="1799">
                <a:solidFill>
                  <a:schemeClr val="accent2">
                    <a:lumMod val="75000"/>
                  </a:schemeClr>
                </a:solidFill>
              </a:defRPr>
            </a:lvl3pPr>
            <a:lvl4pPr>
              <a:buFont typeface="Arial" panose="020B0604020202020204" pitchFamily="34" charset="0"/>
              <a:buChar char="•"/>
              <a:defRPr sz="1600">
                <a:solidFill>
                  <a:schemeClr val="accent2">
                    <a:lumMod val="75000"/>
                  </a:schemeClr>
                </a:solidFill>
              </a:defRPr>
            </a:lvl4pPr>
            <a:lvl5pPr>
              <a:buFont typeface="Arial" panose="020B0604020202020204" pitchFamily="34" charset="0"/>
              <a:buChar char="•"/>
              <a:defRPr sz="1400">
                <a:solidFill>
                  <a:schemeClr val="accent2">
                    <a:lumMod val="75000"/>
                  </a:schemeClr>
                </a:solidFill>
              </a:defRPr>
            </a:lvl5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Tree>
    <p:extLst>
      <p:ext uri="{BB962C8B-B14F-4D97-AF65-F5344CB8AC3E}">
        <p14:creationId xmlns:p14="http://schemas.microsoft.com/office/powerpoint/2010/main" val="3645523973"/>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Developer Code Layout">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02929DC0-9C5D-911A-114F-50E549CC1BAC}"/>
              </a:ext>
            </a:extLst>
          </p:cNvPr>
          <p:cNvSpPr>
            <a:spLocks noGrp="1"/>
          </p:cNvSpPr>
          <p:nvPr>
            <p:ph type="title"/>
          </p:nvPr>
        </p:nvSpPr>
        <p:spPr>
          <a:xfrm>
            <a:off x="608012" y="457201"/>
            <a:ext cx="11201400" cy="533400"/>
          </a:xfrm>
          <a:prstGeom prst="rect">
            <a:avLst/>
          </a:prstGeom>
        </p:spPr>
        <p:txBody>
          <a:bodyPr/>
          <a:lstStyle/>
          <a:p>
            <a:r>
              <a:rPr lang="es-ES" dirty="0"/>
              <a:t>Haga clic para modificar el estilo de título del patrón</a:t>
            </a:r>
            <a:endParaRPr lang="en-US" dirty="0"/>
          </a:p>
        </p:txBody>
      </p:sp>
      <p:sp>
        <p:nvSpPr>
          <p:cNvPr id="10" name="Content Placeholder 2">
            <a:extLst>
              <a:ext uri="{FF2B5EF4-FFF2-40B4-BE49-F238E27FC236}">
                <a16:creationId xmlns:a16="http://schemas.microsoft.com/office/drawing/2014/main" id="{7DC5704D-2585-0B6F-3C96-6B9B1A70905D}"/>
              </a:ext>
            </a:extLst>
          </p:cNvPr>
          <p:cNvSpPr>
            <a:spLocks noGrp="1"/>
          </p:cNvSpPr>
          <p:nvPr>
            <p:ph idx="1"/>
          </p:nvPr>
        </p:nvSpPr>
        <p:spPr>
          <a:xfrm>
            <a:off x="608012" y="1066800"/>
            <a:ext cx="11201400" cy="5448300"/>
          </a:xfrm>
        </p:spPr>
        <p:txBody>
          <a:bodyPr/>
          <a:lstStyle>
            <a:lvl1pPr>
              <a:buFont typeface="Arial" panose="020B0604020202020204" pitchFamily="34" charset="0"/>
              <a:buChar char="•"/>
              <a:defRPr sz="2399">
                <a:solidFill>
                  <a:schemeClr val="accent2">
                    <a:lumMod val="75000"/>
                  </a:schemeClr>
                </a:solidFill>
              </a:defRPr>
            </a:lvl1pPr>
            <a:lvl2pPr>
              <a:buFont typeface="Arial" panose="020B0604020202020204" pitchFamily="34" charset="0"/>
              <a:buChar char="•"/>
              <a:defRPr sz="1999">
                <a:solidFill>
                  <a:schemeClr val="accent2">
                    <a:lumMod val="75000"/>
                  </a:schemeClr>
                </a:solidFill>
              </a:defRPr>
            </a:lvl2pPr>
            <a:lvl3pPr>
              <a:buFont typeface="Arial" panose="020B0604020202020204" pitchFamily="34" charset="0"/>
              <a:buChar char="•"/>
              <a:defRPr sz="1799">
                <a:solidFill>
                  <a:schemeClr val="accent2">
                    <a:lumMod val="75000"/>
                  </a:schemeClr>
                </a:solidFill>
              </a:defRPr>
            </a:lvl3pPr>
            <a:lvl4pPr>
              <a:buFont typeface="Arial" panose="020B0604020202020204" pitchFamily="34" charset="0"/>
              <a:buChar char="•"/>
              <a:defRPr sz="1600">
                <a:solidFill>
                  <a:schemeClr val="accent2">
                    <a:lumMod val="75000"/>
                  </a:schemeClr>
                </a:solidFill>
              </a:defRPr>
            </a:lvl4pPr>
            <a:lvl5pPr>
              <a:buFont typeface="Arial" panose="020B0604020202020204" pitchFamily="34" charset="0"/>
              <a:buChar char="•"/>
              <a:defRPr sz="1400">
                <a:solidFill>
                  <a:schemeClr val="accent2">
                    <a:lumMod val="75000"/>
                  </a:schemeClr>
                </a:solidFill>
              </a:defRPr>
            </a:lvl5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Tree>
    <p:extLst>
      <p:ext uri="{BB962C8B-B14F-4D97-AF65-F5344CB8AC3E}">
        <p14:creationId xmlns:p14="http://schemas.microsoft.com/office/powerpoint/2010/main" val="3584758757"/>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Questions Slide">
    <p:spTree>
      <p:nvGrpSpPr>
        <p:cNvPr id="1" name=""/>
        <p:cNvGrpSpPr/>
        <p:nvPr/>
      </p:nvGrpSpPr>
      <p:grpSpPr>
        <a:xfrm>
          <a:off x="0" y="0"/>
          <a:ext cx="0" cy="0"/>
          <a:chOff x="0" y="0"/>
          <a:chExt cx="0" cy="0"/>
        </a:xfrm>
      </p:grpSpPr>
      <p:sp>
        <p:nvSpPr>
          <p:cNvPr id="28" name="Rectangle 27"/>
          <p:cNvSpPr/>
          <p:nvPr userDrawn="1"/>
        </p:nvSpPr>
        <p:spPr>
          <a:xfrm rot="20967018">
            <a:off x="52437" y="3176455"/>
            <a:ext cx="7313295" cy="1261884"/>
          </a:xfrm>
          <a:prstGeom prst="rect">
            <a:avLst/>
          </a:prstGeom>
        </p:spPr>
        <p:txBody>
          <a:bodyPr wrap="none" lIns="0" tIns="0" rIns="0" bIns="0" anchor="ctr" anchorCtr="0">
            <a:noAutofit/>
            <a:scene3d>
              <a:camera prst="orthographicFront"/>
              <a:lightRig rig="soft" dir="t">
                <a:rot lat="0" lon="0" rev="10800000"/>
              </a:lightRig>
            </a:scene3d>
            <a:sp3d>
              <a:bevelT w="27940" h="12700"/>
              <a:contourClr>
                <a:srgbClr val="DDDDDD"/>
              </a:contourClr>
            </a:sp3d>
          </a:bodyPr>
          <a:lstStyle/>
          <a:p>
            <a:pPr marL="0" lvl="0" indent="0" algn="ctr" eaLnBrk="0" hangingPunct="0">
              <a:lnSpc>
                <a:spcPct val="100000"/>
              </a:lnSpc>
              <a:spcBef>
                <a:spcPts val="0"/>
              </a:spcBef>
              <a:spcAft>
                <a:spcPts val="0"/>
              </a:spcAft>
              <a:buClr>
                <a:schemeClr val="accent5">
                  <a:lumMod val="40000"/>
                  <a:lumOff val="60000"/>
                </a:schemeClr>
              </a:buClr>
              <a:buSzPct val="70000"/>
              <a:buFont typeface="Wingdings 2" pitchFamily="18" charset="2"/>
              <a:buNone/>
            </a:pPr>
            <a:r>
              <a:rPr lang="en-US" sz="10000" b="1" kern="1200" noProof="0" dirty="0">
                <a:solidFill>
                  <a:schemeClr val="tx1"/>
                </a:solidFill>
                <a:latin typeface="+mj-lt"/>
                <a:ea typeface="+mj-ea"/>
                <a:cs typeface="+mj-cs"/>
              </a:rPr>
              <a:t>Questions?</a:t>
            </a:r>
            <a:endParaRPr lang="en-US" sz="10000" b="1" spc="150" dirty="0">
              <a:ln w="11430"/>
              <a:solidFill>
                <a:schemeClr val="tx1"/>
              </a:solidFill>
              <a:effectLst>
                <a:outerShdw blurRad="25400" algn="tl" rotWithShape="0">
                  <a:srgbClr val="000000">
                    <a:alpha val="43000"/>
                  </a:srgbClr>
                </a:outerShdw>
              </a:effectLst>
              <a:latin typeface="+mn-lt"/>
            </a:endParaRPr>
          </a:p>
        </p:txBody>
      </p:sp>
      <p:sp>
        <p:nvSpPr>
          <p:cNvPr id="50" name="Title 1"/>
          <p:cNvSpPr>
            <a:spLocks noGrp="1"/>
          </p:cNvSpPr>
          <p:nvPr>
            <p:ph type="title" hasCustomPrompt="1"/>
          </p:nvPr>
        </p:nvSpPr>
        <p:spPr>
          <a:xfrm>
            <a:off x="531812" y="389934"/>
            <a:ext cx="11480176" cy="515677"/>
          </a:xfrm>
        </p:spPr>
        <p:txBody>
          <a:bodyPr/>
          <a:lstStyle>
            <a:lvl1pPr>
              <a:defRPr>
                <a:solidFill>
                  <a:schemeClr val="tx1"/>
                </a:solidFill>
                <a:effectLst/>
              </a:defRPr>
            </a:lvl1pPr>
          </a:lstStyle>
          <a:p>
            <a:r>
              <a:rPr lang="en-US" dirty="0"/>
              <a:t>Presentation Title</a:t>
            </a:r>
            <a:endParaRPr dirty="0"/>
          </a:p>
        </p:txBody>
      </p:sp>
      <p:sp>
        <p:nvSpPr>
          <p:cNvPr id="2" name="TextBox 1">
            <a:hlinkClick r:id="rId2" tooltip="Software University - Quality Education, Profession and Job for Software Engineers"/>
          </p:cNvPr>
          <p:cNvSpPr txBox="1"/>
          <p:nvPr userDrawn="1"/>
        </p:nvSpPr>
        <p:spPr>
          <a:xfrm rot="322982">
            <a:off x="9715386" y="1345611"/>
            <a:ext cx="1005403" cy="2215991"/>
          </a:xfrm>
          <a:prstGeom prst="rect">
            <a:avLst/>
          </a:prstGeom>
          <a:noFill/>
        </p:spPr>
        <p:txBody>
          <a:bodyPr wrap="none" rtlCol="0">
            <a:spAutoFit/>
          </a:bodyPr>
          <a:lstStyle/>
          <a:p>
            <a:r>
              <a:rPr lang="en-US" sz="13800" b="1" dirty="0">
                <a:solidFill>
                  <a:schemeClr val="accent1">
                    <a:lumMod val="60000"/>
                    <a:lumOff val="40000"/>
                  </a:schemeClr>
                </a:solidFill>
              </a:rPr>
              <a:t>?</a:t>
            </a:r>
          </a:p>
        </p:txBody>
      </p:sp>
      <p:sp>
        <p:nvSpPr>
          <p:cNvPr id="27" name="TextBox 26">
            <a:hlinkClick r:id="rId3" tooltip="Software University Foundaton"/>
          </p:cNvPr>
          <p:cNvSpPr txBox="1"/>
          <p:nvPr userDrawn="1"/>
        </p:nvSpPr>
        <p:spPr>
          <a:xfrm rot="20630519">
            <a:off x="7217234" y="3433262"/>
            <a:ext cx="1005403" cy="2215991"/>
          </a:xfrm>
          <a:prstGeom prst="rect">
            <a:avLst/>
          </a:prstGeom>
          <a:noFill/>
        </p:spPr>
        <p:txBody>
          <a:bodyPr wrap="none" rtlCol="0">
            <a:spAutoFit/>
          </a:bodyPr>
          <a:lstStyle/>
          <a:p>
            <a:r>
              <a:rPr lang="en-US" sz="13800" b="1" dirty="0">
                <a:solidFill>
                  <a:schemeClr val="tx1"/>
                </a:solidFill>
              </a:rPr>
              <a:t>?</a:t>
            </a:r>
          </a:p>
        </p:txBody>
      </p:sp>
      <p:sp>
        <p:nvSpPr>
          <p:cNvPr id="51" name="TextBox 50">
            <a:hlinkClick r:id="rId4" tooltip="Svetlin Nakov - Programming and Education for Developers"/>
          </p:cNvPr>
          <p:cNvSpPr txBox="1"/>
          <p:nvPr userDrawn="1"/>
        </p:nvSpPr>
        <p:spPr>
          <a:xfrm>
            <a:off x="11500162" y="4679637"/>
            <a:ext cx="660758" cy="1323439"/>
          </a:xfrm>
          <a:prstGeom prst="rect">
            <a:avLst/>
          </a:prstGeom>
          <a:noFill/>
        </p:spPr>
        <p:txBody>
          <a:bodyPr wrap="none" rtlCol="0">
            <a:spAutoFit/>
          </a:bodyPr>
          <a:lstStyle/>
          <a:p>
            <a:r>
              <a:rPr lang="en-US" sz="8000" dirty="0">
                <a:solidFill>
                  <a:srgbClr val="603A14"/>
                </a:solidFill>
              </a:rPr>
              <a:t>?</a:t>
            </a:r>
          </a:p>
        </p:txBody>
      </p:sp>
      <p:sp>
        <p:nvSpPr>
          <p:cNvPr id="53" name="TextBox 52">
            <a:hlinkClick r:id="rId5" tooltip="Software University - Online Judge System"/>
          </p:cNvPr>
          <p:cNvSpPr txBox="1"/>
          <p:nvPr userDrawn="1"/>
        </p:nvSpPr>
        <p:spPr>
          <a:xfrm rot="569019">
            <a:off x="8868261" y="3286383"/>
            <a:ext cx="867545" cy="1862048"/>
          </a:xfrm>
          <a:prstGeom prst="rect">
            <a:avLst/>
          </a:prstGeom>
          <a:noFill/>
        </p:spPr>
        <p:txBody>
          <a:bodyPr wrap="none" rtlCol="0">
            <a:spAutoFit/>
          </a:bodyPr>
          <a:lstStyle/>
          <a:p>
            <a:r>
              <a:rPr lang="en-US" sz="11500" b="1" dirty="0">
                <a:solidFill>
                  <a:schemeClr val="tx2">
                    <a:lumMod val="40000"/>
                    <a:lumOff val="60000"/>
                  </a:schemeClr>
                </a:solidFill>
              </a:rPr>
              <a:t>?</a:t>
            </a:r>
          </a:p>
        </p:txBody>
      </p:sp>
      <p:sp>
        <p:nvSpPr>
          <p:cNvPr id="54" name="TextBox 53">
            <a:hlinkClick r:id="rId6" tooltip="Software University @ Facebook"/>
          </p:cNvPr>
          <p:cNvSpPr txBox="1"/>
          <p:nvPr userDrawn="1"/>
        </p:nvSpPr>
        <p:spPr>
          <a:xfrm rot="219682">
            <a:off x="6625767" y="1467518"/>
            <a:ext cx="1170513" cy="2646878"/>
          </a:xfrm>
          <a:prstGeom prst="rect">
            <a:avLst/>
          </a:prstGeom>
          <a:noFill/>
        </p:spPr>
        <p:txBody>
          <a:bodyPr wrap="none" rtlCol="0">
            <a:spAutoFit/>
          </a:bodyPr>
          <a:lstStyle/>
          <a:p>
            <a:r>
              <a:rPr lang="en-US" sz="16600" b="1" dirty="0">
                <a:solidFill>
                  <a:srgbClr val="603A14"/>
                </a:solidFill>
              </a:rPr>
              <a:t>?</a:t>
            </a:r>
          </a:p>
        </p:txBody>
      </p:sp>
      <p:sp>
        <p:nvSpPr>
          <p:cNvPr id="56" name="TextBox 55">
            <a:hlinkClick r:id="rId7" tooltip="Software University @ Twitter"/>
          </p:cNvPr>
          <p:cNvSpPr txBox="1"/>
          <p:nvPr userDrawn="1"/>
        </p:nvSpPr>
        <p:spPr>
          <a:xfrm rot="20972266">
            <a:off x="11534922" y="1751460"/>
            <a:ext cx="707245" cy="1446550"/>
          </a:xfrm>
          <a:prstGeom prst="rect">
            <a:avLst/>
          </a:prstGeom>
          <a:noFill/>
        </p:spPr>
        <p:txBody>
          <a:bodyPr wrap="none" rtlCol="0">
            <a:spAutoFit/>
          </a:bodyPr>
          <a:lstStyle/>
          <a:p>
            <a:r>
              <a:rPr lang="en-US" sz="8800" dirty="0">
                <a:solidFill>
                  <a:schemeClr val="accent6">
                    <a:lumMod val="75000"/>
                  </a:schemeClr>
                </a:solidFill>
              </a:rPr>
              <a:t>?</a:t>
            </a:r>
          </a:p>
        </p:txBody>
      </p:sp>
      <p:sp>
        <p:nvSpPr>
          <p:cNvPr id="57" name="TextBox 56">
            <a:hlinkClick r:id="rId8" tooltip="Software University @ YouTube - free training courses and video lessons for software engineers"/>
          </p:cNvPr>
          <p:cNvSpPr txBox="1"/>
          <p:nvPr userDrawn="1"/>
        </p:nvSpPr>
        <p:spPr>
          <a:xfrm rot="562174">
            <a:off x="11571817" y="2924711"/>
            <a:ext cx="660758" cy="1323439"/>
          </a:xfrm>
          <a:prstGeom prst="rect">
            <a:avLst/>
          </a:prstGeom>
          <a:noFill/>
        </p:spPr>
        <p:txBody>
          <a:bodyPr wrap="none" rtlCol="0">
            <a:spAutoFit/>
          </a:bodyPr>
          <a:lstStyle/>
          <a:p>
            <a:r>
              <a:rPr lang="en-US" sz="8000" dirty="0">
                <a:solidFill>
                  <a:schemeClr val="accent2">
                    <a:lumMod val="75000"/>
                  </a:schemeClr>
                </a:solidFill>
              </a:rPr>
              <a:t>?</a:t>
            </a:r>
          </a:p>
        </p:txBody>
      </p:sp>
      <p:sp>
        <p:nvSpPr>
          <p:cNvPr id="58" name="TextBox 57">
            <a:hlinkClick r:id="rId9" tooltip="Programming Fundamentals Book and Vide Lessons: Learn C#, Programming, Data Structures, Algorithms and Quality Coding"/>
          </p:cNvPr>
          <p:cNvSpPr txBox="1"/>
          <p:nvPr userDrawn="1"/>
        </p:nvSpPr>
        <p:spPr>
          <a:xfrm rot="571210">
            <a:off x="10917173" y="5056530"/>
            <a:ext cx="707245" cy="1446550"/>
          </a:xfrm>
          <a:prstGeom prst="rect">
            <a:avLst/>
          </a:prstGeom>
          <a:noFill/>
        </p:spPr>
        <p:txBody>
          <a:bodyPr wrap="none" rtlCol="0">
            <a:spAutoFit/>
          </a:bodyPr>
          <a:lstStyle/>
          <a:p>
            <a:r>
              <a:rPr lang="en-US" sz="8800" dirty="0">
                <a:solidFill>
                  <a:schemeClr val="accent5">
                    <a:lumMod val="75000"/>
                  </a:schemeClr>
                </a:solidFill>
              </a:rPr>
              <a:t>?</a:t>
            </a:r>
          </a:p>
        </p:txBody>
      </p:sp>
    </p:spTree>
    <p:extLst>
      <p:ext uri="{BB962C8B-B14F-4D97-AF65-F5344CB8AC3E}">
        <p14:creationId xmlns:p14="http://schemas.microsoft.com/office/powerpoint/2010/main" val="1301710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554619" y="1268412"/>
            <a:ext cx="11299332" cy="4860926"/>
          </a:xfrm>
          <a:prstGeom prst="rect">
            <a:avLst/>
          </a:prstGeom>
        </p:spPr>
        <p:txBody>
          <a:bodyPr vert="horz" lIns="91440" tIns="45720" rIns="91440" bIns="45720" rtlCol="0">
            <a:normAutofit/>
          </a:body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pic>
        <p:nvPicPr>
          <p:cNvPr id="9" name="LOGO-FINAL.png" descr="LOGO-FINAL.png">
            <a:extLst>
              <a:ext uri="{FF2B5EF4-FFF2-40B4-BE49-F238E27FC236}">
                <a16:creationId xmlns:a16="http://schemas.microsoft.com/office/drawing/2014/main" id="{FD1127DC-3633-9F91-EAC6-DF84F02D8D8F}"/>
              </a:ext>
            </a:extLst>
          </p:cNvPr>
          <p:cNvPicPr>
            <a:picLocks noChangeAspect="1"/>
          </p:cNvPicPr>
          <p:nvPr userDrawn="1"/>
        </p:nvPicPr>
        <p:blipFill>
          <a:blip r:embed="rId15" cstate="email">
            <a:extLst>
              <a:ext uri="{28A0092B-C50C-407E-A947-70E740481C1C}">
                <a14:useLocalDpi xmlns:a14="http://schemas.microsoft.com/office/drawing/2010/main"/>
              </a:ext>
            </a:extLst>
          </a:blip>
          <a:stretch>
            <a:fillRect/>
          </a:stretch>
        </p:blipFill>
        <p:spPr>
          <a:xfrm>
            <a:off x="10466564" y="6323743"/>
            <a:ext cx="1391279" cy="277252"/>
          </a:xfrm>
          <a:prstGeom prst="rect">
            <a:avLst/>
          </a:prstGeom>
          <a:ln w="12700">
            <a:miter lim="400000"/>
          </a:ln>
        </p:spPr>
      </p:pic>
      <p:pic>
        <p:nvPicPr>
          <p:cNvPr id="10" name="techie.png" descr="techie.png">
            <a:extLst>
              <a:ext uri="{FF2B5EF4-FFF2-40B4-BE49-F238E27FC236}">
                <a16:creationId xmlns:a16="http://schemas.microsoft.com/office/drawing/2014/main" id="{E9C3B265-6261-C31F-6626-0F2960C3D376}"/>
              </a:ext>
            </a:extLst>
          </p:cNvPr>
          <p:cNvPicPr>
            <a:picLocks noChangeAspect="1"/>
          </p:cNvPicPr>
          <p:nvPr userDrawn="1"/>
        </p:nvPicPr>
        <p:blipFill>
          <a:blip r:embed="rId16" cstate="email">
            <a:extLst>
              <a:ext uri="{28A0092B-C50C-407E-A947-70E740481C1C}">
                <a14:useLocalDpi xmlns:a14="http://schemas.microsoft.com/office/drawing/2010/main"/>
              </a:ext>
            </a:extLst>
          </a:blip>
          <a:stretch>
            <a:fillRect/>
          </a:stretch>
        </p:blipFill>
        <p:spPr>
          <a:xfrm>
            <a:off x="335670" y="206462"/>
            <a:ext cx="437900" cy="438014"/>
          </a:xfrm>
          <a:prstGeom prst="rect">
            <a:avLst/>
          </a:prstGeom>
          <a:ln w="12700">
            <a:miter lim="400000"/>
          </a:ln>
        </p:spPr>
      </p:pic>
      <p:sp>
        <p:nvSpPr>
          <p:cNvPr id="2" name="Title Placeholder 1"/>
          <p:cNvSpPr>
            <a:spLocks noGrp="1"/>
          </p:cNvSpPr>
          <p:nvPr>
            <p:ph type="title"/>
          </p:nvPr>
        </p:nvSpPr>
        <p:spPr>
          <a:xfrm>
            <a:off x="554619" y="381000"/>
            <a:ext cx="11298538" cy="762000"/>
          </a:xfrm>
          <a:prstGeom prst="rect">
            <a:avLst/>
          </a:prstGeom>
        </p:spPr>
        <p:txBody>
          <a:bodyPr vert="horz" lIns="91440" tIns="45720" rIns="91440" bIns="45720" rtlCol="0" anchor="ctr">
            <a:normAutofit/>
          </a:bodyPr>
          <a:lstStyle/>
          <a:p>
            <a:r>
              <a:rPr lang="es-ES" dirty="0"/>
              <a:t>Haga clic para modificar el estilo de título del patrón</a:t>
            </a:r>
            <a:endParaRPr lang="en-US" dirty="0"/>
          </a:p>
        </p:txBody>
      </p:sp>
    </p:spTree>
    <p:extLst>
      <p:ext uri="{BB962C8B-B14F-4D97-AF65-F5344CB8AC3E}">
        <p14:creationId xmlns:p14="http://schemas.microsoft.com/office/powerpoint/2010/main" val="3851514152"/>
      </p:ext>
    </p:extLst>
  </p:cSld>
  <p:clrMap bg1="lt1" tx1="dk1" bg2="lt2" tx2="dk2" accent1="accent1" accent2="accent2" accent3="accent3" accent4="accent4" accent5="accent5" accent6="accent6" hlink="hlink" folHlink="folHlink"/>
  <p:sldLayoutIdLst>
    <p:sldLayoutId id="2147483747" r:id="rId1"/>
    <p:sldLayoutId id="2147483748" r:id="rId2"/>
    <p:sldLayoutId id="2147483749" r:id="rId3"/>
    <p:sldLayoutId id="2147483771" r:id="rId4"/>
    <p:sldLayoutId id="2147483772" r:id="rId5"/>
    <p:sldLayoutId id="2147483773" r:id="rId6"/>
    <p:sldLayoutId id="2147483774" r:id="rId7"/>
    <p:sldLayoutId id="2147483775" r:id="rId8"/>
    <p:sldLayoutId id="2147483778" r:id="rId9"/>
    <p:sldLayoutId id="2147483779" r:id="rId10"/>
    <p:sldLayoutId id="2147483780" r:id="rId11"/>
    <p:sldLayoutId id="2147483781" r:id="rId12"/>
    <p:sldLayoutId id="2147483782" r:id="rId13"/>
  </p:sldLayoutIdLst>
  <p:hf hdr="0" ftr="0" dt="0"/>
  <p:txStyles>
    <p:titleStyle>
      <a:lvl1pPr algn="l" defTabSz="914126" rtl="0" eaLnBrk="1" latinLnBrk="0" hangingPunct="1">
        <a:lnSpc>
          <a:spcPct val="90000"/>
        </a:lnSpc>
        <a:spcBef>
          <a:spcPct val="0"/>
        </a:spcBef>
        <a:buNone/>
        <a:defRPr sz="3499" kern="1200">
          <a:solidFill>
            <a:schemeClr val="tx1"/>
          </a:solidFill>
          <a:latin typeface="+mj-lt"/>
          <a:ea typeface="+mj-ea"/>
          <a:cs typeface="+mj-cs"/>
        </a:defRPr>
      </a:lvl1pPr>
    </p:titleStyle>
    <p:bodyStyle>
      <a:lvl1pPr marL="228531" indent="-228531" algn="l" defTabSz="914126" rtl="0" eaLnBrk="1" latinLnBrk="0" hangingPunct="1">
        <a:lnSpc>
          <a:spcPct val="90000"/>
        </a:lnSpc>
        <a:spcBef>
          <a:spcPts val="1000"/>
        </a:spcBef>
        <a:buClr>
          <a:srgbClr val="F5C200"/>
        </a:buClr>
        <a:buFont typeface="Arial" panose="020B0604020202020204" pitchFamily="34" charset="0"/>
        <a:buChar char="•"/>
        <a:defRPr sz="2799" kern="1200">
          <a:solidFill>
            <a:srgbClr val="1C1E3B"/>
          </a:solidFill>
          <a:latin typeface="+mn-lt"/>
          <a:ea typeface="+mn-ea"/>
          <a:cs typeface="+mn-cs"/>
        </a:defRPr>
      </a:lvl1pPr>
      <a:lvl2pPr marL="685594" indent="-228531" algn="l" defTabSz="914126" rtl="0" eaLnBrk="1" latinLnBrk="0" hangingPunct="1">
        <a:lnSpc>
          <a:spcPct val="90000"/>
        </a:lnSpc>
        <a:spcBef>
          <a:spcPts val="500"/>
        </a:spcBef>
        <a:buClr>
          <a:srgbClr val="F5C200"/>
        </a:buClr>
        <a:buFont typeface="Arial" panose="020B0604020202020204" pitchFamily="34" charset="0"/>
        <a:buChar char="•"/>
        <a:defRPr sz="2399" kern="1200">
          <a:solidFill>
            <a:srgbClr val="1C1E3B"/>
          </a:solidFill>
          <a:latin typeface="Lexend Light" pitchFamily="2" charset="0"/>
          <a:ea typeface="+mn-ea"/>
          <a:cs typeface="+mn-cs"/>
        </a:defRPr>
      </a:lvl2pPr>
      <a:lvl3pPr marL="1142657" indent="-228531" algn="l" defTabSz="914126" rtl="0" eaLnBrk="1" latinLnBrk="0" hangingPunct="1">
        <a:lnSpc>
          <a:spcPct val="90000"/>
        </a:lnSpc>
        <a:spcBef>
          <a:spcPts val="500"/>
        </a:spcBef>
        <a:buClr>
          <a:srgbClr val="F5C200"/>
        </a:buClr>
        <a:buFont typeface="Arial" panose="020B0604020202020204" pitchFamily="34" charset="0"/>
        <a:buChar char="•"/>
        <a:defRPr sz="1999" kern="1200">
          <a:solidFill>
            <a:srgbClr val="1C1E3B"/>
          </a:solidFill>
          <a:latin typeface="Lexend Light" pitchFamily="2" charset="0"/>
          <a:ea typeface="+mn-ea"/>
          <a:cs typeface="+mn-cs"/>
        </a:defRPr>
      </a:lvl3pPr>
      <a:lvl4pPr marL="1599720" indent="-228531" algn="l" defTabSz="914126" rtl="0" eaLnBrk="1" latinLnBrk="0" hangingPunct="1">
        <a:lnSpc>
          <a:spcPct val="90000"/>
        </a:lnSpc>
        <a:spcBef>
          <a:spcPts val="500"/>
        </a:spcBef>
        <a:buClr>
          <a:srgbClr val="F5C200"/>
        </a:buClr>
        <a:buFont typeface="Arial" panose="020B0604020202020204" pitchFamily="34" charset="0"/>
        <a:buChar char="•"/>
        <a:defRPr sz="1799" kern="1200">
          <a:solidFill>
            <a:srgbClr val="1C1E3B"/>
          </a:solidFill>
          <a:latin typeface="Lexend Light" pitchFamily="2" charset="0"/>
          <a:ea typeface="+mn-ea"/>
          <a:cs typeface="+mn-cs"/>
        </a:defRPr>
      </a:lvl4pPr>
      <a:lvl5pPr marL="2056783" indent="-228531" algn="l" defTabSz="914126" rtl="0" eaLnBrk="1" latinLnBrk="0" hangingPunct="1">
        <a:lnSpc>
          <a:spcPct val="90000"/>
        </a:lnSpc>
        <a:spcBef>
          <a:spcPts val="500"/>
        </a:spcBef>
        <a:buClr>
          <a:srgbClr val="F5C200"/>
        </a:buClr>
        <a:buFont typeface="Arial" panose="020B0604020202020204" pitchFamily="34" charset="0"/>
        <a:buChar char="•"/>
        <a:defRPr sz="1799" kern="1200">
          <a:solidFill>
            <a:srgbClr val="1C1E3B"/>
          </a:solidFill>
          <a:latin typeface="Lexend Light" pitchFamily="2" charset="0"/>
          <a:ea typeface="+mn-ea"/>
          <a:cs typeface="+mn-cs"/>
        </a:defRPr>
      </a:lvl5pPr>
      <a:lvl6pPr marL="2513846"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en-US"/>
      </a:defPPr>
      <a:lvl1pPr marL="0" algn="l" defTabSz="914126" rtl="0" eaLnBrk="1" latinLnBrk="0" hangingPunct="1">
        <a:defRPr sz="1799" kern="1200">
          <a:solidFill>
            <a:schemeClr val="tx1"/>
          </a:solidFill>
          <a:latin typeface="+mn-lt"/>
          <a:ea typeface="+mn-ea"/>
          <a:cs typeface="+mn-cs"/>
        </a:defRPr>
      </a:lvl1pPr>
      <a:lvl2pPr marL="457063" algn="l" defTabSz="914126" rtl="0" eaLnBrk="1" latinLnBrk="0" hangingPunct="1">
        <a:defRPr sz="1799" kern="1200">
          <a:solidFill>
            <a:schemeClr val="tx1"/>
          </a:solidFill>
          <a:latin typeface="+mn-lt"/>
          <a:ea typeface="+mn-ea"/>
          <a:cs typeface="+mn-cs"/>
        </a:defRPr>
      </a:lvl2pPr>
      <a:lvl3pPr marL="914126" algn="l" defTabSz="914126" rtl="0" eaLnBrk="1" latinLnBrk="0" hangingPunct="1">
        <a:defRPr sz="1799" kern="1200">
          <a:solidFill>
            <a:schemeClr val="tx1"/>
          </a:solidFill>
          <a:latin typeface="+mn-lt"/>
          <a:ea typeface="+mn-ea"/>
          <a:cs typeface="+mn-cs"/>
        </a:defRPr>
      </a:lvl3pPr>
      <a:lvl4pPr marL="1371189" algn="l" defTabSz="914126" rtl="0" eaLnBrk="1" latinLnBrk="0" hangingPunct="1">
        <a:defRPr sz="1799" kern="1200">
          <a:solidFill>
            <a:schemeClr val="tx1"/>
          </a:solidFill>
          <a:latin typeface="+mn-lt"/>
          <a:ea typeface="+mn-ea"/>
          <a:cs typeface="+mn-cs"/>
        </a:defRPr>
      </a:lvl4pPr>
      <a:lvl5pPr marL="1828251" algn="l" defTabSz="914126" rtl="0" eaLnBrk="1" latinLnBrk="0" hangingPunct="1">
        <a:defRPr sz="1799" kern="1200">
          <a:solidFill>
            <a:schemeClr val="tx1"/>
          </a:solidFill>
          <a:latin typeface="+mn-lt"/>
          <a:ea typeface="+mn-ea"/>
          <a:cs typeface="+mn-cs"/>
        </a:defRPr>
      </a:lvl5pPr>
      <a:lvl6pPr marL="2285314" algn="l" defTabSz="914126" rtl="0" eaLnBrk="1" latinLnBrk="0" hangingPunct="1">
        <a:defRPr sz="1799" kern="1200">
          <a:solidFill>
            <a:schemeClr val="tx1"/>
          </a:solidFill>
          <a:latin typeface="+mn-lt"/>
          <a:ea typeface="+mn-ea"/>
          <a:cs typeface="+mn-cs"/>
        </a:defRPr>
      </a:lvl6pPr>
      <a:lvl7pPr marL="2742377" algn="l" defTabSz="914126" rtl="0" eaLnBrk="1" latinLnBrk="0" hangingPunct="1">
        <a:defRPr sz="1799" kern="1200">
          <a:solidFill>
            <a:schemeClr val="tx1"/>
          </a:solidFill>
          <a:latin typeface="+mn-lt"/>
          <a:ea typeface="+mn-ea"/>
          <a:cs typeface="+mn-cs"/>
        </a:defRPr>
      </a:lvl7pPr>
      <a:lvl8pPr marL="3199440" algn="l" defTabSz="914126" rtl="0" eaLnBrk="1" latinLnBrk="0" hangingPunct="1">
        <a:defRPr sz="1799" kern="1200">
          <a:solidFill>
            <a:schemeClr val="tx1"/>
          </a:solidFill>
          <a:latin typeface="+mn-lt"/>
          <a:ea typeface="+mn-ea"/>
          <a:cs typeface="+mn-cs"/>
        </a:defRPr>
      </a:lvl8pPr>
      <a:lvl9pPr marL="3656503" algn="l" defTabSz="914126"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145">
          <p15:clr>
            <a:srgbClr val="F26B43"/>
          </p15:clr>
        </p15:guide>
        <p15:guide id="2" pos="423">
          <p15:clr>
            <a:srgbClr val="F26B43"/>
          </p15:clr>
        </p15:guide>
        <p15:guide id="3" pos="14938">
          <p15:clr>
            <a:srgbClr val="F26B43"/>
          </p15:clr>
        </p15:guide>
        <p15:guide id="4" orient="horz" pos="1598">
          <p15:clr>
            <a:srgbClr val="F26B43"/>
          </p15:clr>
        </p15:guide>
        <p15:guide id="5" orient="horz" pos="7949">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hyperlink" Target="http://dartlang.org/" TargetMode="External"/><Relationship Id="rId7" Type="http://schemas.openxmlformats.org/officeDocument/2006/relationships/image" Target="../media/image9.png"/><Relationship Id="rId2" Type="http://schemas.openxmlformats.org/officeDocument/2006/relationships/hyperlink" Target="http://coffeescript.org/" TargetMode="External"/><Relationship Id="rId1" Type="http://schemas.openxmlformats.org/officeDocument/2006/relationships/slideLayout" Target="../slideLayouts/slideLayout6.xml"/><Relationship Id="rId6" Type="http://schemas.openxmlformats.org/officeDocument/2006/relationships/image" Target="../media/image8.png"/><Relationship Id="rId5" Type="http://schemas.openxmlformats.org/officeDocument/2006/relationships/hyperlink" Target="https://github.com/nikhilk/scriptsharp" TargetMode="External"/><Relationship Id="rId4" Type="http://schemas.openxmlformats.org/officeDocument/2006/relationships/hyperlink" Target="https://github.com/clojure/clojurescript" TargetMode="Externa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17.png"/></Relationships>
</file>

<file path=ppt/slides/_rels/slide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hyperlink" Target="http://username:password@host:port" TargetMode="Externa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hyperlink" Target="https://code.visualstudio.com/docs/languages/typescript" TargetMode="Externa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2" Type="http://schemas.openxmlformats.org/officeDocument/2006/relationships/hyperlink" Target="https://mariusschulz.com/blog/non-nullable-types-in-typescript" TargetMode="Externa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hyperlink" Target="https://victorroblesweb.es/2016/08/27/diferencia-let-var-es6-typescript/" TargetMode="External"/><Relationship Id="rId1" Type="http://schemas.openxmlformats.org/officeDocument/2006/relationships/slideLayout" Target="../slideLayouts/slideLayout1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37.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4.xml"/><Relationship Id="rId4" Type="http://schemas.openxmlformats.org/officeDocument/2006/relationships/image" Target="../media/image40.png"/></Relationships>
</file>

<file path=ppt/slides/_rels/slide6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10.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0.xml"/></Relationships>
</file>

<file path=ppt/slides/_rels/slide8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10.xml"/></Relationships>
</file>

<file path=ppt/slides/_rels/slide8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6.xml"/><Relationship Id="rId1" Type="http://schemas.openxmlformats.org/officeDocument/2006/relationships/slideLayout" Target="../slideLayouts/slideLayout4.xml"/><Relationship Id="rId5" Type="http://schemas.openxmlformats.org/officeDocument/2006/relationships/image" Target="../media/image54.png"/><Relationship Id="rId4" Type="http://schemas.openxmlformats.org/officeDocument/2006/relationships/image" Target="../media/image53.png"/></Relationships>
</file>

<file path=ppt/slides/_rels/slide8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4.xml.rels><?xml version="1.0" encoding="UTF-8" standalone="yes"?>
<Relationships xmlns="http://schemas.openxmlformats.org/package/2006/relationships"><Relationship Id="rId2" Type="http://schemas.openxmlformats.org/officeDocument/2006/relationships/hyperlink" Target="https://www.typescriptlang.org/docs/handbook/basic-types.html" TargetMode="External"/><Relationship Id="rId1" Type="http://schemas.openxmlformats.org/officeDocument/2006/relationships/slideLayout" Target="../slideLayouts/slideLayout10.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8.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image" Target="../media/image60.png"/><Relationship Id="rId7" Type="http://schemas.openxmlformats.org/officeDocument/2006/relationships/image" Target="../media/image64.png"/><Relationship Id="rId2" Type="http://schemas.openxmlformats.org/officeDocument/2006/relationships/image" Target="../media/image59.png"/><Relationship Id="rId1" Type="http://schemas.openxmlformats.org/officeDocument/2006/relationships/slideLayout" Target="../slideLayouts/slideLayout6.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 Id="rId9" Type="http://schemas.openxmlformats.org/officeDocument/2006/relationships/image" Target="../media/image66.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1.xml.rels><?xml version="1.0" encoding="UTF-8" standalone="yes"?>
<Relationships xmlns="http://schemas.openxmlformats.org/package/2006/relationships"><Relationship Id="rId8" Type="http://schemas.openxmlformats.org/officeDocument/2006/relationships/hyperlink" Target="http://komfo.com/" TargetMode="External"/><Relationship Id="rId13" Type="http://schemas.openxmlformats.org/officeDocument/2006/relationships/image" Target="../media/image71.png"/><Relationship Id="rId18" Type="http://schemas.openxmlformats.org/officeDocument/2006/relationships/hyperlink" Target="http://netpeak.bg/" TargetMode="External"/><Relationship Id="rId3" Type="http://schemas.openxmlformats.org/officeDocument/2006/relationships/hyperlink" Target="https://softuni.bg/courses/angular-2-fundamentals" TargetMode="External"/><Relationship Id="rId21" Type="http://schemas.openxmlformats.org/officeDocument/2006/relationships/image" Target="../media/image75.png"/><Relationship Id="rId7" Type="http://schemas.openxmlformats.org/officeDocument/2006/relationships/image" Target="../media/image68.png"/><Relationship Id="rId12" Type="http://schemas.openxmlformats.org/officeDocument/2006/relationships/hyperlink" Target="http://www.softwaregroup-bg.com/" TargetMode="External"/><Relationship Id="rId17" Type="http://schemas.openxmlformats.org/officeDocument/2006/relationships/image" Target="../media/image73.png"/><Relationship Id="rId2" Type="http://schemas.openxmlformats.org/officeDocument/2006/relationships/notesSlide" Target="../notesSlides/notesSlide8.xml"/><Relationship Id="rId16" Type="http://schemas.openxmlformats.org/officeDocument/2006/relationships/hyperlink" Target="http://www.infragistics.com/" TargetMode="External"/><Relationship Id="rId20" Type="http://schemas.openxmlformats.org/officeDocument/2006/relationships/hyperlink" Target="http://www.superhosting.bg/" TargetMode="External"/><Relationship Id="rId1" Type="http://schemas.openxmlformats.org/officeDocument/2006/relationships/slideLayout" Target="../slideLayouts/slideLayout13.xml"/><Relationship Id="rId6" Type="http://schemas.openxmlformats.org/officeDocument/2006/relationships/hyperlink" Target="http://xs-software.com/" TargetMode="External"/><Relationship Id="rId11" Type="http://schemas.openxmlformats.org/officeDocument/2006/relationships/image" Target="../media/image70.png"/><Relationship Id="rId5" Type="http://schemas.openxmlformats.org/officeDocument/2006/relationships/image" Target="../media/image67.png"/><Relationship Id="rId15" Type="http://schemas.openxmlformats.org/officeDocument/2006/relationships/image" Target="../media/image72.png"/><Relationship Id="rId10" Type="http://schemas.openxmlformats.org/officeDocument/2006/relationships/hyperlink" Target="http://smartit.bg/" TargetMode="External"/><Relationship Id="rId19" Type="http://schemas.openxmlformats.org/officeDocument/2006/relationships/image" Target="../media/image74.png"/><Relationship Id="rId4" Type="http://schemas.openxmlformats.org/officeDocument/2006/relationships/hyperlink" Target="http://www.luxoft.com/" TargetMode="External"/><Relationship Id="rId9" Type="http://schemas.openxmlformats.org/officeDocument/2006/relationships/image" Target="../media/image69.png"/><Relationship Id="rId14" Type="http://schemas.openxmlformats.org/officeDocument/2006/relationships/hyperlink" Target="http://www.indeavr.com/" TargetMode="Externa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3.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6.xml"/></Relationships>
</file>

<file path=ppt/slides/_rels/slide114.xml.rels><?xml version="1.0" encoding="UTF-8" standalone="yes"?>
<Relationships xmlns="http://schemas.openxmlformats.org/package/2006/relationships"><Relationship Id="rId8" Type="http://schemas.openxmlformats.org/officeDocument/2006/relationships/image" Target="../media/image83.png"/><Relationship Id="rId13" Type="http://schemas.openxmlformats.org/officeDocument/2006/relationships/image" Target="../media/image88.png"/><Relationship Id="rId18" Type="http://schemas.openxmlformats.org/officeDocument/2006/relationships/image" Target="../media/image93.png"/><Relationship Id="rId26" Type="http://schemas.openxmlformats.org/officeDocument/2006/relationships/image" Target="../media/image101.png"/><Relationship Id="rId3" Type="http://schemas.openxmlformats.org/officeDocument/2006/relationships/image" Target="../media/image78.png"/><Relationship Id="rId21" Type="http://schemas.openxmlformats.org/officeDocument/2006/relationships/image" Target="../media/image96.jpg"/><Relationship Id="rId7" Type="http://schemas.openxmlformats.org/officeDocument/2006/relationships/image" Target="../media/image82.gif"/><Relationship Id="rId12" Type="http://schemas.openxmlformats.org/officeDocument/2006/relationships/image" Target="../media/image87.png"/><Relationship Id="rId17" Type="http://schemas.openxmlformats.org/officeDocument/2006/relationships/image" Target="../media/image92.png"/><Relationship Id="rId25" Type="http://schemas.openxmlformats.org/officeDocument/2006/relationships/image" Target="../media/image100.png"/><Relationship Id="rId2" Type="http://schemas.openxmlformats.org/officeDocument/2006/relationships/image" Target="../media/image77.png"/><Relationship Id="rId16" Type="http://schemas.openxmlformats.org/officeDocument/2006/relationships/image" Target="../media/image91.png"/><Relationship Id="rId20" Type="http://schemas.openxmlformats.org/officeDocument/2006/relationships/image" Target="../media/image95.jpeg"/><Relationship Id="rId29" Type="http://schemas.openxmlformats.org/officeDocument/2006/relationships/image" Target="../media/image104.png"/><Relationship Id="rId1" Type="http://schemas.openxmlformats.org/officeDocument/2006/relationships/slideLayout" Target="../slideLayouts/slideLayout7.xml"/><Relationship Id="rId6" Type="http://schemas.openxmlformats.org/officeDocument/2006/relationships/image" Target="../media/image81.png"/><Relationship Id="rId11" Type="http://schemas.openxmlformats.org/officeDocument/2006/relationships/image" Target="../media/image86.png"/><Relationship Id="rId24" Type="http://schemas.openxmlformats.org/officeDocument/2006/relationships/image" Target="../media/image99.png"/><Relationship Id="rId5" Type="http://schemas.openxmlformats.org/officeDocument/2006/relationships/image" Target="../media/image80.png"/><Relationship Id="rId15" Type="http://schemas.openxmlformats.org/officeDocument/2006/relationships/image" Target="../media/image90.jpeg"/><Relationship Id="rId23" Type="http://schemas.openxmlformats.org/officeDocument/2006/relationships/image" Target="../media/image98.png"/><Relationship Id="rId28" Type="http://schemas.openxmlformats.org/officeDocument/2006/relationships/image" Target="../media/image103.png"/><Relationship Id="rId10" Type="http://schemas.openxmlformats.org/officeDocument/2006/relationships/image" Target="../media/image85.png"/><Relationship Id="rId19" Type="http://schemas.openxmlformats.org/officeDocument/2006/relationships/image" Target="../media/image94.png"/><Relationship Id="rId31" Type="http://schemas.openxmlformats.org/officeDocument/2006/relationships/image" Target="../media/image106.png"/><Relationship Id="rId4" Type="http://schemas.openxmlformats.org/officeDocument/2006/relationships/image" Target="../media/image79.png"/><Relationship Id="rId9" Type="http://schemas.openxmlformats.org/officeDocument/2006/relationships/image" Target="../media/image84.png"/><Relationship Id="rId14" Type="http://schemas.openxmlformats.org/officeDocument/2006/relationships/image" Target="../media/image89.png"/><Relationship Id="rId22" Type="http://schemas.openxmlformats.org/officeDocument/2006/relationships/image" Target="../media/image97.png"/><Relationship Id="rId27" Type="http://schemas.openxmlformats.org/officeDocument/2006/relationships/image" Target="../media/image102.png"/><Relationship Id="rId30" Type="http://schemas.openxmlformats.org/officeDocument/2006/relationships/image" Target="../media/image105.png"/></Relationships>
</file>

<file path=ppt/slides/_rels/slide115.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107.png"/><Relationship Id="rId1" Type="http://schemas.openxmlformats.org/officeDocument/2006/relationships/slideLayout" Target="../slideLayouts/slideLayout6.xml"/><Relationship Id="rId6" Type="http://schemas.openxmlformats.org/officeDocument/2006/relationships/image" Target="../media/image111.png"/><Relationship Id="rId5" Type="http://schemas.openxmlformats.org/officeDocument/2006/relationships/image" Target="../media/image110.png"/><Relationship Id="rId4" Type="http://schemas.openxmlformats.org/officeDocument/2006/relationships/image" Target="../media/image10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pPr algn="ctr"/>
            <a:r>
              <a:rPr lang="en-US" dirty="0"/>
              <a:t>Introduction </a:t>
            </a:r>
            <a:br>
              <a:rPr lang="en-US" dirty="0"/>
            </a:br>
            <a:r>
              <a:rPr lang="en-US" dirty="0"/>
              <a:t>to TypeScript</a:t>
            </a:r>
            <a:endParaRPr lang="en-US" b="1" dirty="0"/>
          </a:p>
        </p:txBody>
      </p:sp>
    </p:spTree>
    <p:extLst>
      <p:ext uri="{BB962C8B-B14F-4D97-AF65-F5344CB8AC3E}">
        <p14:creationId xmlns:p14="http://schemas.microsoft.com/office/powerpoint/2010/main" val="13708454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Table of Contents</a:t>
            </a:r>
            <a:endParaRPr lang="bg-BG"/>
          </a:p>
        </p:txBody>
      </p:sp>
      <p:sp>
        <p:nvSpPr>
          <p:cNvPr id="3" name="Content Placeholder 2"/>
          <p:cNvSpPr>
            <a:spLocks noGrp="1"/>
          </p:cNvSpPr>
          <p:nvPr>
            <p:ph idx="1"/>
          </p:nvPr>
        </p:nvSpPr>
        <p:spPr/>
        <p:txBody>
          <a:bodyPr/>
          <a:lstStyle/>
          <a:p>
            <a:pPr marL="0" indent="0">
              <a:buNone/>
            </a:pPr>
            <a:r>
              <a:rPr lang="en-US" dirty="0"/>
              <a:t>Introduction to TypeScript</a:t>
            </a:r>
          </a:p>
          <a:p>
            <a:pPr marL="0" indent="0">
              <a:buNone/>
            </a:pPr>
            <a:r>
              <a:rPr lang="en-US" dirty="0"/>
              <a:t>A Look at JavaScript </a:t>
            </a:r>
          </a:p>
          <a:p>
            <a:pPr marL="0" indent="0">
              <a:buNone/>
            </a:pPr>
            <a:r>
              <a:rPr lang="en-US" dirty="0"/>
              <a:t>Installation TypeScript</a:t>
            </a:r>
          </a:p>
          <a:p>
            <a:pPr marL="0" indent="0">
              <a:buNone/>
            </a:pPr>
            <a:r>
              <a:rPr lang="en-US" dirty="0"/>
              <a:t>Building a simple process to get started</a:t>
            </a:r>
          </a:p>
          <a:p>
            <a:pPr marL="0" indent="0">
              <a:buNone/>
            </a:pPr>
            <a:r>
              <a:rPr lang="en-US" dirty="0"/>
              <a:t>First application</a:t>
            </a:r>
          </a:p>
          <a:p>
            <a:pPr lvl="1"/>
            <a:r>
              <a:rPr lang="en-US" dirty="0"/>
              <a:t>The usual Hello World app</a:t>
            </a:r>
          </a:p>
          <a:p>
            <a:endParaRPr lang="bg-BG" dirty="0"/>
          </a:p>
        </p:txBody>
      </p:sp>
      <p:pic>
        <p:nvPicPr>
          <p:cNvPr id="5" name="Picture 4"/>
          <p:cNvPicPr>
            <a:picLocks noChangeAspect="1"/>
          </p:cNvPicPr>
          <p:nvPr/>
        </p:nvPicPr>
        <p:blipFill>
          <a:blip r:embed="rId2"/>
          <a:stretch>
            <a:fillRect/>
          </a:stretch>
        </p:blipFill>
        <p:spPr>
          <a:xfrm>
            <a:off x="9548727" y="3466245"/>
            <a:ext cx="2653164" cy="3421063"/>
          </a:xfrm>
          <a:prstGeom prst="rect">
            <a:avLst/>
          </a:prstGeom>
        </p:spPr>
      </p:pic>
    </p:spTree>
    <p:extLst>
      <p:ext uri="{BB962C8B-B14F-4D97-AF65-F5344CB8AC3E}">
        <p14:creationId xmlns:p14="http://schemas.microsoft.com/office/powerpoint/2010/main" val="28510851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EDABA9DE-8185-B418-03AC-58F9B4AD98DA}"/>
              </a:ext>
            </a:extLst>
          </p:cNvPr>
          <p:cNvSpPr/>
          <p:nvPr/>
        </p:nvSpPr>
        <p:spPr>
          <a:xfrm>
            <a:off x="3656012" y="4114800"/>
            <a:ext cx="6172200" cy="15240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s-ES" dirty="0"/>
              <a:t>NODE JS</a:t>
            </a:r>
          </a:p>
        </p:txBody>
      </p:sp>
      <p:sp>
        <p:nvSpPr>
          <p:cNvPr id="5" name="Rectángulo 4">
            <a:extLst>
              <a:ext uri="{FF2B5EF4-FFF2-40B4-BE49-F238E27FC236}">
                <a16:creationId xmlns:a16="http://schemas.microsoft.com/office/drawing/2014/main" id="{17B42262-51D6-94BC-CCB6-6E613EBA3105}"/>
              </a:ext>
            </a:extLst>
          </p:cNvPr>
          <p:cNvSpPr/>
          <p:nvPr/>
        </p:nvSpPr>
        <p:spPr>
          <a:xfrm>
            <a:off x="3656012" y="5791200"/>
            <a:ext cx="6172200" cy="8382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s-ES" dirty="0"/>
              <a:t>Win32</a:t>
            </a:r>
          </a:p>
        </p:txBody>
      </p:sp>
      <p:sp>
        <p:nvSpPr>
          <p:cNvPr id="6" name="Rectángulo 5">
            <a:extLst>
              <a:ext uri="{FF2B5EF4-FFF2-40B4-BE49-F238E27FC236}">
                <a16:creationId xmlns:a16="http://schemas.microsoft.com/office/drawing/2014/main" id="{CE392257-50D8-505C-EA94-B1B796334E18}"/>
              </a:ext>
            </a:extLst>
          </p:cNvPr>
          <p:cNvSpPr/>
          <p:nvPr/>
        </p:nvSpPr>
        <p:spPr>
          <a:xfrm>
            <a:off x="7923212" y="5295900"/>
            <a:ext cx="2286000" cy="8382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s-ES" dirty="0"/>
              <a:t>C++ / </a:t>
            </a:r>
            <a:r>
              <a:rPr lang="es-ES" dirty="0">
                <a:solidFill>
                  <a:srgbClr val="FF0000"/>
                </a:solidFill>
              </a:rPr>
              <a:t>COMPILADOR</a:t>
            </a:r>
          </a:p>
        </p:txBody>
      </p:sp>
      <p:sp>
        <p:nvSpPr>
          <p:cNvPr id="7" name="Rectángulo 6">
            <a:extLst>
              <a:ext uri="{FF2B5EF4-FFF2-40B4-BE49-F238E27FC236}">
                <a16:creationId xmlns:a16="http://schemas.microsoft.com/office/drawing/2014/main" id="{886E1BF9-6832-7054-E408-4600EFE0E8E2}"/>
              </a:ext>
            </a:extLst>
          </p:cNvPr>
          <p:cNvSpPr/>
          <p:nvPr/>
        </p:nvSpPr>
        <p:spPr>
          <a:xfrm>
            <a:off x="3656012" y="3555781"/>
            <a:ext cx="2286000" cy="8382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s-ES" dirty="0"/>
              <a:t>MODULOS JS/</a:t>
            </a:r>
            <a:r>
              <a:rPr lang="es-ES" dirty="0">
                <a:solidFill>
                  <a:srgbClr val="FF0000"/>
                </a:solidFill>
              </a:rPr>
              <a:t>C++/TS</a:t>
            </a:r>
          </a:p>
        </p:txBody>
      </p:sp>
      <p:sp>
        <p:nvSpPr>
          <p:cNvPr id="8" name="Rectángulo 7">
            <a:extLst>
              <a:ext uri="{FF2B5EF4-FFF2-40B4-BE49-F238E27FC236}">
                <a16:creationId xmlns:a16="http://schemas.microsoft.com/office/drawing/2014/main" id="{716B9F70-7B28-A552-F5E5-130B103F1958}"/>
              </a:ext>
            </a:extLst>
          </p:cNvPr>
          <p:cNvSpPr/>
          <p:nvPr/>
        </p:nvSpPr>
        <p:spPr>
          <a:xfrm>
            <a:off x="7542212" y="3543300"/>
            <a:ext cx="2286000" cy="8382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s-ES" dirty="0"/>
              <a:t>MODULOS </a:t>
            </a:r>
            <a:r>
              <a:rPr lang="es-ES" dirty="0">
                <a:solidFill>
                  <a:srgbClr val="FF0000"/>
                </a:solidFill>
              </a:rPr>
              <a:t>JS</a:t>
            </a:r>
          </a:p>
        </p:txBody>
      </p:sp>
      <p:sp>
        <p:nvSpPr>
          <p:cNvPr id="9" name="Rectángulo 8">
            <a:extLst>
              <a:ext uri="{FF2B5EF4-FFF2-40B4-BE49-F238E27FC236}">
                <a16:creationId xmlns:a16="http://schemas.microsoft.com/office/drawing/2014/main" id="{2B513D34-00C3-D648-5831-5067D730C826}"/>
              </a:ext>
            </a:extLst>
          </p:cNvPr>
          <p:cNvSpPr/>
          <p:nvPr/>
        </p:nvSpPr>
        <p:spPr>
          <a:xfrm>
            <a:off x="2284412" y="5295900"/>
            <a:ext cx="2286000" cy="8382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s-ES" dirty="0">
                <a:solidFill>
                  <a:srgbClr val="FF0000"/>
                </a:solidFill>
              </a:rPr>
              <a:t>PYTHON</a:t>
            </a:r>
            <a:r>
              <a:rPr lang="es-ES" dirty="0"/>
              <a:t> 2.7</a:t>
            </a:r>
          </a:p>
        </p:txBody>
      </p:sp>
      <p:sp>
        <p:nvSpPr>
          <p:cNvPr id="10" name="Rectángulo 9">
            <a:extLst>
              <a:ext uri="{FF2B5EF4-FFF2-40B4-BE49-F238E27FC236}">
                <a16:creationId xmlns:a16="http://schemas.microsoft.com/office/drawing/2014/main" id="{8D27541E-EB6A-ACCA-2FE1-AFD61972435D}"/>
              </a:ext>
            </a:extLst>
          </p:cNvPr>
          <p:cNvSpPr/>
          <p:nvPr/>
        </p:nvSpPr>
        <p:spPr>
          <a:xfrm>
            <a:off x="3579812" y="143862"/>
            <a:ext cx="6172200" cy="15240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s-ES" dirty="0">
                <a:solidFill>
                  <a:srgbClr val="FF0000"/>
                </a:solidFill>
              </a:rPr>
              <a:t>ANGULAR</a:t>
            </a:r>
            <a:r>
              <a:rPr lang="es-ES" dirty="0"/>
              <a:t> + </a:t>
            </a:r>
            <a:r>
              <a:rPr lang="es-ES" dirty="0" err="1">
                <a:solidFill>
                  <a:srgbClr val="FF0000"/>
                </a:solidFill>
              </a:rPr>
              <a:t>TypeScript</a:t>
            </a:r>
            <a:r>
              <a:rPr lang="es-ES" dirty="0"/>
              <a:t> &gt; JS (ES5, ES6)</a:t>
            </a:r>
          </a:p>
        </p:txBody>
      </p:sp>
      <p:sp>
        <p:nvSpPr>
          <p:cNvPr id="11" name="Rectángulo 10">
            <a:extLst>
              <a:ext uri="{FF2B5EF4-FFF2-40B4-BE49-F238E27FC236}">
                <a16:creationId xmlns:a16="http://schemas.microsoft.com/office/drawing/2014/main" id="{7FEF12BA-32FC-6BB9-2085-57D453E9A305}"/>
              </a:ext>
            </a:extLst>
          </p:cNvPr>
          <p:cNvSpPr/>
          <p:nvPr/>
        </p:nvSpPr>
        <p:spPr>
          <a:xfrm>
            <a:off x="8609012" y="934765"/>
            <a:ext cx="2286000" cy="8382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s-ES" dirty="0"/>
              <a:t>NG</a:t>
            </a:r>
          </a:p>
        </p:txBody>
      </p:sp>
      <p:sp>
        <p:nvSpPr>
          <p:cNvPr id="12" name="Rectángulo 11">
            <a:extLst>
              <a:ext uri="{FF2B5EF4-FFF2-40B4-BE49-F238E27FC236}">
                <a16:creationId xmlns:a16="http://schemas.microsoft.com/office/drawing/2014/main" id="{EDE2F6F0-0892-1170-71E2-4035A1F00EAD}"/>
              </a:ext>
            </a:extLst>
          </p:cNvPr>
          <p:cNvSpPr/>
          <p:nvPr/>
        </p:nvSpPr>
        <p:spPr>
          <a:xfrm>
            <a:off x="9294812" y="2912681"/>
            <a:ext cx="2286000" cy="8382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s-ES" dirty="0"/>
              <a:t>NPM</a:t>
            </a:r>
          </a:p>
        </p:txBody>
      </p:sp>
      <p:sp>
        <p:nvSpPr>
          <p:cNvPr id="2" name="Rectángulo 1">
            <a:extLst>
              <a:ext uri="{FF2B5EF4-FFF2-40B4-BE49-F238E27FC236}">
                <a16:creationId xmlns:a16="http://schemas.microsoft.com/office/drawing/2014/main" id="{7BE0D039-1F3B-F66E-C771-14F3ED4ADB7F}"/>
              </a:ext>
            </a:extLst>
          </p:cNvPr>
          <p:cNvSpPr/>
          <p:nvPr/>
        </p:nvSpPr>
        <p:spPr>
          <a:xfrm>
            <a:off x="9515255" y="4157497"/>
            <a:ext cx="2286000" cy="8382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s-ES" dirty="0" err="1"/>
              <a:t>TypeScript</a:t>
            </a:r>
            <a:endParaRPr lang="es-ES" dirty="0"/>
          </a:p>
        </p:txBody>
      </p:sp>
    </p:spTree>
    <p:extLst>
      <p:ext uri="{BB962C8B-B14F-4D97-AF65-F5344CB8AC3E}">
        <p14:creationId xmlns:p14="http://schemas.microsoft.com/office/powerpoint/2010/main" val="39504861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a:t>Introduction To TypeScript</a:t>
            </a:r>
            <a:endParaRPr lang="en-US" dirty="0"/>
          </a:p>
        </p:txBody>
      </p:sp>
      <p:sp>
        <p:nvSpPr>
          <p:cNvPr id="6" name="Subtitle 5"/>
          <p:cNvSpPr>
            <a:spLocks noGrp="1"/>
          </p:cNvSpPr>
          <p:nvPr>
            <p:ph type="body" idx="4294967295"/>
          </p:nvPr>
        </p:nvSpPr>
        <p:spPr>
          <a:xfrm>
            <a:off x="1828800" y="2906713"/>
            <a:ext cx="10360025" cy="1500187"/>
          </a:xfrm>
        </p:spPr>
        <p:txBody>
          <a:bodyPr/>
          <a:lstStyle/>
          <a:p>
            <a:r>
              <a:rPr lang="en-US"/>
              <a:t>A JavaScript superset</a:t>
            </a:r>
            <a:endParaRPr lang="en-US" dirty="0"/>
          </a:p>
        </p:txBody>
      </p:sp>
    </p:spTree>
    <p:extLst>
      <p:ext uri="{BB962C8B-B14F-4D97-AF65-F5344CB8AC3E}">
        <p14:creationId xmlns:p14="http://schemas.microsoft.com/office/powerpoint/2010/main" val="20540184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079503" y="2906011"/>
            <a:ext cx="10032135" cy="899665"/>
          </a:xfrm>
        </p:spPr>
        <p:txBody>
          <a:bodyPr/>
          <a:lstStyle/>
          <a:p>
            <a:pPr algn="ctr"/>
            <a:r>
              <a:rPr lang="en-US" dirty="0"/>
              <a:t>TypeScript: JavaScript that scales</a:t>
            </a:r>
          </a:p>
        </p:txBody>
      </p:sp>
    </p:spTree>
    <p:extLst>
      <p:ext uri="{BB962C8B-B14F-4D97-AF65-F5344CB8AC3E}">
        <p14:creationId xmlns:p14="http://schemas.microsoft.com/office/powerpoint/2010/main" val="4116756847"/>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9503" y="2906011"/>
            <a:ext cx="10032135" cy="899665"/>
          </a:xfrm>
        </p:spPr>
        <p:txBody>
          <a:bodyPr>
            <a:normAutofit fontScale="90000"/>
          </a:bodyPr>
          <a:lstStyle/>
          <a:p>
            <a:pPr algn="ctr"/>
            <a:r>
              <a:rPr lang="en-US" dirty="0"/>
              <a:t>A statically typed superset of JavaScript</a:t>
            </a:r>
            <a:br>
              <a:rPr lang="en-US" dirty="0"/>
            </a:br>
            <a:r>
              <a:rPr lang="en-US" dirty="0"/>
              <a:t>that compiles to plain JavaScript</a:t>
            </a:r>
          </a:p>
        </p:txBody>
      </p:sp>
    </p:spTree>
    <p:extLst>
      <p:ext uri="{BB962C8B-B14F-4D97-AF65-F5344CB8AC3E}">
        <p14:creationId xmlns:p14="http://schemas.microsoft.com/office/powerpoint/2010/main" val="2549059020"/>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err="1"/>
              <a:t>TypeScript</a:t>
            </a:r>
            <a:endParaRPr lang="en-GB" dirty="0"/>
          </a:p>
        </p:txBody>
      </p:sp>
      <p:sp>
        <p:nvSpPr>
          <p:cNvPr id="3" name="Marcador de contenido 2">
            <a:extLst>
              <a:ext uri="{FF2B5EF4-FFF2-40B4-BE49-F238E27FC236}">
                <a16:creationId xmlns:a16="http://schemas.microsoft.com/office/drawing/2014/main" id="{1E6BBFAC-514A-4724-BB98-2BB2673CE094}"/>
              </a:ext>
            </a:extLst>
          </p:cNvPr>
          <p:cNvSpPr>
            <a:spLocks noGrp="1"/>
          </p:cNvSpPr>
          <p:nvPr>
            <p:ph idx="1"/>
          </p:nvPr>
        </p:nvSpPr>
        <p:spPr/>
        <p:txBody>
          <a:bodyPr/>
          <a:lstStyle/>
          <a:p>
            <a:pPr marL="285750" indent="-285750">
              <a:buFont typeface="Arial" panose="020B0604020202020204" pitchFamily="34" charset="0"/>
              <a:buChar char="•"/>
            </a:pPr>
            <a:r>
              <a:rPr lang="en-GB" sz="2800" b="1" dirty="0">
                <a:solidFill>
                  <a:schemeClr val="tx1"/>
                </a:solidFill>
              </a:rPr>
              <a:t>Any browser. Any host. Any OS</a:t>
            </a:r>
          </a:p>
          <a:p>
            <a:pPr marL="285750" indent="-285750">
              <a:buFont typeface="Arial" panose="020B0604020202020204" pitchFamily="34" charset="0"/>
              <a:buChar char="•"/>
            </a:pPr>
            <a:r>
              <a:rPr lang="en-GB" sz="2800" b="1" dirty="0">
                <a:solidFill>
                  <a:schemeClr val="tx1"/>
                </a:solidFill>
              </a:rPr>
              <a:t>Open Source</a:t>
            </a:r>
          </a:p>
          <a:p>
            <a:pPr marL="285750" indent="-285750">
              <a:buFont typeface="Arial" panose="020B0604020202020204" pitchFamily="34" charset="0"/>
              <a:buChar char="•"/>
            </a:pPr>
            <a:endParaRPr lang="en-GB" sz="2800" b="1" dirty="0">
              <a:solidFill>
                <a:schemeClr val="tx1"/>
              </a:solidFill>
            </a:endParaRPr>
          </a:p>
          <a:p>
            <a:pPr marL="0" indent="0" algn="r">
              <a:buNone/>
            </a:pPr>
            <a:r>
              <a:rPr lang="en-GB" sz="2800" b="1" dirty="0">
                <a:solidFill>
                  <a:schemeClr val="tx1"/>
                </a:solidFill>
              </a:rPr>
              <a:t>~typescriptlang.org</a:t>
            </a:r>
          </a:p>
          <a:p>
            <a:endParaRPr lang="es-ES" dirty="0"/>
          </a:p>
        </p:txBody>
      </p:sp>
      <p:sp>
        <p:nvSpPr>
          <p:cNvPr id="25" name="Right Arrow 24"/>
          <p:cNvSpPr/>
          <p:nvPr/>
        </p:nvSpPr>
        <p:spPr>
          <a:xfrm>
            <a:off x="7144834" y="4866558"/>
            <a:ext cx="432048" cy="432048"/>
          </a:xfrm>
          <a:prstGeom prst="rightArrow">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Rectangle 25"/>
          <p:cNvSpPr/>
          <p:nvPr/>
        </p:nvSpPr>
        <p:spPr>
          <a:xfrm>
            <a:off x="2139082" y="5740358"/>
            <a:ext cx="2268000"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r>
              <a:rPr lang="en-GB" b="1" dirty="0">
                <a:solidFill>
                  <a:schemeClr val="tx1"/>
                </a:solidFill>
              </a:rPr>
              <a:t>Copy JS code</a:t>
            </a:r>
            <a:endParaRPr lang="en-GB" dirty="0">
              <a:solidFill>
                <a:schemeClr val="tx1"/>
              </a:solidFill>
            </a:endParaRPr>
          </a:p>
        </p:txBody>
      </p:sp>
      <p:sp>
        <p:nvSpPr>
          <p:cNvPr id="27" name="Rectangle 26"/>
          <p:cNvSpPr/>
          <p:nvPr/>
        </p:nvSpPr>
        <p:spPr>
          <a:xfrm>
            <a:off x="5181572" y="5740358"/>
            <a:ext cx="2268000"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endParaRPr lang="en-GB" b="1" dirty="0">
              <a:solidFill>
                <a:schemeClr val="tx1"/>
              </a:solidFill>
            </a:endParaRPr>
          </a:p>
          <a:p>
            <a:r>
              <a:rPr lang="en-GB" b="1" dirty="0">
                <a:solidFill>
                  <a:schemeClr val="tx1"/>
                </a:solidFill>
              </a:rPr>
              <a:t>Into TS file</a:t>
            </a:r>
          </a:p>
          <a:p>
            <a:endParaRPr lang="en-GB" dirty="0">
              <a:solidFill>
                <a:schemeClr val="tx1"/>
              </a:solidFill>
            </a:endParaRPr>
          </a:p>
        </p:txBody>
      </p:sp>
      <p:sp>
        <p:nvSpPr>
          <p:cNvPr id="38" name="Rectangle 37"/>
          <p:cNvSpPr/>
          <p:nvPr/>
        </p:nvSpPr>
        <p:spPr>
          <a:xfrm>
            <a:off x="8228012" y="5740358"/>
            <a:ext cx="226774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r>
              <a:rPr lang="en-GB" b="1" dirty="0">
                <a:solidFill>
                  <a:schemeClr val="tx1"/>
                </a:solidFill>
              </a:rPr>
              <a:t>Compile to JavaScript</a:t>
            </a:r>
            <a:endParaRPr lang="en-GB" dirty="0">
              <a:solidFill>
                <a:schemeClr val="tx1"/>
              </a:solidFill>
            </a:endParaRPr>
          </a:p>
        </p:txBody>
      </p:sp>
      <p:sp>
        <p:nvSpPr>
          <p:cNvPr id="11" name="Rectangle 10"/>
          <p:cNvSpPr/>
          <p:nvPr/>
        </p:nvSpPr>
        <p:spPr>
          <a:xfrm>
            <a:off x="989011" y="1268904"/>
            <a:ext cx="10361831" cy="183832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285750" indent="-285750">
              <a:buFont typeface="Arial" panose="020B0604020202020204" pitchFamily="34" charset="0"/>
              <a:buChar char="•"/>
            </a:pPr>
            <a:endParaRPr lang="en-GB" sz="2400" b="1" dirty="0">
              <a:solidFill>
                <a:schemeClr val="tx1"/>
              </a:solidFill>
            </a:endParaRPr>
          </a:p>
        </p:txBody>
      </p:sp>
      <p:sp>
        <p:nvSpPr>
          <p:cNvPr id="12" name="Plus 11"/>
          <p:cNvSpPr/>
          <p:nvPr/>
        </p:nvSpPr>
        <p:spPr>
          <a:xfrm>
            <a:off x="4069363" y="4871446"/>
            <a:ext cx="432048" cy="432048"/>
          </a:xfrm>
          <a:prstGeom prst="mathPlus">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p:cNvSpPr/>
          <p:nvPr/>
        </p:nvSpPr>
        <p:spPr>
          <a:xfrm>
            <a:off x="2139082" y="4419600"/>
            <a:ext cx="1254733" cy="1287448"/>
          </a:xfrm>
          <a:prstGeom prst="rect">
            <a:avLst/>
          </a:prstGeom>
          <a:solidFill>
            <a:srgbClr val="F58D0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5400" b="1" dirty="0">
                <a:solidFill>
                  <a:schemeClr val="tx1"/>
                </a:solidFill>
              </a:rPr>
              <a:t>JS</a:t>
            </a:r>
            <a:endParaRPr lang="en-GB" sz="5400" dirty="0"/>
          </a:p>
        </p:txBody>
      </p:sp>
      <p:sp>
        <p:nvSpPr>
          <p:cNvPr id="16" name="Rectangle 15"/>
          <p:cNvSpPr/>
          <p:nvPr/>
        </p:nvSpPr>
        <p:spPr>
          <a:xfrm>
            <a:off x="8252432" y="4419600"/>
            <a:ext cx="1254733" cy="1287448"/>
          </a:xfrm>
          <a:prstGeom prst="rect">
            <a:avLst/>
          </a:prstGeom>
          <a:solidFill>
            <a:srgbClr val="F58D0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5400" b="1" dirty="0">
                <a:solidFill>
                  <a:schemeClr val="tx1"/>
                </a:solidFill>
              </a:rPr>
              <a:t>JS</a:t>
            </a:r>
            <a:endParaRPr lang="en-GB" sz="5400" dirty="0"/>
          </a:p>
        </p:txBody>
      </p:sp>
      <p:sp>
        <p:nvSpPr>
          <p:cNvPr id="17" name="Rectangle 16"/>
          <p:cNvSpPr/>
          <p:nvPr/>
        </p:nvSpPr>
        <p:spPr>
          <a:xfrm>
            <a:off x="5180012" y="4419600"/>
            <a:ext cx="1254733" cy="1287448"/>
          </a:xfrm>
          <a:prstGeom prst="rect">
            <a:avLst/>
          </a:prstGeom>
          <a:solidFill>
            <a:srgbClr val="009F3C"/>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5400" b="1" dirty="0">
                <a:solidFill>
                  <a:schemeClr val="tx1"/>
                </a:solidFill>
              </a:rPr>
              <a:t>TS</a:t>
            </a:r>
            <a:endParaRPr lang="en-GB" sz="5400" dirty="0"/>
          </a:p>
        </p:txBody>
      </p:sp>
    </p:spTree>
    <p:extLst>
      <p:ext uri="{BB962C8B-B14F-4D97-AF65-F5344CB8AC3E}">
        <p14:creationId xmlns:p14="http://schemas.microsoft.com/office/powerpoint/2010/main" val="4056993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760C74-7045-454A-AD5E-882EDBCBC0F4}"/>
              </a:ext>
            </a:extLst>
          </p:cNvPr>
          <p:cNvSpPr>
            <a:spLocks noGrp="1"/>
          </p:cNvSpPr>
          <p:nvPr>
            <p:ph type="title"/>
          </p:nvPr>
        </p:nvSpPr>
        <p:spPr/>
        <p:txBody>
          <a:bodyPr>
            <a:normAutofit fontScale="90000"/>
          </a:bodyPr>
          <a:lstStyle/>
          <a:p>
            <a:r>
              <a:rPr lang="es-ES" dirty="0"/>
              <a:t>¿Por qué </a:t>
            </a:r>
            <a:r>
              <a:rPr lang="es-ES" dirty="0" err="1"/>
              <a:t>TypeScript</a:t>
            </a:r>
            <a:r>
              <a:rPr lang="es-ES" dirty="0"/>
              <a:t>?</a:t>
            </a:r>
          </a:p>
        </p:txBody>
      </p:sp>
      <p:sp>
        <p:nvSpPr>
          <p:cNvPr id="3" name="Marcador de contenido 2">
            <a:extLst>
              <a:ext uri="{FF2B5EF4-FFF2-40B4-BE49-F238E27FC236}">
                <a16:creationId xmlns:a16="http://schemas.microsoft.com/office/drawing/2014/main" id="{4D1B7FBC-E7CF-42B6-BECD-26BC5DBE50B2}"/>
              </a:ext>
            </a:extLst>
          </p:cNvPr>
          <p:cNvSpPr>
            <a:spLocks noGrp="1"/>
          </p:cNvSpPr>
          <p:nvPr>
            <p:ph idx="1"/>
          </p:nvPr>
        </p:nvSpPr>
        <p:spPr/>
        <p:txBody>
          <a:bodyPr>
            <a:normAutofit/>
          </a:bodyPr>
          <a:lstStyle/>
          <a:p>
            <a:r>
              <a:rPr lang="es-ES" dirty="0"/>
              <a:t>Nacimiento en 2012</a:t>
            </a:r>
          </a:p>
          <a:p>
            <a:r>
              <a:rPr lang="es-ES" dirty="0" err="1"/>
              <a:t>Transpilador</a:t>
            </a:r>
            <a:endParaRPr lang="es-ES" dirty="0"/>
          </a:p>
          <a:p>
            <a:r>
              <a:rPr lang="es-ES" dirty="0"/>
              <a:t>Tipado fuerte</a:t>
            </a:r>
          </a:p>
          <a:p>
            <a:r>
              <a:rPr lang="es-ES" dirty="0"/>
              <a:t>Código fuente y código compilado</a:t>
            </a:r>
          </a:p>
          <a:p>
            <a:r>
              <a:rPr lang="es-ES" dirty="0"/>
              <a:t>Errores en tiempo de compilación</a:t>
            </a:r>
          </a:p>
          <a:p>
            <a:r>
              <a:rPr lang="es-ES" dirty="0"/>
              <a:t>Complementa JS</a:t>
            </a:r>
          </a:p>
          <a:p>
            <a:r>
              <a:rPr lang="es-ES" dirty="0"/>
              <a:t>Integración con el IDE</a:t>
            </a:r>
          </a:p>
          <a:p>
            <a:r>
              <a:rPr lang="es-ES" dirty="0"/>
              <a:t>Angular </a:t>
            </a:r>
            <a:br>
              <a:rPr lang="es-ES" dirty="0"/>
            </a:br>
            <a:endParaRPr lang="es-ES" dirty="0"/>
          </a:p>
        </p:txBody>
      </p:sp>
      <p:sp>
        <p:nvSpPr>
          <p:cNvPr id="4" name="Marcador de número de diapositiva 3">
            <a:extLst>
              <a:ext uri="{FF2B5EF4-FFF2-40B4-BE49-F238E27FC236}">
                <a16:creationId xmlns:a16="http://schemas.microsoft.com/office/drawing/2014/main" id="{F6FB4E97-7791-4436-8B6A-2CE84A0564CA}"/>
              </a:ext>
            </a:extLst>
          </p:cNvPr>
          <p:cNvSpPr>
            <a:spLocks noGrp="1"/>
          </p:cNvSpPr>
          <p:nvPr>
            <p:ph type="sldNum" sz="quarter" idx="4294967295"/>
          </p:nvPr>
        </p:nvSpPr>
        <p:spPr>
          <a:xfrm>
            <a:off x="9447213" y="6356350"/>
            <a:ext cx="2741612" cy="365125"/>
          </a:xfrm>
          <a:prstGeom prst="rect">
            <a:avLst/>
          </a:prstGeom>
        </p:spPr>
        <p:txBody>
          <a:bodyPr/>
          <a:lstStyle/>
          <a:p>
            <a:fld id="{C014DD1E-5D91-48A3-AD6D-45FBA980D106}" type="slidenum">
              <a:rPr lang="en-US" smtClean="0"/>
              <a:pPr/>
              <a:t>8</a:t>
            </a:fld>
            <a:endParaRPr lang="en-US" dirty="0"/>
          </a:p>
        </p:txBody>
      </p:sp>
    </p:spTree>
    <p:extLst>
      <p:ext uri="{BB962C8B-B14F-4D97-AF65-F5344CB8AC3E}">
        <p14:creationId xmlns:p14="http://schemas.microsoft.com/office/powerpoint/2010/main" val="19996799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Las </a:t>
            </a:r>
            <a:r>
              <a:rPr lang="en-GB" dirty="0" err="1"/>
              <a:t>alternativas</a:t>
            </a:r>
            <a:endParaRPr lang="en-GB" dirty="0"/>
          </a:p>
        </p:txBody>
      </p:sp>
      <p:sp>
        <p:nvSpPr>
          <p:cNvPr id="26" name="Rectangle 25"/>
          <p:cNvSpPr/>
          <p:nvPr/>
        </p:nvSpPr>
        <p:spPr>
          <a:xfrm>
            <a:off x="2320362" y="4489385"/>
            <a:ext cx="2268000" cy="1296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r>
              <a:rPr lang="en-GB" b="1" dirty="0" err="1">
                <a:solidFill>
                  <a:schemeClr val="tx1"/>
                </a:solidFill>
              </a:rPr>
              <a:t>CoffeeScript</a:t>
            </a:r>
            <a:endParaRPr lang="en-GB" b="1" dirty="0">
              <a:solidFill>
                <a:schemeClr val="tx1"/>
              </a:solidFill>
            </a:endParaRPr>
          </a:p>
          <a:p>
            <a:r>
              <a:rPr lang="en-GB" dirty="0">
                <a:solidFill>
                  <a:schemeClr val="tx1"/>
                </a:solidFill>
                <a:hlinkClick r:id="rId2"/>
              </a:rPr>
              <a:t>coffeescript.org</a:t>
            </a:r>
            <a:endParaRPr lang="en-GB" dirty="0">
              <a:solidFill>
                <a:schemeClr val="tx1"/>
              </a:solidFill>
            </a:endParaRPr>
          </a:p>
          <a:p>
            <a:r>
              <a:rPr lang="en-GB" dirty="0">
                <a:solidFill>
                  <a:schemeClr val="tx1"/>
                </a:solidFill>
              </a:rPr>
              <a:t>custom lang.</a:t>
            </a:r>
          </a:p>
        </p:txBody>
      </p:sp>
      <p:sp>
        <p:nvSpPr>
          <p:cNvPr id="27" name="Rectangle 26"/>
          <p:cNvSpPr/>
          <p:nvPr/>
        </p:nvSpPr>
        <p:spPr>
          <a:xfrm>
            <a:off x="4443428" y="4633545"/>
            <a:ext cx="2268000" cy="1296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r>
              <a:rPr lang="en-GB" b="1" dirty="0">
                <a:solidFill>
                  <a:schemeClr val="tx1"/>
                </a:solidFill>
              </a:rPr>
              <a:t>Dart</a:t>
            </a:r>
          </a:p>
          <a:p>
            <a:r>
              <a:rPr lang="en-GB" dirty="0">
                <a:solidFill>
                  <a:schemeClr val="tx1"/>
                </a:solidFill>
                <a:hlinkClick r:id="rId3"/>
              </a:rPr>
              <a:t>http://dartlang.org</a:t>
            </a:r>
            <a:endParaRPr lang="en-GB" dirty="0">
              <a:solidFill>
                <a:schemeClr val="tx1"/>
              </a:solidFill>
            </a:endParaRPr>
          </a:p>
          <a:p>
            <a:r>
              <a:rPr lang="en-GB" dirty="0">
                <a:solidFill>
                  <a:schemeClr val="tx1"/>
                </a:solidFill>
              </a:rPr>
              <a:t>custom lang.</a:t>
            </a:r>
          </a:p>
          <a:p>
            <a:r>
              <a:rPr lang="en-GB" dirty="0">
                <a:solidFill>
                  <a:schemeClr val="tx1"/>
                </a:solidFill>
              </a:rPr>
              <a:t>by Google</a:t>
            </a:r>
          </a:p>
        </p:txBody>
      </p:sp>
      <p:sp>
        <p:nvSpPr>
          <p:cNvPr id="38" name="Rectangle 37"/>
          <p:cNvSpPr/>
          <p:nvPr/>
        </p:nvSpPr>
        <p:spPr>
          <a:xfrm>
            <a:off x="6541269" y="4489385"/>
            <a:ext cx="2267744" cy="1296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r>
              <a:rPr lang="en-GB" b="1" dirty="0" err="1">
                <a:solidFill>
                  <a:schemeClr val="tx1"/>
                </a:solidFill>
              </a:rPr>
              <a:t>Clojurescript</a:t>
            </a:r>
            <a:endParaRPr lang="en-GB" b="1" dirty="0">
              <a:solidFill>
                <a:schemeClr val="tx1"/>
              </a:solidFill>
            </a:endParaRPr>
          </a:p>
          <a:p>
            <a:r>
              <a:rPr lang="en-GB" dirty="0">
                <a:solidFill>
                  <a:schemeClr val="tx1"/>
                </a:solidFill>
                <a:hlinkClick r:id="rId4"/>
              </a:rPr>
              <a:t>github.com</a:t>
            </a:r>
            <a:endParaRPr lang="en-GB" dirty="0">
              <a:solidFill>
                <a:schemeClr val="tx1"/>
              </a:solidFill>
            </a:endParaRPr>
          </a:p>
          <a:p>
            <a:r>
              <a:rPr lang="en-GB" dirty="0">
                <a:solidFill>
                  <a:schemeClr val="tx1"/>
                </a:solidFill>
              </a:rPr>
              <a:t>custom lang.</a:t>
            </a:r>
          </a:p>
        </p:txBody>
      </p:sp>
      <p:sp>
        <p:nvSpPr>
          <p:cNvPr id="11" name="Rectangle 10"/>
          <p:cNvSpPr/>
          <p:nvPr/>
        </p:nvSpPr>
        <p:spPr>
          <a:xfrm>
            <a:off x="1038226" y="1727283"/>
            <a:ext cx="10285630" cy="1296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s-ES" sz="2800" b="1" dirty="0">
                <a:solidFill>
                  <a:schemeClr val="tx1"/>
                </a:solidFill>
              </a:rPr>
              <a:t>Desarrollo de JavaScript de núcleo duro</a:t>
            </a:r>
          </a:p>
          <a:p>
            <a:pPr algn="ctr"/>
            <a:r>
              <a:rPr lang="en-GB" sz="2800" b="1" dirty="0" err="1">
                <a:solidFill>
                  <a:schemeClr val="tx1"/>
                </a:solidFill>
              </a:rPr>
              <a:t>Preprocesadores</a:t>
            </a:r>
            <a:r>
              <a:rPr lang="en-GB" sz="2800" b="1" dirty="0">
                <a:solidFill>
                  <a:schemeClr val="tx1"/>
                </a:solidFill>
              </a:rPr>
              <a:t> JavaScript que </a:t>
            </a:r>
            <a:r>
              <a:rPr lang="en-GB" sz="2800" b="1" dirty="0" err="1">
                <a:solidFill>
                  <a:schemeClr val="tx1"/>
                </a:solidFill>
              </a:rPr>
              <a:t>compilan</a:t>
            </a:r>
            <a:r>
              <a:rPr lang="en-GB" sz="2800" b="1" dirty="0">
                <a:solidFill>
                  <a:schemeClr val="tx1"/>
                </a:solidFill>
              </a:rPr>
              <a:t> a JavaScript</a:t>
            </a:r>
          </a:p>
        </p:txBody>
      </p:sp>
      <p:sp>
        <p:nvSpPr>
          <p:cNvPr id="13" name="Rectangle 12"/>
          <p:cNvSpPr/>
          <p:nvPr/>
        </p:nvSpPr>
        <p:spPr>
          <a:xfrm>
            <a:off x="8521078" y="4489385"/>
            <a:ext cx="2267744" cy="1296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r>
              <a:rPr lang="en-GB" b="1" dirty="0">
                <a:solidFill>
                  <a:schemeClr val="tx1"/>
                </a:solidFill>
              </a:rPr>
              <a:t>Script#</a:t>
            </a:r>
          </a:p>
          <a:p>
            <a:r>
              <a:rPr lang="en-GB" dirty="0">
                <a:solidFill>
                  <a:schemeClr val="tx1"/>
                </a:solidFill>
                <a:hlinkClick r:id="rId5"/>
              </a:rPr>
              <a:t>github.com</a:t>
            </a:r>
            <a:endParaRPr lang="en-GB" dirty="0">
              <a:solidFill>
                <a:schemeClr val="tx1"/>
              </a:solidFill>
            </a:endParaRPr>
          </a:p>
          <a:p>
            <a:r>
              <a:rPr lang="en-GB" dirty="0">
                <a:solidFill>
                  <a:schemeClr val="tx1"/>
                </a:solidFill>
              </a:rPr>
              <a:t>C#</a:t>
            </a:r>
          </a:p>
        </p:txBody>
      </p:sp>
      <p:pic>
        <p:nvPicPr>
          <p:cNvPr id="3" name="Picture 2"/>
          <p:cNvPicPr>
            <a:picLocks noChangeAspect="1"/>
          </p:cNvPicPr>
          <p:nvPr/>
        </p:nvPicPr>
        <p:blipFill>
          <a:blip r:embed="rId6"/>
          <a:stretch>
            <a:fillRect/>
          </a:stretch>
        </p:blipFill>
        <p:spPr>
          <a:xfrm>
            <a:off x="2284412" y="3200400"/>
            <a:ext cx="1322741" cy="1315998"/>
          </a:xfrm>
          <a:prstGeom prst="rect">
            <a:avLst/>
          </a:prstGeom>
        </p:spPr>
      </p:pic>
      <p:pic>
        <p:nvPicPr>
          <p:cNvPr id="4" name="Picture 3"/>
          <p:cNvPicPr>
            <a:picLocks noChangeAspect="1"/>
          </p:cNvPicPr>
          <p:nvPr/>
        </p:nvPicPr>
        <p:blipFill>
          <a:blip r:embed="rId7"/>
          <a:stretch>
            <a:fillRect/>
          </a:stretch>
        </p:blipFill>
        <p:spPr>
          <a:xfrm>
            <a:off x="4443427" y="3214928"/>
            <a:ext cx="1286121" cy="1299538"/>
          </a:xfrm>
          <a:prstGeom prst="rect">
            <a:avLst/>
          </a:prstGeom>
        </p:spPr>
      </p:pic>
      <p:pic>
        <p:nvPicPr>
          <p:cNvPr id="5" name="Picture 4"/>
          <p:cNvPicPr>
            <a:picLocks noChangeAspect="1"/>
          </p:cNvPicPr>
          <p:nvPr/>
        </p:nvPicPr>
        <p:blipFill>
          <a:blip r:embed="rId8"/>
          <a:stretch>
            <a:fillRect/>
          </a:stretch>
        </p:blipFill>
        <p:spPr>
          <a:xfrm>
            <a:off x="6373118" y="3199627"/>
            <a:ext cx="1444293" cy="1317544"/>
          </a:xfrm>
          <a:prstGeom prst="rect">
            <a:avLst/>
          </a:prstGeom>
        </p:spPr>
      </p:pic>
      <p:sp>
        <p:nvSpPr>
          <p:cNvPr id="18" name="Rectangle 17"/>
          <p:cNvSpPr/>
          <p:nvPr/>
        </p:nvSpPr>
        <p:spPr>
          <a:xfrm>
            <a:off x="8515585" y="3214675"/>
            <a:ext cx="1254733" cy="1287448"/>
          </a:xfrm>
          <a:prstGeom prst="rect">
            <a:avLst/>
          </a:prstGeom>
          <a:solidFill>
            <a:srgbClr val="009F3C"/>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5400" b="1" dirty="0">
                <a:solidFill>
                  <a:schemeClr val="tx1"/>
                </a:solidFill>
              </a:rPr>
              <a:t>S#</a:t>
            </a:r>
            <a:endParaRPr lang="en-GB" sz="5400" dirty="0"/>
          </a:p>
        </p:txBody>
      </p:sp>
    </p:spTree>
    <p:extLst>
      <p:ext uri="{BB962C8B-B14F-4D97-AF65-F5344CB8AC3E}">
        <p14:creationId xmlns:p14="http://schemas.microsoft.com/office/powerpoint/2010/main" val="20543546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C9B064-86E8-4CC5-A98A-3859249EFEB0}"/>
              </a:ext>
            </a:extLst>
          </p:cNvPr>
          <p:cNvSpPr>
            <a:spLocks noGrp="1"/>
          </p:cNvSpPr>
          <p:nvPr>
            <p:ph type="title"/>
          </p:nvPr>
        </p:nvSpPr>
        <p:spPr/>
        <p:txBody>
          <a:bodyPr>
            <a:normAutofit fontScale="90000"/>
          </a:bodyPr>
          <a:lstStyle/>
          <a:p>
            <a:r>
              <a:rPr lang="es-ES" dirty="0"/>
              <a:t>Entorno de desarrollo</a:t>
            </a:r>
          </a:p>
        </p:txBody>
      </p:sp>
      <p:pic>
        <p:nvPicPr>
          <p:cNvPr id="9" name="Marcador de contenido 8">
            <a:extLst>
              <a:ext uri="{FF2B5EF4-FFF2-40B4-BE49-F238E27FC236}">
                <a16:creationId xmlns:a16="http://schemas.microsoft.com/office/drawing/2014/main" id="{BFC9CB7C-19B5-467A-84E2-DFF5A97BAAFC}"/>
              </a:ext>
            </a:extLst>
          </p:cNvPr>
          <p:cNvPicPr>
            <a:picLocks noGrp="1" noChangeAspect="1"/>
          </p:cNvPicPr>
          <p:nvPr>
            <p:ph idx="1"/>
          </p:nvPr>
        </p:nvPicPr>
        <p:blipFill>
          <a:blip r:embed="rId2"/>
          <a:stretch>
            <a:fillRect/>
          </a:stretch>
        </p:blipFill>
        <p:spPr>
          <a:xfrm>
            <a:off x="838200" y="1880655"/>
            <a:ext cx="10512425" cy="4187302"/>
          </a:xfrm>
        </p:spPr>
      </p:pic>
      <p:sp>
        <p:nvSpPr>
          <p:cNvPr id="4" name="Marcador de número de diapositiva 3">
            <a:extLst>
              <a:ext uri="{FF2B5EF4-FFF2-40B4-BE49-F238E27FC236}">
                <a16:creationId xmlns:a16="http://schemas.microsoft.com/office/drawing/2014/main" id="{8A12558B-83A6-4721-8F44-8605B8F15E04}"/>
              </a:ext>
            </a:extLst>
          </p:cNvPr>
          <p:cNvSpPr>
            <a:spLocks noGrp="1"/>
          </p:cNvSpPr>
          <p:nvPr>
            <p:ph type="sldNum" sz="quarter" idx="4294967295"/>
          </p:nvPr>
        </p:nvSpPr>
        <p:spPr>
          <a:xfrm>
            <a:off x="9447213" y="6356350"/>
            <a:ext cx="2741612" cy="365125"/>
          </a:xfrm>
          <a:prstGeom prst="rect">
            <a:avLst/>
          </a:prstGeom>
        </p:spPr>
        <p:txBody>
          <a:bodyPr/>
          <a:lstStyle/>
          <a:p>
            <a:fld id="{C014DD1E-5D91-48A3-AD6D-45FBA980D106}" type="slidenum">
              <a:rPr lang="en-US" smtClean="0"/>
              <a:pPr/>
              <a:t>10</a:t>
            </a:fld>
            <a:endParaRPr lang="en-US" dirty="0"/>
          </a:p>
        </p:txBody>
      </p:sp>
    </p:spTree>
    <p:extLst>
      <p:ext uri="{BB962C8B-B14F-4D97-AF65-F5344CB8AC3E}">
        <p14:creationId xmlns:p14="http://schemas.microsoft.com/office/powerpoint/2010/main" val="33414268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F63BE-0365-4D10-BD6E-8713573FC137}"/>
              </a:ext>
            </a:extLst>
          </p:cNvPr>
          <p:cNvSpPr>
            <a:spLocks noGrp="1"/>
          </p:cNvSpPr>
          <p:nvPr>
            <p:ph type="title"/>
          </p:nvPr>
        </p:nvSpPr>
        <p:spPr/>
        <p:txBody>
          <a:bodyPr>
            <a:normAutofit fontScale="90000"/>
          </a:bodyPr>
          <a:lstStyle/>
          <a:p>
            <a:r>
              <a:rPr lang="en-IN" dirty="0"/>
              <a:t>TS Compiler</a:t>
            </a:r>
          </a:p>
        </p:txBody>
      </p:sp>
      <p:pic>
        <p:nvPicPr>
          <p:cNvPr id="13315" name="Picture 3" descr="Machine generated alternative text:&#10;TypeScript &#10;Encapsulation &#10;class Greeter { &#10;greeting: string; &#10;Static Typing &#10;var &#10;constructor (message: string) { &#10;this . greeting &#10;greet() { &#10;return &#10;&quot;Hello, &quot; &#10;— message; &#10;+ this. greeting; &#10;JavaScript &#10;= (function ( ) { &#10;Greeter &#10;function Greeter (message) { &#10;this. greeting message; &#10;Greeter. prototype . greet = function ( ) { &#10;+ this . greeting; &#10;return &quot;Hello, ' &#10;return Greeter ; ">
            <a:extLst>
              <a:ext uri="{FF2B5EF4-FFF2-40B4-BE49-F238E27FC236}">
                <a16:creationId xmlns:a16="http://schemas.microsoft.com/office/drawing/2014/main" id="{EEEE7506-DDC0-49A0-A11B-490C62787C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5412" y="3429000"/>
            <a:ext cx="7010953" cy="3315596"/>
          </a:xfrm>
          <a:prstGeom prst="rect">
            <a:avLst/>
          </a:prstGeom>
          <a:noFill/>
          <a:extLst>
            <a:ext uri="{909E8E84-426E-40DD-AFC4-6F175D3DCCD1}">
              <a14:hiddenFill xmlns:a14="http://schemas.microsoft.com/office/drawing/2010/main">
                <a:solidFill>
                  <a:srgbClr val="FFFFFF"/>
                </a:solidFill>
              </a14:hiddenFill>
            </a:ext>
          </a:extLst>
        </p:spPr>
      </p:pic>
      <p:pic>
        <p:nvPicPr>
          <p:cNvPr id="13314" name="Picture 2" descr="Machine generated alternative text:&#10;IYpeScript &#10;JavaScript &#10;tsc first.ts ">
            <a:extLst>
              <a:ext uri="{FF2B5EF4-FFF2-40B4-BE49-F238E27FC236}">
                <a16:creationId xmlns:a16="http://schemas.microsoft.com/office/drawing/2014/main" id="{0E993331-1583-4B5A-A90F-C7B711450C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87774" y="1447800"/>
            <a:ext cx="7010955" cy="17527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76205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Title 128"/>
          <p:cNvSpPr>
            <a:spLocks noGrp="1"/>
          </p:cNvSpPr>
          <p:nvPr>
            <p:ph type="title"/>
          </p:nvPr>
        </p:nvSpPr>
        <p:spPr/>
        <p:txBody>
          <a:bodyPr/>
          <a:lstStyle/>
          <a:p>
            <a:r>
              <a:rPr lang="en-US" dirty="0"/>
              <a:t>La </a:t>
            </a:r>
            <a:r>
              <a:rPr lang="en-US" dirty="0" err="1"/>
              <a:t>brecha</a:t>
            </a:r>
            <a:r>
              <a:rPr lang="en-US" dirty="0"/>
              <a:t> de </a:t>
            </a:r>
            <a:r>
              <a:rPr lang="en-US" dirty="0" err="1"/>
              <a:t>características</a:t>
            </a:r>
            <a:endParaRPr lang="en-US" dirty="0"/>
          </a:p>
        </p:txBody>
      </p:sp>
      <p:grpSp>
        <p:nvGrpSpPr>
          <p:cNvPr id="24" name="Group 23"/>
          <p:cNvGrpSpPr/>
          <p:nvPr/>
        </p:nvGrpSpPr>
        <p:grpSpPr>
          <a:xfrm>
            <a:off x="6603750" y="2294856"/>
            <a:ext cx="1572980" cy="1566932"/>
            <a:chOff x="8101855" y="2009972"/>
            <a:chExt cx="1604939" cy="2800010"/>
          </a:xfrm>
        </p:grpSpPr>
        <p:cxnSp>
          <p:nvCxnSpPr>
            <p:cNvPr id="105" name="Straight Connector 104"/>
            <p:cNvCxnSpPr/>
            <p:nvPr/>
          </p:nvCxnSpPr>
          <p:spPr>
            <a:xfrm flipH="1">
              <a:off x="8904325" y="2009972"/>
              <a:ext cx="3883" cy="1501336"/>
            </a:xfrm>
            <a:prstGeom prst="line">
              <a:avLst/>
            </a:prstGeom>
            <a:ln w="38100">
              <a:headEnd type="none"/>
              <a:tailEnd type="none"/>
            </a:ln>
          </p:spPr>
          <p:style>
            <a:lnRef idx="1">
              <a:schemeClr val="accent6"/>
            </a:lnRef>
            <a:fillRef idx="0">
              <a:schemeClr val="accent6"/>
            </a:fillRef>
            <a:effectRef idx="0">
              <a:schemeClr val="accent6"/>
            </a:effectRef>
            <a:fontRef idx="minor">
              <a:schemeClr val="tx1"/>
            </a:fontRef>
          </p:style>
        </p:cxnSp>
        <p:sp>
          <p:nvSpPr>
            <p:cNvPr id="108" name="TextBox 107"/>
            <p:cNvSpPr txBox="1"/>
            <p:nvPr/>
          </p:nvSpPr>
          <p:spPr>
            <a:xfrm>
              <a:off x="8101855" y="3419295"/>
              <a:ext cx="1604939" cy="1390687"/>
            </a:xfrm>
            <a:prstGeom prst="rect">
              <a:avLst/>
            </a:prstGeom>
            <a:noFill/>
          </p:spPr>
          <p:txBody>
            <a:bodyPr wrap="square" lIns="179238" tIns="143391" rIns="179238" bIns="143391" rtlCol="0">
              <a:spAutoFit/>
            </a:bodyPr>
            <a:lstStyle/>
            <a:p>
              <a:pPr algn="ctr" defTabSz="896203">
                <a:lnSpc>
                  <a:spcPct val="90000"/>
                </a:lnSpc>
                <a:spcAft>
                  <a:spcPts val="588"/>
                </a:spcAft>
                <a:defRPr/>
              </a:pPr>
              <a:r>
                <a:rPr lang="en-US" sz="1764" kern="0" dirty="0">
                  <a:gradFill>
                    <a:gsLst>
                      <a:gs pos="2917">
                        <a:srgbClr val="505050"/>
                      </a:gs>
                      <a:gs pos="30000">
                        <a:srgbClr val="505050"/>
                      </a:gs>
                    </a:gsLst>
                    <a:lin ang="5400000" scaled="0"/>
                  </a:gradFill>
                  <a:latin typeface="Segoe UI"/>
                </a:rPr>
                <a:t>State of</a:t>
              </a:r>
              <a:br>
                <a:rPr lang="en-US" sz="1764" kern="0" dirty="0">
                  <a:gradFill>
                    <a:gsLst>
                      <a:gs pos="2917">
                        <a:srgbClr val="505050"/>
                      </a:gs>
                      <a:gs pos="30000">
                        <a:srgbClr val="505050"/>
                      </a:gs>
                    </a:gsLst>
                    <a:lin ang="5400000" scaled="0"/>
                  </a:gradFill>
                  <a:latin typeface="Segoe UI"/>
                </a:rPr>
              </a:br>
              <a:r>
                <a:rPr lang="en-US" sz="1764" kern="0" dirty="0">
                  <a:gradFill>
                    <a:gsLst>
                      <a:gs pos="2917">
                        <a:srgbClr val="505050"/>
                      </a:gs>
                      <a:gs pos="30000">
                        <a:srgbClr val="505050"/>
                      </a:gs>
                    </a:gsLst>
                    <a:lin ang="5400000" scaled="0"/>
                  </a:gradFill>
                  <a:latin typeface="Segoe UI"/>
                </a:rPr>
                <a:t>the art JS</a:t>
              </a:r>
            </a:p>
          </p:txBody>
        </p:sp>
      </p:grpSp>
      <p:grpSp>
        <p:nvGrpSpPr>
          <p:cNvPr id="23" name="Group 22"/>
          <p:cNvGrpSpPr/>
          <p:nvPr/>
        </p:nvGrpSpPr>
        <p:grpSpPr>
          <a:xfrm>
            <a:off x="4781979" y="2317019"/>
            <a:ext cx="1428526" cy="1534384"/>
            <a:chOff x="6055494" y="1997231"/>
            <a:chExt cx="1457550" cy="2786423"/>
          </a:xfrm>
        </p:grpSpPr>
        <p:cxnSp>
          <p:nvCxnSpPr>
            <p:cNvPr id="121" name="Straight Connector 120"/>
            <p:cNvCxnSpPr/>
            <p:nvPr/>
          </p:nvCxnSpPr>
          <p:spPr>
            <a:xfrm>
              <a:off x="6788290" y="1997231"/>
              <a:ext cx="8742" cy="1494582"/>
            </a:xfrm>
            <a:prstGeom prst="line">
              <a:avLst/>
            </a:prstGeom>
            <a:ln w="38100">
              <a:solidFill>
                <a:schemeClr val="accent6"/>
              </a:solidFill>
              <a:headEnd type="none"/>
              <a:tailEnd type="none"/>
            </a:ln>
          </p:spPr>
          <p:style>
            <a:lnRef idx="1">
              <a:schemeClr val="accent6"/>
            </a:lnRef>
            <a:fillRef idx="0">
              <a:schemeClr val="accent6"/>
            </a:fillRef>
            <a:effectRef idx="0">
              <a:schemeClr val="accent6"/>
            </a:effectRef>
            <a:fontRef idx="minor">
              <a:schemeClr val="tx1"/>
            </a:fontRef>
          </p:style>
        </p:cxnSp>
        <p:sp>
          <p:nvSpPr>
            <p:cNvPr id="122" name="TextBox 121"/>
            <p:cNvSpPr txBox="1"/>
            <p:nvPr/>
          </p:nvSpPr>
          <p:spPr>
            <a:xfrm>
              <a:off x="6055494" y="3370358"/>
              <a:ext cx="1457550" cy="1413296"/>
            </a:xfrm>
            <a:prstGeom prst="rect">
              <a:avLst/>
            </a:prstGeom>
            <a:noFill/>
          </p:spPr>
          <p:txBody>
            <a:bodyPr wrap="square" lIns="179238" tIns="143391" rIns="179238" bIns="143391" rtlCol="0">
              <a:spAutoFit/>
            </a:bodyPr>
            <a:lstStyle/>
            <a:p>
              <a:pPr algn="ctr" defTabSz="896203">
                <a:lnSpc>
                  <a:spcPct val="90000"/>
                </a:lnSpc>
                <a:spcAft>
                  <a:spcPts val="588"/>
                </a:spcAft>
                <a:defRPr/>
              </a:pPr>
              <a:r>
                <a:rPr lang="en-US" sz="1764" kern="0" dirty="0">
                  <a:gradFill>
                    <a:gsLst>
                      <a:gs pos="2917">
                        <a:srgbClr val="505050"/>
                      </a:gs>
                      <a:gs pos="30000">
                        <a:srgbClr val="505050"/>
                      </a:gs>
                    </a:gsLst>
                    <a:lin ang="5400000" scaled="0"/>
                  </a:gradFill>
                  <a:latin typeface="Segoe UI"/>
                </a:rPr>
                <a:t>State of server JS</a:t>
              </a:r>
            </a:p>
          </p:txBody>
        </p:sp>
      </p:grpSp>
      <p:grpSp>
        <p:nvGrpSpPr>
          <p:cNvPr id="22" name="Group 21"/>
          <p:cNvGrpSpPr/>
          <p:nvPr/>
        </p:nvGrpSpPr>
        <p:grpSpPr>
          <a:xfrm>
            <a:off x="3536404" y="2304676"/>
            <a:ext cx="1424639" cy="1560041"/>
            <a:chOff x="1874070" y="2016284"/>
            <a:chExt cx="1453585" cy="2806196"/>
          </a:xfrm>
        </p:grpSpPr>
        <p:cxnSp>
          <p:nvCxnSpPr>
            <p:cNvPr id="109" name="Straight Connector 108"/>
            <p:cNvCxnSpPr/>
            <p:nvPr/>
          </p:nvCxnSpPr>
          <p:spPr>
            <a:xfrm>
              <a:off x="2600680" y="2016284"/>
              <a:ext cx="11286" cy="1501337"/>
            </a:xfrm>
            <a:prstGeom prst="line">
              <a:avLst/>
            </a:prstGeom>
            <a:ln w="38100">
              <a:solidFill>
                <a:schemeClr val="accent6"/>
              </a:solidFill>
              <a:headEnd type="none"/>
              <a:tailEnd type="none"/>
            </a:ln>
          </p:spPr>
          <p:style>
            <a:lnRef idx="1">
              <a:schemeClr val="accent6"/>
            </a:lnRef>
            <a:fillRef idx="0">
              <a:schemeClr val="accent6"/>
            </a:fillRef>
            <a:effectRef idx="0">
              <a:schemeClr val="accent6"/>
            </a:effectRef>
            <a:fontRef idx="minor">
              <a:schemeClr val="tx1"/>
            </a:fontRef>
          </p:style>
        </p:cxnSp>
        <p:sp>
          <p:nvSpPr>
            <p:cNvPr id="123" name="TextBox 122"/>
            <p:cNvSpPr txBox="1"/>
            <p:nvPr/>
          </p:nvSpPr>
          <p:spPr>
            <a:xfrm>
              <a:off x="1874070" y="3422564"/>
              <a:ext cx="1453585" cy="1399916"/>
            </a:xfrm>
            <a:prstGeom prst="rect">
              <a:avLst/>
            </a:prstGeom>
            <a:noFill/>
          </p:spPr>
          <p:txBody>
            <a:bodyPr wrap="square" lIns="179238" tIns="143391" rIns="179238" bIns="143391" rtlCol="0">
              <a:spAutoFit/>
            </a:bodyPr>
            <a:lstStyle/>
            <a:p>
              <a:pPr algn="ctr" defTabSz="896203">
                <a:lnSpc>
                  <a:spcPct val="90000"/>
                </a:lnSpc>
                <a:spcAft>
                  <a:spcPts val="588"/>
                </a:spcAft>
                <a:defRPr/>
              </a:pPr>
              <a:r>
                <a:rPr lang="en-US" sz="1764" kern="0" dirty="0">
                  <a:gradFill>
                    <a:gsLst>
                      <a:gs pos="2917">
                        <a:srgbClr val="505050"/>
                      </a:gs>
                      <a:gs pos="30000">
                        <a:srgbClr val="505050"/>
                      </a:gs>
                    </a:gsLst>
                    <a:lin ang="5400000" scaled="0"/>
                  </a:gradFill>
                  <a:latin typeface="Segoe UI"/>
                </a:rPr>
                <a:t>State of</a:t>
              </a:r>
              <a:br>
                <a:rPr lang="en-US" sz="1764" kern="0" dirty="0">
                  <a:gradFill>
                    <a:gsLst>
                      <a:gs pos="2917">
                        <a:srgbClr val="505050"/>
                      </a:gs>
                      <a:gs pos="30000">
                        <a:srgbClr val="505050"/>
                      </a:gs>
                    </a:gsLst>
                    <a:lin ang="5400000" scaled="0"/>
                  </a:gradFill>
                  <a:latin typeface="Segoe UI"/>
                </a:rPr>
              </a:br>
              <a:r>
                <a:rPr lang="en-US" sz="1764" kern="0" dirty="0">
                  <a:gradFill>
                    <a:gsLst>
                      <a:gs pos="2917">
                        <a:srgbClr val="505050"/>
                      </a:gs>
                      <a:gs pos="30000">
                        <a:srgbClr val="505050"/>
                      </a:gs>
                    </a:gsLst>
                    <a:lin ang="5400000" scaled="0"/>
                  </a:gradFill>
                  <a:latin typeface="Segoe UI"/>
                </a:rPr>
                <a:t>web JS</a:t>
              </a:r>
            </a:p>
          </p:txBody>
        </p:sp>
      </p:grpSp>
      <p:grpSp>
        <p:nvGrpSpPr>
          <p:cNvPr id="159" name="Group 158"/>
          <p:cNvGrpSpPr/>
          <p:nvPr/>
        </p:nvGrpSpPr>
        <p:grpSpPr>
          <a:xfrm>
            <a:off x="1447710" y="3766733"/>
            <a:ext cx="8769745" cy="2026665"/>
            <a:chOff x="3598723" y="4747616"/>
            <a:chExt cx="8947927" cy="2067842"/>
          </a:xfrm>
        </p:grpSpPr>
        <p:sp>
          <p:nvSpPr>
            <p:cNvPr id="131" name="Right Brace 130"/>
            <p:cNvSpPr/>
            <p:nvPr/>
          </p:nvSpPr>
          <p:spPr>
            <a:xfrm rot="5400000">
              <a:off x="7546437" y="3909711"/>
              <a:ext cx="1052500" cy="3359643"/>
            </a:xfrm>
            <a:prstGeom prst="rightBrace">
              <a:avLst>
                <a:gd name="adj1" fmla="val 34297"/>
                <a:gd name="adj2" fmla="val 50000"/>
              </a:avLst>
            </a:prstGeom>
            <a:ln w="254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defTabSz="896203">
                <a:defRPr/>
              </a:pPr>
              <a:endParaRPr lang="en-US" sz="1764" kern="0" dirty="0">
                <a:solidFill>
                  <a:sysClr val="windowText" lastClr="000000"/>
                </a:solidFill>
                <a:latin typeface="Segoe UI"/>
              </a:endParaRPr>
            </a:p>
          </p:txBody>
        </p:sp>
        <p:sp>
          <p:nvSpPr>
            <p:cNvPr id="139" name="TextBox 138"/>
            <p:cNvSpPr txBox="1"/>
            <p:nvPr/>
          </p:nvSpPr>
          <p:spPr>
            <a:xfrm>
              <a:off x="3598723" y="6187594"/>
              <a:ext cx="8947927" cy="627864"/>
            </a:xfrm>
            <a:prstGeom prst="rect">
              <a:avLst/>
            </a:prstGeom>
            <a:noFill/>
          </p:spPr>
          <p:txBody>
            <a:bodyPr wrap="square" lIns="179238" tIns="143391" rIns="179238" bIns="143391" rtlCol="0">
              <a:spAutoFit/>
            </a:bodyPr>
            <a:lstStyle/>
            <a:p>
              <a:pPr algn="ctr" defTabSz="896203">
                <a:lnSpc>
                  <a:spcPct val="90000"/>
                </a:lnSpc>
                <a:spcAft>
                  <a:spcPts val="588"/>
                </a:spcAft>
                <a:defRPr/>
              </a:pPr>
              <a:r>
                <a:rPr lang="en-US" sz="2352" kern="0" dirty="0">
                  <a:gradFill>
                    <a:gsLst>
                      <a:gs pos="2917">
                        <a:srgbClr val="505050"/>
                      </a:gs>
                      <a:gs pos="30000">
                        <a:srgbClr val="505050"/>
                      </a:gs>
                    </a:gsLst>
                    <a:lin ang="5400000" scaled="0"/>
                  </a:gradFill>
                  <a:latin typeface="Segoe UI"/>
                </a:rPr>
                <a:t>JavaScript feature gap </a:t>
              </a:r>
            </a:p>
          </p:txBody>
        </p:sp>
        <p:sp>
          <p:nvSpPr>
            <p:cNvPr id="144" name="Right Arrow 143"/>
            <p:cNvSpPr/>
            <p:nvPr/>
          </p:nvSpPr>
          <p:spPr bwMode="auto">
            <a:xfrm>
              <a:off x="4322674" y="4747616"/>
              <a:ext cx="1894614" cy="1069215"/>
            </a:xfrm>
            <a:prstGeom prst="rightArrow">
              <a:avLst/>
            </a:prstGeom>
            <a:solidFill>
              <a:srgbClr val="C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89619" tIns="89619" rIns="33611" bIns="33611" rtlCol="0" anchor="b" anchorCtr="0"/>
            <a:lstStyle/>
            <a:p>
              <a:pPr algn="ctr" defTabSz="913851">
                <a:defRPr/>
              </a:pPr>
              <a:r>
                <a:rPr lang="en-US" sz="1568" kern="0" dirty="0">
                  <a:gradFill>
                    <a:gsLst>
                      <a:gs pos="0">
                        <a:srgbClr val="FFFFFF"/>
                      </a:gs>
                      <a:gs pos="100000">
                        <a:srgbClr val="FFFFFF"/>
                      </a:gs>
                    </a:gsLst>
                    <a:lin ang="5400000" scaled="0"/>
                  </a:gradFill>
                  <a:latin typeface="Segoe UI"/>
                  <a:ea typeface="Segoe UI" pitchFamily="34" charset="0"/>
                  <a:cs typeface="Segoe UI" pitchFamily="34" charset="0"/>
                </a:rPr>
                <a:t>Target</a:t>
              </a:r>
            </a:p>
            <a:p>
              <a:pPr algn="ctr" defTabSz="913851">
                <a:defRPr/>
              </a:pPr>
              <a:endParaRPr lang="en-US" sz="882" kern="0"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47" name="Left Arrow 146"/>
            <p:cNvSpPr/>
            <p:nvPr/>
          </p:nvSpPr>
          <p:spPr bwMode="auto">
            <a:xfrm>
              <a:off x="9947704" y="4747616"/>
              <a:ext cx="1841431" cy="1048319"/>
            </a:xfrm>
            <a:prstGeom prst="leftArrow">
              <a:avLst/>
            </a:prstGeom>
            <a:solidFill>
              <a:srgbClr val="107C1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89619" tIns="89619" rIns="33611" bIns="33611" rtlCol="0" anchor="b" anchorCtr="0"/>
            <a:lstStyle/>
            <a:p>
              <a:pPr algn="ctr" defTabSz="913851">
                <a:defRPr/>
              </a:pPr>
              <a:r>
                <a:rPr lang="en-US" sz="1568" kern="0" dirty="0">
                  <a:gradFill>
                    <a:gsLst>
                      <a:gs pos="0">
                        <a:srgbClr val="FFFFFF"/>
                      </a:gs>
                      <a:gs pos="100000">
                        <a:srgbClr val="FFFFFF"/>
                      </a:gs>
                    </a:gsLst>
                    <a:lin ang="5400000" scaled="0"/>
                  </a:gradFill>
                  <a:latin typeface="Segoe UI"/>
                  <a:ea typeface="Segoe UI" pitchFamily="34" charset="0"/>
                  <a:cs typeface="Segoe UI" pitchFamily="34" charset="0"/>
                </a:rPr>
                <a:t>Productivity</a:t>
              </a:r>
            </a:p>
            <a:p>
              <a:pPr algn="ctr" defTabSz="913851">
                <a:defRPr/>
              </a:pPr>
              <a:endParaRPr lang="en-US" sz="784" kern="0" dirty="0">
                <a:gradFill>
                  <a:gsLst>
                    <a:gs pos="0">
                      <a:srgbClr val="FFFFFF"/>
                    </a:gs>
                    <a:gs pos="100000">
                      <a:srgbClr val="FFFFFF"/>
                    </a:gs>
                  </a:gsLst>
                  <a:lin ang="5400000" scaled="0"/>
                </a:gradFill>
                <a:latin typeface="Segoe UI"/>
                <a:ea typeface="Segoe UI" pitchFamily="34" charset="0"/>
                <a:cs typeface="Segoe UI" pitchFamily="34" charset="0"/>
              </a:endParaRPr>
            </a:p>
          </p:txBody>
        </p:sp>
      </p:grpSp>
      <p:grpSp>
        <p:nvGrpSpPr>
          <p:cNvPr id="148" name="Group 147"/>
          <p:cNvGrpSpPr/>
          <p:nvPr/>
        </p:nvGrpSpPr>
        <p:grpSpPr>
          <a:xfrm>
            <a:off x="791947" y="964473"/>
            <a:ext cx="10761050" cy="1728805"/>
            <a:chOff x="876569" y="415568"/>
            <a:chExt cx="10979691" cy="1763930"/>
          </a:xfrm>
        </p:grpSpPr>
        <p:cxnSp>
          <p:nvCxnSpPr>
            <p:cNvPr id="3" name="Straight Connector 2"/>
            <p:cNvCxnSpPr>
              <a:cxnSpLocks/>
            </p:cNvCxnSpPr>
            <p:nvPr/>
          </p:nvCxnSpPr>
          <p:spPr>
            <a:xfrm flipV="1">
              <a:off x="2560637" y="1772981"/>
              <a:ext cx="9295623" cy="11306"/>
            </a:xfrm>
            <a:prstGeom prst="line">
              <a:avLst/>
            </a:prstGeom>
            <a:ln w="38100">
              <a:solidFill>
                <a:schemeClr val="tx1"/>
              </a:solidFill>
              <a:headEnd type="none"/>
              <a:tailEnd type="arrow" w="lg" len="lg"/>
            </a:ln>
          </p:spPr>
          <p:style>
            <a:lnRef idx="1">
              <a:schemeClr val="accent1"/>
            </a:lnRef>
            <a:fillRef idx="0">
              <a:schemeClr val="accent1"/>
            </a:fillRef>
            <a:effectRef idx="0">
              <a:schemeClr val="accent1"/>
            </a:effectRef>
            <a:fontRef idx="minor">
              <a:schemeClr val="tx1"/>
            </a:fontRef>
          </p:style>
        </p:cxnSp>
        <p:cxnSp>
          <p:nvCxnSpPr>
            <p:cNvPr id="4" name="Straight Connector 3"/>
            <p:cNvCxnSpPr/>
            <p:nvPr/>
          </p:nvCxnSpPr>
          <p:spPr>
            <a:xfrm>
              <a:off x="2702651" y="1327087"/>
              <a:ext cx="0" cy="457200"/>
            </a:xfrm>
            <a:prstGeom prst="line">
              <a:avLst/>
            </a:prstGeom>
            <a:ln w="381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a:off x="5680466" y="1338394"/>
              <a:ext cx="0" cy="457200"/>
            </a:xfrm>
            <a:prstGeom prst="line">
              <a:avLst/>
            </a:prstGeom>
            <a:ln w="381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8580438" y="1327087"/>
              <a:ext cx="0" cy="457200"/>
            </a:xfrm>
            <a:prstGeom prst="line">
              <a:avLst/>
            </a:prstGeom>
            <a:ln w="381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10246451" y="1327087"/>
              <a:ext cx="0" cy="457200"/>
            </a:xfrm>
            <a:prstGeom prst="line">
              <a:avLst/>
            </a:prstGeom>
            <a:ln w="381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9452783" y="1327087"/>
              <a:ext cx="0" cy="457200"/>
            </a:xfrm>
            <a:prstGeom prst="line">
              <a:avLst/>
            </a:prstGeom>
            <a:ln w="381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7728054" y="1327087"/>
              <a:ext cx="0" cy="457200"/>
            </a:xfrm>
            <a:prstGeom prst="line">
              <a:avLst/>
            </a:prstGeom>
            <a:ln w="381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876569" y="1385434"/>
              <a:ext cx="1582715" cy="794064"/>
            </a:xfrm>
            <a:prstGeom prst="rect">
              <a:avLst/>
            </a:prstGeom>
            <a:noFill/>
          </p:spPr>
          <p:txBody>
            <a:bodyPr wrap="square" lIns="179238" tIns="143391" rIns="179238" bIns="143391" rtlCol="0">
              <a:spAutoFit/>
            </a:bodyPr>
            <a:lstStyle/>
            <a:p>
              <a:pPr algn="r" defTabSz="896203">
                <a:lnSpc>
                  <a:spcPct val="90000"/>
                </a:lnSpc>
                <a:spcAft>
                  <a:spcPts val="588"/>
                </a:spcAft>
                <a:defRPr/>
              </a:pPr>
              <a:r>
                <a:rPr lang="en-US" sz="1764" kern="0" dirty="0">
                  <a:gradFill>
                    <a:gsLst>
                      <a:gs pos="2917">
                        <a:srgbClr val="505050"/>
                      </a:gs>
                      <a:gs pos="30000">
                        <a:srgbClr val="505050"/>
                      </a:gs>
                    </a:gsLst>
                    <a:lin ang="5400000" scaled="0"/>
                  </a:gradFill>
                  <a:latin typeface="Segoe UI"/>
                </a:rPr>
                <a:t>JavaScript</a:t>
              </a:r>
              <a:br>
                <a:rPr lang="en-US" sz="1764" kern="0" dirty="0">
                  <a:gradFill>
                    <a:gsLst>
                      <a:gs pos="2917">
                        <a:srgbClr val="505050"/>
                      </a:gs>
                      <a:gs pos="30000">
                        <a:srgbClr val="505050"/>
                      </a:gs>
                    </a:gsLst>
                    <a:lin ang="5400000" scaled="0"/>
                  </a:gradFill>
                  <a:latin typeface="Segoe UI"/>
                </a:rPr>
              </a:br>
              <a:r>
                <a:rPr lang="en-US" sz="1764" kern="0" dirty="0">
                  <a:gradFill>
                    <a:gsLst>
                      <a:gs pos="2917">
                        <a:srgbClr val="505050"/>
                      </a:gs>
                      <a:gs pos="30000">
                        <a:srgbClr val="505050"/>
                      </a:gs>
                    </a:gsLst>
                    <a:lin ang="5400000" scaled="0"/>
                  </a:gradFill>
                  <a:latin typeface="Segoe UI"/>
                </a:rPr>
                <a:t>Evolution</a:t>
              </a:r>
            </a:p>
          </p:txBody>
        </p:sp>
        <p:sp>
          <p:nvSpPr>
            <p:cNvPr id="98" name="TextBox 97"/>
            <p:cNvSpPr txBox="1"/>
            <p:nvPr/>
          </p:nvSpPr>
          <p:spPr>
            <a:xfrm>
              <a:off x="2348746" y="945553"/>
              <a:ext cx="762000" cy="517065"/>
            </a:xfrm>
            <a:prstGeom prst="rect">
              <a:avLst/>
            </a:prstGeom>
            <a:noFill/>
          </p:spPr>
          <p:txBody>
            <a:bodyPr wrap="square" lIns="179238" tIns="143391" rIns="179238" bIns="143391" rtlCol="0">
              <a:spAutoFit/>
            </a:bodyPr>
            <a:lstStyle/>
            <a:p>
              <a:pPr defTabSz="896203">
                <a:lnSpc>
                  <a:spcPct val="90000"/>
                </a:lnSpc>
                <a:spcAft>
                  <a:spcPts val="588"/>
                </a:spcAft>
                <a:defRPr/>
              </a:pPr>
              <a:r>
                <a:rPr lang="en-US" sz="1568" kern="0" dirty="0">
                  <a:gradFill>
                    <a:gsLst>
                      <a:gs pos="2917">
                        <a:srgbClr val="505050"/>
                      </a:gs>
                      <a:gs pos="30000">
                        <a:srgbClr val="505050"/>
                      </a:gs>
                    </a:gsLst>
                    <a:lin ang="5400000" scaled="0"/>
                  </a:gradFill>
                  <a:latin typeface="Segoe UI"/>
                </a:rPr>
                <a:t>ES3</a:t>
              </a:r>
              <a:endParaRPr lang="en-US" sz="2352" kern="0" dirty="0">
                <a:gradFill>
                  <a:gsLst>
                    <a:gs pos="2917">
                      <a:srgbClr val="505050"/>
                    </a:gs>
                    <a:gs pos="30000">
                      <a:srgbClr val="505050"/>
                    </a:gs>
                  </a:gsLst>
                  <a:lin ang="5400000" scaled="0"/>
                </a:gradFill>
                <a:latin typeface="Segoe UI"/>
              </a:endParaRPr>
            </a:p>
          </p:txBody>
        </p:sp>
        <p:sp>
          <p:nvSpPr>
            <p:cNvPr id="99" name="TextBox 98"/>
            <p:cNvSpPr txBox="1"/>
            <p:nvPr/>
          </p:nvSpPr>
          <p:spPr>
            <a:xfrm>
              <a:off x="5303837" y="946087"/>
              <a:ext cx="762000" cy="517065"/>
            </a:xfrm>
            <a:prstGeom prst="rect">
              <a:avLst/>
            </a:prstGeom>
            <a:noFill/>
          </p:spPr>
          <p:txBody>
            <a:bodyPr wrap="square" lIns="179238" tIns="143391" rIns="179238" bIns="143391" rtlCol="0">
              <a:spAutoFit/>
            </a:bodyPr>
            <a:lstStyle/>
            <a:p>
              <a:pPr defTabSz="896203">
                <a:lnSpc>
                  <a:spcPct val="90000"/>
                </a:lnSpc>
                <a:spcAft>
                  <a:spcPts val="588"/>
                </a:spcAft>
                <a:defRPr/>
              </a:pPr>
              <a:r>
                <a:rPr lang="en-US" sz="1568" kern="0" dirty="0">
                  <a:gradFill>
                    <a:gsLst>
                      <a:gs pos="2917">
                        <a:srgbClr val="505050"/>
                      </a:gs>
                      <a:gs pos="30000">
                        <a:srgbClr val="505050"/>
                      </a:gs>
                    </a:gsLst>
                    <a:lin ang="5400000" scaled="0"/>
                  </a:gradFill>
                  <a:latin typeface="Segoe UI"/>
                </a:rPr>
                <a:t>ES5</a:t>
              </a:r>
              <a:endParaRPr lang="en-US" sz="2352" kern="0" dirty="0">
                <a:gradFill>
                  <a:gsLst>
                    <a:gs pos="2917">
                      <a:srgbClr val="505050"/>
                    </a:gs>
                    <a:gs pos="30000">
                      <a:srgbClr val="505050"/>
                    </a:gs>
                  </a:gsLst>
                  <a:lin ang="5400000" scaled="0"/>
                </a:gradFill>
                <a:latin typeface="Segoe UI"/>
              </a:endParaRPr>
            </a:p>
          </p:txBody>
        </p:sp>
        <p:sp>
          <p:nvSpPr>
            <p:cNvPr id="100" name="TextBox 99"/>
            <p:cNvSpPr txBox="1"/>
            <p:nvPr/>
          </p:nvSpPr>
          <p:spPr>
            <a:xfrm rot="18302700">
              <a:off x="8189245" y="750297"/>
              <a:ext cx="1042103" cy="517065"/>
            </a:xfrm>
            <a:prstGeom prst="rect">
              <a:avLst/>
            </a:prstGeom>
            <a:noFill/>
          </p:spPr>
          <p:txBody>
            <a:bodyPr wrap="square" lIns="179238" tIns="143391" rIns="179238" bIns="143391" rtlCol="0">
              <a:spAutoFit/>
            </a:bodyPr>
            <a:lstStyle/>
            <a:p>
              <a:pPr defTabSz="896203">
                <a:lnSpc>
                  <a:spcPct val="90000"/>
                </a:lnSpc>
                <a:spcAft>
                  <a:spcPts val="588"/>
                </a:spcAft>
                <a:defRPr/>
              </a:pPr>
              <a:r>
                <a:rPr lang="en-US" sz="1568" kern="0" dirty="0">
                  <a:gradFill>
                    <a:gsLst>
                      <a:gs pos="2917">
                        <a:srgbClr val="505050"/>
                      </a:gs>
                      <a:gs pos="30000">
                        <a:srgbClr val="505050"/>
                      </a:gs>
                    </a:gsLst>
                    <a:lin ang="5400000" scaled="0"/>
                  </a:gradFill>
                  <a:latin typeface="Segoe UI"/>
                </a:rPr>
                <a:t>ES2016</a:t>
              </a:r>
              <a:endParaRPr lang="en-US" sz="2352" kern="0" dirty="0">
                <a:gradFill>
                  <a:gsLst>
                    <a:gs pos="2917">
                      <a:srgbClr val="505050"/>
                    </a:gs>
                    <a:gs pos="30000">
                      <a:srgbClr val="505050"/>
                    </a:gs>
                  </a:gsLst>
                  <a:lin ang="5400000" scaled="0"/>
                </a:gradFill>
                <a:latin typeface="Segoe UI"/>
              </a:endParaRPr>
            </a:p>
          </p:txBody>
        </p:sp>
        <p:sp>
          <p:nvSpPr>
            <p:cNvPr id="101" name="TextBox 100"/>
            <p:cNvSpPr txBox="1"/>
            <p:nvPr/>
          </p:nvSpPr>
          <p:spPr>
            <a:xfrm rot="18302700">
              <a:off x="9096384" y="695139"/>
              <a:ext cx="1076208" cy="517065"/>
            </a:xfrm>
            <a:prstGeom prst="rect">
              <a:avLst/>
            </a:prstGeom>
            <a:noFill/>
          </p:spPr>
          <p:txBody>
            <a:bodyPr wrap="square" lIns="179238" tIns="143391" rIns="179238" bIns="143391" rtlCol="0">
              <a:spAutoFit/>
            </a:bodyPr>
            <a:lstStyle/>
            <a:p>
              <a:pPr defTabSz="896203">
                <a:lnSpc>
                  <a:spcPct val="90000"/>
                </a:lnSpc>
                <a:spcAft>
                  <a:spcPts val="588"/>
                </a:spcAft>
                <a:defRPr/>
              </a:pPr>
              <a:r>
                <a:rPr lang="en-US" sz="1568" kern="0" dirty="0">
                  <a:gradFill>
                    <a:gsLst>
                      <a:gs pos="2917">
                        <a:srgbClr val="505050"/>
                      </a:gs>
                      <a:gs pos="30000">
                        <a:srgbClr val="505050"/>
                      </a:gs>
                    </a:gsLst>
                    <a:lin ang="5400000" scaled="0"/>
                  </a:gradFill>
                  <a:latin typeface="Segoe UI"/>
                </a:rPr>
                <a:t>ES2017</a:t>
              </a:r>
              <a:endParaRPr lang="en-US" sz="2352" kern="0" dirty="0">
                <a:gradFill>
                  <a:gsLst>
                    <a:gs pos="2917">
                      <a:srgbClr val="505050"/>
                    </a:gs>
                    <a:gs pos="30000">
                      <a:srgbClr val="505050"/>
                    </a:gs>
                  </a:gsLst>
                  <a:lin ang="5400000" scaled="0"/>
                </a:gradFill>
                <a:latin typeface="Segoe UI"/>
              </a:endParaRPr>
            </a:p>
          </p:txBody>
        </p:sp>
        <p:sp>
          <p:nvSpPr>
            <p:cNvPr id="102" name="TextBox 101"/>
            <p:cNvSpPr txBox="1"/>
            <p:nvPr/>
          </p:nvSpPr>
          <p:spPr>
            <a:xfrm rot="18302700">
              <a:off x="9939783" y="730155"/>
              <a:ext cx="1091308" cy="517065"/>
            </a:xfrm>
            <a:prstGeom prst="rect">
              <a:avLst/>
            </a:prstGeom>
            <a:noFill/>
          </p:spPr>
          <p:txBody>
            <a:bodyPr wrap="square" lIns="179238" tIns="143391" rIns="179238" bIns="143391" rtlCol="0">
              <a:spAutoFit/>
            </a:bodyPr>
            <a:lstStyle/>
            <a:p>
              <a:pPr defTabSz="896203">
                <a:lnSpc>
                  <a:spcPct val="90000"/>
                </a:lnSpc>
                <a:spcAft>
                  <a:spcPts val="588"/>
                </a:spcAft>
                <a:defRPr/>
              </a:pPr>
              <a:r>
                <a:rPr lang="en-US" sz="1568" kern="0" dirty="0">
                  <a:gradFill>
                    <a:gsLst>
                      <a:gs pos="2917">
                        <a:srgbClr val="505050"/>
                      </a:gs>
                      <a:gs pos="30000">
                        <a:srgbClr val="505050"/>
                      </a:gs>
                    </a:gsLst>
                    <a:lin ang="5400000" scaled="0"/>
                  </a:gradFill>
                  <a:latin typeface="Segoe UI"/>
                </a:rPr>
                <a:t>ES2018</a:t>
              </a:r>
              <a:endParaRPr lang="en-US" sz="2352" kern="0" dirty="0">
                <a:gradFill>
                  <a:gsLst>
                    <a:gs pos="2917">
                      <a:srgbClr val="505050"/>
                    </a:gs>
                    <a:gs pos="30000">
                      <a:srgbClr val="505050"/>
                    </a:gs>
                  </a:gsLst>
                  <a:lin ang="5400000" scaled="0"/>
                </a:gradFill>
                <a:latin typeface="Segoe UI"/>
              </a:endParaRPr>
            </a:p>
          </p:txBody>
        </p:sp>
        <p:sp>
          <p:nvSpPr>
            <p:cNvPr id="103" name="TextBox 102"/>
            <p:cNvSpPr txBox="1"/>
            <p:nvPr/>
          </p:nvSpPr>
          <p:spPr>
            <a:xfrm rot="18302700">
              <a:off x="7259539" y="720866"/>
              <a:ext cx="1113999" cy="517065"/>
            </a:xfrm>
            <a:prstGeom prst="rect">
              <a:avLst/>
            </a:prstGeom>
            <a:noFill/>
          </p:spPr>
          <p:txBody>
            <a:bodyPr wrap="square" lIns="179238" tIns="143391" rIns="179238" bIns="143391" rtlCol="0">
              <a:spAutoFit/>
            </a:bodyPr>
            <a:lstStyle/>
            <a:p>
              <a:pPr defTabSz="896203">
                <a:lnSpc>
                  <a:spcPct val="90000"/>
                </a:lnSpc>
                <a:spcAft>
                  <a:spcPts val="588"/>
                </a:spcAft>
                <a:defRPr/>
              </a:pPr>
              <a:r>
                <a:rPr lang="en-US" sz="1568" kern="0" dirty="0">
                  <a:gradFill>
                    <a:gsLst>
                      <a:gs pos="2917">
                        <a:srgbClr val="505050"/>
                      </a:gs>
                      <a:gs pos="30000">
                        <a:srgbClr val="505050"/>
                      </a:gs>
                    </a:gsLst>
                    <a:lin ang="5400000" scaled="0"/>
                  </a:gradFill>
                  <a:latin typeface="Segoe UI"/>
                </a:rPr>
                <a:t>ES2015</a:t>
              </a:r>
              <a:endParaRPr lang="en-US" sz="2352" kern="0" dirty="0">
                <a:gradFill>
                  <a:gsLst>
                    <a:gs pos="2917">
                      <a:srgbClr val="505050"/>
                    </a:gs>
                    <a:gs pos="30000">
                      <a:srgbClr val="505050"/>
                    </a:gs>
                  </a:gsLst>
                  <a:lin ang="5400000" scaled="0"/>
                </a:gradFill>
                <a:latin typeface="Segoe UI"/>
              </a:endParaRPr>
            </a:p>
          </p:txBody>
        </p:sp>
      </p:grpSp>
      <p:sp>
        <p:nvSpPr>
          <p:cNvPr id="2" name="TextBox 1"/>
          <p:cNvSpPr txBox="1"/>
          <p:nvPr/>
        </p:nvSpPr>
        <p:spPr>
          <a:xfrm>
            <a:off x="5000814" y="5964596"/>
            <a:ext cx="1663535" cy="533917"/>
          </a:xfrm>
          <a:prstGeom prst="rect">
            <a:avLst/>
          </a:prstGeom>
          <a:noFill/>
        </p:spPr>
        <p:txBody>
          <a:bodyPr wrap="square" lIns="179238" tIns="143391" rIns="179238" bIns="143391" rtlCol="0">
            <a:spAutoFit/>
          </a:bodyPr>
          <a:lstStyle/>
          <a:p>
            <a:pPr algn="ctr" defTabSz="914180">
              <a:lnSpc>
                <a:spcPct val="90000"/>
              </a:lnSpc>
              <a:spcAft>
                <a:spcPts val="588"/>
              </a:spcAft>
              <a:defRPr/>
            </a:pPr>
            <a:r>
              <a:rPr lang="en-US" sz="1764" dirty="0">
                <a:gradFill>
                  <a:gsLst>
                    <a:gs pos="2917">
                      <a:srgbClr val="505050"/>
                    </a:gs>
                    <a:gs pos="30000">
                      <a:srgbClr val="505050"/>
                    </a:gs>
                  </a:gsLst>
                  <a:lin ang="5400000" scaled="0"/>
                </a:gradFill>
                <a:latin typeface="Segoe UI"/>
              </a:rPr>
              <a:t>March 2015</a:t>
            </a:r>
            <a:endParaRPr lang="en-US" sz="2352" dirty="0">
              <a:gradFill>
                <a:gsLst>
                  <a:gs pos="2917">
                    <a:srgbClr val="505050"/>
                  </a:gs>
                  <a:gs pos="30000">
                    <a:srgbClr val="505050"/>
                  </a:gs>
                </a:gsLst>
                <a:lin ang="5400000" scaled="0"/>
              </a:gradFill>
              <a:latin typeface="Segoe UI"/>
            </a:endParaRPr>
          </a:p>
        </p:txBody>
      </p:sp>
      <p:sp>
        <p:nvSpPr>
          <p:cNvPr id="38" name="TextBox 37"/>
          <p:cNvSpPr txBox="1"/>
          <p:nvPr/>
        </p:nvSpPr>
        <p:spPr>
          <a:xfrm>
            <a:off x="6570121" y="5964596"/>
            <a:ext cx="1873751" cy="533917"/>
          </a:xfrm>
          <a:prstGeom prst="rect">
            <a:avLst/>
          </a:prstGeom>
          <a:noFill/>
        </p:spPr>
        <p:txBody>
          <a:bodyPr wrap="square" lIns="179238" tIns="143391" rIns="179238" bIns="143391" rtlCol="0">
            <a:spAutoFit/>
          </a:bodyPr>
          <a:lstStyle/>
          <a:p>
            <a:pPr defTabSz="914180">
              <a:lnSpc>
                <a:spcPct val="90000"/>
              </a:lnSpc>
              <a:spcAft>
                <a:spcPts val="588"/>
              </a:spcAft>
              <a:defRPr/>
            </a:pPr>
            <a:r>
              <a:rPr lang="en-US" sz="1764" dirty="0">
                <a:gradFill>
                  <a:gsLst>
                    <a:gs pos="2917">
                      <a:srgbClr val="505050"/>
                    </a:gs>
                    <a:gs pos="30000">
                      <a:srgbClr val="505050"/>
                    </a:gs>
                  </a:gsLst>
                  <a:lin ang="5400000" scaled="0"/>
                </a:gradFill>
                <a:latin typeface="Segoe UI"/>
              </a:rPr>
              <a:t>March 2016</a:t>
            </a:r>
            <a:endParaRPr lang="en-US" sz="2352" dirty="0">
              <a:gradFill>
                <a:gsLst>
                  <a:gs pos="2917">
                    <a:srgbClr val="505050"/>
                  </a:gs>
                  <a:gs pos="30000">
                    <a:srgbClr val="505050"/>
                  </a:gs>
                </a:gsLst>
                <a:lin ang="5400000" scaled="0"/>
              </a:gradFill>
              <a:latin typeface="Segoe UI"/>
            </a:endParaRPr>
          </a:p>
        </p:txBody>
      </p:sp>
      <p:cxnSp>
        <p:nvCxnSpPr>
          <p:cNvPr id="34" name="Straight Connector 6">
            <a:extLst>
              <a:ext uri="{FF2B5EF4-FFF2-40B4-BE49-F238E27FC236}">
                <a16:creationId xmlns:a16="http://schemas.microsoft.com/office/drawing/2014/main" id="{D4283ABD-BBF7-4C1A-B3C6-D3557ECBF9EF}"/>
              </a:ext>
            </a:extLst>
          </p:cNvPr>
          <p:cNvCxnSpPr/>
          <p:nvPr/>
        </p:nvCxnSpPr>
        <p:spPr>
          <a:xfrm>
            <a:off x="10804237" y="1856580"/>
            <a:ext cx="0" cy="448096"/>
          </a:xfrm>
          <a:prstGeom prst="line">
            <a:avLst/>
          </a:prstGeom>
          <a:ln w="381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5" name="TextBox 101">
            <a:extLst>
              <a:ext uri="{FF2B5EF4-FFF2-40B4-BE49-F238E27FC236}">
                <a16:creationId xmlns:a16="http://schemas.microsoft.com/office/drawing/2014/main" id="{C290C3A9-53FF-43D1-9C0F-1E482FEFFCDA}"/>
              </a:ext>
            </a:extLst>
          </p:cNvPr>
          <p:cNvSpPr txBox="1"/>
          <p:nvPr/>
        </p:nvSpPr>
        <p:spPr>
          <a:xfrm rot="18302700">
            <a:off x="10503676" y="1271535"/>
            <a:ext cx="1069577" cy="506769"/>
          </a:xfrm>
          <a:prstGeom prst="rect">
            <a:avLst/>
          </a:prstGeom>
          <a:noFill/>
        </p:spPr>
        <p:txBody>
          <a:bodyPr wrap="square" lIns="179238" tIns="143391" rIns="179238" bIns="143391" rtlCol="0">
            <a:spAutoFit/>
          </a:bodyPr>
          <a:lstStyle/>
          <a:p>
            <a:pPr defTabSz="896203">
              <a:lnSpc>
                <a:spcPct val="90000"/>
              </a:lnSpc>
              <a:spcAft>
                <a:spcPts val="588"/>
              </a:spcAft>
              <a:defRPr/>
            </a:pPr>
            <a:r>
              <a:rPr lang="en-US" sz="1568" kern="0" dirty="0">
                <a:gradFill>
                  <a:gsLst>
                    <a:gs pos="2917">
                      <a:srgbClr val="505050"/>
                    </a:gs>
                    <a:gs pos="30000">
                      <a:srgbClr val="505050"/>
                    </a:gs>
                  </a:gsLst>
                  <a:lin ang="5400000" scaled="0"/>
                </a:gradFill>
                <a:latin typeface="Segoe UI"/>
              </a:rPr>
              <a:t>ES2019</a:t>
            </a:r>
            <a:endParaRPr lang="en-US" sz="2352" kern="0" dirty="0">
              <a:gradFill>
                <a:gsLst>
                  <a:gs pos="2917">
                    <a:srgbClr val="505050"/>
                  </a:gs>
                  <a:gs pos="30000">
                    <a:srgbClr val="505050"/>
                  </a:gs>
                </a:gsLst>
                <a:lin ang="5400000" scaled="0"/>
              </a:gradFill>
              <a:latin typeface="Segoe UI"/>
            </a:endParaRPr>
          </a:p>
        </p:txBody>
      </p:sp>
    </p:spTree>
    <p:extLst>
      <p:ext uri="{BB962C8B-B14F-4D97-AF65-F5344CB8AC3E}">
        <p14:creationId xmlns:p14="http://schemas.microsoft.com/office/powerpoint/2010/main" val="1778698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63" presetClass="path" presetSubtype="0" accel="50000" decel="50000" fill="hold" nodeType="clickEffect">
                                  <p:stCondLst>
                                    <p:cond delay="0"/>
                                  </p:stCondLst>
                                  <p:childTnLst>
                                    <p:animMotion origin="layout" path="M 1.37861E-7 -2.41943E-6 L 0.11425 0.00273 " pathEditMode="relative" rAng="0" ptsTypes="AA">
                                      <p:cBhvr>
                                        <p:cTn id="22" dur="2000" fill="hold"/>
                                        <p:tgtEl>
                                          <p:spTgt spid="24"/>
                                        </p:tgtEl>
                                        <p:attrNameLst>
                                          <p:attrName>ppt_x</p:attrName>
                                          <p:attrName>ppt_y</p:attrName>
                                        </p:attrNameLst>
                                      </p:cBhvr>
                                      <p:rCtr x="5706" y="136"/>
                                    </p:animMotion>
                                  </p:childTnLst>
                                </p:cTn>
                              </p:par>
                              <p:par>
                                <p:cTn id="23" presetID="63" presetClass="path" presetSubtype="0" accel="50000" decel="50000" fill="hold" nodeType="withEffect">
                                  <p:stCondLst>
                                    <p:cond delay="0"/>
                                  </p:stCondLst>
                                  <p:childTnLst>
                                    <p:animMotion origin="layout" path="M 3.19122E-7 -4.35315E-6 L 0.11144 -0.00363 " pathEditMode="relative" rAng="0" ptsTypes="AA">
                                      <p:cBhvr>
                                        <p:cTn id="24" dur="2000" fill="hold"/>
                                        <p:tgtEl>
                                          <p:spTgt spid="23"/>
                                        </p:tgtEl>
                                        <p:attrNameLst>
                                          <p:attrName>ppt_x</p:attrName>
                                          <p:attrName>ppt_y</p:attrName>
                                        </p:attrNameLst>
                                      </p:cBhvr>
                                      <p:rCtr x="5565" y="-182"/>
                                    </p:animMotion>
                                  </p:childTnLst>
                                </p:cTn>
                              </p:par>
                              <p:par>
                                <p:cTn id="25" presetID="63" presetClass="path" presetSubtype="0" accel="50000" decel="50000" fill="hold" nodeType="withEffect">
                                  <p:stCondLst>
                                    <p:cond delay="0"/>
                                  </p:stCondLst>
                                  <p:childTnLst>
                                    <p:animMotion origin="layout" path="M 1.85346E-6 1.44803E-6 L 0.10952 -0.00204 " pathEditMode="relative" rAng="0" ptsTypes="AA">
                                      <p:cBhvr>
                                        <p:cTn id="26" dur="2000" fill="hold"/>
                                        <p:tgtEl>
                                          <p:spTgt spid="22"/>
                                        </p:tgtEl>
                                        <p:attrNameLst>
                                          <p:attrName>ppt_x</p:attrName>
                                          <p:attrName>ppt_y</p:attrName>
                                        </p:attrNameLst>
                                      </p:cBhvr>
                                      <p:rCtr x="5412" y="0"/>
                                    </p:animMotion>
                                  </p:childTnLst>
                                </p:cTn>
                              </p:par>
                              <p:par>
                                <p:cTn id="27" presetID="63" presetClass="path" presetSubtype="0" accel="50000" decel="50000" fill="hold" nodeType="withEffect">
                                  <p:stCondLst>
                                    <p:cond delay="0"/>
                                  </p:stCondLst>
                                  <p:childTnLst>
                                    <p:animMotion origin="layout" path="M 2.98443E-6 -4.21698E-6 L 0.11463 0.00341 " pathEditMode="relative" rAng="0" ptsTypes="AA">
                                      <p:cBhvr>
                                        <p:cTn id="28" dur="2000" fill="hold"/>
                                        <p:tgtEl>
                                          <p:spTgt spid="159"/>
                                        </p:tgtEl>
                                        <p:attrNameLst>
                                          <p:attrName>ppt_x</p:attrName>
                                          <p:attrName>ppt_y</p:attrName>
                                        </p:attrNameLst>
                                      </p:cBhvr>
                                      <p:rCtr x="5731" y="159"/>
                                    </p:animMotion>
                                  </p:childTnLst>
                                </p:cTn>
                              </p:par>
                              <p:par>
                                <p:cTn id="29" presetID="10" presetClass="entr" presetSubtype="0" fill="hold" grpId="0" nodeType="withEffect">
                                  <p:stCondLst>
                                    <p:cond delay="100"/>
                                  </p:stCondLst>
                                  <p:childTnLst>
                                    <p:set>
                                      <p:cBhvr>
                                        <p:cTn id="30" dur="1" fill="hold">
                                          <p:stCondLst>
                                            <p:cond delay="0"/>
                                          </p:stCondLst>
                                        </p:cTn>
                                        <p:tgtEl>
                                          <p:spTgt spid="38"/>
                                        </p:tgtEl>
                                        <p:attrNameLst>
                                          <p:attrName>style.visibility</p:attrName>
                                        </p:attrNameLst>
                                      </p:cBhvr>
                                      <p:to>
                                        <p:strVal val="visible"/>
                                      </p:to>
                                    </p:set>
                                    <p:animEffect transition="in" filter="fade">
                                      <p:cBhvr>
                                        <p:cTn id="31"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Title 128"/>
          <p:cNvSpPr>
            <a:spLocks noGrp="1"/>
          </p:cNvSpPr>
          <p:nvPr>
            <p:ph type="title"/>
          </p:nvPr>
        </p:nvSpPr>
        <p:spPr/>
        <p:txBody>
          <a:bodyPr/>
          <a:lstStyle/>
          <a:p>
            <a:r>
              <a:rPr lang="en-US" dirty="0"/>
              <a:t>La </a:t>
            </a:r>
            <a:r>
              <a:rPr lang="en-US" dirty="0" err="1"/>
              <a:t>brecha</a:t>
            </a:r>
            <a:r>
              <a:rPr lang="en-US" dirty="0"/>
              <a:t> de </a:t>
            </a:r>
            <a:r>
              <a:rPr lang="en-US" dirty="0" err="1"/>
              <a:t>características</a:t>
            </a:r>
            <a:endParaRPr lang="en-US" dirty="0"/>
          </a:p>
        </p:txBody>
      </p:sp>
      <p:grpSp>
        <p:nvGrpSpPr>
          <p:cNvPr id="24" name="Group 23"/>
          <p:cNvGrpSpPr/>
          <p:nvPr/>
        </p:nvGrpSpPr>
        <p:grpSpPr>
          <a:xfrm>
            <a:off x="8050052" y="2294856"/>
            <a:ext cx="1572980" cy="1566932"/>
            <a:chOff x="8101855" y="2009972"/>
            <a:chExt cx="1604939" cy="2800010"/>
          </a:xfrm>
        </p:grpSpPr>
        <p:cxnSp>
          <p:nvCxnSpPr>
            <p:cNvPr id="105" name="Straight Connector 104"/>
            <p:cNvCxnSpPr/>
            <p:nvPr/>
          </p:nvCxnSpPr>
          <p:spPr>
            <a:xfrm flipH="1">
              <a:off x="8904325" y="2009972"/>
              <a:ext cx="3883" cy="1501336"/>
            </a:xfrm>
            <a:prstGeom prst="line">
              <a:avLst/>
            </a:prstGeom>
            <a:ln w="38100">
              <a:headEnd type="none"/>
              <a:tailEnd type="none"/>
            </a:ln>
          </p:spPr>
          <p:style>
            <a:lnRef idx="1">
              <a:schemeClr val="accent6"/>
            </a:lnRef>
            <a:fillRef idx="0">
              <a:schemeClr val="accent6"/>
            </a:fillRef>
            <a:effectRef idx="0">
              <a:schemeClr val="accent6"/>
            </a:effectRef>
            <a:fontRef idx="minor">
              <a:schemeClr val="tx1"/>
            </a:fontRef>
          </p:style>
        </p:cxnSp>
        <p:sp>
          <p:nvSpPr>
            <p:cNvPr id="108" name="TextBox 107"/>
            <p:cNvSpPr txBox="1"/>
            <p:nvPr/>
          </p:nvSpPr>
          <p:spPr>
            <a:xfrm>
              <a:off x="8101855" y="3419295"/>
              <a:ext cx="1604939" cy="1390687"/>
            </a:xfrm>
            <a:prstGeom prst="rect">
              <a:avLst/>
            </a:prstGeom>
            <a:noFill/>
          </p:spPr>
          <p:txBody>
            <a:bodyPr wrap="square" lIns="179238" tIns="143391" rIns="179238" bIns="143391" rtlCol="0">
              <a:spAutoFit/>
            </a:bodyPr>
            <a:lstStyle/>
            <a:p>
              <a:pPr algn="ctr" defTabSz="896203">
                <a:lnSpc>
                  <a:spcPct val="90000"/>
                </a:lnSpc>
                <a:spcAft>
                  <a:spcPts val="588"/>
                </a:spcAft>
                <a:defRPr/>
              </a:pPr>
              <a:r>
                <a:rPr lang="en-US" sz="1764" kern="0" dirty="0">
                  <a:gradFill>
                    <a:gsLst>
                      <a:gs pos="2917">
                        <a:srgbClr val="505050"/>
                      </a:gs>
                      <a:gs pos="30000">
                        <a:srgbClr val="505050"/>
                      </a:gs>
                    </a:gsLst>
                    <a:lin ang="5400000" scaled="0"/>
                  </a:gradFill>
                  <a:latin typeface="Segoe UI"/>
                </a:rPr>
                <a:t>State of</a:t>
              </a:r>
              <a:br>
                <a:rPr lang="en-US" sz="1764" kern="0" dirty="0">
                  <a:gradFill>
                    <a:gsLst>
                      <a:gs pos="2917">
                        <a:srgbClr val="505050"/>
                      </a:gs>
                      <a:gs pos="30000">
                        <a:srgbClr val="505050"/>
                      </a:gs>
                    </a:gsLst>
                    <a:lin ang="5400000" scaled="0"/>
                  </a:gradFill>
                  <a:latin typeface="Segoe UI"/>
                </a:rPr>
              </a:br>
              <a:r>
                <a:rPr lang="en-US" sz="1764" kern="0" dirty="0">
                  <a:gradFill>
                    <a:gsLst>
                      <a:gs pos="2917">
                        <a:srgbClr val="505050"/>
                      </a:gs>
                      <a:gs pos="30000">
                        <a:srgbClr val="505050"/>
                      </a:gs>
                    </a:gsLst>
                    <a:lin ang="5400000" scaled="0"/>
                  </a:gradFill>
                  <a:latin typeface="Segoe UI"/>
                </a:rPr>
                <a:t>the art JS</a:t>
              </a:r>
            </a:p>
          </p:txBody>
        </p:sp>
      </p:grpSp>
      <p:grpSp>
        <p:nvGrpSpPr>
          <p:cNvPr id="23" name="Group 22"/>
          <p:cNvGrpSpPr/>
          <p:nvPr/>
        </p:nvGrpSpPr>
        <p:grpSpPr>
          <a:xfrm>
            <a:off x="6228281" y="2317019"/>
            <a:ext cx="1428526" cy="1534384"/>
            <a:chOff x="6055494" y="1997231"/>
            <a:chExt cx="1457550" cy="2786423"/>
          </a:xfrm>
        </p:grpSpPr>
        <p:cxnSp>
          <p:nvCxnSpPr>
            <p:cNvPr id="121" name="Straight Connector 120"/>
            <p:cNvCxnSpPr/>
            <p:nvPr/>
          </p:nvCxnSpPr>
          <p:spPr>
            <a:xfrm>
              <a:off x="6788290" y="1997231"/>
              <a:ext cx="8742" cy="1494582"/>
            </a:xfrm>
            <a:prstGeom prst="line">
              <a:avLst/>
            </a:prstGeom>
            <a:ln w="38100">
              <a:solidFill>
                <a:schemeClr val="accent6"/>
              </a:solidFill>
              <a:headEnd type="none"/>
              <a:tailEnd type="none"/>
            </a:ln>
          </p:spPr>
          <p:style>
            <a:lnRef idx="1">
              <a:schemeClr val="accent6"/>
            </a:lnRef>
            <a:fillRef idx="0">
              <a:schemeClr val="accent6"/>
            </a:fillRef>
            <a:effectRef idx="0">
              <a:schemeClr val="accent6"/>
            </a:effectRef>
            <a:fontRef idx="minor">
              <a:schemeClr val="tx1"/>
            </a:fontRef>
          </p:style>
        </p:cxnSp>
        <p:sp>
          <p:nvSpPr>
            <p:cNvPr id="122" name="TextBox 121"/>
            <p:cNvSpPr txBox="1"/>
            <p:nvPr/>
          </p:nvSpPr>
          <p:spPr>
            <a:xfrm>
              <a:off x="6055494" y="3370358"/>
              <a:ext cx="1457550" cy="1413296"/>
            </a:xfrm>
            <a:prstGeom prst="rect">
              <a:avLst/>
            </a:prstGeom>
            <a:noFill/>
          </p:spPr>
          <p:txBody>
            <a:bodyPr wrap="square" lIns="179238" tIns="143391" rIns="179238" bIns="143391" rtlCol="0">
              <a:spAutoFit/>
            </a:bodyPr>
            <a:lstStyle/>
            <a:p>
              <a:pPr algn="ctr" defTabSz="896203">
                <a:lnSpc>
                  <a:spcPct val="90000"/>
                </a:lnSpc>
                <a:spcAft>
                  <a:spcPts val="588"/>
                </a:spcAft>
                <a:defRPr/>
              </a:pPr>
              <a:r>
                <a:rPr lang="en-US" sz="1764" kern="0" dirty="0">
                  <a:gradFill>
                    <a:gsLst>
                      <a:gs pos="2917">
                        <a:srgbClr val="505050"/>
                      </a:gs>
                      <a:gs pos="30000">
                        <a:srgbClr val="505050"/>
                      </a:gs>
                    </a:gsLst>
                    <a:lin ang="5400000" scaled="0"/>
                  </a:gradFill>
                  <a:latin typeface="Segoe UI"/>
                </a:rPr>
                <a:t>State of server JS</a:t>
              </a:r>
            </a:p>
          </p:txBody>
        </p:sp>
      </p:grpSp>
      <p:grpSp>
        <p:nvGrpSpPr>
          <p:cNvPr id="22" name="Group 21"/>
          <p:cNvGrpSpPr/>
          <p:nvPr/>
        </p:nvGrpSpPr>
        <p:grpSpPr>
          <a:xfrm>
            <a:off x="4982706" y="2304676"/>
            <a:ext cx="1424639" cy="1560041"/>
            <a:chOff x="1874070" y="2016284"/>
            <a:chExt cx="1453585" cy="2806196"/>
          </a:xfrm>
        </p:grpSpPr>
        <p:cxnSp>
          <p:nvCxnSpPr>
            <p:cNvPr id="109" name="Straight Connector 108"/>
            <p:cNvCxnSpPr/>
            <p:nvPr/>
          </p:nvCxnSpPr>
          <p:spPr>
            <a:xfrm>
              <a:off x="2600680" y="2016284"/>
              <a:ext cx="11286" cy="1501337"/>
            </a:xfrm>
            <a:prstGeom prst="line">
              <a:avLst/>
            </a:prstGeom>
            <a:ln w="38100">
              <a:solidFill>
                <a:schemeClr val="accent6"/>
              </a:solidFill>
              <a:headEnd type="none"/>
              <a:tailEnd type="none"/>
            </a:ln>
          </p:spPr>
          <p:style>
            <a:lnRef idx="1">
              <a:schemeClr val="accent6"/>
            </a:lnRef>
            <a:fillRef idx="0">
              <a:schemeClr val="accent6"/>
            </a:fillRef>
            <a:effectRef idx="0">
              <a:schemeClr val="accent6"/>
            </a:effectRef>
            <a:fontRef idx="minor">
              <a:schemeClr val="tx1"/>
            </a:fontRef>
          </p:style>
        </p:cxnSp>
        <p:sp>
          <p:nvSpPr>
            <p:cNvPr id="123" name="TextBox 122"/>
            <p:cNvSpPr txBox="1"/>
            <p:nvPr/>
          </p:nvSpPr>
          <p:spPr>
            <a:xfrm>
              <a:off x="1874070" y="3422564"/>
              <a:ext cx="1453585" cy="1399916"/>
            </a:xfrm>
            <a:prstGeom prst="rect">
              <a:avLst/>
            </a:prstGeom>
            <a:noFill/>
          </p:spPr>
          <p:txBody>
            <a:bodyPr wrap="square" lIns="179238" tIns="143391" rIns="179238" bIns="143391" rtlCol="0">
              <a:spAutoFit/>
            </a:bodyPr>
            <a:lstStyle/>
            <a:p>
              <a:pPr algn="ctr" defTabSz="896203">
                <a:lnSpc>
                  <a:spcPct val="90000"/>
                </a:lnSpc>
                <a:spcAft>
                  <a:spcPts val="588"/>
                </a:spcAft>
                <a:defRPr/>
              </a:pPr>
              <a:r>
                <a:rPr lang="en-US" sz="1764" kern="0" dirty="0">
                  <a:gradFill>
                    <a:gsLst>
                      <a:gs pos="2917">
                        <a:srgbClr val="505050"/>
                      </a:gs>
                      <a:gs pos="30000">
                        <a:srgbClr val="505050"/>
                      </a:gs>
                    </a:gsLst>
                    <a:lin ang="5400000" scaled="0"/>
                  </a:gradFill>
                  <a:latin typeface="Segoe UI"/>
                </a:rPr>
                <a:t>State of</a:t>
              </a:r>
              <a:br>
                <a:rPr lang="en-US" sz="1764" kern="0" dirty="0">
                  <a:gradFill>
                    <a:gsLst>
                      <a:gs pos="2917">
                        <a:srgbClr val="505050"/>
                      </a:gs>
                      <a:gs pos="30000">
                        <a:srgbClr val="505050"/>
                      </a:gs>
                    </a:gsLst>
                    <a:lin ang="5400000" scaled="0"/>
                  </a:gradFill>
                  <a:latin typeface="Segoe UI"/>
                </a:rPr>
              </a:br>
              <a:r>
                <a:rPr lang="en-US" sz="1764" kern="0" dirty="0">
                  <a:gradFill>
                    <a:gsLst>
                      <a:gs pos="2917">
                        <a:srgbClr val="505050"/>
                      </a:gs>
                      <a:gs pos="30000">
                        <a:srgbClr val="505050"/>
                      </a:gs>
                    </a:gsLst>
                    <a:lin ang="5400000" scaled="0"/>
                  </a:gradFill>
                  <a:latin typeface="Segoe UI"/>
                </a:rPr>
                <a:t>web JS</a:t>
              </a:r>
            </a:p>
          </p:txBody>
        </p:sp>
      </p:grpSp>
      <p:grpSp>
        <p:nvGrpSpPr>
          <p:cNvPr id="159" name="Group 158"/>
          <p:cNvGrpSpPr/>
          <p:nvPr/>
        </p:nvGrpSpPr>
        <p:grpSpPr>
          <a:xfrm>
            <a:off x="2894012" y="3766733"/>
            <a:ext cx="8769745" cy="2026665"/>
            <a:chOff x="3598723" y="4747616"/>
            <a:chExt cx="8947927" cy="2067842"/>
          </a:xfrm>
        </p:grpSpPr>
        <p:sp>
          <p:nvSpPr>
            <p:cNvPr id="131" name="Right Brace 130"/>
            <p:cNvSpPr/>
            <p:nvPr/>
          </p:nvSpPr>
          <p:spPr>
            <a:xfrm rot="5400000">
              <a:off x="7546437" y="3909711"/>
              <a:ext cx="1052500" cy="3359643"/>
            </a:xfrm>
            <a:prstGeom prst="rightBrace">
              <a:avLst>
                <a:gd name="adj1" fmla="val 34297"/>
                <a:gd name="adj2" fmla="val 50000"/>
              </a:avLst>
            </a:prstGeom>
            <a:ln w="254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defTabSz="896203">
                <a:defRPr/>
              </a:pPr>
              <a:endParaRPr lang="en-US" sz="1764" kern="0" dirty="0">
                <a:solidFill>
                  <a:sysClr val="windowText" lastClr="000000"/>
                </a:solidFill>
                <a:latin typeface="Segoe UI"/>
              </a:endParaRPr>
            </a:p>
          </p:txBody>
        </p:sp>
        <p:sp>
          <p:nvSpPr>
            <p:cNvPr id="139" name="TextBox 138"/>
            <p:cNvSpPr txBox="1"/>
            <p:nvPr/>
          </p:nvSpPr>
          <p:spPr>
            <a:xfrm>
              <a:off x="3598723" y="6187594"/>
              <a:ext cx="8947927" cy="627864"/>
            </a:xfrm>
            <a:prstGeom prst="rect">
              <a:avLst/>
            </a:prstGeom>
            <a:noFill/>
          </p:spPr>
          <p:txBody>
            <a:bodyPr wrap="square" lIns="179238" tIns="143391" rIns="179238" bIns="143391" rtlCol="0">
              <a:spAutoFit/>
            </a:bodyPr>
            <a:lstStyle/>
            <a:p>
              <a:pPr algn="ctr" defTabSz="896203">
                <a:lnSpc>
                  <a:spcPct val="90000"/>
                </a:lnSpc>
                <a:spcAft>
                  <a:spcPts val="588"/>
                </a:spcAft>
                <a:defRPr/>
              </a:pPr>
              <a:r>
                <a:rPr lang="en-US" sz="2352" kern="0" dirty="0">
                  <a:gradFill>
                    <a:gsLst>
                      <a:gs pos="2917">
                        <a:srgbClr val="505050"/>
                      </a:gs>
                      <a:gs pos="30000">
                        <a:srgbClr val="505050"/>
                      </a:gs>
                    </a:gsLst>
                    <a:lin ang="5400000" scaled="0"/>
                  </a:gradFill>
                  <a:latin typeface="Segoe UI"/>
                </a:rPr>
                <a:t>JavaScript feature gap </a:t>
              </a:r>
            </a:p>
          </p:txBody>
        </p:sp>
        <p:sp>
          <p:nvSpPr>
            <p:cNvPr id="144" name="Right Arrow 143"/>
            <p:cNvSpPr/>
            <p:nvPr/>
          </p:nvSpPr>
          <p:spPr bwMode="auto">
            <a:xfrm>
              <a:off x="4322674" y="4747616"/>
              <a:ext cx="1894614" cy="1069215"/>
            </a:xfrm>
            <a:prstGeom prst="rightArrow">
              <a:avLst/>
            </a:prstGeom>
            <a:solidFill>
              <a:srgbClr val="C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89619" tIns="89619" rIns="33611" bIns="33611" rtlCol="0" anchor="b" anchorCtr="0"/>
            <a:lstStyle/>
            <a:p>
              <a:pPr algn="ctr" defTabSz="913851">
                <a:defRPr/>
              </a:pPr>
              <a:r>
                <a:rPr lang="en-US" sz="1568" kern="0" dirty="0">
                  <a:gradFill>
                    <a:gsLst>
                      <a:gs pos="0">
                        <a:srgbClr val="FFFFFF"/>
                      </a:gs>
                      <a:gs pos="100000">
                        <a:srgbClr val="FFFFFF"/>
                      </a:gs>
                    </a:gsLst>
                    <a:lin ang="5400000" scaled="0"/>
                  </a:gradFill>
                  <a:latin typeface="Segoe UI"/>
                  <a:ea typeface="Segoe UI" pitchFamily="34" charset="0"/>
                  <a:cs typeface="Segoe UI" pitchFamily="34" charset="0"/>
                </a:rPr>
                <a:t>Target</a:t>
              </a:r>
            </a:p>
            <a:p>
              <a:pPr algn="ctr" defTabSz="913851">
                <a:defRPr/>
              </a:pPr>
              <a:endParaRPr lang="en-US" sz="882" kern="0"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47" name="Left Arrow 146"/>
            <p:cNvSpPr/>
            <p:nvPr/>
          </p:nvSpPr>
          <p:spPr bwMode="auto">
            <a:xfrm>
              <a:off x="9947704" y="4747616"/>
              <a:ext cx="1841431" cy="1048319"/>
            </a:xfrm>
            <a:prstGeom prst="leftArrow">
              <a:avLst/>
            </a:prstGeom>
            <a:solidFill>
              <a:srgbClr val="107C1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89619" tIns="89619" rIns="33611" bIns="33611" rtlCol="0" anchor="b" anchorCtr="0"/>
            <a:lstStyle/>
            <a:p>
              <a:pPr algn="ctr" defTabSz="913851">
                <a:defRPr/>
              </a:pPr>
              <a:r>
                <a:rPr lang="en-US" sz="1568" kern="0" dirty="0">
                  <a:gradFill>
                    <a:gsLst>
                      <a:gs pos="0">
                        <a:srgbClr val="FFFFFF"/>
                      </a:gs>
                      <a:gs pos="100000">
                        <a:srgbClr val="FFFFFF"/>
                      </a:gs>
                    </a:gsLst>
                    <a:lin ang="5400000" scaled="0"/>
                  </a:gradFill>
                  <a:latin typeface="Segoe UI"/>
                  <a:ea typeface="Segoe UI" pitchFamily="34" charset="0"/>
                  <a:cs typeface="Segoe UI" pitchFamily="34" charset="0"/>
                </a:rPr>
                <a:t>Productivity</a:t>
              </a:r>
            </a:p>
            <a:p>
              <a:pPr algn="ctr" defTabSz="913851">
                <a:defRPr/>
              </a:pPr>
              <a:endParaRPr lang="en-US" sz="784" kern="0" dirty="0">
                <a:gradFill>
                  <a:gsLst>
                    <a:gs pos="0">
                      <a:srgbClr val="FFFFFF"/>
                    </a:gs>
                    <a:gs pos="100000">
                      <a:srgbClr val="FFFFFF"/>
                    </a:gs>
                  </a:gsLst>
                  <a:lin ang="5400000" scaled="0"/>
                </a:gradFill>
                <a:latin typeface="Segoe UI"/>
                <a:ea typeface="Segoe UI" pitchFamily="34" charset="0"/>
                <a:cs typeface="Segoe UI" pitchFamily="34" charset="0"/>
              </a:endParaRPr>
            </a:p>
          </p:txBody>
        </p:sp>
      </p:grpSp>
      <p:grpSp>
        <p:nvGrpSpPr>
          <p:cNvPr id="148" name="Group 147"/>
          <p:cNvGrpSpPr/>
          <p:nvPr/>
        </p:nvGrpSpPr>
        <p:grpSpPr>
          <a:xfrm>
            <a:off x="791947" y="964473"/>
            <a:ext cx="10761050" cy="1728805"/>
            <a:chOff x="876569" y="415568"/>
            <a:chExt cx="10979691" cy="1763930"/>
          </a:xfrm>
        </p:grpSpPr>
        <p:cxnSp>
          <p:nvCxnSpPr>
            <p:cNvPr id="3" name="Straight Connector 2"/>
            <p:cNvCxnSpPr>
              <a:cxnSpLocks/>
            </p:cNvCxnSpPr>
            <p:nvPr/>
          </p:nvCxnSpPr>
          <p:spPr>
            <a:xfrm flipV="1">
              <a:off x="2560637" y="1772981"/>
              <a:ext cx="9295623" cy="11306"/>
            </a:xfrm>
            <a:prstGeom prst="line">
              <a:avLst/>
            </a:prstGeom>
            <a:ln w="38100">
              <a:solidFill>
                <a:schemeClr val="tx1"/>
              </a:solidFill>
              <a:headEnd type="none"/>
              <a:tailEnd type="arrow" w="lg" len="lg"/>
            </a:ln>
          </p:spPr>
          <p:style>
            <a:lnRef idx="1">
              <a:schemeClr val="accent1"/>
            </a:lnRef>
            <a:fillRef idx="0">
              <a:schemeClr val="accent1"/>
            </a:fillRef>
            <a:effectRef idx="0">
              <a:schemeClr val="accent1"/>
            </a:effectRef>
            <a:fontRef idx="minor">
              <a:schemeClr val="tx1"/>
            </a:fontRef>
          </p:style>
        </p:cxnSp>
        <p:cxnSp>
          <p:nvCxnSpPr>
            <p:cNvPr id="4" name="Straight Connector 3"/>
            <p:cNvCxnSpPr/>
            <p:nvPr/>
          </p:nvCxnSpPr>
          <p:spPr>
            <a:xfrm>
              <a:off x="2702651" y="1327087"/>
              <a:ext cx="0" cy="457200"/>
            </a:xfrm>
            <a:prstGeom prst="line">
              <a:avLst/>
            </a:prstGeom>
            <a:ln w="381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a:off x="5680466" y="1338394"/>
              <a:ext cx="0" cy="457200"/>
            </a:xfrm>
            <a:prstGeom prst="line">
              <a:avLst/>
            </a:prstGeom>
            <a:ln w="381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8580438" y="1327087"/>
              <a:ext cx="0" cy="457200"/>
            </a:xfrm>
            <a:prstGeom prst="line">
              <a:avLst/>
            </a:prstGeom>
            <a:ln w="381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10246451" y="1327087"/>
              <a:ext cx="0" cy="457200"/>
            </a:xfrm>
            <a:prstGeom prst="line">
              <a:avLst/>
            </a:prstGeom>
            <a:ln w="381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9452783" y="1327087"/>
              <a:ext cx="0" cy="457200"/>
            </a:xfrm>
            <a:prstGeom prst="line">
              <a:avLst/>
            </a:prstGeom>
            <a:ln w="381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7728054" y="1327087"/>
              <a:ext cx="0" cy="457200"/>
            </a:xfrm>
            <a:prstGeom prst="line">
              <a:avLst/>
            </a:prstGeom>
            <a:ln w="381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876569" y="1385434"/>
              <a:ext cx="1582715" cy="794064"/>
            </a:xfrm>
            <a:prstGeom prst="rect">
              <a:avLst/>
            </a:prstGeom>
            <a:noFill/>
          </p:spPr>
          <p:txBody>
            <a:bodyPr wrap="square" lIns="179238" tIns="143391" rIns="179238" bIns="143391" rtlCol="0">
              <a:spAutoFit/>
            </a:bodyPr>
            <a:lstStyle/>
            <a:p>
              <a:pPr algn="r" defTabSz="896203">
                <a:lnSpc>
                  <a:spcPct val="90000"/>
                </a:lnSpc>
                <a:spcAft>
                  <a:spcPts val="588"/>
                </a:spcAft>
                <a:defRPr/>
              </a:pPr>
              <a:r>
                <a:rPr lang="en-US" sz="1764" kern="0" dirty="0">
                  <a:gradFill>
                    <a:gsLst>
                      <a:gs pos="2917">
                        <a:srgbClr val="505050"/>
                      </a:gs>
                      <a:gs pos="30000">
                        <a:srgbClr val="505050"/>
                      </a:gs>
                    </a:gsLst>
                    <a:lin ang="5400000" scaled="0"/>
                  </a:gradFill>
                  <a:latin typeface="Segoe UI"/>
                </a:rPr>
                <a:t>JavaScript</a:t>
              </a:r>
              <a:br>
                <a:rPr lang="en-US" sz="1764" kern="0" dirty="0">
                  <a:gradFill>
                    <a:gsLst>
                      <a:gs pos="2917">
                        <a:srgbClr val="505050"/>
                      </a:gs>
                      <a:gs pos="30000">
                        <a:srgbClr val="505050"/>
                      </a:gs>
                    </a:gsLst>
                    <a:lin ang="5400000" scaled="0"/>
                  </a:gradFill>
                  <a:latin typeface="Segoe UI"/>
                </a:rPr>
              </a:br>
              <a:r>
                <a:rPr lang="en-US" sz="1764" kern="0" dirty="0">
                  <a:gradFill>
                    <a:gsLst>
                      <a:gs pos="2917">
                        <a:srgbClr val="505050"/>
                      </a:gs>
                      <a:gs pos="30000">
                        <a:srgbClr val="505050"/>
                      </a:gs>
                    </a:gsLst>
                    <a:lin ang="5400000" scaled="0"/>
                  </a:gradFill>
                  <a:latin typeface="Segoe UI"/>
                </a:rPr>
                <a:t>Evolution</a:t>
              </a:r>
            </a:p>
          </p:txBody>
        </p:sp>
        <p:sp>
          <p:nvSpPr>
            <p:cNvPr id="98" name="TextBox 97"/>
            <p:cNvSpPr txBox="1"/>
            <p:nvPr/>
          </p:nvSpPr>
          <p:spPr>
            <a:xfrm>
              <a:off x="2348746" y="945553"/>
              <a:ext cx="762000" cy="517065"/>
            </a:xfrm>
            <a:prstGeom prst="rect">
              <a:avLst/>
            </a:prstGeom>
            <a:noFill/>
          </p:spPr>
          <p:txBody>
            <a:bodyPr wrap="square" lIns="179238" tIns="143391" rIns="179238" bIns="143391" rtlCol="0">
              <a:spAutoFit/>
            </a:bodyPr>
            <a:lstStyle/>
            <a:p>
              <a:pPr defTabSz="896203">
                <a:lnSpc>
                  <a:spcPct val="90000"/>
                </a:lnSpc>
                <a:spcAft>
                  <a:spcPts val="588"/>
                </a:spcAft>
                <a:defRPr/>
              </a:pPr>
              <a:r>
                <a:rPr lang="en-US" sz="1568" kern="0" dirty="0">
                  <a:gradFill>
                    <a:gsLst>
                      <a:gs pos="2917">
                        <a:srgbClr val="505050"/>
                      </a:gs>
                      <a:gs pos="30000">
                        <a:srgbClr val="505050"/>
                      </a:gs>
                    </a:gsLst>
                    <a:lin ang="5400000" scaled="0"/>
                  </a:gradFill>
                  <a:latin typeface="Segoe UI"/>
                </a:rPr>
                <a:t>ES3</a:t>
              </a:r>
              <a:endParaRPr lang="en-US" sz="2352" kern="0" dirty="0">
                <a:gradFill>
                  <a:gsLst>
                    <a:gs pos="2917">
                      <a:srgbClr val="505050"/>
                    </a:gs>
                    <a:gs pos="30000">
                      <a:srgbClr val="505050"/>
                    </a:gs>
                  </a:gsLst>
                  <a:lin ang="5400000" scaled="0"/>
                </a:gradFill>
                <a:latin typeface="Segoe UI"/>
              </a:endParaRPr>
            </a:p>
          </p:txBody>
        </p:sp>
        <p:sp>
          <p:nvSpPr>
            <p:cNvPr id="99" name="TextBox 98"/>
            <p:cNvSpPr txBox="1"/>
            <p:nvPr/>
          </p:nvSpPr>
          <p:spPr>
            <a:xfrm>
              <a:off x="5303837" y="946087"/>
              <a:ext cx="762000" cy="517065"/>
            </a:xfrm>
            <a:prstGeom prst="rect">
              <a:avLst/>
            </a:prstGeom>
            <a:noFill/>
          </p:spPr>
          <p:txBody>
            <a:bodyPr wrap="square" lIns="179238" tIns="143391" rIns="179238" bIns="143391" rtlCol="0">
              <a:spAutoFit/>
            </a:bodyPr>
            <a:lstStyle/>
            <a:p>
              <a:pPr defTabSz="896203">
                <a:lnSpc>
                  <a:spcPct val="90000"/>
                </a:lnSpc>
                <a:spcAft>
                  <a:spcPts val="588"/>
                </a:spcAft>
                <a:defRPr/>
              </a:pPr>
              <a:r>
                <a:rPr lang="en-US" sz="1568" kern="0" dirty="0">
                  <a:gradFill>
                    <a:gsLst>
                      <a:gs pos="2917">
                        <a:srgbClr val="505050"/>
                      </a:gs>
                      <a:gs pos="30000">
                        <a:srgbClr val="505050"/>
                      </a:gs>
                    </a:gsLst>
                    <a:lin ang="5400000" scaled="0"/>
                  </a:gradFill>
                  <a:latin typeface="Segoe UI"/>
                </a:rPr>
                <a:t>ES5</a:t>
              </a:r>
              <a:endParaRPr lang="en-US" sz="2352" kern="0" dirty="0">
                <a:gradFill>
                  <a:gsLst>
                    <a:gs pos="2917">
                      <a:srgbClr val="505050"/>
                    </a:gs>
                    <a:gs pos="30000">
                      <a:srgbClr val="505050"/>
                    </a:gs>
                  </a:gsLst>
                  <a:lin ang="5400000" scaled="0"/>
                </a:gradFill>
                <a:latin typeface="Segoe UI"/>
              </a:endParaRPr>
            </a:p>
          </p:txBody>
        </p:sp>
        <p:sp>
          <p:nvSpPr>
            <p:cNvPr id="100" name="TextBox 99"/>
            <p:cNvSpPr txBox="1"/>
            <p:nvPr/>
          </p:nvSpPr>
          <p:spPr>
            <a:xfrm rot="18302700">
              <a:off x="8189245" y="750297"/>
              <a:ext cx="1042103" cy="517065"/>
            </a:xfrm>
            <a:prstGeom prst="rect">
              <a:avLst/>
            </a:prstGeom>
            <a:noFill/>
          </p:spPr>
          <p:txBody>
            <a:bodyPr wrap="square" lIns="179238" tIns="143391" rIns="179238" bIns="143391" rtlCol="0">
              <a:spAutoFit/>
            </a:bodyPr>
            <a:lstStyle/>
            <a:p>
              <a:pPr defTabSz="896203">
                <a:lnSpc>
                  <a:spcPct val="90000"/>
                </a:lnSpc>
                <a:spcAft>
                  <a:spcPts val="588"/>
                </a:spcAft>
                <a:defRPr/>
              </a:pPr>
              <a:r>
                <a:rPr lang="en-US" sz="1568" kern="0" dirty="0">
                  <a:gradFill>
                    <a:gsLst>
                      <a:gs pos="2917">
                        <a:srgbClr val="505050"/>
                      </a:gs>
                      <a:gs pos="30000">
                        <a:srgbClr val="505050"/>
                      </a:gs>
                    </a:gsLst>
                    <a:lin ang="5400000" scaled="0"/>
                  </a:gradFill>
                  <a:latin typeface="Segoe UI"/>
                </a:rPr>
                <a:t>ES2016</a:t>
              </a:r>
              <a:endParaRPr lang="en-US" sz="2352" kern="0" dirty="0">
                <a:gradFill>
                  <a:gsLst>
                    <a:gs pos="2917">
                      <a:srgbClr val="505050"/>
                    </a:gs>
                    <a:gs pos="30000">
                      <a:srgbClr val="505050"/>
                    </a:gs>
                  </a:gsLst>
                  <a:lin ang="5400000" scaled="0"/>
                </a:gradFill>
                <a:latin typeface="Segoe UI"/>
              </a:endParaRPr>
            </a:p>
          </p:txBody>
        </p:sp>
        <p:sp>
          <p:nvSpPr>
            <p:cNvPr id="101" name="TextBox 100"/>
            <p:cNvSpPr txBox="1"/>
            <p:nvPr/>
          </p:nvSpPr>
          <p:spPr>
            <a:xfrm rot="18302700">
              <a:off x="9096384" y="695139"/>
              <a:ext cx="1076208" cy="517065"/>
            </a:xfrm>
            <a:prstGeom prst="rect">
              <a:avLst/>
            </a:prstGeom>
            <a:noFill/>
          </p:spPr>
          <p:txBody>
            <a:bodyPr wrap="square" lIns="179238" tIns="143391" rIns="179238" bIns="143391" rtlCol="0">
              <a:spAutoFit/>
            </a:bodyPr>
            <a:lstStyle/>
            <a:p>
              <a:pPr defTabSz="896203">
                <a:lnSpc>
                  <a:spcPct val="90000"/>
                </a:lnSpc>
                <a:spcAft>
                  <a:spcPts val="588"/>
                </a:spcAft>
                <a:defRPr/>
              </a:pPr>
              <a:r>
                <a:rPr lang="en-US" sz="1568" kern="0" dirty="0">
                  <a:gradFill>
                    <a:gsLst>
                      <a:gs pos="2917">
                        <a:srgbClr val="505050"/>
                      </a:gs>
                      <a:gs pos="30000">
                        <a:srgbClr val="505050"/>
                      </a:gs>
                    </a:gsLst>
                    <a:lin ang="5400000" scaled="0"/>
                  </a:gradFill>
                  <a:latin typeface="Segoe UI"/>
                </a:rPr>
                <a:t>ES2017</a:t>
              </a:r>
              <a:endParaRPr lang="en-US" sz="2352" kern="0" dirty="0">
                <a:gradFill>
                  <a:gsLst>
                    <a:gs pos="2917">
                      <a:srgbClr val="505050"/>
                    </a:gs>
                    <a:gs pos="30000">
                      <a:srgbClr val="505050"/>
                    </a:gs>
                  </a:gsLst>
                  <a:lin ang="5400000" scaled="0"/>
                </a:gradFill>
                <a:latin typeface="Segoe UI"/>
              </a:endParaRPr>
            </a:p>
          </p:txBody>
        </p:sp>
        <p:sp>
          <p:nvSpPr>
            <p:cNvPr id="102" name="TextBox 101"/>
            <p:cNvSpPr txBox="1"/>
            <p:nvPr/>
          </p:nvSpPr>
          <p:spPr>
            <a:xfrm rot="18302700">
              <a:off x="9939783" y="730155"/>
              <a:ext cx="1091308" cy="517065"/>
            </a:xfrm>
            <a:prstGeom prst="rect">
              <a:avLst/>
            </a:prstGeom>
            <a:noFill/>
          </p:spPr>
          <p:txBody>
            <a:bodyPr wrap="square" lIns="179238" tIns="143391" rIns="179238" bIns="143391" rtlCol="0">
              <a:spAutoFit/>
            </a:bodyPr>
            <a:lstStyle/>
            <a:p>
              <a:pPr defTabSz="896203">
                <a:lnSpc>
                  <a:spcPct val="90000"/>
                </a:lnSpc>
                <a:spcAft>
                  <a:spcPts val="588"/>
                </a:spcAft>
                <a:defRPr/>
              </a:pPr>
              <a:r>
                <a:rPr lang="en-US" sz="1568" kern="0" dirty="0">
                  <a:gradFill>
                    <a:gsLst>
                      <a:gs pos="2917">
                        <a:srgbClr val="505050"/>
                      </a:gs>
                      <a:gs pos="30000">
                        <a:srgbClr val="505050"/>
                      </a:gs>
                    </a:gsLst>
                    <a:lin ang="5400000" scaled="0"/>
                  </a:gradFill>
                  <a:latin typeface="Segoe UI"/>
                </a:rPr>
                <a:t>ES2018</a:t>
              </a:r>
              <a:endParaRPr lang="en-US" sz="2352" kern="0" dirty="0">
                <a:gradFill>
                  <a:gsLst>
                    <a:gs pos="2917">
                      <a:srgbClr val="505050"/>
                    </a:gs>
                    <a:gs pos="30000">
                      <a:srgbClr val="505050"/>
                    </a:gs>
                  </a:gsLst>
                  <a:lin ang="5400000" scaled="0"/>
                </a:gradFill>
                <a:latin typeface="Segoe UI"/>
              </a:endParaRPr>
            </a:p>
          </p:txBody>
        </p:sp>
        <p:sp>
          <p:nvSpPr>
            <p:cNvPr id="103" name="TextBox 102"/>
            <p:cNvSpPr txBox="1"/>
            <p:nvPr/>
          </p:nvSpPr>
          <p:spPr>
            <a:xfrm rot="18302700">
              <a:off x="7259539" y="720866"/>
              <a:ext cx="1113999" cy="517065"/>
            </a:xfrm>
            <a:prstGeom prst="rect">
              <a:avLst/>
            </a:prstGeom>
            <a:noFill/>
          </p:spPr>
          <p:txBody>
            <a:bodyPr wrap="square" lIns="179238" tIns="143391" rIns="179238" bIns="143391" rtlCol="0">
              <a:spAutoFit/>
            </a:bodyPr>
            <a:lstStyle/>
            <a:p>
              <a:pPr defTabSz="896203">
                <a:lnSpc>
                  <a:spcPct val="90000"/>
                </a:lnSpc>
                <a:spcAft>
                  <a:spcPts val="588"/>
                </a:spcAft>
                <a:defRPr/>
              </a:pPr>
              <a:r>
                <a:rPr lang="en-US" sz="1568" kern="0" dirty="0">
                  <a:gradFill>
                    <a:gsLst>
                      <a:gs pos="2917">
                        <a:srgbClr val="505050"/>
                      </a:gs>
                      <a:gs pos="30000">
                        <a:srgbClr val="505050"/>
                      </a:gs>
                    </a:gsLst>
                    <a:lin ang="5400000" scaled="0"/>
                  </a:gradFill>
                  <a:latin typeface="Segoe UI"/>
                </a:rPr>
                <a:t>ES2015</a:t>
              </a:r>
              <a:endParaRPr lang="en-US" sz="2352" kern="0" dirty="0">
                <a:gradFill>
                  <a:gsLst>
                    <a:gs pos="2917">
                      <a:srgbClr val="505050"/>
                    </a:gs>
                    <a:gs pos="30000">
                      <a:srgbClr val="505050"/>
                    </a:gs>
                  </a:gsLst>
                  <a:lin ang="5400000" scaled="0"/>
                </a:gradFill>
                <a:latin typeface="Segoe UI"/>
              </a:endParaRPr>
            </a:p>
          </p:txBody>
        </p:sp>
      </p:grpSp>
      <p:sp>
        <p:nvSpPr>
          <p:cNvPr id="2" name="TextBox 1"/>
          <p:cNvSpPr txBox="1"/>
          <p:nvPr/>
        </p:nvSpPr>
        <p:spPr>
          <a:xfrm>
            <a:off x="6447116" y="5964596"/>
            <a:ext cx="1663535" cy="615377"/>
          </a:xfrm>
          <a:prstGeom prst="rect">
            <a:avLst/>
          </a:prstGeom>
          <a:noFill/>
        </p:spPr>
        <p:txBody>
          <a:bodyPr wrap="square" lIns="179238" tIns="143391" rIns="179238" bIns="143391" rtlCol="0">
            <a:spAutoFit/>
          </a:bodyPr>
          <a:lstStyle/>
          <a:p>
            <a:pPr algn="ctr" defTabSz="914180">
              <a:lnSpc>
                <a:spcPct val="90000"/>
              </a:lnSpc>
              <a:spcAft>
                <a:spcPts val="588"/>
              </a:spcAft>
              <a:defRPr/>
            </a:pPr>
            <a:endParaRPr lang="en-US" sz="2352" dirty="0">
              <a:gradFill>
                <a:gsLst>
                  <a:gs pos="2917">
                    <a:srgbClr val="505050"/>
                  </a:gs>
                  <a:gs pos="30000">
                    <a:srgbClr val="505050"/>
                  </a:gs>
                </a:gsLst>
                <a:lin ang="5400000" scaled="0"/>
              </a:gradFill>
              <a:latin typeface="Segoe UI"/>
            </a:endParaRPr>
          </a:p>
        </p:txBody>
      </p:sp>
      <p:sp>
        <p:nvSpPr>
          <p:cNvPr id="38" name="TextBox 37"/>
          <p:cNvSpPr txBox="1"/>
          <p:nvPr/>
        </p:nvSpPr>
        <p:spPr>
          <a:xfrm>
            <a:off x="6323012" y="5964596"/>
            <a:ext cx="1905000" cy="533945"/>
          </a:xfrm>
          <a:prstGeom prst="rect">
            <a:avLst/>
          </a:prstGeom>
          <a:noFill/>
        </p:spPr>
        <p:txBody>
          <a:bodyPr wrap="square" lIns="179238" tIns="143391" rIns="179238" bIns="143391" rtlCol="0">
            <a:spAutoFit/>
          </a:bodyPr>
          <a:lstStyle/>
          <a:p>
            <a:pPr algn="ctr" defTabSz="914180">
              <a:lnSpc>
                <a:spcPct val="90000"/>
              </a:lnSpc>
              <a:spcAft>
                <a:spcPts val="588"/>
              </a:spcAft>
              <a:defRPr/>
            </a:pPr>
            <a:r>
              <a:rPr lang="en-US" sz="1764" dirty="0">
                <a:gradFill>
                  <a:gsLst>
                    <a:gs pos="2917">
                      <a:srgbClr val="505050"/>
                    </a:gs>
                    <a:gs pos="30000">
                      <a:srgbClr val="505050"/>
                    </a:gs>
                  </a:gsLst>
                  <a:lin ang="5400000" scaled="0"/>
                </a:gradFill>
                <a:latin typeface="Segoe UI"/>
              </a:rPr>
              <a:t>2016-2017</a:t>
            </a:r>
            <a:endParaRPr lang="en-US" sz="2352" dirty="0">
              <a:gradFill>
                <a:gsLst>
                  <a:gs pos="2917">
                    <a:srgbClr val="505050"/>
                  </a:gs>
                  <a:gs pos="30000">
                    <a:srgbClr val="505050"/>
                  </a:gs>
                </a:gsLst>
                <a:lin ang="5400000" scaled="0"/>
              </a:gradFill>
              <a:latin typeface="Segoe UI"/>
            </a:endParaRPr>
          </a:p>
        </p:txBody>
      </p:sp>
      <p:cxnSp>
        <p:nvCxnSpPr>
          <p:cNvPr id="34" name="Straight Connector 6">
            <a:extLst>
              <a:ext uri="{FF2B5EF4-FFF2-40B4-BE49-F238E27FC236}">
                <a16:creationId xmlns:a16="http://schemas.microsoft.com/office/drawing/2014/main" id="{D4283ABD-BBF7-4C1A-B3C6-D3557ECBF9EF}"/>
              </a:ext>
            </a:extLst>
          </p:cNvPr>
          <p:cNvCxnSpPr/>
          <p:nvPr/>
        </p:nvCxnSpPr>
        <p:spPr>
          <a:xfrm>
            <a:off x="10804237" y="1856580"/>
            <a:ext cx="0" cy="448096"/>
          </a:xfrm>
          <a:prstGeom prst="line">
            <a:avLst/>
          </a:prstGeom>
          <a:ln w="381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5" name="TextBox 101">
            <a:extLst>
              <a:ext uri="{FF2B5EF4-FFF2-40B4-BE49-F238E27FC236}">
                <a16:creationId xmlns:a16="http://schemas.microsoft.com/office/drawing/2014/main" id="{C290C3A9-53FF-43D1-9C0F-1E482FEFFCDA}"/>
              </a:ext>
            </a:extLst>
          </p:cNvPr>
          <p:cNvSpPr txBox="1"/>
          <p:nvPr/>
        </p:nvSpPr>
        <p:spPr>
          <a:xfrm rot="18302700">
            <a:off x="10503676" y="1271535"/>
            <a:ext cx="1069577" cy="506769"/>
          </a:xfrm>
          <a:prstGeom prst="rect">
            <a:avLst/>
          </a:prstGeom>
          <a:noFill/>
        </p:spPr>
        <p:txBody>
          <a:bodyPr wrap="square" lIns="179238" tIns="143391" rIns="179238" bIns="143391" rtlCol="0">
            <a:spAutoFit/>
          </a:bodyPr>
          <a:lstStyle/>
          <a:p>
            <a:pPr defTabSz="896203">
              <a:lnSpc>
                <a:spcPct val="90000"/>
              </a:lnSpc>
              <a:spcAft>
                <a:spcPts val="588"/>
              </a:spcAft>
              <a:defRPr/>
            </a:pPr>
            <a:r>
              <a:rPr lang="en-US" sz="1568" kern="0" dirty="0">
                <a:gradFill>
                  <a:gsLst>
                    <a:gs pos="2917">
                      <a:srgbClr val="505050"/>
                    </a:gs>
                    <a:gs pos="30000">
                      <a:srgbClr val="505050"/>
                    </a:gs>
                  </a:gsLst>
                  <a:lin ang="5400000" scaled="0"/>
                </a:gradFill>
                <a:latin typeface="Segoe UI"/>
              </a:rPr>
              <a:t>ES2019</a:t>
            </a:r>
            <a:endParaRPr lang="en-US" sz="2352" kern="0" dirty="0">
              <a:gradFill>
                <a:gsLst>
                  <a:gs pos="2917">
                    <a:srgbClr val="505050"/>
                  </a:gs>
                  <a:gs pos="30000">
                    <a:srgbClr val="505050"/>
                  </a:gs>
                </a:gsLst>
                <a:lin ang="5400000" scaled="0"/>
              </a:gradFill>
              <a:latin typeface="Segoe UI"/>
            </a:endParaRPr>
          </a:p>
        </p:txBody>
      </p:sp>
    </p:spTree>
    <p:extLst>
      <p:ext uri="{BB962C8B-B14F-4D97-AF65-F5344CB8AC3E}">
        <p14:creationId xmlns:p14="http://schemas.microsoft.com/office/powerpoint/2010/main" val="305752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63" presetClass="path" presetSubtype="0" accel="50000" decel="50000" fill="hold" nodeType="clickEffect">
                                  <p:stCondLst>
                                    <p:cond delay="0"/>
                                  </p:stCondLst>
                                  <p:childTnLst>
                                    <p:animMotion origin="layout" path="M 1.37861E-7 -2.41943E-6 L 0.11425 0.00273 " pathEditMode="relative" rAng="0" ptsTypes="AA">
                                      <p:cBhvr>
                                        <p:cTn id="22" dur="2000" fill="hold"/>
                                        <p:tgtEl>
                                          <p:spTgt spid="24"/>
                                        </p:tgtEl>
                                        <p:attrNameLst>
                                          <p:attrName>ppt_x</p:attrName>
                                          <p:attrName>ppt_y</p:attrName>
                                        </p:attrNameLst>
                                      </p:cBhvr>
                                      <p:rCtr x="5706" y="136"/>
                                    </p:animMotion>
                                  </p:childTnLst>
                                </p:cTn>
                              </p:par>
                              <p:par>
                                <p:cTn id="23" presetID="63" presetClass="path" presetSubtype="0" accel="50000" decel="50000" fill="hold" nodeType="withEffect">
                                  <p:stCondLst>
                                    <p:cond delay="0"/>
                                  </p:stCondLst>
                                  <p:childTnLst>
                                    <p:animMotion origin="layout" path="M 3.19122E-7 -4.35315E-6 L 0.11144 -0.00363 " pathEditMode="relative" rAng="0" ptsTypes="AA">
                                      <p:cBhvr>
                                        <p:cTn id="24" dur="2000" fill="hold"/>
                                        <p:tgtEl>
                                          <p:spTgt spid="23"/>
                                        </p:tgtEl>
                                        <p:attrNameLst>
                                          <p:attrName>ppt_x</p:attrName>
                                          <p:attrName>ppt_y</p:attrName>
                                        </p:attrNameLst>
                                      </p:cBhvr>
                                      <p:rCtr x="5565" y="-182"/>
                                    </p:animMotion>
                                  </p:childTnLst>
                                </p:cTn>
                              </p:par>
                              <p:par>
                                <p:cTn id="25" presetID="63" presetClass="path" presetSubtype="0" accel="50000" decel="50000" fill="hold" nodeType="withEffect">
                                  <p:stCondLst>
                                    <p:cond delay="0"/>
                                  </p:stCondLst>
                                  <p:childTnLst>
                                    <p:animMotion origin="layout" path="M 1.85346E-6 1.44803E-6 L 0.10952 -0.00204 " pathEditMode="relative" rAng="0" ptsTypes="AA">
                                      <p:cBhvr>
                                        <p:cTn id="26" dur="2000" fill="hold"/>
                                        <p:tgtEl>
                                          <p:spTgt spid="22"/>
                                        </p:tgtEl>
                                        <p:attrNameLst>
                                          <p:attrName>ppt_x</p:attrName>
                                          <p:attrName>ppt_y</p:attrName>
                                        </p:attrNameLst>
                                      </p:cBhvr>
                                      <p:rCtr x="5412" y="0"/>
                                    </p:animMotion>
                                  </p:childTnLst>
                                </p:cTn>
                              </p:par>
                              <p:par>
                                <p:cTn id="27" presetID="63" presetClass="path" presetSubtype="0" accel="50000" decel="50000" fill="hold" nodeType="withEffect">
                                  <p:stCondLst>
                                    <p:cond delay="0"/>
                                  </p:stCondLst>
                                  <p:childTnLst>
                                    <p:animMotion origin="layout" path="M 2.98443E-6 -4.21698E-6 L 0.11463 0.00341 " pathEditMode="relative" rAng="0" ptsTypes="AA">
                                      <p:cBhvr>
                                        <p:cTn id="28" dur="2000" fill="hold"/>
                                        <p:tgtEl>
                                          <p:spTgt spid="159"/>
                                        </p:tgtEl>
                                        <p:attrNameLst>
                                          <p:attrName>ppt_x</p:attrName>
                                          <p:attrName>ppt_y</p:attrName>
                                        </p:attrNameLst>
                                      </p:cBhvr>
                                      <p:rCtr x="5731" y="159"/>
                                    </p:animMotion>
                                  </p:childTnLst>
                                </p:cTn>
                              </p:par>
                              <p:par>
                                <p:cTn id="29" presetID="10" presetClass="entr" presetSubtype="0" fill="hold" grpId="0" nodeType="withEffect">
                                  <p:stCondLst>
                                    <p:cond delay="100"/>
                                  </p:stCondLst>
                                  <p:childTnLst>
                                    <p:set>
                                      <p:cBhvr>
                                        <p:cTn id="30" dur="1" fill="hold">
                                          <p:stCondLst>
                                            <p:cond delay="0"/>
                                          </p:stCondLst>
                                        </p:cTn>
                                        <p:tgtEl>
                                          <p:spTgt spid="38"/>
                                        </p:tgtEl>
                                        <p:attrNameLst>
                                          <p:attrName>style.visibility</p:attrName>
                                        </p:attrNameLst>
                                      </p:cBhvr>
                                      <p:to>
                                        <p:strVal val="visible"/>
                                      </p:to>
                                    </p:set>
                                    <p:animEffect transition="in" filter="fade">
                                      <p:cBhvr>
                                        <p:cTn id="31"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err="1"/>
              <a:t>Upss</a:t>
            </a:r>
            <a:r>
              <a:rPr lang="en-US" dirty="0"/>
              <a:t>… One year, four releases</a:t>
            </a:r>
          </a:p>
        </p:txBody>
      </p:sp>
      <p:grpSp>
        <p:nvGrpSpPr>
          <p:cNvPr id="35" name="Group 34"/>
          <p:cNvGrpSpPr/>
          <p:nvPr/>
        </p:nvGrpSpPr>
        <p:grpSpPr>
          <a:xfrm rot="20525346">
            <a:off x="1091837" y="3190997"/>
            <a:ext cx="10007470" cy="448096"/>
            <a:chOff x="1036637" y="5402262"/>
            <a:chExt cx="10210800" cy="457200"/>
          </a:xfrm>
        </p:grpSpPr>
        <p:grpSp>
          <p:nvGrpSpPr>
            <p:cNvPr id="9" name="Group 8"/>
            <p:cNvGrpSpPr/>
            <p:nvPr/>
          </p:nvGrpSpPr>
          <p:grpSpPr>
            <a:xfrm>
              <a:off x="2713037" y="5402262"/>
              <a:ext cx="2133600" cy="457200"/>
              <a:chOff x="1265237" y="5402262"/>
              <a:chExt cx="2133600" cy="457200"/>
            </a:xfrm>
          </p:grpSpPr>
          <p:sp>
            <p:nvSpPr>
              <p:cNvPr id="4" name="Oval 3"/>
              <p:cNvSpPr/>
              <p:nvPr/>
            </p:nvSpPr>
            <p:spPr bwMode="auto">
              <a:xfrm>
                <a:off x="1265237" y="5402262"/>
                <a:ext cx="457200" cy="457200"/>
              </a:xfrm>
              <a:prstGeom prst="ellipse">
                <a:avLst/>
              </a:prstGeom>
              <a:noFill/>
              <a:ln w="381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38" tIns="143391" rIns="179238" bIns="143391" numCol="1" spcCol="0" rtlCol="0" fromWordArt="0" anchor="t" anchorCtr="0" forceAA="0" compatLnSpc="1">
                <a:prstTxWarp prst="textNoShape">
                  <a:avLst/>
                </a:prstTxWarp>
                <a:noAutofit/>
              </a:bodyPr>
              <a:lstStyle/>
              <a:p>
                <a:pPr algn="ctr" defTabSz="913916" fontAlgn="base">
                  <a:lnSpc>
                    <a:spcPct val="90000"/>
                  </a:lnSpc>
                  <a:spcBef>
                    <a:spcPct val="0"/>
                  </a:spcBef>
                  <a:spcAft>
                    <a:spcPct val="0"/>
                  </a:spcAft>
                  <a:defRPr/>
                </a:pPr>
                <a:endParaRPr lang="en-US" sz="2352"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cxnSp>
            <p:nvCxnSpPr>
              <p:cNvPr id="7" name="Straight Connector 6"/>
              <p:cNvCxnSpPr>
                <a:stCxn id="4" idx="6"/>
              </p:cNvCxnSpPr>
              <p:nvPr/>
            </p:nvCxnSpPr>
            <p:spPr>
              <a:xfrm>
                <a:off x="1722437" y="5630862"/>
                <a:ext cx="1676400" cy="0"/>
              </a:xfrm>
              <a:prstGeom prst="line">
                <a:avLst/>
              </a:prstGeom>
              <a:ln w="38100">
                <a:solidFill>
                  <a:schemeClr val="tx1"/>
                </a:solidFill>
                <a:headEnd type="none"/>
                <a:tailEnd type="triangle" w="lg" len="med"/>
              </a:ln>
            </p:spPr>
            <p:style>
              <a:lnRef idx="1">
                <a:schemeClr val="accent1"/>
              </a:lnRef>
              <a:fillRef idx="0">
                <a:schemeClr val="accent1"/>
              </a:fillRef>
              <a:effectRef idx="0">
                <a:schemeClr val="accent1"/>
              </a:effectRef>
              <a:fontRef idx="minor">
                <a:schemeClr val="tx1"/>
              </a:fontRef>
            </p:style>
          </p:cxnSp>
        </p:grpSp>
        <p:grpSp>
          <p:nvGrpSpPr>
            <p:cNvPr id="17" name="Group 16"/>
            <p:cNvGrpSpPr/>
            <p:nvPr/>
          </p:nvGrpSpPr>
          <p:grpSpPr>
            <a:xfrm>
              <a:off x="4846637" y="5402262"/>
              <a:ext cx="2133600" cy="457200"/>
              <a:chOff x="1265237" y="5402262"/>
              <a:chExt cx="2133600" cy="457200"/>
            </a:xfrm>
          </p:grpSpPr>
          <p:sp>
            <p:nvSpPr>
              <p:cNvPr id="18" name="Oval 17"/>
              <p:cNvSpPr/>
              <p:nvPr/>
            </p:nvSpPr>
            <p:spPr bwMode="auto">
              <a:xfrm>
                <a:off x="1265237" y="5402262"/>
                <a:ext cx="457200" cy="457200"/>
              </a:xfrm>
              <a:prstGeom prst="ellipse">
                <a:avLst/>
              </a:prstGeom>
              <a:noFill/>
              <a:ln w="381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38" tIns="143391" rIns="179238" bIns="143391" numCol="1" spcCol="0" rtlCol="0" fromWordArt="0" anchor="t" anchorCtr="0" forceAA="0" compatLnSpc="1">
                <a:prstTxWarp prst="textNoShape">
                  <a:avLst/>
                </a:prstTxWarp>
                <a:noAutofit/>
              </a:bodyPr>
              <a:lstStyle/>
              <a:p>
                <a:pPr algn="ctr" defTabSz="913916" fontAlgn="base">
                  <a:lnSpc>
                    <a:spcPct val="90000"/>
                  </a:lnSpc>
                  <a:spcBef>
                    <a:spcPct val="0"/>
                  </a:spcBef>
                  <a:spcAft>
                    <a:spcPct val="0"/>
                  </a:spcAft>
                  <a:defRPr/>
                </a:pPr>
                <a:endParaRPr lang="en-US" sz="2352"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cxnSp>
            <p:nvCxnSpPr>
              <p:cNvPr id="19" name="Straight Connector 18"/>
              <p:cNvCxnSpPr>
                <a:stCxn id="18" idx="6"/>
              </p:cNvCxnSpPr>
              <p:nvPr/>
            </p:nvCxnSpPr>
            <p:spPr>
              <a:xfrm>
                <a:off x="1722437" y="5630862"/>
                <a:ext cx="1676400" cy="0"/>
              </a:xfrm>
              <a:prstGeom prst="line">
                <a:avLst/>
              </a:prstGeom>
              <a:ln w="38100">
                <a:solidFill>
                  <a:schemeClr val="tx1"/>
                </a:solidFill>
                <a:headEnd type="none"/>
                <a:tailEnd type="triangle" w="lg" len="med"/>
              </a:ln>
            </p:spPr>
            <p:style>
              <a:lnRef idx="1">
                <a:schemeClr val="accent1"/>
              </a:lnRef>
              <a:fillRef idx="0">
                <a:schemeClr val="accent1"/>
              </a:fillRef>
              <a:effectRef idx="0">
                <a:schemeClr val="accent1"/>
              </a:effectRef>
              <a:fontRef idx="minor">
                <a:schemeClr val="tx1"/>
              </a:fontRef>
            </p:style>
          </p:cxnSp>
        </p:grpSp>
        <p:grpSp>
          <p:nvGrpSpPr>
            <p:cNvPr id="20" name="Group 19"/>
            <p:cNvGrpSpPr/>
            <p:nvPr/>
          </p:nvGrpSpPr>
          <p:grpSpPr>
            <a:xfrm>
              <a:off x="6980237" y="5402262"/>
              <a:ext cx="2133600" cy="457200"/>
              <a:chOff x="1265237" y="5402262"/>
              <a:chExt cx="2133600" cy="457200"/>
            </a:xfrm>
          </p:grpSpPr>
          <p:sp>
            <p:nvSpPr>
              <p:cNvPr id="21" name="Oval 20"/>
              <p:cNvSpPr/>
              <p:nvPr/>
            </p:nvSpPr>
            <p:spPr bwMode="auto">
              <a:xfrm>
                <a:off x="1265237" y="5402262"/>
                <a:ext cx="457200" cy="457200"/>
              </a:xfrm>
              <a:prstGeom prst="ellipse">
                <a:avLst/>
              </a:prstGeom>
              <a:noFill/>
              <a:ln w="381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38" tIns="143391" rIns="179238" bIns="143391" numCol="1" spcCol="0" rtlCol="0" fromWordArt="0" anchor="t" anchorCtr="0" forceAA="0" compatLnSpc="1">
                <a:prstTxWarp prst="textNoShape">
                  <a:avLst/>
                </a:prstTxWarp>
                <a:noAutofit/>
              </a:bodyPr>
              <a:lstStyle/>
              <a:p>
                <a:pPr algn="ctr" defTabSz="913916" fontAlgn="base">
                  <a:lnSpc>
                    <a:spcPct val="90000"/>
                  </a:lnSpc>
                  <a:spcBef>
                    <a:spcPct val="0"/>
                  </a:spcBef>
                  <a:spcAft>
                    <a:spcPct val="0"/>
                  </a:spcAft>
                  <a:defRPr/>
                </a:pPr>
                <a:endParaRPr lang="en-US" sz="2352"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cxnSp>
            <p:nvCxnSpPr>
              <p:cNvPr id="22" name="Straight Connector 21"/>
              <p:cNvCxnSpPr>
                <a:stCxn id="21" idx="6"/>
              </p:cNvCxnSpPr>
              <p:nvPr/>
            </p:nvCxnSpPr>
            <p:spPr>
              <a:xfrm>
                <a:off x="1722437" y="5630862"/>
                <a:ext cx="1676400" cy="0"/>
              </a:xfrm>
              <a:prstGeom prst="line">
                <a:avLst/>
              </a:prstGeom>
              <a:ln w="38100">
                <a:solidFill>
                  <a:schemeClr val="tx1"/>
                </a:solidFill>
                <a:headEnd type="none"/>
                <a:tailEnd type="triangle" w="lg" len="med"/>
              </a:ln>
            </p:spPr>
            <p:style>
              <a:lnRef idx="1">
                <a:schemeClr val="accent1"/>
              </a:lnRef>
              <a:fillRef idx="0">
                <a:schemeClr val="accent1"/>
              </a:fillRef>
              <a:effectRef idx="0">
                <a:schemeClr val="accent1"/>
              </a:effectRef>
              <a:fontRef idx="minor">
                <a:schemeClr val="tx1"/>
              </a:fontRef>
            </p:style>
          </p:cxnSp>
        </p:grpSp>
        <p:grpSp>
          <p:nvGrpSpPr>
            <p:cNvPr id="23" name="Group 22"/>
            <p:cNvGrpSpPr/>
            <p:nvPr/>
          </p:nvGrpSpPr>
          <p:grpSpPr>
            <a:xfrm>
              <a:off x="9113837" y="5402262"/>
              <a:ext cx="2133600" cy="457200"/>
              <a:chOff x="1265237" y="5402262"/>
              <a:chExt cx="2133600" cy="457200"/>
            </a:xfrm>
          </p:grpSpPr>
          <p:sp>
            <p:nvSpPr>
              <p:cNvPr id="24" name="Oval 23"/>
              <p:cNvSpPr/>
              <p:nvPr/>
            </p:nvSpPr>
            <p:spPr bwMode="auto">
              <a:xfrm>
                <a:off x="1265237" y="5402262"/>
                <a:ext cx="457200" cy="457200"/>
              </a:xfrm>
              <a:prstGeom prst="ellipse">
                <a:avLst/>
              </a:prstGeom>
              <a:noFill/>
              <a:ln w="381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38" tIns="143391" rIns="179238" bIns="143391" numCol="1" spcCol="0" rtlCol="0" fromWordArt="0" anchor="t" anchorCtr="0" forceAA="0" compatLnSpc="1">
                <a:prstTxWarp prst="textNoShape">
                  <a:avLst/>
                </a:prstTxWarp>
                <a:noAutofit/>
              </a:bodyPr>
              <a:lstStyle/>
              <a:p>
                <a:pPr algn="ctr" defTabSz="913916" fontAlgn="base">
                  <a:lnSpc>
                    <a:spcPct val="90000"/>
                  </a:lnSpc>
                  <a:spcBef>
                    <a:spcPct val="0"/>
                  </a:spcBef>
                  <a:spcAft>
                    <a:spcPct val="0"/>
                  </a:spcAft>
                  <a:defRPr/>
                </a:pPr>
                <a:endParaRPr lang="en-US" sz="2352"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cxnSp>
            <p:nvCxnSpPr>
              <p:cNvPr id="25" name="Straight Connector 24"/>
              <p:cNvCxnSpPr>
                <a:stCxn id="24" idx="6"/>
              </p:cNvCxnSpPr>
              <p:nvPr/>
            </p:nvCxnSpPr>
            <p:spPr>
              <a:xfrm>
                <a:off x="1722437" y="5630862"/>
                <a:ext cx="1676400" cy="0"/>
              </a:xfrm>
              <a:prstGeom prst="line">
                <a:avLst/>
              </a:prstGeom>
              <a:ln w="38100">
                <a:solidFill>
                  <a:schemeClr val="tx1"/>
                </a:solidFill>
                <a:headEnd type="none"/>
                <a:tailEnd type="triangle" w="lg" len="med"/>
              </a:ln>
            </p:spPr>
            <p:style>
              <a:lnRef idx="1">
                <a:schemeClr val="accent1"/>
              </a:lnRef>
              <a:fillRef idx="0">
                <a:schemeClr val="accent1"/>
              </a:fillRef>
              <a:effectRef idx="0">
                <a:schemeClr val="accent1"/>
              </a:effectRef>
              <a:fontRef idx="minor">
                <a:schemeClr val="tx1"/>
              </a:fontRef>
            </p:style>
          </p:cxnSp>
        </p:grpSp>
        <p:cxnSp>
          <p:nvCxnSpPr>
            <p:cNvPr id="34" name="Straight Connector 33"/>
            <p:cNvCxnSpPr/>
            <p:nvPr/>
          </p:nvCxnSpPr>
          <p:spPr>
            <a:xfrm>
              <a:off x="1036637" y="5630862"/>
              <a:ext cx="1676400" cy="0"/>
            </a:xfrm>
            <a:prstGeom prst="line">
              <a:avLst/>
            </a:prstGeom>
            <a:ln w="38100">
              <a:solidFill>
                <a:schemeClr val="tx1"/>
              </a:solidFill>
              <a:headEnd type="none"/>
              <a:tailEnd type="triangle" w="lg" len="med"/>
            </a:ln>
          </p:spPr>
          <p:style>
            <a:lnRef idx="1">
              <a:schemeClr val="accent1"/>
            </a:lnRef>
            <a:fillRef idx="0">
              <a:schemeClr val="accent1"/>
            </a:fillRef>
            <a:effectRef idx="0">
              <a:schemeClr val="accent1"/>
            </a:effectRef>
            <a:fontRef idx="minor">
              <a:schemeClr val="tx1"/>
            </a:fontRef>
          </p:style>
        </p:cxnSp>
      </p:grpSp>
      <p:sp>
        <p:nvSpPr>
          <p:cNvPr id="36" name="TextBox 35"/>
          <p:cNvSpPr txBox="1"/>
          <p:nvPr/>
        </p:nvSpPr>
        <p:spPr>
          <a:xfrm>
            <a:off x="2669130" y="3373640"/>
            <a:ext cx="883578" cy="723955"/>
          </a:xfrm>
          <a:prstGeom prst="rect">
            <a:avLst/>
          </a:prstGeom>
          <a:noFill/>
        </p:spPr>
        <p:txBody>
          <a:bodyPr wrap="none" lIns="179238" tIns="143391" rIns="179238" bIns="143391" rtlCol="0">
            <a:spAutoFit/>
          </a:bodyPr>
          <a:lstStyle/>
          <a:p>
            <a:pPr algn="ctr" defTabSz="914180">
              <a:lnSpc>
                <a:spcPct val="90000"/>
              </a:lnSpc>
              <a:spcAft>
                <a:spcPts val="588"/>
              </a:spcAft>
              <a:defRPr/>
            </a:pPr>
            <a:r>
              <a:rPr lang="en-US" sz="3136" dirty="0">
                <a:solidFill>
                  <a:srgbClr val="0078D7"/>
                </a:solidFill>
                <a:latin typeface="Segoe UI"/>
              </a:rPr>
              <a:t>1.5</a:t>
            </a:r>
          </a:p>
        </p:txBody>
      </p:sp>
      <p:sp>
        <p:nvSpPr>
          <p:cNvPr id="37" name="TextBox 36"/>
          <p:cNvSpPr txBox="1"/>
          <p:nvPr/>
        </p:nvSpPr>
        <p:spPr>
          <a:xfrm>
            <a:off x="4658899" y="2727809"/>
            <a:ext cx="883578" cy="723955"/>
          </a:xfrm>
          <a:prstGeom prst="rect">
            <a:avLst/>
          </a:prstGeom>
          <a:noFill/>
        </p:spPr>
        <p:txBody>
          <a:bodyPr wrap="none" lIns="179238" tIns="143391" rIns="179238" bIns="143391" rtlCol="0">
            <a:spAutoFit/>
          </a:bodyPr>
          <a:lstStyle/>
          <a:p>
            <a:pPr algn="ctr" defTabSz="914180">
              <a:lnSpc>
                <a:spcPct val="90000"/>
              </a:lnSpc>
              <a:spcAft>
                <a:spcPts val="588"/>
              </a:spcAft>
              <a:defRPr/>
            </a:pPr>
            <a:r>
              <a:rPr lang="en-US" sz="3136" dirty="0">
                <a:solidFill>
                  <a:srgbClr val="0078D7"/>
                </a:solidFill>
                <a:latin typeface="Segoe UI"/>
              </a:rPr>
              <a:t>1.6</a:t>
            </a:r>
          </a:p>
        </p:txBody>
      </p:sp>
      <p:sp>
        <p:nvSpPr>
          <p:cNvPr id="38" name="TextBox 37"/>
          <p:cNvSpPr txBox="1"/>
          <p:nvPr/>
        </p:nvSpPr>
        <p:spPr>
          <a:xfrm>
            <a:off x="6648669" y="2084713"/>
            <a:ext cx="883578" cy="723955"/>
          </a:xfrm>
          <a:prstGeom prst="rect">
            <a:avLst/>
          </a:prstGeom>
          <a:noFill/>
        </p:spPr>
        <p:txBody>
          <a:bodyPr wrap="none" lIns="179238" tIns="143391" rIns="179238" bIns="143391" rtlCol="0">
            <a:spAutoFit/>
          </a:bodyPr>
          <a:lstStyle/>
          <a:p>
            <a:pPr algn="ctr" defTabSz="914180">
              <a:lnSpc>
                <a:spcPct val="90000"/>
              </a:lnSpc>
              <a:spcAft>
                <a:spcPts val="588"/>
              </a:spcAft>
              <a:defRPr/>
            </a:pPr>
            <a:r>
              <a:rPr lang="en-US" sz="3136" dirty="0">
                <a:solidFill>
                  <a:srgbClr val="0078D7"/>
                </a:solidFill>
                <a:latin typeface="Segoe UI"/>
              </a:rPr>
              <a:t>1.7</a:t>
            </a:r>
          </a:p>
        </p:txBody>
      </p:sp>
      <p:sp>
        <p:nvSpPr>
          <p:cNvPr id="40" name="TextBox 39"/>
          <p:cNvSpPr txBox="1"/>
          <p:nvPr/>
        </p:nvSpPr>
        <p:spPr>
          <a:xfrm>
            <a:off x="8638438" y="1445394"/>
            <a:ext cx="883578" cy="723955"/>
          </a:xfrm>
          <a:prstGeom prst="rect">
            <a:avLst/>
          </a:prstGeom>
          <a:noFill/>
        </p:spPr>
        <p:txBody>
          <a:bodyPr wrap="none" lIns="179238" tIns="143391" rIns="179238" bIns="143391" rtlCol="0">
            <a:spAutoFit/>
          </a:bodyPr>
          <a:lstStyle/>
          <a:p>
            <a:pPr algn="ctr" defTabSz="914180">
              <a:lnSpc>
                <a:spcPct val="90000"/>
              </a:lnSpc>
              <a:spcAft>
                <a:spcPts val="588"/>
              </a:spcAft>
              <a:defRPr/>
            </a:pPr>
            <a:r>
              <a:rPr lang="en-US" sz="3136" dirty="0">
                <a:solidFill>
                  <a:srgbClr val="0078D7"/>
                </a:solidFill>
                <a:latin typeface="Segoe UI"/>
              </a:rPr>
              <a:t>1.8</a:t>
            </a:r>
          </a:p>
        </p:txBody>
      </p:sp>
      <p:sp>
        <p:nvSpPr>
          <p:cNvPr id="41" name="TextBox 40"/>
          <p:cNvSpPr txBox="1"/>
          <p:nvPr/>
        </p:nvSpPr>
        <p:spPr>
          <a:xfrm>
            <a:off x="2116297" y="4872049"/>
            <a:ext cx="1992572" cy="832547"/>
          </a:xfrm>
          <a:prstGeom prst="rect">
            <a:avLst/>
          </a:prstGeom>
          <a:noFill/>
        </p:spPr>
        <p:txBody>
          <a:bodyPr wrap="none" lIns="179238" tIns="143391" rIns="179238" bIns="143391" rtlCol="0">
            <a:spAutoFit/>
          </a:bodyPr>
          <a:lstStyle/>
          <a:p>
            <a:pPr algn="ctr" defTabSz="914180">
              <a:lnSpc>
                <a:spcPct val="90000"/>
              </a:lnSpc>
              <a:spcAft>
                <a:spcPts val="588"/>
              </a:spcAft>
              <a:defRPr/>
            </a:pPr>
            <a:r>
              <a:rPr lang="en-US" sz="1960" dirty="0">
                <a:gradFill>
                  <a:gsLst>
                    <a:gs pos="2917">
                      <a:srgbClr val="505050"/>
                    </a:gs>
                    <a:gs pos="30000">
                      <a:srgbClr val="505050"/>
                    </a:gs>
                  </a:gsLst>
                  <a:lin ang="5400000" scaled="0"/>
                </a:gradFill>
                <a:latin typeface="Segoe UI"/>
              </a:rPr>
              <a:t>Core ES2015 +</a:t>
            </a:r>
            <a:br>
              <a:rPr lang="en-US" sz="1960" dirty="0">
                <a:gradFill>
                  <a:gsLst>
                    <a:gs pos="2917">
                      <a:srgbClr val="505050"/>
                    </a:gs>
                    <a:gs pos="30000">
                      <a:srgbClr val="505050"/>
                    </a:gs>
                  </a:gsLst>
                  <a:lin ang="5400000" scaled="0"/>
                </a:gradFill>
                <a:latin typeface="Segoe UI"/>
              </a:rPr>
            </a:br>
            <a:r>
              <a:rPr lang="en-US" sz="1960" dirty="0">
                <a:gradFill>
                  <a:gsLst>
                    <a:gs pos="2917">
                      <a:srgbClr val="505050"/>
                    </a:gs>
                    <a:gs pos="30000">
                      <a:srgbClr val="505050"/>
                    </a:gs>
                  </a:gsLst>
                  <a:lin ang="5400000" scaled="0"/>
                </a:gradFill>
                <a:latin typeface="Segoe UI"/>
              </a:rPr>
              <a:t>Decorators</a:t>
            </a:r>
          </a:p>
        </p:txBody>
      </p:sp>
      <p:sp>
        <p:nvSpPr>
          <p:cNvPr id="42" name="TextBox 41"/>
          <p:cNvSpPr txBox="1"/>
          <p:nvPr/>
        </p:nvSpPr>
        <p:spPr>
          <a:xfrm>
            <a:off x="4178991" y="4216780"/>
            <a:ext cx="1860790" cy="832547"/>
          </a:xfrm>
          <a:prstGeom prst="rect">
            <a:avLst/>
          </a:prstGeom>
          <a:noFill/>
        </p:spPr>
        <p:txBody>
          <a:bodyPr wrap="none" lIns="179238" tIns="143391" rIns="179238" bIns="143391" rtlCol="0">
            <a:spAutoFit/>
          </a:bodyPr>
          <a:lstStyle/>
          <a:p>
            <a:pPr algn="ctr" defTabSz="914180">
              <a:lnSpc>
                <a:spcPct val="90000"/>
              </a:lnSpc>
              <a:spcAft>
                <a:spcPts val="588"/>
              </a:spcAft>
              <a:defRPr/>
            </a:pPr>
            <a:r>
              <a:rPr lang="en-US" sz="1960" dirty="0">
                <a:gradFill>
                  <a:gsLst>
                    <a:gs pos="2917">
                      <a:srgbClr val="505050"/>
                    </a:gs>
                    <a:gs pos="30000">
                      <a:srgbClr val="505050"/>
                    </a:gs>
                  </a:gsLst>
                  <a:lin ang="5400000" scaled="0"/>
                </a:gradFill>
                <a:latin typeface="Segoe UI"/>
              </a:rPr>
              <a:t>Full ES2015 +</a:t>
            </a:r>
            <a:br>
              <a:rPr lang="en-US" sz="1960" dirty="0">
                <a:gradFill>
                  <a:gsLst>
                    <a:gs pos="2917">
                      <a:srgbClr val="505050"/>
                    </a:gs>
                    <a:gs pos="30000">
                      <a:srgbClr val="505050"/>
                    </a:gs>
                  </a:gsLst>
                  <a:lin ang="5400000" scaled="0"/>
                </a:gradFill>
                <a:latin typeface="Segoe UI"/>
              </a:rPr>
            </a:br>
            <a:r>
              <a:rPr lang="en-US" sz="1960" dirty="0">
                <a:gradFill>
                  <a:gsLst>
                    <a:gs pos="2917">
                      <a:srgbClr val="505050"/>
                    </a:gs>
                    <a:gs pos="30000">
                      <a:srgbClr val="505050"/>
                    </a:gs>
                  </a:gsLst>
                  <a:lin ang="5400000" scaled="0"/>
                </a:gradFill>
                <a:latin typeface="Segoe UI"/>
              </a:rPr>
              <a:t>React/JSX</a:t>
            </a:r>
          </a:p>
        </p:txBody>
      </p:sp>
      <p:sp>
        <p:nvSpPr>
          <p:cNvPr id="43" name="TextBox 42"/>
          <p:cNvSpPr txBox="1"/>
          <p:nvPr/>
        </p:nvSpPr>
        <p:spPr>
          <a:xfrm>
            <a:off x="6210338" y="3578369"/>
            <a:ext cx="1760240" cy="1375514"/>
          </a:xfrm>
          <a:prstGeom prst="rect">
            <a:avLst/>
          </a:prstGeom>
          <a:noFill/>
        </p:spPr>
        <p:txBody>
          <a:bodyPr wrap="none" lIns="179238" tIns="143391" rIns="179238" bIns="143391" rtlCol="0">
            <a:spAutoFit/>
          </a:bodyPr>
          <a:lstStyle/>
          <a:p>
            <a:pPr algn="ctr" defTabSz="914180">
              <a:lnSpc>
                <a:spcPct val="90000"/>
              </a:lnSpc>
              <a:spcAft>
                <a:spcPts val="588"/>
              </a:spcAft>
              <a:defRPr/>
            </a:pPr>
            <a:r>
              <a:rPr lang="en-US" sz="1960" dirty="0">
                <a:gradFill>
                  <a:gsLst>
                    <a:gs pos="2917">
                      <a:srgbClr val="505050"/>
                    </a:gs>
                    <a:gs pos="30000">
                      <a:srgbClr val="505050"/>
                    </a:gs>
                  </a:gsLst>
                  <a:lin ang="5400000" scaled="0"/>
                </a:gradFill>
                <a:latin typeface="Segoe UI"/>
              </a:rPr>
              <a:t>Async/await</a:t>
            </a:r>
            <a:br>
              <a:rPr lang="en-US" sz="1960" dirty="0">
                <a:gradFill>
                  <a:gsLst>
                    <a:gs pos="2917">
                      <a:srgbClr val="505050"/>
                    </a:gs>
                    <a:gs pos="30000">
                      <a:srgbClr val="505050"/>
                    </a:gs>
                  </a:gsLst>
                  <a:lin ang="5400000" scaled="0"/>
                </a:gradFill>
                <a:latin typeface="Segoe UI"/>
              </a:rPr>
            </a:br>
            <a:r>
              <a:rPr lang="en-US" sz="1960" dirty="0">
                <a:gradFill>
                  <a:gsLst>
                    <a:gs pos="2917">
                      <a:srgbClr val="505050"/>
                    </a:gs>
                    <a:gs pos="30000">
                      <a:srgbClr val="505050"/>
                    </a:gs>
                  </a:gsLst>
                  <a:lin ang="5400000" scaled="0"/>
                </a:gradFill>
                <a:latin typeface="Segoe UI"/>
              </a:rPr>
              <a:t>on server +</a:t>
            </a:r>
            <a:br>
              <a:rPr lang="en-US" sz="1960" dirty="0">
                <a:gradFill>
                  <a:gsLst>
                    <a:gs pos="2917">
                      <a:srgbClr val="505050"/>
                    </a:gs>
                    <a:gs pos="30000">
                      <a:srgbClr val="505050"/>
                    </a:gs>
                  </a:gsLst>
                  <a:lin ang="5400000" scaled="0"/>
                </a:gradFill>
                <a:latin typeface="Segoe UI"/>
              </a:rPr>
            </a:br>
            <a:r>
              <a:rPr lang="en-US" sz="1960" dirty="0">
                <a:gradFill>
                  <a:gsLst>
                    <a:gs pos="2917">
                      <a:srgbClr val="505050"/>
                    </a:gs>
                    <a:gs pos="30000">
                      <a:srgbClr val="505050"/>
                    </a:gs>
                  </a:gsLst>
                  <a:lin ang="5400000" scaled="0"/>
                </a:gradFill>
                <a:latin typeface="Segoe UI"/>
              </a:rPr>
              <a:t>polymorphic</a:t>
            </a:r>
            <a:br>
              <a:rPr lang="en-US" sz="1960" dirty="0">
                <a:gradFill>
                  <a:gsLst>
                    <a:gs pos="2917">
                      <a:srgbClr val="505050"/>
                    </a:gs>
                    <a:gs pos="30000">
                      <a:srgbClr val="505050"/>
                    </a:gs>
                  </a:gsLst>
                  <a:lin ang="5400000" scaled="0"/>
                </a:gradFill>
                <a:latin typeface="Segoe UI"/>
              </a:rPr>
            </a:br>
            <a:r>
              <a:rPr lang="en-US" sz="1960" dirty="0">
                <a:gradFill>
                  <a:gsLst>
                    <a:gs pos="2917">
                      <a:srgbClr val="505050"/>
                    </a:gs>
                    <a:gs pos="30000">
                      <a:srgbClr val="505050"/>
                    </a:gs>
                  </a:gsLst>
                  <a:lin ang="5400000" scaled="0"/>
                </a:gradFill>
                <a:latin typeface="Segoe UI"/>
              </a:rPr>
              <a:t>‘this’ types</a:t>
            </a:r>
          </a:p>
        </p:txBody>
      </p:sp>
      <p:sp>
        <p:nvSpPr>
          <p:cNvPr id="44" name="TextBox 43"/>
          <p:cNvSpPr txBox="1"/>
          <p:nvPr/>
        </p:nvSpPr>
        <p:spPr>
          <a:xfrm>
            <a:off x="8171143" y="2943756"/>
            <a:ext cx="1818182" cy="1375514"/>
          </a:xfrm>
          <a:prstGeom prst="rect">
            <a:avLst/>
          </a:prstGeom>
          <a:noFill/>
        </p:spPr>
        <p:txBody>
          <a:bodyPr wrap="none" lIns="179238" tIns="143391" rIns="179238" bIns="143391" rtlCol="0">
            <a:spAutoFit/>
          </a:bodyPr>
          <a:lstStyle/>
          <a:p>
            <a:pPr algn="ctr" defTabSz="914180">
              <a:lnSpc>
                <a:spcPct val="90000"/>
              </a:lnSpc>
              <a:spcAft>
                <a:spcPts val="588"/>
              </a:spcAft>
              <a:defRPr/>
            </a:pPr>
            <a:r>
              <a:rPr lang="en-US" sz="1960" dirty="0">
                <a:gradFill>
                  <a:gsLst>
                    <a:gs pos="2917">
                      <a:srgbClr val="505050"/>
                    </a:gs>
                    <a:gs pos="30000">
                      <a:srgbClr val="505050"/>
                    </a:gs>
                  </a:gsLst>
                  <a:lin ang="5400000" scaled="0"/>
                </a:gradFill>
                <a:latin typeface="Segoe UI"/>
              </a:rPr>
              <a:t>JavaScript in</a:t>
            </a:r>
            <a:br>
              <a:rPr lang="en-US" sz="1960" dirty="0">
                <a:gradFill>
                  <a:gsLst>
                    <a:gs pos="2917">
                      <a:srgbClr val="505050"/>
                    </a:gs>
                    <a:gs pos="30000">
                      <a:srgbClr val="505050"/>
                    </a:gs>
                  </a:gsLst>
                  <a:lin ang="5400000" scaled="0"/>
                </a:gradFill>
                <a:latin typeface="Segoe UI"/>
              </a:rPr>
            </a:br>
            <a:r>
              <a:rPr lang="en-US" sz="1960" dirty="0">
                <a:gradFill>
                  <a:gsLst>
                    <a:gs pos="2917">
                      <a:srgbClr val="505050"/>
                    </a:gs>
                    <a:gs pos="30000">
                      <a:srgbClr val="505050"/>
                    </a:gs>
                  </a:gsLst>
                  <a:lin ang="5400000" scaled="0"/>
                </a:gradFill>
                <a:latin typeface="Segoe UI"/>
              </a:rPr>
              <a:t>TS projects +</a:t>
            </a:r>
            <a:br>
              <a:rPr lang="en-US" sz="1960" dirty="0">
                <a:gradFill>
                  <a:gsLst>
                    <a:gs pos="2917">
                      <a:srgbClr val="505050"/>
                    </a:gs>
                    <a:gs pos="30000">
                      <a:srgbClr val="505050"/>
                    </a:gs>
                  </a:gsLst>
                  <a:lin ang="5400000" scaled="0"/>
                </a:gradFill>
                <a:latin typeface="Segoe UI"/>
              </a:rPr>
            </a:br>
            <a:r>
              <a:rPr lang="en-US" sz="1960" dirty="0">
                <a:gradFill>
                  <a:gsLst>
                    <a:gs pos="2917">
                      <a:srgbClr val="505050"/>
                    </a:gs>
                    <a:gs pos="30000">
                      <a:srgbClr val="505050"/>
                    </a:gs>
                  </a:gsLst>
                  <a:lin ang="5400000" scaled="0"/>
                </a:gradFill>
                <a:latin typeface="Segoe UI"/>
              </a:rPr>
              <a:t>control flow</a:t>
            </a:r>
            <a:br>
              <a:rPr lang="en-US" sz="1960" dirty="0">
                <a:gradFill>
                  <a:gsLst>
                    <a:gs pos="2917">
                      <a:srgbClr val="505050"/>
                    </a:gs>
                    <a:gs pos="30000">
                      <a:srgbClr val="505050"/>
                    </a:gs>
                  </a:gsLst>
                  <a:lin ang="5400000" scaled="0"/>
                </a:gradFill>
                <a:latin typeface="Segoe UI"/>
              </a:rPr>
            </a:br>
            <a:r>
              <a:rPr lang="en-US" sz="1960" dirty="0">
                <a:gradFill>
                  <a:gsLst>
                    <a:gs pos="2917">
                      <a:srgbClr val="505050"/>
                    </a:gs>
                    <a:gs pos="30000">
                      <a:srgbClr val="505050"/>
                    </a:gs>
                  </a:gsLst>
                  <a:lin ang="5400000" scaled="0"/>
                </a:gradFill>
                <a:latin typeface="Segoe UI"/>
              </a:rPr>
              <a:t>analysis</a:t>
            </a:r>
          </a:p>
        </p:txBody>
      </p:sp>
      <p:sp>
        <p:nvSpPr>
          <p:cNvPr id="26" name="Oval 23">
            <a:extLst>
              <a:ext uri="{FF2B5EF4-FFF2-40B4-BE49-F238E27FC236}">
                <a16:creationId xmlns:a16="http://schemas.microsoft.com/office/drawing/2014/main" id="{015DC492-A0C0-4EA4-B554-B8FA3A8B59FF}"/>
              </a:ext>
            </a:extLst>
          </p:cNvPr>
          <p:cNvSpPr/>
          <p:nvPr/>
        </p:nvSpPr>
        <p:spPr bwMode="auto">
          <a:xfrm rot="20525346">
            <a:off x="10844703" y="1598857"/>
            <a:ext cx="448096" cy="448096"/>
          </a:xfrm>
          <a:prstGeom prst="ellipse">
            <a:avLst/>
          </a:prstGeom>
          <a:noFill/>
          <a:ln w="381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38" tIns="143391" rIns="179238" bIns="143391" numCol="1" spcCol="0" rtlCol="0" fromWordArt="0" anchor="t" anchorCtr="0" forceAA="0" compatLnSpc="1">
            <a:prstTxWarp prst="textNoShape">
              <a:avLst/>
            </a:prstTxWarp>
            <a:noAutofit/>
          </a:bodyPr>
          <a:lstStyle/>
          <a:p>
            <a:pPr algn="ctr" defTabSz="913916" fontAlgn="base">
              <a:lnSpc>
                <a:spcPct val="90000"/>
              </a:lnSpc>
              <a:spcBef>
                <a:spcPct val="0"/>
              </a:spcBef>
              <a:spcAft>
                <a:spcPct val="0"/>
              </a:spcAft>
              <a:defRPr/>
            </a:pPr>
            <a:endParaRPr lang="en-US" sz="2352"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27" name="TextBox 39">
            <a:extLst>
              <a:ext uri="{FF2B5EF4-FFF2-40B4-BE49-F238E27FC236}">
                <a16:creationId xmlns:a16="http://schemas.microsoft.com/office/drawing/2014/main" id="{36F15046-CD2C-4A5F-A294-0F64F410AE16}"/>
              </a:ext>
            </a:extLst>
          </p:cNvPr>
          <p:cNvSpPr txBox="1"/>
          <p:nvPr/>
        </p:nvSpPr>
        <p:spPr>
          <a:xfrm>
            <a:off x="10765111" y="902334"/>
            <a:ext cx="656930" cy="723869"/>
          </a:xfrm>
          <a:prstGeom prst="rect">
            <a:avLst/>
          </a:prstGeom>
          <a:noFill/>
        </p:spPr>
        <p:txBody>
          <a:bodyPr wrap="none" lIns="179238" tIns="143391" rIns="179238" bIns="143391" rtlCol="0">
            <a:spAutoFit/>
          </a:bodyPr>
          <a:lstStyle/>
          <a:p>
            <a:pPr algn="ctr" defTabSz="914180">
              <a:lnSpc>
                <a:spcPct val="90000"/>
              </a:lnSpc>
              <a:spcAft>
                <a:spcPts val="588"/>
              </a:spcAft>
              <a:defRPr/>
            </a:pPr>
            <a:r>
              <a:rPr lang="en-US" sz="3136" dirty="0">
                <a:solidFill>
                  <a:srgbClr val="0078D7"/>
                </a:solidFill>
                <a:latin typeface="Segoe UI"/>
              </a:rPr>
              <a:t>…</a:t>
            </a:r>
          </a:p>
        </p:txBody>
      </p:sp>
    </p:spTree>
    <p:extLst>
      <p:ext uri="{BB962C8B-B14F-4D97-AF65-F5344CB8AC3E}">
        <p14:creationId xmlns:p14="http://schemas.microsoft.com/office/powerpoint/2010/main" val="28246509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FA54769-543D-4606-83EE-D6EAC27C4759}"/>
              </a:ext>
            </a:extLst>
          </p:cNvPr>
          <p:cNvSpPr>
            <a:spLocks noGrp="1"/>
          </p:cNvSpPr>
          <p:nvPr>
            <p:ph type="title"/>
          </p:nvPr>
        </p:nvSpPr>
        <p:spPr>
          <a:xfrm>
            <a:off x="8151812" y="365126"/>
            <a:ext cx="3199032" cy="1325563"/>
          </a:xfrm>
        </p:spPr>
        <p:txBody>
          <a:bodyPr/>
          <a:lstStyle/>
          <a:p>
            <a:r>
              <a:rPr lang="es-ES" dirty="0" err="1"/>
              <a:t>TypeScript</a:t>
            </a:r>
            <a:endParaRPr lang="es-ES" dirty="0"/>
          </a:p>
        </p:txBody>
      </p:sp>
      <p:sp>
        <p:nvSpPr>
          <p:cNvPr id="3" name="Marcador de número de diapositiva 2">
            <a:extLst>
              <a:ext uri="{FF2B5EF4-FFF2-40B4-BE49-F238E27FC236}">
                <a16:creationId xmlns:a16="http://schemas.microsoft.com/office/drawing/2014/main" id="{C54498BB-9AF7-4757-A2BC-B616DD17D6C3}"/>
              </a:ext>
            </a:extLst>
          </p:cNvPr>
          <p:cNvSpPr>
            <a:spLocks noGrp="1"/>
          </p:cNvSpPr>
          <p:nvPr>
            <p:ph type="sldNum" sz="quarter" idx="4294967295"/>
          </p:nvPr>
        </p:nvSpPr>
        <p:spPr>
          <a:xfrm>
            <a:off x="9447213" y="6356350"/>
            <a:ext cx="2741612" cy="365125"/>
          </a:xfrm>
          <a:prstGeom prst="rect">
            <a:avLst/>
          </a:prstGeom>
        </p:spPr>
        <p:txBody>
          <a:bodyPr/>
          <a:lstStyle/>
          <a:p>
            <a:fld id="{C014DD1E-5D91-48A3-AD6D-45FBA980D106}" type="slidenum">
              <a:rPr lang="en-US" smtClean="0"/>
              <a:pPr/>
              <a:t>15</a:t>
            </a:fld>
            <a:endParaRPr lang="en-US" dirty="0"/>
          </a:p>
        </p:txBody>
      </p:sp>
      <p:pic>
        <p:nvPicPr>
          <p:cNvPr id="2050" name="Picture 2">
            <a:extLst>
              <a:ext uri="{FF2B5EF4-FFF2-40B4-BE49-F238E27FC236}">
                <a16:creationId xmlns:a16="http://schemas.microsoft.com/office/drawing/2014/main" id="{632FC3EC-FB6F-4C4A-96E5-DEFC94AA9BC4}"/>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a:stretch/>
        </p:blipFill>
        <p:spPr bwMode="auto">
          <a:xfrm>
            <a:off x="0" y="-21021"/>
            <a:ext cx="7877923" cy="6879021"/>
          </a:xfrm>
          <a:prstGeom prst="rect">
            <a:avLst/>
          </a:prstGeom>
          <a:noFill/>
          <a:extLst>
            <a:ext uri="{909E8E84-426E-40DD-AFC4-6F175D3DCCD1}">
              <a14:hiddenFill xmlns:a14="http://schemas.microsoft.com/office/drawing/2010/main">
                <a:solidFill>
                  <a:srgbClr val="FFFFFF"/>
                </a:solidFill>
              </a14:hiddenFill>
            </a:ext>
          </a:extLst>
        </p:spPr>
      </p:pic>
      <p:sp>
        <p:nvSpPr>
          <p:cNvPr id="5" name="Text Placeholder 3">
            <a:extLst>
              <a:ext uri="{FF2B5EF4-FFF2-40B4-BE49-F238E27FC236}">
                <a16:creationId xmlns:a16="http://schemas.microsoft.com/office/drawing/2014/main" id="{C96B17C0-79BD-4553-B7E7-813E0B470559}"/>
              </a:ext>
            </a:extLst>
          </p:cNvPr>
          <p:cNvSpPr txBox="1">
            <a:spLocks/>
          </p:cNvSpPr>
          <p:nvPr/>
        </p:nvSpPr>
        <p:spPr>
          <a:xfrm>
            <a:off x="7949908" y="2049462"/>
            <a:ext cx="3707104" cy="4351338"/>
          </a:xfrm>
          <a:prstGeom prst="rect">
            <a:avLst/>
          </a:prstGeom>
        </p:spPr>
        <p:txBody>
          <a:bodyPr>
            <a:normAutofit fontScale="92500" lnSpcReduction="10000"/>
          </a:bodyPr>
          <a:lstStyle>
            <a:lvl1pPr marL="228531" indent="-228531" algn="l" defTabSz="914126" rtl="0" eaLnBrk="1" latinLnBrk="0" hangingPunct="1">
              <a:lnSpc>
                <a:spcPct val="90000"/>
              </a:lnSpc>
              <a:spcBef>
                <a:spcPts val="1000"/>
              </a:spcBef>
              <a:buFont typeface="Arial" panose="020B0604020202020204" pitchFamily="34" charset="0"/>
              <a:buChar char="•"/>
              <a:defRPr sz="2799" kern="1200">
                <a:solidFill>
                  <a:schemeClr val="tx1"/>
                </a:solidFill>
                <a:latin typeface="+mn-lt"/>
                <a:ea typeface="+mn-ea"/>
                <a:cs typeface="+mn-cs"/>
              </a:defRPr>
            </a:lvl1pPr>
            <a:lvl2pPr marL="685594" indent="-228531" algn="l" defTabSz="914126" rtl="0" eaLnBrk="1" latinLnBrk="0" hangingPunct="1">
              <a:lnSpc>
                <a:spcPct val="90000"/>
              </a:lnSpc>
              <a:spcBef>
                <a:spcPts val="500"/>
              </a:spcBef>
              <a:buFont typeface="Arial" panose="020B0604020202020204" pitchFamily="34" charset="0"/>
              <a:buChar char="•"/>
              <a:defRPr sz="2399" kern="1200">
                <a:solidFill>
                  <a:schemeClr val="tx1"/>
                </a:solidFill>
                <a:latin typeface="+mn-lt"/>
                <a:ea typeface="+mn-ea"/>
                <a:cs typeface="+mn-cs"/>
              </a:defRPr>
            </a:lvl2pPr>
            <a:lvl3pPr marL="1142657" indent="-228531" algn="l" defTabSz="914126" rtl="0" eaLnBrk="1" latinLnBrk="0" hangingPunct="1">
              <a:lnSpc>
                <a:spcPct val="90000"/>
              </a:lnSpc>
              <a:spcBef>
                <a:spcPts val="500"/>
              </a:spcBef>
              <a:buFont typeface="Arial" panose="020B0604020202020204" pitchFamily="34" charset="0"/>
              <a:buChar char="•"/>
              <a:defRPr sz="1999" kern="1200">
                <a:solidFill>
                  <a:schemeClr val="tx1"/>
                </a:solidFill>
                <a:latin typeface="+mn-lt"/>
                <a:ea typeface="+mn-ea"/>
                <a:cs typeface="+mn-cs"/>
              </a:defRPr>
            </a:lvl3pPr>
            <a:lvl4pPr marL="1599720"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4pPr>
            <a:lvl5pPr marL="2056783"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5pPr>
            <a:lvl6pPr marL="2513846"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en-US" sz="1800" dirty="0"/>
              <a:t>ECMAScript 2015 support</a:t>
            </a:r>
          </a:p>
          <a:p>
            <a:r>
              <a:rPr lang="en-US" sz="1800" dirty="0" err="1"/>
              <a:t>tsconfig.json</a:t>
            </a:r>
            <a:r>
              <a:rPr lang="en-US" sz="1800" dirty="0"/>
              <a:t> files</a:t>
            </a:r>
          </a:p>
          <a:p>
            <a:r>
              <a:rPr lang="en-US" sz="1800" dirty="0"/>
              <a:t>TS Server language service</a:t>
            </a:r>
          </a:p>
          <a:p>
            <a:r>
              <a:rPr lang="en-US" sz="1800" b="1" dirty="0"/>
              <a:t>Decorators</a:t>
            </a:r>
          </a:p>
          <a:p>
            <a:r>
              <a:rPr lang="en-US" sz="1800" dirty="0"/>
              <a:t>Local types</a:t>
            </a:r>
          </a:p>
          <a:p>
            <a:r>
              <a:rPr lang="en-US" sz="1800" dirty="0"/>
              <a:t>Generic type aliases</a:t>
            </a:r>
          </a:p>
          <a:p>
            <a:r>
              <a:rPr lang="en-US" sz="1800" dirty="0"/>
              <a:t>User defined type guard functions</a:t>
            </a:r>
          </a:p>
          <a:p>
            <a:r>
              <a:rPr lang="en-US" sz="1800" dirty="0"/>
              <a:t>JSX support</a:t>
            </a:r>
          </a:p>
          <a:p>
            <a:r>
              <a:rPr lang="en-US" sz="1800" dirty="0"/>
              <a:t>Intersection types</a:t>
            </a:r>
          </a:p>
          <a:p>
            <a:r>
              <a:rPr lang="en-US" sz="1800" dirty="0"/>
              <a:t>Abstract classes and methods</a:t>
            </a:r>
          </a:p>
          <a:p>
            <a:r>
              <a:rPr lang="en-US" sz="1800" dirty="0"/>
              <a:t>ES2016 exponentiation operator</a:t>
            </a:r>
          </a:p>
          <a:p>
            <a:r>
              <a:rPr lang="en-US" sz="1800" dirty="0"/>
              <a:t>Polymorphic this type</a:t>
            </a:r>
          </a:p>
          <a:p>
            <a:r>
              <a:rPr lang="en-US" sz="1800" b="1" dirty="0"/>
              <a:t>Async/await</a:t>
            </a:r>
          </a:p>
        </p:txBody>
      </p:sp>
    </p:spTree>
    <p:extLst>
      <p:ext uri="{BB962C8B-B14F-4D97-AF65-F5344CB8AC3E}">
        <p14:creationId xmlns:p14="http://schemas.microsoft.com/office/powerpoint/2010/main" val="29391172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FA54769-543D-4606-83EE-D6EAC27C4759}"/>
              </a:ext>
            </a:extLst>
          </p:cNvPr>
          <p:cNvSpPr>
            <a:spLocks noGrp="1"/>
          </p:cNvSpPr>
          <p:nvPr>
            <p:ph type="title"/>
          </p:nvPr>
        </p:nvSpPr>
        <p:spPr>
          <a:xfrm>
            <a:off x="837982" y="365126"/>
            <a:ext cx="4875430" cy="1325563"/>
          </a:xfrm>
        </p:spPr>
        <p:txBody>
          <a:bodyPr/>
          <a:lstStyle/>
          <a:p>
            <a:r>
              <a:rPr lang="es-ES" dirty="0" err="1"/>
              <a:t>TypeScript</a:t>
            </a:r>
            <a:endParaRPr lang="es-ES" dirty="0"/>
          </a:p>
        </p:txBody>
      </p:sp>
      <p:sp>
        <p:nvSpPr>
          <p:cNvPr id="3" name="Marcador de número de diapositiva 2">
            <a:extLst>
              <a:ext uri="{FF2B5EF4-FFF2-40B4-BE49-F238E27FC236}">
                <a16:creationId xmlns:a16="http://schemas.microsoft.com/office/drawing/2014/main" id="{C54498BB-9AF7-4757-A2BC-B616DD17D6C3}"/>
              </a:ext>
            </a:extLst>
          </p:cNvPr>
          <p:cNvSpPr>
            <a:spLocks noGrp="1"/>
          </p:cNvSpPr>
          <p:nvPr>
            <p:ph type="sldNum" sz="quarter" idx="4294967295"/>
          </p:nvPr>
        </p:nvSpPr>
        <p:spPr>
          <a:xfrm>
            <a:off x="9447213" y="6356350"/>
            <a:ext cx="2741612" cy="365125"/>
          </a:xfrm>
          <a:prstGeom prst="rect">
            <a:avLst/>
          </a:prstGeom>
        </p:spPr>
        <p:txBody>
          <a:bodyPr/>
          <a:lstStyle/>
          <a:p>
            <a:fld id="{C014DD1E-5D91-48A3-AD6D-45FBA980D106}" type="slidenum">
              <a:rPr lang="en-US" smtClean="0"/>
              <a:pPr/>
              <a:t>16</a:t>
            </a:fld>
            <a:endParaRPr lang="en-US" dirty="0"/>
          </a:p>
        </p:txBody>
      </p:sp>
      <p:pic>
        <p:nvPicPr>
          <p:cNvPr id="2050" name="Picture 2">
            <a:extLst>
              <a:ext uri="{FF2B5EF4-FFF2-40B4-BE49-F238E27FC236}">
                <a16:creationId xmlns:a16="http://schemas.microsoft.com/office/drawing/2014/main" id="{632FC3EC-FB6F-4C4A-96E5-DEFC94AA9BC4}"/>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a:stretch/>
        </p:blipFill>
        <p:spPr bwMode="auto">
          <a:xfrm>
            <a:off x="5942012" y="-21368"/>
            <a:ext cx="6246813" cy="6879368"/>
          </a:xfrm>
          <a:prstGeom prst="rect">
            <a:avLst/>
          </a:prstGeom>
          <a:noFill/>
          <a:extLst>
            <a:ext uri="{909E8E84-426E-40DD-AFC4-6F175D3DCCD1}">
              <a14:hiddenFill xmlns:a14="http://schemas.microsoft.com/office/drawing/2010/main">
                <a:solidFill>
                  <a:srgbClr val="FFFFFF"/>
                </a:solidFill>
              </a14:hiddenFill>
            </a:ext>
          </a:extLst>
        </p:spPr>
      </p:pic>
      <p:sp>
        <p:nvSpPr>
          <p:cNvPr id="5" name="Text Placeholder 4">
            <a:extLst>
              <a:ext uri="{FF2B5EF4-FFF2-40B4-BE49-F238E27FC236}">
                <a16:creationId xmlns:a16="http://schemas.microsoft.com/office/drawing/2014/main" id="{DB985626-77B4-4133-AA96-C62DDEE33392}"/>
              </a:ext>
            </a:extLst>
          </p:cNvPr>
          <p:cNvSpPr txBox="1">
            <a:spLocks/>
          </p:cNvSpPr>
          <p:nvPr/>
        </p:nvSpPr>
        <p:spPr>
          <a:xfrm>
            <a:off x="837982" y="1955088"/>
            <a:ext cx="5180251" cy="4766387"/>
          </a:xfrm>
          <a:prstGeom prst="rect">
            <a:avLst/>
          </a:prstGeom>
        </p:spPr>
        <p:txBody>
          <a:bodyPr>
            <a:normAutofit lnSpcReduction="10000"/>
          </a:bodyPr>
          <a:lstStyle>
            <a:lvl1pPr marL="228531" indent="-228531" algn="l" defTabSz="914126" rtl="0" eaLnBrk="1" latinLnBrk="0" hangingPunct="1">
              <a:lnSpc>
                <a:spcPct val="90000"/>
              </a:lnSpc>
              <a:spcBef>
                <a:spcPts val="1000"/>
              </a:spcBef>
              <a:buFont typeface="Arial" panose="020B0604020202020204" pitchFamily="34" charset="0"/>
              <a:buChar char="•"/>
              <a:defRPr sz="2799" kern="1200">
                <a:solidFill>
                  <a:schemeClr val="tx1"/>
                </a:solidFill>
                <a:latin typeface="+mn-lt"/>
                <a:ea typeface="+mn-ea"/>
                <a:cs typeface="+mn-cs"/>
              </a:defRPr>
            </a:lvl1pPr>
            <a:lvl2pPr marL="685594" indent="-228531" algn="l" defTabSz="914126" rtl="0" eaLnBrk="1" latinLnBrk="0" hangingPunct="1">
              <a:lnSpc>
                <a:spcPct val="90000"/>
              </a:lnSpc>
              <a:spcBef>
                <a:spcPts val="500"/>
              </a:spcBef>
              <a:buFont typeface="Arial" panose="020B0604020202020204" pitchFamily="34" charset="0"/>
              <a:buChar char="•"/>
              <a:defRPr sz="2399" kern="1200">
                <a:solidFill>
                  <a:schemeClr val="tx1"/>
                </a:solidFill>
                <a:latin typeface="+mn-lt"/>
                <a:ea typeface="+mn-ea"/>
                <a:cs typeface="+mn-cs"/>
              </a:defRPr>
            </a:lvl2pPr>
            <a:lvl3pPr marL="1142657" indent="-228531" algn="l" defTabSz="914126" rtl="0" eaLnBrk="1" latinLnBrk="0" hangingPunct="1">
              <a:lnSpc>
                <a:spcPct val="90000"/>
              </a:lnSpc>
              <a:spcBef>
                <a:spcPts val="500"/>
              </a:spcBef>
              <a:buFont typeface="Arial" panose="020B0604020202020204" pitchFamily="34" charset="0"/>
              <a:buChar char="•"/>
              <a:defRPr sz="1999" kern="1200">
                <a:solidFill>
                  <a:schemeClr val="tx1"/>
                </a:solidFill>
                <a:latin typeface="+mn-lt"/>
                <a:ea typeface="+mn-ea"/>
                <a:cs typeface="+mn-cs"/>
              </a:defRPr>
            </a:lvl3pPr>
            <a:lvl4pPr marL="1599720"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4pPr>
            <a:lvl5pPr marL="2056783"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5pPr>
            <a:lvl6pPr marL="2513846"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en-US" sz="1800" dirty="0"/>
              <a:t>Reachability analysis</a:t>
            </a:r>
          </a:p>
          <a:p>
            <a:r>
              <a:rPr lang="en-US" sz="1800" dirty="0"/>
              <a:t>Checking of </a:t>
            </a:r>
            <a:r>
              <a:rPr lang="en-US" sz="1800" dirty="0" err="1"/>
              <a:t>destructuring</a:t>
            </a:r>
            <a:r>
              <a:rPr lang="en-US" sz="1800" dirty="0"/>
              <a:t> with literal initializers</a:t>
            </a:r>
          </a:p>
          <a:p>
            <a:r>
              <a:rPr lang="en-US" sz="1800" dirty="0"/>
              <a:t>JavaScript in TypeScript compilations</a:t>
            </a:r>
          </a:p>
          <a:p>
            <a:r>
              <a:rPr lang="en-US" sz="1800" dirty="0"/>
              <a:t>String literal types</a:t>
            </a:r>
          </a:p>
          <a:p>
            <a:r>
              <a:rPr lang="en-US" sz="1800" dirty="0"/>
              <a:t>Stateless Functional Components in JSX</a:t>
            </a:r>
          </a:p>
          <a:p>
            <a:r>
              <a:rPr lang="en-US" sz="1800" dirty="0"/>
              <a:t>Support for F-bounded polymorphism</a:t>
            </a:r>
          </a:p>
          <a:p>
            <a:r>
              <a:rPr lang="en-US" sz="1800" b="1" dirty="0" err="1"/>
              <a:t>JSDoc</a:t>
            </a:r>
            <a:r>
              <a:rPr lang="en-US" sz="1800" b="1" dirty="0"/>
              <a:t> support in JavaScript files</a:t>
            </a:r>
          </a:p>
          <a:p>
            <a:r>
              <a:rPr lang="en-US" sz="1800" dirty="0"/>
              <a:t>Support for default import interop with </a:t>
            </a:r>
            <a:r>
              <a:rPr lang="en-US" sz="1800" dirty="0" err="1"/>
              <a:t>SystemJS</a:t>
            </a:r>
            <a:endParaRPr lang="en-US" sz="1800" dirty="0"/>
          </a:p>
          <a:p>
            <a:r>
              <a:rPr lang="en-US" sz="1800" dirty="0"/>
              <a:t>Recognize constructor functions in JavaScript files</a:t>
            </a:r>
          </a:p>
          <a:p>
            <a:r>
              <a:rPr lang="en-US" sz="1800" dirty="0"/>
              <a:t>Module augmentations</a:t>
            </a:r>
          </a:p>
          <a:p>
            <a:r>
              <a:rPr lang="en-US" sz="1800" dirty="0"/>
              <a:t>this-based type guards</a:t>
            </a:r>
          </a:p>
          <a:p>
            <a:r>
              <a:rPr lang="en-US" sz="1800" dirty="0"/>
              <a:t>Support for custom JSX factories  </a:t>
            </a:r>
          </a:p>
          <a:p>
            <a:r>
              <a:rPr lang="en-US" sz="1800" dirty="0"/>
              <a:t>Improved checking of for-in statements</a:t>
            </a:r>
          </a:p>
        </p:txBody>
      </p:sp>
    </p:spTree>
    <p:extLst>
      <p:ext uri="{BB962C8B-B14F-4D97-AF65-F5344CB8AC3E}">
        <p14:creationId xmlns:p14="http://schemas.microsoft.com/office/powerpoint/2010/main" val="10071645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FA54769-543D-4606-83EE-D6EAC27C4759}"/>
              </a:ext>
            </a:extLst>
          </p:cNvPr>
          <p:cNvSpPr>
            <a:spLocks noGrp="1"/>
          </p:cNvSpPr>
          <p:nvPr>
            <p:ph type="title"/>
          </p:nvPr>
        </p:nvSpPr>
        <p:spPr>
          <a:xfrm>
            <a:off x="837982" y="365126"/>
            <a:ext cx="4875430" cy="1325563"/>
          </a:xfrm>
        </p:spPr>
        <p:txBody>
          <a:bodyPr/>
          <a:lstStyle/>
          <a:p>
            <a:r>
              <a:rPr lang="es-ES" dirty="0" err="1"/>
              <a:t>TypeScript</a:t>
            </a:r>
            <a:endParaRPr lang="es-ES" dirty="0"/>
          </a:p>
        </p:txBody>
      </p:sp>
      <p:sp>
        <p:nvSpPr>
          <p:cNvPr id="3" name="Marcador de número de diapositiva 2">
            <a:extLst>
              <a:ext uri="{FF2B5EF4-FFF2-40B4-BE49-F238E27FC236}">
                <a16:creationId xmlns:a16="http://schemas.microsoft.com/office/drawing/2014/main" id="{C54498BB-9AF7-4757-A2BC-B616DD17D6C3}"/>
              </a:ext>
            </a:extLst>
          </p:cNvPr>
          <p:cNvSpPr>
            <a:spLocks noGrp="1"/>
          </p:cNvSpPr>
          <p:nvPr>
            <p:ph type="sldNum" sz="quarter" idx="4294967295"/>
          </p:nvPr>
        </p:nvSpPr>
        <p:spPr>
          <a:xfrm>
            <a:off x="9447213" y="6356350"/>
            <a:ext cx="2741612" cy="365125"/>
          </a:xfrm>
          <a:prstGeom prst="rect">
            <a:avLst/>
          </a:prstGeom>
        </p:spPr>
        <p:txBody>
          <a:bodyPr/>
          <a:lstStyle/>
          <a:p>
            <a:fld id="{C014DD1E-5D91-48A3-AD6D-45FBA980D106}" type="slidenum">
              <a:rPr lang="en-US" smtClean="0"/>
              <a:pPr/>
              <a:t>17</a:t>
            </a:fld>
            <a:endParaRPr lang="en-US" dirty="0"/>
          </a:p>
        </p:txBody>
      </p:sp>
      <p:pic>
        <p:nvPicPr>
          <p:cNvPr id="2050" name="Picture 2">
            <a:extLst>
              <a:ext uri="{FF2B5EF4-FFF2-40B4-BE49-F238E27FC236}">
                <a16:creationId xmlns:a16="http://schemas.microsoft.com/office/drawing/2014/main" id="{632FC3EC-FB6F-4C4A-96E5-DEFC94AA9BC4}"/>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a:stretch/>
        </p:blipFill>
        <p:spPr bwMode="auto">
          <a:xfrm>
            <a:off x="6018233" y="-10684"/>
            <a:ext cx="6170592" cy="6879368"/>
          </a:xfrm>
          <a:prstGeom prst="rect">
            <a:avLst/>
          </a:prstGeom>
          <a:noFill/>
          <a:extLst>
            <a:ext uri="{909E8E84-426E-40DD-AFC4-6F175D3DCCD1}">
              <a14:hiddenFill xmlns:a14="http://schemas.microsoft.com/office/drawing/2010/main">
                <a:solidFill>
                  <a:srgbClr val="FFFFFF"/>
                </a:solidFill>
              </a14:hiddenFill>
            </a:ext>
          </a:extLst>
        </p:spPr>
      </p:pic>
      <p:sp>
        <p:nvSpPr>
          <p:cNvPr id="5" name="Text Placeholder 4">
            <a:extLst>
              <a:ext uri="{FF2B5EF4-FFF2-40B4-BE49-F238E27FC236}">
                <a16:creationId xmlns:a16="http://schemas.microsoft.com/office/drawing/2014/main" id="{DB985626-77B4-4133-AA96-C62DDEE33392}"/>
              </a:ext>
            </a:extLst>
          </p:cNvPr>
          <p:cNvSpPr txBox="1">
            <a:spLocks/>
          </p:cNvSpPr>
          <p:nvPr/>
        </p:nvSpPr>
        <p:spPr>
          <a:xfrm>
            <a:off x="837982" y="1955088"/>
            <a:ext cx="5180251" cy="4537785"/>
          </a:xfrm>
          <a:prstGeom prst="rect">
            <a:avLst/>
          </a:prstGeom>
        </p:spPr>
        <p:txBody>
          <a:bodyPr>
            <a:normAutofit fontScale="85000" lnSpcReduction="10000"/>
          </a:bodyPr>
          <a:lstStyle>
            <a:lvl1pPr marL="228531" indent="-228531" algn="l" defTabSz="914126" rtl="0" eaLnBrk="1" latinLnBrk="0" hangingPunct="1">
              <a:lnSpc>
                <a:spcPct val="90000"/>
              </a:lnSpc>
              <a:spcBef>
                <a:spcPts val="1000"/>
              </a:spcBef>
              <a:buFont typeface="Arial" panose="020B0604020202020204" pitchFamily="34" charset="0"/>
              <a:buChar char="•"/>
              <a:defRPr sz="2799" kern="1200">
                <a:solidFill>
                  <a:schemeClr val="tx1"/>
                </a:solidFill>
                <a:latin typeface="+mn-lt"/>
                <a:ea typeface="+mn-ea"/>
                <a:cs typeface="+mn-cs"/>
              </a:defRPr>
            </a:lvl1pPr>
            <a:lvl2pPr marL="685594" indent="-228531" algn="l" defTabSz="914126" rtl="0" eaLnBrk="1" latinLnBrk="0" hangingPunct="1">
              <a:lnSpc>
                <a:spcPct val="90000"/>
              </a:lnSpc>
              <a:spcBef>
                <a:spcPts val="500"/>
              </a:spcBef>
              <a:buFont typeface="Arial" panose="020B0604020202020204" pitchFamily="34" charset="0"/>
              <a:buChar char="•"/>
              <a:defRPr sz="2399" kern="1200">
                <a:solidFill>
                  <a:schemeClr val="tx1"/>
                </a:solidFill>
                <a:latin typeface="+mn-lt"/>
                <a:ea typeface="+mn-ea"/>
                <a:cs typeface="+mn-cs"/>
              </a:defRPr>
            </a:lvl2pPr>
            <a:lvl3pPr marL="1142657" indent="-228531" algn="l" defTabSz="914126" rtl="0" eaLnBrk="1" latinLnBrk="0" hangingPunct="1">
              <a:lnSpc>
                <a:spcPct val="90000"/>
              </a:lnSpc>
              <a:spcBef>
                <a:spcPts val="500"/>
              </a:spcBef>
              <a:buFont typeface="Arial" panose="020B0604020202020204" pitchFamily="34" charset="0"/>
              <a:buChar char="•"/>
              <a:defRPr sz="1999" kern="1200">
                <a:solidFill>
                  <a:schemeClr val="tx1"/>
                </a:solidFill>
                <a:latin typeface="+mn-lt"/>
                <a:ea typeface="+mn-ea"/>
                <a:cs typeface="+mn-cs"/>
              </a:defRPr>
            </a:lvl3pPr>
            <a:lvl4pPr marL="1599720"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4pPr>
            <a:lvl5pPr marL="2056783"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5pPr>
            <a:lvl6pPr marL="2513846"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en-US" dirty="0"/>
              <a:t>TypeScript 2.0</a:t>
            </a:r>
          </a:p>
          <a:p>
            <a:pPr lvl="1"/>
            <a:r>
              <a:rPr lang="en-US" b="1" dirty="0"/>
              <a:t>Non-nullable types</a:t>
            </a:r>
          </a:p>
          <a:p>
            <a:pPr lvl="1"/>
            <a:r>
              <a:rPr lang="en-US" dirty="0"/>
              <a:t>Control flow based type analysis</a:t>
            </a:r>
          </a:p>
          <a:p>
            <a:pPr lvl="1"/>
            <a:r>
              <a:rPr lang="en-US" dirty="0"/>
              <a:t>Async/await </a:t>
            </a:r>
            <a:r>
              <a:rPr lang="en-US" dirty="0" err="1"/>
              <a:t>downlevel</a:t>
            </a:r>
            <a:r>
              <a:rPr lang="en-US" dirty="0"/>
              <a:t> support</a:t>
            </a:r>
          </a:p>
          <a:p>
            <a:pPr lvl="1"/>
            <a:r>
              <a:rPr lang="en-US" dirty="0" err="1"/>
              <a:t>Readonly</a:t>
            </a:r>
            <a:r>
              <a:rPr lang="en-US" dirty="0"/>
              <a:t> properties</a:t>
            </a:r>
          </a:p>
          <a:p>
            <a:pPr lvl="1"/>
            <a:r>
              <a:rPr lang="en-US" dirty="0"/>
              <a:t>Declared ‘this’ type in functions</a:t>
            </a:r>
          </a:p>
          <a:p>
            <a:pPr lvl="1"/>
            <a:r>
              <a:rPr lang="en-US" dirty="0"/>
              <a:t>Improved </a:t>
            </a:r>
            <a:r>
              <a:rPr lang="en-US" dirty="0" err="1"/>
              <a:t>typings</a:t>
            </a:r>
            <a:r>
              <a:rPr lang="en-US" dirty="0"/>
              <a:t> acquisition</a:t>
            </a:r>
          </a:p>
          <a:p>
            <a:pPr lvl="1"/>
            <a:endParaRPr lang="en-US" dirty="0"/>
          </a:p>
          <a:p>
            <a:r>
              <a:rPr lang="en-US" dirty="0"/>
              <a:t>TypeScript 2.1 and beyond</a:t>
            </a:r>
          </a:p>
          <a:p>
            <a:pPr lvl="1"/>
            <a:r>
              <a:rPr lang="en-US" dirty="0"/>
              <a:t>New JS language service in Visual Studio</a:t>
            </a:r>
          </a:p>
          <a:p>
            <a:pPr lvl="1"/>
            <a:r>
              <a:rPr lang="en-US" dirty="0"/>
              <a:t>More refactoring support</a:t>
            </a:r>
          </a:p>
          <a:p>
            <a:pPr lvl="1"/>
            <a:r>
              <a:rPr lang="en-US" dirty="0"/>
              <a:t>Improved support for ‘this’ in functions</a:t>
            </a:r>
          </a:p>
          <a:p>
            <a:pPr lvl="1"/>
            <a:r>
              <a:rPr lang="en-US" dirty="0"/>
              <a:t>And much more…</a:t>
            </a:r>
          </a:p>
        </p:txBody>
      </p:sp>
    </p:spTree>
    <p:extLst>
      <p:ext uri="{BB962C8B-B14F-4D97-AF65-F5344CB8AC3E}">
        <p14:creationId xmlns:p14="http://schemas.microsoft.com/office/powerpoint/2010/main" val="19693607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6">
            <a:extLst>
              <a:ext uri="{FF2B5EF4-FFF2-40B4-BE49-F238E27FC236}">
                <a16:creationId xmlns:a16="http://schemas.microsoft.com/office/drawing/2014/main" id="{1EABC864-EE78-4689-8DB2-53B3FED4B02F}"/>
              </a:ext>
            </a:extLst>
          </p:cNvPr>
          <p:cNvSpPr>
            <a:spLocks noGrp="1"/>
          </p:cNvSpPr>
          <p:nvPr>
            <p:ph type="title"/>
          </p:nvPr>
        </p:nvSpPr>
        <p:spPr/>
        <p:txBody>
          <a:bodyPr/>
          <a:lstStyle/>
          <a:p>
            <a:r>
              <a:rPr lang="en-US" dirty="0"/>
              <a:t>A Look at JavaScript </a:t>
            </a:r>
            <a:endParaRPr lang="es-ES" dirty="0"/>
          </a:p>
        </p:txBody>
      </p:sp>
      <p:sp>
        <p:nvSpPr>
          <p:cNvPr id="4" name="Marcador de número de diapositiva 3">
            <a:extLst>
              <a:ext uri="{FF2B5EF4-FFF2-40B4-BE49-F238E27FC236}">
                <a16:creationId xmlns:a16="http://schemas.microsoft.com/office/drawing/2014/main" id="{E2D278E1-E069-4CEC-9270-BF30FD304254}"/>
              </a:ext>
            </a:extLst>
          </p:cNvPr>
          <p:cNvSpPr>
            <a:spLocks noGrp="1"/>
          </p:cNvSpPr>
          <p:nvPr>
            <p:ph type="sldNum" sz="quarter" idx="4294967295"/>
          </p:nvPr>
        </p:nvSpPr>
        <p:spPr>
          <a:xfrm>
            <a:off x="9447213" y="6356350"/>
            <a:ext cx="2741612" cy="365125"/>
          </a:xfrm>
          <a:prstGeom prst="rect">
            <a:avLst/>
          </a:prstGeom>
        </p:spPr>
        <p:txBody>
          <a:bodyPr/>
          <a:lstStyle/>
          <a:p>
            <a:fld id="{C014DD1E-5D91-48A3-AD6D-45FBA980D106}" type="slidenum">
              <a:rPr lang="en-US" smtClean="0"/>
              <a:pPr/>
              <a:t>18</a:t>
            </a:fld>
            <a:endParaRPr lang="en-US" dirty="0"/>
          </a:p>
        </p:txBody>
      </p:sp>
    </p:spTree>
    <p:extLst>
      <p:ext uri="{BB962C8B-B14F-4D97-AF65-F5344CB8AC3E}">
        <p14:creationId xmlns:p14="http://schemas.microsoft.com/office/powerpoint/2010/main" val="3846550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2CCFE5-015B-4E96-AA8E-5925BC993F22}"/>
              </a:ext>
            </a:extLst>
          </p:cNvPr>
          <p:cNvSpPr>
            <a:spLocks noGrp="1"/>
          </p:cNvSpPr>
          <p:nvPr>
            <p:ph type="title"/>
          </p:nvPr>
        </p:nvSpPr>
        <p:spPr/>
        <p:txBody>
          <a:bodyPr>
            <a:normAutofit fontScale="90000"/>
          </a:bodyPr>
          <a:lstStyle/>
          <a:p>
            <a:r>
              <a:rPr lang="es-ES" dirty="0" err="1"/>
              <a:t>var</a:t>
            </a:r>
            <a:r>
              <a:rPr lang="es-ES" dirty="0"/>
              <a:t> vs </a:t>
            </a:r>
            <a:r>
              <a:rPr lang="es-ES" dirty="0" err="1"/>
              <a:t>let</a:t>
            </a:r>
            <a:endParaRPr lang="es-ES" dirty="0"/>
          </a:p>
        </p:txBody>
      </p:sp>
      <p:sp>
        <p:nvSpPr>
          <p:cNvPr id="4" name="Marcador de contenido 3">
            <a:extLst>
              <a:ext uri="{FF2B5EF4-FFF2-40B4-BE49-F238E27FC236}">
                <a16:creationId xmlns:a16="http://schemas.microsoft.com/office/drawing/2014/main" id="{B9905389-9420-42D6-9D2F-46372F6B2BFA}"/>
              </a:ext>
            </a:extLst>
          </p:cNvPr>
          <p:cNvSpPr>
            <a:spLocks noGrp="1"/>
          </p:cNvSpPr>
          <p:nvPr>
            <p:ph idx="1"/>
          </p:nvPr>
        </p:nvSpPr>
        <p:spPr/>
        <p:txBody>
          <a:bodyPr/>
          <a:lstStyle/>
          <a:p>
            <a:pPr marL="0" indent="0">
              <a:buNone/>
            </a:pPr>
            <a:r>
              <a:rPr lang="en-US" dirty="0"/>
              <a:t>var declaration is function scoped and let declaration is block scoped</a:t>
            </a:r>
          </a:p>
          <a:p>
            <a:endParaRPr lang="en-US" dirty="0"/>
          </a:p>
          <a:p>
            <a:endParaRPr lang="es-ES" dirty="0"/>
          </a:p>
        </p:txBody>
      </p:sp>
      <p:sp>
        <p:nvSpPr>
          <p:cNvPr id="6" name="Прямоугольник 4">
            <a:extLst>
              <a:ext uri="{FF2B5EF4-FFF2-40B4-BE49-F238E27FC236}">
                <a16:creationId xmlns:a16="http://schemas.microsoft.com/office/drawing/2014/main" id="{1D7B17F0-A53C-4DCB-947D-C84C487FDBAE}"/>
              </a:ext>
            </a:extLst>
          </p:cNvPr>
          <p:cNvSpPr/>
          <p:nvPr/>
        </p:nvSpPr>
        <p:spPr>
          <a:xfrm>
            <a:off x="912812" y="2362200"/>
            <a:ext cx="10744199" cy="4401205"/>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a:spAutoFit/>
          </a:bodyPr>
          <a:lstStyle/>
          <a:p>
            <a:r>
              <a:rPr lang="en-US" sz="1400" b="0" i="0" dirty="0">
                <a:solidFill>
                  <a:srgbClr val="96CBFE"/>
                </a:solidFill>
                <a:effectLst/>
                <a:latin typeface="Courier"/>
              </a:rPr>
              <a:t>let </a:t>
            </a:r>
            <a:r>
              <a:rPr lang="en-US" sz="1400" b="0" i="0" dirty="0" err="1">
                <a:solidFill>
                  <a:srgbClr val="F8F8F8"/>
                </a:solidFill>
                <a:effectLst/>
                <a:latin typeface="Courier"/>
              </a:rPr>
              <a:t>nombres</a:t>
            </a:r>
            <a:r>
              <a:rPr lang="en-US" sz="1400" b="0" i="0" dirty="0">
                <a:solidFill>
                  <a:srgbClr val="F8F8F8"/>
                </a:solidFill>
                <a:effectLst/>
                <a:latin typeface="Courier"/>
              </a:rPr>
              <a:t> = [</a:t>
            </a:r>
            <a:r>
              <a:rPr lang="en-US" sz="1400" b="0" i="0" dirty="0">
                <a:solidFill>
                  <a:srgbClr val="A8FF60"/>
                </a:solidFill>
                <a:effectLst/>
                <a:latin typeface="Courier"/>
              </a:rPr>
              <a:t>"Patricia"</a:t>
            </a:r>
            <a:r>
              <a:rPr lang="en-US" sz="1400" b="0" i="0" dirty="0">
                <a:solidFill>
                  <a:srgbClr val="F8F8F8"/>
                </a:solidFill>
                <a:effectLst/>
                <a:latin typeface="Courier"/>
              </a:rPr>
              <a:t>, </a:t>
            </a:r>
            <a:r>
              <a:rPr lang="en-US" sz="1400" b="0" i="0" dirty="0">
                <a:solidFill>
                  <a:srgbClr val="A8FF60"/>
                </a:solidFill>
                <a:effectLst/>
                <a:latin typeface="Courier"/>
              </a:rPr>
              <a:t>"</a:t>
            </a:r>
            <a:r>
              <a:rPr lang="en-US" sz="1400" b="0" i="0" dirty="0" err="1">
                <a:solidFill>
                  <a:srgbClr val="A8FF60"/>
                </a:solidFill>
                <a:effectLst/>
                <a:latin typeface="Courier"/>
              </a:rPr>
              <a:t>Zacarías</a:t>
            </a:r>
            <a:r>
              <a:rPr lang="en-US" sz="1400" b="0" i="0" dirty="0">
                <a:solidFill>
                  <a:srgbClr val="A8FF60"/>
                </a:solidFill>
                <a:effectLst/>
                <a:latin typeface="Courier"/>
              </a:rPr>
              <a:t>"</a:t>
            </a:r>
            <a:r>
              <a:rPr lang="en-US" sz="1400" b="0" i="0" dirty="0">
                <a:solidFill>
                  <a:srgbClr val="F8F8F8"/>
                </a:solidFill>
                <a:effectLst/>
                <a:latin typeface="Courier"/>
              </a:rPr>
              <a:t>, </a:t>
            </a:r>
            <a:r>
              <a:rPr lang="en-US" sz="1400" b="0" i="0" dirty="0">
                <a:solidFill>
                  <a:srgbClr val="A8FF60"/>
                </a:solidFill>
                <a:effectLst/>
                <a:latin typeface="Courier"/>
              </a:rPr>
              <a:t>"Miguel"</a:t>
            </a:r>
            <a:r>
              <a:rPr lang="en-US" sz="1400" b="0" i="0" dirty="0">
                <a:solidFill>
                  <a:srgbClr val="F8F8F8"/>
                </a:solidFill>
                <a:effectLst/>
                <a:latin typeface="Courier"/>
              </a:rPr>
              <a:t>, </a:t>
            </a:r>
            <a:r>
              <a:rPr lang="en-US" sz="1400" b="0" i="0" dirty="0">
                <a:solidFill>
                  <a:srgbClr val="A8FF60"/>
                </a:solidFill>
                <a:effectLst/>
                <a:latin typeface="Courier"/>
              </a:rPr>
              <a:t>"</a:t>
            </a:r>
            <a:r>
              <a:rPr lang="en-US" sz="1400" b="0" i="0" dirty="0" err="1">
                <a:solidFill>
                  <a:srgbClr val="A8FF60"/>
                </a:solidFill>
                <a:effectLst/>
                <a:latin typeface="Courier"/>
              </a:rPr>
              <a:t>Maite</a:t>
            </a:r>
            <a:br>
              <a:rPr lang="en-US" sz="1400" b="0" i="0" dirty="0">
                <a:solidFill>
                  <a:srgbClr val="A8FF60"/>
                </a:solidFill>
                <a:effectLst/>
                <a:latin typeface="Courier"/>
              </a:rPr>
            </a:br>
            <a:endParaRPr lang="en-US" sz="1400" b="0" i="0" dirty="0">
              <a:solidFill>
                <a:srgbClr val="A8FF60"/>
              </a:solidFill>
              <a:effectLst/>
              <a:latin typeface="Courier"/>
            </a:endParaRPr>
          </a:p>
          <a:p>
            <a:r>
              <a:rPr lang="en-US" sz="1400" b="0" i="0" dirty="0">
                <a:solidFill>
                  <a:srgbClr val="96CBFE"/>
                </a:solidFill>
                <a:effectLst/>
                <a:latin typeface="Courier"/>
              </a:rPr>
              <a:t>for </a:t>
            </a:r>
            <a:r>
              <a:rPr lang="en-US" sz="1400" b="0" i="0" dirty="0">
                <a:solidFill>
                  <a:srgbClr val="F8F8F8"/>
                </a:solidFill>
                <a:effectLst/>
                <a:latin typeface="Courier"/>
              </a:rPr>
              <a:t>(</a:t>
            </a:r>
            <a:r>
              <a:rPr lang="en-US" sz="1400" b="0" i="0" dirty="0">
                <a:solidFill>
                  <a:srgbClr val="96CBFE"/>
                </a:solidFill>
                <a:effectLst/>
                <a:latin typeface="Courier"/>
              </a:rPr>
              <a:t>let </a:t>
            </a:r>
            <a:r>
              <a:rPr lang="en-US" sz="1400" b="0" i="0" dirty="0" err="1">
                <a:solidFill>
                  <a:srgbClr val="F8F8F8"/>
                </a:solidFill>
                <a:effectLst/>
                <a:latin typeface="Courier"/>
              </a:rPr>
              <a:t>i</a:t>
            </a:r>
            <a:r>
              <a:rPr lang="en-US" sz="1400" b="0" i="0" dirty="0">
                <a:solidFill>
                  <a:srgbClr val="F8F8F8"/>
                </a:solidFill>
                <a:effectLst/>
                <a:latin typeface="Courier"/>
              </a:rPr>
              <a:t> </a:t>
            </a:r>
            <a:r>
              <a:rPr lang="en-US" sz="1400" b="0" i="0" dirty="0">
                <a:solidFill>
                  <a:srgbClr val="96CBFE"/>
                </a:solidFill>
                <a:effectLst/>
                <a:latin typeface="Courier"/>
              </a:rPr>
              <a:t>in </a:t>
            </a:r>
            <a:r>
              <a:rPr lang="en-US" sz="1400" b="0" i="0" dirty="0" err="1">
                <a:solidFill>
                  <a:srgbClr val="F8F8F8"/>
                </a:solidFill>
                <a:effectLst/>
                <a:latin typeface="Courier"/>
              </a:rPr>
              <a:t>nombres</a:t>
            </a:r>
            <a:r>
              <a:rPr lang="en-US" sz="1400" b="0" i="0" dirty="0">
                <a:solidFill>
                  <a:srgbClr val="F8F8F8"/>
                </a:solidFill>
                <a:effectLst/>
                <a:latin typeface="Courier"/>
              </a:rPr>
              <a:t>) {</a:t>
            </a:r>
            <a:br>
              <a:rPr lang="en-US" sz="1400" b="0" i="0" dirty="0">
                <a:solidFill>
                  <a:srgbClr val="F8F8F8"/>
                </a:solidFill>
                <a:effectLst/>
                <a:latin typeface="Courier"/>
              </a:rPr>
            </a:br>
            <a:r>
              <a:rPr lang="en-US" sz="1400" b="0" i="0" dirty="0">
                <a:solidFill>
                  <a:srgbClr val="F8F8F8"/>
                </a:solidFill>
                <a:effectLst/>
                <a:latin typeface="Courier"/>
              </a:rPr>
              <a:t>	console.log(</a:t>
            </a:r>
            <a:r>
              <a:rPr lang="en-US" sz="1400" b="0" i="0" dirty="0" err="1">
                <a:solidFill>
                  <a:srgbClr val="F8F8F8"/>
                </a:solidFill>
                <a:effectLst/>
                <a:latin typeface="Courier"/>
              </a:rPr>
              <a:t>nombres</a:t>
            </a:r>
            <a:r>
              <a:rPr lang="en-US" sz="1400" b="0" i="0" dirty="0">
                <a:solidFill>
                  <a:srgbClr val="F8F8F8"/>
                </a:solidFill>
                <a:effectLst/>
                <a:latin typeface="Courier"/>
              </a:rPr>
              <a:t>[</a:t>
            </a:r>
            <a:r>
              <a:rPr lang="en-US" sz="1400" b="0" i="0" dirty="0" err="1">
                <a:solidFill>
                  <a:srgbClr val="F8F8F8"/>
                </a:solidFill>
                <a:effectLst/>
                <a:latin typeface="Courier"/>
              </a:rPr>
              <a:t>i</a:t>
            </a:r>
            <a:r>
              <a:rPr lang="en-US" sz="1400" b="0" i="0" dirty="0">
                <a:solidFill>
                  <a:srgbClr val="F8F8F8"/>
                </a:solidFill>
                <a:effectLst/>
                <a:latin typeface="Courier"/>
              </a:rPr>
              <a:t>]);</a:t>
            </a:r>
            <a:br>
              <a:rPr lang="en-US" sz="1400" b="0" i="0" dirty="0">
                <a:solidFill>
                  <a:srgbClr val="F8F8F8"/>
                </a:solidFill>
                <a:effectLst/>
                <a:latin typeface="Courier"/>
              </a:rPr>
            </a:br>
            <a:r>
              <a:rPr lang="en-US" sz="1400" b="0" i="0" dirty="0">
                <a:solidFill>
                  <a:srgbClr val="F8F8F8"/>
                </a:solidFill>
                <a:effectLst/>
                <a:latin typeface="Courier"/>
              </a:rPr>
              <a:t>}</a:t>
            </a:r>
          </a:p>
          <a:p>
            <a:br>
              <a:rPr lang="en-US" sz="1400" b="0" i="0" dirty="0">
                <a:solidFill>
                  <a:srgbClr val="F8F8F8"/>
                </a:solidFill>
                <a:effectLst/>
                <a:latin typeface="Courier"/>
              </a:rPr>
            </a:br>
            <a:r>
              <a:rPr lang="en-US" sz="1400" b="0" i="0" dirty="0">
                <a:solidFill>
                  <a:srgbClr val="96CBFE"/>
                </a:solidFill>
                <a:effectLst/>
                <a:latin typeface="Courier"/>
              </a:rPr>
              <a:t>for </a:t>
            </a:r>
            <a:r>
              <a:rPr lang="en-US" sz="1400" b="0" i="0" dirty="0">
                <a:solidFill>
                  <a:srgbClr val="F8F8F8"/>
                </a:solidFill>
                <a:effectLst/>
                <a:latin typeface="Courier"/>
              </a:rPr>
              <a:t>(</a:t>
            </a:r>
            <a:r>
              <a:rPr lang="en-US" sz="1400" b="0" i="0" dirty="0">
                <a:solidFill>
                  <a:srgbClr val="96CBFE"/>
                </a:solidFill>
                <a:effectLst/>
                <a:latin typeface="Courier"/>
              </a:rPr>
              <a:t>let </a:t>
            </a:r>
            <a:r>
              <a:rPr lang="en-US" sz="1400" b="0" i="0" dirty="0" err="1">
                <a:solidFill>
                  <a:srgbClr val="F8F8F8"/>
                </a:solidFill>
                <a:effectLst/>
                <a:latin typeface="Courier"/>
              </a:rPr>
              <a:t>nombre</a:t>
            </a:r>
            <a:r>
              <a:rPr lang="en-US" sz="1400" b="0" i="0" dirty="0">
                <a:solidFill>
                  <a:srgbClr val="F8F8F8"/>
                </a:solidFill>
                <a:effectLst/>
                <a:latin typeface="Courier"/>
              </a:rPr>
              <a:t> </a:t>
            </a:r>
            <a:r>
              <a:rPr lang="en-US" sz="1400" b="0" i="0" dirty="0">
                <a:solidFill>
                  <a:srgbClr val="96CBFE"/>
                </a:solidFill>
                <a:effectLst/>
                <a:latin typeface="Courier"/>
              </a:rPr>
              <a:t>of </a:t>
            </a:r>
            <a:r>
              <a:rPr lang="en-US" sz="1400" b="0" i="0" dirty="0" err="1">
                <a:solidFill>
                  <a:srgbClr val="F8F8F8"/>
                </a:solidFill>
                <a:effectLst/>
                <a:latin typeface="Courier"/>
              </a:rPr>
              <a:t>nombres</a:t>
            </a:r>
            <a:r>
              <a:rPr lang="en-US" sz="1400" b="0" i="0" dirty="0">
                <a:solidFill>
                  <a:srgbClr val="F8F8F8"/>
                </a:solidFill>
                <a:effectLst/>
                <a:latin typeface="Courier"/>
              </a:rPr>
              <a:t>) {</a:t>
            </a:r>
            <a:br>
              <a:rPr lang="en-US" sz="1400" b="0" i="0" dirty="0">
                <a:solidFill>
                  <a:srgbClr val="F8F8F8"/>
                </a:solidFill>
                <a:effectLst/>
                <a:latin typeface="Courier"/>
              </a:rPr>
            </a:br>
            <a:r>
              <a:rPr lang="en-US" sz="1400" b="0" i="0" dirty="0">
                <a:solidFill>
                  <a:srgbClr val="F8F8F8"/>
                </a:solidFill>
                <a:effectLst/>
                <a:latin typeface="Courier"/>
              </a:rPr>
              <a:t>	console.log(</a:t>
            </a:r>
            <a:r>
              <a:rPr lang="en-US" sz="1400" b="0" i="0" dirty="0" err="1">
                <a:solidFill>
                  <a:srgbClr val="F8F8F8"/>
                </a:solidFill>
                <a:effectLst/>
                <a:latin typeface="Courier"/>
              </a:rPr>
              <a:t>nombre</a:t>
            </a:r>
            <a:r>
              <a:rPr lang="en-US" sz="1400" b="0" i="0" dirty="0">
                <a:solidFill>
                  <a:srgbClr val="F8F8F8"/>
                </a:solidFill>
                <a:effectLst/>
                <a:latin typeface="Courier"/>
              </a:rPr>
              <a:t>);</a:t>
            </a:r>
            <a:br>
              <a:rPr lang="en-US" sz="1400" b="0" i="0" dirty="0">
                <a:solidFill>
                  <a:srgbClr val="F8F8F8"/>
                </a:solidFill>
                <a:effectLst/>
                <a:latin typeface="Courier"/>
              </a:rPr>
            </a:br>
            <a:r>
              <a:rPr lang="en-US" sz="1400" b="0" i="0" dirty="0">
                <a:solidFill>
                  <a:srgbClr val="F8F8F8"/>
                </a:solidFill>
                <a:effectLst/>
                <a:latin typeface="Courier"/>
              </a:rPr>
              <a:t>}</a:t>
            </a:r>
          </a:p>
          <a:p>
            <a:br>
              <a:rPr lang="en-US" sz="1400" b="0" i="0" dirty="0">
                <a:solidFill>
                  <a:srgbClr val="F8F8F8"/>
                </a:solidFill>
                <a:effectLst/>
                <a:latin typeface="Courier"/>
              </a:rPr>
            </a:br>
            <a:r>
              <a:rPr lang="en-US" sz="1400" b="0" i="0" dirty="0">
                <a:solidFill>
                  <a:srgbClr val="96CBFE"/>
                </a:solidFill>
                <a:effectLst/>
                <a:latin typeface="Courier"/>
              </a:rPr>
              <a:t>let </a:t>
            </a:r>
            <a:r>
              <a:rPr lang="en-US" sz="1400" b="0" i="0" dirty="0">
                <a:solidFill>
                  <a:srgbClr val="F8F8F8"/>
                </a:solidFill>
                <a:effectLst/>
                <a:latin typeface="Courier"/>
              </a:rPr>
              <a:t>obj = {x: </a:t>
            </a:r>
            <a:r>
              <a:rPr lang="en-US" sz="1400" b="0" i="0" dirty="0">
                <a:solidFill>
                  <a:srgbClr val="FF73FD"/>
                </a:solidFill>
                <a:effectLst/>
                <a:latin typeface="Courier"/>
              </a:rPr>
              <a:t>3</a:t>
            </a:r>
            <a:r>
              <a:rPr lang="en-US" sz="1400" b="0" i="0" dirty="0">
                <a:solidFill>
                  <a:srgbClr val="F8F8F8"/>
                </a:solidFill>
                <a:effectLst/>
                <a:latin typeface="Courier"/>
              </a:rPr>
              <a:t>, y: </a:t>
            </a:r>
            <a:r>
              <a:rPr lang="en-US" sz="1400" b="0" i="0" dirty="0">
                <a:solidFill>
                  <a:srgbClr val="FF73FD"/>
                </a:solidFill>
                <a:effectLst/>
                <a:latin typeface="Courier"/>
              </a:rPr>
              <a:t>4 </a:t>
            </a:r>
            <a:r>
              <a:rPr lang="en-US" sz="1400" b="0" i="0" dirty="0">
                <a:solidFill>
                  <a:srgbClr val="F8F8F8"/>
                </a:solidFill>
                <a:effectLst/>
                <a:latin typeface="Courier"/>
              </a:rPr>
              <a:t>}</a:t>
            </a:r>
          </a:p>
          <a:p>
            <a:br>
              <a:rPr lang="en-US" sz="1400" b="0" i="0" dirty="0">
                <a:solidFill>
                  <a:srgbClr val="F8F8F8"/>
                </a:solidFill>
                <a:effectLst/>
                <a:latin typeface="Courier"/>
              </a:rPr>
            </a:br>
            <a:r>
              <a:rPr lang="en-US" sz="1400" b="0" i="0" dirty="0">
                <a:solidFill>
                  <a:srgbClr val="96CBFE"/>
                </a:solidFill>
                <a:effectLst/>
                <a:latin typeface="Courier"/>
              </a:rPr>
              <a:t>for </a:t>
            </a:r>
            <a:r>
              <a:rPr lang="en-US" sz="1400" b="0" i="0" dirty="0">
                <a:solidFill>
                  <a:srgbClr val="F8F8F8"/>
                </a:solidFill>
                <a:effectLst/>
                <a:latin typeface="Courier"/>
              </a:rPr>
              <a:t>(</a:t>
            </a:r>
            <a:r>
              <a:rPr lang="en-US" sz="1400" b="0" i="0" dirty="0">
                <a:solidFill>
                  <a:srgbClr val="96CBFE"/>
                </a:solidFill>
                <a:effectLst/>
                <a:latin typeface="Courier"/>
              </a:rPr>
              <a:t>let </a:t>
            </a:r>
            <a:r>
              <a:rPr lang="en-US" sz="1400" b="0" i="0" dirty="0" err="1">
                <a:solidFill>
                  <a:srgbClr val="F8F8F8"/>
                </a:solidFill>
                <a:effectLst/>
                <a:latin typeface="Courier"/>
              </a:rPr>
              <a:t>i</a:t>
            </a:r>
            <a:r>
              <a:rPr lang="en-US" sz="1400" b="0" i="0" dirty="0">
                <a:solidFill>
                  <a:srgbClr val="F8F8F8"/>
                </a:solidFill>
                <a:effectLst/>
                <a:latin typeface="Courier"/>
              </a:rPr>
              <a:t> </a:t>
            </a:r>
            <a:r>
              <a:rPr lang="en-US" sz="1400" b="0" i="0" dirty="0">
                <a:solidFill>
                  <a:srgbClr val="96CBFE"/>
                </a:solidFill>
                <a:effectLst/>
                <a:latin typeface="Courier"/>
              </a:rPr>
              <a:t>in </a:t>
            </a:r>
            <a:r>
              <a:rPr lang="en-US" sz="1400" b="0" i="0" dirty="0">
                <a:solidFill>
                  <a:srgbClr val="F8F8F8"/>
                </a:solidFill>
                <a:effectLst/>
                <a:latin typeface="Courier"/>
              </a:rPr>
              <a:t>obj) {</a:t>
            </a:r>
            <a:br>
              <a:rPr lang="en-US" sz="1400" b="0" i="0" dirty="0">
                <a:solidFill>
                  <a:srgbClr val="F8F8F8"/>
                </a:solidFill>
                <a:effectLst/>
                <a:latin typeface="Courier"/>
              </a:rPr>
            </a:br>
            <a:r>
              <a:rPr lang="en-US" sz="1400" b="0" i="0" dirty="0">
                <a:solidFill>
                  <a:srgbClr val="F8F8F8"/>
                </a:solidFill>
                <a:effectLst/>
                <a:latin typeface="Courier"/>
              </a:rPr>
              <a:t>	console.log(obj[</a:t>
            </a:r>
            <a:r>
              <a:rPr lang="en-US" sz="1400" b="0" i="0" dirty="0" err="1">
                <a:solidFill>
                  <a:srgbClr val="F8F8F8"/>
                </a:solidFill>
                <a:effectLst/>
                <a:latin typeface="Courier"/>
              </a:rPr>
              <a:t>i</a:t>
            </a:r>
            <a:r>
              <a:rPr lang="en-US" sz="1400" b="0" i="0" dirty="0">
                <a:solidFill>
                  <a:srgbClr val="F8F8F8"/>
                </a:solidFill>
                <a:effectLst/>
                <a:latin typeface="Courier"/>
              </a:rPr>
              <a:t>]);</a:t>
            </a:r>
            <a:br>
              <a:rPr lang="en-US" sz="1400" b="0" i="0" dirty="0">
                <a:solidFill>
                  <a:srgbClr val="F8F8F8"/>
                </a:solidFill>
                <a:effectLst/>
                <a:latin typeface="Courier"/>
              </a:rPr>
            </a:br>
            <a:r>
              <a:rPr lang="en-US" sz="1400" b="0" i="0" dirty="0">
                <a:solidFill>
                  <a:srgbClr val="F8F8F8"/>
                </a:solidFill>
                <a:effectLst/>
                <a:latin typeface="Courier"/>
              </a:rPr>
              <a:t>}</a:t>
            </a:r>
          </a:p>
          <a:p>
            <a:br>
              <a:rPr lang="en-US" sz="1400" b="0" i="0" dirty="0">
                <a:solidFill>
                  <a:srgbClr val="F8F8F8"/>
                </a:solidFill>
                <a:effectLst/>
                <a:latin typeface="Courier"/>
              </a:rPr>
            </a:br>
            <a:r>
              <a:rPr lang="en-US" sz="1400" b="0" i="0" dirty="0">
                <a:solidFill>
                  <a:srgbClr val="96CBFE"/>
                </a:solidFill>
                <a:effectLst/>
                <a:latin typeface="Courier"/>
              </a:rPr>
              <a:t>let </a:t>
            </a:r>
            <a:r>
              <a:rPr lang="en-US" sz="1400" b="0" i="0" dirty="0" err="1">
                <a:solidFill>
                  <a:srgbClr val="F8F8F8"/>
                </a:solidFill>
                <a:effectLst/>
                <a:latin typeface="Courier"/>
              </a:rPr>
              <a:t>nombre</a:t>
            </a:r>
            <a:r>
              <a:rPr lang="en-US" sz="1400" b="0" i="0" dirty="0">
                <a:solidFill>
                  <a:srgbClr val="F8F8F8"/>
                </a:solidFill>
                <a:effectLst/>
                <a:latin typeface="Courier"/>
              </a:rPr>
              <a:t> = </a:t>
            </a:r>
            <a:r>
              <a:rPr lang="en-US" sz="1400" b="0" i="0" dirty="0">
                <a:solidFill>
                  <a:srgbClr val="A8FF60"/>
                </a:solidFill>
                <a:effectLst/>
                <a:latin typeface="Courier"/>
              </a:rPr>
              <a:t>"Antonio Jesús"</a:t>
            </a:r>
            <a:r>
              <a:rPr lang="en-US" sz="1400" b="0" i="0" dirty="0">
                <a:solidFill>
                  <a:srgbClr val="F8F8F8"/>
                </a:solidFill>
                <a:effectLst/>
                <a:latin typeface="Courier"/>
              </a:rPr>
              <a:t>;</a:t>
            </a:r>
            <a:br>
              <a:rPr lang="en-US" sz="1400" b="0" i="0" dirty="0">
                <a:solidFill>
                  <a:srgbClr val="F8F8F8"/>
                </a:solidFill>
                <a:effectLst/>
                <a:latin typeface="Courier"/>
              </a:rPr>
            </a:br>
            <a:r>
              <a:rPr lang="en-US" sz="1400" b="0" i="0" dirty="0">
                <a:solidFill>
                  <a:srgbClr val="96CBFE"/>
                </a:solidFill>
                <a:effectLst/>
                <a:latin typeface="Courier"/>
              </a:rPr>
              <a:t>for </a:t>
            </a:r>
            <a:r>
              <a:rPr lang="en-US" sz="1400" b="0" i="0" dirty="0">
                <a:solidFill>
                  <a:srgbClr val="F8F8F8"/>
                </a:solidFill>
                <a:effectLst/>
                <a:latin typeface="Courier"/>
              </a:rPr>
              <a:t>(</a:t>
            </a:r>
            <a:r>
              <a:rPr lang="en-US" sz="1400" b="0" i="0" dirty="0">
                <a:solidFill>
                  <a:srgbClr val="96CBFE"/>
                </a:solidFill>
                <a:effectLst/>
                <a:latin typeface="Courier"/>
              </a:rPr>
              <a:t>let </a:t>
            </a:r>
            <a:r>
              <a:rPr lang="en-US" sz="1400" b="0" i="0" dirty="0">
                <a:solidFill>
                  <a:srgbClr val="F8F8F8"/>
                </a:solidFill>
                <a:effectLst/>
                <a:latin typeface="Courier"/>
              </a:rPr>
              <a:t>c </a:t>
            </a:r>
            <a:r>
              <a:rPr lang="en-US" sz="1400" b="0" i="0" dirty="0">
                <a:solidFill>
                  <a:srgbClr val="96CBFE"/>
                </a:solidFill>
                <a:effectLst/>
                <a:latin typeface="Courier"/>
              </a:rPr>
              <a:t>of </a:t>
            </a:r>
            <a:r>
              <a:rPr lang="en-US" sz="1400" b="0" i="0" dirty="0" err="1">
                <a:solidFill>
                  <a:srgbClr val="F8F8F8"/>
                </a:solidFill>
                <a:effectLst/>
                <a:latin typeface="Courier"/>
              </a:rPr>
              <a:t>nombre</a:t>
            </a:r>
            <a:r>
              <a:rPr lang="en-US" sz="1400" b="0" i="0" dirty="0">
                <a:solidFill>
                  <a:srgbClr val="F8F8F8"/>
                </a:solidFill>
                <a:effectLst/>
                <a:latin typeface="Courier"/>
              </a:rPr>
              <a:t>) {</a:t>
            </a:r>
            <a:br>
              <a:rPr lang="en-US" sz="1400" b="0" i="0" dirty="0">
                <a:solidFill>
                  <a:srgbClr val="F8F8F8"/>
                </a:solidFill>
                <a:effectLst/>
                <a:latin typeface="Courier"/>
              </a:rPr>
            </a:br>
            <a:r>
              <a:rPr lang="en-US" sz="1400" b="0" i="0" dirty="0">
                <a:solidFill>
                  <a:srgbClr val="F8F8F8"/>
                </a:solidFill>
                <a:effectLst/>
                <a:latin typeface="Courier"/>
              </a:rPr>
              <a:t>	console.log(c);</a:t>
            </a:r>
            <a:br>
              <a:rPr lang="en-US" sz="1400" b="0" i="0" dirty="0">
                <a:solidFill>
                  <a:srgbClr val="F8F8F8"/>
                </a:solidFill>
                <a:effectLst/>
                <a:latin typeface="Courier"/>
              </a:rPr>
            </a:br>
            <a:r>
              <a:rPr lang="en-US" sz="1400" b="0" i="0" dirty="0">
                <a:solidFill>
                  <a:srgbClr val="F8F8F8"/>
                </a:solidFill>
                <a:effectLst/>
                <a:latin typeface="Courier"/>
              </a:rPr>
              <a:t>}</a:t>
            </a:r>
            <a:endParaRPr lang="en-US" sz="1100" b="1" dirty="0">
              <a:latin typeface="Consolas" panose="020B0609020204030204" pitchFamily="49" charset="0"/>
            </a:endParaRPr>
          </a:p>
        </p:txBody>
      </p:sp>
      <p:pic>
        <p:nvPicPr>
          <p:cNvPr id="10" name="Imagen 9">
            <a:extLst>
              <a:ext uri="{FF2B5EF4-FFF2-40B4-BE49-F238E27FC236}">
                <a16:creationId xmlns:a16="http://schemas.microsoft.com/office/drawing/2014/main" id="{7CD4BA4D-7A29-4FC7-A187-FCCB3E66A147}"/>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9504362" y="4174881"/>
            <a:ext cx="2609850" cy="2568518"/>
          </a:xfrm>
          <a:prstGeom prst="rect">
            <a:avLst/>
          </a:prstGeom>
        </p:spPr>
      </p:pic>
    </p:spTree>
    <p:extLst>
      <p:ext uri="{BB962C8B-B14F-4D97-AF65-F5344CB8AC3E}">
        <p14:creationId xmlns:p14="http://schemas.microsoft.com/office/powerpoint/2010/main" val="10722913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EF749C-F525-4986-A86F-386742DB9AD9}"/>
              </a:ext>
            </a:extLst>
          </p:cNvPr>
          <p:cNvSpPr>
            <a:spLocks noGrp="1"/>
          </p:cNvSpPr>
          <p:nvPr>
            <p:ph type="title"/>
          </p:nvPr>
        </p:nvSpPr>
        <p:spPr/>
        <p:txBody>
          <a:bodyPr/>
          <a:lstStyle/>
          <a:p>
            <a:r>
              <a:rPr lang="es-ES" dirty="0" err="1"/>
              <a:t>Template</a:t>
            </a:r>
            <a:r>
              <a:rPr lang="es-ES" dirty="0"/>
              <a:t> </a:t>
            </a:r>
            <a:r>
              <a:rPr lang="es-ES" dirty="0" err="1"/>
              <a:t>literals</a:t>
            </a:r>
            <a:endParaRPr lang="es-ES" dirty="0"/>
          </a:p>
        </p:txBody>
      </p:sp>
      <p:sp>
        <p:nvSpPr>
          <p:cNvPr id="6" name="Прямоугольник 4">
            <a:extLst>
              <a:ext uri="{FF2B5EF4-FFF2-40B4-BE49-F238E27FC236}">
                <a16:creationId xmlns:a16="http://schemas.microsoft.com/office/drawing/2014/main" id="{C10A73DA-179B-4482-9C8D-5C24D56FA340}"/>
              </a:ext>
            </a:extLst>
          </p:cNvPr>
          <p:cNvSpPr/>
          <p:nvPr/>
        </p:nvSpPr>
        <p:spPr>
          <a:xfrm>
            <a:off x="989012" y="1600200"/>
            <a:ext cx="10668000" cy="2462213"/>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a:spAutoFit/>
          </a:bodyPr>
          <a:lstStyle/>
          <a:p>
            <a:r>
              <a:rPr lang="es-ES" sz="1400" b="0" i="0" dirty="0" err="1">
                <a:solidFill>
                  <a:srgbClr val="96CBFE"/>
                </a:solidFill>
                <a:effectLst/>
                <a:latin typeface="Courier"/>
              </a:rPr>
              <a:t>let</a:t>
            </a:r>
            <a:r>
              <a:rPr lang="es-ES" sz="1400" b="0" i="0" dirty="0">
                <a:solidFill>
                  <a:srgbClr val="96CBFE"/>
                </a:solidFill>
                <a:effectLst/>
                <a:latin typeface="Courier"/>
              </a:rPr>
              <a:t> </a:t>
            </a:r>
            <a:r>
              <a:rPr lang="es-ES" sz="1400" b="0" i="0" dirty="0">
                <a:solidFill>
                  <a:srgbClr val="F8F8F8"/>
                </a:solidFill>
                <a:effectLst/>
                <a:latin typeface="Courier"/>
              </a:rPr>
              <a:t>nombre = </a:t>
            </a:r>
            <a:r>
              <a:rPr lang="es-ES" sz="1400" b="0" i="0" dirty="0">
                <a:solidFill>
                  <a:srgbClr val="A8FF60"/>
                </a:solidFill>
                <a:effectLst/>
                <a:latin typeface="Courier"/>
              </a:rPr>
              <a:t>"Antonio"</a:t>
            </a:r>
            <a:r>
              <a:rPr lang="es-ES" sz="1400" b="0" i="0" dirty="0">
                <a:solidFill>
                  <a:srgbClr val="F8F8F8"/>
                </a:solidFill>
                <a:effectLst/>
                <a:latin typeface="Courier"/>
              </a:rPr>
              <a:t>;</a:t>
            </a:r>
          </a:p>
          <a:p>
            <a:br>
              <a:rPr lang="es-ES" sz="1400" b="0" i="0" dirty="0">
                <a:solidFill>
                  <a:srgbClr val="F8F8F8"/>
                </a:solidFill>
                <a:effectLst/>
                <a:latin typeface="Courier"/>
              </a:rPr>
            </a:br>
            <a:r>
              <a:rPr lang="es-ES" sz="1400" b="0" i="0" dirty="0" err="1">
                <a:solidFill>
                  <a:srgbClr val="96CBFE"/>
                </a:solidFill>
                <a:effectLst/>
                <a:latin typeface="Courier"/>
              </a:rPr>
              <a:t>let</a:t>
            </a:r>
            <a:r>
              <a:rPr lang="es-ES" sz="1400" b="0" i="0" dirty="0">
                <a:solidFill>
                  <a:srgbClr val="96CBFE"/>
                </a:solidFill>
                <a:effectLst/>
                <a:latin typeface="Courier"/>
              </a:rPr>
              <a:t> </a:t>
            </a:r>
            <a:r>
              <a:rPr lang="es-ES" sz="1400" b="0" i="0" dirty="0">
                <a:solidFill>
                  <a:srgbClr val="F8F8F8"/>
                </a:solidFill>
                <a:effectLst/>
                <a:latin typeface="Courier"/>
              </a:rPr>
              <a:t>cuadrado = </a:t>
            </a:r>
            <a:r>
              <a:rPr lang="es-ES" sz="1400" b="0" i="0" dirty="0" err="1">
                <a:solidFill>
                  <a:srgbClr val="96CBFE"/>
                </a:solidFill>
                <a:effectLst/>
                <a:latin typeface="Courier"/>
              </a:rPr>
              <a:t>function</a:t>
            </a:r>
            <a:r>
              <a:rPr lang="es-ES" sz="1400" b="0" i="0" dirty="0">
                <a:solidFill>
                  <a:srgbClr val="F8F8F8"/>
                </a:solidFill>
                <a:effectLst/>
                <a:latin typeface="Courier"/>
              </a:rPr>
              <a:t>(x) {</a:t>
            </a:r>
            <a:br>
              <a:rPr lang="es-ES" sz="1400" b="0" i="0" dirty="0">
                <a:solidFill>
                  <a:srgbClr val="F8F8F8"/>
                </a:solidFill>
                <a:effectLst/>
                <a:latin typeface="Courier"/>
              </a:rPr>
            </a:br>
            <a:r>
              <a:rPr lang="es-ES" sz="1400" b="0" i="0" dirty="0">
                <a:solidFill>
                  <a:srgbClr val="F8F8F8"/>
                </a:solidFill>
                <a:effectLst/>
                <a:latin typeface="Courier"/>
              </a:rPr>
              <a:t>	</a:t>
            </a:r>
            <a:r>
              <a:rPr lang="es-ES" sz="1400" b="0" i="0" dirty="0" err="1">
                <a:solidFill>
                  <a:srgbClr val="96CBFE"/>
                </a:solidFill>
                <a:effectLst/>
                <a:latin typeface="Courier"/>
              </a:rPr>
              <a:t>return</a:t>
            </a:r>
            <a:r>
              <a:rPr lang="es-ES" sz="1400" b="0" i="0" dirty="0">
                <a:solidFill>
                  <a:srgbClr val="96CBFE"/>
                </a:solidFill>
                <a:effectLst/>
                <a:latin typeface="Courier"/>
              </a:rPr>
              <a:t> </a:t>
            </a:r>
            <a:r>
              <a:rPr lang="es-ES" sz="1400" b="0" i="0" dirty="0">
                <a:solidFill>
                  <a:srgbClr val="F8F8F8"/>
                </a:solidFill>
                <a:effectLst/>
                <a:latin typeface="Courier"/>
              </a:rPr>
              <a:t>x * x;</a:t>
            </a:r>
            <a:br>
              <a:rPr lang="es-ES" sz="1400" b="0" i="0" dirty="0">
                <a:solidFill>
                  <a:srgbClr val="F8F8F8"/>
                </a:solidFill>
                <a:effectLst/>
                <a:latin typeface="Courier"/>
              </a:rPr>
            </a:br>
            <a:r>
              <a:rPr lang="es-ES" sz="1400" b="0" i="0" dirty="0">
                <a:solidFill>
                  <a:srgbClr val="F8F8F8"/>
                </a:solidFill>
                <a:effectLst/>
                <a:latin typeface="Courier"/>
              </a:rPr>
              <a:t>}</a:t>
            </a:r>
          </a:p>
          <a:p>
            <a:br>
              <a:rPr lang="es-ES" sz="1400" b="0" i="0" dirty="0">
                <a:solidFill>
                  <a:srgbClr val="F8F8F8"/>
                </a:solidFill>
                <a:effectLst/>
                <a:latin typeface="Courier"/>
              </a:rPr>
            </a:br>
            <a:r>
              <a:rPr lang="es-ES" sz="1400" b="0" i="0" dirty="0" err="1">
                <a:solidFill>
                  <a:srgbClr val="96CBFE"/>
                </a:solidFill>
                <a:effectLst/>
                <a:latin typeface="Courier"/>
              </a:rPr>
              <a:t>let</a:t>
            </a:r>
            <a:r>
              <a:rPr lang="es-ES" sz="1400" b="0" i="0" dirty="0">
                <a:solidFill>
                  <a:srgbClr val="96CBFE"/>
                </a:solidFill>
                <a:effectLst/>
                <a:latin typeface="Courier"/>
              </a:rPr>
              <a:t> </a:t>
            </a:r>
            <a:r>
              <a:rPr lang="es-ES" sz="1400" b="0" i="0" dirty="0">
                <a:solidFill>
                  <a:srgbClr val="F8F8F8"/>
                </a:solidFill>
                <a:effectLst/>
                <a:latin typeface="Courier"/>
              </a:rPr>
              <a:t>n = </a:t>
            </a:r>
            <a:r>
              <a:rPr lang="es-ES" sz="1400" b="0" i="0" dirty="0" err="1">
                <a:solidFill>
                  <a:srgbClr val="F8F8F8"/>
                </a:solidFill>
                <a:effectLst/>
                <a:latin typeface="Courier"/>
              </a:rPr>
              <a:t>Math.floor</a:t>
            </a:r>
            <a:r>
              <a:rPr lang="es-ES" sz="1400" b="0" i="0" dirty="0">
                <a:solidFill>
                  <a:srgbClr val="F8F8F8"/>
                </a:solidFill>
                <a:effectLst/>
                <a:latin typeface="Courier"/>
              </a:rPr>
              <a:t>(</a:t>
            </a:r>
            <a:r>
              <a:rPr lang="es-ES" sz="1400" b="0" i="0" dirty="0" err="1">
                <a:solidFill>
                  <a:srgbClr val="F8F8F8"/>
                </a:solidFill>
                <a:effectLst/>
                <a:latin typeface="Courier"/>
              </a:rPr>
              <a:t>Math.random</a:t>
            </a:r>
            <a:r>
              <a:rPr lang="es-ES" sz="1400" b="0" i="0" dirty="0">
                <a:solidFill>
                  <a:srgbClr val="F8F8F8"/>
                </a:solidFill>
                <a:effectLst/>
                <a:latin typeface="Courier"/>
              </a:rPr>
              <a:t>() * </a:t>
            </a:r>
            <a:r>
              <a:rPr lang="es-ES" sz="1400" b="0" i="0" dirty="0">
                <a:solidFill>
                  <a:srgbClr val="FF73FD"/>
                </a:solidFill>
                <a:effectLst/>
                <a:latin typeface="Courier"/>
              </a:rPr>
              <a:t>10</a:t>
            </a:r>
            <a:r>
              <a:rPr lang="es-ES" sz="1400" b="0" i="0" dirty="0">
                <a:solidFill>
                  <a:srgbClr val="F8F8F8"/>
                </a:solidFill>
                <a:effectLst/>
                <a:latin typeface="Courier"/>
              </a:rPr>
              <a:t>);</a:t>
            </a:r>
          </a:p>
          <a:p>
            <a:br>
              <a:rPr lang="es-ES" sz="1400" b="0" i="0" dirty="0">
                <a:solidFill>
                  <a:srgbClr val="F8F8F8"/>
                </a:solidFill>
                <a:effectLst/>
                <a:latin typeface="Courier"/>
              </a:rPr>
            </a:br>
            <a:r>
              <a:rPr lang="es-ES" sz="1400" b="0" i="0" dirty="0" err="1">
                <a:solidFill>
                  <a:srgbClr val="96CBFE"/>
                </a:solidFill>
                <a:effectLst/>
                <a:latin typeface="Courier"/>
              </a:rPr>
              <a:t>let</a:t>
            </a:r>
            <a:r>
              <a:rPr lang="es-ES" sz="1400" b="0" i="0" dirty="0">
                <a:solidFill>
                  <a:srgbClr val="96CBFE"/>
                </a:solidFill>
                <a:effectLst/>
                <a:latin typeface="Courier"/>
              </a:rPr>
              <a:t> </a:t>
            </a:r>
            <a:r>
              <a:rPr lang="es-ES" sz="1400" b="0" i="0" dirty="0">
                <a:solidFill>
                  <a:srgbClr val="F8F8F8"/>
                </a:solidFill>
                <a:effectLst/>
                <a:latin typeface="Courier"/>
              </a:rPr>
              <a:t>saludo1 = </a:t>
            </a:r>
            <a:r>
              <a:rPr lang="es-ES" sz="1400" b="0" i="0" dirty="0">
                <a:solidFill>
                  <a:srgbClr val="A8FF60"/>
                </a:solidFill>
                <a:effectLst/>
                <a:latin typeface="Courier"/>
              </a:rPr>
              <a:t>"Hola, " </a:t>
            </a:r>
            <a:r>
              <a:rPr lang="es-ES" sz="1400" b="0" i="0" dirty="0">
                <a:solidFill>
                  <a:srgbClr val="F8F8F8"/>
                </a:solidFill>
                <a:effectLst/>
                <a:latin typeface="Courier"/>
              </a:rPr>
              <a:t>+ nombre + </a:t>
            </a:r>
            <a:r>
              <a:rPr lang="es-ES" sz="1400" b="0" i="0" dirty="0">
                <a:solidFill>
                  <a:srgbClr val="A8FF60"/>
                </a:solidFill>
                <a:effectLst/>
                <a:latin typeface="Courier"/>
              </a:rPr>
              <a:t>". El cuadrado de " </a:t>
            </a:r>
            <a:r>
              <a:rPr lang="es-ES" sz="1400" b="0" i="0" dirty="0">
                <a:solidFill>
                  <a:srgbClr val="F8F8F8"/>
                </a:solidFill>
                <a:effectLst/>
                <a:latin typeface="Courier"/>
              </a:rPr>
              <a:t>+ n + </a:t>
            </a:r>
            <a:r>
              <a:rPr lang="es-ES" sz="1400" b="0" i="0" dirty="0">
                <a:solidFill>
                  <a:srgbClr val="A8FF60"/>
                </a:solidFill>
                <a:effectLst/>
                <a:latin typeface="Courier"/>
              </a:rPr>
              <a:t>" es " </a:t>
            </a:r>
            <a:r>
              <a:rPr lang="es-ES" sz="1400" b="0" i="0" dirty="0">
                <a:solidFill>
                  <a:srgbClr val="F8F8F8"/>
                </a:solidFill>
                <a:effectLst/>
                <a:latin typeface="Courier"/>
              </a:rPr>
              <a:t>+ cuadrado(n) + </a:t>
            </a:r>
            <a:r>
              <a:rPr lang="es-ES" sz="1400" b="0" i="0" dirty="0">
                <a:solidFill>
                  <a:srgbClr val="A8FF60"/>
                </a:solidFill>
                <a:effectLst/>
                <a:latin typeface="Courier"/>
              </a:rPr>
              <a:t>".</a:t>
            </a:r>
            <a:br>
              <a:rPr lang="es-ES" sz="1400" b="0" i="0" dirty="0">
                <a:solidFill>
                  <a:srgbClr val="A8FF60"/>
                </a:solidFill>
                <a:effectLst/>
                <a:latin typeface="Courier"/>
              </a:rPr>
            </a:br>
            <a:r>
              <a:rPr lang="es-ES" sz="1400" b="0" i="0" dirty="0" err="1">
                <a:solidFill>
                  <a:srgbClr val="96CBFE"/>
                </a:solidFill>
                <a:effectLst/>
                <a:latin typeface="Courier"/>
              </a:rPr>
              <a:t>let</a:t>
            </a:r>
            <a:r>
              <a:rPr lang="es-ES" sz="1400" b="0" i="0" dirty="0">
                <a:solidFill>
                  <a:srgbClr val="96CBFE"/>
                </a:solidFill>
                <a:effectLst/>
                <a:latin typeface="Courier"/>
              </a:rPr>
              <a:t> </a:t>
            </a:r>
            <a:r>
              <a:rPr lang="es-ES" sz="1400" b="0" i="0" dirty="0">
                <a:solidFill>
                  <a:srgbClr val="F8F8F8"/>
                </a:solidFill>
                <a:effectLst/>
                <a:latin typeface="Courier"/>
              </a:rPr>
              <a:t>saludo2 = </a:t>
            </a:r>
            <a:r>
              <a:rPr lang="es-ES" sz="1400" b="0" i="0" dirty="0">
                <a:solidFill>
                  <a:srgbClr val="A8FF60"/>
                </a:solidFill>
                <a:effectLst/>
                <a:latin typeface="Courier"/>
              </a:rPr>
              <a:t>`Hola, </a:t>
            </a:r>
            <a:r>
              <a:rPr lang="es-ES" sz="1400" b="0" i="0" dirty="0">
                <a:solidFill>
                  <a:srgbClr val="DAEFA3"/>
                </a:solidFill>
                <a:effectLst/>
                <a:latin typeface="Courier"/>
              </a:rPr>
              <a:t>${nombre}</a:t>
            </a:r>
            <a:r>
              <a:rPr lang="es-ES" sz="1400" b="0" i="0" dirty="0">
                <a:solidFill>
                  <a:srgbClr val="A8FF60"/>
                </a:solidFill>
                <a:effectLst/>
                <a:latin typeface="Courier"/>
              </a:rPr>
              <a:t>. El cuadrado de </a:t>
            </a:r>
            <a:r>
              <a:rPr lang="es-ES" sz="1400" b="0" i="0" dirty="0">
                <a:solidFill>
                  <a:srgbClr val="DAEFA3"/>
                </a:solidFill>
                <a:effectLst/>
                <a:latin typeface="Courier"/>
              </a:rPr>
              <a:t>${n} </a:t>
            </a:r>
            <a:r>
              <a:rPr lang="es-ES" sz="1400" b="0" i="0" dirty="0">
                <a:solidFill>
                  <a:srgbClr val="A8FF60"/>
                </a:solidFill>
                <a:effectLst/>
                <a:latin typeface="Courier"/>
              </a:rPr>
              <a:t>es </a:t>
            </a:r>
            <a:r>
              <a:rPr lang="es-ES" sz="1400" b="0" i="0" dirty="0">
                <a:solidFill>
                  <a:srgbClr val="DAEFA3"/>
                </a:solidFill>
                <a:effectLst/>
                <a:latin typeface="Courier"/>
              </a:rPr>
              <a:t>${cuadrado(n)}</a:t>
            </a:r>
            <a:r>
              <a:rPr lang="es-ES" sz="1400" b="0" i="0" dirty="0">
                <a:solidFill>
                  <a:srgbClr val="A8FF60"/>
                </a:solidFill>
                <a:effectLst/>
                <a:latin typeface="Courier"/>
              </a:rPr>
              <a:t>.`</a:t>
            </a:r>
            <a:r>
              <a:rPr lang="es-ES" sz="1400" b="0" i="0" dirty="0">
                <a:solidFill>
                  <a:srgbClr val="F8F8F8"/>
                </a:solidFill>
                <a:effectLst/>
                <a:latin typeface="Courier"/>
              </a:rPr>
              <a:t>;</a:t>
            </a:r>
            <a:r>
              <a:rPr lang="es-ES" sz="1200" dirty="0"/>
              <a:t> </a:t>
            </a:r>
            <a:br>
              <a:rPr lang="es-ES" sz="1200" dirty="0"/>
            </a:br>
            <a:endParaRPr lang="en-US" sz="1200" b="1" dirty="0">
              <a:latin typeface="Consolas" panose="020B0609020204030204" pitchFamily="49" charset="0"/>
            </a:endParaRPr>
          </a:p>
        </p:txBody>
      </p:sp>
      <p:pic>
        <p:nvPicPr>
          <p:cNvPr id="4" name="Imagen 3">
            <a:extLst>
              <a:ext uri="{FF2B5EF4-FFF2-40B4-BE49-F238E27FC236}">
                <a16:creationId xmlns:a16="http://schemas.microsoft.com/office/drawing/2014/main" id="{9FAE1AE6-740A-433D-944E-8B2A3EEEFB28}"/>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9447212" y="98482"/>
            <a:ext cx="2609850" cy="2568518"/>
          </a:xfrm>
          <a:prstGeom prst="rect">
            <a:avLst/>
          </a:prstGeom>
        </p:spPr>
      </p:pic>
    </p:spTree>
    <p:extLst>
      <p:ext uri="{BB962C8B-B14F-4D97-AF65-F5344CB8AC3E}">
        <p14:creationId xmlns:p14="http://schemas.microsoft.com/office/powerpoint/2010/main" val="40948924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9A7D4AE-2443-4F60-889A-AB7A786639AA}"/>
              </a:ext>
            </a:extLst>
          </p:cNvPr>
          <p:cNvSpPr>
            <a:spLocks noGrp="1"/>
          </p:cNvSpPr>
          <p:nvPr>
            <p:ph type="title"/>
          </p:nvPr>
        </p:nvSpPr>
        <p:spPr/>
        <p:txBody>
          <a:bodyPr>
            <a:normAutofit fontScale="90000"/>
          </a:bodyPr>
          <a:lstStyle/>
          <a:p>
            <a:r>
              <a:rPr lang="es-ES" dirty="0"/>
              <a:t>Función </a:t>
            </a:r>
            <a:r>
              <a:rPr lang="es-ES" dirty="0" err="1"/>
              <a:t>arrow</a:t>
            </a:r>
            <a:endParaRPr lang="es-ES" dirty="0"/>
          </a:p>
        </p:txBody>
      </p:sp>
      <p:sp>
        <p:nvSpPr>
          <p:cNvPr id="3" name="Marcador de texto 2">
            <a:extLst>
              <a:ext uri="{FF2B5EF4-FFF2-40B4-BE49-F238E27FC236}">
                <a16:creationId xmlns:a16="http://schemas.microsoft.com/office/drawing/2014/main" id="{1082967A-5214-48AF-84B6-A26E978D962F}"/>
              </a:ext>
            </a:extLst>
          </p:cNvPr>
          <p:cNvSpPr>
            <a:spLocks noGrp="1"/>
          </p:cNvSpPr>
          <p:nvPr>
            <p:ph idx="1"/>
          </p:nvPr>
        </p:nvSpPr>
        <p:spPr/>
        <p:txBody>
          <a:bodyPr/>
          <a:lstStyle/>
          <a:p>
            <a:pPr marL="0" indent="0">
              <a:buNone/>
            </a:pPr>
            <a:r>
              <a:rPr lang="es-ES" dirty="0"/>
              <a:t>(parámetros) =&gt; </a:t>
            </a:r>
            <a:r>
              <a:rPr lang="es-ES" dirty="0" err="1"/>
              <a:t>expresión_devuelta</a:t>
            </a:r>
            <a:r>
              <a:rPr lang="es-ES" dirty="0"/>
              <a:t>; </a:t>
            </a:r>
          </a:p>
        </p:txBody>
      </p:sp>
      <p:sp>
        <p:nvSpPr>
          <p:cNvPr id="6" name="Прямоугольник 4">
            <a:extLst>
              <a:ext uri="{FF2B5EF4-FFF2-40B4-BE49-F238E27FC236}">
                <a16:creationId xmlns:a16="http://schemas.microsoft.com/office/drawing/2014/main" id="{C093A9AD-2F65-4E57-9844-C93035E2F6FB}"/>
              </a:ext>
            </a:extLst>
          </p:cNvPr>
          <p:cNvSpPr/>
          <p:nvPr/>
        </p:nvSpPr>
        <p:spPr>
          <a:xfrm>
            <a:off x="989012" y="2438400"/>
            <a:ext cx="10512862" cy="2031325"/>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a:spAutoFit/>
          </a:bodyPr>
          <a:lstStyle/>
          <a:p>
            <a:r>
              <a:rPr lang="es-ES" sz="1600" b="0" i="0" dirty="0" err="1">
                <a:solidFill>
                  <a:srgbClr val="96CBFE"/>
                </a:solidFill>
                <a:effectLst/>
                <a:latin typeface="Courier"/>
              </a:rPr>
              <a:t>const</a:t>
            </a:r>
            <a:r>
              <a:rPr lang="es-ES" sz="1600" b="0" i="0" dirty="0">
                <a:solidFill>
                  <a:srgbClr val="96CBFE"/>
                </a:solidFill>
                <a:effectLst/>
                <a:latin typeface="Courier"/>
              </a:rPr>
              <a:t> </a:t>
            </a:r>
            <a:r>
              <a:rPr lang="es-ES" sz="1600" b="0" i="0" dirty="0">
                <a:solidFill>
                  <a:srgbClr val="F8F8F8"/>
                </a:solidFill>
                <a:effectLst/>
                <a:latin typeface="Courier"/>
              </a:rPr>
              <a:t>potencia = </a:t>
            </a:r>
            <a:r>
              <a:rPr lang="es-ES" sz="1600" b="0" i="0" dirty="0" err="1">
                <a:solidFill>
                  <a:srgbClr val="96CBFE"/>
                </a:solidFill>
                <a:effectLst/>
                <a:latin typeface="Courier"/>
              </a:rPr>
              <a:t>function</a:t>
            </a:r>
            <a:r>
              <a:rPr lang="es-ES" sz="1600" b="0" i="0" dirty="0">
                <a:solidFill>
                  <a:srgbClr val="96CBFE"/>
                </a:solidFill>
                <a:effectLst/>
                <a:latin typeface="Courier"/>
              </a:rPr>
              <a:t> </a:t>
            </a:r>
            <a:r>
              <a:rPr lang="es-ES" sz="1600" b="0" i="0" dirty="0">
                <a:solidFill>
                  <a:srgbClr val="F8F8F8"/>
                </a:solidFill>
                <a:effectLst/>
                <a:latin typeface="Courier"/>
              </a:rPr>
              <a:t>(x, y = </a:t>
            </a:r>
            <a:r>
              <a:rPr lang="es-ES" sz="1600" b="0" i="0" dirty="0">
                <a:solidFill>
                  <a:srgbClr val="FF73FD"/>
                </a:solidFill>
                <a:effectLst/>
                <a:latin typeface="Courier"/>
              </a:rPr>
              <a:t>2</a:t>
            </a:r>
            <a:r>
              <a:rPr lang="es-ES" sz="1600" b="0" i="0" dirty="0">
                <a:solidFill>
                  <a:srgbClr val="F8F8F8"/>
                </a:solidFill>
                <a:effectLst/>
                <a:latin typeface="Courier"/>
              </a:rPr>
              <a:t>) {</a:t>
            </a:r>
            <a:br>
              <a:rPr lang="es-ES" sz="1600" b="0" i="0" dirty="0">
                <a:solidFill>
                  <a:srgbClr val="F8F8F8"/>
                </a:solidFill>
                <a:effectLst/>
                <a:latin typeface="Courier"/>
              </a:rPr>
            </a:br>
            <a:r>
              <a:rPr lang="es-ES" sz="1600" b="0" i="0" dirty="0">
                <a:solidFill>
                  <a:srgbClr val="F8F8F8"/>
                </a:solidFill>
                <a:effectLst/>
                <a:latin typeface="Courier"/>
              </a:rPr>
              <a:t>	</a:t>
            </a:r>
            <a:r>
              <a:rPr lang="es-ES" sz="1600" b="0" i="0" dirty="0" err="1">
                <a:solidFill>
                  <a:srgbClr val="96CBFE"/>
                </a:solidFill>
                <a:effectLst/>
                <a:latin typeface="Courier"/>
              </a:rPr>
              <a:t>return</a:t>
            </a:r>
            <a:r>
              <a:rPr lang="es-ES" sz="1600" b="0" i="0" dirty="0">
                <a:solidFill>
                  <a:srgbClr val="96CBFE"/>
                </a:solidFill>
                <a:effectLst/>
                <a:latin typeface="Courier"/>
              </a:rPr>
              <a:t> </a:t>
            </a:r>
            <a:r>
              <a:rPr lang="es-ES" sz="1600" b="0" i="0" dirty="0" err="1">
                <a:solidFill>
                  <a:srgbClr val="F8F8F8"/>
                </a:solidFill>
                <a:effectLst/>
                <a:latin typeface="Courier"/>
              </a:rPr>
              <a:t>Math.pow</a:t>
            </a:r>
            <a:r>
              <a:rPr lang="es-ES" sz="1600" b="0" i="0" dirty="0">
                <a:solidFill>
                  <a:srgbClr val="F8F8F8"/>
                </a:solidFill>
                <a:effectLst/>
                <a:latin typeface="Courier"/>
              </a:rPr>
              <a:t>(x, y);</a:t>
            </a:r>
            <a:br>
              <a:rPr lang="es-ES" sz="1600" b="0" i="0" dirty="0">
                <a:solidFill>
                  <a:srgbClr val="F8F8F8"/>
                </a:solidFill>
                <a:effectLst/>
                <a:latin typeface="Courier"/>
              </a:rPr>
            </a:br>
            <a:r>
              <a:rPr lang="es-ES" sz="1600" b="0" i="0" dirty="0">
                <a:solidFill>
                  <a:srgbClr val="F8F8F8"/>
                </a:solidFill>
                <a:effectLst/>
                <a:latin typeface="Courier"/>
              </a:rPr>
              <a:t>}</a:t>
            </a:r>
            <a:br>
              <a:rPr lang="es-ES" sz="1600" b="0" i="0" dirty="0">
                <a:solidFill>
                  <a:srgbClr val="F8F8F8"/>
                </a:solidFill>
                <a:effectLst/>
                <a:latin typeface="Courier"/>
              </a:rPr>
            </a:br>
            <a:endParaRPr lang="es-ES" sz="1600" b="0" i="0" dirty="0">
              <a:solidFill>
                <a:srgbClr val="F8F8F8"/>
              </a:solidFill>
              <a:effectLst/>
              <a:latin typeface="Courier"/>
            </a:endParaRPr>
          </a:p>
          <a:p>
            <a:r>
              <a:rPr lang="es-ES" sz="1600" b="0" i="0" dirty="0" err="1">
                <a:solidFill>
                  <a:srgbClr val="96CBFE"/>
                </a:solidFill>
                <a:effectLst/>
                <a:latin typeface="Courier"/>
              </a:rPr>
              <a:t>const</a:t>
            </a:r>
            <a:r>
              <a:rPr lang="es-ES" sz="1600" b="0" i="0" dirty="0">
                <a:solidFill>
                  <a:srgbClr val="96CBFE"/>
                </a:solidFill>
                <a:effectLst/>
                <a:latin typeface="Courier"/>
              </a:rPr>
              <a:t> </a:t>
            </a:r>
            <a:r>
              <a:rPr lang="es-ES" sz="1600" b="0" i="0" dirty="0">
                <a:solidFill>
                  <a:srgbClr val="F8F8F8"/>
                </a:solidFill>
                <a:effectLst/>
                <a:latin typeface="Courier"/>
              </a:rPr>
              <a:t>potencia = (x, y = </a:t>
            </a:r>
            <a:r>
              <a:rPr lang="es-ES" sz="1600" b="0" i="0" dirty="0">
                <a:solidFill>
                  <a:srgbClr val="FF73FD"/>
                </a:solidFill>
                <a:effectLst/>
                <a:latin typeface="Courier"/>
              </a:rPr>
              <a:t>2</a:t>
            </a:r>
            <a:r>
              <a:rPr lang="es-ES" sz="1600" b="0" i="0" dirty="0">
                <a:solidFill>
                  <a:srgbClr val="F8F8F8"/>
                </a:solidFill>
                <a:effectLst/>
                <a:latin typeface="Courier"/>
              </a:rPr>
              <a:t>) =&gt; </a:t>
            </a:r>
            <a:r>
              <a:rPr lang="es-ES" sz="1600" b="0" i="0" dirty="0" err="1">
                <a:solidFill>
                  <a:srgbClr val="F8F8F8"/>
                </a:solidFill>
                <a:effectLst/>
                <a:latin typeface="Courier"/>
              </a:rPr>
              <a:t>Math.pow</a:t>
            </a:r>
            <a:r>
              <a:rPr lang="es-ES" sz="1600" b="0" i="0" dirty="0">
                <a:solidFill>
                  <a:srgbClr val="F8F8F8"/>
                </a:solidFill>
                <a:effectLst/>
                <a:latin typeface="Courier"/>
              </a:rPr>
              <a:t>(x, y);</a:t>
            </a:r>
            <a:br>
              <a:rPr lang="es-ES" sz="1600" b="0" i="0" dirty="0">
                <a:solidFill>
                  <a:srgbClr val="F8F8F8"/>
                </a:solidFill>
                <a:effectLst/>
                <a:latin typeface="Courier"/>
              </a:rPr>
            </a:br>
            <a:endParaRPr lang="es-ES" sz="1600" b="0" i="0" dirty="0">
              <a:solidFill>
                <a:srgbClr val="F8F8F8"/>
              </a:solidFill>
              <a:effectLst/>
              <a:latin typeface="Courier"/>
            </a:endParaRPr>
          </a:p>
          <a:p>
            <a:r>
              <a:rPr lang="es-ES" sz="1600" b="0" i="0" dirty="0" err="1">
                <a:solidFill>
                  <a:srgbClr val="F8F8F8"/>
                </a:solidFill>
                <a:effectLst/>
                <a:latin typeface="Courier"/>
              </a:rPr>
              <a:t>setTimeout</a:t>
            </a:r>
            <a:r>
              <a:rPr lang="es-ES" sz="1600" b="0" i="0" dirty="0">
                <a:solidFill>
                  <a:srgbClr val="F8F8F8"/>
                </a:solidFill>
                <a:effectLst/>
                <a:latin typeface="Courier"/>
              </a:rPr>
              <a:t>(() =&gt; console.log(</a:t>
            </a:r>
            <a:r>
              <a:rPr lang="es-ES" sz="1600" b="0" i="0" dirty="0">
                <a:solidFill>
                  <a:srgbClr val="A8FF60"/>
                </a:solidFill>
                <a:effectLst/>
                <a:latin typeface="Courier"/>
              </a:rPr>
              <a:t>"pausa"</a:t>
            </a:r>
            <a:r>
              <a:rPr lang="es-ES" sz="1600" b="0" i="0" dirty="0">
                <a:solidFill>
                  <a:srgbClr val="F8F8F8"/>
                </a:solidFill>
                <a:effectLst/>
                <a:latin typeface="Courier"/>
              </a:rPr>
              <a:t>), </a:t>
            </a:r>
            <a:r>
              <a:rPr lang="es-ES" sz="1600" b="0" i="0" dirty="0">
                <a:solidFill>
                  <a:srgbClr val="FF73FD"/>
                </a:solidFill>
                <a:effectLst/>
                <a:latin typeface="Courier"/>
              </a:rPr>
              <a:t>2000</a:t>
            </a:r>
            <a:r>
              <a:rPr lang="es-ES" sz="1600" b="0" i="0" dirty="0">
                <a:solidFill>
                  <a:srgbClr val="F8F8F8"/>
                </a:solidFill>
                <a:effectLst/>
                <a:latin typeface="Courier"/>
              </a:rPr>
              <a:t>);</a:t>
            </a:r>
            <a:r>
              <a:rPr lang="es-ES" sz="1400" dirty="0"/>
              <a:t> </a:t>
            </a:r>
            <a:br>
              <a:rPr lang="es-ES" sz="1400" dirty="0"/>
            </a:br>
            <a:endParaRPr lang="en-US" sz="1200" b="1" dirty="0">
              <a:latin typeface="Consolas" panose="020B0609020204030204" pitchFamily="49" charset="0"/>
            </a:endParaRPr>
          </a:p>
        </p:txBody>
      </p:sp>
      <p:pic>
        <p:nvPicPr>
          <p:cNvPr id="5" name="Imagen 4">
            <a:extLst>
              <a:ext uri="{FF2B5EF4-FFF2-40B4-BE49-F238E27FC236}">
                <a16:creationId xmlns:a16="http://schemas.microsoft.com/office/drawing/2014/main" id="{5C777FBE-3829-4F97-B413-4304CD09417D}"/>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9447212" y="98482"/>
            <a:ext cx="2609850" cy="2568518"/>
          </a:xfrm>
          <a:prstGeom prst="rect">
            <a:avLst/>
          </a:prstGeom>
        </p:spPr>
      </p:pic>
    </p:spTree>
    <p:extLst>
      <p:ext uri="{BB962C8B-B14F-4D97-AF65-F5344CB8AC3E}">
        <p14:creationId xmlns:p14="http://schemas.microsoft.com/office/powerpoint/2010/main" val="7377404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62B524F-3F07-474B-A842-F05C613FEF2A}"/>
              </a:ext>
            </a:extLst>
          </p:cNvPr>
          <p:cNvSpPr>
            <a:spLocks noGrp="1"/>
          </p:cNvSpPr>
          <p:nvPr>
            <p:ph type="title"/>
          </p:nvPr>
        </p:nvSpPr>
        <p:spPr/>
        <p:txBody>
          <a:bodyPr>
            <a:normAutofit fontScale="90000"/>
          </a:bodyPr>
          <a:lstStyle/>
          <a:p>
            <a:r>
              <a:rPr lang="es-ES" dirty="0"/>
              <a:t>Operador spread</a:t>
            </a:r>
          </a:p>
        </p:txBody>
      </p:sp>
      <p:sp>
        <p:nvSpPr>
          <p:cNvPr id="3" name="Marcador de texto 2">
            <a:extLst>
              <a:ext uri="{FF2B5EF4-FFF2-40B4-BE49-F238E27FC236}">
                <a16:creationId xmlns:a16="http://schemas.microsoft.com/office/drawing/2014/main" id="{3BDD9D50-5B3A-49C4-BA77-0D0EA58B969F}"/>
              </a:ext>
            </a:extLst>
          </p:cNvPr>
          <p:cNvSpPr>
            <a:spLocks noGrp="1"/>
          </p:cNvSpPr>
          <p:nvPr>
            <p:ph idx="1"/>
          </p:nvPr>
        </p:nvSpPr>
        <p:spPr>
          <a:xfrm>
            <a:off x="837982" y="1825625"/>
            <a:ext cx="4951630" cy="4351338"/>
          </a:xfrm>
        </p:spPr>
        <p:txBody>
          <a:bodyPr/>
          <a:lstStyle/>
          <a:p>
            <a:r>
              <a:rPr lang="es-ES" dirty="0"/>
              <a:t>Parámetros en funciones</a:t>
            </a:r>
          </a:p>
          <a:p>
            <a:r>
              <a:rPr lang="es-ES" dirty="0"/>
              <a:t>Enviar varios parámetros a partir de un array</a:t>
            </a:r>
          </a:p>
          <a:p>
            <a:r>
              <a:rPr lang="es-ES" dirty="0" err="1"/>
              <a:t>push</a:t>
            </a:r>
            <a:r>
              <a:rPr lang="es-ES" dirty="0"/>
              <a:t> y </a:t>
            </a:r>
            <a:r>
              <a:rPr lang="es-ES" dirty="0" err="1"/>
              <a:t>unshift</a:t>
            </a:r>
            <a:endParaRPr lang="es-ES" dirty="0"/>
          </a:p>
          <a:p>
            <a:r>
              <a:rPr lang="es-ES" dirty="0"/>
              <a:t>Intercalar un array dentro de otro</a:t>
            </a:r>
          </a:p>
          <a:p>
            <a:r>
              <a:rPr lang="es-ES" dirty="0"/>
              <a:t>Copiar un array en otro</a:t>
            </a:r>
          </a:p>
          <a:p>
            <a:r>
              <a:rPr lang="es-ES" dirty="0"/>
              <a:t>Copiar un objeto en otro</a:t>
            </a:r>
          </a:p>
        </p:txBody>
      </p:sp>
      <p:sp>
        <p:nvSpPr>
          <p:cNvPr id="4" name="Прямоугольник 4">
            <a:extLst>
              <a:ext uri="{FF2B5EF4-FFF2-40B4-BE49-F238E27FC236}">
                <a16:creationId xmlns:a16="http://schemas.microsoft.com/office/drawing/2014/main" id="{DA3BFBE9-37B4-400E-A3B8-B7EC6EAC8531}"/>
              </a:ext>
            </a:extLst>
          </p:cNvPr>
          <p:cNvSpPr/>
          <p:nvPr/>
        </p:nvSpPr>
        <p:spPr>
          <a:xfrm>
            <a:off x="6018212" y="1828800"/>
            <a:ext cx="5901444" cy="4401205"/>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a:spAutoFit/>
          </a:bodyPr>
          <a:lstStyle/>
          <a:p>
            <a:r>
              <a:rPr lang="es-ES" sz="1400" b="0" i="0" dirty="0">
                <a:solidFill>
                  <a:srgbClr val="7C7C7C"/>
                </a:solidFill>
                <a:effectLst/>
                <a:latin typeface="Courier"/>
              </a:rPr>
              <a:t>// </a:t>
            </a:r>
            <a:r>
              <a:rPr lang="es-ES" sz="1400" b="0" i="0" dirty="0" err="1">
                <a:solidFill>
                  <a:srgbClr val="7C7C7C"/>
                </a:solidFill>
                <a:effectLst/>
                <a:latin typeface="Courier"/>
              </a:rPr>
              <a:t>function</a:t>
            </a:r>
            <a:r>
              <a:rPr lang="es-ES" sz="1400" b="0" i="0" dirty="0">
                <a:solidFill>
                  <a:srgbClr val="7C7C7C"/>
                </a:solidFill>
                <a:effectLst/>
                <a:latin typeface="Courier"/>
              </a:rPr>
              <a:t>(a, b, c)</a:t>
            </a:r>
            <a:br>
              <a:rPr lang="es-ES" sz="1400" b="0" i="0" dirty="0">
                <a:solidFill>
                  <a:srgbClr val="7C7C7C"/>
                </a:solidFill>
                <a:effectLst/>
                <a:latin typeface="Courier"/>
              </a:rPr>
            </a:br>
            <a:r>
              <a:rPr lang="es-ES" sz="1400" b="0" i="0" dirty="0" err="1">
                <a:solidFill>
                  <a:srgbClr val="96CBFE"/>
                </a:solidFill>
                <a:effectLst/>
                <a:latin typeface="Courier"/>
              </a:rPr>
              <a:t>let</a:t>
            </a:r>
            <a:r>
              <a:rPr lang="es-ES" sz="1400" b="0" i="0" dirty="0">
                <a:solidFill>
                  <a:srgbClr val="96CBFE"/>
                </a:solidFill>
                <a:effectLst/>
                <a:latin typeface="Courier"/>
              </a:rPr>
              <a:t> </a:t>
            </a:r>
            <a:r>
              <a:rPr lang="es-ES" sz="1400" b="0" i="0" dirty="0" err="1">
                <a:solidFill>
                  <a:srgbClr val="F8F8F8"/>
                </a:solidFill>
                <a:effectLst/>
                <a:latin typeface="Courier"/>
              </a:rPr>
              <a:t>nums</a:t>
            </a:r>
            <a:r>
              <a:rPr lang="es-ES" sz="1400" b="0" i="0" dirty="0">
                <a:solidFill>
                  <a:srgbClr val="F8F8F8"/>
                </a:solidFill>
                <a:effectLst/>
                <a:latin typeface="Courier"/>
              </a:rPr>
              <a:t> = [</a:t>
            </a:r>
            <a:r>
              <a:rPr lang="es-ES" sz="1400" b="0" i="0" dirty="0">
                <a:solidFill>
                  <a:srgbClr val="FF73FD"/>
                </a:solidFill>
                <a:effectLst/>
                <a:latin typeface="Courier"/>
              </a:rPr>
              <a:t>1</a:t>
            </a:r>
            <a:r>
              <a:rPr lang="es-ES" sz="1400" b="0" i="0" dirty="0">
                <a:solidFill>
                  <a:srgbClr val="F8F8F8"/>
                </a:solidFill>
                <a:effectLst/>
                <a:latin typeface="Courier"/>
              </a:rPr>
              <a:t>, </a:t>
            </a:r>
            <a:r>
              <a:rPr lang="es-ES" sz="1400" b="0" i="0" dirty="0">
                <a:solidFill>
                  <a:srgbClr val="FF73FD"/>
                </a:solidFill>
                <a:effectLst/>
                <a:latin typeface="Courier"/>
              </a:rPr>
              <a:t>3</a:t>
            </a:r>
            <a:r>
              <a:rPr lang="es-ES" sz="1400" b="0" i="0" dirty="0">
                <a:solidFill>
                  <a:srgbClr val="F8F8F8"/>
                </a:solidFill>
                <a:effectLst/>
                <a:latin typeface="Courier"/>
              </a:rPr>
              <a:t>, </a:t>
            </a:r>
            <a:r>
              <a:rPr lang="es-ES" sz="1400" b="0" i="0" dirty="0">
                <a:solidFill>
                  <a:srgbClr val="FF73FD"/>
                </a:solidFill>
                <a:effectLst/>
                <a:latin typeface="Courier"/>
              </a:rPr>
              <a:t>6</a:t>
            </a:r>
            <a:r>
              <a:rPr lang="es-ES" sz="1400" b="0" i="0" dirty="0">
                <a:solidFill>
                  <a:srgbClr val="F8F8F8"/>
                </a:solidFill>
                <a:effectLst/>
                <a:latin typeface="Courier"/>
              </a:rPr>
              <a:t>];</a:t>
            </a:r>
            <a:br>
              <a:rPr lang="es-ES" sz="1400" b="0" i="0" dirty="0">
                <a:solidFill>
                  <a:srgbClr val="F8F8F8"/>
                </a:solidFill>
                <a:effectLst/>
                <a:latin typeface="Courier"/>
              </a:rPr>
            </a:br>
            <a:r>
              <a:rPr lang="es-ES" sz="1400" b="0" i="0" dirty="0" err="1">
                <a:solidFill>
                  <a:srgbClr val="96CBFE"/>
                </a:solidFill>
                <a:effectLst/>
                <a:latin typeface="Courier"/>
              </a:rPr>
              <a:t>function</a:t>
            </a:r>
            <a:r>
              <a:rPr lang="es-ES" sz="1400" b="0" i="0" dirty="0">
                <a:solidFill>
                  <a:srgbClr val="96CBFE"/>
                </a:solidFill>
                <a:effectLst/>
                <a:latin typeface="Courier"/>
              </a:rPr>
              <a:t> </a:t>
            </a:r>
            <a:r>
              <a:rPr lang="es-ES" sz="1400" b="0" i="0" dirty="0">
                <a:solidFill>
                  <a:srgbClr val="FFFFB6"/>
                </a:solidFill>
                <a:effectLst/>
                <a:latin typeface="Courier"/>
              </a:rPr>
              <a:t>sumar</a:t>
            </a:r>
            <a:r>
              <a:rPr lang="es-ES" sz="1400" b="0" i="0" dirty="0">
                <a:solidFill>
                  <a:srgbClr val="F8F8F8"/>
                </a:solidFill>
                <a:effectLst/>
                <a:latin typeface="Courier"/>
              </a:rPr>
              <a:t>(a, b, c) {</a:t>
            </a:r>
            <a:br>
              <a:rPr lang="es-ES" sz="1400" b="0" i="0" dirty="0">
                <a:solidFill>
                  <a:srgbClr val="F8F8F8"/>
                </a:solidFill>
                <a:effectLst/>
                <a:latin typeface="Courier"/>
              </a:rPr>
            </a:br>
            <a:r>
              <a:rPr lang="es-ES" sz="1400" b="0" i="0" dirty="0">
                <a:solidFill>
                  <a:srgbClr val="F8F8F8"/>
                </a:solidFill>
                <a:effectLst/>
                <a:latin typeface="Courier"/>
              </a:rPr>
              <a:t>	console.log(a + b + c);</a:t>
            </a:r>
            <a:br>
              <a:rPr lang="es-ES" sz="1400" b="0" i="0" dirty="0">
                <a:solidFill>
                  <a:srgbClr val="F8F8F8"/>
                </a:solidFill>
                <a:effectLst/>
                <a:latin typeface="Courier"/>
              </a:rPr>
            </a:br>
            <a:r>
              <a:rPr lang="es-ES" sz="1400" b="0" i="0" dirty="0">
                <a:solidFill>
                  <a:srgbClr val="F8F8F8"/>
                </a:solidFill>
                <a:effectLst/>
                <a:latin typeface="Courier"/>
              </a:rPr>
              <a:t>}</a:t>
            </a:r>
            <a:br>
              <a:rPr lang="es-ES" sz="1400" b="0" i="0" dirty="0">
                <a:solidFill>
                  <a:srgbClr val="F8F8F8"/>
                </a:solidFill>
                <a:effectLst/>
                <a:latin typeface="Courier"/>
              </a:rPr>
            </a:br>
            <a:r>
              <a:rPr lang="es-ES" sz="1400" b="0" i="0" dirty="0">
                <a:solidFill>
                  <a:srgbClr val="F8F8F8"/>
                </a:solidFill>
                <a:effectLst/>
                <a:latin typeface="Courier"/>
              </a:rPr>
              <a:t>sumar(</a:t>
            </a:r>
            <a:r>
              <a:rPr lang="es-ES" sz="1400" b="0" i="0" dirty="0">
                <a:solidFill>
                  <a:srgbClr val="FF0000"/>
                </a:solidFill>
                <a:effectLst/>
                <a:latin typeface="Courier"/>
              </a:rPr>
              <a:t>...</a:t>
            </a:r>
            <a:r>
              <a:rPr lang="es-ES" sz="1400" b="0" i="0" dirty="0" err="1">
                <a:solidFill>
                  <a:srgbClr val="F8F8F8"/>
                </a:solidFill>
                <a:effectLst/>
                <a:latin typeface="Courier"/>
              </a:rPr>
              <a:t>nums</a:t>
            </a:r>
            <a:r>
              <a:rPr lang="es-ES" sz="1400" b="0" i="0" dirty="0">
                <a:solidFill>
                  <a:srgbClr val="F8F8F8"/>
                </a:solidFill>
                <a:effectLst/>
                <a:latin typeface="Courier"/>
              </a:rPr>
              <a:t>);</a:t>
            </a:r>
          </a:p>
          <a:p>
            <a:br>
              <a:rPr lang="es-ES" sz="1400" b="0" i="0" dirty="0">
                <a:solidFill>
                  <a:srgbClr val="F8F8F8"/>
                </a:solidFill>
                <a:effectLst/>
                <a:latin typeface="Courier"/>
              </a:rPr>
            </a:br>
            <a:r>
              <a:rPr lang="es-ES" sz="1400" b="0" i="0" dirty="0">
                <a:solidFill>
                  <a:srgbClr val="7C7C7C"/>
                </a:solidFill>
                <a:effectLst/>
                <a:latin typeface="Courier"/>
              </a:rPr>
              <a:t>// </a:t>
            </a:r>
            <a:r>
              <a:rPr lang="es-ES" sz="1400" b="0" i="0" dirty="0" err="1">
                <a:solidFill>
                  <a:srgbClr val="7C7C7C"/>
                </a:solidFill>
                <a:effectLst/>
                <a:latin typeface="Courier"/>
              </a:rPr>
              <a:t>function</a:t>
            </a:r>
            <a:r>
              <a:rPr lang="es-ES" sz="1400" b="0" i="0" dirty="0">
                <a:solidFill>
                  <a:srgbClr val="7C7C7C"/>
                </a:solidFill>
                <a:effectLst/>
                <a:latin typeface="Courier"/>
              </a:rPr>
              <a:t>(n parámetros)</a:t>
            </a:r>
            <a:br>
              <a:rPr lang="es-ES" sz="1400" b="0" i="0" dirty="0">
                <a:solidFill>
                  <a:srgbClr val="7C7C7C"/>
                </a:solidFill>
                <a:effectLst/>
                <a:latin typeface="Courier"/>
              </a:rPr>
            </a:br>
            <a:r>
              <a:rPr lang="es-ES" sz="1400" b="0" i="0" dirty="0" err="1">
                <a:solidFill>
                  <a:srgbClr val="96CBFE"/>
                </a:solidFill>
                <a:effectLst/>
                <a:latin typeface="Courier"/>
              </a:rPr>
              <a:t>let</a:t>
            </a:r>
            <a:r>
              <a:rPr lang="es-ES" sz="1400" b="0" i="0" dirty="0">
                <a:solidFill>
                  <a:srgbClr val="96CBFE"/>
                </a:solidFill>
                <a:effectLst/>
                <a:latin typeface="Courier"/>
              </a:rPr>
              <a:t> </a:t>
            </a:r>
            <a:r>
              <a:rPr lang="es-ES" sz="1400" b="0" i="0" dirty="0">
                <a:solidFill>
                  <a:srgbClr val="F8F8F8"/>
                </a:solidFill>
                <a:effectLst/>
                <a:latin typeface="Courier"/>
              </a:rPr>
              <a:t>a = </a:t>
            </a:r>
            <a:r>
              <a:rPr lang="es-ES" sz="1400" b="0" i="0" dirty="0">
                <a:solidFill>
                  <a:srgbClr val="FF73FD"/>
                </a:solidFill>
                <a:effectLst/>
                <a:latin typeface="Courier"/>
              </a:rPr>
              <a:t>3</a:t>
            </a:r>
            <a:r>
              <a:rPr lang="es-ES" sz="1400" b="0" i="0" dirty="0">
                <a:solidFill>
                  <a:srgbClr val="F8F8F8"/>
                </a:solidFill>
                <a:effectLst/>
                <a:latin typeface="Courier"/>
              </a:rPr>
              <a:t>;</a:t>
            </a:r>
            <a:br>
              <a:rPr lang="es-ES" sz="1400" b="0" i="0" dirty="0">
                <a:solidFill>
                  <a:srgbClr val="F8F8F8"/>
                </a:solidFill>
                <a:effectLst/>
                <a:latin typeface="Courier"/>
              </a:rPr>
            </a:br>
            <a:r>
              <a:rPr lang="es-ES" sz="1400" b="0" i="0" dirty="0" err="1">
                <a:solidFill>
                  <a:srgbClr val="96CBFE"/>
                </a:solidFill>
                <a:effectLst/>
                <a:latin typeface="Courier"/>
              </a:rPr>
              <a:t>let</a:t>
            </a:r>
            <a:r>
              <a:rPr lang="es-ES" sz="1400" b="0" i="0" dirty="0">
                <a:solidFill>
                  <a:srgbClr val="96CBFE"/>
                </a:solidFill>
                <a:effectLst/>
                <a:latin typeface="Courier"/>
              </a:rPr>
              <a:t> </a:t>
            </a:r>
            <a:r>
              <a:rPr lang="es-ES" sz="1400" b="0" i="0" dirty="0">
                <a:solidFill>
                  <a:srgbClr val="F8F8F8"/>
                </a:solidFill>
                <a:effectLst/>
                <a:latin typeface="Courier"/>
              </a:rPr>
              <a:t>b = </a:t>
            </a:r>
            <a:r>
              <a:rPr lang="es-ES" sz="1400" b="0" i="0" dirty="0">
                <a:solidFill>
                  <a:srgbClr val="FF73FD"/>
                </a:solidFill>
                <a:effectLst/>
                <a:latin typeface="Courier"/>
              </a:rPr>
              <a:t>7</a:t>
            </a:r>
            <a:r>
              <a:rPr lang="es-ES" sz="1400" b="0" i="0" dirty="0">
                <a:solidFill>
                  <a:srgbClr val="F8F8F8"/>
                </a:solidFill>
                <a:effectLst/>
                <a:latin typeface="Courier"/>
              </a:rPr>
              <a:t>;</a:t>
            </a:r>
            <a:br>
              <a:rPr lang="es-ES" sz="1400" b="0" i="0" dirty="0">
                <a:solidFill>
                  <a:srgbClr val="F8F8F8"/>
                </a:solidFill>
                <a:effectLst/>
                <a:latin typeface="Courier"/>
              </a:rPr>
            </a:br>
            <a:r>
              <a:rPr lang="es-ES" sz="1400" b="0" i="0" dirty="0" err="1">
                <a:solidFill>
                  <a:srgbClr val="96CBFE"/>
                </a:solidFill>
                <a:effectLst/>
                <a:latin typeface="Courier"/>
              </a:rPr>
              <a:t>let</a:t>
            </a:r>
            <a:r>
              <a:rPr lang="es-ES" sz="1400" b="0" i="0" dirty="0">
                <a:solidFill>
                  <a:srgbClr val="96CBFE"/>
                </a:solidFill>
                <a:effectLst/>
                <a:latin typeface="Courier"/>
              </a:rPr>
              <a:t> </a:t>
            </a:r>
            <a:r>
              <a:rPr lang="es-ES" sz="1400" b="0" i="0" dirty="0">
                <a:solidFill>
                  <a:srgbClr val="F8F8F8"/>
                </a:solidFill>
                <a:effectLst/>
                <a:latin typeface="Courier"/>
              </a:rPr>
              <a:t>c = </a:t>
            </a:r>
            <a:r>
              <a:rPr lang="es-ES" sz="1400" b="0" i="0" dirty="0">
                <a:solidFill>
                  <a:srgbClr val="FF73FD"/>
                </a:solidFill>
                <a:effectLst/>
                <a:latin typeface="Courier"/>
              </a:rPr>
              <a:t>8</a:t>
            </a:r>
            <a:r>
              <a:rPr lang="es-ES" sz="1400" b="0" i="0" dirty="0">
                <a:solidFill>
                  <a:srgbClr val="F8F8F8"/>
                </a:solidFill>
                <a:effectLst/>
                <a:latin typeface="Courier"/>
              </a:rPr>
              <a:t>;</a:t>
            </a:r>
          </a:p>
          <a:p>
            <a:br>
              <a:rPr lang="es-ES" sz="1400" b="0" i="0" dirty="0">
                <a:solidFill>
                  <a:srgbClr val="F8F8F8"/>
                </a:solidFill>
                <a:effectLst/>
                <a:latin typeface="Courier"/>
              </a:rPr>
            </a:br>
            <a:r>
              <a:rPr lang="es-ES" sz="1400" b="0" i="0" dirty="0" err="1">
                <a:solidFill>
                  <a:srgbClr val="96CBFE"/>
                </a:solidFill>
                <a:effectLst/>
                <a:latin typeface="Courier"/>
              </a:rPr>
              <a:t>function</a:t>
            </a:r>
            <a:r>
              <a:rPr lang="es-ES" sz="1400" b="0" i="0" dirty="0">
                <a:solidFill>
                  <a:srgbClr val="96CBFE"/>
                </a:solidFill>
                <a:effectLst/>
                <a:latin typeface="Courier"/>
              </a:rPr>
              <a:t> </a:t>
            </a:r>
            <a:r>
              <a:rPr lang="es-ES" sz="1400" b="0" i="0" dirty="0">
                <a:solidFill>
                  <a:srgbClr val="FFFFB6"/>
                </a:solidFill>
                <a:effectLst/>
                <a:latin typeface="Courier"/>
              </a:rPr>
              <a:t>sumar</a:t>
            </a:r>
            <a:r>
              <a:rPr lang="es-ES" sz="1400" b="0" i="0" dirty="0">
                <a:solidFill>
                  <a:srgbClr val="F8F8F8"/>
                </a:solidFill>
                <a:effectLst/>
                <a:latin typeface="Courier"/>
              </a:rPr>
              <a:t>(</a:t>
            </a:r>
            <a:r>
              <a:rPr lang="es-ES" sz="1400" b="0" i="0" dirty="0">
                <a:solidFill>
                  <a:srgbClr val="FF0000"/>
                </a:solidFill>
                <a:effectLst/>
                <a:latin typeface="Courier"/>
              </a:rPr>
              <a:t>...</a:t>
            </a:r>
            <a:r>
              <a:rPr lang="es-ES" sz="1400" b="0" i="0" dirty="0" err="1">
                <a:solidFill>
                  <a:srgbClr val="F8F8F8"/>
                </a:solidFill>
                <a:effectLst/>
                <a:latin typeface="Courier"/>
              </a:rPr>
              <a:t>nums</a:t>
            </a:r>
            <a:r>
              <a:rPr lang="es-ES" sz="1400" b="0" i="0" dirty="0">
                <a:solidFill>
                  <a:srgbClr val="F8F8F8"/>
                </a:solidFill>
                <a:effectLst/>
                <a:latin typeface="Courier"/>
              </a:rPr>
              <a:t>) {</a:t>
            </a:r>
            <a:br>
              <a:rPr lang="es-ES" sz="1400" b="0" i="0" dirty="0">
                <a:solidFill>
                  <a:srgbClr val="F8F8F8"/>
                </a:solidFill>
                <a:effectLst/>
                <a:latin typeface="Courier"/>
              </a:rPr>
            </a:br>
            <a:r>
              <a:rPr lang="es-ES" sz="1400" b="0" i="0" dirty="0">
                <a:solidFill>
                  <a:srgbClr val="F8F8F8"/>
                </a:solidFill>
                <a:effectLst/>
                <a:latin typeface="Courier"/>
              </a:rPr>
              <a:t>	</a:t>
            </a:r>
            <a:r>
              <a:rPr lang="es-ES" sz="1400" b="0" i="0" dirty="0" err="1">
                <a:solidFill>
                  <a:srgbClr val="96CBFE"/>
                </a:solidFill>
                <a:effectLst/>
                <a:latin typeface="Courier"/>
              </a:rPr>
              <a:t>let</a:t>
            </a:r>
            <a:r>
              <a:rPr lang="es-ES" sz="1400" b="0" i="0" dirty="0">
                <a:solidFill>
                  <a:srgbClr val="96CBFE"/>
                </a:solidFill>
                <a:effectLst/>
                <a:latin typeface="Courier"/>
              </a:rPr>
              <a:t> </a:t>
            </a:r>
            <a:r>
              <a:rPr lang="es-ES" sz="1400" b="0" i="0" dirty="0">
                <a:solidFill>
                  <a:srgbClr val="F8F8F8"/>
                </a:solidFill>
                <a:effectLst/>
                <a:latin typeface="Courier"/>
              </a:rPr>
              <a:t>suma = </a:t>
            </a:r>
            <a:r>
              <a:rPr lang="es-ES" sz="1400" b="0" i="0" dirty="0">
                <a:solidFill>
                  <a:srgbClr val="FF73FD"/>
                </a:solidFill>
                <a:effectLst/>
                <a:latin typeface="Courier"/>
              </a:rPr>
              <a:t>0</a:t>
            </a:r>
            <a:r>
              <a:rPr lang="es-ES" sz="1400" b="0" i="0" dirty="0">
                <a:solidFill>
                  <a:srgbClr val="F8F8F8"/>
                </a:solidFill>
                <a:effectLst/>
                <a:latin typeface="Courier"/>
              </a:rPr>
              <a:t>;</a:t>
            </a:r>
            <a:br>
              <a:rPr lang="es-ES" sz="1400" b="0" i="0" dirty="0">
                <a:solidFill>
                  <a:srgbClr val="F8F8F8"/>
                </a:solidFill>
                <a:effectLst/>
                <a:latin typeface="Courier"/>
              </a:rPr>
            </a:br>
            <a:r>
              <a:rPr lang="es-ES" sz="1400" b="0" i="0" dirty="0">
                <a:solidFill>
                  <a:srgbClr val="F8F8F8"/>
                </a:solidFill>
                <a:effectLst/>
                <a:latin typeface="Courier"/>
              </a:rPr>
              <a:t>	</a:t>
            </a:r>
            <a:r>
              <a:rPr lang="es-ES" sz="1400" b="0" i="0" dirty="0" err="1">
                <a:solidFill>
                  <a:srgbClr val="96CBFE"/>
                </a:solidFill>
                <a:effectLst/>
                <a:latin typeface="Courier"/>
              </a:rPr>
              <a:t>for</a:t>
            </a:r>
            <a:r>
              <a:rPr lang="es-ES" sz="1400" b="0" i="0" dirty="0">
                <a:solidFill>
                  <a:srgbClr val="96CBFE"/>
                </a:solidFill>
                <a:effectLst/>
                <a:latin typeface="Courier"/>
              </a:rPr>
              <a:t> </a:t>
            </a:r>
            <a:r>
              <a:rPr lang="es-ES" sz="1400" b="0" i="0" dirty="0">
                <a:solidFill>
                  <a:srgbClr val="F8F8F8"/>
                </a:solidFill>
                <a:effectLst/>
                <a:latin typeface="Courier"/>
              </a:rPr>
              <a:t>(n </a:t>
            </a:r>
            <a:r>
              <a:rPr lang="es-ES" sz="1400" b="0" i="0" dirty="0" err="1">
                <a:solidFill>
                  <a:srgbClr val="96CBFE"/>
                </a:solidFill>
                <a:effectLst/>
                <a:latin typeface="Courier"/>
              </a:rPr>
              <a:t>of</a:t>
            </a:r>
            <a:r>
              <a:rPr lang="es-ES" sz="1400" b="0" i="0" dirty="0">
                <a:solidFill>
                  <a:srgbClr val="96CBFE"/>
                </a:solidFill>
                <a:effectLst/>
                <a:latin typeface="Courier"/>
              </a:rPr>
              <a:t> </a:t>
            </a:r>
            <a:r>
              <a:rPr lang="es-ES" sz="1400" b="0" i="0" dirty="0" err="1">
                <a:solidFill>
                  <a:srgbClr val="F8F8F8"/>
                </a:solidFill>
                <a:effectLst/>
                <a:latin typeface="Courier"/>
              </a:rPr>
              <a:t>nums</a:t>
            </a:r>
            <a:r>
              <a:rPr lang="es-ES" sz="1400" b="0" i="0" dirty="0">
                <a:solidFill>
                  <a:srgbClr val="F8F8F8"/>
                </a:solidFill>
                <a:effectLst/>
                <a:latin typeface="Courier"/>
              </a:rPr>
              <a:t>) {</a:t>
            </a:r>
            <a:br>
              <a:rPr lang="es-ES" sz="1400" b="0" i="0" dirty="0">
                <a:solidFill>
                  <a:srgbClr val="F8F8F8"/>
                </a:solidFill>
                <a:effectLst/>
                <a:latin typeface="Courier"/>
              </a:rPr>
            </a:br>
            <a:r>
              <a:rPr lang="es-ES" sz="1400" b="0" i="0" dirty="0">
                <a:solidFill>
                  <a:srgbClr val="F8F8F8"/>
                </a:solidFill>
                <a:effectLst/>
                <a:latin typeface="Courier"/>
              </a:rPr>
              <a:t>		suma += n;</a:t>
            </a:r>
            <a:br>
              <a:rPr lang="es-ES" sz="1400" b="0" i="0" dirty="0">
                <a:solidFill>
                  <a:srgbClr val="F8F8F8"/>
                </a:solidFill>
                <a:effectLst/>
                <a:latin typeface="Courier"/>
              </a:rPr>
            </a:br>
            <a:r>
              <a:rPr lang="es-ES" sz="1400" b="0" i="0" dirty="0">
                <a:solidFill>
                  <a:srgbClr val="F8F8F8"/>
                </a:solidFill>
                <a:effectLst/>
                <a:latin typeface="Courier"/>
              </a:rPr>
              <a:t>	}</a:t>
            </a:r>
            <a:br>
              <a:rPr lang="es-ES" sz="1400" b="0" i="0" dirty="0">
                <a:solidFill>
                  <a:srgbClr val="F8F8F8"/>
                </a:solidFill>
                <a:effectLst/>
                <a:latin typeface="Courier"/>
              </a:rPr>
            </a:br>
            <a:r>
              <a:rPr lang="es-ES" sz="1400" b="0" i="0" dirty="0">
                <a:solidFill>
                  <a:srgbClr val="F8F8F8"/>
                </a:solidFill>
                <a:effectLst/>
                <a:latin typeface="Courier"/>
              </a:rPr>
              <a:t>	console.log(</a:t>
            </a:r>
            <a:r>
              <a:rPr lang="es-ES" sz="1400" b="0" i="0" dirty="0">
                <a:solidFill>
                  <a:srgbClr val="A8FF60"/>
                </a:solidFill>
                <a:effectLst/>
                <a:latin typeface="Courier"/>
              </a:rPr>
              <a:t>"La suma es " </a:t>
            </a:r>
            <a:r>
              <a:rPr lang="es-ES" sz="1400" b="0" i="0" dirty="0">
                <a:solidFill>
                  <a:srgbClr val="F8F8F8"/>
                </a:solidFill>
                <a:effectLst/>
                <a:latin typeface="Courier"/>
              </a:rPr>
              <a:t>+ suma);</a:t>
            </a:r>
            <a:br>
              <a:rPr lang="es-ES" sz="1400" b="0" i="0" dirty="0">
                <a:solidFill>
                  <a:srgbClr val="F8F8F8"/>
                </a:solidFill>
                <a:effectLst/>
                <a:latin typeface="Courier"/>
              </a:rPr>
            </a:br>
            <a:r>
              <a:rPr lang="es-ES" sz="1400" b="0" i="0" dirty="0">
                <a:solidFill>
                  <a:srgbClr val="F8F8F8"/>
                </a:solidFill>
                <a:effectLst/>
                <a:latin typeface="Courier"/>
              </a:rPr>
              <a:t>}</a:t>
            </a:r>
            <a:br>
              <a:rPr lang="es-ES" sz="1400" b="0" i="0" dirty="0">
                <a:solidFill>
                  <a:srgbClr val="F8F8F8"/>
                </a:solidFill>
                <a:effectLst/>
                <a:latin typeface="Courier"/>
              </a:rPr>
            </a:br>
            <a:r>
              <a:rPr lang="es-ES" sz="1400" b="0" i="0" dirty="0">
                <a:solidFill>
                  <a:srgbClr val="F8F8F8"/>
                </a:solidFill>
                <a:effectLst/>
                <a:latin typeface="Courier"/>
              </a:rPr>
              <a:t>sumar(a, b, c);</a:t>
            </a:r>
            <a:r>
              <a:rPr lang="es-ES" sz="1100" dirty="0"/>
              <a:t> </a:t>
            </a:r>
            <a:endParaRPr lang="en-US" sz="1100" b="1" dirty="0">
              <a:latin typeface="Consolas" panose="020B0609020204030204" pitchFamily="49" charset="0"/>
            </a:endParaRPr>
          </a:p>
        </p:txBody>
      </p:sp>
    </p:spTree>
    <p:extLst>
      <p:ext uri="{BB962C8B-B14F-4D97-AF65-F5344CB8AC3E}">
        <p14:creationId xmlns:p14="http://schemas.microsoft.com/office/powerpoint/2010/main" val="22867770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Look at JavaScript </a:t>
            </a:r>
          </a:p>
        </p:txBody>
      </p:sp>
      <p:pic>
        <p:nvPicPr>
          <p:cNvPr id="4" name="Picture 3"/>
          <p:cNvPicPr>
            <a:picLocks noChangeAspect="1"/>
          </p:cNvPicPr>
          <p:nvPr/>
        </p:nvPicPr>
        <p:blipFill>
          <a:blip r:embed="rId2"/>
          <a:stretch>
            <a:fillRect/>
          </a:stretch>
        </p:blipFill>
        <p:spPr>
          <a:xfrm>
            <a:off x="2360612" y="1690689"/>
            <a:ext cx="5681759" cy="4414290"/>
          </a:xfrm>
          <a:prstGeom prst="rect">
            <a:avLst/>
          </a:prstGeom>
        </p:spPr>
      </p:pic>
      <p:pic>
        <p:nvPicPr>
          <p:cNvPr id="5" name="Imagen 4">
            <a:extLst>
              <a:ext uri="{FF2B5EF4-FFF2-40B4-BE49-F238E27FC236}">
                <a16:creationId xmlns:a16="http://schemas.microsoft.com/office/drawing/2014/main" id="{D9739747-04C8-439E-B75A-949B849ED02B}"/>
              </a:ext>
            </a:extLst>
          </p:cNvPr>
          <p:cNvPicPr>
            <a:picLocks noChangeAspect="1"/>
          </p:cNvPicPr>
          <p:nvPr/>
        </p:nvPicPr>
        <p:blipFill>
          <a:blip r:embed="rId3"/>
          <a:stretch>
            <a:fillRect/>
          </a:stretch>
        </p:blipFill>
        <p:spPr>
          <a:xfrm>
            <a:off x="9447212" y="98482"/>
            <a:ext cx="2609850" cy="2568518"/>
          </a:xfrm>
          <a:prstGeom prst="rect">
            <a:avLst/>
          </a:prstGeom>
        </p:spPr>
      </p:pic>
    </p:spTree>
    <p:extLst>
      <p:ext uri="{BB962C8B-B14F-4D97-AF65-F5344CB8AC3E}">
        <p14:creationId xmlns:p14="http://schemas.microsoft.com/office/powerpoint/2010/main" val="37927848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Look at JavaScript: Dynamic Types </a:t>
            </a:r>
          </a:p>
        </p:txBody>
      </p:sp>
      <p:pic>
        <p:nvPicPr>
          <p:cNvPr id="4" name="Picture 3"/>
          <p:cNvPicPr>
            <a:picLocks noChangeAspect="1"/>
          </p:cNvPicPr>
          <p:nvPr/>
        </p:nvPicPr>
        <p:blipFill>
          <a:blip r:embed="rId2"/>
          <a:stretch>
            <a:fillRect/>
          </a:stretch>
        </p:blipFill>
        <p:spPr>
          <a:xfrm>
            <a:off x="2284412" y="1690689"/>
            <a:ext cx="5834159" cy="4532693"/>
          </a:xfrm>
          <a:prstGeom prst="rect">
            <a:avLst/>
          </a:prstGeom>
        </p:spPr>
      </p:pic>
      <p:sp>
        <p:nvSpPr>
          <p:cNvPr id="5" name="Oval 4"/>
          <p:cNvSpPr/>
          <p:nvPr/>
        </p:nvSpPr>
        <p:spPr>
          <a:xfrm>
            <a:off x="2665412" y="1600200"/>
            <a:ext cx="1132509" cy="450644"/>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6" name="Oval 5"/>
          <p:cNvSpPr/>
          <p:nvPr/>
        </p:nvSpPr>
        <p:spPr>
          <a:xfrm>
            <a:off x="4875212" y="2362200"/>
            <a:ext cx="1132509" cy="450644"/>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pic>
        <p:nvPicPr>
          <p:cNvPr id="7" name="Imagen 6">
            <a:extLst>
              <a:ext uri="{FF2B5EF4-FFF2-40B4-BE49-F238E27FC236}">
                <a16:creationId xmlns:a16="http://schemas.microsoft.com/office/drawing/2014/main" id="{698A86DB-0CB5-414D-AF17-342B57E288D4}"/>
              </a:ext>
            </a:extLst>
          </p:cNvPr>
          <p:cNvPicPr>
            <a:picLocks noChangeAspect="1"/>
          </p:cNvPicPr>
          <p:nvPr/>
        </p:nvPicPr>
        <p:blipFill>
          <a:blip r:embed="rId3"/>
          <a:stretch>
            <a:fillRect/>
          </a:stretch>
        </p:blipFill>
        <p:spPr>
          <a:xfrm>
            <a:off x="9447212" y="98482"/>
            <a:ext cx="2609850" cy="2568518"/>
          </a:xfrm>
          <a:prstGeom prst="rect">
            <a:avLst/>
          </a:prstGeom>
        </p:spPr>
      </p:pic>
    </p:spTree>
    <p:extLst>
      <p:ext uri="{BB962C8B-B14F-4D97-AF65-F5344CB8AC3E}">
        <p14:creationId xmlns:p14="http://schemas.microsoft.com/office/powerpoint/2010/main" val="33112896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Look at JavaScript: Constructors</a:t>
            </a:r>
          </a:p>
        </p:txBody>
      </p:sp>
      <p:pic>
        <p:nvPicPr>
          <p:cNvPr id="4" name="Picture 3"/>
          <p:cNvPicPr>
            <a:picLocks noChangeAspect="1"/>
          </p:cNvPicPr>
          <p:nvPr/>
        </p:nvPicPr>
        <p:blipFill>
          <a:blip r:embed="rId2"/>
          <a:stretch>
            <a:fillRect/>
          </a:stretch>
        </p:blipFill>
        <p:spPr>
          <a:xfrm>
            <a:off x="3090661" y="2368110"/>
            <a:ext cx="4951710" cy="3847098"/>
          </a:xfrm>
          <a:prstGeom prst="rect">
            <a:avLst/>
          </a:prstGeom>
        </p:spPr>
      </p:pic>
      <p:sp>
        <p:nvSpPr>
          <p:cNvPr id="6" name="Oval 5"/>
          <p:cNvSpPr/>
          <p:nvPr/>
        </p:nvSpPr>
        <p:spPr>
          <a:xfrm>
            <a:off x="2948495" y="2698127"/>
            <a:ext cx="4351925" cy="2128850"/>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pic>
        <p:nvPicPr>
          <p:cNvPr id="5" name="Imagen 4">
            <a:extLst>
              <a:ext uri="{FF2B5EF4-FFF2-40B4-BE49-F238E27FC236}">
                <a16:creationId xmlns:a16="http://schemas.microsoft.com/office/drawing/2014/main" id="{9B6A972A-1C82-432A-8C86-DA25DC4E6313}"/>
              </a:ext>
            </a:extLst>
          </p:cNvPr>
          <p:cNvPicPr>
            <a:picLocks noChangeAspect="1"/>
          </p:cNvPicPr>
          <p:nvPr/>
        </p:nvPicPr>
        <p:blipFill>
          <a:blip r:embed="rId3"/>
          <a:stretch>
            <a:fillRect/>
          </a:stretch>
        </p:blipFill>
        <p:spPr>
          <a:xfrm>
            <a:off x="9447212" y="98482"/>
            <a:ext cx="2609850" cy="2568518"/>
          </a:xfrm>
          <a:prstGeom prst="rect">
            <a:avLst/>
          </a:prstGeom>
        </p:spPr>
      </p:pic>
    </p:spTree>
    <p:extLst>
      <p:ext uri="{BB962C8B-B14F-4D97-AF65-F5344CB8AC3E}">
        <p14:creationId xmlns:p14="http://schemas.microsoft.com/office/powerpoint/2010/main" val="24524817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673" y="427561"/>
            <a:ext cx="9682136" cy="867839"/>
          </a:xfrm>
        </p:spPr>
        <p:txBody>
          <a:bodyPr>
            <a:normAutofit fontScale="90000"/>
          </a:bodyPr>
          <a:lstStyle/>
          <a:p>
            <a:r>
              <a:rPr lang="en-US" dirty="0"/>
              <a:t>A Look at JavaScript: IIFES - Immediately Invoked Function Expressions</a:t>
            </a:r>
          </a:p>
        </p:txBody>
      </p:sp>
      <p:pic>
        <p:nvPicPr>
          <p:cNvPr id="4" name="Picture 3"/>
          <p:cNvPicPr>
            <a:picLocks noChangeAspect="1"/>
          </p:cNvPicPr>
          <p:nvPr/>
        </p:nvPicPr>
        <p:blipFill>
          <a:blip r:embed="rId3"/>
          <a:stretch>
            <a:fillRect/>
          </a:stretch>
        </p:blipFill>
        <p:spPr>
          <a:xfrm>
            <a:off x="3090661" y="2368110"/>
            <a:ext cx="4951710" cy="3847098"/>
          </a:xfrm>
          <a:prstGeom prst="rect">
            <a:avLst/>
          </a:prstGeom>
        </p:spPr>
      </p:pic>
      <p:sp>
        <p:nvSpPr>
          <p:cNvPr id="6" name="Oval 5"/>
          <p:cNvSpPr/>
          <p:nvPr/>
        </p:nvSpPr>
        <p:spPr>
          <a:xfrm>
            <a:off x="2894012" y="2743200"/>
            <a:ext cx="3927032" cy="349873"/>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7" name="Oval 6"/>
          <p:cNvSpPr/>
          <p:nvPr/>
        </p:nvSpPr>
        <p:spPr>
          <a:xfrm>
            <a:off x="2741612" y="4984126"/>
            <a:ext cx="3927032" cy="349874"/>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pic>
        <p:nvPicPr>
          <p:cNvPr id="8" name="Imagen 7">
            <a:extLst>
              <a:ext uri="{FF2B5EF4-FFF2-40B4-BE49-F238E27FC236}">
                <a16:creationId xmlns:a16="http://schemas.microsoft.com/office/drawing/2014/main" id="{9B082C40-468E-42C9-A3AC-DE4BF8973585}"/>
              </a:ext>
            </a:extLst>
          </p:cNvPr>
          <p:cNvPicPr>
            <a:picLocks noChangeAspect="1"/>
          </p:cNvPicPr>
          <p:nvPr/>
        </p:nvPicPr>
        <p:blipFill>
          <a:blip r:embed="rId4"/>
          <a:stretch>
            <a:fillRect/>
          </a:stretch>
        </p:blipFill>
        <p:spPr>
          <a:xfrm>
            <a:off x="9504362" y="4174881"/>
            <a:ext cx="2609850" cy="2568518"/>
          </a:xfrm>
          <a:prstGeom prst="rect">
            <a:avLst/>
          </a:prstGeom>
        </p:spPr>
      </p:pic>
    </p:spTree>
    <p:extLst>
      <p:ext uri="{BB962C8B-B14F-4D97-AF65-F5344CB8AC3E}">
        <p14:creationId xmlns:p14="http://schemas.microsoft.com/office/powerpoint/2010/main" val="29364589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contenido 4">
            <a:extLst>
              <a:ext uri="{FF2B5EF4-FFF2-40B4-BE49-F238E27FC236}">
                <a16:creationId xmlns:a16="http://schemas.microsoft.com/office/drawing/2014/main" id="{A00CF2FE-82CF-488F-B4D4-382CB08D197E}"/>
              </a:ext>
            </a:extLst>
          </p:cNvPr>
          <p:cNvSpPr>
            <a:spLocks noGrp="1"/>
          </p:cNvSpPr>
          <p:nvPr>
            <p:ph idx="1"/>
          </p:nvPr>
        </p:nvSpPr>
        <p:spPr>
          <a:xfrm>
            <a:off x="837982" y="609600"/>
            <a:ext cx="10512862" cy="1908175"/>
          </a:xfrm>
        </p:spPr>
        <p:txBody>
          <a:bodyPr>
            <a:normAutofit fontScale="92500" lnSpcReduction="20000"/>
          </a:bodyPr>
          <a:lstStyle/>
          <a:p>
            <a:pPr marL="0" indent="0" algn="ctr">
              <a:buNone/>
            </a:pPr>
            <a:r>
              <a:rPr lang="es-ES" sz="16600" dirty="0"/>
              <a:t>Ups….</a:t>
            </a:r>
          </a:p>
        </p:txBody>
      </p:sp>
      <p:sp>
        <p:nvSpPr>
          <p:cNvPr id="4" name="CuadroTexto 3">
            <a:extLst>
              <a:ext uri="{FF2B5EF4-FFF2-40B4-BE49-F238E27FC236}">
                <a16:creationId xmlns:a16="http://schemas.microsoft.com/office/drawing/2014/main" id="{5AFC8C04-C547-42A1-BC9F-FB05B13AEFA1}"/>
              </a:ext>
            </a:extLst>
          </p:cNvPr>
          <p:cNvSpPr txBox="1"/>
          <p:nvPr/>
        </p:nvSpPr>
        <p:spPr>
          <a:xfrm>
            <a:off x="836394" y="3962400"/>
            <a:ext cx="9296618" cy="2308324"/>
          </a:xfrm>
          <a:prstGeom prst="rect">
            <a:avLst/>
          </a:prstGeom>
          <a:noFill/>
        </p:spPr>
        <p:txBody>
          <a:bodyPr wrap="square">
            <a:spAutoFit/>
          </a:bodyPr>
          <a:lstStyle/>
          <a:p>
            <a:pPr marL="457200" indent="-457200">
              <a:buFont typeface="Arial" panose="020B0604020202020204" pitchFamily="34" charset="0"/>
              <a:buChar char="•"/>
            </a:pPr>
            <a:r>
              <a:rPr lang="es-ES" sz="2400" b="0" i="0" dirty="0">
                <a:solidFill>
                  <a:srgbClr val="000000"/>
                </a:solidFill>
                <a:effectLst/>
                <a:latin typeface="OpenSans"/>
              </a:rPr>
              <a:t>Interpretado, compilado y ejecutado en el navegador</a:t>
            </a:r>
          </a:p>
          <a:p>
            <a:pPr marL="457200" indent="-457200">
              <a:buFont typeface="Arial" panose="020B0604020202020204" pitchFamily="34" charset="0"/>
              <a:buChar char="•"/>
            </a:pPr>
            <a:r>
              <a:rPr lang="es-ES" sz="2400" b="0" i="0" dirty="0">
                <a:solidFill>
                  <a:srgbClr val="000000"/>
                </a:solidFill>
                <a:effectLst/>
                <a:latin typeface="OpenSans"/>
              </a:rPr>
              <a:t>Cada navegador programa su propio motor de JS</a:t>
            </a:r>
          </a:p>
          <a:p>
            <a:pPr marL="457200" indent="-457200">
              <a:buFont typeface="Arial" panose="020B0604020202020204" pitchFamily="34" charset="0"/>
              <a:buChar char="•"/>
            </a:pPr>
            <a:r>
              <a:rPr lang="es-ES" sz="2400" b="0" i="0" dirty="0">
                <a:solidFill>
                  <a:srgbClr val="000000"/>
                </a:solidFill>
                <a:effectLst/>
                <a:latin typeface="OpenSans"/>
              </a:rPr>
              <a:t>Estandarización: </a:t>
            </a:r>
            <a:r>
              <a:rPr lang="es-ES" sz="2400" b="1" i="0" dirty="0">
                <a:solidFill>
                  <a:srgbClr val="000000"/>
                </a:solidFill>
                <a:effectLst/>
                <a:latin typeface="OpenSans-Bold"/>
              </a:rPr>
              <a:t>ECMAScript</a:t>
            </a:r>
          </a:p>
          <a:p>
            <a:pPr marL="457200" indent="-457200">
              <a:buFont typeface="Arial" panose="020B0604020202020204" pitchFamily="34" charset="0"/>
              <a:buChar char="•"/>
            </a:pPr>
            <a:r>
              <a:rPr lang="es-ES" sz="2400" b="0" i="0" dirty="0">
                <a:solidFill>
                  <a:srgbClr val="000000"/>
                </a:solidFill>
                <a:effectLst/>
                <a:latin typeface="OpenSans"/>
              </a:rPr>
              <a:t>La versión </a:t>
            </a:r>
            <a:r>
              <a:rPr lang="es-ES" sz="2400" b="1" i="0" dirty="0">
                <a:solidFill>
                  <a:srgbClr val="000000"/>
                </a:solidFill>
                <a:effectLst/>
                <a:latin typeface="OpenSans-Bold"/>
              </a:rPr>
              <a:t>ES6 </a:t>
            </a:r>
            <a:r>
              <a:rPr lang="es-ES" sz="2400" b="0" i="0" dirty="0">
                <a:solidFill>
                  <a:srgbClr val="000000"/>
                </a:solidFill>
                <a:effectLst/>
                <a:latin typeface="OpenSans"/>
              </a:rPr>
              <a:t>o </a:t>
            </a:r>
            <a:r>
              <a:rPr lang="es-ES" sz="2400" b="1" i="0" dirty="0">
                <a:solidFill>
                  <a:srgbClr val="000000"/>
                </a:solidFill>
                <a:effectLst/>
                <a:latin typeface="OpenSans-Bold"/>
              </a:rPr>
              <a:t>ES2015</a:t>
            </a:r>
          </a:p>
          <a:p>
            <a:pPr marL="457200" indent="-457200">
              <a:buFont typeface="Arial" panose="020B0604020202020204" pitchFamily="34" charset="0"/>
              <a:buChar char="•"/>
            </a:pPr>
            <a:r>
              <a:rPr lang="es-ES" sz="2400" b="0" i="0" dirty="0" err="1">
                <a:solidFill>
                  <a:srgbClr val="000000"/>
                </a:solidFill>
                <a:effectLst/>
                <a:latin typeface="OpenSans"/>
              </a:rPr>
              <a:t>Transpiladores</a:t>
            </a:r>
            <a:r>
              <a:rPr lang="es-ES" sz="2400" b="0" i="0" dirty="0">
                <a:solidFill>
                  <a:srgbClr val="000000"/>
                </a:solidFill>
                <a:effectLst/>
                <a:latin typeface="OpenSans"/>
              </a:rPr>
              <a:t>: Babel, </a:t>
            </a:r>
            <a:r>
              <a:rPr lang="es-ES" sz="2400" b="0" i="0" dirty="0" err="1">
                <a:solidFill>
                  <a:srgbClr val="000000"/>
                </a:solidFill>
                <a:effectLst/>
                <a:latin typeface="OpenSans"/>
              </a:rPr>
              <a:t>TypeScript</a:t>
            </a:r>
            <a:r>
              <a:rPr lang="es-ES" sz="2400" dirty="0"/>
              <a:t> </a:t>
            </a:r>
            <a:br>
              <a:rPr lang="es-ES" sz="2400" dirty="0"/>
            </a:br>
            <a:endParaRPr lang="es-ES" sz="2400" dirty="0"/>
          </a:p>
        </p:txBody>
      </p:sp>
      <p:pic>
        <p:nvPicPr>
          <p:cNvPr id="6" name="Imagen 5">
            <a:extLst>
              <a:ext uri="{FF2B5EF4-FFF2-40B4-BE49-F238E27FC236}">
                <a16:creationId xmlns:a16="http://schemas.microsoft.com/office/drawing/2014/main" id="{31D0A021-8085-40A6-9443-FEE9B18C47A2}"/>
              </a:ext>
            </a:extLst>
          </p:cNvPr>
          <p:cNvPicPr>
            <a:picLocks noChangeAspect="1"/>
          </p:cNvPicPr>
          <p:nvPr/>
        </p:nvPicPr>
        <p:blipFill>
          <a:blip r:embed="rId2"/>
          <a:stretch>
            <a:fillRect/>
          </a:stretch>
        </p:blipFill>
        <p:spPr>
          <a:xfrm>
            <a:off x="7847012" y="5486400"/>
            <a:ext cx="4010025" cy="1185794"/>
          </a:xfrm>
          <a:prstGeom prst="rect">
            <a:avLst/>
          </a:prstGeom>
        </p:spPr>
      </p:pic>
    </p:spTree>
    <p:extLst>
      <p:ext uri="{BB962C8B-B14F-4D97-AF65-F5344CB8AC3E}">
        <p14:creationId xmlns:p14="http://schemas.microsoft.com/office/powerpoint/2010/main" val="13084542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2293EC4-8D1A-49FB-A84E-9B40F7B5817A}"/>
              </a:ext>
            </a:extLst>
          </p:cNvPr>
          <p:cNvSpPr>
            <a:spLocks noGrp="1"/>
          </p:cNvSpPr>
          <p:nvPr>
            <p:ph type="title"/>
          </p:nvPr>
        </p:nvSpPr>
        <p:spPr/>
        <p:txBody>
          <a:bodyPr>
            <a:normAutofit fontScale="90000"/>
          </a:bodyPr>
          <a:lstStyle/>
          <a:p>
            <a:r>
              <a:rPr lang="es-ES" dirty="0"/>
              <a:t>Organización del código JavaScript</a:t>
            </a:r>
          </a:p>
        </p:txBody>
      </p:sp>
      <p:sp>
        <p:nvSpPr>
          <p:cNvPr id="3" name="Marcador de contenido 2">
            <a:extLst>
              <a:ext uri="{FF2B5EF4-FFF2-40B4-BE49-F238E27FC236}">
                <a16:creationId xmlns:a16="http://schemas.microsoft.com/office/drawing/2014/main" id="{90BA6ECF-B812-48D3-9EF4-9836C25BA45B}"/>
              </a:ext>
            </a:extLst>
          </p:cNvPr>
          <p:cNvSpPr>
            <a:spLocks noGrp="1"/>
          </p:cNvSpPr>
          <p:nvPr>
            <p:ph idx="1"/>
          </p:nvPr>
        </p:nvSpPr>
        <p:spPr/>
        <p:txBody>
          <a:bodyPr/>
          <a:lstStyle/>
          <a:p>
            <a:r>
              <a:rPr lang="es-ES" dirty="0"/>
              <a:t>varios archivos/módulos vs un solo fichero</a:t>
            </a:r>
            <a:br>
              <a:rPr lang="es-ES" dirty="0"/>
            </a:br>
            <a:endParaRPr lang="es-ES" dirty="0"/>
          </a:p>
        </p:txBody>
      </p:sp>
      <p:pic>
        <p:nvPicPr>
          <p:cNvPr id="9" name="Imagen 8">
            <a:extLst>
              <a:ext uri="{FF2B5EF4-FFF2-40B4-BE49-F238E27FC236}">
                <a16:creationId xmlns:a16="http://schemas.microsoft.com/office/drawing/2014/main" id="{1DBC8A4D-C73F-4BBF-9D20-E08EED0F8D23}"/>
              </a:ext>
            </a:extLst>
          </p:cNvPr>
          <p:cNvPicPr>
            <a:picLocks noChangeAspect="1"/>
          </p:cNvPicPr>
          <p:nvPr/>
        </p:nvPicPr>
        <p:blipFill>
          <a:blip r:embed="rId2"/>
          <a:stretch>
            <a:fillRect/>
          </a:stretch>
        </p:blipFill>
        <p:spPr>
          <a:xfrm>
            <a:off x="2018109" y="1620428"/>
            <a:ext cx="8152606" cy="2463465"/>
          </a:xfrm>
          <a:prstGeom prst="rect">
            <a:avLst/>
          </a:prstGeom>
        </p:spPr>
      </p:pic>
      <p:pic>
        <p:nvPicPr>
          <p:cNvPr id="11" name="Imagen 10">
            <a:extLst>
              <a:ext uri="{FF2B5EF4-FFF2-40B4-BE49-F238E27FC236}">
                <a16:creationId xmlns:a16="http://schemas.microsoft.com/office/drawing/2014/main" id="{DB07A964-14ED-4AD9-8744-2A87D4F0BCAA}"/>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3413808" y="4266691"/>
            <a:ext cx="5361208" cy="2248409"/>
          </a:xfrm>
          <a:prstGeom prst="rect">
            <a:avLst/>
          </a:prstGeom>
        </p:spPr>
      </p:pic>
    </p:spTree>
    <p:extLst>
      <p:ext uri="{BB962C8B-B14F-4D97-AF65-F5344CB8AC3E}">
        <p14:creationId xmlns:p14="http://schemas.microsoft.com/office/powerpoint/2010/main" val="2269691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FEAC85E-BE9F-4851-975C-220489809AC9}"/>
              </a:ext>
            </a:extLst>
          </p:cNvPr>
          <p:cNvSpPr>
            <a:spLocks noGrp="1"/>
          </p:cNvSpPr>
          <p:nvPr>
            <p:ph type="title"/>
          </p:nvPr>
        </p:nvSpPr>
        <p:spPr/>
        <p:txBody>
          <a:bodyPr>
            <a:normAutofit fontScale="90000"/>
          </a:bodyPr>
          <a:lstStyle/>
          <a:p>
            <a:r>
              <a:rPr lang="es-ES" dirty="0" err="1"/>
              <a:t>npm</a:t>
            </a:r>
            <a:endParaRPr lang="es-ES" dirty="0"/>
          </a:p>
        </p:txBody>
      </p:sp>
      <p:sp>
        <p:nvSpPr>
          <p:cNvPr id="3" name="Marcador de contenido 2">
            <a:extLst>
              <a:ext uri="{FF2B5EF4-FFF2-40B4-BE49-F238E27FC236}">
                <a16:creationId xmlns:a16="http://schemas.microsoft.com/office/drawing/2014/main" id="{93A79578-4135-4F4E-9F8F-916C96D49C07}"/>
              </a:ext>
            </a:extLst>
          </p:cNvPr>
          <p:cNvSpPr>
            <a:spLocks noGrp="1"/>
          </p:cNvSpPr>
          <p:nvPr>
            <p:ph idx="1"/>
          </p:nvPr>
        </p:nvSpPr>
        <p:spPr/>
        <p:txBody>
          <a:bodyPr>
            <a:normAutofit/>
          </a:bodyPr>
          <a:lstStyle/>
          <a:p>
            <a:r>
              <a:rPr lang="es-ES" dirty="0"/>
              <a:t>Instalar última versión después de instalar Node.js (configurar proxy si es necesario): </a:t>
            </a:r>
          </a:p>
          <a:p>
            <a:pPr marL="0" indent="0" algn="ctr">
              <a:buNone/>
            </a:pPr>
            <a:r>
              <a:rPr lang="es-ES" b="1" dirty="0" err="1"/>
              <a:t>npm</a:t>
            </a:r>
            <a:r>
              <a:rPr lang="es-ES" b="1" dirty="0"/>
              <a:t> </a:t>
            </a:r>
            <a:r>
              <a:rPr lang="es-ES" b="1" dirty="0" err="1"/>
              <a:t>install</a:t>
            </a:r>
            <a:r>
              <a:rPr lang="es-ES" b="1" dirty="0"/>
              <a:t> -g </a:t>
            </a:r>
            <a:r>
              <a:rPr lang="es-ES" b="1" dirty="0" err="1">
                <a:solidFill>
                  <a:srgbClr val="FF0000"/>
                </a:solidFill>
              </a:rPr>
              <a:t>npm</a:t>
            </a:r>
            <a:endParaRPr lang="es-ES" b="1" dirty="0">
              <a:solidFill>
                <a:srgbClr val="FF0000"/>
              </a:solidFill>
            </a:endParaRPr>
          </a:p>
          <a:p>
            <a:pPr marL="0" indent="0" algn="ctr">
              <a:buNone/>
            </a:pPr>
            <a:endParaRPr lang="es-ES" b="1" dirty="0"/>
          </a:p>
          <a:p>
            <a:r>
              <a:rPr lang="es-ES" dirty="0"/>
              <a:t>Repositorio de módulos distribuibles</a:t>
            </a:r>
          </a:p>
          <a:p>
            <a:r>
              <a:rPr lang="es-ES" dirty="0"/>
              <a:t>Módulos </a:t>
            </a:r>
            <a:r>
              <a:rPr lang="es-ES" b="1" dirty="0"/>
              <a:t>globales</a:t>
            </a:r>
            <a:r>
              <a:rPr lang="es-ES" dirty="0"/>
              <a:t> y módulos </a:t>
            </a:r>
            <a:r>
              <a:rPr lang="es-ES" b="1" dirty="0"/>
              <a:t>locales</a:t>
            </a:r>
          </a:p>
          <a:p>
            <a:r>
              <a:rPr lang="es-ES" dirty="0"/>
              <a:t>La carpeta </a:t>
            </a:r>
            <a:r>
              <a:rPr lang="es-ES" b="1" dirty="0" err="1"/>
              <a:t>node_modules</a:t>
            </a:r>
            <a:endParaRPr lang="es-ES" b="1" dirty="0"/>
          </a:p>
          <a:p>
            <a:r>
              <a:rPr lang="es-ES" dirty="0"/>
              <a:t>El archivo </a:t>
            </a:r>
            <a:r>
              <a:rPr lang="es-ES" b="1" dirty="0" err="1"/>
              <a:t>package.json</a:t>
            </a:r>
            <a:r>
              <a:rPr lang="es-ES" dirty="0"/>
              <a:t>:</a:t>
            </a:r>
          </a:p>
          <a:p>
            <a:pPr lvl="1"/>
            <a:r>
              <a:rPr lang="es-ES" dirty="0"/>
              <a:t>Registro de dependencias</a:t>
            </a:r>
          </a:p>
          <a:p>
            <a:pPr lvl="1"/>
            <a:r>
              <a:rPr lang="es-ES" dirty="0"/>
              <a:t>Dependencias de desarrollo y de producción</a:t>
            </a:r>
          </a:p>
          <a:p>
            <a:pPr lvl="1"/>
            <a:r>
              <a:rPr lang="es-ES" dirty="0"/>
              <a:t>Versiones (SEMVER) </a:t>
            </a:r>
            <a:br>
              <a:rPr lang="es-ES" dirty="0"/>
            </a:br>
            <a:endParaRPr lang="es-ES" dirty="0"/>
          </a:p>
        </p:txBody>
      </p:sp>
    </p:spTree>
    <p:extLst>
      <p:ext uri="{BB962C8B-B14F-4D97-AF65-F5344CB8AC3E}">
        <p14:creationId xmlns:p14="http://schemas.microsoft.com/office/powerpoint/2010/main" val="16700319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70018" name="Rectangle 2"/>
          <p:cNvSpPr>
            <a:spLocks noGrp="1" noChangeArrowheads="1"/>
          </p:cNvSpPr>
          <p:nvPr>
            <p:ph type="title"/>
          </p:nvPr>
        </p:nvSpPr>
        <p:spPr/>
        <p:txBody>
          <a:bodyPr>
            <a:normAutofit fontScale="90000"/>
          </a:bodyPr>
          <a:lstStyle/>
          <a:p>
            <a:r>
              <a:rPr lang="en-US" sz="3600" dirty="0"/>
              <a:t>Introduction To </a:t>
            </a:r>
            <a:r>
              <a:rPr lang="en-US" sz="3600" dirty="0" err="1"/>
              <a:t>TypeScript</a:t>
            </a:r>
            <a:endParaRPr lang="en-US" sz="3800" dirty="0"/>
          </a:p>
        </p:txBody>
      </p:sp>
      <p:sp>
        <p:nvSpPr>
          <p:cNvPr id="470019" name="Rectangle 3"/>
          <p:cNvSpPr>
            <a:spLocks noGrp="1" noChangeArrowheads="1"/>
          </p:cNvSpPr>
          <p:nvPr>
            <p:ph idx="1"/>
          </p:nvPr>
        </p:nvSpPr>
        <p:spPr/>
        <p:txBody>
          <a:bodyPr>
            <a:normAutofit/>
          </a:bodyPr>
          <a:lstStyle/>
          <a:p>
            <a:pPr>
              <a:lnSpc>
                <a:spcPct val="100000"/>
              </a:lnSpc>
            </a:pPr>
            <a:r>
              <a:rPr lang="en-US" sz="2800" dirty="0"/>
              <a:t>Install NodeJS</a:t>
            </a:r>
          </a:p>
          <a:p>
            <a:pPr>
              <a:lnSpc>
                <a:spcPct val="100000"/>
              </a:lnSpc>
            </a:pPr>
            <a:r>
              <a:rPr lang="en-US" sz="2800" dirty="0"/>
              <a:t>Set PATH</a:t>
            </a:r>
          </a:p>
          <a:p>
            <a:pPr>
              <a:lnSpc>
                <a:spcPct val="100000"/>
              </a:lnSpc>
            </a:pPr>
            <a:r>
              <a:rPr lang="en-US" sz="2800" dirty="0"/>
              <a:t>From </a:t>
            </a:r>
            <a:r>
              <a:rPr lang="en-US" sz="2800" dirty="0" err="1"/>
              <a:t>nodejs</a:t>
            </a:r>
            <a:r>
              <a:rPr lang="en-US" sz="2800" dirty="0"/>
              <a:t> command line, install globally </a:t>
            </a:r>
            <a:r>
              <a:rPr lang="en-US" sz="2800" dirty="0">
                <a:solidFill>
                  <a:schemeClr val="accent1">
                    <a:lumMod val="60000"/>
                    <a:lumOff val="40000"/>
                  </a:schemeClr>
                </a:solidFill>
              </a:rPr>
              <a:t>TypeScript</a:t>
            </a:r>
          </a:p>
          <a:p>
            <a:pPr marL="0" indent="0">
              <a:lnSpc>
                <a:spcPct val="100000"/>
              </a:lnSpc>
              <a:buNone/>
            </a:pPr>
            <a:endParaRPr lang="en-US" sz="2800" dirty="0">
              <a:solidFill>
                <a:schemeClr val="accent1">
                  <a:lumMod val="60000"/>
                  <a:lumOff val="40000"/>
                </a:schemeClr>
              </a:solidFill>
            </a:endParaRPr>
          </a:p>
          <a:p>
            <a:pPr>
              <a:lnSpc>
                <a:spcPct val="100000"/>
              </a:lnSpc>
            </a:pPr>
            <a:r>
              <a:rPr lang="en-US" sz="2800" dirty="0"/>
              <a:t>Install Visual Studio code</a:t>
            </a:r>
          </a:p>
          <a:p>
            <a:pPr>
              <a:lnSpc>
                <a:spcPct val="100000"/>
              </a:lnSpc>
            </a:pPr>
            <a:r>
              <a:rPr lang="en-US" sz="2800" dirty="0"/>
              <a:t>Open your IDE (Visual Studio Code)</a:t>
            </a:r>
          </a:p>
          <a:p>
            <a:pPr>
              <a:lnSpc>
                <a:spcPct val="100000"/>
              </a:lnSpc>
              <a:spcBef>
                <a:spcPts val="0"/>
              </a:spcBef>
              <a:spcAft>
                <a:spcPts val="0"/>
              </a:spcAft>
            </a:pPr>
            <a:endParaRPr lang="en-US" sz="2800" dirty="0">
              <a:solidFill>
                <a:schemeClr val="accent1">
                  <a:lumMod val="60000"/>
                  <a:lumOff val="40000"/>
                </a:schemeClr>
              </a:solidFill>
            </a:endParaRPr>
          </a:p>
        </p:txBody>
      </p:sp>
      <p:sp>
        <p:nvSpPr>
          <p:cNvPr id="6" name="Rectangle 4"/>
          <p:cNvSpPr>
            <a:spLocks noChangeArrowheads="1"/>
          </p:cNvSpPr>
          <p:nvPr/>
        </p:nvSpPr>
        <p:spPr bwMode="auto">
          <a:xfrm>
            <a:off x="970703" y="2743200"/>
            <a:ext cx="9599611" cy="400110"/>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pPr>
            <a:r>
              <a:rPr lang="en-US" sz="2000" b="1" noProof="1">
                <a:latin typeface="Consolas" pitchFamily="49" charset="0"/>
                <a:cs typeface="Consolas" pitchFamily="49" charset="0"/>
              </a:rPr>
              <a:t>npm install -g typescript</a:t>
            </a:r>
          </a:p>
        </p:txBody>
      </p:sp>
      <p:sp>
        <p:nvSpPr>
          <p:cNvPr id="7" name="Rectángulo 6">
            <a:extLst>
              <a:ext uri="{FF2B5EF4-FFF2-40B4-BE49-F238E27FC236}">
                <a16:creationId xmlns:a16="http://schemas.microsoft.com/office/drawing/2014/main" id="{E1765E1D-8B31-469C-8CE1-24526A490F71}"/>
              </a:ext>
            </a:extLst>
          </p:cNvPr>
          <p:cNvSpPr/>
          <p:nvPr/>
        </p:nvSpPr>
        <p:spPr>
          <a:xfrm>
            <a:off x="10603278" y="180232"/>
            <a:ext cx="1614545" cy="830997"/>
          </a:xfrm>
          <a:prstGeom prst="rect">
            <a:avLst/>
          </a:prstGeom>
        </p:spPr>
        <p:txBody>
          <a:bodyPr wrap="none">
            <a:spAutoFit/>
          </a:bodyPr>
          <a:lstStyle/>
          <a:p>
            <a:r>
              <a:rPr lang="en-US" sz="4800" b="1" dirty="0">
                <a:solidFill>
                  <a:srgbClr val="FF0000"/>
                </a:solidFill>
              </a:rPr>
              <a:t>LAB1 </a:t>
            </a:r>
            <a:endParaRPr lang="es-ES" sz="4800" dirty="0">
              <a:solidFill>
                <a:srgbClr val="FF0000"/>
              </a:solidFill>
            </a:endParaRPr>
          </a:p>
        </p:txBody>
      </p:sp>
      <p:sp>
        <p:nvSpPr>
          <p:cNvPr id="2" name="Rectángulo 1">
            <a:extLst>
              <a:ext uri="{FF2B5EF4-FFF2-40B4-BE49-F238E27FC236}">
                <a16:creationId xmlns:a16="http://schemas.microsoft.com/office/drawing/2014/main" id="{4D792FC3-1AD3-4118-9CEC-D6D2A683AE5D}"/>
              </a:ext>
            </a:extLst>
          </p:cNvPr>
          <p:cNvSpPr/>
          <p:nvPr/>
        </p:nvSpPr>
        <p:spPr>
          <a:xfrm>
            <a:off x="10366848" y="874318"/>
            <a:ext cx="1637436" cy="369332"/>
          </a:xfrm>
          <a:prstGeom prst="rect">
            <a:avLst/>
          </a:prstGeom>
        </p:spPr>
        <p:txBody>
          <a:bodyPr wrap="none">
            <a:spAutoFit/>
          </a:bodyPr>
          <a:lstStyle/>
          <a:p>
            <a:r>
              <a:rPr lang="es-ES" dirty="0"/>
              <a:t>C:\Labs\T1\EX1</a:t>
            </a:r>
          </a:p>
        </p:txBody>
      </p:sp>
    </p:spTree>
    <p:extLst>
      <p:ext uri="{BB962C8B-B14F-4D97-AF65-F5344CB8AC3E}">
        <p14:creationId xmlns:p14="http://schemas.microsoft.com/office/powerpoint/2010/main" val="31359826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1B15AC7E-3175-4B35-B362-4FEB22A85A92}"/>
              </a:ext>
            </a:extLst>
          </p:cNvPr>
          <p:cNvSpPr>
            <a:spLocks noGrp="1"/>
          </p:cNvSpPr>
          <p:nvPr>
            <p:ph type="title"/>
          </p:nvPr>
        </p:nvSpPr>
        <p:spPr/>
        <p:txBody>
          <a:bodyPr>
            <a:normAutofit fontScale="90000"/>
          </a:bodyPr>
          <a:lstStyle/>
          <a:p>
            <a:r>
              <a:rPr lang="es-ES" dirty="0"/>
              <a:t>Comandos </a:t>
            </a:r>
            <a:r>
              <a:rPr lang="es-ES" dirty="0" err="1"/>
              <a:t>npm</a:t>
            </a:r>
            <a:endParaRPr lang="es-ES" dirty="0"/>
          </a:p>
        </p:txBody>
      </p:sp>
      <p:sp>
        <p:nvSpPr>
          <p:cNvPr id="3" name="Marcador de contenido 2">
            <a:extLst>
              <a:ext uri="{FF2B5EF4-FFF2-40B4-BE49-F238E27FC236}">
                <a16:creationId xmlns:a16="http://schemas.microsoft.com/office/drawing/2014/main" id="{6F484B32-37FC-4D20-9801-900D413DD031}"/>
              </a:ext>
            </a:extLst>
          </p:cNvPr>
          <p:cNvSpPr>
            <a:spLocks noGrp="1"/>
          </p:cNvSpPr>
          <p:nvPr>
            <p:ph idx="1"/>
          </p:nvPr>
        </p:nvSpPr>
        <p:spPr/>
        <p:txBody>
          <a:bodyPr>
            <a:normAutofit/>
          </a:bodyPr>
          <a:lstStyle/>
          <a:p>
            <a:r>
              <a:rPr lang="es-ES" dirty="0"/>
              <a:t>Instalar un paquete globalmente:</a:t>
            </a:r>
          </a:p>
          <a:p>
            <a:pPr marL="0" indent="0" algn="ctr">
              <a:buNone/>
            </a:pPr>
            <a:r>
              <a:rPr lang="es-ES" b="1" dirty="0" err="1"/>
              <a:t>npm</a:t>
            </a:r>
            <a:r>
              <a:rPr lang="es-ES" b="1" dirty="0"/>
              <a:t> </a:t>
            </a:r>
            <a:r>
              <a:rPr lang="es-ES" b="1" dirty="0" err="1"/>
              <a:t>install</a:t>
            </a:r>
            <a:r>
              <a:rPr lang="es-ES" b="1" dirty="0"/>
              <a:t> </a:t>
            </a:r>
            <a:r>
              <a:rPr lang="es-ES" b="1" dirty="0">
                <a:solidFill>
                  <a:srgbClr val="FF0000"/>
                </a:solidFill>
              </a:rPr>
              <a:t>-g</a:t>
            </a:r>
            <a:r>
              <a:rPr lang="es-ES" b="1" dirty="0"/>
              <a:t> paquete</a:t>
            </a:r>
          </a:p>
          <a:p>
            <a:pPr marL="0" indent="0" algn="ctr">
              <a:buNone/>
            </a:pPr>
            <a:endParaRPr lang="es-ES" b="1" dirty="0"/>
          </a:p>
          <a:p>
            <a:r>
              <a:rPr lang="es-ES" dirty="0"/>
              <a:t>Instalar un paquete de producción:</a:t>
            </a:r>
          </a:p>
          <a:p>
            <a:pPr marL="0" indent="0" algn="ctr">
              <a:buNone/>
            </a:pPr>
            <a:r>
              <a:rPr lang="es-ES" b="1" dirty="0" err="1"/>
              <a:t>npm</a:t>
            </a:r>
            <a:r>
              <a:rPr lang="es-ES" b="1" dirty="0"/>
              <a:t> </a:t>
            </a:r>
            <a:r>
              <a:rPr lang="es-ES" b="1" dirty="0" err="1"/>
              <a:t>install</a:t>
            </a:r>
            <a:r>
              <a:rPr lang="es-ES" b="1" dirty="0"/>
              <a:t> paquete</a:t>
            </a:r>
          </a:p>
          <a:p>
            <a:pPr marL="0" indent="0" algn="ctr">
              <a:buNone/>
            </a:pPr>
            <a:endParaRPr lang="es-ES" b="1" dirty="0"/>
          </a:p>
          <a:p>
            <a:r>
              <a:rPr lang="es-ES" dirty="0"/>
              <a:t>Instalar un paquete de desarrollo:</a:t>
            </a:r>
          </a:p>
          <a:p>
            <a:pPr marL="0" indent="0" algn="ctr">
              <a:buNone/>
            </a:pPr>
            <a:r>
              <a:rPr lang="es-ES" b="1" dirty="0" err="1"/>
              <a:t>npm</a:t>
            </a:r>
            <a:r>
              <a:rPr lang="es-ES" b="1" dirty="0"/>
              <a:t> </a:t>
            </a:r>
            <a:r>
              <a:rPr lang="es-ES" b="1" dirty="0" err="1"/>
              <a:t>install</a:t>
            </a:r>
            <a:r>
              <a:rPr lang="es-ES" b="1" dirty="0"/>
              <a:t> paquete</a:t>
            </a:r>
            <a:r>
              <a:rPr lang="es-ES" b="1" dirty="0">
                <a:solidFill>
                  <a:srgbClr val="FF0000"/>
                </a:solidFill>
              </a:rPr>
              <a:t> --</a:t>
            </a:r>
            <a:r>
              <a:rPr lang="es-ES" b="1" dirty="0" err="1">
                <a:solidFill>
                  <a:srgbClr val="FF0000"/>
                </a:solidFill>
              </a:rPr>
              <a:t>save-dev</a:t>
            </a:r>
            <a:endParaRPr lang="es-ES" b="1" dirty="0">
              <a:solidFill>
                <a:srgbClr val="FF0000"/>
              </a:solidFill>
            </a:endParaRPr>
          </a:p>
        </p:txBody>
      </p:sp>
      <p:sp>
        <p:nvSpPr>
          <p:cNvPr id="2" name="Marcador de número de diapositiva 1">
            <a:extLst>
              <a:ext uri="{FF2B5EF4-FFF2-40B4-BE49-F238E27FC236}">
                <a16:creationId xmlns:a16="http://schemas.microsoft.com/office/drawing/2014/main" id="{8422358A-2BF8-442C-B298-7D8DEA844D5A}"/>
              </a:ext>
            </a:extLst>
          </p:cNvPr>
          <p:cNvSpPr>
            <a:spLocks noGrp="1"/>
          </p:cNvSpPr>
          <p:nvPr>
            <p:ph type="sldNum" sz="quarter" idx="4294967295"/>
          </p:nvPr>
        </p:nvSpPr>
        <p:spPr>
          <a:xfrm>
            <a:off x="11760200" y="6524625"/>
            <a:ext cx="428625" cy="196850"/>
          </a:xfrm>
          <a:prstGeom prst="rect">
            <a:avLst/>
          </a:prstGeom>
        </p:spPr>
        <p:txBody>
          <a:bodyPr/>
          <a:lstStyle/>
          <a:p>
            <a:fld id="{C014DD1E-5D91-48A3-AD6D-45FBA980D106}" type="slidenum">
              <a:rPr lang="en-US" smtClean="0"/>
              <a:pPr/>
              <a:t>31</a:t>
            </a:fld>
            <a:endParaRPr lang="en-US" dirty="0"/>
          </a:p>
        </p:txBody>
      </p:sp>
    </p:spTree>
    <p:extLst>
      <p:ext uri="{BB962C8B-B14F-4D97-AF65-F5344CB8AC3E}">
        <p14:creationId xmlns:p14="http://schemas.microsoft.com/office/powerpoint/2010/main" val="23893020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1B15AC7E-3175-4B35-B362-4FEB22A85A92}"/>
              </a:ext>
            </a:extLst>
          </p:cNvPr>
          <p:cNvSpPr>
            <a:spLocks noGrp="1"/>
          </p:cNvSpPr>
          <p:nvPr>
            <p:ph type="title"/>
          </p:nvPr>
        </p:nvSpPr>
        <p:spPr/>
        <p:txBody>
          <a:bodyPr>
            <a:normAutofit fontScale="90000"/>
          </a:bodyPr>
          <a:lstStyle/>
          <a:p>
            <a:r>
              <a:rPr lang="es-ES" dirty="0"/>
              <a:t>Comandos </a:t>
            </a:r>
            <a:r>
              <a:rPr lang="es-ES" dirty="0" err="1"/>
              <a:t>npm</a:t>
            </a:r>
            <a:endParaRPr lang="es-ES" dirty="0"/>
          </a:p>
        </p:txBody>
      </p:sp>
      <p:sp>
        <p:nvSpPr>
          <p:cNvPr id="3" name="Marcador de contenido 2">
            <a:extLst>
              <a:ext uri="{FF2B5EF4-FFF2-40B4-BE49-F238E27FC236}">
                <a16:creationId xmlns:a16="http://schemas.microsoft.com/office/drawing/2014/main" id="{6F484B32-37FC-4D20-9801-900D413DD031}"/>
              </a:ext>
            </a:extLst>
          </p:cNvPr>
          <p:cNvSpPr>
            <a:spLocks noGrp="1"/>
          </p:cNvSpPr>
          <p:nvPr>
            <p:ph idx="1"/>
          </p:nvPr>
        </p:nvSpPr>
        <p:spPr/>
        <p:txBody>
          <a:bodyPr>
            <a:normAutofit/>
          </a:bodyPr>
          <a:lstStyle/>
          <a:p>
            <a:r>
              <a:rPr lang="es-ES" dirty="0"/>
              <a:t>Instalar todas las dependencias:</a:t>
            </a:r>
          </a:p>
          <a:p>
            <a:pPr marL="0" indent="0" algn="ctr">
              <a:buNone/>
            </a:pPr>
            <a:r>
              <a:rPr lang="es-ES" b="1" dirty="0" err="1"/>
              <a:t>npm</a:t>
            </a:r>
            <a:r>
              <a:rPr lang="es-ES" b="1" dirty="0"/>
              <a:t> </a:t>
            </a:r>
            <a:r>
              <a:rPr lang="es-ES" b="1" dirty="0" err="1"/>
              <a:t>install</a:t>
            </a:r>
            <a:endParaRPr lang="es-ES" b="1" dirty="0"/>
          </a:p>
          <a:p>
            <a:pPr marL="0" indent="0" algn="ctr">
              <a:buNone/>
            </a:pPr>
            <a:endParaRPr lang="es-ES" b="1" dirty="0"/>
          </a:p>
          <a:p>
            <a:r>
              <a:rPr lang="es-ES" dirty="0"/>
              <a:t>Instalar las dependencias de producción:</a:t>
            </a:r>
          </a:p>
          <a:p>
            <a:pPr marL="0" indent="0" algn="ctr">
              <a:buNone/>
            </a:pPr>
            <a:r>
              <a:rPr lang="es-ES" b="1" dirty="0" err="1"/>
              <a:t>npm</a:t>
            </a:r>
            <a:r>
              <a:rPr lang="es-ES" b="1" dirty="0"/>
              <a:t> </a:t>
            </a:r>
            <a:r>
              <a:rPr lang="es-ES" b="1" dirty="0" err="1"/>
              <a:t>install</a:t>
            </a:r>
            <a:r>
              <a:rPr lang="es-ES" b="1" dirty="0"/>
              <a:t> –</a:t>
            </a:r>
            <a:r>
              <a:rPr lang="es-ES" b="1" dirty="0" err="1"/>
              <a:t>production</a:t>
            </a:r>
            <a:r>
              <a:rPr lang="es-ES" b="1" dirty="0"/>
              <a:t> =&gt; </a:t>
            </a:r>
            <a:r>
              <a:rPr lang="es-ES" b="1" dirty="0" err="1">
                <a:solidFill>
                  <a:srgbClr val="00B050"/>
                </a:solidFill>
              </a:rPr>
              <a:t>npm</a:t>
            </a:r>
            <a:r>
              <a:rPr lang="es-ES" b="1" dirty="0">
                <a:solidFill>
                  <a:srgbClr val="00B050"/>
                </a:solidFill>
              </a:rPr>
              <a:t> </a:t>
            </a:r>
            <a:r>
              <a:rPr lang="es-ES" b="1" dirty="0" err="1">
                <a:solidFill>
                  <a:srgbClr val="00B050"/>
                </a:solidFill>
              </a:rPr>
              <a:t>install</a:t>
            </a:r>
            <a:r>
              <a:rPr lang="es-ES" b="1" dirty="0">
                <a:solidFill>
                  <a:srgbClr val="00B050"/>
                </a:solidFill>
              </a:rPr>
              <a:t> --</a:t>
            </a:r>
            <a:r>
              <a:rPr lang="es-ES" b="1" dirty="0" err="1">
                <a:solidFill>
                  <a:srgbClr val="00B050"/>
                </a:solidFill>
              </a:rPr>
              <a:t>omit</a:t>
            </a:r>
            <a:r>
              <a:rPr lang="es-ES" b="1" dirty="0">
                <a:solidFill>
                  <a:srgbClr val="00B050"/>
                </a:solidFill>
              </a:rPr>
              <a:t>=</a:t>
            </a:r>
            <a:r>
              <a:rPr lang="es-ES" b="1" dirty="0" err="1">
                <a:solidFill>
                  <a:srgbClr val="00B050"/>
                </a:solidFill>
              </a:rPr>
              <a:t>dev</a:t>
            </a:r>
            <a:endParaRPr lang="es-ES" b="1" dirty="0">
              <a:solidFill>
                <a:srgbClr val="00B050"/>
              </a:solidFill>
            </a:endParaRPr>
          </a:p>
          <a:p>
            <a:pPr marL="0" indent="0" algn="ctr">
              <a:buNone/>
            </a:pPr>
            <a:endParaRPr lang="es-ES" b="1" dirty="0"/>
          </a:p>
          <a:p>
            <a:r>
              <a:rPr lang="es-ES" dirty="0"/>
              <a:t>Listar paquetes instalados:</a:t>
            </a:r>
          </a:p>
          <a:p>
            <a:pPr marL="0" indent="0" algn="ctr">
              <a:buNone/>
            </a:pPr>
            <a:r>
              <a:rPr lang="es-ES" b="1" dirty="0" err="1"/>
              <a:t>npm</a:t>
            </a:r>
            <a:r>
              <a:rPr lang="es-ES" b="1" dirty="0"/>
              <a:t> </a:t>
            </a:r>
            <a:r>
              <a:rPr lang="es-ES" b="1" dirty="0" err="1"/>
              <a:t>list</a:t>
            </a:r>
            <a:r>
              <a:rPr lang="es-ES" b="1" dirty="0"/>
              <a:t> --</a:t>
            </a:r>
            <a:r>
              <a:rPr lang="es-ES" b="1" dirty="0" err="1"/>
              <a:t>depth</a:t>
            </a:r>
            <a:r>
              <a:rPr lang="es-ES" b="1" dirty="0"/>
              <a:t>=0 (locales)</a:t>
            </a:r>
          </a:p>
          <a:p>
            <a:pPr marL="0" indent="0" algn="ctr">
              <a:buNone/>
            </a:pPr>
            <a:r>
              <a:rPr lang="es-ES" b="1" dirty="0" err="1"/>
              <a:t>npm</a:t>
            </a:r>
            <a:r>
              <a:rPr lang="es-ES" b="1" dirty="0"/>
              <a:t> </a:t>
            </a:r>
            <a:r>
              <a:rPr lang="es-ES" b="1" dirty="0" err="1"/>
              <a:t>list</a:t>
            </a:r>
            <a:r>
              <a:rPr lang="es-ES" b="1" dirty="0"/>
              <a:t> -g --</a:t>
            </a:r>
            <a:r>
              <a:rPr lang="es-ES" b="1" dirty="0" err="1"/>
              <a:t>depth</a:t>
            </a:r>
            <a:r>
              <a:rPr lang="es-ES" b="1" dirty="0"/>
              <a:t>=0 (globales)</a:t>
            </a:r>
          </a:p>
        </p:txBody>
      </p:sp>
      <p:sp>
        <p:nvSpPr>
          <p:cNvPr id="2" name="Marcador de número de diapositiva 1">
            <a:extLst>
              <a:ext uri="{FF2B5EF4-FFF2-40B4-BE49-F238E27FC236}">
                <a16:creationId xmlns:a16="http://schemas.microsoft.com/office/drawing/2014/main" id="{8422358A-2BF8-442C-B298-7D8DEA844D5A}"/>
              </a:ext>
            </a:extLst>
          </p:cNvPr>
          <p:cNvSpPr>
            <a:spLocks noGrp="1"/>
          </p:cNvSpPr>
          <p:nvPr>
            <p:ph type="sldNum" sz="quarter" idx="4294967295"/>
          </p:nvPr>
        </p:nvSpPr>
        <p:spPr>
          <a:xfrm>
            <a:off x="11760200" y="6524625"/>
            <a:ext cx="428625" cy="196850"/>
          </a:xfrm>
          <a:prstGeom prst="rect">
            <a:avLst/>
          </a:prstGeom>
        </p:spPr>
        <p:txBody>
          <a:bodyPr/>
          <a:lstStyle/>
          <a:p>
            <a:fld id="{C014DD1E-5D91-48A3-AD6D-45FBA980D106}" type="slidenum">
              <a:rPr lang="en-US" smtClean="0"/>
              <a:pPr/>
              <a:t>32</a:t>
            </a:fld>
            <a:endParaRPr lang="en-US" dirty="0"/>
          </a:p>
        </p:txBody>
      </p:sp>
    </p:spTree>
    <p:extLst>
      <p:ext uri="{BB962C8B-B14F-4D97-AF65-F5344CB8AC3E}">
        <p14:creationId xmlns:p14="http://schemas.microsoft.com/office/powerpoint/2010/main" val="12270383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79035BC3-8AD5-422F-8A5B-2BB69848D772}"/>
              </a:ext>
            </a:extLst>
          </p:cNvPr>
          <p:cNvSpPr>
            <a:spLocks noGrp="1"/>
          </p:cNvSpPr>
          <p:nvPr>
            <p:ph type="title"/>
          </p:nvPr>
        </p:nvSpPr>
        <p:spPr/>
        <p:txBody>
          <a:bodyPr>
            <a:normAutofit fontScale="90000"/>
          </a:bodyPr>
          <a:lstStyle/>
          <a:p>
            <a:r>
              <a:rPr lang="en-US" dirty="0" err="1"/>
              <a:t>Configuración</a:t>
            </a:r>
            <a:r>
              <a:rPr lang="en-US" dirty="0"/>
              <a:t> proxy</a:t>
            </a:r>
            <a:endParaRPr lang="es-ES" dirty="0"/>
          </a:p>
        </p:txBody>
      </p:sp>
      <p:sp>
        <p:nvSpPr>
          <p:cNvPr id="3" name="Marcador de contenido 2">
            <a:extLst>
              <a:ext uri="{FF2B5EF4-FFF2-40B4-BE49-F238E27FC236}">
                <a16:creationId xmlns:a16="http://schemas.microsoft.com/office/drawing/2014/main" id="{47854196-35FE-4012-A556-422F0FDD2DB2}"/>
              </a:ext>
            </a:extLst>
          </p:cNvPr>
          <p:cNvSpPr>
            <a:spLocks noGrp="1"/>
          </p:cNvSpPr>
          <p:nvPr>
            <p:ph idx="1"/>
          </p:nvPr>
        </p:nvSpPr>
        <p:spPr/>
        <p:txBody>
          <a:bodyPr>
            <a:normAutofit/>
          </a:bodyPr>
          <a:lstStyle/>
          <a:p>
            <a:pPr marL="0" indent="0">
              <a:buNone/>
            </a:pPr>
            <a:endParaRPr lang="en-US" sz="3200" dirty="0"/>
          </a:p>
          <a:p>
            <a:pPr marL="0" indent="0">
              <a:buNone/>
            </a:pPr>
            <a:r>
              <a:rPr lang="en-US" sz="3200" dirty="0"/>
              <a:t>HTTP:</a:t>
            </a:r>
          </a:p>
          <a:p>
            <a:pPr marL="457063" lvl="1" indent="0">
              <a:buNone/>
            </a:pPr>
            <a:r>
              <a:rPr lang="en-US" sz="3000" dirty="0" err="1"/>
              <a:t>npm</a:t>
            </a:r>
            <a:r>
              <a:rPr lang="en-US" sz="3000" dirty="0"/>
              <a:t> config </a:t>
            </a:r>
            <a:r>
              <a:rPr lang="en-US" sz="3000" dirty="0">
                <a:solidFill>
                  <a:srgbClr val="00B050"/>
                </a:solidFill>
              </a:rPr>
              <a:t>set proxy </a:t>
            </a:r>
            <a:r>
              <a:rPr lang="en-US" sz="3000" dirty="0">
                <a:hlinkClick r:id="rId2"/>
              </a:rPr>
              <a:t>http://username:password@host:port</a:t>
            </a:r>
            <a:endParaRPr lang="en-US" sz="3000" dirty="0"/>
          </a:p>
          <a:p>
            <a:pPr marL="0" indent="0">
              <a:buNone/>
            </a:pPr>
            <a:endParaRPr lang="en-US" sz="3200" dirty="0"/>
          </a:p>
          <a:p>
            <a:pPr marL="0" indent="0">
              <a:buNone/>
            </a:pPr>
            <a:endParaRPr lang="en-US" sz="3200" dirty="0"/>
          </a:p>
          <a:p>
            <a:pPr marL="0" indent="0">
              <a:buNone/>
            </a:pPr>
            <a:r>
              <a:rPr lang="en-US" sz="3200" dirty="0"/>
              <a:t>HTTPS:</a:t>
            </a:r>
          </a:p>
          <a:p>
            <a:pPr marL="457063" lvl="1" indent="0">
              <a:buNone/>
            </a:pPr>
            <a:r>
              <a:rPr lang="en-US" sz="3000" dirty="0" err="1"/>
              <a:t>npm</a:t>
            </a:r>
            <a:r>
              <a:rPr lang="en-US" sz="3000" dirty="0"/>
              <a:t> config </a:t>
            </a:r>
            <a:r>
              <a:rPr lang="en-US" sz="3000" dirty="0">
                <a:solidFill>
                  <a:srgbClr val="00B050"/>
                </a:solidFill>
              </a:rPr>
              <a:t>set https-proxy </a:t>
            </a:r>
            <a:r>
              <a:rPr lang="en-US" sz="3000" dirty="0">
                <a:hlinkClick r:id="rId2"/>
              </a:rPr>
              <a:t>http://username:password@host:port</a:t>
            </a:r>
            <a:endParaRPr lang="en-US" sz="3000" dirty="0"/>
          </a:p>
          <a:p>
            <a:pPr marL="0" indent="0">
              <a:buNone/>
            </a:pPr>
            <a:endParaRPr lang="es-ES" sz="3200" dirty="0"/>
          </a:p>
        </p:txBody>
      </p:sp>
      <p:sp>
        <p:nvSpPr>
          <p:cNvPr id="2" name="Marcador de número de diapositiva 1">
            <a:extLst>
              <a:ext uri="{FF2B5EF4-FFF2-40B4-BE49-F238E27FC236}">
                <a16:creationId xmlns:a16="http://schemas.microsoft.com/office/drawing/2014/main" id="{9D1E5249-76CA-4756-B4F1-A121918B7329}"/>
              </a:ext>
            </a:extLst>
          </p:cNvPr>
          <p:cNvSpPr>
            <a:spLocks noGrp="1"/>
          </p:cNvSpPr>
          <p:nvPr>
            <p:ph type="sldNum" sz="quarter" idx="4294967295"/>
          </p:nvPr>
        </p:nvSpPr>
        <p:spPr>
          <a:xfrm>
            <a:off x="11760200" y="6524625"/>
            <a:ext cx="428625" cy="196850"/>
          </a:xfrm>
          <a:prstGeom prst="rect">
            <a:avLst/>
          </a:prstGeom>
        </p:spPr>
        <p:txBody>
          <a:bodyPr/>
          <a:lstStyle/>
          <a:p>
            <a:fld id="{C014DD1E-5D91-48A3-AD6D-45FBA980D106}" type="slidenum">
              <a:rPr lang="en-US" smtClean="0"/>
              <a:pPr/>
              <a:t>33</a:t>
            </a:fld>
            <a:endParaRPr lang="en-US" dirty="0"/>
          </a:p>
        </p:txBody>
      </p:sp>
    </p:spTree>
    <p:extLst>
      <p:ext uri="{BB962C8B-B14F-4D97-AF65-F5344CB8AC3E}">
        <p14:creationId xmlns:p14="http://schemas.microsoft.com/office/powerpoint/2010/main" val="22738152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70018" name="Rectangle 2"/>
          <p:cNvSpPr>
            <a:spLocks noGrp="1" noChangeArrowheads="1"/>
          </p:cNvSpPr>
          <p:nvPr>
            <p:ph type="title"/>
          </p:nvPr>
        </p:nvSpPr>
        <p:spPr/>
        <p:txBody>
          <a:bodyPr>
            <a:normAutofit fontScale="90000"/>
          </a:bodyPr>
          <a:lstStyle/>
          <a:p>
            <a:pPr>
              <a:lnSpc>
                <a:spcPct val="100000"/>
              </a:lnSpc>
            </a:pPr>
            <a:r>
              <a:rPr lang="en-US" sz="3600" dirty="0"/>
              <a:t>Lets start with simple JavaScript</a:t>
            </a:r>
            <a:endParaRPr lang="en-US" sz="3600" dirty="0">
              <a:solidFill>
                <a:schemeClr val="accent1">
                  <a:lumMod val="60000"/>
                  <a:lumOff val="40000"/>
                </a:schemeClr>
              </a:solidFill>
            </a:endParaRPr>
          </a:p>
        </p:txBody>
      </p:sp>
      <p:sp>
        <p:nvSpPr>
          <p:cNvPr id="5" name="Slide Number Placeholder 3"/>
          <p:cNvSpPr>
            <a:spLocks noGrp="1"/>
          </p:cNvSpPr>
          <p:nvPr>
            <p:ph type="sldNum" sz="quarter" idx="4294967295"/>
          </p:nvPr>
        </p:nvSpPr>
        <p:spPr>
          <a:xfrm>
            <a:off x="11760200" y="6524625"/>
            <a:ext cx="428625" cy="196850"/>
          </a:xfrm>
          <a:prstGeom prst="rect">
            <a:avLst/>
          </a:prstGeom>
        </p:spPr>
        <p:txBody>
          <a:bodyPr/>
          <a:lstStyle/>
          <a:p>
            <a:pPr>
              <a:defRPr/>
            </a:pPr>
            <a:fld id="{58452FF4-89E3-4D1B-9927-2DBDC00E58D7}" type="slidenum">
              <a:rPr lang="en-US" smtClean="0"/>
              <a:pPr>
                <a:defRPr/>
              </a:pPr>
              <a:t>34</a:t>
            </a:fld>
            <a:endParaRPr lang="en-US" dirty="0"/>
          </a:p>
        </p:txBody>
      </p:sp>
      <p:sp>
        <p:nvSpPr>
          <p:cNvPr id="6" name="Rectangle 4"/>
          <p:cNvSpPr>
            <a:spLocks noChangeArrowheads="1"/>
          </p:cNvSpPr>
          <p:nvPr/>
        </p:nvSpPr>
        <p:spPr bwMode="auto">
          <a:xfrm>
            <a:off x="533401" y="2133600"/>
            <a:ext cx="9599611" cy="2554545"/>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pPr>
            <a:r>
              <a:rPr lang="en-US" sz="2000" b="1" noProof="1">
                <a:latin typeface="Consolas" pitchFamily="49" charset="0"/>
                <a:cs typeface="Consolas" pitchFamily="49" charset="0"/>
              </a:rPr>
              <a:t>class Startup {</a:t>
            </a:r>
          </a:p>
          <a:p>
            <a:pPr eaLnBrk="0" hangingPunct="0">
              <a:buClr>
                <a:schemeClr val="accent5">
                  <a:lumMod val="40000"/>
                  <a:lumOff val="60000"/>
                </a:schemeClr>
              </a:buClr>
              <a:buSzPct val="70000"/>
            </a:pPr>
            <a:r>
              <a:rPr lang="en-US" sz="2000" b="1" noProof="1">
                <a:latin typeface="Consolas" pitchFamily="49" charset="0"/>
                <a:cs typeface="Consolas" pitchFamily="49" charset="0"/>
              </a:rPr>
              <a:t>    public static main(): number {</a:t>
            </a:r>
          </a:p>
          <a:p>
            <a:pPr eaLnBrk="0" hangingPunct="0">
              <a:buClr>
                <a:schemeClr val="accent5">
                  <a:lumMod val="40000"/>
                  <a:lumOff val="60000"/>
                </a:schemeClr>
              </a:buClr>
              <a:buSzPct val="70000"/>
            </a:pPr>
            <a:r>
              <a:rPr lang="en-US" sz="2000" b="1" noProof="1">
                <a:latin typeface="Consolas" pitchFamily="49" charset="0"/>
                <a:cs typeface="Consolas" pitchFamily="49" charset="0"/>
              </a:rPr>
              <a:t>        console.log('Hello World');</a:t>
            </a:r>
          </a:p>
          <a:p>
            <a:pPr eaLnBrk="0" hangingPunct="0">
              <a:buClr>
                <a:schemeClr val="accent5">
                  <a:lumMod val="40000"/>
                  <a:lumOff val="60000"/>
                </a:schemeClr>
              </a:buClr>
              <a:buSzPct val="70000"/>
            </a:pPr>
            <a:r>
              <a:rPr lang="en-US" sz="2000" b="1" noProof="1">
                <a:latin typeface="Consolas" pitchFamily="49" charset="0"/>
                <a:cs typeface="Consolas" pitchFamily="49" charset="0"/>
              </a:rPr>
              <a:t>        return 0;</a:t>
            </a:r>
          </a:p>
          <a:p>
            <a:pPr eaLnBrk="0" hangingPunct="0">
              <a:buClr>
                <a:schemeClr val="accent5">
                  <a:lumMod val="40000"/>
                  <a:lumOff val="60000"/>
                </a:schemeClr>
              </a:buClr>
              <a:buSzPct val="70000"/>
            </a:pPr>
            <a:r>
              <a:rPr lang="en-US" sz="2000" b="1" noProof="1">
                <a:latin typeface="Consolas" pitchFamily="49" charset="0"/>
                <a:cs typeface="Consolas" pitchFamily="49" charset="0"/>
              </a:rPr>
              <a:t>    }</a:t>
            </a:r>
          </a:p>
          <a:p>
            <a:pPr eaLnBrk="0" hangingPunct="0">
              <a:buClr>
                <a:schemeClr val="accent5">
                  <a:lumMod val="40000"/>
                  <a:lumOff val="60000"/>
                </a:schemeClr>
              </a:buClr>
              <a:buSzPct val="70000"/>
            </a:pPr>
            <a:r>
              <a:rPr lang="en-US" sz="2000" b="1" noProof="1">
                <a:latin typeface="Consolas" pitchFamily="49" charset="0"/>
                <a:cs typeface="Consolas" pitchFamily="49" charset="0"/>
              </a:rPr>
              <a:t>}</a:t>
            </a:r>
          </a:p>
          <a:p>
            <a:pPr eaLnBrk="0" hangingPunct="0">
              <a:buClr>
                <a:schemeClr val="accent5">
                  <a:lumMod val="40000"/>
                  <a:lumOff val="60000"/>
                </a:schemeClr>
              </a:buClr>
              <a:buSzPct val="70000"/>
            </a:pPr>
            <a:endParaRPr lang="en-US" sz="2000" b="1" noProof="1">
              <a:latin typeface="Consolas" pitchFamily="49" charset="0"/>
              <a:cs typeface="Consolas" pitchFamily="49" charset="0"/>
            </a:endParaRPr>
          </a:p>
          <a:p>
            <a:pPr eaLnBrk="0" hangingPunct="0">
              <a:buClr>
                <a:schemeClr val="accent5">
                  <a:lumMod val="40000"/>
                  <a:lumOff val="60000"/>
                </a:schemeClr>
              </a:buClr>
              <a:buSzPct val="70000"/>
            </a:pPr>
            <a:r>
              <a:rPr lang="en-US" sz="2000" b="1" noProof="1">
                <a:latin typeface="Consolas" pitchFamily="49" charset="0"/>
                <a:cs typeface="Consolas" pitchFamily="49" charset="0"/>
              </a:rPr>
              <a:t>Startup.main();</a:t>
            </a:r>
          </a:p>
        </p:txBody>
      </p:sp>
      <p:sp>
        <p:nvSpPr>
          <p:cNvPr id="7" name="Rectángulo 6">
            <a:extLst>
              <a:ext uri="{FF2B5EF4-FFF2-40B4-BE49-F238E27FC236}">
                <a16:creationId xmlns:a16="http://schemas.microsoft.com/office/drawing/2014/main" id="{DFFED22C-C341-4F60-88AA-674D22ECC70D}"/>
              </a:ext>
            </a:extLst>
          </p:cNvPr>
          <p:cNvSpPr/>
          <p:nvPr/>
        </p:nvSpPr>
        <p:spPr>
          <a:xfrm>
            <a:off x="10366848" y="874318"/>
            <a:ext cx="1637436" cy="369332"/>
          </a:xfrm>
          <a:prstGeom prst="rect">
            <a:avLst/>
          </a:prstGeom>
        </p:spPr>
        <p:txBody>
          <a:bodyPr wrap="none">
            <a:spAutoFit/>
          </a:bodyPr>
          <a:lstStyle/>
          <a:p>
            <a:r>
              <a:rPr lang="es-ES" dirty="0"/>
              <a:t>C:\Labs\T1\EX1</a:t>
            </a:r>
          </a:p>
        </p:txBody>
      </p:sp>
      <p:sp>
        <p:nvSpPr>
          <p:cNvPr id="8" name="Rectángulo 7">
            <a:extLst>
              <a:ext uri="{FF2B5EF4-FFF2-40B4-BE49-F238E27FC236}">
                <a16:creationId xmlns:a16="http://schemas.microsoft.com/office/drawing/2014/main" id="{CA4FE048-3810-404B-A8E4-97CB39040224}"/>
              </a:ext>
            </a:extLst>
          </p:cNvPr>
          <p:cNvSpPr/>
          <p:nvPr/>
        </p:nvSpPr>
        <p:spPr>
          <a:xfrm>
            <a:off x="10603278" y="180232"/>
            <a:ext cx="1614545" cy="830997"/>
          </a:xfrm>
          <a:prstGeom prst="rect">
            <a:avLst/>
          </a:prstGeom>
        </p:spPr>
        <p:txBody>
          <a:bodyPr wrap="none">
            <a:spAutoFit/>
          </a:bodyPr>
          <a:lstStyle/>
          <a:p>
            <a:r>
              <a:rPr lang="en-US" sz="4800" b="1" dirty="0">
                <a:solidFill>
                  <a:srgbClr val="FF0000"/>
                </a:solidFill>
              </a:rPr>
              <a:t>LAB1 </a:t>
            </a:r>
            <a:endParaRPr lang="es-ES" sz="4800" dirty="0">
              <a:solidFill>
                <a:srgbClr val="FF0000"/>
              </a:solidFill>
            </a:endParaRPr>
          </a:p>
        </p:txBody>
      </p:sp>
      <p:sp>
        <p:nvSpPr>
          <p:cNvPr id="10" name="Rectangle 4">
            <a:extLst>
              <a:ext uri="{FF2B5EF4-FFF2-40B4-BE49-F238E27FC236}">
                <a16:creationId xmlns:a16="http://schemas.microsoft.com/office/drawing/2014/main" id="{C2A48310-710F-4C64-99AC-068E696C52EB}"/>
              </a:ext>
            </a:extLst>
          </p:cNvPr>
          <p:cNvSpPr>
            <a:spLocks noChangeArrowheads="1"/>
          </p:cNvSpPr>
          <p:nvPr/>
        </p:nvSpPr>
        <p:spPr bwMode="auto">
          <a:xfrm>
            <a:off x="533401" y="5543490"/>
            <a:ext cx="9599611" cy="400110"/>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pPr>
            <a:r>
              <a:rPr lang="en-US" sz="2000" b="1" noProof="1">
                <a:latin typeface="Consolas" pitchFamily="49" charset="0"/>
                <a:cs typeface="Consolas" pitchFamily="49" charset="0"/>
              </a:rPr>
              <a:t>tsc hellojs.ts</a:t>
            </a:r>
          </a:p>
        </p:txBody>
      </p:sp>
    </p:spTree>
    <p:extLst>
      <p:ext uri="{BB962C8B-B14F-4D97-AF65-F5344CB8AC3E}">
        <p14:creationId xmlns:p14="http://schemas.microsoft.com/office/powerpoint/2010/main" val="5850486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3DB05316-A8FB-4800-9E43-7CFE5D400916}"/>
              </a:ext>
            </a:extLst>
          </p:cNvPr>
          <p:cNvSpPr>
            <a:spLocks noGrp="1"/>
          </p:cNvSpPr>
          <p:nvPr>
            <p:ph type="title"/>
          </p:nvPr>
        </p:nvSpPr>
        <p:spPr>
          <a:xfrm>
            <a:off x="608012" y="457200"/>
            <a:ext cx="11201400" cy="845299"/>
          </a:xfrm>
        </p:spPr>
        <p:txBody>
          <a:bodyPr/>
          <a:lstStyle/>
          <a:p>
            <a:r>
              <a:rPr lang="es-ES" dirty="0" err="1"/>
              <a:t>Please</a:t>
            </a:r>
            <a:r>
              <a:rPr lang="es-ES" dirty="0"/>
              <a:t>… </a:t>
            </a:r>
            <a:r>
              <a:rPr lang="es-ES" dirty="0" err="1"/>
              <a:t>help</a:t>
            </a:r>
            <a:endParaRPr lang="es-ES" dirty="0"/>
          </a:p>
        </p:txBody>
      </p:sp>
      <p:sp>
        <p:nvSpPr>
          <p:cNvPr id="3" name="Marcador de contenido 2">
            <a:extLst>
              <a:ext uri="{FF2B5EF4-FFF2-40B4-BE49-F238E27FC236}">
                <a16:creationId xmlns:a16="http://schemas.microsoft.com/office/drawing/2014/main" id="{D4E9551E-925C-468A-82B1-98BDB22CB1E0}"/>
              </a:ext>
            </a:extLst>
          </p:cNvPr>
          <p:cNvSpPr>
            <a:spLocks noGrp="1"/>
          </p:cNvSpPr>
          <p:nvPr>
            <p:ph idx="4294967295"/>
          </p:nvPr>
        </p:nvSpPr>
        <p:spPr>
          <a:xfrm>
            <a:off x="608012" y="1434164"/>
            <a:ext cx="11201400" cy="5080936"/>
          </a:xfrm>
        </p:spPr>
        <p:txBody>
          <a:bodyPr/>
          <a:lstStyle/>
          <a:p>
            <a:r>
              <a:rPr lang="es-ES" dirty="0">
                <a:hlinkClick r:id="rId2"/>
              </a:rPr>
              <a:t>https://code.visualstudio.com/docs/languages/typescript</a:t>
            </a:r>
            <a:endParaRPr lang="es-ES" dirty="0"/>
          </a:p>
          <a:p>
            <a:endParaRPr lang="es-ES" dirty="0"/>
          </a:p>
        </p:txBody>
      </p:sp>
      <p:sp>
        <p:nvSpPr>
          <p:cNvPr id="2" name="Marcador de número de diapositiva 1">
            <a:extLst>
              <a:ext uri="{FF2B5EF4-FFF2-40B4-BE49-F238E27FC236}">
                <a16:creationId xmlns:a16="http://schemas.microsoft.com/office/drawing/2014/main" id="{162CF0F0-4B14-4425-B5CA-B697080AE492}"/>
              </a:ext>
            </a:extLst>
          </p:cNvPr>
          <p:cNvSpPr>
            <a:spLocks noGrp="1"/>
          </p:cNvSpPr>
          <p:nvPr>
            <p:ph type="sldNum" sz="quarter" idx="4294967295"/>
          </p:nvPr>
        </p:nvSpPr>
        <p:spPr>
          <a:xfrm>
            <a:off x="11760200" y="6524625"/>
            <a:ext cx="428625" cy="196850"/>
          </a:xfrm>
          <a:prstGeom prst="rect">
            <a:avLst/>
          </a:prstGeom>
        </p:spPr>
        <p:txBody>
          <a:bodyPr/>
          <a:lstStyle/>
          <a:p>
            <a:fld id="{C014DD1E-5D91-48A3-AD6D-45FBA980D106}" type="slidenum">
              <a:rPr lang="en-US" smtClean="0"/>
              <a:pPr/>
              <a:t>35</a:t>
            </a:fld>
            <a:endParaRPr lang="en-US" dirty="0"/>
          </a:p>
        </p:txBody>
      </p:sp>
    </p:spTree>
    <p:extLst>
      <p:ext uri="{BB962C8B-B14F-4D97-AF65-F5344CB8AC3E}">
        <p14:creationId xmlns:p14="http://schemas.microsoft.com/office/powerpoint/2010/main" val="7798731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6">
            <a:extLst>
              <a:ext uri="{FF2B5EF4-FFF2-40B4-BE49-F238E27FC236}">
                <a16:creationId xmlns:a16="http://schemas.microsoft.com/office/drawing/2014/main" id="{1EABC864-EE78-4689-8DB2-53B3FED4B02F}"/>
              </a:ext>
            </a:extLst>
          </p:cNvPr>
          <p:cNvSpPr>
            <a:spLocks noGrp="1"/>
          </p:cNvSpPr>
          <p:nvPr>
            <p:ph type="title"/>
          </p:nvPr>
        </p:nvSpPr>
        <p:spPr/>
        <p:txBody>
          <a:bodyPr/>
          <a:lstStyle/>
          <a:p>
            <a:r>
              <a:rPr lang="en-US" dirty="0"/>
              <a:t>A Look at Typescript </a:t>
            </a:r>
            <a:endParaRPr lang="es-ES" dirty="0"/>
          </a:p>
        </p:txBody>
      </p:sp>
    </p:spTree>
    <p:extLst>
      <p:ext uri="{BB962C8B-B14F-4D97-AF65-F5344CB8AC3E}">
        <p14:creationId xmlns:p14="http://schemas.microsoft.com/office/powerpoint/2010/main" val="410559205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A7536-F2AC-46E7-B2D2-D6E56283CB58}"/>
              </a:ext>
            </a:extLst>
          </p:cNvPr>
          <p:cNvSpPr>
            <a:spLocks noGrp="1"/>
          </p:cNvSpPr>
          <p:nvPr>
            <p:ph type="title"/>
          </p:nvPr>
        </p:nvSpPr>
        <p:spPr/>
        <p:txBody>
          <a:bodyPr/>
          <a:lstStyle/>
          <a:p>
            <a:r>
              <a:rPr lang="en-IN" dirty="0"/>
              <a:t>TS Syntax</a:t>
            </a:r>
          </a:p>
        </p:txBody>
      </p:sp>
      <p:pic>
        <p:nvPicPr>
          <p:cNvPr id="1028" name="Picture 4" descr="Machine generated alternative text:&#10;Important Keywords and Operators &#10;Keyword &#10;class &#10;constructor &#10;exports &#10;extends &#10;implements &#10;imports &#10;interface &#10;module / namespace &#10;public/private &#10;&lt;typeName&gt; &#10;Description &#10;Container for members such as properties and functions &#10;Provides initialization functionality in a class &#10;Export a member from a module &#10;Extend a class or interface &#10;Implement an interface &#10;Import a module &#10;Defines code contract that can be implemented by types &#10;Container for classes and other code &#10;Member visibility modifiers &#10;Rest parameter syntax &#10;Arrow syntax used with definitions and functions &#10;&lt; &gt; characters use to cast/convert between types &#10;Sepa rator between va ble/parameter na mes and type ">
            <a:extLst>
              <a:ext uri="{FF2B5EF4-FFF2-40B4-BE49-F238E27FC236}">
                <a16:creationId xmlns:a16="http://schemas.microsoft.com/office/drawing/2014/main" id="{79CE4FA4-DF6A-4DF1-8675-F4A4765D78D8}"/>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a:stretch/>
        </p:blipFill>
        <p:spPr bwMode="auto">
          <a:xfrm>
            <a:off x="2665412" y="1442545"/>
            <a:ext cx="6858000" cy="50450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40836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азвание 1"/>
          <p:cNvSpPr>
            <a:spLocks noGrp="1"/>
          </p:cNvSpPr>
          <p:nvPr>
            <p:ph type="title"/>
          </p:nvPr>
        </p:nvSpPr>
        <p:spPr/>
        <p:txBody>
          <a:bodyPr/>
          <a:lstStyle/>
          <a:p>
            <a:r>
              <a:rPr lang="en-US" dirty="0"/>
              <a:t>Data types</a:t>
            </a:r>
            <a:endParaRPr lang="ru-RU" dirty="0"/>
          </a:p>
        </p:txBody>
      </p:sp>
      <p:sp>
        <p:nvSpPr>
          <p:cNvPr id="5" name="Прямоугольник 4"/>
          <p:cNvSpPr/>
          <p:nvPr/>
        </p:nvSpPr>
        <p:spPr>
          <a:xfrm>
            <a:off x="2170112" y="1676400"/>
            <a:ext cx="7848600" cy="4708981"/>
          </a:xfrm>
          <a:prstGeom prst="rect">
            <a:avLst/>
          </a:prstGeom>
        </p:spPr>
        <p:txBody>
          <a:bodyPr wrap="square">
            <a:spAutoFit/>
          </a:bodyPr>
          <a:lstStyle/>
          <a:p>
            <a:r>
              <a:rPr lang="en-US" sz="1600" b="1" dirty="0">
                <a:solidFill>
                  <a:schemeClr val="accent2"/>
                </a:solidFill>
                <a:latin typeface="Consolas" panose="020B0609020204030204" pitchFamily="49" charset="0"/>
              </a:rPr>
              <a:t>Boolean: </a:t>
            </a:r>
            <a:r>
              <a:rPr lang="en-US" sz="1600" b="1" dirty="0">
                <a:solidFill>
                  <a:srgbClr val="EB571C"/>
                </a:solidFill>
                <a:latin typeface="Consolas" panose="020B0609020204030204" pitchFamily="49" charset="0"/>
              </a:rPr>
              <a:t>	</a:t>
            </a:r>
            <a:r>
              <a:rPr lang="en-US" sz="1600" b="1" dirty="0">
                <a:solidFill>
                  <a:srgbClr val="0000FF"/>
                </a:solidFill>
                <a:latin typeface="Consolas" panose="020B0609020204030204" pitchFamily="49" charset="0"/>
              </a:rPr>
              <a:t>var</a:t>
            </a:r>
            <a:r>
              <a:rPr lang="en-US" sz="1600" b="1" dirty="0">
                <a:solidFill>
                  <a:srgbClr val="000000"/>
                </a:solidFill>
                <a:latin typeface="Consolas" panose="020B0609020204030204" pitchFamily="49" charset="0"/>
              </a:rPr>
              <a:t> </a:t>
            </a:r>
            <a:r>
              <a:rPr lang="en-US" sz="1600" b="1" dirty="0" err="1">
                <a:solidFill>
                  <a:srgbClr val="000000"/>
                </a:solidFill>
                <a:latin typeface="Consolas" panose="020B0609020204030204" pitchFamily="49" charset="0"/>
              </a:rPr>
              <a:t>isDone</a:t>
            </a:r>
            <a:r>
              <a:rPr lang="en-US" sz="1600" b="1" dirty="0">
                <a:solidFill>
                  <a:srgbClr val="000000"/>
                </a:solidFill>
                <a:latin typeface="Consolas" panose="020B0609020204030204" pitchFamily="49" charset="0"/>
              </a:rPr>
              <a:t>: </a:t>
            </a:r>
            <a:r>
              <a:rPr lang="en-US" sz="1600" b="1" dirty="0" err="1">
                <a:solidFill>
                  <a:srgbClr val="0000FF"/>
                </a:solidFill>
                <a:latin typeface="Consolas" panose="020B0609020204030204" pitchFamily="49" charset="0"/>
              </a:rPr>
              <a:t>boolean</a:t>
            </a:r>
            <a:r>
              <a:rPr lang="en-US" sz="1600" b="1" dirty="0">
                <a:solidFill>
                  <a:srgbClr val="000000"/>
                </a:solidFill>
                <a:latin typeface="Consolas" panose="020B0609020204030204" pitchFamily="49" charset="0"/>
              </a:rPr>
              <a:t> = </a:t>
            </a:r>
            <a:r>
              <a:rPr lang="en-US" sz="1600" b="1" dirty="0">
                <a:solidFill>
                  <a:srgbClr val="0000FF"/>
                </a:solidFill>
                <a:latin typeface="Consolas" panose="020B0609020204030204" pitchFamily="49" charset="0"/>
              </a:rPr>
              <a:t>false</a:t>
            </a:r>
            <a:r>
              <a:rPr lang="en-US" sz="1600" b="1" dirty="0">
                <a:solidFill>
                  <a:srgbClr val="000000"/>
                </a:solidFill>
                <a:latin typeface="Consolas" panose="020B0609020204030204" pitchFamily="49" charset="0"/>
              </a:rPr>
              <a:t>; </a:t>
            </a:r>
          </a:p>
          <a:p>
            <a:endParaRPr lang="en-US" sz="900" b="1" dirty="0">
              <a:latin typeface="Consolas" panose="020B0609020204030204" pitchFamily="49" charset="0"/>
            </a:endParaRPr>
          </a:p>
          <a:p>
            <a:r>
              <a:rPr lang="en-US" sz="1600" b="1" dirty="0">
                <a:solidFill>
                  <a:schemeClr val="accent2"/>
                </a:solidFill>
                <a:latin typeface="Consolas" panose="020B0609020204030204" pitchFamily="49" charset="0"/>
              </a:rPr>
              <a:t>Number:</a:t>
            </a:r>
            <a:r>
              <a:rPr lang="en-US" sz="1600" b="1" dirty="0">
                <a:solidFill>
                  <a:srgbClr val="EB571C"/>
                </a:solidFill>
                <a:latin typeface="Consolas" panose="020B0609020204030204" pitchFamily="49" charset="0"/>
              </a:rPr>
              <a:t>  	</a:t>
            </a:r>
            <a:r>
              <a:rPr lang="en-US" sz="1600" b="1" dirty="0">
                <a:solidFill>
                  <a:srgbClr val="0000FF"/>
                </a:solidFill>
                <a:latin typeface="Consolas" panose="020B0609020204030204" pitchFamily="49" charset="0"/>
              </a:rPr>
              <a:t>var</a:t>
            </a:r>
            <a:r>
              <a:rPr lang="en-US" sz="1600" b="1" dirty="0">
                <a:solidFill>
                  <a:srgbClr val="000000"/>
                </a:solidFill>
                <a:latin typeface="Consolas" panose="020B0609020204030204" pitchFamily="49" charset="0"/>
              </a:rPr>
              <a:t> height: number = 6; </a:t>
            </a:r>
          </a:p>
          <a:p>
            <a:endParaRPr lang="en-US" sz="900" b="1" dirty="0">
              <a:latin typeface="Consolas" panose="020B0609020204030204" pitchFamily="49" charset="0"/>
            </a:endParaRPr>
          </a:p>
          <a:p>
            <a:endParaRPr lang="en-US" sz="400" b="1" dirty="0">
              <a:latin typeface="Consolas" panose="020B0609020204030204" pitchFamily="49" charset="0"/>
            </a:endParaRPr>
          </a:p>
          <a:p>
            <a:r>
              <a:rPr lang="en-US" sz="1600" b="1" dirty="0">
                <a:solidFill>
                  <a:schemeClr val="accent2"/>
                </a:solidFill>
                <a:latin typeface="Consolas" panose="020B0609020204030204" pitchFamily="49" charset="0"/>
              </a:rPr>
              <a:t>String:  	</a:t>
            </a:r>
            <a:r>
              <a:rPr lang="en-US" sz="1600" b="1" dirty="0">
                <a:solidFill>
                  <a:srgbClr val="0000FF"/>
                </a:solidFill>
                <a:latin typeface="Consolas" panose="020B0609020204030204" pitchFamily="49" charset="0"/>
              </a:rPr>
              <a:t>var</a:t>
            </a:r>
            <a:r>
              <a:rPr lang="en-US" sz="1600" b="1" dirty="0">
                <a:latin typeface="Consolas" panose="020B0609020204030204" pitchFamily="49" charset="0"/>
              </a:rPr>
              <a:t> name: string = </a:t>
            </a:r>
            <a:r>
              <a:rPr lang="en-US" sz="1600" b="1" dirty="0">
                <a:solidFill>
                  <a:srgbClr val="A31515"/>
                </a:solidFill>
                <a:latin typeface="Consolas" panose="020B0609020204030204" pitchFamily="49" charset="0"/>
              </a:rPr>
              <a:t>"bob"</a:t>
            </a:r>
            <a:r>
              <a:rPr lang="en-US" sz="1600" b="1" dirty="0">
                <a:latin typeface="Consolas" panose="020B0609020204030204" pitchFamily="49" charset="0"/>
              </a:rPr>
              <a:t>; </a:t>
            </a:r>
            <a:br>
              <a:rPr lang="en-US" sz="1600" b="1" dirty="0">
                <a:latin typeface="Consolas" panose="020B0609020204030204" pitchFamily="49" charset="0"/>
              </a:rPr>
            </a:br>
            <a:endParaRPr lang="en-US" sz="400" b="1" dirty="0">
              <a:latin typeface="Consolas" panose="020B0609020204030204" pitchFamily="49" charset="0"/>
            </a:endParaRPr>
          </a:p>
          <a:p>
            <a:endParaRPr lang="en-US" sz="1000" b="1" dirty="0">
              <a:solidFill>
                <a:schemeClr val="accent2"/>
              </a:solidFill>
              <a:latin typeface="Consolas" panose="020B0609020204030204" pitchFamily="49" charset="0"/>
            </a:endParaRPr>
          </a:p>
          <a:p>
            <a:r>
              <a:rPr lang="en-US" sz="1600" b="1" dirty="0">
                <a:solidFill>
                  <a:schemeClr val="accent2"/>
                </a:solidFill>
                <a:latin typeface="Consolas" panose="020B0609020204030204" pitchFamily="49" charset="0"/>
              </a:rPr>
              <a:t>Array:   	</a:t>
            </a:r>
            <a:r>
              <a:rPr lang="en-US" sz="1600" b="1" dirty="0" err="1">
                <a:solidFill>
                  <a:srgbClr val="0000FF"/>
                </a:solidFill>
                <a:latin typeface="Consolas" panose="020B0609020204030204" pitchFamily="49" charset="0"/>
              </a:rPr>
              <a:t>var</a:t>
            </a:r>
            <a:r>
              <a:rPr lang="en-US" sz="1600" b="1" dirty="0">
                <a:solidFill>
                  <a:srgbClr val="000000"/>
                </a:solidFill>
                <a:latin typeface="Consolas" panose="020B0609020204030204" pitchFamily="49" charset="0"/>
              </a:rPr>
              <a:t> </a:t>
            </a:r>
            <a:r>
              <a:rPr lang="en-US" sz="1600" b="1" dirty="0" err="1">
                <a:solidFill>
                  <a:srgbClr val="000000"/>
                </a:solidFill>
                <a:latin typeface="Consolas" panose="020B0609020204030204" pitchFamily="49" charset="0"/>
              </a:rPr>
              <a:t>list:number</a:t>
            </a:r>
            <a:r>
              <a:rPr lang="en-US" sz="1600" b="1" dirty="0">
                <a:solidFill>
                  <a:srgbClr val="000000"/>
                </a:solidFill>
                <a:latin typeface="Consolas" panose="020B0609020204030204" pitchFamily="49" charset="0"/>
              </a:rPr>
              <a:t>[] = [1, 2, 3]; </a:t>
            </a:r>
            <a:endParaRPr lang="en-US" sz="1600" b="1" dirty="0">
              <a:latin typeface="Consolas" panose="020B0609020204030204" pitchFamily="49" charset="0"/>
            </a:endParaRPr>
          </a:p>
          <a:p>
            <a:r>
              <a:rPr lang="en-US" sz="1600" b="1" dirty="0">
                <a:latin typeface="Consolas" panose="020B0609020204030204" pitchFamily="49" charset="0"/>
              </a:rPr>
              <a:t>	 	</a:t>
            </a:r>
            <a:r>
              <a:rPr lang="en-US" sz="1600" b="1" dirty="0" err="1">
                <a:solidFill>
                  <a:srgbClr val="0000FF"/>
                </a:solidFill>
                <a:latin typeface="Consolas" panose="020B0609020204030204" pitchFamily="49" charset="0"/>
              </a:rPr>
              <a:t>var</a:t>
            </a:r>
            <a:r>
              <a:rPr lang="en-US" sz="1600" b="1" dirty="0">
                <a:solidFill>
                  <a:srgbClr val="000000"/>
                </a:solidFill>
                <a:latin typeface="Consolas" panose="020B0609020204030204" pitchFamily="49" charset="0"/>
              </a:rPr>
              <a:t> </a:t>
            </a:r>
            <a:r>
              <a:rPr lang="en-US" sz="1600" b="1" dirty="0" err="1">
                <a:solidFill>
                  <a:srgbClr val="000000"/>
                </a:solidFill>
                <a:latin typeface="Consolas" panose="020B0609020204030204" pitchFamily="49" charset="0"/>
              </a:rPr>
              <a:t>list:Array</a:t>
            </a:r>
            <a:r>
              <a:rPr lang="en-US" sz="1600" b="1" dirty="0">
                <a:solidFill>
                  <a:srgbClr val="000000"/>
                </a:solidFill>
                <a:latin typeface="Consolas" panose="020B0609020204030204" pitchFamily="49" charset="0"/>
              </a:rPr>
              <a:t>&lt;number&gt; = [1, 2, 3]; </a:t>
            </a:r>
          </a:p>
          <a:p>
            <a:endParaRPr lang="en-US" sz="900" b="1" dirty="0">
              <a:solidFill>
                <a:schemeClr val="accent2"/>
              </a:solidFill>
              <a:latin typeface="Consolas" panose="020B0609020204030204" pitchFamily="49" charset="0"/>
            </a:endParaRPr>
          </a:p>
          <a:p>
            <a:endParaRPr lang="en-US" sz="400" b="1" dirty="0">
              <a:solidFill>
                <a:schemeClr val="accent2"/>
              </a:solidFill>
              <a:latin typeface="Consolas" panose="020B0609020204030204" pitchFamily="49" charset="0"/>
            </a:endParaRPr>
          </a:p>
          <a:p>
            <a:r>
              <a:rPr lang="en-US" sz="1600" b="1" dirty="0" err="1">
                <a:solidFill>
                  <a:schemeClr val="accent2"/>
                </a:solidFill>
                <a:latin typeface="Consolas" panose="020B0609020204030204" pitchFamily="49" charset="0"/>
              </a:rPr>
              <a:t>Enum</a:t>
            </a:r>
            <a:r>
              <a:rPr lang="en-US" sz="1600" b="1" dirty="0">
                <a:solidFill>
                  <a:schemeClr val="accent2"/>
                </a:solidFill>
                <a:latin typeface="Consolas" panose="020B0609020204030204" pitchFamily="49" charset="0"/>
              </a:rPr>
              <a:t>:</a:t>
            </a:r>
            <a:r>
              <a:rPr lang="en-US" sz="1600" b="1" dirty="0">
                <a:solidFill>
                  <a:srgbClr val="0000FF"/>
                </a:solidFill>
                <a:latin typeface="Consolas" panose="020B0609020204030204" pitchFamily="49" charset="0"/>
              </a:rPr>
              <a:t>	  	</a:t>
            </a:r>
            <a:r>
              <a:rPr lang="en-US" sz="1600" b="1" dirty="0" err="1">
                <a:solidFill>
                  <a:srgbClr val="0000FF"/>
                </a:solidFill>
                <a:latin typeface="Consolas" panose="020B0609020204030204" pitchFamily="49" charset="0"/>
              </a:rPr>
              <a:t>enum</a:t>
            </a:r>
            <a:r>
              <a:rPr lang="en-US" sz="1600" b="1" dirty="0">
                <a:latin typeface="Consolas" panose="020B0609020204030204" pitchFamily="49" charset="0"/>
              </a:rPr>
              <a:t> Color {Red, Green, Blue}; </a:t>
            </a:r>
          </a:p>
          <a:p>
            <a:r>
              <a:rPr lang="en-US" sz="1600" b="1" dirty="0">
                <a:solidFill>
                  <a:srgbClr val="0000FF"/>
                </a:solidFill>
                <a:latin typeface="Consolas" panose="020B0609020204030204" pitchFamily="49" charset="0"/>
              </a:rPr>
              <a:t>		</a:t>
            </a:r>
            <a:r>
              <a:rPr lang="en-US" sz="1600" b="1" dirty="0" err="1">
                <a:solidFill>
                  <a:srgbClr val="0000FF"/>
                </a:solidFill>
                <a:latin typeface="Consolas" panose="020B0609020204030204" pitchFamily="49" charset="0"/>
              </a:rPr>
              <a:t>var</a:t>
            </a:r>
            <a:r>
              <a:rPr lang="en-US" sz="1600" b="1" dirty="0">
                <a:latin typeface="Consolas" panose="020B0609020204030204" pitchFamily="49" charset="0"/>
              </a:rPr>
              <a:t> c: Color = </a:t>
            </a:r>
            <a:r>
              <a:rPr lang="en-US" sz="1600" b="1" dirty="0" err="1">
                <a:latin typeface="Consolas" panose="020B0609020204030204" pitchFamily="49" charset="0"/>
              </a:rPr>
              <a:t>Color.Green</a:t>
            </a:r>
            <a:r>
              <a:rPr lang="en-US" sz="1600" b="1" dirty="0">
                <a:latin typeface="Consolas" panose="020B0609020204030204" pitchFamily="49" charset="0"/>
              </a:rPr>
              <a:t>;</a:t>
            </a:r>
          </a:p>
          <a:p>
            <a:endParaRPr lang="en-US" sz="800" b="1" dirty="0">
              <a:latin typeface="Consolas" panose="020B0609020204030204" pitchFamily="49" charset="0"/>
            </a:endParaRPr>
          </a:p>
          <a:p>
            <a:r>
              <a:rPr lang="en-US" sz="1600" b="1" dirty="0">
                <a:solidFill>
                  <a:schemeClr val="accent2"/>
                </a:solidFill>
                <a:latin typeface="Consolas" panose="020B0609020204030204" pitchFamily="49" charset="0"/>
              </a:rPr>
              <a:t>Any:</a:t>
            </a:r>
            <a:r>
              <a:rPr lang="en-US" sz="1600" b="1" dirty="0">
                <a:solidFill>
                  <a:srgbClr val="0000FF"/>
                </a:solidFill>
                <a:latin typeface="Consolas" panose="020B0609020204030204" pitchFamily="49" charset="0"/>
              </a:rPr>
              <a:t>	  	</a:t>
            </a:r>
            <a:r>
              <a:rPr lang="en-US" sz="1600" b="1" dirty="0" err="1">
                <a:solidFill>
                  <a:srgbClr val="0000FF"/>
                </a:solidFill>
                <a:latin typeface="Consolas" panose="020B0609020204030204" pitchFamily="49" charset="0"/>
              </a:rPr>
              <a:t>var</a:t>
            </a:r>
            <a:r>
              <a:rPr lang="en-US" sz="1600" b="1" dirty="0">
                <a:latin typeface="Consolas" panose="020B0609020204030204" pitchFamily="49" charset="0"/>
              </a:rPr>
              <a:t> </a:t>
            </a:r>
            <a:r>
              <a:rPr lang="en-US" sz="1600" b="1" dirty="0" err="1">
                <a:latin typeface="Consolas" panose="020B0609020204030204" pitchFamily="49" charset="0"/>
              </a:rPr>
              <a:t>notSure</a:t>
            </a:r>
            <a:r>
              <a:rPr lang="en-US" sz="1600" b="1" dirty="0">
                <a:latin typeface="Consolas" panose="020B0609020204030204" pitchFamily="49" charset="0"/>
              </a:rPr>
              <a:t>: any = 4; </a:t>
            </a:r>
          </a:p>
          <a:p>
            <a:pPr lvl="1"/>
            <a:r>
              <a:rPr lang="en-US" sz="1600" b="1" dirty="0">
                <a:latin typeface="Consolas" panose="020B0609020204030204" pitchFamily="49" charset="0"/>
              </a:rPr>
              <a:t>	  	</a:t>
            </a:r>
            <a:r>
              <a:rPr lang="en-US" sz="1600" b="1" dirty="0" err="1">
                <a:latin typeface="Consolas" panose="020B0609020204030204" pitchFamily="49" charset="0"/>
              </a:rPr>
              <a:t>notSure</a:t>
            </a:r>
            <a:r>
              <a:rPr lang="en-US" sz="1600" b="1" dirty="0">
                <a:latin typeface="Consolas" panose="020B0609020204030204" pitchFamily="49" charset="0"/>
              </a:rPr>
              <a:t> = </a:t>
            </a:r>
            <a:r>
              <a:rPr lang="en-US" sz="1600" b="1" dirty="0">
                <a:solidFill>
                  <a:srgbClr val="A31515"/>
                </a:solidFill>
                <a:latin typeface="Consolas" panose="020B0609020204030204" pitchFamily="49" charset="0"/>
              </a:rPr>
              <a:t>"maybe a string instead"</a:t>
            </a:r>
            <a:r>
              <a:rPr lang="en-US" sz="1600" b="1" dirty="0">
                <a:latin typeface="Consolas" panose="020B0609020204030204" pitchFamily="49" charset="0"/>
              </a:rPr>
              <a:t>;    </a:t>
            </a:r>
          </a:p>
          <a:p>
            <a:pPr lvl="1"/>
            <a:r>
              <a:rPr lang="en-US" sz="1600" b="1" dirty="0">
                <a:latin typeface="Consolas" panose="020B0609020204030204" pitchFamily="49" charset="0"/>
              </a:rPr>
              <a:t>	  	</a:t>
            </a:r>
            <a:r>
              <a:rPr lang="en-US" sz="1600" b="1" dirty="0" err="1">
                <a:latin typeface="Consolas" panose="020B0609020204030204" pitchFamily="49" charset="0"/>
              </a:rPr>
              <a:t>notSure</a:t>
            </a:r>
            <a:r>
              <a:rPr lang="en-US" sz="1600" b="1" dirty="0">
                <a:latin typeface="Consolas" panose="020B0609020204030204" pitchFamily="49" charset="0"/>
              </a:rPr>
              <a:t> = </a:t>
            </a:r>
            <a:r>
              <a:rPr lang="en-US" sz="1600" b="1" dirty="0">
                <a:solidFill>
                  <a:srgbClr val="0000FF"/>
                </a:solidFill>
                <a:latin typeface="Consolas" panose="020B0609020204030204" pitchFamily="49" charset="0"/>
              </a:rPr>
              <a:t>false</a:t>
            </a:r>
            <a:r>
              <a:rPr lang="en-US" sz="1600" b="1" dirty="0">
                <a:latin typeface="Consolas" panose="020B0609020204030204" pitchFamily="49" charset="0"/>
              </a:rPr>
              <a:t>; </a:t>
            </a:r>
            <a:r>
              <a:rPr lang="en-US" sz="1600" b="1" dirty="0">
                <a:solidFill>
                  <a:srgbClr val="008000"/>
                </a:solidFill>
                <a:latin typeface="Consolas" panose="020B0609020204030204" pitchFamily="49" charset="0"/>
              </a:rPr>
              <a:t>// okay, definitely a </a:t>
            </a:r>
            <a:r>
              <a:rPr lang="en-US" sz="1600" b="1" dirty="0" err="1">
                <a:solidFill>
                  <a:srgbClr val="008000"/>
                </a:solidFill>
                <a:latin typeface="Consolas" panose="020B0609020204030204" pitchFamily="49" charset="0"/>
              </a:rPr>
              <a:t>boolean</a:t>
            </a:r>
            <a:endParaRPr lang="en-US" sz="1600" b="1" dirty="0">
              <a:solidFill>
                <a:srgbClr val="008000"/>
              </a:solidFill>
              <a:latin typeface="Consolas" panose="020B0609020204030204" pitchFamily="49" charset="0"/>
            </a:endParaRPr>
          </a:p>
          <a:p>
            <a:pPr lvl="1"/>
            <a:r>
              <a:rPr lang="en-US" sz="1600" b="1" dirty="0">
                <a:latin typeface="Consolas" panose="020B0609020204030204" pitchFamily="49" charset="0"/>
              </a:rPr>
              <a:t>	  	</a:t>
            </a:r>
            <a:r>
              <a:rPr lang="en-US" sz="1600" b="1" dirty="0" err="1">
                <a:latin typeface="Consolas" panose="020B0609020204030204" pitchFamily="49" charset="0"/>
              </a:rPr>
              <a:t>var</a:t>
            </a:r>
            <a:r>
              <a:rPr lang="en-US" sz="1600" b="1" dirty="0">
                <a:latin typeface="Consolas" panose="020B0609020204030204" pitchFamily="49" charset="0"/>
              </a:rPr>
              <a:t> </a:t>
            </a:r>
            <a:r>
              <a:rPr lang="en-US" sz="1600" b="1" dirty="0" err="1">
                <a:latin typeface="Consolas" panose="020B0609020204030204" pitchFamily="49" charset="0"/>
              </a:rPr>
              <a:t>list:any</a:t>
            </a:r>
            <a:r>
              <a:rPr lang="en-US" sz="1600" b="1" dirty="0">
                <a:latin typeface="Consolas" panose="020B0609020204030204" pitchFamily="49" charset="0"/>
              </a:rPr>
              <a:t>[] = [1, true, "free"];</a:t>
            </a:r>
          </a:p>
          <a:p>
            <a:pPr lvl="1"/>
            <a:endParaRPr lang="en-US" sz="1050" b="1" dirty="0">
              <a:latin typeface="Consolas" panose="020B0609020204030204" pitchFamily="49" charset="0"/>
            </a:endParaRPr>
          </a:p>
          <a:p>
            <a:pPr marL="0" lvl="1"/>
            <a:r>
              <a:rPr lang="en-US" sz="1600" b="1" dirty="0">
                <a:solidFill>
                  <a:schemeClr val="accent2"/>
                </a:solidFill>
                <a:latin typeface="Consolas" panose="020B0609020204030204" pitchFamily="49" charset="0"/>
              </a:rPr>
              <a:t>Void:</a:t>
            </a:r>
            <a:r>
              <a:rPr lang="en-US" sz="1600" b="1" dirty="0">
                <a:solidFill>
                  <a:srgbClr val="0000FF"/>
                </a:solidFill>
                <a:latin typeface="Consolas" panose="020B0609020204030204" pitchFamily="49" charset="0"/>
              </a:rPr>
              <a:t>	  	function</a:t>
            </a:r>
            <a:r>
              <a:rPr lang="en-US" sz="1600" b="1" dirty="0">
                <a:latin typeface="Consolas" panose="020B0609020204030204" pitchFamily="49" charset="0"/>
              </a:rPr>
              <a:t> </a:t>
            </a:r>
            <a:r>
              <a:rPr lang="en-US" sz="1600" b="1" dirty="0" err="1">
                <a:latin typeface="Consolas" panose="020B0609020204030204" pitchFamily="49" charset="0"/>
              </a:rPr>
              <a:t>warnUser</a:t>
            </a:r>
            <a:r>
              <a:rPr lang="en-US" sz="1600" b="1" dirty="0">
                <a:latin typeface="Consolas" panose="020B0609020204030204" pitchFamily="49" charset="0"/>
              </a:rPr>
              <a:t>(): </a:t>
            </a:r>
            <a:r>
              <a:rPr lang="en-US" sz="1600" b="1" dirty="0">
                <a:solidFill>
                  <a:srgbClr val="0000FF"/>
                </a:solidFill>
                <a:latin typeface="Consolas" panose="020B0609020204030204" pitchFamily="49" charset="0"/>
              </a:rPr>
              <a:t>void</a:t>
            </a:r>
            <a:r>
              <a:rPr lang="en-US" sz="1600" b="1" dirty="0">
                <a:latin typeface="Consolas" panose="020B0609020204030204" pitchFamily="49" charset="0"/>
              </a:rPr>
              <a:t> { </a:t>
            </a:r>
          </a:p>
          <a:p>
            <a:pPr indent="-457200"/>
            <a:r>
              <a:rPr lang="en-US" sz="1600" b="1" dirty="0">
                <a:latin typeface="Consolas" panose="020B0609020204030204" pitchFamily="49" charset="0"/>
              </a:rPr>
              <a:t>			alert(</a:t>
            </a:r>
            <a:r>
              <a:rPr lang="en-US" sz="1600" b="1" dirty="0">
                <a:solidFill>
                  <a:srgbClr val="A31515"/>
                </a:solidFill>
                <a:latin typeface="Consolas" panose="020B0609020204030204" pitchFamily="49" charset="0"/>
              </a:rPr>
              <a:t>"This is my warning message"</a:t>
            </a:r>
            <a:r>
              <a:rPr lang="en-US" sz="1600" b="1" dirty="0">
                <a:latin typeface="Consolas" panose="020B0609020204030204" pitchFamily="49" charset="0"/>
              </a:rPr>
              <a:t>); </a:t>
            </a:r>
          </a:p>
          <a:p>
            <a:pPr indent="-457200"/>
            <a:r>
              <a:rPr lang="en-US" sz="1600" b="1" dirty="0">
                <a:latin typeface="Consolas" panose="020B0609020204030204" pitchFamily="49" charset="0"/>
              </a:rPr>
              <a:t>		}</a:t>
            </a:r>
            <a:endParaRPr lang="ru-RU" sz="1600" b="1" dirty="0">
              <a:solidFill>
                <a:schemeClr val="accent2"/>
              </a:solidFill>
              <a:latin typeface="Consolas" panose="020B0609020204030204" pitchFamily="49" charset="0"/>
            </a:endParaRPr>
          </a:p>
        </p:txBody>
      </p:sp>
    </p:spTree>
    <p:extLst>
      <p:ext uri="{BB962C8B-B14F-4D97-AF65-F5344CB8AC3E}">
        <p14:creationId xmlns:p14="http://schemas.microsoft.com/office/powerpoint/2010/main" val="32617134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Machine generated alternative text:&#10;Grammar: Type Annotations &#10;Declare it &#10;3 &#10;Annotate it &#10;var num: number - &#10;5 &#10;u &#10;Set it &#10;2 &#10;Name it &#10;4 &#10;Type it ">
            <a:extLst>
              <a:ext uri="{FF2B5EF4-FFF2-40B4-BE49-F238E27FC236}">
                <a16:creationId xmlns:a16="http://schemas.microsoft.com/office/drawing/2014/main" id="{0B7D35C1-B9A0-4B46-ADFB-258961D52AD1}"/>
              </a:ext>
            </a:extLst>
          </p:cNvPr>
          <p:cNvPicPr>
            <a:picLocks noChangeAspect="1" noChangeArrowheads="1"/>
          </p:cNvPicPr>
          <p:nvPr/>
        </p:nvPicPr>
        <p:blipFill rotWithShape="1">
          <a:blip r:embed="rId2" cstate="print">
            <a:clrChange>
              <a:clrFrom>
                <a:srgbClr val="FFFDFF"/>
              </a:clrFrom>
              <a:clrTo>
                <a:srgbClr val="FFFDFF">
                  <a:alpha val="0"/>
                </a:srgbClr>
              </a:clrTo>
            </a:clrChange>
            <a:extLst>
              <a:ext uri="{28A0092B-C50C-407E-A947-70E740481C1C}">
                <a14:useLocalDpi xmlns:a14="http://schemas.microsoft.com/office/drawing/2010/main" val="0"/>
              </a:ext>
            </a:extLst>
          </a:blip>
          <a:srcRect/>
          <a:stretch/>
        </p:blipFill>
        <p:spPr bwMode="auto">
          <a:xfrm>
            <a:off x="912812" y="2209800"/>
            <a:ext cx="10741570" cy="4346809"/>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F2B4CDE6-1773-40DF-91E6-263146BF9D68}"/>
              </a:ext>
            </a:extLst>
          </p:cNvPr>
          <p:cNvSpPr>
            <a:spLocks noGrp="1"/>
          </p:cNvSpPr>
          <p:nvPr>
            <p:ph type="title"/>
          </p:nvPr>
        </p:nvSpPr>
        <p:spPr/>
        <p:txBody>
          <a:bodyPr/>
          <a:lstStyle/>
          <a:p>
            <a:r>
              <a:rPr lang="es-ES" dirty="0" err="1"/>
              <a:t>Grammar</a:t>
            </a:r>
            <a:r>
              <a:rPr lang="es-ES" dirty="0"/>
              <a:t> </a:t>
            </a:r>
            <a:r>
              <a:rPr lang="es-ES" dirty="0" err="1"/>
              <a:t>Type</a:t>
            </a:r>
            <a:r>
              <a:rPr lang="es-ES" dirty="0"/>
              <a:t> </a:t>
            </a:r>
            <a:r>
              <a:rPr lang="es-ES" dirty="0" err="1"/>
              <a:t>Annotations</a:t>
            </a:r>
            <a:endParaRPr lang="es-ES" dirty="0"/>
          </a:p>
        </p:txBody>
      </p:sp>
    </p:spTree>
    <p:extLst>
      <p:ext uri="{BB962C8B-B14F-4D97-AF65-F5344CB8AC3E}">
        <p14:creationId xmlns:p14="http://schemas.microsoft.com/office/powerpoint/2010/main" val="202673387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Machine generated alternative text:&#10;Annotations and Inferences &#10;var anyl; &#10;var numl: &#10;number; &#10;n umber &#10;var num2: &#10;var num3 &#10;var num4 = num3 &#10;var strl = &#10;numl &#10;Type could be any type (any) &#10;Type Annotation &#10;Type Annotation Setting the Value &#10;Type Inference (number) &#10;100; &#10;' some &#10;string' ; &#10;Type Inference (number) &#10;Type Inference (string) &#10;var nothappy : number = numl + &#10;' some &#10;string'; &#10;Error! ">
            <a:extLst>
              <a:ext uri="{FF2B5EF4-FFF2-40B4-BE49-F238E27FC236}">
                <a16:creationId xmlns:a16="http://schemas.microsoft.com/office/drawing/2014/main" id="{0A8EDB57-1B55-4B91-B649-9E4DBC64EDAC}"/>
              </a:ext>
            </a:extLst>
          </p:cNvPr>
          <p:cNvPicPr>
            <a:picLocks noChangeAspect="1" noChangeArrowheads="1"/>
          </p:cNvPicPr>
          <p:nvPr/>
        </p:nvPicPr>
        <p:blipFill rotWithShape="1">
          <a:blip r:embed="rId2" cstate="print">
            <a:clrChange>
              <a:clrFrom>
                <a:srgbClr val="FFFDFF"/>
              </a:clrFrom>
              <a:clrTo>
                <a:srgbClr val="FFFDFF">
                  <a:alpha val="0"/>
                </a:srgbClr>
              </a:clrTo>
            </a:clrChange>
            <a:extLst>
              <a:ext uri="{28A0092B-C50C-407E-A947-70E740481C1C}">
                <a14:useLocalDpi xmlns:a14="http://schemas.microsoft.com/office/drawing/2010/main" val="0"/>
              </a:ext>
            </a:extLst>
          </a:blip>
          <a:srcRect/>
          <a:stretch/>
        </p:blipFill>
        <p:spPr bwMode="auto">
          <a:xfrm>
            <a:off x="1256092" y="2209800"/>
            <a:ext cx="9676639" cy="4343400"/>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CE313467-7E78-4175-9E36-A134D709194E}"/>
              </a:ext>
            </a:extLst>
          </p:cNvPr>
          <p:cNvSpPr>
            <a:spLocks noGrp="1"/>
          </p:cNvSpPr>
          <p:nvPr>
            <p:ph type="title"/>
          </p:nvPr>
        </p:nvSpPr>
        <p:spPr/>
        <p:txBody>
          <a:bodyPr/>
          <a:lstStyle/>
          <a:p>
            <a:r>
              <a:rPr lang="es-ES" dirty="0" err="1"/>
              <a:t>Annotations</a:t>
            </a:r>
            <a:r>
              <a:rPr lang="es-ES" dirty="0"/>
              <a:t> and </a:t>
            </a:r>
            <a:r>
              <a:rPr lang="es-ES" dirty="0" err="1"/>
              <a:t>Inferences</a:t>
            </a:r>
            <a:endParaRPr lang="es-ES" dirty="0"/>
          </a:p>
        </p:txBody>
      </p:sp>
    </p:spTree>
    <p:extLst>
      <p:ext uri="{BB962C8B-B14F-4D97-AF65-F5344CB8AC3E}">
        <p14:creationId xmlns:p14="http://schemas.microsoft.com/office/powerpoint/2010/main" val="224097011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Machine generated alternative text:&#10;Dynamic and Static &#10;TypeScript &#10;Static typing (optional) &#10;Type safety is a compile-time &#10;feature &#10;JavaScript &#10;Dynamictyping &#10;Type safety happens at run-time &#10;debugging ">
            <a:extLst>
              <a:ext uri="{FF2B5EF4-FFF2-40B4-BE49-F238E27FC236}">
                <a16:creationId xmlns:a16="http://schemas.microsoft.com/office/drawing/2014/main" id="{C25010ED-1B0E-4B99-9215-0BF30FB50B6B}"/>
              </a:ext>
            </a:extLst>
          </p:cNvPr>
          <p:cNvPicPr>
            <a:picLocks noChangeAspect="1" noChangeArrowheads="1"/>
          </p:cNvPicPr>
          <p:nvPr/>
        </p:nvPicPr>
        <p:blipFill rotWithShape="1">
          <a:blip r:embed="rId2" cstate="print">
            <a:clrChange>
              <a:clrFrom>
                <a:srgbClr val="FFFDFF"/>
              </a:clrFrom>
              <a:clrTo>
                <a:srgbClr val="FFFDFF">
                  <a:alpha val="0"/>
                </a:srgbClr>
              </a:clrTo>
            </a:clrChange>
            <a:extLst>
              <a:ext uri="{28A0092B-C50C-407E-A947-70E740481C1C}">
                <a14:useLocalDpi xmlns:a14="http://schemas.microsoft.com/office/drawing/2010/main" val="0"/>
              </a:ext>
            </a:extLst>
          </a:blip>
          <a:srcRect/>
          <a:stretch/>
        </p:blipFill>
        <p:spPr bwMode="auto">
          <a:xfrm>
            <a:off x="716732" y="1600200"/>
            <a:ext cx="10755360" cy="4835832"/>
          </a:xfrm>
          <a:prstGeom prst="rect">
            <a:avLst/>
          </a:prstGeom>
          <a:noFill/>
          <a:extLst>
            <a:ext uri="{909E8E84-426E-40DD-AFC4-6F175D3DCCD1}">
              <a14:hiddenFill xmlns:a14="http://schemas.microsoft.com/office/drawing/2010/main">
                <a:solidFill>
                  <a:srgbClr val="FFFFFF"/>
                </a:solidFill>
              </a14:hiddenFill>
            </a:ext>
          </a:extLst>
        </p:spPr>
      </p:pic>
      <p:sp>
        <p:nvSpPr>
          <p:cNvPr id="4" name="Título 3">
            <a:extLst>
              <a:ext uri="{FF2B5EF4-FFF2-40B4-BE49-F238E27FC236}">
                <a16:creationId xmlns:a16="http://schemas.microsoft.com/office/drawing/2014/main" id="{F0856E57-BC07-43C0-86A4-691A574E4444}"/>
              </a:ext>
            </a:extLst>
          </p:cNvPr>
          <p:cNvSpPr>
            <a:spLocks noGrp="1"/>
          </p:cNvSpPr>
          <p:nvPr>
            <p:ph type="title"/>
          </p:nvPr>
        </p:nvSpPr>
        <p:spPr/>
        <p:txBody>
          <a:bodyPr/>
          <a:lstStyle/>
          <a:p>
            <a:r>
              <a:rPr lang="es-ES" dirty="0"/>
              <a:t>Dynamic and </a:t>
            </a:r>
            <a:r>
              <a:rPr lang="es-ES" dirty="0" err="1"/>
              <a:t>Static</a:t>
            </a:r>
            <a:endParaRPr lang="es-ES" dirty="0"/>
          </a:p>
        </p:txBody>
      </p:sp>
    </p:spTree>
    <p:extLst>
      <p:ext uri="{BB962C8B-B14F-4D97-AF65-F5344CB8AC3E}">
        <p14:creationId xmlns:p14="http://schemas.microsoft.com/office/powerpoint/2010/main" val="405579449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E980E4B-D490-4041-9315-57D515C6B591}"/>
              </a:ext>
            </a:extLst>
          </p:cNvPr>
          <p:cNvPicPr>
            <a:picLocks noChangeAspect="1"/>
          </p:cNvPicPr>
          <p:nvPr/>
        </p:nvPicPr>
        <p:blipFill rotWithShape="1">
          <a:blip r:embed="rId2">
            <a:clrChange>
              <a:clrFrom>
                <a:srgbClr val="FFFDFF"/>
              </a:clrFrom>
              <a:clrTo>
                <a:srgbClr val="FFFDFF">
                  <a:alpha val="0"/>
                </a:srgbClr>
              </a:clrTo>
            </a:clrChange>
          </a:blip>
          <a:srcRect t="23603"/>
          <a:stretch/>
        </p:blipFill>
        <p:spPr>
          <a:xfrm>
            <a:off x="288874" y="1690688"/>
            <a:ext cx="11611075" cy="4485619"/>
          </a:xfrm>
          <a:prstGeom prst="rect">
            <a:avLst/>
          </a:prstGeom>
        </p:spPr>
      </p:pic>
      <p:sp>
        <p:nvSpPr>
          <p:cNvPr id="2" name="Título 1">
            <a:extLst>
              <a:ext uri="{FF2B5EF4-FFF2-40B4-BE49-F238E27FC236}">
                <a16:creationId xmlns:a16="http://schemas.microsoft.com/office/drawing/2014/main" id="{B5DF6D38-74DF-401A-BDB9-3DB5245851FC}"/>
              </a:ext>
            </a:extLst>
          </p:cNvPr>
          <p:cNvSpPr>
            <a:spLocks noGrp="1"/>
          </p:cNvSpPr>
          <p:nvPr>
            <p:ph type="title"/>
          </p:nvPr>
        </p:nvSpPr>
        <p:spPr/>
        <p:txBody>
          <a:bodyPr/>
          <a:lstStyle/>
          <a:p>
            <a:r>
              <a:rPr lang="es-ES" dirty="0" err="1"/>
              <a:t>JavaScript’s</a:t>
            </a:r>
            <a:r>
              <a:rPr lang="es-ES" dirty="0"/>
              <a:t> Dynamic </a:t>
            </a:r>
            <a:r>
              <a:rPr lang="es-ES" dirty="0" err="1"/>
              <a:t>Types</a:t>
            </a:r>
            <a:endParaRPr lang="es-ES" dirty="0"/>
          </a:p>
        </p:txBody>
      </p:sp>
    </p:spTree>
    <p:extLst>
      <p:ext uri="{BB962C8B-B14F-4D97-AF65-F5344CB8AC3E}">
        <p14:creationId xmlns:p14="http://schemas.microsoft.com/office/powerpoint/2010/main" val="72681255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8" name="Picture 4" descr="Machine generated alternative text:&#10;Arrays and Indexers &#10;= ['John', 'Dan', &#10;var names: string[] &#10;var firstPerson: string; &#10;firstPerson &#10;= names[0]; &#10;' Aaron ' &#10;'Fritz']; &#10;indexer ">
            <a:extLst>
              <a:ext uri="{FF2B5EF4-FFF2-40B4-BE49-F238E27FC236}">
                <a16:creationId xmlns:a16="http://schemas.microsoft.com/office/drawing/2014/main" id="{54C9CA6B-DD0C-4BB9-8451-1D98744932D2}"/>
              </a:ext>
            </a:extLst>
          </p:cNvPr>
          <p:cNvPicPr>
            <a:picLocks noChangeAspect="1" noChangeArrowheads="1"/>
          </p:cNvPicPr>
          <p:nvPr/>
        </p:nvPicPr>
        <p:blipFill rotWithShape="1">
          <a:blip r:embed="rId2" cstate="print">
            <a:clrChange>
              <a:clrFrom>
                <a:srgbClr val="FDFCFE"/>
              </a:clrFrom>
              <a:clrTo>
                <a:srgbClr val="FDFCFE">
                  <a:alpha val="0"/>
                </a:srgbClr>
              </a:clrTo>
            </a:clrChange>
            <a:extLst>
              <a:ext uri="{28A0092B-C50C-407E-A947-70E740481C1C}">
                <a14:useLocalDpi xmlns:a14="http://schemas.microsoft.com/office/drawing/2010/main" val="0"/>
              </a:ext>
            </a:extLst>
          </a:blip>
          <a:srcRect/>
          <a:stretch/>
        </p:blipFill>
        <p:spPr bwMode="auto">
          <a:xfrm>
            <a:off x="1446212" y="2438400"/>
            <a:ext cx="9296400" cy="3198517"/>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EFD9FAEC-F7DD-4FDB-86E2-AAEE85DEB96D}"/>
              </a:ext>
            </a:extLst>
          </p:cNvPr>
          <p:cNvSpPr>
            <a:spLocks noGrp="1"/>
          </p:cNvSpPr>
          <p:nvPr>
            <p:ph type="title"/>
          </p:nvPr>
        </p:nvSpPr>
        <p:spPr/>
        <p:txBody>
          <a:bodyPr/>
          <a:lstStyle/>
          <a:p>
            <a:r>
              <a:rPr lang="es-ES" dirty="0" err="1"/>
              <a:t>Arrays</a:t>
            </a:r>
            <a:r>
              <a:rPr lang="es-ES" dirty="0"/>
              <a:t> and </a:t>
            </a:r>
            <a:r>
              <a:rPr lang="es-ES" dirty="0" err="1"/>
              <a:t>Indexers</a:t>
            </a:r>
            <a:endParaRPr lang="es-ES" dirty="0"/>
          </a:p>
        </p:txBody>
      </p:sp>
    </p:spTree>
    <p:extLst>
      <p:ext uri="{BB962C8B-B14F-4D97-AF65-F5344CB8AC3E}">
        <p14:creationId xmlns:p14="http://schemas.microsoft.com/office/powerpoint/2010/main" val="72476371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70018" name="Rectangle 2"/>
          <p:cNvSpPr>
            <a:spLocks noGrp="1" noChangeArrowheads="1"/>
          </p:cNvSpPr>
          <p:nvPr>
            <p:ph type="title"/>
          </p:nvPr>
        </p:nvSpPr>
        <p:spPr/>
        <p:txBody>
          <a:bodyPr>
            <a:normAutofit fontScale="90000"/>
          </a:bodyPr>
          <a:lstStyle/>
          <a:p>
            <a:pPr>
              <a:lnSpc>
                <a:spcPct val="100000"/>
              </a:lnSpc>
            </a:pPr>
            <a:r>
              <a:rPr lang="en-US" sz="3600" dirty="0"/>
              <a:t>Lets start with simple JavaScript</a:t>
            </a:r>
            <a:endParaRPr lang="en-US" sz="3600" dirty="0">
              <a:solidFill>
                <a:schemeClr val="accent1">
                  <a:lumMod val="60000"/>
                  <a:lumOff val="40000"/>
                </a:schemeClr>
              </a:solidFill>
            </a:endParaRPr>
          </a:p>
        </p:txBody>
      </p:sp>
      <p:sp>
        <p:nvSpPr>
          <p:cNvPr id="470019" name="Rectangle 3"/>
          <p:cNvSpPr>
            <a:spLocks noGrp="1" noChangeArrowheads="1"/>
          </p:cNvSpPr>
          <p:nvPr>
            <p:ph idx="1"/>
          </p:nvPr>
        </p:nvSpPr>
        <p:spPr/>
        <p:txBody>
          <a:bodyPr>
            <a:normAutofit/>
          </a:bodyPr>
          <a:lstStyle/>
          <a:p>
            <a:pPr marL="0" indent="0">
              <a:lnSpc>
                <a:spcPct val="100000"/>
              </a:lnSpc>
              <a:buNone/>
            </a:pPr>
            <a:endParaRPr lang="en-US" sz="2800" dirty="0">
              <a:solidFill>
                <a:schemeClr val="accent1">
                  <a:lumMod val="60000"/>
                  <a:lumOff val="40000"/>
                </a:schemeClr>
              </a:solidFill>
            </a:endParaRPr>
          </a:p>
          <a:p>
            <a:pPr>
              <a:lnSpc>
                <a:spcPct val="100000"/>
              </a:lnSpc>
              <a:spcBef>
                <a:spcPts val="0"/>
              </a:spcBef>
              <a:spcAft>
                <a:spcPts val="0"/>
              </a:spcAft>
            </a:pPr>
            <a:endParaRPr lang="en-US" sz="2800" dirty="0">
              <a:solidFill>
                <a:schemeClr val="accent1">
                  <a:lumMod val="60000"/>
                  <a:lumOff val="40000"/>
                </a:schemeClr>
              </a:solidFill>
            </a:endParaRPr>
          </a:p>
        </p:txBody>
      </p:sp>
      <p:sp>
        <p:nvSpPr>
          <p:cNvPr id="6" name="Rectangle 4"/>
          <p:cNvSpPr>
            <a:spLocks noChangeArrowheads="1"/>
          </p:cNvSpPr>
          <p:nvPr/>
        </p:nvSpPr>
        <p:spPr bwMode="auto">
          <a:xfrm>
            <a:off x="533401" y="1537675"/>
            <a:ext cx="9599611" cy="4093428"/>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pPr>
            <a:r>
              <a:rPr lang="en-US" sz="2000" b="1" noProof="1">
                <a:latin typeface="Consolas" pitchFamily="49" charset="0"/>
                <a:cs typeface="Consolas" pitchFamily="49" charset="0"/>
              </a:rPr>
              <a:t>function Greeter(greeting) {</a:t>
            </a:r>
          </a:p>
          <a:p>
            <a:pPr eaLnBrk="0" hangingPunct="0">
              <a:buClr>
                <a:schemeClr val="accent5">
                  <a:lumMod val="40000"/>
                  <a:lumOff val="60000"/>
                </a:schemeClr>
              </a:buClr>
              <a:buSzPct val="70000"/>
            </a:pPr>
            <a:r>
              <a:rPr lang="en-US" sz="2000" b="1" noProof="1">
                <a:latin typeface="Consolas" pitchFamily="49" charset="0"/>
                <a:cs typeface="Consolas" pitchFamily="49" charset="0"/>
              </a:rPr>
              <a:t>    this.greeting = greeting;</a:t>
            </a:r>
          </a:p>
          <a:p>
            <a:pPr eaLnBrk="0" hangingPunct="0">
              <a:buClr>
                <a:schemeClr val="accent5">
                  <a:lumMod val="40000"/>
                  <a:lumOff val="60000"/>
                </a:schemeClr>
              </a:buClr>
              <a:buSzPct val="70000"/>
            </a:pPr>
            <a:r>
              <a:rPr lang="en-US" sz="2000" b="1" noProof="1">
                <a:latin typeface="Consolas" pitchFamily="49" charset="0"/>
                <a:cs typeface="Consolas" pitchFamily="49" charset="0"/>
              </a:rPr>
              <a:t>}</a:t>
            </a:r>
          </a:p>
          <a:p>
            <a:pPr eaLnBrk="0" hangingPunct="0">
              <a:buClr>
                <a:schemeClr val="accent5">
                  <a:lumMod val="40000"/>
                  <a:lumOff val="60000"/>
                </a:schemeClr>
              </a:buClr>
              <a:buSzPct val="70000"/>
            </a:pPr>
            <a:endParaRPr lang="en-US" sz="2000" b="1" noProof="1">
              <a:latin typeface="Consolas" pitchFamily="49" charset="0"/>
              <a:cs typeface="Consolas" pitchFamily="49" charset="0"/>
            </a:endParaRPr>
          </a:p>
          <a:p>
            <a:pPr eaLnBrk="0" hangingPunct="0">
              <a:buClr>
                <a:schemeClr val="accent5">
                  <a:lumMod val="40000"/>
                  <a:lumOff val="60000"/>
                </a:schemeClr>
              </a:buClr>
              <a:buSzPct val="70000"/>
            </a:pPr>
            <a:r>
              <a:rPr lang="en-US" sz="2000" b="1" noProof="1">
                <a:latin typeface="Consolas" pitchFamily="49" charset="0"/>
                <a:cs typeface="Consolas" pitchFamily="49" charset="0"/>
              </a:rPr>
              <a:t>Greeter.prototype.greet = function() {</a:t>
            </a:r>
          </a:p>
          <a:p>
            <a:pPr eaLnBrk="0" hangingPunct="0">
              <a:buClr>
                <a:schemeClr val="accent5">
                  <a:lumMod val="40000"/>
                  <a:lumOff val="60000"/>
                </a:schemeClr>
              </a:buClr>
              <a:buSzPct val="70000"/>
            </a:pPr>
            <a:r>
              <a:rPr lang="en-US" sz="2000" b="1" noProof="1">
                <a:latin typeface="Consolas" pitchFamily="49" charset="0"/>
                <a:cs typeface="Consolas" pitchFamily="49" charset="0"/>
              </a:rPr>
              <a:t>    return "Hello, " + this.greeting;</a:t>
            </a:r>
          </a:p>
          <a:p>
            <a:pPr eaLnBrk="0" hangingPunct="0">
              <a:buClr>
                <a:schemeClr val="accent5">
                  <a:lumMod val="40000"/>
                  <a:lumOff val="60000"/>
                </a:schemeClr>
              </a:buClr>
              <a:buSzPct val="70000"/>
            </a:pPr>
            <a:r>
              <a:rPr lang="en-US" sz="2000" b="1" noProof="1">
                <a:latin typeface="Consolas" pitchFamily="49" charset="0"/>
                <a:cs typeface="Consolas" pitchFamily="49" charset="0"/>
              </a:rPr>
              <a:t>}</a:t>
            </a:r>
          </a:p>
          <a:p>
            <a:pPr eaLnBrk="0" hangingPunct="0">
              <a:buClr>
                <a:schemeClr val="accent5">
                  <a:lumMod val="40000"/>
                  <a:lumOff val="60000"/>
                </a:schemeClr>
              </a:buClr>
              <a:buSzPct val="70000"/>
            </a:pPr>
            <a:endParaRPr lang="en-US" sz="2000" b="1" noProof="1">
              <a:latin typeface="Consolas" pitchFamily="49" charset="0"/>
              <a:cs typeface="Consolas" pitchFamily="49" charset="0"/>
            </a:endParaRPr>
          </a:p>
          <a:p>
            <a:pPr eaLnBrk="0" hangingPunct="0">
              <a:buClr>
                <a:schemeClr val="accent5">
                  <a:lumMod val="40000"/>
                  <a:lumOff val="60000"/>
                </a:schemeClr>
              </a:buClr>
              <a:buSzPct val="70000"/>
            </a:pPr>
            <a:r>
              <a:rPr lang="en-US" sz="2000" b="1" noProof="1">
                <a:latin typeface="Consolas" pitchFamily="49" charset="0"/>
                <a:cs typeface="Consolas" pitchFamily="49" charset="0"/>
              </a:rPr>
              <a:t>let greeter = new Greeter("world");</a:t>
            </a:r>
          </a:p>
          <a:p>
            <a:pPr eaLnBrk="0" hangingPunct="0">
              <a:buClr>
                <a:schemeClr val="accent5">
                  <a:lumMod val="40000"/>
                  <a:lumOff val="60000"/>
                </a:schemeClr>
              </a:buClr>
              <a:buSzPct val="70000"/>
            </a:pPr>
            <a:endParaRPr lang="en-US" sz="2000" b="1" noProof="1">
              <a:latin typeface="Consolas" pitchFamily="49" charset="0"/>
              <a:cs typeface="Consolas" pitchFamily="49" charset="0"/>
            </a:endParaRPr>
          </a:p>
          <a:p>
            <a:pPr eaLnBrk="0" hangingPunct="0">
              <a:buClr>
                <a:schemeClr val="accent5">
                  <a:lumMod val="40000"/>
                  <a:lumOff val="60000"/>
                </a:schemeClr>
              </a:buClr>
              <a:buSzPct val="70000"/>
            </a:pPr>
            <a:r>
              <a:rPr lang="en-US" sz="2000" b="1" noProof="1">
                <a:latin typeface="Consolas" pitchFamily="49" charset="0"/>
                <a:cs typeface="Consolas" pitchFamily="49" charset="0"/>
              </a:rPr>
              <a:t>let greeting = greeter.greet();</a:t>
            </a:r>
          </a:p>
          <a:p>
            <a:pPr eaLnBrk="0" hangingPunct="0">
              <a:buClr>
                <a:schemeClr val="accent5">
                  <a:lumMod val="40000"/>
                  <a:lumOff val="60000"/>
                </a:schemeClr>
              </a:buClr>
              <a:buSzPct val="70000"/>
            </a:pPr>
            <a:endParaRPr lang="en-US" sz="2000" b="1" noProof="1">
              <a:latin typeface="Consolas" pitchFamily="49" charset="0"/>
              <a:cs typeface="Consolas" pitchFamily="49" charset="0"/>
            </a:endParaRPr>
          </a:p>
          <a:p>
            <a:pPr eaLnBrk="0" hangingPunct="0">
              <a:buClr>
                <a:schemeClr val="accent5">
                  <a:lumMod val="40000"/>
                  <a:lumOff val="60000"/>
                </a:schemeClr>
              </a:buClr>
              <a:buSzPct val="70000"/>
            </a:pPr>
            <a:r>
              <a:rPr lang="en-US" sz="2000" b="1" noProof="1">
                <a:latin typeface="Consolas" pitchFamily="49" charset="0"/>
                <a:cs typeface="Consolas" pitchFamily="49" charset="0"/>
              </a:rPr>
              <a:t>console.log(greeting)</a:t>
            </a:r>
          </a:p>
        </p:txBody>
      </p:sp>
      <p:sp>
        <p:nvSpPr>
          <p:cNvPr id="7" name="Rectángulo 6">
            <a:extLst>
              <a:ext uri="{FF2B5EF4-FFF2-40B4-BE49-F238E27FC236}">
                <a16:creationId xmlns:a16="http://schemas.microsoft.com/office/drawing/2014/main" id="{E8E415E5-8B77-4B2B-BA5C-BFF283F907B2}"/>
              </a:ext>
            </a:extLst>
          </p:cNvPr>
          <p:cNvSpPr/>
          <p:nvPr/>
        </p:nvSpPr>
        <p:spPr>
          <a:xfrm>
            <a:off x="10606209" y="180232"/>
            <a:ext cx="1614545" cy="830997"/>
          </a:xfrm>
          <a:prstGeom prst="rect">
            <a:avLst/>
          </a:prstGeom>
        </p:spPr>
        <p:txBody>
          <a:bodyPr wrap="none">
            <a:spAutoFit/>
          </a:bodyPr>
          <a:lstStyle/>
          <a:p>
            <a:r>
              <a:rPr lang="en-US" sz="4800" b="1" dirty="0">
                <a:solidFill>
                  <a:srgbClr val="FF0000"/>
                </a:solidFill>
              </a:rPr>
              <a:t>LAB2 </a:t>
            </a:r>
            <a:endParaRPr lang="es-ES" sz="4800" dirty="0">
              <a:solidFill>
                <a:srgbClr val="FF0000"/>
              </a:solidFill>
            </a:endParaRPr>
          </a:p>
        </p:txBody>
      </p:sp>
      <p:sp>
        <p:nvSpPr>
          <p:cNvPr id="8" name="Rectángulo 7">
            <a:extLst>
              <a:ext uri="{FF2B5EF4-FFF2-40B4-BE49-F238E27FC236}">
                <a16:creationId xmlns:a16="http://schemas.microsoft.com/office/drawing/2014/main" id="{BA40FF99-299F-4BB6-A2B0-1BBA1A8D545A}"/>
              </a:ext>
            </a:extLst>
          </p:cNvPr>
          <p:cNvSpPr/>
          <p:nvPr/>
        </p:nvSpPr>
        <p:spPr>
          <a:xfrm>
            <a:off x="10366848" y="874318"/>
            <a:ext cx="1637436" cy="369332"/>
          </a:xfrm>
          <a:prstGeom prst="rect">
            <a:avLst/>
          </a:prstGeom>
        </p:spPr>
        <p:txBody>
          <a:bodyPr wrap="none">
            <a:spAutoFit/>
          </a:bodyPr>
          <a:lstStyle/>
          <a:p>
            <a:r>
              <a:rPr lang="es-ES" dirty="0"/>
              <a:t>C:\Labs\T1\EX2</a:t>
            </a:r>
          </a:p>
        </p:txBody>
      </p:sp>
    </p:spTree>
    <p:extLst>
      <p:ext uri="{BB962C8B-B14F-4D97-AF65-F5344CB8AC3E}">
        <p14:creationId xmlns:p14="http://schemas.microsoft.com/office/powerpoint/2010/main" val="373476806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70018" name="Rectangle 2"/>
          <p:cNvSpPr>
            <a:spLocks noGrp="1" noChangeArrowheads="1"/>
          </p:cNvSpPr>
          <p:nvPr>
            <p:ph type="title"/>
          </p:nvPr>
        </p:nvSpPr>
        <p:spPr/>
        <p:txBody>
          <a:bodyPr>
            <a:normAutofit fontScale="90000"/>
          </a:bodyPr>
          <a:lstStyle/>
          <a:p>
            <a:pPr>
              <a:lnSpc>
                <a:spcPct val="100000"/>
              </a:lnSpc>
            </a:pPr>
            <a:r>
              <a:rPr lang="en-US" sz="3600" dirty="0"/>
              <a:t>Typescript: Adding types</a:t>
            </a:r>
            <a:endParaRPr lang="en-US" sz="3600" dirty="0">
              <a:solidFill>
                <a:schemeClr val="accent1">
                  <a:lumMod val="60000"/>
                  <a:lumOff val="40000"/>
                </a:schemeClr>
              </a:solidFill>
            </a:endParaRPr>
          </a:p>
        </p:txBody>
      </p:sp>
      <p:sp>
        <p:nvSpPr>
          <p:cNvPr id="470019" name="Rectangle 3"/>
          <p:cNvSpPr>
            <a:spLocks noGrp="1" noChangeArrowheads="1"/>
          </p:cNvSpPr>
          <p:nvPr>
            <p:ph idx="1"/>
          </p:nvPr>
        </p:nvSpPr>
        <p:spPr/>
        <p:txBody>
          <a:bodyPr>
            <a:normAutofit/>
          </a:bodyPr>
          <a:lstStyle/>
          <a:p>
            <a:pPr marL="0" indent="0">
              <a:lnSpc>
                <a:spcPct val="100000"/>
              </a:lnSpc>
              <a:buNone/>
            </a:pPr>
            <a:endParaRPr lang="en-US" sz="2800" dirty="0">
              <a:solidFill>
                <a:schemeClr val="accent1">
                  <a:lumMod val="60000"/>
                  <a:lumOff val="40000"/>
                </a:schemeClr>
              </a:solidFill>
            </a:endParaRPr>
          </a:p>
          <a:p>
            <a:pPr>
              <a:lnSpc>
                <a:spcPct val="100000"/>
              </a:lnSpc>
              <a:spcBef>
                <a:spcPts val="0"/>
              </a:spcBef>
              <a:spcAft>
                <a:spcPts val="0"/>
              </a:spcAft>
            </a:pPr>
            <a:endParaRPr lang="en-US" sz="2800" dirty="0">
              <a:solidFill>
                <a:schemeClr val="accent1">
                  <a:lumMod val="60000"/>
                  <a:lumOff val="40000"/>
                </a:schemeClr>
              </a:solidFill>
            </a:endParaRPr>
          </a:p>
        </p:txBody>
      </p:sp>
      <p:sp>
        <p:nvSpPr>
          <p:cNvPr id="6" name="Rectangle 4"/>
          <p:cNvSpPr>
            <a:spLocks noChangeArrowheads="1"/>
          </p:cNvSpPr>
          <p:nvPr/>
        </p:nvSpPr>
        <p:spPr bwMode="auto">
          <a:xfrm>
            <a:off x="533401" y="1537675"/>
            <a:ext cx="9599611" cy="4093428"/>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pPr>
            <a:r>
              <a:rPr lang="en-US" sz="2000" b="1" noProof="1">
                <a:latin typeface="Consolas" pitchFamily="49" charset="0"/>
                <a:cs typeface="Consolas" pitchFamily="49" charset="0"/>
              </a:rPr>
              <a:t>function Greeter(greeting: </a:t>
            </a:r>
            <a:r>
              <a:rPr lang="en-US" sz="2000" b="1" noProof="1">
                <a:solidFill>
                  <a:srgbClr val="FF0000"/>
                </a:solidFill>
                <a:latin typeface="Consolas" pitchFamily="49" charset="0"/>
                <a:cs typeface="Consolas" pitchFamily="49" charset="0"/>
              </a:rPr>
              <a:t>string</a:t>
            </a:r>
            <a:r>
              <a:rPr lang="en-US" sz="2000" b="1" noProof="1">
                <a:latin typeface="Consolas" pitchFamily="49" charset="0"/>
                <a:cs typeface="Consolas" pitchFamily="49" charset="0"/>
              </a:rPr>
              <a:t>) {</a:t>
            </a:r>
          </a:p>
          <a:p>
            <a:pPr eaLnBrk="0" hangingPunct="0">
              <a:buClr>
                <a:schemeClr val="accent5">
                  <a:lumMod val="40000"/>
                  <a:lumOff val="60000"/>
                </a:schemeClr>
              </a:buClr>
              <a:buSzPct val="70000"/>
            </a:pPr>
            <a:r>
              <a:rPr lang="en-US" sz="2000" b="1" noProof="1">
                <a:latin typeface="Consolas" pitchFamily="49" charset="0"/>
                <a:cs typeface="Consolas" pitchFamily="49" charset="0"/>
              </a:rPr>
              <a:t>    this.greeting = greeting;</a:t>
            </a:r>
          </a:p>
          <a:p>
            <a:pPr eaLnBrk="0" hangingPunct="0">
              <a:buClr>
                <a:schemeClr val="accent5">
                  <a:lumMod val="40000"/>
                  <a:lumOff val="60000"/>
                </a:schemeClr>
              </a:buClr>
              <a:buSzPct val="70000"/>
            </a:pPr>
            <a:r>
              <a:rPr lang="en-US" sz="2000" b="1" noProof="1">
                <a:latin typeface="Consolas" pitchFamily="49" charset="0"/>
                <a:cs typeface="Consolas" pitchFamily="49" charset="0"/>
              </a:rPr>
              <a:t>}</a:t>
            </a:r>
          </a:p>
          <a:p>
            <a:pPr eaLnBrk="0" hangingPunct="0">
              <a:buClr>
                <a:schemeClr val="accent5">
                  <a:lumMod val="40000"/>
                  <a:lumOff val="60000"/>
                </a:schemeClr>
              </a:buClr>
              <a:buSzPct val="70000"/>
            </a:pPr>
            <a:endParaRPr lang="en-US" sz="2000" b="1" noProof="1">
              <a:latin typeface="Consolas" pitchFamily="49" charset="0"/>
              <a:cs typeface="Consolas" pitchFamily="49" charset="0"/>
            </a:endParaRPr>
          </a:p>
          <a:p>
            <a:pPr eaLnBrk="0" hangingPunct="0">
              <a:buClr>
                <a:schemeClr val="accent5">
                  <a:lumMod val="40000"/>
                  <a:lumOff val="60000"/>
                </a:schemeClr>
              </a:buClr>
              <a:buSzPct val="70000"/>
            </a:pPr>
            <a:r>
              <a:rPr lang="en-US" sz="2000" b="1" noProof="1">
                <a:latin typeface="Consolas" pitchFamily="49" charset="0"/>
                <a:cs typeface="Consolas" pitchFamily="49" charset="0"/>
              </a:rPr>
              <a:t>Greeter.prototype.greet = function() {</a:t>
            </a:r>
          </a:p>
          <a:p>
            <a:pPr eaLnBrk="0" hangingPunct="0">
              <a:buClr>
                <a:schemeClr val="accent5">
                  <a:lumMod val="40000"/>
                  <a:lumOff val="60000"/>
                </a:schemeClr>
              </a:buClr>
              <a:buSzPct val="70000"/>
            </a:pPr>
            <a:r>
              <a:rPr lang="en-US" sz="2000" b="1" noProof="1">
                <a:latin typeface="Consolas" pitchFamily="49" charset="0"/>
                <a:cs typeface="Consolas" pitchFamily="49" charset="0"/>
              </a:rPr>
              <a:t>    return "Hello, " + this.greeting;</a:t>
            </a:r>
          </a:p>
          <a:p>
            <a:pPr eaLnBrk="0" hangingPunct="0">
              <a:buClr>
                <a:schemeClr val="accent5">
                  <a:lumMod val="40000"/>
                  <a:lumOff val="60000"/>
                </a:schemeClr>
              </a:buClr>
              <a:buSzPct val="70000"/>
            </a:pPr>
            <a:r>
              <a:rPr lang="en-US" sz="2000" b="1" noProof="1">
                <a:latin typeface="Consolas" pitchFamily="49" charset="0"/>
                <a:cs typeface="Consolas" pitchFamily="49" charset="0"/>
              </a:rPr>
              <a:t>}</a:t>
            </a:r>
          </a:p>
          <a:p>
            <a:pPr eaLnBrk="0" hangingPunct="0">
              <a:buClr>
                <a:schemeClr val="accent5">
                  <a:lumMod val="40000"/>
                  <a:lumOff val="60000"/>
                </a:schemeClr>
              </a:buClr>
              <a:buSzPct val="70000"/>
            </a:pPr>
            <a:endParaRPr lang="en-US" sz="2000" b="1" noProof="1">
              <a:latin typeface="Consolas" pitchFamily="49" charset="0"/>
              <a:cs typeface="Consolas" pitchFamily="49" charset="0"/>
            </a:endParaRPr>
          </a:p>
          <a:p>
            <a:pPr eaLnBrk="0" hangingPunct="0">
              <a:buClr>
                <a:schemeClr val="accent5">
                  <a:lumMod val="40000"/>
                  <a:lumOff val="60000"/>
                </a:schemeClr>
              </a:buClr>
              <a:buSzPct val="70000"/>
            </a:pPr>
            <a:r>
              <a:rPr lang="en-US" sz="2000" b="1" noProof="1">
                <a:latin typeface="Consolas" pitchFamily="49" charset="0"/>
                <a:cs typeface="Consolas" pitchFamily="49" charset="0"/>
              </a:rPr>
              <a:t>let greeter = new Greeter("world");</a:t>
            </a:r>
          </a:p>
          <a:p>
            <a:pPr eaLnBrk="0" hangingPunct="0">
              <a:buClr>
                <a:schemeClr val="accent5">
                  <a:lumMod val="40000"/>
                  <a:lumOff val="60000"/>
                </a:schemeClr>
              </a:buClr>
              <a:buSzPct val="70000"/>
            </a:pPr>
            <a:endParaRPr lang="en-US" sz="2000" b="1" noProof="1">
              <a:latin typeface="Consolas" pitchFamily="49" charset="0"/>
              <a:cs typeface="Consolas" pitchFamily="49" charset="0"/>
            </a:endParaRPr>
          </a:p>
          <a:p>
            <a:pPr eaLnBrk="0" hangingPunct="0">
              <a:buClr>
                <a:schemeClr val="accent5">
                  <a:lumMod val="40000"/>
                  <a:lumOff val="60000"/>
                </a:schemeClr>
              </a:buClr>
              <a:buSzPct val="70000"/>
            </a:pPr>
            <a:r>
              <a:rPr lang="en-US" sz="2000" b="1" noProof="1">
                <a:latin typeface="Consolas" pitchFamily="49" charset="0"/>
                <a:cs typeface="Consolas" pitchFamily="49" charset="0"/>
              </a:rPr>
              <a:t>let greeting = greeter.greet();</a:t>
            </a:r>
          </a:p>
          <a:p>
            <a:pPr eaLnBrk="0" hangingPunct="0">
              <a:buClr>
                <a:schemeClr val="accent5">
                  <a:lumMod val="40000"/>
                  <a:lumOff val="60000"/>
                </a:schemeClr>
              </a:buClr>
              <a:buSzPct val="70000"/>
            </a:pPr>
            <a:endParaRPr lang="en-US" sz="2000" b="1" noProof="1">
              <a:latin typeface="Consolas" pitchFamily="49" charset="0"/>
              <a:cs typeface="Consolas" pitchFamily="49" charset="0"/>
            </a:endParaRPr>
          </a:p>
          <a:p>
            <a:pPr eaLnBrk="0" hangingPunct="0">
              <a:buClr>
                <a:schemeClr val="accent5">
                  <a:lumMod val="40000"/>
                  <a:lumOff val="60000"/>
                </a:schemeClr>
              </a:buClr>
              <a:buSzPct val="70000"/>
            </a:pPr>
            <a:r>
              <a:rPr lang="en-US" sz="2000" b="1" noProof="1">
                <a:latin typeface="Consolas" pitchFamily="49" charset="0"/>
                <a:cs typeface="Consolas" pitchFamily="49" charset="0"/>
              </a:rPr>
              <a:t>console.log(greeting)</a:t>
            </a:r>
          </a:p>
        </p:txBody>
      </p:sp>
      <p:sp>
        <p:nvSpPr>
          <p:cNvPr id="7" name="Rectángulo 6">
            <a:extLst>
              <a:ext uri="{FF2B5EF4-FFF2-40B4-BE49-F238E27FC236}">
                <a16:creationId xmlns:a16="http://schemas.microsoft.com/office/drawing/2014/main" id="{F120919E-159A-4547-B5CE-BEEA7A497283}"/>
              </a:ext>
            </a:extLst>
          </p:cNvPr>
          <p:cNvSpPr/>
          <p:nvPr/>
        </p:nvSpPr>
        <p:spPr>
          <a:xfrm>
            <a:off x="10606209" y="180232"/>
            <a:ext cx="1614545" cy="830997"/>
          </a:xfrm>
          <a:prstGeom prst="rect">
            <a:avLst/>
          </a:prstGeom>
        </p:spPr>
        <p:txBody>
          <a:bodyPr wrap="none">
            <a:spAutoFit/>
          </a:bodyPr>
          <a:lstStyle/>
          <a:p>
            <a:r>
              <a:rPr lang="en-US" sz="4800" b="1" dirty="0">
                <a:solidFill>
                  <a:srgbClr val="FF0000"/>
                </a:solidFill>
              </a:rPr>
              <a:t>LAB2 </a:t>
            </a:r>
            <a:endParaRPr lang="es-ES" sz="4800" dirty="0">
              <a:solidFill>
                <a:srgbClr val="FF0000"/>
              </a:solidFill>
            </a:endParaRPr>
          </a:p>
        </p:txBody>
      </p:sp>
      <p:sp>
        <p:nvSpPr>
          <p:cNvPr id="8" name="Rectángulo 7">
            <a:extLst>
              <a:ext uri="{FF2B5EF4-FFF2-40B4-BE49-F238E27FC236}">
                <a16:creationId xmlns:a16="http://schemas.microsoft.com/office/drawing/2014/main" id="{B38A2BD0-F3B9-4208-A9C1-0EEACAFD31FE}"/>
              </a:ext>
            </a:extLst>
          </p:cNvPr>
          <p:cNvSpPr/>
          <p:nvPr/>
        </p:nvSpPr>
        <p:spPr>
          <a:xfrm>
            <a:off x="10366848" y="874318"/>
            <a:ext cx="1637436" cy="369332"/>
          </a:xfrm>
          <a:prstGeom prst="rect">
            <a:avLst/>
          </a:prstGeom>
        </p:spPr>
        <p:txBody>
          <a:bodyPr wrap="none">
            <a:spAutoFit/>
          </a:bodyPr>
          <a:lstStyle/>
          <a:p>
            <a:r>
              <a:rPr lang="es-ES" dirty="0"/>
              <a:t>C:\Labs\T1\EX2</a:t>
            </a:r>
          </a:p>
        </p:txBody>
      </p:sp>
    </p:spTree>
    <p:extLst>
      <p:ext uri="{BB962C8B-B14F-4D97-AF65-F5344CB8AC3E}">
        <p14:creationId xmlns:p14="http://schemas.microsoft.com/office/powerpoint/2010/main" val="31585237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F1E55F5-CFDB-43C3-B892-00703185FF68}"/>
              </a:ext>
            </a:extLst>
          </p:cNvPr>
          <p:cNvPicPr>
            <a:picLocks noChangeAspect="1"/>
          </p:cNvPicPr>
          <p:nvPr/>
        </p:nvPicPr>
        <p:blipFill rotWithShape="1">
          <a:blip r:embed="rId2">
            <a:clrChange>
              <a:clrFrom>
                <a:srgbClr val="FDFCFE"/>
              </a:clrFrom>
              <a:clrTo>
                <a:srgbClr val="FDFCFE">
                  <a:alpha val="0"/>
                </a:srgbClr>
              </a:clrTo>
            </a:clrChange>
          </a:blip>
          <a:srcRect t="15386"/>
          <a:stretch/>
        </p:blipFill>
        <p:spPr>
          <a:xfrm>
            <a:off x="568474" y="1600200"/>
            <a:ext cx="11051876" cy="3124200"/>
          </a:xfrm>
          <a:prstGeom prst="rect">
            <a:avLst/>
          </a:prstGeom>
        </p:spPr>
      </p:pic>
      <p:sp>
        <p:nvSpPr>
          <p:cNvPr id="3" name="Título 2">
            <a:extLst>
              <a:ext uri="{FF2B5EF4-FFF2-40B4-BE49-F238E27FC236}">
                <a16:creationId xmlns:a16="http://schemas.microsoft.com/office/drawing/2014/main" id="{4E59F1F3-211C-49C8-B4E3-41211EA99A3D}"/>
              </a:ext>
            </a:extLst>
          </p:cNvPr>
          <p:cNvSpPr>
            <a:spLocks noGrp="1"/>
          </p:cNvSpPr>
          <p:nvPr>
            <p:ph type="title"/>
          </p:nvPr>
        </p:nvSpPr>
        <p:spPr/>
        <p:txBody>
          <a:bodyPr/>
          <a:lstStyle/>
          <a:p>
            <a:r>
              <a:rPr lang="es-ES" dirty="0"/>
              <a:t>Primitive </a:t>
            </a:r>
            <a:r>
              <a:rPr lang="es-ES" dirty="0" err="1"/>
              <a:t>Types</a:t>
            </a:r>
            <a:r>
              <a:rPr lang="es-ES" dirty="0"/>
              <a:t> - </a:t>
            </a:r>
            <a:r>
              <a:rPr lang="es-ES" dirty="0" err="1"/>
              <a:t>Null</a:t>
            </a:r>
            <a:endParaRPr lang="es-ES" dirty="0"/>
          </a:p>
        </p:txBody>
      </p:sp>
    </p:spTree>
    <p:extLst>
      <p:ext uri="{BB962C8B-B14F-4D97-AF65-F5344CB8AC3E}">
        <p14:creationId xmlns:p14="http://schemas.microsoft.com/office/powerpoint/2010/main" val="385868543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b="1" dirty="0"/>
              <a:t>Typescript: Non-nullable and control flow based types</a:t>
            </a:r>
          </a:p>
        </p:txBody>
      </p:sp>
      <p:sp>
        <p:nvSpPr>
          <p:cNvPr id="4" name="Text Placeholder 3"/>
          <p:cNvSpPr>
            <a:spLocks noGrp="1"/>
          </p:cNvSpPr>
          <p:nvPr>
            <p:ph idx="1"/>
          </p:nvPr>
        </p:nvSpPr>
        <p:spPr/>
        <p:txBody>
          <a:bodyPr>
            <a:normAutofit/>
          </a:bodyPr>
          <a:lstStyle/>
          <a:p>
            <a:pPr marL="448102" indent="-448102">
              <a:buFont typeface="Arial" panose="020B0604020202020204" pitchFamily="34" charset="0"/>
              <a:buChar char="•"/>
            </a:pPr>
            <a:endParaRPr lang="en-US" sz="1568" dirty="0"/>
          </a:p>
          <a:p>
            <a:pPr marL="448102" indent="-448102">
              <a:buFont typeface="Arial" panose="020B0604020202020204" pitchFamily="34" charset="0"/>
              <a:buChar char="•"/>
            </a:pPr>
            <a:r>
              <a:rPr lang="en-US" sz="3136" dirty="0"/>
              <a:t>New </a:t>
            </a:r>
            <a:r>
              <a:rPr lang="en-US" sz="3136" b="1" dirty="0">
                <a:solidFill>
                  <a:srgbClr val="FF0000"/>
                </a:solidFill>
              </a:rPr>
              <a:t>--</a:t>
            </a:r>
            <a:r>
              <a:rPr lang="en-US" sz="3136" b="1" dirty="0" err="1">
                <a:solidFill>
                  <a:srgbClr val="FF0000"/>
                </a:solidFill>
              </a:rPr>
              <a:t>strictNullChecks</a:t>
            </a:r>
            <a:r>
              <a:rPr lang="en-US" sz="3136" b="1" dirty="0">
                <a:solidFill>
                  <a:srgbClr val="FF0000"/>
                </a:solidFill>
              </a:rPr>
              <a:t> </a:t>
            </a:r>
            <a:r>
              <a:rPr lang="en-US" sz="3136" dirty="0"/>
              <a:t>compiler flag</a:t>
            </a:r>
          </a:p>
          <a:p>
            <a:pPr marL="448102" indent="-448102">
              <a:buFont typeface="Arial" panose="020B0604020202020204" pitchFamily="34" charset="0"/>
              <a:buChar char="•"/>
            </a:pPr>
            <a:r>
              <a:rPr lang="en-US" sz="3136" dirty="0"/>
              <a:t>Definite assignment analysis</a:t>
            </a:r>
          </a:p>
          <a:p>
            <a:pPr marL="448102" indent="-448102">
              <a:buFont typeface="Arial" panose="020B0604020202020204" pitchFamily="34" charset="0"/>
              <a:buChar char="•"/>
            </a:pPr>
            <a:r>
              <a:rPr lang="en-US" sz="3136" dirty="0"/>
              <a:t>Control flow reflected in types of local variables</a:t>
            </a:r>
          </a:p>
          <a:p>
            <a:pPr marL="448102" indent="-448102">
              <a:buFont typeface="Arial" panose="020B0604020202020204" pitchFamily="34" charset="0"/>
              <a:buChar char="•"/>
            </a:pPr>
            <a:r>
              <a:rPr lang="en-US" sz="3136" b="1" dirty="0">
                <a:solidFill>
                  <a:srgbClr val="FF0000"/>
                </a:solidFill>
              </a:rPr>
              <a:t>Non-null and non-undefined type guards</a:t>
            </a:r>
          </a:p>
          <a:p>
            <a:pPr marL="448102" indent="-448102">
              <a:buFont typeface="Arial" panose="020B0604020202020204" pitchFamily="34" charset="0"/>
              <a:buChar char="•"/>
            </a:pPr>
            <a:r>
              <a:rPr lang="en-US" sz="3136" dirty="0"/>
              <a:t>Dotted names in type guards</a:t>
            </a:r>
          </a:p>
          <a:p>
            <a:pPr marL="448102" indent="-448102">
              <a:buFont typeface="Arial" panose="020B0604020202020204" pitchFamily="34" charset="0"/>
              <a:buChar char="•"/>
            </a:pPr>
            <a:r>
              <a:rPr lang="en-US" sz="3136" b="1" dirty="0">
                <a:solidFill>
                  <a:srgbClr val="FF0000"/>
                </a:solidFill>
              </a:rPr>
              <a:t>Non-null assertion operator </a:t>
            </a:r>
            <a:r>
              <a:rPr lang="en-US" sz="3136" dirty="0"/>
              <a:t>(postfix ‘!’)</a:t>
            </a:r>
          </a:p>
          <a:p>
            <a:pPr marL="448102" indent="-448102">
              <a:buFont typeface="Arial" panose="020B0604020202020204" pitchFamily="34" charset="0"/>
              <a:buChar char="•"/>
            </a:pPr>
            <a:r>
              <a:rPr lang="en-US" sz="3136" b="1" dirty="0"/>
              <a:t>Backwards compatibility</a:t>
            </a:r>
          </a:p>
        </p:txBody>
      </p:sp>
    </p:spTree>
    <p:extLst>
      <p:ext uri="{BB962C8B-B14F-4D97-AF65-F5344CB8AC3E}">
        <p14:creationId xmlns:p14="http://schemas.microsoft.com/office/powerpoint/2010/main" val="21352899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C082B54-DB94-4A2E-B084-30FD0EC6C279}"/>
              </a:ext>
            </a:extLst>
          </p:cNvPr>
          <p:cNvSpPr>
            <a:spLocks noGrp="1"/>
          </p:cNvSpPr>
          <p:nvPr>
            <p:ph type="title"/>
          </p:nvPr>
        </p:nvSpPr>
        <p:spPr/>
        <p:txBody>
          <a:bodyPr>
            <a:normAutofit fontScale="90000"/>
          </a:bodyPr>
          <a:lstStyle/>
          <a:p>
            <a:r>
              <a:rPr lang="en-US" dirty="0"/>
              <a:t>Non-Nullable Types in TypeScript</a:t>
            </a:r>
            <a:endParaRPr lang="es-ES" dirty="0"/>
          </a:p>
        </p:txBody>
      </p:sp>
      <p:sp>
        <p:nvSpPr>
          <p:cNvPr id="3" name="Marcador de contenido 2">
            <a:extLst>
              <a:ext uri="{FF2B5EF4-FFF2-40B4-BE49-F238E27FC236}">
                <a16:creationId xmlns:a16="http://schemas.microsoft.com/office/drawing/2014/main" id="{BE995EDF-D782-454E-9E4B-B776BC06D922}"/>
              </a:ext>
            </a:extLst>
          </p:cNvPr>
          <p:cNvSpPr>
            <a:spLocks noGrp="1"/>
          </p:cNvSpPr>
          <p:nvPr>
            <p:ph idx="1"/>
          </p:nvPr>
        </p:nvSpPr>
        <p:spPr/>
        <p:txBody>
          <a:bodyPr>
            <a:normAutofit/>
          </a:bodyPr>
          <a:lstStyle/>
          <a:p>
            <a:r>
              <a:rPr lang="en-US" dirty="0"/>
              <a:t>Prior to TypeScript 2.0, the type checker considered null and undefined to be valid values of every type. Basically, null and undefined could be assigned to anything. That included primitive types such as strings, numbers, and Booleans.</a:t>
            </a:r>
          </a:p>
          <a:p>
            <a:r>
              <a:rPr lang="en-US" b="1" dirty="0"/>
              <a:t>TypeScript 2.0 adds support for non-nullable types. </a:t>
            </a:r>
            <a:r>
              <a:rPr lang="en-US" dirty="0"/>
              <a:t>There's a new strict null checking mode that you can opt into by providing the --</a:t>
            </a:r>
            <a:r>
              <a:rPr lang="en-US" dirty="0" err="1"/>
              <a:t>strictNullChecks</a:t>
            </a:r>
            <a:r>
              <a:rPr lang="en-US" dirty="0"/>
              <a:t> flag on the command line. Alternatively, you can enable the </a:t>
            </a:r>
            <a:r>
              <a:rPr lang="en-US" dirty="0" err="1"/>
              <a:t>strictNullChecks</a:t>
            </a:r>
            <a:r>
              <a:rPr lang="en-US" dirty="0"/>
              <a:t> compiler option within your project's </a:t>
            </a:r>
            <a:r>
              <a:rPr lang="en-US" dirty="0" err="1"/>
              <a:t>tsconfig.json</a:t>
            </a:r>
            <a:r>
              <a:rPr lang="en-US" dirty="0"/>
              <a:t> file</a:t>
            </a:r>
          </a:p>
          <a:p>
            <a:endParaRPr lang="es-ES" dirty="0"/>
          </a:p>
        </p:txBody>
      </p:sp>
      <p:sp>
        <p:nvSpPr>
          <p:cNvPr id="6" name="Rectángulo 5">
            <a:extLst>
              <a:ext uri="{FF2B5EF4-FFF2-40B4-BE49-F238E27FC236}">
                <a16:creationId xmlns:a16="http://schemas.microsoft.com/office/drawing/2014/main" id="{5ABC2B99-DF92-4195-B74F-4829065373B5}"/>
              </a:ext>
            </a:extLst>
          </p:cNvPr>
          <p:cNvSpPr/>
          <p:nvPr/>
        </p:nvSpPr>
        <p:spPr>
          <a:xfrm>
            <a:off x="2103127" y="5701200"/>
            <a:ext cx="7982570" cy="523220"/>
          </a:xfrm>
          <a:prstGeom prst="rect">
            <a:avLst/>
          </a:prstGeom>
        </p:spPr>
        <p:style>
          <a:lnRef idx="2">
            <a:schemeClr val="dk1">
              <a:shade val="50000"/>
            </a:schemeClr>
          </a:lnRef>
          <a:fillRef idx="1">
            <a:schemeClr val="dk1"/>
          </a:fillRef>
          <a:effectRef idx="0">
            <a:schemeClr val="dk1"/>
          </a:effectRef>
          <a:fontRef idx="minor">
            <a:schemeClr val="lt1"/>
          </a:fontRef>
        </p:style>
        <p:txBody>
          <a:bodyPr wrap="none">
            <a:spAutoFit/>
          </a:bodyPr>
          <a:lstStyle/>
          <a:p>
            <a:r>
              <a:rPr lang="es-ES" sz="2800" dirty="0">
                <a:solidFill>
                  <a:srgbClr val="ABB2BF"/>
                </a:solidFill>
                <a:latin typeface="Menlo"/>
              </a:rPr>
              <a:t>{ </a:t>
            </a:r>
            <a:r>
              <a:rPr lang="es-ES" sz="2800" dirty="0">
                <a:solidFill>
                  <a:srgbClr val="E06C75"/>
                </a:solidFill>
                <a:latin typeface="Menlo"/>
              </a:rPr>
              <a:t>"</a:t>
            </a:r>
            <a:r>
              <a:rPr lang="es-ES" sz="2800" dirty="0" err="1">
                <a:solidFill>
                  <a:srgbClr val="E06C75"/>
                </a:solidFill>
                <a:latin typeface="Menlo"/>
              </a:rPr>
              <a:t>compilerOptions</a:t>
            </a:r>
            <a:r>
              <a:rPr lang="es-ES" sz="2800" dirty="0">
                <a:solidFill>
                  <a:srgbClr val="E06C75"/>
                </a:solidFill>
                <a:latin typeface="Menlo"/>
              </a:rPr>
              <a:t>"</a:t>
            </a:r>
            <a:r>
              <a:rPr lang="es-ES" sz="2800" dirty="0">
                <a:solidFill>
                  <a:srgbClr val="ABB2BF"/>
                </a:solidFill>
                <a:latin typeface="Menlo"/>
              </a:rPr>
              <a:t>: { </a:t>
            </a:r>
            <a:r>
              <a:rPr lang="es-ES" sz="2800" dirty="0">
                <a:solidFill>
                  <a:srgbClr val="E06C75"/>
                </a:solidFill>
                <a:latin typeface="Menlo"/>
              </a:rPr>
              <a:t>"</a:t>
            </a:r>
            <a:r>
              <a:rPr lang="es-ES" sz="2800" dirty="0" err="1">
                <a:solidFill>
                  <a:srgbClr val="E06C75"/>
                </a:solidFill>
                <a:latin typeface="Menlo"/>
              </a:rPr>
              <a:t>strictNullChecks</a:t>
            </a:r>
            <a:r>
              <a:rPr lang="es-ES" sz="2800" dirty="0">
                <a:solidFill>
                  <a:srgbClr val="E06C75"/>
                </a:solidFill>
                <a:latin typeface="Menlo"/>
              </a:rPr>
              <a:t>"</a:t>
            </a:r>
            <a:r>
              <a:rPr lang="es-ES" sz="2800" dirty="0">
                <a:solidFill>
                  <a:srgbClr val="ABB2BF"/>
                </a:solidFill>
                <a:latin typeface="Menlo"/>
              </a:rPr>
              <a:t>: </a:t>
            </a:r>
            <a:r>
              <a:rPr lang="es-ES" sz="2800" dirty="0">
                <a:solidFill>
                  <a:srgbClr val="56B6C2"/>
                </a:solidFill>
                <a:latin typeface="Menlo"/>
              </a:rPr>
              <a:t>true</a:t>
            </a:r>
            <a:r>
              <a:rPr lang="es-ES" sz="2800" dirty="0">
                <a:solidFill>
                  <a:srgbClr val="ABB2BF"/>
                </a:solidFill>
                <a:latin typeface="Menlo"/>
              </a:rPr>
              <a:t> </a:t>
            </a:r>
            <a:r>
              <a:rPr lang="es-ES" sz="2800" i="1" dirty="0">
                <a:solidFill>
                  <a:srgbClr val="5C6370"/>
                </a:solidFill>
                <a:latin typeface="Menlo"/>
              </a:rPr>
              <a:t>// ...</a:t>
            </a:r>
            <a:r>
              <a:rPr lang="es-ES" sz="2800" dirty="0">
                <a:solidFill>
                  <a:srgbClr val="ABB2BF"/>
                </a:solidFill>
                <a:latin typeface="Menlo"/>
              </a:rPr>
              <a:t> } }</a:t>
            </a:r>
            <a:endParaRPr lang="es-ES" sz="2800" dirty="0"/>
          </a:p>
        </p:txBody>
      </p:sp>
      <p:sp>
        <p:nvSpPr>
          <p:cNvPr id="7" name="Rectángulo 6">
            <a:extLst>
              <a:ext uri="{FF2B5EF4-FFF2-40B4-BE49-F238E27FC236}">
                <a16:creationId xmlns:a16="http://schemas.microsoft.com/office/drawing/2014/main" id="{146A258C-DC24-427B-8C60-817F38ACA4EF}"/>
              </a:ext>
            </a:extLst>
          </p:cNvPr>
          <p:cNvSpPr/>
          <p:nvPr/>
        </p:nvSpPr>
        <p:spPr>
          <a:xfrm>
            <a:off x="2103127" y="6488668"/>
            <a:ext cx="7982570" cy="369332"/>
          </a:xfrm>
          <a:prstGeom prst="rect">
            <a:avLst/>
          </a:prstGeom>
        </p:spPr>
        <p:txBody>
          <a:bodyPr wrap="square">
            <a:spAutoFit/>
          </a:bodyPr>
          <a:lstStyle/>
          <a:p>
            <a:pPr algn="ctr"/>
            <a:r>
              <a:rPr lang="es-ES" dirty="0">
                <a:hlinkClick r:id="rId2"/>
              </a:rPr>
              <a:t>https://mariusschulz.com/blog/non-nullable-types-in-typescript</a:t>
            </a:r>
            <a:endParaRPr lang="es-ES" dirty="0"/>
          </a:p>
        </p:txBody>
      </p:sp>
    </p:spTree>
    <p:extLst>
      <p:ext uri="{BB962C8B-B14F-4D97-AF65-F5344CB8AC3E}">
        <p14:creationId xmlns:p14="http://schemas.microsoft.com/office/powerpoint/2010/main" val="228839923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Machine generated alternative text:&#10;Object Types &#10;Object literals &#10;= { h: 10, w: 20 &#10;var square &#10;var points: Object = { x: 10, y: &#10;20 &#10;Functions &#10;var multiply &#10;return x &#10;= function (x: &#10;var multiplyMore: Function; &#10;multiplyMore = function (x: &#10;return x &#10;number) { &#10;number) { ">
            <a:extLst>
              <a:ext uri="{FF2B5EF4-FFF2-40B4-BE49-F238E27FC236}">
                <a16:creationId xmlns:a16="http://schemas.microsoft.com/office/drawing/2014/main" id="{5587143D-7C6C-43FC-BA85-59685E2F3151}"/>
              </a:ext>
            </a:extLst>
          </p:cNvPr>
          <p:cNvPicPr>
            <a:picLocks noChangeAspect="1" noChangeArrowheads="1"/>
          </p:cNvPicPr>
          <p:nvPr/>
        </p:nvPicPr>
        <p:blipFill rotWithShape="1">
          <a:blip r:embed="rId2" cstate="print">
            <a:clrChange>
              <a:clrFrom>
                <a:srgbClr val="FFFDFF"/>
              </a:clrFrom>
              <a:clrTo>
                <a:srgbClr val="FFFDFF">
                  <a:alpha val="0"/>
                </a:srgbClr>
              </a:clrTo>
            </a:clrChange>
            <a:extLst>
              <a:ext uri="{28A0092B-C50C-407E-A947-70E740481C1C}">
                <a14:useLocalDpi xmlns:a14="http://schemas.microsoft.com/office/drawing/2010/main" val="0"/>
              </a:ext>
            </a:extLst>
          </a:blip>
          <a:srcRect/>
          <a:stretch/>
        </p:blipFill>
        <p:spPr bwMode="auto">
          <a:xfrm>
            <a:off x="3409795" y="1804301"/>
            <a:ext cx="5369233" cy="4688573"/>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454061F0-6447-497D-B519-889A1B9E06A1}"/>
              </a:ext>
            </a:extLst>
          </p:cNvPr>
          <p:cNvSpPr>
            <a:spLocks noGrp="1"/>
          </p:cNvSpPr>
          <p:nvPr>
            <p:ph type="title"/>
          </p:nvPr>
        </p:nvSpPr>
        <p:spPr/>
        <p:txBody>
          <a:bodyPr/>
          <a:lstStyle/>
          <a:p>
            <a:r>
              <a:rPr lang="es-ES" dirty="0" err="1"/>
              <a:t>Object</a:t>
            </a:r>
            <a:r>
              <a:rPr lang="es-ES" dirty="0"/>
              <a:t> </a:t>
            </a:r>
            <a:r>
              <a:rPr lang="es-ES" dirty="0" err="1"/>
              <a:t>Types</a:t>
            </a:r>
            <a:endParaRPr lang="es-ES" dirty="0"/>
          </a:p>
        </p:txBody>
      </p:sp>
    </p:spTree>
    <p:extLst>
      <p:ext uri="{BB962C8B-B14F-4D97-AF65-F5344CB8AC3E}">
        <p14:creationId xmlns:p14="http://schemas.microsoft.com/office/powerpoint/2010/main" val="87041765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A171A96-7E6C-4A72-B675-DCD1D0009874}"/>
              </a:ext>
            </a:extLst>
          </p:cNvPr>
          <p:cNvSpPr>
            <a:spLocks noGrp="1"/>
          </p:cNvSpPr>
          <p:nvPr>
            <p:ph type="title"/>
          </p:nvPr>
        </p:nvSpPr>
        <p:spPr/>
        <p:txBody>
          <a:bodyPr>
            <a:normAutofit fontScale="90000"/>
          </a:bodyPr>
          <a:lstStyle/>
          <a:p>
            <a:r>
              <a:rPr lang="es-ES" dirty="0" err="1"/>
              <a:t>Function</a:t>
            </a:r>
            <a:r>
              <a:rPr lang="es-ES" dirty="0"/>
              <a:t> </a:t>
            </a:r>
            <a:r>
              <a:rPr lang="es-ES" dirty="0" err="1"/>
              <a:t>Types</a:t>
            </a:r>
            <a:r>
              <a:rPr lang="es-ES" dirty="0"/>
              <a:t> </a:t>
            </a:r>
          </a:p>
        </p:txBody>
      </p:sp>
      <p:sp>
        <p:nvSpPr>
          <p:cNvPr id="3" name="Marcador de contenido 2">
            <a:extLst>
              <a:ext uri="{FF2B5EF4-FFF2-40B4-BE49-F238E27FC236}">
                <a16:creationId xmlns:a16="http://schemas.microsoft.com/office/drawing/2014/main" id="{213D0161-F9C7-4C06-869D-7E82339312BF}"/>
              </a:ext>
            </a:extLst>
          </p:cNvPr>
          <p:cNvSpPr>
            <a:spLocks noGrp="1"/>
          </p:cNvSpPr>
          <p:nvPr>
            <p:ph idx="1"/>
          </p:nvPr>
        </p:nvSpPr>
        <p:spPr/>
        <p:txBody>
          <a:bodyPr/>
          <a:lstStyle/>
          <a:p>
            <a:r>
              <a:rPr lang="en-US" dirty="0"/>
              <a:t>Function expressions are a powerful feature of JavaScript. </a:t>
            </a:r>
          </a:p>
          <a:p>
            <a:r>
              <a:rPr lang="en-US" dirty="0"/>
              <a:t>They enable function definitions to create closures: functions that capture information from the lexical scope surrounding the function's definition. </a:t>
            </a:r>
            <a:br>
              <a:rPr lang="en-US" dirty="0"/>
            </a:br>
            <a:endParaRPr lang="es-ES" dirty="0"/>
          </a:p>
        </p:txBody>
      </p:sp>
      <p:pic>
        <p:nvPicPr>
          <p:cNvPr id="5" name="Imagen 4">
            <a:extLst>
              <a:ext uri="{FF2B5EF4-FFF2-40B4-BE49-F238E27FC236}">
                <a16:creationId xmlns:a16="http://schemas.microsoft.com/office/drawing/2014/main" id="{B7A2442C-040B-472D-B7CD-D62966D47C0E}"/>
              </a:ext>
            </a:extLst>
          </p:cNvPr>
          <p:cNvPicPr>
            <a:picLocks noChangeAspect="1"/>
          </p:cNvPicPr>
          <p:nvPr/>
        </p:nvPicPr>
        <p:blipFill>
          <a:blip r:embed="rId2"/>
          <a:stretch>
            <a:fillRect/>
          </a:stretch>
        </p:blipFill>
        <p:spPr>
          <a:xfrm>
            <a:off x="2418929" y="2514600"/>
            <a:ext cx="7579566" cy="2949115"/>
          </a:xfrm>
          <a:prstGeom prst="rect">
            <a:avLst/>
          </a:prstGeom>
        </p:spPr>
      </p:pic>
    </p:spTree>
    <p:extLst>
      <p:ext uri="{BB962C8B-B14F-4D97-AF65-F5344CB8AC3E}">
        <p14:creationId xmlns:p14="http://schemas.microsoft.com/office/powerpoint/2010/main" val="201454041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Machine generated alternative text:&#10;Arrow Function Expressions &#10;TypeScript &#10;var num er, w: num er &#10;return h * w; &#10;Omit the function &#10;keyword &#10;Compact return &#10;statement &#10;var myFunc &#10;= (h: number, w: number) h * w; ">
            <a:extLst>
              <a:ext uri="{FF2B5EF4-FFF2-40B4-BE49-F238E27FC236}">
                <a16:creationId xmlns:a16="http://schemas.microsoft.com/office/drawing/2014/main" id="{24E5D9AC-3723-4A0F-96CF-805BF5FC2020}"/>
              </a:ext>
            </a:extLst>
          </p:cNvPr>
          <p:cNvPicPr>
            <a:picLocks noChangeAspect="1" noChangeArrowheads="1"/>
          </p:cNvPicPr>
          <p:nvPr/>
        </p:nvPicPr>
        <p:blipFill rotWithShape="1">
          <a:blip r:embed="rId2" cstate="print">
            <a:clrChange>
              <a:clrFrom>
                <a:srgbClr val="FFFDFF"/>
              </a:clrFrom>
              <a:clrTo>
                <a:srgbClr val="FFFDFF">
                  <a:alpha val="0"/>
                </a:srgbClr>
              </a:clrTo>
            </a:clrChange>
            <a:extLst>
              <a:ext uri="{28A0092B-C50C-407E-A947-70E740481C1C}">
                <a14:useLocalDpi xmlns:a14="http://schemas.microsoft.com/office/drawing/2010/main" val="0"/>
              </a:ext>
            </a:extLst>
          </a:blip>
          <a:srcRect/>
          <a:stretch/>
        </p:blipFill>
        <p:spPr bwMode="auto">
          <a:xfrm>
            <a:off x="1856444" y="1752600"/>
            <a:ext cx="8475935" cy="3840380"/>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C9555757-C3E8-48C1-AAC9-F1AD0B7F59A7}"/>
              </a:ext>
            </a:extLst>
          </p:cNvPr>
          <p:cNvSpPr>
            <a:spLocks noGrp="1"/>
          </p:cNvSpPr>
          <p:nvPr>
            <p:ph type="title"/>
          </p:nvPr>
        </p:nvSpPr>
        <p:spPr/>
        <p:txBody>
          <a:bodyPr/>
          <a:lstStyle/>
          <a:p>
            <a:r>
              <a:rPr lang="es-ES" dirty="0"/>
              <a:t>Arrow </a:t>
            </a:r>
            <a:r>
              <a:rPr lang="es-ES" dirty="0" err="1"/>
              <a:t>Function</a:t>
            </a:r>
            <a:r>
              <a:rPr lang="es-ES" dirty="0"/>
              <a:t> </a:t>
            </a:r>
            <a:r>
              <a:rPr lang="es-ES" dirty="0" err="1"/>
              <a:t>Expressions</a:t>
            </a:r>
            <a:endParaRPr lang="es-ES" dirty="0"/>
          </a:p>
        </p:txBody>
      </p:sp>
    </p:spTree>
    <p:extLst>
      <p:ext uri="{BB962C8B-B14F-4D97-AF65-F5344CB8AC3E}">
        <p14:creationId xmlns:p14="http://schemas.microsoft.com/office/powerpoint/2010/main" val="415349551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азвание 1"/>
          <p:cNvSpPr>
            <a:spLocks noGrp="1"/>
          </p:cNvSpPr>
          <p:nvPr>
            <p:ph type="title"/>
          </p:nvPr>
        </p:nvSpPr>
        <p:spPr/>
        <p:txBody>
          <a:bodyPr/>
          <a:lstStyle/>
          <a:p>
            <a:r>
              <a:rPr lang="es-ES" dirty="0"/>
              <a:t>Arrow </a:t>
            </a:r>
            <a:r>
              <a:rPr lang="es-ES" dirty="0" err="1"/>
              <a:t>Function</a:t>
            </a:r>
            <a:r>
              <a:rPr lang="es-ES" dirty="0"/>
              <a:t> </a:t>
            </a:r>
            <a:r>
              <a:rPr lang="es-ES" dirty="0" err="1"/>
              <a:t>Expressions</a:t>
            </a:r>
            <a:endParaRPr lang="ru-RU" dirty="0"/>
          </a:p>
        </p:txBody>
      </p:sp>
      <p:sp>
        <p:nvSpPr>
          <p:cNvPr id="5" name="Прямоугольник 4"/>
          <p:cNvSpPr/>
          <p:nvPr/>
        </p:nvSpPr>
        <p:spPr>
          <a:xfrm>
            <a:off x="837982" y="1690689"/>
            <a:ext cx="10972800" cy="4401205"/>
          </a:xfrm>
          <a:prstGeom prst="rect">
            <a:avLst/>
          </a:prstGeom>
        </p:spPr>
        <p:txBody>
          <a:bodyPr wrap="square">
            <a:spAutoFit/>
          </a:bodyPr>
          <a:lstStyle/>
          <a:p>
            <a:r>
              <a:rPr lang="en-US" b="1" dirty="0">
                <a:solidFill>
                  <a:schemeClr val="accent2"/>
                </a:solidFill>
                <a:latin typeface="Consolas" panose="020B0609020204030204" pitchFamily="49" charset="0"/>
              </a:rPr>
              <a:t>Functions:</a:t>
            </a:r>
            <a:endParaRPr lang="en-US" b="1" dirty="0">
              <a:solidFill>
                <a:srgbClr val="0000FF"/>
              </a:solidFill>
              <a:latin typeface="Consolas" panose="020B0609020204030204" pitchFamily="49" charset="0"/>
            </a:endParaRPr>
          </a:p>
          <a:p>
            <a:r>
              <a:rPr lang="en-US" b="1" dirty="0">
                <a:solidFill>
                  <a:srgbClr val="0000FF"/>
                </a:solidFill>
                <a:latin typeface="Consolas" panose="020B0609020204030204" pitchFamily="49" charset="0"/>
              </a:rPr>
              <a:t>	function</a:t>
            </a:r>
            <a:r>
              <a:rPr lang="en-US" b="1" dirty="0">
                <a:solidFill>
                  <a:srgbClr val="000000"/>
                </a:solidFill>
                <a:latin typeface="Consolas" panose="020B0609020204030204" pitchFamily="49" charset="0"/>
              </a:rPr>
              <a:t> add(x: number, y: number): number { </a:t>
            </a:r>
            <a:r>
              <a:rPr lang="en-US" b="1" dirty="0">
                <a:solidFill>
                  <a:srgbClr val="0000FF"/>
                </a:solidFill>
                <a:latin typeface="Consolas" panose="020B0609020204030204" pitchFamily="49" charset="0"/>
              </a:rPr>
              <a:t>return</a:t>
            </a:r>
            <a:r>
              <a:rPr lang="en-US" b="1" dirty="0">
                <a:solidFill>
                  <a:srgbClr val="000000"/>
                </a:solidFill>
                <a:latin typeface="Consolas" panose="020B0609020204030204" pitchFamily="49" charset="0"/>
              </a:rPr>
              <a:t> </a:t>
            </a:r>
            <a:r>
              <a:rPr lang="en-US" b="1" dirty="0" err="1">
                <a:solidFill>
                  <a:srgbClr val="000000"/>
                </a:solidFill>
                <a:latin typeface="Consolas" panose="020B0609020204030204" pitchFamily="49" charset="0"/>
              </a:rPr>
              <a:t>x+y</a:t>
            </a:r>
            <a:r>
              <a:rPr lang="en-US" b="1" dirty="0">
                <a:solidFill>
                  <a:srgbClr val="000000"/>
                </a:solidFill>
                <a:latin typeface="Consolas" panose="020B0609020204030204" pitchFamily="49" charset="0"/>
              </a:rPr>
              <a:t>; } </a:t>
            </a:r>
          </a:p>
          <a:p>
            <a:endParaRPr lang="en-US" b="1" dirty="0">
              <a:solidFill>
                <a:srgbClr val="000000"/>
              </a:solidFill>
              <a:latin typeface="Consolas" panose="020B0609020204030204" pitchFamily="49" charset="0"/>
            </a:endParaRPr>
          </a:p>
          <a:p>
            <a:r>
              <a:rPr lang="en-US" b="1" dirty="0">
                <a:solidFill>
                  <a:srgbClr val="0000FF"/>
                </a:solidFill>
                <a:latin typeface="Consolas" panose="020B0609020204030204" pitchFamily="49" charset="0"/>
              </a:rPr>
              <a:t>	</a:t>
            </a:r>
            <a:r>
              <a:rPr lang="en-US" b="1" dirty="0" err="1">
                <a:solidFill>
                  <a:srgbClr val="0000FF"/>
                </a:solidFill>
                <a:latin typeface="Consolas" panose="020B0609020204030204" pitchFamily="49" charset="0"/>
              </a:rPr>
              <a:t>var</a:t>
            </a:r>
            <a:r>
              <a:rPr lang="en-US" b="1" dirty="0">
                <a:solidFill>
                  <a:srgbClr val="000000"/>
                </a:solidFill>
                <a:latin typeface="Consolas" panose="020B0609020204030204" pitchFamily="49" charset="0"/>
              </a:rPr>
              <a:t> </a:t>
            </a:r>
            <a:r>
              <a:rPr lang="en-US" b="1" dirty="0" err="1">
                <a:solidFill>
                  <a:srgbClr val="000000"/>
                </a:solidFill>
                <a:latin typeface="Consolas" panose="020B0609020204030204" pitchFamily="49" charset="0"/>
              </a:rPr>
              <a:t>myAdd</a:t>
            </a:r>
            <a:r>
              <a:rPr lang="en-US" b="1" dirty="0">
                <a:solidFill>
                  <a:srgbClr val="000000"/>
                </a:solidFill>
                <a:latin typeface="Consolas" panose="020B0609020204030204" pitchFamily="49" charset="0"/>
              </a:rPr>
              <a:t> = </a:t>
            </a:r>
            <a:r>
              <a:rPr lang="en-US" b="1" dirty="0">
                <a:solidFill>
                  <a:srgbClr val="0000FF"/>
                </a:solidFill>
                <a:latin typeface="Consolas" panose="020B0609020204030204" pitchFamily="49" charset="0"/>
              </a:rPr>
              <a:t>function</a:t>
            </a:r>
            <a:r>
              <a:rPr lang="en-US" b="1" dirty="0">
                <a:solidFill>
                  <a:srgbClr val="000000"/>
                </a:solidFill>
                <a:latin typeface="Consolas" panose="020B0609020204030204" pitchFamily="49" charset="0"/>
              </a:rPr>
              <a:t>(x: number, y: number): number { </a:t>
            </a:r>
            <a:r>
              <a:rPr lang="en-US" b="1" dirty="0">
                <a:solidFill>
                  <a:srgbClr val="0000FF"/>
                </a:solidFill>
                <a:latin typeface="Consolas" panose="020B0609020204030204" pitchFamily="49" charset="0"/>
              </a:rPr>
              <a:t>return</a:t>
            </a:r>
            <a:r>
              <a:rPr lang="en-US" b="1" dirty="0">
                <a:solidFill>
                  <a:srgbClr val="000000"/>
                </a:solidFill>
                <a:latin typeface="Consolas" panose="020B0609020204030204" pitchFamily="49" charset="0"/>
              </a:rPr>
              <a:t> </a:t>
            </a:r>
            <a:r>
              <a:rPr lang="en-US" b="1" dirty="0" err="1">
                <a:solidFill>
                  <a:srgbClr val="000000"/>
                </a:solidFill>
                <a:latin typeface="Consolas" panose="020B0609020204030204" pitchFamily="49" charset="0"/>
              </a:rPr>
              <a:t>x+y</a:t>
            </a:r>
            <a:r>
              <a:rPr lang="en-US" b="1" dirty="0">
                <a:solidFill>
                  <a:srgbClr val="000000"/>
                </a:solidFill>
                <a:latin typeface="Consolas" panose="020B0609020204030204" pitchFamily="49" charset="0"/>
              </a:rPr>
              <a:t>; }; </a:t>
            </a:r>
          </a:p>
          <a:p>
            <a:endParaRPr lang="en-US" b="1" dirty="0">
              <a:solidFill>
                <a:srgbClr val="000000"/>
              </a:solidFill>
              <a:latin typeface="Consolas" panose="020B0609020204030204" pitchFamily="49" charset="0"/>
            </a:endParaRPr>
          </a:p>
          <a:p>
            <a:endParaRPr lang="en-US" b="1" dirty="0">
              <a:solidFill>
                <a:srgbClr val="000000"/>
              </a:solidFill>
              <a:latin typeface="Consolas" panose="020B0609020204030204" pitchFamily="49" charset="0"/>
            </a:endParaRPr>
          </a:p>
          <a:p>
            <a:r>
              <a:rPr lang="en-US" b="1" dirty="0">
                <a:solidFill>
                  <a:schemeClr val="accent2"/>
                </a:solidFill>
                <a:latin typeface="Consolas" panose="020B0609020204030204" pitchFamily="49" charset="0"/>
              </a:rPr>
              <a:t>Writing the function type:</a:t>
            </a:r>
          </a:p>
          <a:p>
            <a:endParaRPr lang="en-US" sz="500" b="1" dirty="0">
              <a:solidFill>
                <a:srgbClr val="0000FF"/>
              </a:solidFill>
              <a:latin typeface="Consolas" panose="020B0609020204030204" pitchFamily="49" charset="0"/>
            </a:endParaRPr>
          </a:p>
          <a:p>
            <a:r>
              <a:rPr lang="en-US" b="1" dirty="0">
                <a:solidFill>
                  <a:srgbClr val="0000FF"/>
                </a:solidFill>
                <a:latin typeface="Consolas" panose="020B0609020204030204" pitchFamily="49" charset="0"/>
              </a:rPr>
              <a:t>	</a:t>
            </a:r>
            <a:r>
              <a:rPr lang="en-US" b="1" dirty="0" err="1">
                <a:solidFill>
                  <a:srgbClr val="0000FF"/>
                </a:solidFill>
                <a:latin typeface="Consolas" panose="020B0609020204030204" pitchFamily="49" charset="0"/>
              </a:rPr>
              <a:t>var</a:t>
            </a:r>
            <a:r>
              <a:rPr lang="en-US" b="1" dirty="0">
                <a:solidFill>
                  <a:srgbClr val="000000"/>
                </a:solidFill>
                <a:latin typeface="Consolas" panose="020B0609020204030204" pitchFamily="49" charset="0"/>
              </a:rPr>
              <a:t> </a:t>
            </a:r>
            <a:r>
              <a:rPr lang="en-US" b="1" dirty="0" err="1">
                <a:solidFill>
                  <a:srgbClr val="000000"/>
                </a:solidFill>
                <a:latin typeface="Consolas" panose="020B0609020204030204" pitchFamily="49" charset="0"/>
              </a:rPr>
              <a:t>myAdd</a:t>
            </a:r>
            <a:r>
              <a:rPr lang="en-US" b="1" dirty="0">
                <a:solidFill>
                  <a:srgbClr val="000000"/>
                </a:solidFill>
                <a:latin typeface="Consolas" panose="020B0609020204030204" pitchFamily="49" charset="0"/>
              </a:rPr>
              <a:t>: (</a:t>
            </a:r>
            <a:r>
              <a:rPr lang="en-US" b="1" dirty="0" err="1">
                <a:solidFill>
                  <a:srgbClr val="000000"/>
                </a:solidFill>
                <a:latin typeface="Consolas" panose="020B0609020204030204" pitchFamily="49" charset="0"/>
              </a:rPr>
              <a:t>a:number</a:t>
            </a:r>
            <a:r>
              <a:rPr lang="en-US" b="1" dirty="0">
                <a:solidFill>
                  <a:srgbClr val="000000"/>
                </a:solidFill>
                <a:latin typeface="Consolas" panose="020B0609020204030204" pitchFamily="49" charset="0"/>
              </a:rPr>
              <a:t>, b:number) =&gt; number = </a:t>
            </a:r>
          </a:p>
          <a:p>
            <a:r>
              <a:rPr lang="en-US" b="1" dirty="0">
                <a:solidFill>
                  <a:srgbClr val="000000"/>
                </a:solidFill>
                <a:latin typeface="Consolas" panose="020B0609020204030204" pitchFamily="49" charset="0"/>
              </a:rPr>
              <a:t>		</a:t>
            </a:r>
            <a:r>
              <a:rPr lang="en-US" b="1" dirty="0">
                <a:solidFill>
                  <a:srgbClr val="0000FF"/>
                </a:solidFill>
                <a:latin typeface="Consolas" panose="020B0609020204030204" pitchFamily="49" charset="0"/>
              </a:rPr>
              <a:t>function</a:t>
            </a:r>
            <a:r>
              <a:rPr lang="en-US" b="1" dirty="0">
                <a:solidFill>
                  <a:srgbClr val="000000"/>
                </a:solidFill>
                <a:latin typeface="Consolas" panose="020B0609020204030204" pitchFamily="49" charset="0"/>
              </a:rPr>
              <a:t>(x: number, y: number): number { </a:t>
            </a:r>
            <a:r>
              <a:rPr lang="en-US" b="1" dirty="0">
                <a:solidFill>
                  <a:srgbClr val="0000FF"/>
                </a:solidFill>
                <a:latin typeface="Consolas" panose="020B0609020204030204" pitchFamily="49" charset="0"/>
              </a:rPr>
              <a:t>return</a:t>
            </a:r>
            <a:r>
              <a:rPr lang="en-US" b="1" dirty="0">
                <a:solidFill>
                  <a:srgbClr val="000000"/>
                </a:solidFill>
                <a:latin typeface="Consolas" panose="020B0609020204030204" pitchFamily="49" charset="0"/>
              </a:rPr>
              <a:t> </a:t>
            </a:r>
            <a:r>
              <a:rPr lang="en-US" b="1" dirty="0" err="1">
                <a:solidFill>
                  <a:srgbClr val="000000"/>
                </a:solidFill>
                <a:latin typeface="Consolas" panose="020B0609020204030204" pitchFamily="49" charset="0"/>
              </a:rPr>
              <a:t>x+y</a:t>
            </a:r>
            <a:r>
              <a:rPr lang="en-US" b="1" dirty="0">
                <a:solidFill>
                  <a:srgbClr val="000000"/>
                </a:solidFill>
                <a:latin typeface="Consolas" panose="020B0609020204030204" pitchFamily="49" charset="0"/>
              </a:rPr>
              <a:t>; }; </a:t>
            </a:r>
          </a:p>
          <a:p>
            <a:pPr fontAlgn="base"/>
            <a:br>
              <a:rPr lang="en-US" b="1" dirty="0">
                <a:latin typeface="Consolas" panose="020B0609020204030204" pitchFamily="49" charset="0"/>
              </a:rPr>
            </a:br>
            <a:r>
              <a:rPr lang="en-US" b="1" dirty="0">
                <a:solidFill>
                  <a:schemeClr val="accent2"/>
                </a:solidFill>
                <a:latin typeface="Consolas" panose="020B0609020204030204" pitchFamily="49" charset="0"/>
              </a:rPr>
              <a:t>Inferring the types:</a:t>
            </a:r>
          </a:p>
          <a:p>
            <a:br>
              <a:rPr lang="en-US" sz="500" dirty="0">
                <a:latin typeface="Consolas" panose="020B0609020204030204" pitchFamily="49" charset="0"/>
              </a:rPr>
            </a:br>
            <a:r>
              <a:rPr lang="en-US" b="1" dirty="0">
                <a:latin typeface="Consolas" panose="020B0609020204030204" pitchFamily="49" charset="0"/>
              </a:rPr>
              <a:t>	</a:t>
            </a:r>
            <a:r>
              <a:rPr lang="en-US" b="1" dirty="0">
                <a:solidFill>
                  <a:srgbClr val="008000"/>
                </a:solidFill>
                <a:latin typeface="Consolas" panose="020B0609020204030204" pitchFamily="49" charset="0"/>
              </a:rPr>
              <a:t>// The parameters 'x' and 'y' have the type number</a:t>
            </a:r>
            <a:r>
              <a:rPr lang="en-US" b="1" dirty="0">
                <a:latin typeface="Consolas" panose="020B0609020204030204" pitchFamily="49" charset="0"/>
              </a:rPr>
              <a:t> </a:t>
            </a:r>
          </a:p>
          <a:p>
            <a:r>
              <a:rPr lang="en-US" b="1" dirty="0">
                <a:solidFill>
                  <a:srgbClr val="0000FF"/>
                </a:solidFill>
                <a:latin typeface="Consolas" panose="020B0609020204030204" pitchFamily="49" charset="0"/>
              </a:rPr>
              <a:t>	</a:t>
            </a:r>
            <a:r>
              <a:rPr lang="en-US" b="1" dirty="0" err="1">
                <a:solidFill>
                  <a:srgbClr val="0000FF"/>
                </a:solidFill>
                <a:latin typeface="Consolas" panose="020B0609020204030204" pitchFamily="49" charset="0"/>
              </a:rPr>
              <a:t>var</a:t>
            </a:r>
            <a:r>
              <a:rPr lang="en-US" b="1" dirty="0">
                <a:latin typeface="Consolas" panose="020B0609020204030204" pitchFamily="49" charset="0"/>
              </a:rPr>
              <a:t> </a:t>
            </a:r>
            <a:r>
              <a:rPr lang="en-US" b="1" dirty="0" err="1">
                <a:latin typeface="Consolas" panose="020B0609020204030204" pitchFamily="49" charset="0"/>
              </a:rPr>
              <a:t>myAdd</a:t>
            </a:r>
            <a:r>
              <a:rPr lang="en-US" b="1" dirty="0">
                <a:latin typeface="Consolas" panose="020B0609020204030204" pitchFamily="49" charset="0"/>
              </a:rPr>
              <a:t>: (</a:t>
            </a:r>
            <a:r>
              <a:rPr lang="en-US" b="1" dirty="0" err="1">
                <a:latin typeface="Consolas" panose="020B0609020204030204" pitchFamily="49" charset="0"/>
              </a:rPr>
              <a:t>baseValue:number</a:t>
            </a:r>
            <a:r>
              <a:rPr lang="en-US" b="1" dirty="0">
                <a:latin typeface="Consolas" panose="020B0609020204030204" pitchFamily="49" charset="0"/>
              </a:rPr>
              <a:t>, </a:t>
            </a:r>
            <a:r>
              <a:rPr lang="en-US" b="1" dirty="0" err="1">
                <a:latin typeface="Consolas" panose="020B0609020204030204" pitchFamily="49" charset="0"/>
              </a:rPr>
              <a:t>increment:number</a:t>
            </a:r>
            <a:r>
              <a:rPr lang="en-US" b="1" dirty="0">
                <a:latin typeface="Consolas" panose="020B0609020204030204" pitchFamily="49" charset="0"/>
              </a:rPr>
              <a:t>) =&gt;</a:t>
            </a:r>
          </a:p>
          <a:p>
            <a:r>
              <a:rPr lang="en-US" b="1" dirty="0">
                <a:latin typeface="Consolas" panose="020B0609020204030204" pitchFamily="49" charset="0"/>
              </a:rPr>
              <a:t>		number = </a:t>
            </a:r>
            <a:r>
              <a:rPr lang="en-US" b="1" dirty="0">
                <a:solidFill>
                  <a:srgbClr val="0000FF"/>
                </a:solidFill>
                <a:latin typeface="Consolas" panose="020B0609020204030204" pitchFamily="49" charset="0"/>
              </a:rPr>
              <a:t>function</a:t>
            </a:r>
            <a:r>
              <a:rPr lang="en-US" b="1" dirty="0">
                <a:latin typeface="Consolas" panose="020B0609020204030204" pitchFamily="49" charset="0"/>
              </a:rPr>
              <a:t>(x, y) { </a:t>
            </a:r>
            <a:r>
              <a:rPr lang="en-US" b="1" dirty="0">
                <a:solidFill>
                  <a:srgbClr val="0000FF"/>
                </a:solidFill>
                <a:latin typeface="Consolas" panose="020B0609020204030204" pitchFamily="49" charset="0"/>
              </a:rPr>
              <a:t>return</a:t>
            </a:r>
            <a:r>
              <a:rPr lang="en-US" b="1" dirty="0">
                <a:latin typeface="Consolas" panose="020B0609020204030204" pitchFamily="49" charset="0"/>
              </a:rPr>
              <a:t> </a:t>
            </a:r>
            <a:r>
              <a:rPr lang="en-US" b="1" dirty="0" err="1">
                <a:latin typeface="Consolas" panose="020B0609020204030204" pitchFamily="49" charset="0"/>
              </a:rPr>
              <a:t>x+y</a:t>
            </a:r>
            <a:r>
              <a:rPr lang="en-US" b="1" dirty="0">
                <a:latin typeface="Consolas" panose="020B0609020204030204" pitchFamily="49" charset="0"/>
              </a:rPr>
              <a:t>; };</a:t>
            </a:r>
            <a:br>
              <a:rPr lang="en-US" b="1" dirty="0">
                <a:latin typeface="Consolas" panose="020B0609020204030204" pitchFamily="49" charset="0"/>
              </a:rPr>
            </a:br>
            <a:endParaRPr lang="en-US" b="1" dirty="0">
              <a:latin typeface="Consolas" panose="020B0609020204030204" pitchFamily="49" charset="0"/>
            </a:endParaRPr>
          </a:p>
        </p:txBody>
      </p:sp>
    </p:spTree>
    <p:extLst>
      <p:ext uri="{BB962C8B-B14F-4D97-AF65-F5344CB8AC3E}">
        <p14:creationId xmlns:p14="http://schemas.microsoft.com/office/powerpoint/2010/main" val="378544244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2CCFE5-015B-4E96-AA8E-5925BC993F22}"/>
              </a:ext>
            </a:extLst>
          </p:cNvPr>
          <p:cNvSpPr>
            <a:spLocks noGrp="1"/>
          </p:cNvSpPr>
          <p:nvPr>
            <p:ph type="title"/>
          </p:nvPr>
        </p:nvSpPr>
        <p:spPr/>
        <p:txBody>
          <a:bodyPr>
            <a:normAutofit fontScale="90000"/>
          </a:bodyPr>
          <a:lstStyle/>
          <a:p>
            <a:r>
              <a:rPr lang="es-ES" dirty="0" err="1"/>
              <a:t>var</a:t>
            </a:r>
            <a:r>
              <a:rPr lang="es-ES" dirty="0"/>
              <a:t> vs </a:t>
            </a:r>
            <a:r>
              <a:rPr lang="es-ES" dirty="0" err="1"/>
              <a:t>let</a:t>
            </a:r>
            <a:endParaRPr lang="es-ES" dirty="0"/>
          </a:p>
        </p:txBody>
      </p:sp>
      <p:sp>
        <p:nvSpPr>
          <p:cNvPr id="4" name="Marcador de contenido 3">
            <a:extLst>
              <a:ext uri="{FF2B5EF4-FFF2-40B4-BE49-F238E27FC236}">
                <a16:creationId xmlns:a16="http://schemas.microsoft.com/office/drawing/2014/main" id="{B9905389-9420-42D6-9D2F-46372F6B2BFA}"/>
              </a:ext>
            </a:extLst>
          </p:cNvPr>
          <p:cNvSpPr>
            <a:spLocks noGrp="1"/>
          </p:cNvSpPr>
          <p:nvPr>
            <p:ph idx="1"/>
          </p:nvPr>
        </p:nvSpPr>
        <p:spPr/>
        <p:txBody>
          <a:bodyPr/>
          <a:lstStyle/>
          <a:p>
            <a:r>
              <a:rPr lang="en-US" dirty="0"/>
              <a:t>var declaration is function scoped and let declaration is block scoped</a:t>
            </a:r>
          </a:p>
          <a:p>
            <a:endParaRPr lang="en-US" dirty="0"/>
          </a:p>
          <a:p>
            <a:endParaRPr lang="es-ES" dirty="0"/>
          </a:p>
        </p:txBody>
      </p:sp>
      <p:sp>
        <p:nvSpPr>
          <p:cNvPr id="8" name="Rectángulo 7">
            <a:extLst>
              <a:ext uri="{FF2B5EF4-FFF2-40B4-BE49-F238E27FC236}">
                <a16:creationId xmlns:a16="http://schemas.microsoft.com/office/drawing/2014/main" id="{2ED27F11-FC0C-4902-96AA-67F5B43E7BDA}"/>
              </a:ext>
            </a:extLst>
          </p:cNvPr>
          <p:cNvSpPr/>
          <p:nvPr/>
        </p:nvSpPr>
        <p:spPr>
          <a:xfrm>
            <a:off x="5103812" y="95821"/>
            <a:ext cx="6629399" cy="338554"/>
          </a:xfrm>
          <a:prstGeom prst="rect">
            <a:avLst/>
          </a:prstGeom>
        </p:spPr>
        <p:txBody>
          <a:bodyPr wrap="square">
            <a:spAutoFit/>
          </a:bodyPr>
          <a:lstStyle/>
          <a:p>
            <a:pPr algn="r"/>
            <a:r>
              <a:rPr lang="es-ES" sz="1600" dirty="0">
                <a:hlinkClick r:id="rId2"/>
              </a:rPr>
              <a:t>https://victorroblesweb.es/2016/08/27/diferencia-let-var-es6-typescript/</a:t>
            </a:r>
            <a:endParaRPr lang="es-ES" sz="1600" dirty="0"/>
          </a:p>
        </p:txBody>
      </p:sp>
      <p:sp>
        <p:nvSpPr>
          <p:cNvPr id="9" name="Rectangle 3">
            <a:extLst>
              <a:ext uri="{FF2B5EF4-FFF2-40B4-BE49-F238E27FC236}">
                <a16:creationId xmlns:a16="http://schemas.microsoft.com/office/drawing/2014/main" id="{FDD1DB60-D6D5-4274-94BD-367FA19E55D4}"/>
              </a:ext>
            </a:extLst>
          </p:cNvPr>
          <p:cNvSpPr>
            <a:spLocks noChangeArrowheads="1"/>
          </p:cNvSpPr>
          <p:nvPr/>
        </p:nvSpPr>
        <p:spPr bwMode="auto">
          <a:xfrm>
            <a:off x="2208212" y="2096006"/>
            <a:ext cx="9524999" cy="4001095"/>
          </a:xfrm>
          <a:prstGeom prst="rect">
            <a:avLst/>
          </a:prstGeom>
          <a:ln>
            <a:noFill/>
          </a:ln>
        </p:spPr>
        <p:style>
          <a:lnRef idx="2">
            <a:schemeClr val="dk1"/>
          </a:lnRef>
          <a:fillRef idx="1">
            <a:schemeClr val="lt1"/>
          </a:fillRef>
          <a:effectRef idx="0">
            <a:schemeClr val="dk1"/>
          </a:effectRef>
          <a:fontRef idx="minor">
            <a:schemeClr val="dk1"/>
          </a:fontRef>
        </p:style>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2000" b="0" i="0" u="none" strike="noStrike" cap="none" normalizeH="0" baseline="0" dirty="0">
                <a:ln>
                  <a:noFill/>
                </a:ln>
                <a:solidFill>
                  <a:srgbClr val="858C93"/>
                </a:solidFill>
                <a:effectLst/>
                <a:latin typeface="Consolas" panose="020B0609020204030204" pitchFamily="49" charset="0"/>
              </a:rPr>
              <a:t>// demo: </a:t>
            </a:r>
            <a:r>
              <a:rPr kumimoji="0" lang="es-ES" altLang="es-ES" sz="2000" b="0" i="0" u="none" strike="noStrike" cap="none" normalizeH="0" baseline="0" dirty="0" err="1">
                <a:ln>
                  <a:noFill/>
                </a:ln>
                <a:solidFill>
                  <a:srgbClr val="858C93"/>
                </a:solidFill>
                <a:effectLst/>
                <a:latin typeface="Consolas" panose="020B0609020204030204" pitchFamily="49" charset="0"/>
              </a:rPr>
              <a:t>var</a:t>
            </a:r>
            <a:r>
              <a:rPr kumimoji="0" lang="es-ES" altLang="es-ES" sz="2000" b="0" i="0" u="none" strike="noStrike" cap="none" normalizeH="0" baseline="0" dirty="0">
                <a:ln>
                  <a:noFill/>
                </a:ln>
                <a:solidFill>
                  <a:srgbClr val="303336"/>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2000" b="0" i="0" u="none" strike="noStrike" cap="none" normalizeH="0" baseline="0" dirty="0" err="1">
                <a:ln>
                  <a:noFill/>
                </a:ln>
                <a:solidFill>
                  <a:srgbClr val="101094"/>
                </a:solidFill>
                <a:effectLst/>
                <a:latin typeface="Consolas" panose="020B0609020204030204" pitchFamily="49" charset="0"/>
              </a:rPr>
              <a:t>for</a:t>
            </a:r>
            <a:r>
              <a:rPr kumimoji="0" lang="es-ES" altLang="es-ES" sz="2000" b="0" i="0" u="none" strike="noStrike" cap="none" normalizeH="0" baseline="0" dirty="0">
                <a:ln>
                  <a:noFill/>
                </a:ln>
                <a:solidFill>
                  <a:srgbClr val="303336"/>
                </a:solidFill>
                <a:effectLst/>
                <a:latin typeface="Consolas" panose="020B0609020204030204" pitchFamily="49" charset="0"/>
              </a:rPr>
              <a:t>(</a:t>
            </a:r>
            <a:r>
              <a:rPr kumimoji="0" lang="es-ES" altLang="es-ES" sz="2000" b="0" i="0" u="none" strike="noStrike" cap="none" normalizeH="0" baseline="0" dirty="0" err="1">
                <a:ln>
                  <a:noFill/>
                </a:ln>
                <a:solidFill>
                  <a:srgbClr val="101094"/>
                </a:solidFill>
                <a:effectLst/>
                <a:latin typeface="Consolas" panose="020B0609020204030204" pitchFamily="49" charset="0"/>
              </a:rPr>
              <a:t>var</a:t>
            </a:r>
            <a:r>
              <a:rPr kumimoji="0" lang="es-ES" altLang="es-ES" sz="2000" b="0" i="0" u="none" strike="noStrike" cap="none" normalizeH="0" baseline="0" dirty="0">
                <a:ln>
                  <a:noFill/>
                </a:ln>
                <a:solidFill>
                  <a:srgbClr val="303336"/>
                </a:solidFill>
                <a:effectLst/>
                <a:latin typeface="Consolas" panose="020B0609020204030204" pitchFamily="49" charset="0"/>
              </a:rPr>
              <a:t> i =</a:t>
            </a:r>
            <a:r>
              <a:rPr kumimoji="0" lang="es-ES" altLang="es-ES" sz="2000" b="0" i="0" u="none" strike="noStrike" cap="none" normalizeH="0" baseline="0" dirty="0">
                <a:ln>
                  <a:noFill/>
                </a:ln>
                <a:solidFill>
                  <a:srgbClr val="7D2727"/>
                </a:solidFill>
                <a:effectLst/>
                <a:latin typeface="Consolas" panose="020B0609020204030204" pitchFamily="49" charset="0"/>
              </a:rPr>
              <a:t>0</a:t>
            </a:r>
            <a:r>
              <a:rPr kumimoji="0" lang="es-ES" altLang="es-ES" sz="2000" b="0" i="0" u="none" strike="noStrike" cap="none" normalizeH="0" baseline="0" dirty="0">
                <a:ln>
                  <a:noFill/>
                </a:ln>
                <a:solidFill>
                  <a:srgbClr val="303336"/>
                </a:solidFill>
                <a:effectLst/>
                <a:latin typeface="Consolas" panose="020B0609020204030204" pitchFamily="49" charset="0"/>
              </a:rPr>
              <a:t> ; i&lt;</a:t>
            </a:r>
            <a:r>
              <a:rPr kumimoji="0" lang="es-ES" altLang="es-ES" sz="2000" b="0" i="0" u="none" strike="noStrike" cap="none" normalizeH="0" baseline="0" dirty="0">
                <a:ln>
                  <a:noFill/>
                </a:ln>
                <a:solidFill>
                  <a:srgbClr val="7D2727"/>
                </a:solidFill>
                <a:effectLst/>
                <a:latin typeface="Consolas" panose="020B0609020204030204" pitchFamily="49" charset="0"/>
              </a:rPr>
              <a:t>5</a:t>
            </a:r>
            <a:r>
              <a:rPr kumimoji="0" lang="es-ES" altLang="es-ES" sz="2000" b="0" i="0" u="none" strike="noStrike" cap="none" normalizeH="0" baseline="0" dirty="0">
                <a:ln>
                  <a:noFill/>
                </a:ln>
                <a:solidFill>
                  <a:srgbClr val="303336"/>
                </a:solidFill>
                <a:effectLst/>
                <a:latin typeface="Consolas" panose="020B0609020204030204" pitchFamily="49" charset="0"/>
              </a:rPr>
              <a:t>; i++){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2000" b="0" i="0" u="none" strike="noStrike" cap="none" normalizeH="0" baseline="0" dirty="0">
                <a:ln>
                  <a:noFill/>
                </a:ln>
                <a:solidFill>
                  <a:srgbClr val="303336"/>
                </a:solidFill>
                <a:effectLst/>
                <a:latin typeface="Consolas" panose="020B0609020204030204" pitchFamily="49" charset="0"/>
              </a:rPr>
              <a:t>     console.log(i)</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2000" b="0" i="0" u="none" strike="noStrike" cap="none" normalizeH="0" baseline="0" dirty="0">
                <a:ln>
                  <a:noFill/>
                </a:ln>
                <a:solidFill>
                  <a:srgbClr val="303336"/>
                </a:solidFill>
                <a:effectLst/>
                <a:latin typeface="Consolas" panose="020B0609020204030204" pitchFamily="49" charset="0"/>
              </a:rPr>
              <a:t>}</a:t>
            </a:r>
            <a:endParaRPr lang="es-ES" altLang="es-ES" sz="2000" dirty="0">
              <a:solidFill>
                <a:srgbClr val="303336"/>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2000" b="0" i="0" u="none" strike="noStrike" cap="none" normalizeH="0" baseline="0" dirty="0">
                <a:ln>
                  <a:noFill/>
                </a:ln>
                <a:solidFill>
                  <a:srgbClr val="303336"/>
                </a:solidFill>
                <a:effectLst/>
                <a:latin typeface="Consolas" panose="020B0609020204030204" pitchFamily="49" charset="0"/>
              </a:rPr>
              <a:t>console.log(i) </a:t>
            </a:r>
            <a:r>
              <a:rPr kumimoji="0" lang="es-ES" altLang="es-ES" sz="2000" b="0" i="0" u="none" strike="noStrike" cap="none" normalizeH="0" baseline="0" dirty="0">
                <a:ln>
                  <a:noFill/>
                </a:ln>
                <a:solidFill>
                  <a:srgbClr val="858C93"/>
                </a:solidFill>
                <a:effectLst/>
                <a:latin typeface="Consolas" panose="020B0609020204030204" pitchFamily="49" charset="0"/>
              </a:rPr>
              <a:t>// i=5</a:t>
            </a:r>
            <a:endParaRPr lang="es-ES" altLang="es-ES" sz="2000" dirty="0">
              <a:solidFill>
                <a:srgbClr val="303336"/>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2000" b="0" i="0" u="none" strike="noStrike" cap="none" normalizeH="0" baseline="0" dirty="0">
              <a:ln>
                <a:noFill/>
              </a:ln>
              <a:solidFill>
                <a:srgbClr val="303336"/>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2000" b="0" i="0" u="none" strike="noStrike" cap="none" normalizeH="0" baseline="0" dirty="0">
              <a:ln>
                <a:noFill/>
              </a:ln>
              <a:solidFill>
                <a:srgbClr val="303336"/>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2000" b="0" i="0" u="none" strike="noStrike" cap="none" normalizeH="0" baseline="0" dirty="0">
              <a:ln>
                <a:noFill/>
              </a:ln>
              <a:solidFill>
                <a:srgbClr val="303336"/>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2000" b="0" i="0" u="none" strike="noStrike" cap="none" normalizeH="0" baseline="0" dirty="0">
                <a:ln>
                  <a:noFill/>
                </a:ln>
                <a:solidFill>
                  <a:srgbClr val="858C93"/>
                </a:solidFill>
                <a:effectLst/>
                <a:latin typeface="Consolas" panose="020B0609020204030204" pitchFamily="49" charset="0"/>
              </a:rPr>
              <a:t>// demo: </a:t>
            </a:r>
            <a:r>
              <a:rPr kumimoji="0" lang="es-ES" altLang="es-ES" sz="2000" b="0" i="0" u="none" strike="noStrike" cap="none" normalizeH="0" baseline="0" dirty="0" err="1">
                <a:ln>
                  <a:noFill/>
                </a:ln>
                <a:solidFill>
                  <a:srgbClr val="858C93"/>
                </a:solidFill>
                <a:effectLst/>
                <a:latin typeface="Consolas" panose="020B0609020204030204" pitchFamily="49" charset="0"/>
              </a:rPr>
              <a:t>let</a:t>
            </a:r>
            <a:endParaRPr lang="es-ES" altLang="es-ES" sz="2000" dirty="0">
              <a:solidFill>
                <a:srgbClr val="858C93"/>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2000" b="0" i="0" u="none" strike="noStrike" cap="none" normalizeH="0" baseline="0" dirty="0" err="1">
                <a:ln>
                  <a:noFill/>
                </a:ln>
                <a:solidFill>
                  <a:srgbClr val="101094"/>
                </a:solidFill>
                <a:effectLst/>
                <a:latin typeface="Consolas" panose="020B0609020204030204" pitchFamily="49" charset="0"/>
              </a:rPr>
              <a:t>for</a:t>
            </a:r>
            <a:r>
              <a:rPr kumimoji="0" lang="es-ES" altLang="es-ES" sz="2000" b="0" i="0" u="none" strike="noStrike" cap="none" normalizeH="0" baseline="0" dirty="0">
                <a:ln>
                  <a:noFill/>
                </a:ln>
                <a:solidFill>
                  <a:srgbClr val="303336"/>
                </a:solidFill>
                <a:effectLst/>
                <a:latin typeface="Consolas" panose="020B0609020204030204" pitchFamily="49" charset="0"/>
              </a:rPr>
              <a:t>(</a:t>
            </a:r>
            <a:r>
              <a:rPr kumimoji="0" lang="es-ES" altLang="es-ES" sz="2000" b="0" i="0" u="none" strike="noStrike" cap="none" normalizeH="0" baseline="0" dirty="0" err="1">
                <a:ln>
                  <a:noFill/>
                </a:ln>
                <a:solidFill>
                  <a:srgbClr val="101094"/>
                </a:solidFill>
                <a:effectLst/>
                <a:latin typeface="Consolas" panose="020B0609020204030204" pitchFamily="49" charset="0"/>
              </a:rPr>
              <a:t>let</a:t>
            </a:r>
            <a:r>
              <a:rPr kumimoji="0" lang="es-ES" altLang="es-ES" sz="2000" b="0" i="0" u="none" strike="noStrike" cap="none" normalizeH="0" baseline="0" dirty="0">
                <a:ln>
                  <a:noFill/>
                </a:ln>
                <a:solidFill>
                  <a:srgbClr val="303336"/>
                </a:solidFill>
                <a:effectLst/>
                <a:latin typeface="Consolas" panose="020B0609020204030204" pitchFamily="49" charset="0"/>
              </a:rPr>
              <a:t> i = </a:t>
            </a:r>
            <a:r>
              <a:rPr kumimoji="0" lang="es-ES" altLang="es-ES" sz="2000" b="0" i="0" u="none" strike="noStrike" cap="none" normalizeH="0" baseline="0" dirty="0">
                <a:ln>
                  <a:noFill/>
                </a:ln>
                <a:solidFill>
                  <a:srgbClr val="7D2727"/>
                </a:solidFill>
                <a:effectLst/>
                <a:latin typeface="Consolas" panose="020B0609020204030204" pitchFamily="49" charset="0"/>
              </a:rPr>
              <a:t>0</a:t>
            </a:r>
            <a:r>
              <a:rPr kumimoji="0" lang="es-ES" altLang="es-ES" sz="2000" b="0" i="0" u="none" strike="noStrike" cap="none" normalizeH="0" baseline="0" dirty="0">
                <a:ln>
                  <a:noFill/>
                </a:ln>
                <a:solidFill>
                  <a:srgbClr val="303336"/>
                </a:solidFill>
                <a:effectLst/>
                <a:latin typeface="Consolas" panose="020B0609020204030204" pitchFamily="49" charset="0"/>
              </a:rPr>
              <a:t>; i&lt;</a:t>
            </a:r>
            <a:r>
              <a:rPr kumimoji="0" lang="es-ES" altLang="es-ES" sz="2000" b="0" i="0" u="none" strike="noStrike" cap="none" normalizeH="0" baseline="0" dirty="0">
                <a:ln>
                  <a:noFill/>
                </a:ln>
                <a:solidFill>
                  <a:srgbClr val="7D2727"/>
                </a:solidFill>
                <a:effectLst/>
                <a:latin typeface="Consolas" panose="020B0609020204030204" pitchFamily="49" charset="0"/>
              </a:rPr>
              <a:t>5</a:t>
            </a:r>
            <a:r>
              <a:rPr kumimoji="0" lang="es-ES" altLang="es-ES" sz="2000" b="0" i="0" u="none" strike="noStrike" cap="none" normalizeH="0" baseline="0" dirty="0">
                <a:ln>
                  <a:noFill/>
                </a:ln>
                <a:solidFill>
                  <a:srgbClr val="303336"/>
                </a:solidFill>
                <a:effectLst/>
                <a:latin typeface="Consolas" panose="020B0609020204030204" pitchFamily="49" charset="0"/>
              </a:rPr>
              <a:t>; i++){</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2000" dirty="0">
                <a:solidFill>
                  <a:srgbClr val="303336"/>
                </a:solidFill>
                <a:latin typeface="Consolas" panose="020B0609020204030204" pitchFamily="49" charset="0"/>
              </a:rPr>
              <a:t>     </a:t>
            </a:r>
            <a:r>
              <a:rPr kumimoji="0" lang="es-ES" altLang="es-ES" sz="2000" b="0" i="0" u="none" strike="noStrike" cap="none" normalizeH="0" baseline="0" dirty="0">
                <a:ln>
                  <a:noFill/>
                </a:ln>
                <a:solidFill>
                  <a:srgbClr val="303336"/>
                </a:solidFill>
                <a:effectLst/>
                <a:latin typeface="Consolas" panose="020B0609020204030204" pitchFamily="49" charset="0"/>
              </a:rPr>
              <a:t>console.log(i)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2000" b="0" i="0" u="none" strike="noStrike" cap="none" normalizeH="0" baseline="0" dirty="0">
                <a:ln>
                  <a:noFill/>
                </a:ln>
                <a:solidFill>
                  <a:srgbClr val="303336"/>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2000" b="0" i="0" u="none" strike="noStrike" cap="none" normalizeH="0" baseline="0" dirty="0">
                <a:ln>
                  <a:noFill/>
                </a:ln>
                <a:solidFill>
                  <a:srgbClr val="303336"/>
                </a:solidFill>
                <a:effectLst/>
                <a:latin typeface="Consolas" panose="020B0609020204030204" pitchFamily="49" charset="0"/>
              </a:rPr>
              <a:t>console.log(i) </a:t>
            </a:r>
            <a:r>
              <a:rPr kumimoji="0" lang="es-ES" altLang="es-ES" sz="2000" b="0" i="0" u="none" strike="noStrike" cap="none" normalizeH="0" baseline="0" dirty="0">
                <a:ln>
                  <a:noFill/>
                </a:ln>
                <a:solidFill>
                  <a:srgbClr val="858C93"/>
                </a:solidFill>
                <a:effectLst/>
                <a:latin typeface="Consolas" panose="020B0609020204030204" pitchFamily="49" charset="0"/>
              </a:rPr>
              <a:t>// i </a:t>
            </a:r>
            <a:r>
              <a:rPr kumimoji="0" lang="es-ES" altLang="es-ES" sz="2000" b="0" i="0" u="none" strike="noStrike" cap="none" normalizeH="0" baseline="0" dirty="0" err="1">
                <a:ln>
                  <a:noFill/>
                </a:ln>
                <a:solidFill>
                  <a:srgbClr val="858C93"/>
                </a:solidFill>
                <a:effectLst/>
                <a:latin typeface="Consolas" panose="020B0609020204030204" pitchFamily="49" charset="0"/>
              </a:rPr>
              <a:t>is</a:t>
            </a:r>
            <a:r>
              <a:rPr kumimoji="0" lang="es-ES" altLang="es-ES" sz="2000" b="0" i="0" u="none" strike="noStrike" cap="none" normalizeH="0" baseline="0" dirty="0">
                <a:ln>
                  <a:noFill/>
                </a:ln>
                <a:solidFill>
                  <a:srgbClr val="858C93"/>
                </a:solidFill>
                <a:effectLst/>
                <a:latin typeface="Consolas" panose="020B0609020204030204" pitchFamily="49" charset="0"/>
              </a:rPr>
              <a:t> </a:t>
            </a:r>
            <a:r>
              <a:rPr kumimoji="0" lang="es-ES" altLang="es-ES" sz="2000" b="0" i="0" u="none" strike="noStrike" cap="none" normalizeH="0" baseline="0" dirty="0" err="1">
                <a:ln>
                  <a:noFill/>
                </a:ln>
                <a:solidFill>
                  <a:srgbClr val="858C93"/>
                </a:solidFill>
                <a:effectLst/>
                <a:latin typeface="Consolas" panose="020B0609020204030204" pitchFamily="49" charset="0"/>
              </a:rPr>
              <a:t>undefined</a:t>
            </a:r>
            <a:r>
              <a:rPr kumimoji="0" lang="es-ES" altLang="es-ES" sz="1600" b="0" i="0" u="none" strike="noStrike" cap="none" normalizeH="0" baseline="0" dirty="0">
                <a:ln>
                  <a:noFill/>
                </a:ln>
                <a:solidFill>
                  <a:schemeClr val="tx1"/>
                </a:solidFill>
                <a:effectLst/>
                <a:latin typeface="Consolas" panose="020B0609020204030204" pitchFamily="49" charset="0"/>
              </a:rPr>
              <a:t> </a:t>
            </a:r>
            <a:endParaRPr kumimoji="0" lang="es-ES" altLang="es-ES" sz="4800" b="0" i="0" u="none" strike="noStrike" cap="none" normalizeH="0" baseline="0" dirty="0">
              <a:ln>
                <a:noFill/>
              </a:ln>
              <a:solidFill>
                <a:schemeClr val="tx1"/>
              </a:solidFill>
              <a:effectLst/>
              <a:latin typeface="Consolas" panose="020B0609020204030204" pitchFamily="49" charset="0"/>
            </a:endParaRPr>
          </a:p>
        </p:txBody>
      </p:sp>
    </p:spTree>
    <p:extLst>
      <p:ext uri="{BB962C8B-B14F-4D97-AF65-F5344CB8AC3E}">
        <p14:creationId xmlns:p14="http://schemas.microsoft.com/office/powerpoint/2010/main" val="3282479360"/>
      </p:ext>
    </p:extLst>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азвание 1"/>
          <p:cNvSpPr>
            <a:spLocks noGrp="1"/>
          </p:cNvSpPr>
          <p:nvPr>
            <p:ph type="title"/>
          </p:nvPr>
        </p:nvSpPr>
        <p:spPr/>
        <p:txBody>
          <a:bodyPr>
            <a:normAutofit/>
          </a:bodyPr>
          <a:lstStyle/>
          <a:p>
            <a:r>
              <a:rPr lang="en-US" dirty="0"/>
              <a:t>Function parameters</a:t>
            </a:r>
            <a:endParaRPr lang="ru-RU" dirty="0"/>
          </a:p>
        </p:txBody>
      </p:sp>
      <p:sp>
        <p:nvSpPr>
          <p:cNvPr id="5" name="Прямоугольник 4"/>
          <p:cNvSpPr/>
          <p:nvPr/>
        </p:nvSpPr>
        <p:spPr>
          <a:xfrm>
            <a:off x="989012" y="1447799"/>
            <a:ext cx="10744200" cy="5232202"/>
          </a:xfrm>
          <a:prstGeom prst="rect">
            <a:avLst/>
          </a:prstGeom>
        </p:spPr>
        <p:txBody>
          <a:bodyPr wrap="square">
            <a:spAutoFit/>
          </a:bodyPr>
          <a:lstStyle/>
          <a:p>
            <a:r>
              <a:rPr lang="en-US" b="1" dirty="0">
                <a:solidFill>
                  <a:schemeClr val="accent2"/>
                </a:solidFill>
                <a:latin typeface="Consolas" panose="020B0609020204030204" pitchFamily="49" charset="0"/>
              </a:rPr>
              <a:t>Optional parameters:</a:t>
            </a:r>
          </a:p>
          <a:p>
            <a:endParaRPr lang="en-US" sz="500" b="1" dirty="0">
              <a:solidFill>
                <a:srgbClr val="0000FF"/>
              </a:solidFill>
              <a:latin typeface="Consolas" panose="020B0609020204030204" pitchFamily="49" charset="0"/>
            </a:endParaRPr>
          </a:p>
          <a:p>
            <a:r>
              <a:rPr lang="en-US" b="1" dirty="0">
                <a:solidFill>
                  <a:srgbClr val="0000FF"/>
                </a:solidFill>
                <a:latin typeface="Consolas" panose="020B0609020204030204" pitchFamily="49" charset="0"/>
              </a:rPr>
              <a:t>	function</a:t>
            </a:r>
            <a:r>
              <a:rPr lang="en-US" b="1" dirty="0">
                <a:solidFill>
                  <a:srgbClr val="000000"/>
                </a:solidFill>
                <a:latin typeface="Consolas" panose="020B0609020204030204" pitchFamily="49" charset="0"/>
              </a:rPr>
              <a:t> </a:t>
            </a:r>
            <a:r>
              <a:rPr lang="en-US" b="1" dirty="0" err="1">
                <a:solidFill>
                  <a:srgbClr val="000000"/>
                </a:solidFill>
                <a:latin typeface="Consolas" panose="020B0609020204030204" pitchFamily="49" charset="0"/>
              </a:rPr>
              <a:t>buildName</a:t>
            </a:r>
            <a:r>
              <a:rPr lang="en-US" b="1" dirty="0">
                <a:solidFill>
                  <a:srgbClr val="000000"/>
                </a:solidFill>
                <a:latin typeface="Consolas" panose="020B0609020204030204" pitchFamily="49" charset="0"/>
              </a:rPr>
              <a:t>(</a:t>
            </a:r>
            <a:r>
              <a:rPr lang="en-US" b="1" dirty="0" err="1">
                <a:solidFill>
                  <a:srgbClr val="000000"/>
                </a:solidFill>
                <a:latin typeface="Consolas" panose="020B0609020204030204" pitchFamily="49" charset="0"/>
              </a:rPr>
              <a:t>firstName</a:t>
            </a:r>
            <a:r>
              <a:rPr lang="en-US" b="1" dirty="0">
                <a:solidFill>
                  <a:srgbClr val="000000"/>
                </a:solidFill>
                <a:latin typeface="Consolas" panose="020B0609020204030204" pitchFamily="49" charset="0"/>
              </a:rPr>
              <a:t>: string, </a:t>
            </a:r>
            <a:r>
              <a:rPr lang="en-US" b="1" dirty="0" err="1">
                <a:solidFill>
                  <a:srgbClr val="000000"/>
                </a:solidFill>
                <a:latin typeface="Consolas" panose="020B0609020204030204" pitchFamily="49" charset="0"/>
              </a:rPr>
              <a:t>lastName</a:t>
            </a:r>
            <a:r>
              <a:rPr lang="en-US" b="1" dirty="0">
                <a:solidFill>
                  <a:srgbClr val="FF0000"/>
                </a:solidFill>
                <a:latin typeface="Consolas" panose="020B0609020204030204" pitchFamily="49" charset="0"/>
              </a:rPr>
              <a:t>?</a:t>
            </a:r>
            <a:r>
              <a:rPr lang="en-US" b="1" dirty="0">
                <a:solidFill>
                  <a:srgbClr val="000000"/>
                </a:solidFill>
                <a:latin typeface="Consolas" panose="020B0609020204030204" pitchFamily="49" charset="0"/>
              </a:rPr>
              <a:t>: string) { </a:t>
            </a:r>
          </a:p>
          <a:p>
            <a:r>
              <a:rPr lang="en-US" b="1" dirty="0">
                <a:solidFill>
                  <a:srgbClr val="000000"/>
                </a:solidFill>
                <a:latin typeface="Consolas" panose="020B0609020204030204" pitchFamily="49" charset="0"/>
              </a:rPr>
              <a:t>		</a:t>
            </a:r>
            <a:r>
              <a:rPr lang="en-US" b="1" dirty="0">
                <a:solidFill>
                  <a:srgbClr val="0000FF"/>
                </a:solidFill>
                <a:latin typeface="Consolas" panose="020B0609020204030204" pitchFamily="49" charset="0"/>
              </a:rPr>
              <a:t>if</a:t>
            </a:r>
            <a:r>
              <a:rPr lang="en-US" b="1" dirty="0">
                <a:solidFill>
                  <a:srgbClr val="000000"/>
                </a:solidFill>
                <a:latin typeface="Consolas" panose="020B0609020204030204" pitchFamily="49" charset="0"/>
              </a:rPr>
              <a:t> (</a:t>
            </a:r>
            <a:r>
              <a:rPr lang="en-US" b="1" dirty="0" err="1">
                <a:solidFill>
                  <a:srgbClr val="000000"/>
                </a:solidFill>
                <a:latin typeface="Consolas" panose="020B0609020204030204" pitchFamily="49" charset="0"/>
              </a:rPr>
              <a:t>lastName</a:t>
            </a:r>
            <a:r>
              <a:rPr lang="en-US" b="1" dirty="0">
                <a:solidFill>
                  <a:srgbClr val="000000"/>
                </a:solidFill>
                <a:latin typeface="Consolas" panose="020B0609020204030204" pitchFamily="49" charset="0"/>
              </a:rPr>
              <a:t>) </a:t>
            </a:r>
            <a:r>
              <a:rPr lang="en-US" b="1" dirty="0">
                <a:solidFill>
                  <a:srgbClr val="0000FF"/>
                </a:solidFill>
                <a:latin typeface="Consolas" panose="020B0609020204030204" pitchFamily="49" charset="0"/>
              </a:rPr>
              <a:t>return</a:t>
            </a:r>
            <a:r>
              <a:rPr lang="en-US" b="1" dirty="0">
                <a:solidFill>
                  <a:srgbClr val="000000"/>
                </a:solidFill>
                <a:latin typeface="Consolas" panose="020B0609020204030204" pitchFamily="49" charset="0"/>
              </a:rPr>
              <a:t> </a:t>
            </a:r>
            <a:r>
              <a:rPr lang="en-US" b="1" dirty="0" err="1">
                <a:solidFill>
                  <a:srgbClr val="000000"/>
                </a:solidFill>
                <a:latin typeface="Consolas" panose="020B0609020204030204" pitchFamily="49" charset="0"/>
              </a:rPr>
              <a:t>firstName</a:t>
            </a:r>
            <a:r>
              <a:rPr lang="en-US" b="1" dirty="0">
                <a:solidFill>
                  <a:srgbClr val="000000"/>
                </a:solidFill>
                <a:latin typeface="Consolas" panose="020B0609020204030204" pitchFamily="49" charset="0"/>
              </a:rPr>
              <a:t> + </a:t>
            </a:r>
            <a:r>
              <a:rPr lang="en-US" b="1" dirty="0">
                <a:solidFill>
                  <a:srgbClr val="A31515"/>
                </a:solidFill>
                <a:latin typeface="Consolas" panose="020B0609020204030204" pitchFamily="49" charset="0"/>
              </a:rPr>
              <a:t>" "</a:t>
            </a:r>
            <a:r>
              <a:rPr lang="en-US" b="1" dirty="0">
                <a:solidFill>
                  <a:srgbClr val="000000"/>
                </a:solidFill>
                <a:latin typeface="Consolas" panose="020B0609020204030204" pitchFamily="49" charset="0"/>
              </a:rPr>
              <a:t> + </a:t>
            </a:r>
            <a:r>
              <a:rPr lang="en-US" b="1" dirty="0" err="1">
                <a:solidFill>
                  <a:srgbClr val="000000"/>
                </a:solidFill>
                <a:latin typeface="Consolas" panose="020B0609020204030204" pitchFamily="49" charset="0"/>
              </a:rPr>
              <a:t>lastName</a:t>
            </a:r>
            <a:r>
              <a:rPr lang="en-US" b="1" dirty="0">
                <a:solidFill>
                  <a:srgbClr val="000000"/>
                </a:solidFill>
                <a:latin typeface="Consolas" panose="020B0609020204030204" pitchFamily="49" charset="0"/>
              </a:rPr>
              <a:t>; </a:t>
            </a:r>
          </a:p>
          <a:p>
            <a:r>
              <a:rPr lang="en-US" b="1" dirty="0">
                <a:solidFill>
                  <a:srgbClr val="000000"/>
                </a:solidFill>
                <a:latin typeface="Consolas" panose="020B0609020204030204" pitchFamily="49" charset="0"/>
              </a:rPr>
              <a:t>		</a:t>
            </a:r>
            <a:r>
              <a:rPr lang="en-US" b="1" dirty="0">
                <a:solidFill>
                  <a:srgbClr val="0000FF"/>
                </a:solidFill>
                <a:latin typeface="Consolas" panose="020B0609020204030204" pitchFamily="49" charset="0"/>
              </a:rPr>
              <a:t>else</a:t>
            </a:r>
            <a:r>
              <a:rPr lang="en-US" b="1" dirty="0">
                <a:solidFill>
                  <a:srgbClr val="000000"/>
                </a:solidFill>
                <a:latin typeface="Consolas" panose="020B0609020204030204" pitchFamily="49" charset="0"/>
              </a:rPr>
              <a:t> </a:t>
            </a:r>
            <a:r>
              <a:rPr lang="en-US" b="1" dirty="0">
                <a:solidFill>
                  <a:srgbClr val="0000FF"/>
                </a:solidFill>
                <a:latin typeface="Consolas" panose="020B0609020204030204" pitchFamily="49" charset="0"/>
              </a:rPr>
              <a:t>return</a:t>
            </a:r>
            <a:r>
              <a:rPr lang="en-US" b="1" dirty="0">
                <a:solidFill>
                  <a:srgbClr val="000000"/>
                </a:solidFill>
                <a:latin typeface="Consolas" panose="020B0609020204030204" pitchFamily="49" charset="0"/>
              </a:rPr>
              <a:t> </a:t>
            </a:r>
            <a:r>
              <a:rPr lang="en-US" b="1" dirty="0" err="1">
                <a:solidFill>
                  <a:srgbClr val="000000"/>
                </a:solidFill>
                <a:latin typeface="Consolas" panose="020B0609020204030204" pitchFamily="49" charset="0"/>
              </a:rPr>
              <a:t>firstName</a:t>
            </a:r>
            <a:r>
              <a:rPr lang="en-US" b="1" dirty="0">
                <a:solidFill>
                  <a:srgbClr val="000000"/>
                </a:solidFill>
                <a:latin typeface="Consolas" panose="020B0609020204030204" pitchFamily="49" charset="0"/>
              </a:rPr>
              <a:t>; </a:t>
            </a:r>
          </a:p>
          <a:p>
            <a:r>
              <a:rPr lang="en-US" b="1" dirty="0">
                <a:solidFill>
                  <a:srgbClr val="000000"/>
                </a:solidFill>
                <a:latin typeface="Consolas" panose="020B0609020204030204" pitchFamily="49" charset="0"/>
              </a:rPr>
              <a:t>	} </a:t>
            </a:r>
          </a:p>
          <a:p>
            <a:endParaRPr lang="en-US" b="1" dirty="0">
              <a:solidFill>
                <a:srgbClr val="000000"/>
              </a:solidFill>
              <a:latin typeface="Consolas" panose="020B0609020204030204" pitchFamily="49" charset="0"/>
            </a:endParaRPr>
          </a:p>
          <a:p>
            <a:r>
              <a:rPr lang="en-US" b="1" dirty="0">
                <a:solidFill>
                  <a:srgbClr val="000000"/>
                </a:solidFill>
                <a:latin typeface="Consolas" panose="020B0609020204030204" pitchFamily="49" charset="0"/>
              </a:rPr>
              <a:t>	</a:t>
            </a:r>
            <a:r>
              <a:rPr lang="en-US" b="1" dirty="0" err="1">
                <a:solidFill>
                  <a:srgbClr val="0000FF"/>
                </a:solidFill>
                <a:latin typeface="Consolas" panose="020B0609020204030204" pitchFamily="49" charset="0"/>
              </a:rPr>
              <a:t>var</a:t>
            </a:r>
            <a:r>
              <a:rPr lang="en-US" b="1" dirty="0">
                <a:solidFill>
                  <a:srgbClr val="000000"/>
                </a:solidFill>
                <a:latin typeface="Consolas" panose="020B0609020204030204" pitchFamily="49" charset="0"/>
              </a:rPr>
              <a:t> result1 = </a:t>
            </a:r>
            <a:r>
              <a:rPr lang="en-US" b="1" dirty="0" err="1">
                <a:solidFill>
                  <a:srgbClr val="000000"/>
                </a:solidFill>
                <a:latin typeface="Consolas" panose="020B0609020204030204" pitchFamily="49" charset="0"/>
              </a:rPr>
              <a:t>buildName</a:t>
            </a:r>
            <a:r>
              <a:rPr lang="en-US" b="1" dirty="0">
                <a:solidFill>
                  <a:srgbClr val="000000"/>
                </a:solidFill>
                <a:latin typeface="Consolas" panose="020B0609020204030204" pitchFamily="49" charset="0"/>
              </a:rPr>
              <a:t>(</a:t>
            </a:r>
            <a:r>
              <a:rPr lang="en-US" b="1" dirty="0">
                <a:solidFill>
                  <a:srgbClr val="A31515"/>
                </a:solidFill>
                <a:latin typeface="Consolas" panose="020B0609020204030204" pitchFamily="49" charset="0"/>
              </a:rPr>
              <a:t>"Bob"</a:t>
            </a:r>
            <a:r>
              <a:rPr lang="en-US" b="1" dirty="0">
                <a:solidFill>
                  <a:srgbClr val="000000"/>
                </a:solidFill>
                <a:latin typeface="Consolas" panose="020B0609020204030204" pitchFamily="49" charset="0"/>
              </a:rPr>
              <a:t>); </a:t>
            </a:r>
            <a:r>
              <a:rPr lang="en-US" b="1" dirty="0">
                <a:solidFill>
                  <a:srgbClr val="008000"/>
                </a:solidFill>
                <a:latin typeface="Consolas" panose="020B0609020204030204" pitchFamily="49" charset="0"/>
              </a:rPr>
              <a:t>//works correctly now</a:t>
            </a:r>
            <a:r>
              <a:rPr lang="en-US" b="1" dirty="0">
                <a:solidFill>
                  <a:srgbClr val="000000"/>
                </a:solidFill>
                <a:latin typeface="Consolas" panose="020B0609020204030204" pitchFamily="49" charset="0"/>
              </a:rPr>
              <a:t> </a:t>
            </a:r>
          </a:p>
          <a:p>
            <a:r>
              <a:rPr lang="en-US" b="1" dirty="0">
                <a:solidFill>
                  <a:srgbClr val="000000"/>
                </a:solidFill>
                <a:latin typeface="Consolas" panose="020B0609020204030204" pitchFamily="49" charset="0"/>
              </a:rPr>
              <a:t>	</a:t>
            </a:r>
            <a:r>
              <a:rPr lang="en-US" b="1" dirty="0" err="1">
                <a:solidFill>
                  <a:srgbClr val="0000FF"/>
                </a:solidFill>
                <a:latin typeface="Consolas" panose="020B0609020204030204" pitchFamily="49" charset="0"/>
              </a:rPr>
              <a:t>var</a:t>
            </a:r>
            <a:r>
              <a:rPr lang="en-US" b="1" dirty="0">
                <a:solidFill>
                  <a:srgbClr val="000000"/>
                </a:solidFill>
                <a:latin typeface="Consolas" panose="020B0609020204030204" pitchFamily="49" charset="0"/>
              </a:rPr>
              <a:t> result2 = </a:t>
            </a:r>
            <a:r>
              <a:rPr lang="en-US" b="1" dirty="0" err="1">
                <a:solidFill>
                  <a:srgbClr val="000000"/>
                </a:solidFill>
                <a:latin typeface="Consolas" panose="020B0609020204030204" pitchFamily="49" charset="0"/>
              </a:rPr>
              <a:t>buildName</a:t>
            </a:r>
            <a:r>
              <a:rPr lang="en-US" b="1" dirty="0">
                <a:solidFill>
                  <a:srgbClr val="000000"/>
                </a:solidFill>
                <a:latin typeface="Consolas" panose="020B0609020204030204" pitchFamily="49" charset="0"/>
              </a:rPr>
              <a:t>(</a:t>
            </a:r>
            <a:r>
              <a:rPr lang="en-US" b="1" dirty="0">
                <a:solidFill>
                  <a:srgbClr val="A31515"/>
                </a:solidFill>
                <a:latin typeface="Consolas" panose="020B0609020204030204" pitchFamily="49" charset="0"/>
              </a:rPr>
              <a:t>"Bob"</a:t>
            </a:r>
            <a:r>
              <a:rPr lang="en-US" b="1" dirty="0">
                <a:solidFill>
                  <a:srgbClr val="000000"/>
                </a:solidFill>
                <a:latin typeface="Consolas" panose="020B0609020204030204" pitchFamily="49" charset="0"/>
              </a:rPr>
              <a:t>, </a:t>
            </a:r>
            <a:r>
              <a:rPr lang="en-US" b="1" dirty="0">
                <a:solidFill>
                  <a:srgbClr val="A31515"/>
                </a:solidFill>
                <a:latin typeface="Consolas" panose="020B0609020204030204" pitchFamily="49" charset="0"/>
              </a:rPr>
              <a:t>"Adams"</a:t>
            </a:r>
            <a:r>
              <a:rPr lang="en-US" b="1" dirty="0">
                <a:solidFill>
                  <a:srgbClr val="000000"/>
                </a:solidFill>
                <a:latin typeface="Consolas" panose="020B0609020204030204" pitchFamily="49" charset="0"/>
              </a:rPr>
              <a:t>, </a:t>
            </a:r>
            <a:r>
              <a:rPr lang="en-US" b="1" dirty="0">
                <a:solidFill>
                  <a:srgbClr val="A31515"/>
                </a:solidFill>
                <a:latin typeface="Consolas" panose="020B0609020204030204" pitchFamily="49" charset="0"/>
              </a:rPr>
              <a:t>"Sr."</a:t>
            </a:r>
            <a:r>
              <a:rPr lang="en-US" b="1" dirty="0">
                <a:solidFill>
                  <a:srgbClr val="000000"/>
                </a:solidFill>
                <a:latin typeface="Consolas" panose="020B0609020204030204" pitchFamily="49" charset="0"/>
              </a:rPr>
              <a:t>); </a:t>
            </a:r>
            <a:r>
              <a:rPr lang="en-US" b="1" dirty="0">
                <a:solidFill>
                  <a:srgbClr val="FF0000"/>
                </a:solidFill>
                <a:latin typeface="Consolas" panose="020B0609020204030204" pitchFamily="49" charset="0"/>
              </a:rPr>
              <a:t>//error, too many </a:t>
            </a:r>
            <a:r>
              <a:rPr lang="en-US" b="1" dirty="0" err="1">
                <a:solidFill>
                  <a:srgbClr val="FF0000"/>
                </a:solidFill>
                <a:latin typeface="Consolas" panose="020B0609020204030204" pitchFamily="49" charset="0"/>
              </a:rPr>
              <a:t>params</a:t>
            </a:r>
            <a:r>
              <a:rPr lang="en-US" b="1" dirty="0">
                <a:solidFill>
                  <a:srgbClr val="FF0000"/>
                </a:solidFill>
                <a:latin typeface="Consolas" panose="020B0609020204030204" pitchFamily="49" charset="0"/>
              </a:rPr>
              <a:t> </a:t>
            </a:r>
          </a:p>
          <a:p>
            <a:r>
              <a:rPr lang="en-US" b="1" dirty="0">
                <a:solidFill>
                  <a:srgbClr val="000000"/>
                </a:solidFill>
                <a:latin typeface="Consolas" panose="020B0609020204030204" pitchFamily="49" charset="0"/>
              </a:rPr>
              <a:t>	</a:t>
            </a:r>
            <a:r>
              <a:rPr lang="en-US" b="1" dirty="0" err="1">
                <a:solidFill>
                  <a:srgbClr val="0000FF"/>
                </a:solidFill>
                <a:latin typeface="Consolas" panose="020B0609020204030204" pitchFamily="49" charset="0"/>
              </a:rPr>
              <a:t>var</a:t>
            </a:r>
            <a:r>
              <a:rPr lang="en-US" b="1" dirty="0">
                <a:solidFill>
                  <a:srgbClr val="000000"/>
                </a:solidFill>
                <a:latin typeface="Consolas" panose="020B0609020204030204" pitchFamily="49" charset="0"/>
              </a:rPr>
              <a:t> result3 = </a:t>
            </a:r>
            <a:r>
              <a:rPr lang="en-US" b="1" dirty="0" err="1">
                <a:solidFill>
                  <a:srgbClr val="000000"/>
                </a:solidFill>
                <a:latin typeface="Consolas" panose="020B0609020204030204" pitchFamily="49" charset="0"/>
              </a:rPr>
              <a:t>buildName</a:t>
            </a:r>
            <a:r>
              <a:rPr lang="en-US" b="1" dirty="0">
                <a:solidFill>
                  <a:srgbClr val="000000"/>
                </a:solidFill>
                <a:latin typeface="Consolas" panose="020B0609020204030204" pitchFamily="49" charset="0"/>
              </a:rPr>
              <a:t>(</a:t>
            </a:r>
            <a:r>
              <a:rPr lang="en-US" b="1" dirty="0">
                <a:solidFill>
                  <a:srgbClr val="A31515"/>
                </a:solidFill>
                <a:latin typeface="Consolas" panose="020B0609020204030204" pitchFamily="49" charset="0"/>
              </a:rPr>
              <a:t>"Bob"</a:t>
            </a:r>
            <a:r>
              <a:rPr lang="en-US" b="1" dirty="0">
                <a:solidFill>
                  <a:srgbClr val="000000"/>
                </a:solidFill>
                <a:latin typeface="Consolas" panose="020B0609020204030204" pitchFamily="49" charset="0"/>
              </a:rPr>
              <a:t>, </a:t>
            </a:r>
            <a:r>
              <a:rPr lang="en-US" b="1" dirty="0">
                <a:solidFill>
                  <a:srgbClr val="A31515"/>
                </a:solidFill>
                <a:latin typeface="Consolas" panose="020B0609020204030204" pitchFamily="49" charset="0"/>
              </a:rPr>
              <a:t>"Adams"</a:t>
            </a:r>
            <a:r>
              <a:rPr lang="en-US" b="1" dirty="0">
                <a:solidFill>
                  <a:srgbClr val="000000"/>
                </a:solidFill>
                <a:latin typeface="Consolas" panose="020B0609020204030204" pitchFamily="49" charset="0"/>
              </a:rPr>
              <a:t>); </a:t>
            </a:r>
            <a:r>
              <a:rPr lang="en-US" b="1" dirty="0">
                <a:solidFill>
                  <a:srgbClr val="008000"/>
                </a:solidFill>
                <a:latin typeface="Consolas" panose="020B0609020204030204" pitchFamily="49" charset="0"/>
              </a:rPr>
              <a:t>//ah, just right</a:t>
            </a:r>
            <a:r>
              <a:rPr lang="en-US" b="1" dirty="0">
                <a:solidFill>
                  <a:srgbClr val="000000"/>
                </a:solidFill>
                <a:latin typeface="Consolas" panose="020B0609020204030204" pitchFamily="49" charset="0"/>
              </a:rPr>
              <a:t> </a:t>
            </a:r>
          </a:p>
          <a:p>
            <a:br>
              <a:rPr lang="en-US" b="1" dirty="0">
                <a:latin typeface="Consolas" panose="020B0609020204030204" pitchFamily="49" charset="0"/>
              </a:rPr>
            </a:br>
            <a:r>
              <a:rPr lang="en-US" b="1" dirty="0">
                <a:solidFill>
                  <a:schemeClr val="accent2"/>
                </a:solidFill>
                <a:latin typeface="Consolas" panose="020B0609020204030204" pitchFamily="49" charset="0"/>
              </a:rPr>
              <a:t>Default parameters:</a:t>
            </a:r>
          </a:p>
          <a:p>
            <a:br>
              <a:rPr lang="en-US" sz="500" b="1" dirty="0">
                <a:latin typeface="Consolas" panose="020B0609020204030204" pitchFamily="49" charset="0"/>
              </a:rPr>
            </a:br>
            <a:r>
              <a:rPr lang="en-US" sz="500" b="1" dirty="0">
                <a:latin typeface="Consolas" panose="020B0609020204030204" pitchFamily="49" charset="0"/>
              </a:rPr>
              <a:t>	</a:t>
            </a:r>
            <a:r>
              <a:rPr lang="en-US" b="1" dirty="0">
                <a:solidFill>
                  <a:srgbClr val="0000FF"/>
                </a:solidFill>
                <a:latin typeface="Consolas" panose="020B0609020204030204" pitchFamily="49" charset="0"/>
              </a:rPr>
              <a:t>function</a:t>
            </a:r>
            <a:r>
              <a:rPr lang="en-US" b="1" dirty="0">
                <a:latin typeface="Consolas" panose="020B0609020204030204" pitchFamily="49" charset="0"/>
              </a:rPr>
              <a:t> </a:t>
            </a:r>
            <a:r>
              <a:rPr lang="en-US" b="1" dirty="0" err="1">
                <a:latin typeface="Consolas" panose="020B0609020204030204" pitchFamily="49" charset="0"/>
              </a:rPr>
              <a:t>buildName</a:t>
            </a:r>
            <a:r>
              <a:rPr lang="en-US" b="1" dirty="0">
                <a:latin typeface="Consolas" panose="020B0609020204030204" pitchFamily="49" charset="0"/>
              </a:rPr>
              <a:t>(</a:t>
            </a:r>
            <a:r>
              <a:rPr lang="en-US" b="1" dirty="0" err="1">
                <a:latin typeface="Consolas" panose="020B0609020204030204" pitchFamily="49" charset="0"/>
              </a:rPr>
              <a:t>firstName</a:t>
            </a:r>
            <a:r>
              <a:rPr lang="en-US" b="1" dirty="0">
                <a:latin typeface="Consolas" panose="020B0609020204030204" pitchFamily="49" charset="0"/>
              </a:rPr>
              <a:t>: string, </a:t>
            </a:r>
            <a:r>
              <a:rPr lang="en-US" b="1" dirty="0" err="1">
                <a:solidFill>
                  <a:srgbClr val="FF0000"/>
                </a:solidFill>
                <a:latin typeface="Consolas" panose="020B0609020204030204" pitchFamily="49" charset="0"/>
              </a:rPr>
              <a:t>lastName</a:t>
            </a:r>
            <a:r>
              <a:rPr lang="en-US" b="1" dirty="0">
                <a:solidFill>
                  <a:srgbClr val="FF0000"/>
                </a:solidFill>
                <a:latin typeface="Consolas" panose="020B0609020204030204" pitchFamily="49" charset="0"/>
              </a:rPr>
              <a:t> = "Smith"</a:t>
            </a:r>
            <a:r>
              <a:rPr lang="en-US" b="1" dirty="0">
                <a:latin typeface="Consolas" panose="020B0609020204030204" pitchFamily="49" charset="0"/>
              </a:rPr>
              <a:t>) { </a:t>
            </a:r>
          </a:p>
          <a:p>
            <a:r>
              <a:rPr lang="en-US" b="1" dirty="0">
                <a:solidFill>
                  <a:srgbClr val="0000FF"/>
                </a:solidFill>
                <a:latin typeface="Consolas" panose="020B0609020204030204" pitchFamily="49" charset="0"/>
              </a:rPr>
              <a:t>		return</a:t>
            </a:r>
            <a:r>
              <a:rPr lang="en-US" b="1" dirty="0">
                <a:latin typeface="Consolas" panose="020B0609020204030204" pitchFamily="49" charset="0"/>
              </a:rPr>
              <a:t> </a:t>
            </a:r>
            <a:r>
              <a:rPr lang="en-US" b="1" dirty="0" err="1">
                <a:latin typeface="Consolas" panose="020B0609020204030204" pitchFamily="49" charset="0"/>
              </a:rPr>
              <a:t>firstName</a:t>
            </a:r>
            <a:r>
              <a:rPr lang="en-US" b="1" dirty="0">
                <a:latin typeface="Consolas" panose="020B0609020204030204" pitchFamily="49" charset="0"/>
              </a:rPr>
              <a:t> + </a:t>
            </a:r>
            <a:r>
              <a:rPr lang="en-US" b="1" dirty="0">
                <a:solidFill>
                  <a:srgbClr val="A31515"/>
                </a:solidFill>
                <a:latin typeface="Consolas" panose="020B0609020204030204" pitchFamily="49" charset="0"/>
              </a:rPr>
              <a:t>" "</a:t>
            </a:r>
            <a:r>
              <a:rPr lang="en-US" b="1" dirty="0">
                <a:latin typeface="Consolas" panose="020B0609020204030204" pitchFamily="49" charset="0"/>
              </a:rPr>
              <a:t> + </a:t>
            </a:r>
            <a:r>
              <a:rPr lang="en-US" b="1" dirty="0" err="1">
                <a:latin typeface="Consolas" panose="020B0609020204030204" pitchFamily="49" charset="0"/>
              </a:rPr>
              <a:t>lastName</a:t>
            </a:r>
            <a:r>
              <a:rPr lang="en-US" b="1" dirty="0">
                <a:latin typeface="Consolas" panose="020B0609020204030204" pitchFamily="49" charset="0"/>
              </a:rPr>
              <a:t>; </a:t>
            </a:r>
          </a:p>
          <a:p>
            <a:r>
              <a:rPr lang="en-US" b="1" dirty="0">
                <a:latin typeface="Consolas" panose="020B0609020204030204" pitchFamily="49" charset="0"/>
              </a:rPr>
              <a:t>	} </a:t>
            </a:r>
          </a:p>
          <a:p>
            <a:endParaRPr lang="en-US" b="1" dirty="0">
              <a:solidFill>
                <a:srgbClr val="0000FF"/>
              </a:solidFill>
              <a:latin typeface="Consolas" panose="020B0609020204030204" pitchFamily="49" charset="0"/>
            </a:endParaRPr>
          </a:p>
          <a:p>
            <a:r>
              <a:rPr lang="en-US" b="1" dirty="0">
                <a:solidFill>
                  <a:srgbClr val="0000FF"/>
                </a:solidFill>
                <a:latin typeface="Consolas" panose="020B0609020204030204" pitchFamily="49" charset="0"/>
              </a:rPr>
              <a:t>	</a:t>
            </a:r>
            <a:r>
              <a:rPr lang="en-US" b="1" dirty="0" err="1">
                <a:solidFill>
                  <a:srgbClr val="0000FF"/>
                </a:solidFill>
                <a:latin typeface="Consolas" panose="020B0609020204030204" pitchFamily="49" charset="0"/>
              </a:rPr>
              <a:t>var</a:t>
            </a:r>
            <a:r>
              <a:rPr lang="en-US" b="1" dirty="0">
                <a:latin typeface="Consolas" panose="020B0609020204030204" pitchFamily="49" charset="0"/>
              </a:rPr>
              <a:t> result1 = </a:t>
            </a:r>
            <a:r>
              <a:rPr lang="en-US" b="1" dirty="0" err="1">
                <a:latin typeface="Consolas" panose="020B0609020204030204" pitchFamily="49" charset="0"/>
              </a:rPr>
              <a:t>buildName</a:t>
            </a:r>
            <a:r>
              <a:rPr lang="en-US" b="1" dirty="0">
                <a:latin typeface="Consolas" panose="020B0609020204030204" pitchFamily="49" charset="0"/>
              </a:rPr>
              <a:t>(</a:t>
            </a:r>
            <a:r>
              <a:rPr lang="en-US" b="1" dirty="0">
                <a:solidFill>
                  <a:srgbClr val="A31515"/>
                </a:solidFill>
                <a:latin typeface="Consolas" panose="020B0609020204030204" pitchFamily="49" charset="0"/>
              </a:rPr>
              <a:t>"Bob"</a:t>
            </a:r>
            <a:r>
              <a:rPr lang="en-US" b="1" dirty="0">
                <a:latin typeface="Consolas" panose="020B0609020204030204" pitchFamily="49" charset="0"/>
              </a:rPr>
              <a:t>); </a:t>
            </a:r>
            <a:r>
              <a:rPr lang="en-US" b="1" dirty="0">
                <a:solidFill>
                  <a:srgbClr val="008000"/>
                </a:solidFill>
                <a:latin typeface="Consolas" panose="020B0609020204030204" pitchFamily="49" charset="0"/>
              </a:rPr>
              <a:t>//works correctly now, also</a:t>
            </a:r>
            <a:r>
              <a:rPr lang="en-US" b="1" dirty="0">
                <a:latin typeface="Consolas" panose="020B0609020204030204" pitchFamily="49" charset="0"/>
              </a:rPr>
              <a:t> </a:t>
            </a:r>
          </a:p>
          <a:p>
            <a:r>
              <a:rPr lang="en-US" b="1" dirty="0">
                <a:solidFill>
                  <a:srgbClr val="0000FF"/>
                </a:solidFill>
                <a:latin typeface="Consolas" panose="020B0609020204030204" pitchFamily="49" charset="0"/>
              </a:rPr>
              <a:t>	</a:t>
            </a:r>
            <a:r>
              <a:rPr lang="en-US" b="1" dirty="0" err="1">
                <a:solidFill>
                  <a:srgbClr val="0000FF"/>
                </a:solidFill>
                <a:latin typeface="Consolas" panose="020B0609020204030204" pitchFamily="49" charset="0"/>
              </a:rPr>
              <a:t>var</a:t>
            </a:r>
            <a:r>
              <a:rPr lang="en-US" b="1" dirty="0">
                <a:latin typeface="Consolas" panose="020B0609020204030204" pitchFamily="49" charset="0"/>
              </a:rPr>
              <a:t> result2 = </a:t>
            </a:r>
            <a:r>
              <a:rPr lang="en-US" b="1" dirty="0" err="1">
                <a:latin typeface="Consolas" panose="020B0609020204030204" pitchFamily="49" charset="0"/>
              </a:rPr>
              <a:t>buildName</a:t>
            </a:r>
            <a:r>
              <a:rPr lang="en-US" b="1" dirty="0">
                <a:latin typeface="Consolas" panose="020B0609020204030204" pitchFamily="49" charset="0"/>
              </a:rPr>
              <a:t>(</a:t>
            </a:r>
            <a:r>
              <a:rPr lang="en-US" b="1" dirty="0">
                <a:solidFill>
                  <a:srgbClr val="A31515"/>
                </a:solidFill>
                <a:latin typeface="Consolas" panose="020B0609020204030204" pitchFamily="49" charset="0"/>
              </a:rPr>
              <a:t>"Bob"</a:t>
            </a:r>
            <a:r>
              <a:rPr lang="en-US" b="1" dirty="0">
                <a:latin typeface="Consolas" panose="020B0609020204030204" pitchFamily="49" charset="0"/>
              </a:rPr>
              <a:t>, </a:t>
            </a:r>
            <a:r>
              <a:rPr lang="en-US" b="1" dirty="0">
                <a:solidFill>
                  <a:srgbClr val="A31515"/>
                </a:solidFill>
                <a:latin typeface="Consolas" panose="020B0609020204030204" pitchFamily="49" charset="0"/>
              </a:rPr>
              <a:t>"Adams"</a:t>
            </a:r>
            <a:r>
              <a:rPr lang="en-US" b="1" dirty="0">
                <a:latin typeface="Consolas" panose="020B0609020204030204" pitchFamily="49" charset="0"/>
              </a:rPr>
              <a:t>, </a:t>
            </a:r>
            <a:r>
              <a:rPr lang="en-US" b="1" dirty="0">
                <a:solidFill>
                  <a:srgbClr val="A31515"/>
                </a:solidFill>
                <a:latin typeface="Consolas" panose="020B0609020204030204" pitchFamily="49" charset="0"/>
              </a:rPr>
              <a:t>"Sr."</a:t>
            </a:r>
            <a:r>
              <a:rPr lang="en-US" b="1" dirty="0">
                <a:latin typeface="Consolas" panose="020B0609020204030204" pitchFamily="49" charset="0"/>
              </a:rPr>
              <a:t>); </a:t>
            </a:r>
            <a:r>
              <a:rPr lang="en-US" b="1" dirty="0">
                <a:solidFill>
                  <a:srgbClr val="FF0000"/>
                </a:solidFill>
                <a:latin typeface="Consolas" panose="020B0609020204030204" pitchFamily="49" charset="0"/>
              </a:rPr>
              <a:t>//error, too many </a:t>
            </a:r>
            <a:r>
              <a:rPr lang="en-US" b="1" dirty="0" err="1">
                <a:solidFill>
                  <a:srgbClr val="FF0000"/>
                </a:solidFill>
                <a:latin typeface="Consolas" panose="020B0609020204030204" pitchFamily="49" charset="0"/>
              </a:rPr>
              <a:t>params</a:t>
            </a:r>
            <a:r>
              <a:rPr lang="en-US" b="1" dirty="0">
                <a:solidFill>
                  <a:srgbClr val="FF0000"/>
                </a:solidFill>
                <a:latin typeface="Consolas" panose="020B0609020204030204" pitchFamily="49" charset="0"/>
              </a:rPr>
              <a:t> </a:t>
            </a:r>
          </a:p>
          <a:p>
            <a:r>
              <a:rPr lang="en-US" b="1" dirty="0">
                <a:solidFill>
                  <a:srgbClr val="0000FF"/>
                </a:solidFill>
                <a:latin typeface="Consolas" panose="020B0609020204030204" pitchFamily="49" charset="0"/>
              </a:rPr>
              <a:t>	</a:t>
            </a:r>
            <a:r>
              <a:rPr lang="en-US" b="1" dirty="0" err="1">
                <a:solidFill>
                  <a:srgbClr val="0000FF"/>
                </a:solidFill>
                <a:latin typeface="Consolas" panose="020B0609020204030204" pitchFamily="49" charset="0"/>
              </a:rPr>
              <a:t>var</a:t>
            </a:r>
            <a:r>
              <a:rPr lang="en-US" b="1" dirty="0">
                <a:latin typeface="Consolas" panose="020B0609020204030204" pitchFamily="49" charset="0"/>
              </a:rPr>
              <a:t> result3 = </a:t>
            </a:r>
            <a:r>
              <a:rPr lang="en-US" b="1" dirty="0" err="1">
                <a:latin typeface="Consolas" panose="020B0609020204030204" pitchFamily="49" charset="0"/>
              </a:rPr>
              <a:t>buildName</a:t>
            </a:r>
            <a:r>
              <a:rPr lang="en-US" b="1" dirty="0">
                <a:latin typeface="Consolas" panose="020B0609020204030204" pitchFamily="49" charset="0"/>
              </a:rPr>
              <a:t>(</a:t>
            </a:r>
            <a:r>
              <a:rPr lang="en-US" b="1" dirty="0">
                <a:solidFill>
                  <a:srgbClr val="A31515"/>
                </a:solidFill>
                <a:latin typeface="Consolas" panose="020B0609020204030204" pitchFamily="49" charset="0"/>
              </a:rPr>
              <a:t>"Bob"</a:t>
            </a:r>
            <a:r>
              <a:rPr lang="en-US" b="1" dirty="0">
                <a:latin typeface="Consolas" panose="020B0609020204030204" pitchFamily="49" charset="0"/>
              </a:rPr>
              <a:t>, </a:t>
            </a:r>
            <a:r>
              <a:rPr lang="en-US" b="1" dirty="0">
                <a:solidFill>
                  <a:srgbClr val="A31515"/>
                </a:solidFill>
                <a:latin typeface="Consolas" panose="020B0609020204030204" pitchFamily="49" charset="0"/>
              </a:rPr>
              <a:t>"Adams"</a:t>
            </a:r>
            <a:r>
              <a:rPr lang="en-US" b="1" dirty="0">
                <a:latin typeface="Consolas" panose="020B0609020204030204" pitchFamily="49" charset="0"/>
              </a:rPr>
              <a:t>); </a:t>
            </a:r>
            <a:r>
              <a:rPr lang="en-US" b="1" dirty="0">
                <a:solidFill>
                  <a:srgbClr val="008000"/>
                </a:solidFill>
                <a:latin typeface="Consolas" panose="020B0609020204030204" pitchFamily="49" charset="0"/>
              </a:rPr>
              <a:t>//ah, just right</a:t>
            </a:r>
            <a:endParaRPr lang="en-US" b="1" dirty="0">
              <a:latin typeface="Consolas" panose="020B0609020204030204" pitchFamily="49" charset="0"/>
            </a:endParaRPr>
          </a:p>
        </p:txBody>
      </p:sp>
    </p:spTree>
    <p:extLst>
      <p:ext uri="{BB962C8B-B14F-4D97-AF65-F5344CB8AC3E}">
        <p14:creationId xmlns:p14="http://schemas.microsoft.com/office/powerpoint/2010/main" val="339179140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азвание 1"/>
          <p:cNvSpPr>
            <a:spLocks noGrp="1"/>
          </p:cNvSpPr>
          <p:nvPr>
            <p:ph type="title"/>
          </p:nvPr>
        </p:nvSpPr>
        <p:spPr/>
        <p:txBody>
          <a:bodyPr/>
          <a:lstStyle/>
          <a:p>
            <a:r>
              <a:rPr lang="en-US" dirty="0"/>
              <a:t>Function rest parameters</a:t>
            </a:r>
            <a:endParaRPr lang="ru-RU" dirty="0"/>
          </a:p>
        </p:txBody>
      </p:sp>
      <p:sp>
        <p:nvSpPr>
          <p:cNvPr id="5" name="Прямоугольник 4"/>
          <p:cNvSpPr/>
          <p:nvPr/>
        </p:nvSpPr>
        <p:spPr>
          <a:xfrm>
            <a:off x="1065212" y="1905000"/>
            <a:ext cx="10591800" cy="3493264"/>
          </a:xfrm>
          <a:prstGeom prst="rect">
            <a:avLst/>
          </a:prstGeom>
        </p:spPr>
        <p:txBody>
          <a:bodyPr wrap="square">
            <a:spAutoFit/>
          </a:bodyPr>
          <a:lstStyle/>
          <a:p>
            <a:r>
              <a:rPr lang="en-US" b="1" dirty="0">
                <a:solidFill>
                  <a:schemeClr val="accent2"/>
                </a:solidFill>
                <a:latin typeface="Consolas" panose="020B0609020204030204" pitchFamily="49" charset="0"/>
              </a:rPr>
              <a:t>Rest parameters:</a:t>
            </a:r>
          </a:p>
          <a:p>
            <a:endParaRPr lang="en-US" sz="500" b="1" dirty="0">
              <a:solidFill>
                <a:srgbClr val="0000FF"/>
              </a:solidFill>
              <a:latin typeface="Consolas" panose="020B0609020204030204" pitchFamily="49" charset="0"/>
            </a:endParaRPr>
          </a:p>
          <a:p>
            <a:r>
              <a:rPr lang="en-US" b="1" dirty="0">
                <a:solidFill>
                  <a:srgbClr val="0000FF"/>
                </a:solidFill>
                <a:latin typeface="Consolas" panose="020B0609020204030204" pitchFamily="49" charset="0"/>
              </a:rPr>
              <a:t>	function</a:t>
            </a:r>
            <a:r>
              <a:rPr lang="en-US" b="1" dirty="0">
                <a:latin typeface="Consolas" panose="020B0609020204030204" pitchFamily="49" charset="0"/>
              </a:rPr>
              <a:t> </a:t>
            </a:r>
            <a:r>
              <a:rPr lang="en-US" b="1" dirty="0" err="1">
                <a:latin typeface="Consolas" panose="020B0609020204030204" pitchFamily="49" charset="0"/>
              </a:rPr>
              <a:t>buildName</a:t>
            </a:r>
            <a:r>
              <a:rPr lang="en-US" b="1" dirty="0">
                <a:latin typeface="Consolas" panose="020B0609020204030204" pitchFamily="49" charset="0"/>
              </a:rPr>
              <a:t>(</a:t>
            </a:r>
            <a:r>
              <a:rPr lang="en-US" b="1" dirty="0" err="1">
                <a:latin typeface="Consolas" panose="020B0609020204030204" pitchFamily="49" charset="0"/>
              </a:rPr>
              <a:t>firstName</a:t>
            </a:r>
            <a:r>
              <a:rPr lang="en-US" b="1" dirty="0">
                <a:latin typeface="Consolas" panose="020B0609020204030204" pitchFamily="49" charset="0"/>
              </a:rPr>
              <a:t>: string, </a:t>
            </a:r>
            <a:r>
              <a:rPr lang="en-US" b="1" dirty="0">
                <a:solidFill>
                  <a:srgbClr val="FF0000"/>
                </a:solidFill>
                <a:latin typeface="Consolas" panose="020B0609020204030204" pitchFamily="49" charset="0"/>
              </a:rPr>
              <a:t>...</a:t>
            </a:r>
            <a:r>
              <a:rPr lang="en-US" b="1" dirty="0" err="1">
                <a:latin typeface="Consolas" panose="020B0609020204030204" pitchFamily="49" charset="0"/>
              </a:rPr>
              <a:t>restOfName</a:t>
            </a:r>
            <a:r>
              <a:rPr lang="en-US" b="1" dirty="0">
                <a:latin typeface="Consolas" panose="020B0609020204030204" pitchFamily="49" charset="0"/>
              </a:rPr>
              <a:t>: string[]) { </a:t>
            </a:r>
          </a:p>
          <a:p>
            <a:r>
              <a:rPr lang="en-US" b="1" dirty="0">
                <a:solidFill>
                  <a:srgbClr val="0000FF"/>
                </a:solidFill>
                <a:latin typeface="Consolas" panose="020B0609020204030204" pitchFamily="49" charset="0"/>
              </a:rPr>
              <a:t>		return</a:t>
            </a:r>
            <a:r>
              <a:rPr lang="en-US" b="1" dirty="0">
                <a:latin typeface="Consolas" panose="020B0609020204030204" pitchFamily="49" charset="0"/>
              </a:rPr>
              <a:t> </a:t>
            </a:r>
            <a:r>
              <a:rPr lang="en-US" b="1" dirty="0" err="1">
                <a:latin typeface="Consolas" panose="020B0609020204030204" pitchFamily="49" charset="0"/>
              </a:rPr>
              <a:t>firstName</a:t>
            </a:r>
            <a:r>
              <a:rPr lang="en-US" b="1" dirty="0">
                <a:latin typeface="Consolas" panose="020B0609020204030204" pitchFamily="49" charset="0"/>
              </a:rPr>
              <a:t> + </a:t>
            </a:r>
            <a:r>
              <a:rPr lang="en-US" b="1" dirty="0">
                <a:solidFill>
                  <a:srgbClr val="A31515"/>
                </a:solidFill>
                <a:latin typeface="Consolas" panose="020B0609020204030204" pitchFamily="49" charset="0"/>
              </a:rPr>
              <a:t>" "</a:t>
            </a:r>
            <a:r>
              <a:rPr lang="en-US" b="1" dirty="0">
                <a:latin typeface="Consolas" panose="020B0609020204030204" pitchFamily="49" charset="0"/>
              </a:rPr>
              <a:t> + </a:t>
            </a:r>
            <a:r>
              <a:rPr lang="en-US" b="1" dirty="0" err="1">
                <a:latin typeface="Consolas" panose="020B0609020204030204" pitchFamily="49" charset="0"/>
              </a:rPr>
              <a:t>restOfName.join</a:t>
            </a:r>
            <a:r>
              <a:rPr lang="en-US" b="1" dirty="0">
                <a:latin typeface="Consolas" panose="020B0609020204030204" pitchFamily="49" charset="0"/>
              </a:rPr>
              <a:t>(</a:t>
            </a:r>
            <a:r>
              <a:rPr lang="en-US" b="1" dirty="0">
                <a:solidFill>
                  <a:srgbClr val="A31515"/>
                </a:solidFill>
                <a:latin typeface="Consolas" panose="020B0609020204030204" pitchFamily="49" charset="0"/>
              </a:rPr>
              <a:t>" "</a:t>
            </a:r>
            <a:r>
              <a:rPr lang="en-US" b="1" dirty="0">
                <a:latin typeface="Consolas" panose="020B0609020204030204" pitchFamily="49" charset="0"/>
              </a:rPr>
              <a:t>); </a:t>
            </a:r>
          </a:p>
          <a:p>
            <a:r>
              <a:rPr lang="en-US" b="1" dirty="0">
                <a:latin typeface="Consolas" panose="020B0609020204030204" pitchFamily="49" charset="0"/>
              </a:rPr>
              <a:t>	} </a:t>
            </a:r>
          </a:p>
          <a:p>
            <a:endParaRPr lang="en-US" b="1" dirty="0">
              <a:solidFill>
                <a:srgbClr val="0000FF"/>
              </a:solidFill>
              <a:latin typeface="Consolas" panose="020B0609020204030204" pitchFamily="49" charset="0"/>
            </a:endParaRPr>
          </a:p>
          <a:p>
            <a:r>
              <a:rPr lang="en-US" b="1" dirty="0">
                <a:solidFill>
                  <a:srgbClr val="0000FF"/>
                </a:solidFill>
                <a:latin typeface="Consolas" panose="020B0609020204030204" pitchFamily="49" charset="0"/>
              </a:rPr>
              <a:t>	var</a:t>
            </a:r>
            <a:r>
              <a:rPr lang="en-US" b="1" dirty="0">
                <a:latin typeface="Consolas" panose="020B0609020204030204" pitchFamily="49" charset="0"/>
              </a:rPr>
              <a:t> employeeName1 = </a:t>
            </a:r>
            <a:r>
              <a:rPr lang="en-US" b="1" dirty="0" err="1">
                <a:latin typeface="Consolas" panose="020B0609020204030204" pitchFamily="49" charset="0"/>
              </a:rPr>
              <a:t>buildName</a:t>
            </a:r>
            <a:r>
              <a:rPr lang="en-US" b="1" dirty="0">
                <a:latin typeface="Consolas" panose="020B0609020204030204" pitchFamily="49" charset="0"/>
              </a:rPr>
              <a:t>(</a:t>
            </a:r>
            <a:r>
              <a:rPr lang="en-US" b="1" dirty="0">
                <a:solidFill>
                  <a:srgbClr val="A31515"/>
                </a:solidFill>
                <a:latin typeface="Consolas" panose="020B0609020204030204" pitchFamily="49" charset="0"/>
              </a:rPr>
              <a:t>"Joseph"</a:t>
            </a:r>
            <a:r>
              <a:rPr lang="en-US" b="1" dirty="0">
                <a:latin typeface="Consolas" panose="020B0609020204030204" pitchFamily="49" charset="0"/>
              </a:rPr>
              <a:t>);</a:t>
            </a:r>
            <a:br>
              <a:rPr lang="en-US" b="1" dirty="0">
                <a:latin typeface="Consolas" panose="020B0609020204030204" pitchFamily="49" charset="0"/>
              </a:rPr>
            </a:br>
            <a:endParaRPr lang="en-US" b="1" dirty="0">
              <a:latin typeface="Consolas" panose="020B0609020204030204" pitchFamily="49" charset="0"/>
            </a:endParaRPr>
          </a:p>
          <a:p>
            <a:r>
              <a:rPr lang="en-US" b="1" dirty="0">
                <a:solidFill>
                  <a:srgbClr val="0000FF"/>
                </a:solidFill>
                <a:latin typeface="Consolas" panose="020B0609020204030204" pitchFamily="49" charset="0"/>
              </a:rPr>
              <a:t>	var</a:t>
            </a:r>
            <a:r>
              <a:rPr lang="en-US" b="1" dirty="0">
                <a:latin typeface="Consolas" panose="020B0609020204030204" pitchFamily="49" charset="0"/>
              </a:rPr>
              <a:t> employeeName2 = </a:t>
            </a:r>
            <a:r>
              <a:rPr lang="en-US" b="1" dirty="0" err="1">
                <a:latin typeface="Consolas" panose="020B0609020204030204" pitchFamily="49" charset="0"/>
              </a:rPr>
              <a:t>buildName</a:t>
            </a:r>
            <a:r>
              <a:rPr lang="en-US" b="1" dirty="0">
                <a:latin typeface="Consolas" panose="020B0609020204030204" pitchFamily="49" charset="0"/>
              </a:rPr>
              <a:t>(</a:t>
            </a:r>
            <a:r>
              <a:rPr lang="en-US" b="1" dirty="0">
                <a:solidFill>
                  <a:srgbClr val="A31515"/>
                </a:solidFill>
                <a:latin typeface="Consolas" panose="020B0609020204030204" pitchFamily="49" charset="0"/>
              </a:rPr>
              <a:t>"Joseph"</a:t>
            </a:r>
            <a:r>
              <a:rPr lang="en-US" b="1" dirty="0">
                <a:latin typeface="Consolas" panose="020B0609020204030204" pitchFamily="49" charset="0"/>
              </a:rPr>
              <a:t>, </a:t>
            </a:r>
            <a:r>
              <a:rPr lang="en-US" b="1" dirty="0">
                <a:solidFill>
                  <a:srgbClr val="FF0000"/>
                </a:solidFill>
                <a:latin typeface="Consolas" panose="020B0609020204030204" pitchFamily="49" charset="0"/>
              </a:rPr>
              <a:t>"Samuel"</a:t>
            </a:r>
            <a:r>
              <a:rPr lang="en-US" b="1" dirty="0">
                <a:latin typeface="Consolas" panose="020B0609020204030204" pitchFamily="49" charset="0"/>
              </a:rPr>
              <a:t>);</a:t>
            </a:r>
            <a:br>
              <a:rPr lang="en-US" b="1" dirty="0">
                <a:latin typeface="Consolas" panose="020B0609020204030204" pitchFamily="49" charset="0"/>
              </a:rPr>
            </a:br>
            <a:endParaRPr lang="en-US" b="1" dirty="0">
              <a:latin typeface="Consolas" panose="020B0609020204030204" pitchFamily="49" charset="0"/>
            </a:endParaRPr>
          </a:p>
          <a:p>
            <a:r>
              <a:rPr lang="en-US" b="1" dirty="0">
                <a:solidFill>
                  <a:srgbClr val="0000FF"/>
                </a:solidFill>
                <a:latin typeface="Consolas" panose="020B0609020204030204" pitchFamily="49" charset="0"/>
              </a:rPr>
              <a:t>	var</a:t>
            </a:r>
            <a:r>
              <a:rPr lang="en-US" b="1" dirty="0">
                <a:latin typeface="Consolas" panose="020B0609020204030204" pitchFamily="49" charset="0"/>
              </a:rPr>
              <a:t> employeeName3 = </a:t>
            </a:r>
            <a:r>
              <a:rPr lang="en-US" b="1" dirty="0" err="1">
                <a:latin typeface="Consolas" panose="020B0609020204030204" pitchFamily="49" charset="0"/>
              </a:rPr>
              <a:t>buildName</a:t>
            </a:r>
            <a:r>
              <a:rPr lang="en-US" b="1" dirty="0">
                <a:latin typeface="Consolas" panose="020B0609020204030204" pitchFamily="49" charset="0"/>
              </a:rPr>
              <a:t>(</a:t>
            </a:r>
            <a:r>
              <a:rPr lang="en-US" b="1" dirty="0">
                <a:solidFill>
                  <a:srgbClr val="A31515"/>
                </a:solidFill>
                <a:latin typeface="Consolas" panose="020B0609020204030204" pitchFamily="49" charset="0"/>
              </a:rPr>
              <a:t>"Joseph"</a:t>
            </a:r>
            <a:r>
              <a:rPr lang="en-US" b="1" dirty="0">
                <a:latin typeface="Consolas" panose="020B0609020204030204" pitchFamily="49" charset="0"/>
              </a:rPr>
              <a:t>, </a:t>
            </a:r>
            <a:r>
              <a:rPr lang="en-US" b="1" dirty="0">
                <a:solidFill>
                  <a:srgbClr val="FF0000"/>
                </a:solidFill>
                <a:latin typeface="Consolas" panose="020B0609020204030204" pitchFamily="49" charset="0"/>
              </a:rPr>
              <a:t>"Samuel", "Lucas", "</a:t>
            </a:r>
            <a:r>
              <a:rPr lang="en-US" b="1" dirty="0" err="1">
                <a:solidFill>
                  <a:srgbClr val="FF0000"/>
                </a:solidFill>
                <a:latin typeface="Consolas" panose="020B0609020204030204" pitchFamily="49" charset="0"/>
              </a:rPr>
              <a:t>MacKinzie</a:t>
            </a:r>
            <a:r>
              <a:rPr lang="en-US" b="1" dirty="0">
                <a:solidFill>
                  <a:srgbClr val="FF0000"/>
                </a:solidFill>
                <a:latin typeface="Consolas" panose="020B0609020204030204" pitchFamily="49" charset="0"/>
              </a:rPr>
              <a:t>"</a:t>
            </a:r>
            <a:r>
              <a:rPr lang="en-US" b="1" dirty="0">
                <a:latin typeface="Consolas" panose="020B0609020204030204" pitchFamily="49" charset="0"/>
              </a:rPr>
              <a:t>);</a:t>
            </a:r>
            <a:br>
              <a:rPr lang="en-US" b="1" dirty="0">
                <a:latin typeface="Consolas" panose="020B0609020204030204" pitchFamily="49" charset="0"/>
              </a:rPr>
            </a:br>
            <a:endParaRPr lang="en-US" b="1" dirty="0">
              <a:latin typeface="Consolas" panose="020B0609020204030204" pitchFamily="49" charset="0"/>
            </a:endParaRPr>
          </a:p>
          <a:p>
            <a:endParaRPr lang="en-US" b="1" dirty="0">
              <a:latin typeface="Consolas" panose="020B0609020204030204" pitchFamily="49" charset="0"/>
            </a:endParaRPr>
          </a:p>
        </p:txBody>
      </p:sp>
    </p:spTree>
    <p:extLst>
      <p:ext uri="{BB962C8B-B14F-4D97-AF65-F5344CB8AC3E}">
        <p14:creationId xmlns:p14="http://schemas.microsoft.com/office/powerpoint/2010/main" val="178251228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азвание 1"/>
          <p:cNvSpPr>
            <a:spLocks noGrp="1"/>
          </p:cNvSpPr>
          <p:nvPr>
            <p:ph type="title"/>
          </p:nvPr>
        </p:nvSpPr>
        <p:spPr/>
        <p:txBody>
          <a:bodyPr/>
          <a:lstStyle/>
          <a:p>
            <a:r>
              <a:rPr lang="en-US" dirty="0"/>
              <a:t>Functions overloading</a:t>
            </a:r>
            <a:endParaRPr lang="ru-RU" dirty="0"/>
          </a:p>
        </p:txBody>
      </p:sp>
      <p:sp>
        <p:nvSpPr>
          <p:cNvPr id="5" name="Прямоугольник 4"/>
          <p:cNvSpPr/>
          <p:nvPr/>
        </p:nvSpPr>
        <p:spPr>
          <a:xfrm>
            <a:off x="1141412" y="1289477"/>
            <a:ext cx="10210800" cy="5339923"/>
          </a:xfrm>
          <a:prstGeom prst="rect">
            <a:avLst/>
          </a:prstGeom>
        </p:spPr>
        <p:txBody>
          <a:bodyPr wrap="square">
            <a:spAutoFit/>
          </a:bodyPr>
          <a:lstStyle/>
          <a:p>
            <a:r>
              <a:rPr lang="en-US" sz="1600" b="1" dirty="0" err="1">
                <a:solidFill>
                  <a:srgbClr val="0000FF"/>
                </a:solidFill>
                <a:latin typeface="Consolas" panose="020B0609020204030204" pitchFamily="49" charset="0"/>
              </a:rPr>
              <a:t>var</a:t>
            </a:r>
            <a:r>
              <a:rPr lang="en-US" sz="1600" b="1" dirty="0">
                <a:latin typeface="Consolas" panose="020B0609020204030204" pitchFamily="49" charset="0"/>
              </a:rPr>
              <a:t> suits = [</a:t>
            </a:r>
            <a:r>
              <a:rPr lang="en-US" sz="1600" b="1" dirty="0">
                <a:solidFill>
                  <a:srgbClr val="A31515"/>
                </a:solidFill>
                <a:latin typeface="Consolas" panose="020B0609020204030204" pitchFamily="49" charset="0"/>
              </a:rPr>
              <a:t>"hearts"</a:t>
            </a:r>
            <a:r>
              <a:rPr lang="en-US" sz="1600" b="1" dirty="0">
                <a:latin typeface="Consolas" panose="020B0609020204030204" pitchFamily="49" charset="0"/>
              </a:rPr>
              <a:t>, </a:t>
            </a:r>
            <a:r>
              <a:rPr lang="en-US" sz="1600" b="1" dirty="0">
                <a:solidFill>
                  <a:srgbClr val="A31515"/>
                </a:solidFill>
                <a:latin typeface="Consolas" panose="020B0609020204030204" pitchFamily="49" charset="0"/>
              </a:rPr>
              <a:t>"spades"</a:t>
            </a:r>
            <a:r>
              <a:rPr lang="en-US" sz="1600" b="1" dirty="0">
                <a:latin typeface="Consolas" panose="020B0609020204030204" pitchFamily="49" charset="0"/>
              </a:rPr>
              <a:t>, </a:t>
            </a:r>
            <a:r>
              <a:rPr lang="en-US" sz="1600" b="1" dirty="0">
                <a:solidFill>
                  <a:srgbClr val="A31515"/>
                </a:solidFill>
                <a:latin typeface="Consolas" panose="020B0609020204030204" pitchFamily="49" charset="0"/>
              </a:rPr>
              <a:t>"clubs"</a:t>
            </a:r>
            <a:r>
              <a:rPr lang="en-US" sz="1600" b="1" dirty="0">
                <a:latin typeface="Consolas" panose="020B0609020204030204" pitchFamily="49" charset="0"/>
              </a:rPr>
              <a:t>, </a:t>
            </a:r>
            <a:r>
              <a:rPr lang="en-US" sz="1600" b="1" dirty="0">
                <a:solidFill>
                  <a:srgbClr val="A31515"/>
                </a:solidFill>
                <a:latin typeface="Consolas" panose="020B0609020204030204" pitchFamily="49" charset="0"/>
              </a:rPr>
              <a:t>"diamonds"</a:t>
            </a:r>
            <a:r>
              <a:rPr lang="en-US" sz="1600" b="1" dirty="0">
                <a:latin typeface="Consolas" panose="020B0609020204030204" pitchFamily="49" charset="0"/>
              </a:rPr>
              <a:t>]; </a:t>
            </a:r>
          </a:p>
          <a:p>
            <a:endParaRPr lang="en-US" sz="400" b="1" dirty="0">
              <a:solidFill>
                <a:srgbClr val="0000FF"/>
              </a:solidFill>
              <a:latin typeface="Consolas" panose="020B0609020204030204" pitchFamily="49" charset="0"/>
            </a:endParaRPr>
          </a:p>
          <a:p>
            <a:r>
              <a:rPr lang="en-US" sz="1600" b="1" dirty="0">
                <a:solidFill>
                  <a:srgbClr val="0000FF"/>
                </a:solidFill>
                <a:latin typeface="Consolas" panose="020B0609020204030204" pitchFamily="49" charset="0"/>
              </a:rPr>
              <a:t>function</a:t>
            </a:r>
            <a:r>
              <a:rPr lang="en-US" sz="1600" b="1" dirty="0">
                <a:latin typeface="Consolas" panose="020B0609020204030204" pitchFamily="49" charset="0"/>
              </a:rPr>
              <a:t> </a:t>
            </a:r>
            <a:r>
              <a:rPr lang="en-US" sz="1600" b="1" dirty="0" err="1">
                <a:latin typeface="Consolas" panose="020B0609020204030204" pitchFamily="49" charset="0"/>
              </a:rPr>
              <a:t>pickCard</a:t>
            </a:r>
            <a:r>
              <a:rPr lang="en-US" sz="1600" b="1" dirty="0">
                <a:latin typeface="Consolas" panose="020B0609020204030204" pitchFamily="49" charset="0"/>
              </a:rPr>
              <a:t>(x: {suit: string; card: number; }[]): number; </a:t>
            </a:r>
          </a:p>
          <a:p>
            <a:r>
              <a:rPr lang="en-US" sz="1600" b="1" dirty="0">
                <a:solidFill>
                  <a:srgbClr val="0000FF"/>
                </a:solidFill>
                <a:latin typeface="Consolas" panose="020B0609020204030204" pitchFamily="49" charset="0"/>
              </a:rPr>
              <a:t>function</a:t>
            </a:r>
            <a:r>
              <a:rPr lang="en-US" sz="1600" b="1" dirty="0">
                <a:latin typeface="Consolas" panose="020B0609020204030204" pitchFamily="49" charset="0"/>
              </a:rPr>
              <a:t> </a:t>
            </a:r>
            <a:r>
              <a:rPr lang="en-US" sz="1600" b="1" dirty="0" err="1">
                <a:latin typeface="Consolas" panose="020B0609020204030204" pitchFamily="49" charset="0"/>
              </a:rPr>
              <a:t>pickCard</a:t>
            </a:r>
            <a:r>
              <a:rPr lang="en-US" sz="1600" b="1" dirty="0">
                <a:latin typeface="Consolas" panose="020B0609020204030204" pitchFamily="49" charset="0"/>
              </a:rPr>
              <a:t>(x: number): {suit: string; card: number; }; </a:t>
            </a:r>
          </a:p>
          <a:p>
            <a:r>
              <a:rPr lang="en-US" sz="1600" b="1" dirty="0">
                <a:solidFill>
                  <a:srgbClr val="0000FF"/>
                </a:solidFill>
                <a:latin typeface="Consolas" panose="020B0609020204030204" pitchFamily="49" charset="0"/>
              </a:rPr>
              <a:t>function</a:t>
            </a:r>
            <a:r>
              <a:rPr lang="en-US" sz="1600" b="1" dirty="0">
                <a:latin typeface="Consolas" panose="020B0609020204030204" pitchFamily="49" charset="0"/>
              </a:rPr>
              <a:t> </a:t>
            </a:r>
            <a:r>
              <a:rPr lang="en-US" sz="1600" b="1" dirty="0" err="1">
                <a:latin typeface="Consolas" panose="020B0609020204030204" pitchFamily="49" charset="0"/>
              </a:rPr>
              <a:t>pickCard</a:t>
            </a:r>
            <a:r>
              <a:rPr lang="en-US" sz="1600" b="1" dirty="0">
                <a:latin typeface="Consolas" panose="020B0609020204030204" pitchFamily="49" charset="0"/>
              </a:rPr>
              <a:t>(x: any): any { </a:t>
            </a:r>
          </a:p>
          <a:p>
            <a:r>
              <a:rPr lang="en-US" sz="1600" b="1" dirty="0">
                <a:solidFill>
                  <a:srgbClr val="008000"/>
                </a:solidFill>
                <a:latin typeface="Consolas" panose="020B0609020204030204" pitchFamily="49" charset="0"/>
              </a:rPr>
              <a:t>	// Check to see if we're working with an object/array</a:t>
            </a:r>
            <a:r>
              <a:rPr lang="en-US" sz="1600" b="1" dirty="0">
                <a:latin typeface="Consolas" panose="020B0609020204030204" pitchFamily="49" charset="0"/>
              </a:rPr>
              <a:t> </a:t>
            </a:r>
          </a:p>
          <a:p>
            <a:r>
              <a:rPr lang="en-US" sz="1600" b="1" dirty="0">
                <a:solidFill>
                  <a:srgbClr val="0000FF"/>
                </a:solidFill>
                <a:latin typeface="Consolas" panose="020B0609020204030204" pitchFamily="49" charset="0"/>
              </a:rPr>
              <a:t>	if</a:t>
            </a:r>
            <a:r>
              <a:rPr lang="en-US" sz="1600" b="1" dirty="0">
                <a:latin typeface="Consolas" panose="020B0609020204030204" pitchFamily="49" charset="0"/>
              </a:rPr>
              <a:t> (</a:t>
            </a:r>
            <a:r>
              <a:rPr lang="en-US" sz="1600" b="1" dirty="0" err="1">
                <a:solidFill>
                  <a:srgbClr val="0000FF"/>
                </a:solidFill>
                <a:latin typeface="Consolas" panose="020B0609020204030204" pitchFamily="49" charset="0"/>
              </a:rPr>
              <a:t>typeof</a:t>
            </a:r>
            <a:r>
              <a:rPr lang="en-US" sz="1600" b="1" dirty="0">
                <a:latin typeface="Consolas" panose="020B0609020204030204" pitchFamily="49" charset="0"/>
              </a:rPr>
              <a:t> x == </a:t>
            </a:r>
            <a:r>
              <a:rPr lang="en-US" sz="1600" b="1" dirty="0">
                <a:solidFill>
                  <a:srgbClr val="A31515"/>
                </a:solidFill>
                <a:latin typeface="Consolas" panose="020B0609020204030204" pitchFamily="49" charset="0"/>
              </a:rPr>
              <a:t>"object"</a:t>
            </a:r>
            <a:r>
              <a:rPr lang="en-US" sz="1600" b="1" dirty="0">
                <a:latin typeface="Consolas" panose="020B0609020204030204" pitchFamily="49" charset="0"/>
              </a:rPr>
              <a:t>) { </a:t>
            </a:r>
          </a:p>
          <a:p>
            <a:r>
              <a:rPr lang="en-US" sz="1600" b="1" dirty="0">
                <a:solidFill>
                  <a:srgbClr val="0000FF"/>
                </a:solidFill>
                <a:latin typeface="Consolas" panose="020B0609020204030204" pitchFamily="49" charset="0"/>
              </a:rPr>
              <a:t>		</a:t>
            </a:r>
            <a:r>
              <a:rPr lang="en-US" sz="1600" b="1" dirty="0" err="1">
                <a:solidFill>
                  <a:srgbClr val="0000FF"/>
                </a:solidFill>
                <a:latin typeface="Consolas" panose="020B0609020204030204" pitchFamily="49" charset="0"/>
              </a:rPr>
              <a:t>var</a:t>
            </a:r>
            <a:r>
              <a:rPr lang="en-US" sz="1600" b="1" dirty="0">
                <a:latin typeface="Consolas" panose="020B0609020204030204" pitchFamily="49" charset="0"/>
              </a:rPr>
              <a:t> </a:t>
            </a:r>
            <a:r>
              <a:rPr lang="en-US" sz="1600" b="1" dirty="0" err="1">
                <a:latin typeface="Consolas" panose="020B0609020204030204" pitchFamily="49" charset="0"/>
              </a:rPr>
              <a:t>pickedCard</a:t>
            </a:r>
            <a:r>
              <a:rPr lang="en-US" sz="1600" b="1" dirty="0">
                <a:latin typeface="Consolas" panose="020B0609020204030204" pitchFamily="49" charset="0"/>
              </a:rPr>
              <a:t> = </a:t>
            </a:r>
            <a:r>
              <a:rPr lang="en-US" sz="1600" b="1" dirty="0" err="1">
                <a:latin typeface="Consolas" panose="020B0609020204030204" pitchFamily="49" charset="0"/>
              </a:rPr>
              <a:t>Math.floor</a:t>
            </a:r>
            <a:r>
              <a:rPr lang="en-US" sz="1600" b="1" dirty="0">
                <a:latin typeface="Consolas" panose="020B0609020204030204" pitchFamily="49" charset="0"/>
              </a:rPr>
              <a:t>(</a:t>
            </a:r>
            <a:r>
              <a:rPr lang="en-US" sz="1600" b="1" dirty="0" err="1">
                <a:latin typeface="Consolas" panose="020B0609020204030204" pitchFamily="49" charset="0"/>
              </a:rPr>
              <a:t>Math.random</a:t>
            </a:r>
            <a:r>
              <a:rPr lang="en-US" sz="1600" b="1" dirty="0">
                <a:latin typeface="Consolas" panose="020B0609020204030204" pitchFamily="49" charset="0"/>
              </a:rPr>
              <a:t>() * </a:t>
            </a:r>
            <a:r>
              <a:rPr lang="en-US" sz="1600" b="1" dirty="0" err="1">
                <a:latin typeface="Consolas" panose="020B0609020204030204" pitchFamily="49" charset="0"/>
              </a:rPr>
              <a:t>x.length</a:t>
            </a:r>
            <a:r>
              <a:rPr lang="en-US" sz="1600" b="1" dirty="0">
                <a:latin typeface="Consolas" panose="020B0609020204030204" pitchFamily="49" charset="0"/>
              </a:rPr>
              <a:t>); </a:t>
            </a:r>
          </a:p>
          <a:p>
            <a:r>
              <a:rPr lang="en-US" sz="1600" b="1" dirty="0">
                <a:solidFill>
                  <a:srgbClr val="0000FF"/>
                </a:solidFill>
                <a:latin typeface="Consolas" panose="020B0609020204030204" pitchFamily="49" charset="0"/>
              </a:rPr>
              <a:t>		return</a:t>
            </a:r>
            <a:r>
              <a:rPr lang="en-US" sz="1600" b="1" dirty="0">
                <a:latin typeface="Consolas" panose="020B0609020204030204" pitchFamily="49" charset="0"/>
              </a:rPr>
              <a:t> </a:t>
            </a:r>
            <a:r>
              <a:rPr lang="en-US" sz="1600" b="1" dirty="0" err="1">
                <a:latin typeface="Consolas" panose="020B0609020204030204" pitchFamily="49" charset="0"/>
              </a:rPr>
              <a:t>pickedCard</a:t>
            </a:r>
            <a:r>
              <a:rPr lang="en-US" sz="1600" b="1" dirty="0">
                <a:latin typeface="Consolas" panose="020B0609020204030204" pitchFamily="49" charset="0"/>
              </a:rPr>
              <a:t>; </a:t>
            </a:r>
          </a:p>
          <a:p>
            <a:r>
              <a:rPr lang="en-US" sz="1600" b="1" dirty="0">
                <a:latin typeface="Consolas" panose="020B0609020204030204" pitchFamily="49" charset="0"/>
              </a:rPr>
              <a:t>	} </a:t>
            </a:r>
            <a:r>
              <a:rPr lang="en-US" sz="1600" b="1" dirty="0">
                <a:solidFill>
                  <a:srgbClr val="008000"/>
                </a:solidFill>
                <a:latin typeface="Consolas" panose="020B0609020204030204" pitchFamily="49" charset="0"/>
              </a:rPr>
              <a:t>// Otherwise just let them pick the card</a:t>
            </a:r>
            <a:r>
              <a:rPr lang="en-US" sz="1600" b="1" dirty="0">
                <a:latin typeface="Consolas" panose="020B0609020204030204" pitchFamily="49" charset="0"/>
              </a:rPr>
              <a:t> </a:t>
            </a:r>
          </a:p>
          <a:p>
            <a:r>
              <a:rPr lang="en-US" sz="1600" b="1" dirty="0">
                <a:solidFill>
                  <a:srgbClr val="0000FF"/>
                </a:solidFill>
                <a:latin typeface="Consolas" panose="020B0609020204030204" pitchFamily="49" charset="0"/>
              </a:rPr>
              <a:t>	else</a:t>
            </a:r>
            <a:r>
              <a:rPr lang="en-US" sz="1600" b="1" dirty="0">
                <a:latin typeface="Consolas" panose="020B0609020204030204" pitchFamily="49" charset="0"/>
              </a:rPr>
              <a:t> </a:t>
            </a:r>
            <a:r>
              <a:rPr lang="en-US" sz="1600" b="1" dirty="0">
                <a:solidFill>
                  <a:srgbClr val="0000FF"/>
                </a:solidFill>
                <a:latin typeface="Consolas" panose="020B0609020204030204" pitchFamily="49" charset="0"/>
              </a:rPr>
              <a:t>if</a:t>
            </a:r>
            <a:r>
              <a:rPr lang="en-US" sz="1600" b="1" dirty="0">
                <a:latin typeface="Consolas" panose="020B0609020204030204" pitchFamily="49" charset="0"/>
              </a:rPr>
              <a:t> (</a:t>
            </a:r>
            <a:r>
              <a:rPr lang="en-US" sz="1600" b="1" dirty="0" err="1">
                <a:solidFill>
                  <a:srgbClr val="0000FF"/>
                </a:solidFill>
                <a:latin typeface="Consolas" panose="020B0609020204030204" pitchFamily="49" charset="0"/>
              </a:rPr>
              <a:t>typeof</a:t>
            </a:r>
            <a:r>
              <a:rPr lang="en-US" sz="1600" b="1" dirty="0">
                <a:latin typeface="Consolas" panose="020B0609020204030204" pitchFamily="49" charset="0"/>
              </a:rPr>
              <a:t> x == </a:t>
            </a:r>
            <a:r>
              <a:rPr lang="en-US" sz="1600" b="1" dirty="0">
                <a:solidFill>
                  <a:srgbClr val="A31515"/>
                </a:solidFill>
                <a:latin typeface="Consolas" panose="020B0609020204030204" pitchFamily="49" charset="0"/>
              </a:rPr>
              <a:t>"number"</a:t>
            </a:r>
            <a:r>
              <a:rPr lang="en-US" sz="1600" b="1" dirty="0">
                <a:latin typeface="Consolas" panose="020B0609020204030204" pitchFamily="49" charset="0"/>
              </a:rPr>
              <a:t>) { </a:t>
            </a:r>
          </a:p>
          <a:p>
            <a:r>
              <a:rPr lang="en-US" sz="1600" b="1" dirty="0">
                <a:solidFill>
                  <a:srgbClr val="0000FF"/>
                </a:solidFill>
                <a:latin typeface="Consolas" panose="020B0609020204030204" pitchFamily="49" charset="0"/>
              </a:rPr>
              <a:t>		</a:t>
            </a:r>
            <a:r>
              <a:rPr lang="en-US" sz="1600" b="1" dirty="0" err="1">
                <a:solidFill>
                  <a:srgbClr val="0000FF"/>
                </a:solidFill>
                <a:latin typeface="Consolas" panose="020B0609020204030204" pitchFamily="49" charset="0"/>
              </a:rPr>
              <a:t>var</a:t>
            </a:r>
            <a:r>
              <a:rPr lang="en-US" sz="1600" b="1" dirty="0">
                <a:latin typeface="Consolas" panose="020B0609020204030204" pitchFamily="49" charset="0"/>
              </a:rPr>
              <a:t> </a:t>
            </a:r>
            <a:r>
              <a:rPr lang="en-US" sz="1600" b="1" dirty="0" err="1">
                <a:latin typeface="Consolas" panose="020B0609020204030204" pitchFamily="49" charset="0"/>
              </a:rPr>
              <a:t>pickedSuit</a:t>
            </a:r>
            <a:r>
              <a:rPr lang="en-US" sz="1600" b="1" dirty="0">
                <a:latin typeface="Consolas" panose="020B0609020204030204" pitchFamily="49" charset="0"/>
              </a:rPr>
              <a:t> = </a:t>
            </a:r>
            <a:r>
              <a:rPr lang="en-US" sz="1600" b="1" dirty="0" err="1">
                <a:latin typeface="Consolas" panose="020B0609020204030204" pitchFamily="49" charset="0"/>
              </a:rPr>
              <a:t>Math.floor</a:t>
            </a:r>
            <a:r>
              <a:rPr lang="en-US" sz="1600" b="1" dirty="0">
                <a:latin typeface="Consolas" panose="020B0609020204030204" pitchFamily="49" charset="0"/>
              </a:rPr>
              <a:t>(x / 13); </a:t>
            </a:r>
          </a:p>
          <a:p>
            <a:r>
              <a:rPr lang="en-US" sz="1600" b="1" dirty="0">
                <a:solidFill>
                  <a:srgbClr val="0000FF"/>
                </a:solidFill>
                <a:latin typeface="Consolas" panose="020B0609020204030204" pitchFamily="49" charset="0"/>
              </a:rPr>
              <a:t>		return</a:t>
            </a:r>
            <a:r>
              <a:rPr lang="en-US" sz="1600" b="1" dirty="0">
                <a:latin typeface="Consolas" panose="020B0609020204030204" pitchFamily="49" charset="0"/>
              </a:rPr>
              <a:t> { suit: suits[</a:t>
            </a:r>
            <a:r>
              <a:rPr lang="en-US" sz="1600" b="1" dirty="0" err="1">
                <a:latin typeface="Consolas" panose="020B0609020204030204" pitchFamily="49" charset="0"/>
              </a:rPr>
              <a:t>pickedSuit</a:t>
            </a:r>
            <a:r>
              <a:rPr lang="en-US" sz="1600" b="1" dirty="0">
                <a:latin typeface="Consolas" panose="020B0609020204030204" pitchFamily="49" charset="0"/>
              </a:rPr>
              <a:t>], card: x % 13 }; </a:t>
            </a:r>
          </a:p>
          <a:p>
            <a:r>
              <a:rPr lang="en-US" sz="1600" b="1" dirty="0">
                <a:latin typeface="Consolas" panose="020B0609020204030204" pitchFamily="49" charset="0"/>
              </a:rPr>
              <a:t>	} </a:t>
            </a:r>
          </a:p>
          <a:p>
            <a:r>
              <a:rPr lang="en-US" sz="1600" b="1" dirty="0">
                <a:latin typeface="Consolas" panose="020B0609020204030204" pitchFamily="49" charset="0"/>
              </a:rPr>
              <a:t>} </a:t>
            </a:r>
          </a:p>
          <a:p>
            <a:endParaRPr lang="en-US" sz="1600" b="1" dirty="0">
              <a:latin typeface="Consolas" panose="020B0609020204030204" pitchFamily="49" charset="0"/>
            </a:endParaRPr>
          </a:p>
          <a:p>
            <a:endParaRPr lang="en-US" sz="400" b="1" dirty="0">
              <a:latin typeface="Consolas" panose="020B0609020204030204" pitchFamily="49" charset="0"/>
            </a:endParaRPr>
          </a:p>
          <a:p>
            <a:r>
              <a:rPr lang="en-US" sz="1600" b="1" dirty="0" err="1">
                <a:solidFill>
                  <a:srgbClr val="0000FF"/>
                </a:solidFill>
                <a:latin typeface="Consolas" panose="020B0609020204030204" pitchFamily="49" charset="0"/>
              </a:rPr>
              <a:t>var</a:t>
            </a:r>
            <a:r>
              <a:rPr lang="en-US" sz="1600" b="1" dirty="0">
                <a:latin typeface="Consolas" panose="020B0609020204030204" pitchFamily="49" charset="0"/>
              </a:rPr>
              <a:t> </a:t>
            </a:r>
            <a:r>
              <a:rPr lang="en-US" sz="1600" b="1" dirty="0" err="1">
                <a:latin typeface="Consolas" panose="020B0609020204030204" pitchFamily="49" charset="0"/>
              </a:rPr>
              <a:t>myDeck</a:t>
            </a:r>
            <a:r>
              <a:rPr lang="en-US" sz="1600" b="1" dirty="0">
                <a:latin typeface="Consolas" panose="020B0609020204030204" pitchFamily="49" charset="0"/>
              </a:rPr>
              <a:t> = [{ suit: </a:t>
            </a:r>
            <a:r>
              <a:rPr lang="en-US" sz="1600" b="1" dirty="0">
                <a:solidFill>
                  <a:srgbClr val="A31515"/>
                </a:solidFill>
                <a:latin typeface="Consolas" panose="020B0609020204030204" pitchFamily="49" charset="0"/>
              </a:rPr>
              <a:t>"diamonds"</a:t>
            </a:r>
            <a:r>
              <a:rPr lang="en-US" sz="1600" b="1" dirty="0">
                <a:latin typeface="Consolas" panose="020B0609020204030204" pitchFamily="49" charset="0"/>
              </a:rPr>
              <a:t>, card: 2 }, { suit: </a:t>
            </a:r>
            <a:r>
              <a:rPr lang="en-US" sz="1600" b="1" dirty="0">
                <a:solidFill>
                  <a:srgbClr val="A31515"/>
                </a:solidFill>
                <a:latin typeface="Consolas" panose="020B0609020204030204" pitchFamily="49" charset="0"/>
              </a:rPr>
              <a:t>"spades"</a:t>
            </a:r>
            <a:r>
              <a:rPr lang="en-US" sz="1600" b="1" dirty="0">
                <a:latin typeface="Consolas" panose="020B0609020204030204" pitchFamily="49" charset="0"/>
              </a:rPr>
              <a:t>, card: 10 }]; </a:t>
            </a:r>
          </a:p>
          <a:p>
            <a:r>
              <a:rPr lang="en-US" sz="1600" b="1" dirty="0" err="1">
                <a:solidFill>
                  <a:srgbClr val="0000FF"/>
                </a:solidFill>
                <a:latin typeface="Consolas" panose="020B0609020204030204" pitchFamily="49" charset="0"/>
              </a:rPr>
              <a:t>var</a:t>
            </a:r>
            <a:r>
              <a:rPr lang="en-US" sz="1600" b="1" dirty="0">
                <a:latin typeface="Consolas" panose="020B0609020204030204" pitchFamily="49" charset="0"/>
              </a:rPr>
              <a:t> pickedCard1 = </a:t>
            </a:r>
            <a:r>
              <a:rPr lang="en-US" sz="1600" b="1" dirty="0" err="1">
                <a:latin typeface="Consolas" panose="020B0609020204030204" pitchFamily="49" charset="0"/>
              </a:rPr>
              <a:t>myDeck</a:t>
            </a:r>
            <a:r>
              <a:rPr lang="en-US" sz="1600" b="1" dirty="0">
                <a:latin typeface="Consolas" panose="020B0609020204030204" pitchFamily="49" charset="0"/>
              </a:rPr>
              <a:t>[</a:t>
            </a:r>
            <a:r>
              <a:rPr lang="en-US" sz="1600" b="1" dirty="0" err="1">
                <a:latin typeface="Consolas" panose="020B0609020204030204" pitchFamily="49" charset="0"/>
              </a:rPr>
              <a:t>pickCard</a:t>
            </a:r>
            <a:r>
              <a:rPr lang="en-US" sz="1600" b="1" dirty="0">
                <a:latin typeface="Consolas" panose="020B0609020204030204" pitchFamily="49" charset="0"/>
              </a:rPr>
              <a:t>(</a:t>
            </a:r>
            <a:r>
              <a:rPr lang="en-US" sz="1600" b="1" dirty="0" err="1">
                <a:latin typeface="Consolas" panose="020B0609020204030204" pitchFamily="49" charset="0"/>
              </a:rPr>
              <a:t>myDeck</a:t>
            </a:r>
            <a:r>
              <a:rPr lang="en-US" sz="1600" b="1" dirty="0">
                <a:latin typeface="Consolas" panose="020B0609020204030204" pitchFamily="49" charset="0"/>
              </a:rPr>
              <a:t>)]; </a:t>
            </a:r>
          </a:p>
          <a:p>
            <a:r>
              <a:rPr lang="en-US" sz="1600" b="1" dirty="0">
                <a:latin typeface="Consolas" panose="020B0609020204030204" pitchFamily="49" charset="0"/>
              </a:rPr>
              <a:t>alert(</a:t>
            </a:r>
            <a:r>
              <a:rPr lang="en-US" sz="1600" b="1" dirty="0">
                <a:solidFill>
                  <a:srgbClr val="A31515"/>
                </a:solidFill>
                <a:latin typeface="Consolas" panose="020B0609020204030204" pitchFamily="49" charset="0"/>
              </a:rPr>
              <a:t>"card: "</a:t>
            </a:r>
            <a:r>
              <a:rPr lang="en-US" sz="1600" b="1" dirty="0">
                <a:latin typeface="Consolas" panose="020B0609020204030204" pitchFamily="49" charset="0"/>
              </a:rPr>
              <a:t> + pickedCard1.card + </a:t>
            </a:r>
            <a:r>
              <a:rPr lang="en-US" sz="1600" b="1" dirty="0">
                <a:solidFill>
                  <a:srgbClr val="A31515"/>
                </a:solidFill>
                <a:latin typeface="Consolas" panose="020B0609020204030204" pitchFamily="49" charset="0"/>
              </a:rPr>
              <a:t>" of "</a:t>
            </a:r>
            <a:r>
              <a:rPr lang="en-US" sz="1600" b="1" dirty="0">
                <a:latin typeface="Consolas" panose="020B0609020204030204" pitchFamily="49" charset="0"/>
              </a:rPr>
              <a:t> + pickedCard1.suit); </a:t>
            </a:r>
          </a:p>
          <a:p>
            <a:r>
              <a:rPr lang="en-US" sz="1600" b="1" dirty="0" err="1">
                <a:solidFill>
                  <a:srgbClr val="0000FF"/>
                </a:solidFill>
                <a:latin typeface="Consolas" panose="020B0609020204030204" pitchFamily="49" charset="0"/>
              </a:rPr>
              <a:t>var</a:t>
            </a:r>
            <a:r>
              <a:rPr lang="en-US" sz="1600" b="1" dirty="0">
                <a:latin typeface="Consolas" panose="020B0609020204030204" pitchFamily="49" charset="0"/>
              </a:rPr>
              <a:t> pickedCard2 = </a:t>
            </a:r>
            <a:r>
              <a:rPr lang="en-US" sz="1600" b="1" dirty="0" err="1">
                <a:latin typeface="Consolas" panose="020B0609020204030204" pitchFamily="49" charset="0"/>
              </a:rPr>
              <a:t>pickCard</a:t>
            </a:r>
            <a:r>
              <a:rPr lang="en-US" sz="1600" b="1" dirty="0">
                <a:latin typeface="Consolas" panose="020B0609020204030204" pitchFamily="49" charset="0"/>
              </a:rPr>
              <a:t>(15); </a:t>
            </a:r>
          </a:p>
          <a:p>
            <a:r>
              <a:rPr lang="en-US" sz="1600" b="1" dirty="0">
                <a:latin typeface="Consolas" panose="020B0609020204030204" pitchFamily="49" charset="0"/>
              </a:rPr>
              <a:t>alert(</a:t>
            </a:r>
            <a:r>
              <a:rPr lang="en-US" sz="1600" b="1" dirty="0">
                <a:solidFill>
                  <a:srgbClr val="A31515"/>
                </a:solidFill>
                <a:latin typeface="Consolas" panose="020B0609020204030204" pitchFamily="49" charset="0"/>
              </a:rPr>
              <a:t>"card: "</a:t>
            </a:r>
            <a:r>
              <a:rPr lang="en-US" sz="1600" b="1" dirty="0">
                <a:latin typeface="Consolas" panose="020B0609020204030204" pitchFamily="49" charset="0"/>
              </a:rPr>
              <a:t> + pickedCard2.card + </a:t>
            </a:r>
            <a:r>
              <a:rPr lang="en-US" sz="1600" b="1" dirty="0">
                <a:solidFill>
                  <a:srgbClr val="A31515"/>
                </a:solidFill>
                <a:latin typeface="Consolas" panose="020B0609020204030204" pitchFamily="49" charset="0"/>
              </a:rPr>
              <a:t>" of "</a:t>
            </a:r>
            <a:r>
              <a:rPr lang="en-US" sz="1600" b="1" dirty="0">
                <a:latin typeface="Consolas" panose="020B0609020204030204" pitchFamily="49" charset="0"/>
              </a:rPr>
              <a:t> + pickedCard2.suit);</a:t>
            </a:r>
          </a:p>
        </p:txBody>
      </p:sp>
    </p:spTree>
    <p:extLst>
      <p:ext uri="{BB962C8B-B14F-4D97-AF65-F5344CB8AC3E}">
        <p14:creationId xmlns:p14="http://schemas.microsoft.com/office/powerpoint/2010/main" val="288446774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Machine generated alternative text:&#10;Defining Constructors &#10;Constructors are used to &#10;class Car { &#10;engine: string; &#10;initialize fields &#10;Field &#10;constructor(engine: string) { — &#10;this . engine = engine; &#10;Constructor &#10;Shorthand way to &#10;declare a field &#10;class Car { &#10;constructor(public engine: string) { } ">
            <a:extLst>
              <a:ext uri="{FF2B5EF4-FFF2-40B4-BE49-F238E27FC236}">
                <a16:creationId xmlns:a16="http://schemas.microsoft.com/office/drawing/2014/main" id="{8C9B4364-29D8-47D3-B3DE-DAC3E293A097}"/>
              </a:ext>
            </a:extLst>
          </p:cNvPr>
          <p:cNvPicPr>
            <a:picLocks noChangeAspect="1" noChangeArrowheads="1"/>
          </p:cNvPicPr>
          <p:nvPr/>
        </p:nvPicPr>
        <p:blipFill rotWithShape="1">
          <a:blip r:embed="rId2" cstate="print">
            <a:clrChange>
              <a:clrFrom>
                <a:srgbClr val="FDFCFE"/>
              </a:clrFrom>
              <a:clrTo>
                <a:srgbClr val="FDFCFE">
                  <a:alpha val="0"/>
                </a:srgbClr>
              </a:clrTo>
            </a:clrChange>
            <a:extLst>
              <a:ext uri="{28A0092B-C50C-407E-A947-70E740481C1C}">
                <a14:useLocalDpi xmlns:a14="http://schemas.microsoft.com/office/drawing/2010/main" val="0"/>
              </a:ext>
            </a:extLst>
          </a:blip>
          <a:srcRect/>
          <a:stretch/>
        </p:blipFill>
        <p:spPr bwMode="auto">
          <a:xfrm>
            <a:off x="2965341" y="1371600"/>
            <a:ext cx="6258142" cy="4724400"/>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A21D9216-885C-4003-BBE5-406B4481197E}"/>
              </a:ext>
            </a:extLst>
          </p:cNvPr>
          <p:cNvSpPr>
            <a:spLocks noGrp="1"/>
          </p:cNvSpPr>
          <p:nvPr>
            <p:ph type="title"/>
          </p:nvPr>
        </p:nvSpPr>
        <p:spPr/>
        <p:txBody>
          <a:bodyPr/>
          <a:lstStyle/>
          <a:p>
            <a:r>
              <a:rPr lang="es-ES" dirty="0" err="1"/>
              <a:t>Defining</a:t>
            </a:r>
            <a:r>
              <a:rPr lang="es-ES" dirty="0"/>
              <a:t> </a:t>
            </a:r>
            <a:r>
              <a:rPr lang="es-ES" dirty="0" err="1"/>
              <a:t>Constructors</a:t>
            </a:r>
            <a:endParaRPr lang="es-ES" dirty="0"/>
          </a:p>
        </p:txBody>
      </p:sp>
    </p:spTree>
    <p:extLst>
      <p:ext uri="{BB962C8B-B14F-4D97-AF65-F5344CB8AC3E}">
        <p14:creationId xmlns:p14="http://schemas.microsoft.com/office/powerpoint/2010/main" val="187811190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Machine generated alternative text:&#10;Defining Properties &#10;class Car { &#10;private _engine: string; &#10;constructor(engine: string) { &#10;this. engine = engine; &#10;get engine(): string { &#10;return this . &#10;engine; &#10;set engine(value: &#10;if (value &#10;this ._engine = value; &#10;Properties act as filters &#10;and can have get or set &#10;string) { &#10;undefined) throw &#10;blocks &#10;'Supply an Engine! ' ">
            <a:extLst>
              <a:ext uri="{FF2B5EF4-FFF2-40B4-BE49-F238E27FC236}">
                <a16:creationId xmlns:a16="http://schemas.microsoft.com/office/drawing/2014/main" id="{1EEFB585-645B-4243-BF53-EF427C43D566}"/>
              </a:ext>
            </a:extLst>
          </p:cNvPr>
          <p:cNvPicPr>
            <a:picLocks noChangeAspect="1" noChangeArrowheads="1"/>
          </p:cNvPicPr>
          <p:nvPr/>
        </p:nvPicPr>
        <p:blipFill rotWithShape="1">
          <a:blip r:embed="rId2" cstate="print">
            <a:clrChange>
              <a:clrFrom>
                <a:srgbClr val="FDFCFE"/>
              </a:clrFrom>
              <a:clrTo>
                <a:srgbClr val="FDFCFE">
                  <a:alpha val="0"/>
                </a:srgbClr>
              </a:clrTo>
            </a:clrChange>
            <a:extLst>
              <a:ext uri="{28A0092B-C50C-407E-A947-70E740481C1C}">
                <a14:useLocalDpi xmlns:a14="http://schemas.microsoft.com/office/drawing/2010/main" val="0"/>
              </a:ext>
            </a:extLst>
          </a:blip>
          <a:srcRect/>
          <a:stretch/>
        </p:blipFill>
        <p:spPr bwMode="auto">
          <a:xfrm>
            <a:off x="2627636" y="1659158"/>
            <a:ext cx="6933552" cy="4723249"/>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709266CC-2A9D-40F0-81B6-1A58FEF32FAC}"/>
              </a:ext>
            </a:extLst>
          </p:cNvPr>
          <p:cNvSpPr>
            <a:spLocks noGrp="1"/>
          </p:cNvSpPr>
          <p:nvPr>
            <p:ph type="title"/>
          </p:nvPr>
        </p:nvSpPr>
        <p:spPr/>
        <p:txBody>
          <a:bodyPr/>
          <a:lstStyle/>
          <a:p>
            <a:r>
              <a:rPr lang="es-ES" dirty="0" err="1"/>
              <a:t>Defining</a:t>
            </a:r>
            <a:r>
              <a:rPr lang="es-ES" dirty="0"/>
              <a:t> </a:t>
            </a:r>
            <a:r>
              <a:rPr lang="es-ES" dirty="0" err="1"/>
              <a:t>Properties</a:t>
            </a:r>
            <a:endParaRPr lang="es-ES" dirty="0"/>
          </a:p>
        </p:txBody>
      </p:sp>
    </p:spTree>
    <p:extLst>
      <p:ext uri="{BB962C8B-B14F-4D97-AF65-F5344CB8AC3E}">
        <p14:creationId xmlns:p14="http://schemas.microsoft.com/office/powerpoint/2010/main" val="404819330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5" name="Picture 3" descr="Machine generated alternative text:&#10;Module Flexibility &#10;• &#10;• &#10;Extend modules &#10;Custom modules or the global module &#10;Separation of concerns &#10;Each module has a specific role &#10;Extend modules &#10;within or across files &#10;&quot;Ravioli&quot; &#10;Open &#10;Import other modules &#10;Export features &#10;Choose what Co &#10;expose ">
            <a:extLst>
              <a:ext uri="{FF2B5EF4-FFF2-40B4-BE49-F238E27FC236}">
                <a16:creationId xmlns:a16="http://schemas.microsoft.com/office/drawing/2014/main" id="{EB3D1FCF-E51F-4F04-89E0-F3896BADBDF6}"/>
              </a:ext>
            </a:extLst>
          </p:cNvPr>
          <p:cNvPicPr>
            <a:picLocks noChangeAspect="1" noChangeArrowheads="1"/>
          </p:cNvPicPr>
          <p:nvPr/>
        </p:nvPicPr>
        <p:blipFill rotWithShape="1">
          <a:blip r:embed="rId2" cstate="print">
            <a:clrChange>
              <a:clrFrom>
                <a:srgbClr val="FDFCFE"/>
              </a:clrFrom>
              <a:clrTo>
                <a:srgbClr val="FDFCFE">
                  <a:alpha val="0"/>
                </a:srgbClr>
              </a:clrTo>
            </a:clrChange>
            <a:extLst>
              <a:ext uri="{28A0092B-C50C-407E-A947-70E740481C1C}">
                <a14:useLocalDpi xmlns:a14="http://schemas.microsoft.com/office/drawing/2010/main" val="0"/>
              </a:ext>
            </a:extLst>
          </a:blip>
          <a:srcRect/>
          <a:stretch/>
        </p:blipFill>
        <p:spPr bwMode="auto">
          <a:xfrm>
            <a:off x="1522412" y="1600201"/>
            <a:ext cx="10512862" cy="4648200"/>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34E8DDF4-AAD4-42CD-9779-21B072638A4A}"/>
              </a:ext>
            </a:extLst>
          </p:cNvPr>
          <p:cNvSpPr>
            <a:spLocks noGrp="1"/>
          </p:cNvSpPr>
          <p:nvPr>
            <p:ph type="title"/>
          </p:nvPr>
        </p:nvSpPr>
        <p:spPr/>
        <p:txBody>
          <a:bodyPr/>
          <a:lstStyle/>
          <a:p>
            <a:r>
              <a:rPr lang="es-ES" dirty="0"/>
              <a:t>Module </a:t>
            </a:r>
            <a:r>
              <a:rPr lang="es-ES" dirty="0" err="1"/>
              <a:t>Flexibility</a:t>
            </a:r>
            <a:endParaRPr lang="es-ES" dirty="0"/>
          </a:p>
        </p:txBody>
      </p:sp>
    </p:spTree>
    <p:extLst>
      <p:ext uri="{BB962C8B-B14F-4D97-AF65-F5344CB8AC3E}">
        <p14:creationId xmlns:p14="http://schemas.microsoft.com/office/powerpoint/2010/main" val="133334420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Machine generated alternative text:&#10;You May Be a Module if ... &#10;Explicitly declare a module &#10;module dataservice { &#10;// code &#10;dataservice Module &#10;No module declaration, no exports, no imports &#10;Global Module &#10;class TestC1ass implements I Test { &#10;Global Namespace &#10;window &#10;var &#10;p &#10;public b = 4; &#10;new TestC1ass(); &#10;t ">
            <a:extLst>
              <a:ext uri="{FF2B5EF4-FFF2-40B4-BE49-F238E27FC236}">
                <a16:creationId xmlns:a16="http://schemas.microsoft.com/office/drawing/2014/main" id="{C837F22A-9C22-4715-B12C-C058C6C2596C}"/>
              </a:ext>
            </a:extLst>
          </p:cNvPr>
          <p:cNvPicPr>
            <a:picLocks noChangeAspect="1" noChangeArrowheads="1"/>
          </p:cNvPicPr>
          <p:nvPr/>
        </p:nvPicPr>
        <p:blipFill rotWithShape="1">
          <a:blip r:embed="rId2" cstate="print">
            <a:clrChange>
              <a:clrFrom>
                <a:srgbClr val="FDFCFE"/>
              </a:clrFrom>
              <a:clrTo>
                <a:srgbClr val="FDFCFE">
                  <a:alpha val="0"/>
                </a:srgbClr>
              </a:clrTo>
            </a:clrChange>
            <a:extLst>
              <a:ext uri="{28A0092B-C50C-407E-A947-70E740481C1C}">
                <a14:useLocalDpi xmlns:a14="http://schemas.microsoft.com/office/drawing/2010/main" val="0"/>
              </a:ext>
            </a:extLst>
          </a:blip>
          <a:srcRect/>
          <a:stretch/>
        </p:blipFill>
        <p:spPr bwMode="auto">
          <a:xfrm>
            <a:off x="2076433" y="1524000"/>
            <a:ext cx="8035957" cy="5289234"/>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1CEE4D19-12CC-4318-AF2C-07AA42A63B94}"/>
              </a:ext>
            </a:extLst>
          </p:cNvPr>
          <p:cNvSpPr>
            <a:spLocks noGrp="1"/>
          </p:cNvSpPr>
          <p:nvPr>
            <p:ph type="title"/>
          </p:nvPr>
        </p:nvSpPr>
        <p:spPr/>
        <p:txBody>
          <a:bodyPr/>
          <a:lstStyle/>
          <a:p>
            <a:r>
              <a:rPr lang="es-ES" dirty="0" err="1"/>
              <a:t>You</a:t>
            </a:r>
            <a:r>
              <a:rPr lang="es-ES" dirty="0"/>
              <a:t> May Be a Module </a:t>
            </a:r>
            <a:r>
              <a:rPr lang="es-ES" dirty="0" err="1"/>
              <a:t>if</a:t>
            </a:r>
            <a:r>
              <a:rPr lang="es-ES" dirty="0"/>
              <a:t> …</a:t>
            </a:r>
          </a:p>
        </p:txBody>
      </p:sp>
    </p:spTree>
    <p:extLst>
      <p:ext uri="{BB962C8B-B14F-4D97-AF65-F5344CB8AC3E}">
        <p14:creationId xmlns:p14="http://schemas.microsoft.com/office/powerpoint/2010/main" val="403298418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7EF6F2A-7922-47A3-98CA-69DC75A41A61}"/>
              </a:ext>
            </a:extLst>
          </p:cNvPr>
          <p:cNvSpPr>
            <a:spLocks noGrp="1"/>
          </p:cNvSpPr>
          <p:nvPr>
            <p:ph type="title"/>
          </p:nvPr>
        </p:nvSpPr>
        <p:spPr/>
        <p:txBody>
          <a:bodyPr>
            <a:normAutofit fontScale="90000"/>
          </a:bodyPr>
          <a:lstStyle/>
          <a:p>
            <a:r>
              <a:rPr lang="es-ES" dirty="0" err="1"/>
              <a:t>Ambient</a:t>
            </a:r>
            <a:r>
              <a:rPr lang="es-ES" dirty="0"/>
              <a:t> </a:t>
            </a:r>
            <a:r>
              <a:rPr lang="es-ES" dirty="0" err="1"/>
              <a:t>Declarations</a:t>
            </a:r>
            <a:r>
              <a:rPr lang="es-ES" dirty="0"/>
              <a:t> </a:t>
            </a:r>
          </a:p>
        </p:txBody>
      </p:sp>
      <p:sp>
        <p:nvSpPr>
          <p:cNvPr id="3" name="Marcador de contenido 2">
            <a:extLst>
              <a:ext uri="{FF2B5EF4-FFF2-40B4-BE49-F238E27FC236}">
                <a16:creationId xmlns:a16="http://schemas.microsoft.com/office/drawing/2014/main" id="{AB07D3B5-2963-4CCC-9054-7B22F61C0CFF}"/>
              </a:ext>
            </a:extLst>
          </p:cNvPr>
          <p:cNvSpPr>
            <a:spLocks noGrp="1"/>
          </p:cNvSpPr>
          <p:nvPr>
            <p:ph idx="1"/>
          </p:nvPr>
        </p:nvSpPr>
        <p:spPr/>
        <p:txBody>
          <a:bodyPr>
            <a:normAutofit/>
          </a:bodyPr>
          <a:lstStyle/>
          <a:p>
            <a:r>
              <a:rPr lang="en-US" dirty="0"/>
              <a:t>An ambient declaration introduces a variable into a TypeScript scope, but has zero impact on the emitted JavaScript program</a:t>
            </a:r>
          </a:p>
          <a:p>
            <a:r>
              <a:rPr lang="en-US" dirty="0"/>
              <a:t>Programmers can use ambient declarations to tell the TypeScript compiler that some other component will supply a variable</a:t>
            </a:r>
          </a:p>
          <a:p>
            <a:endParaRPr lang="en-US" dirty="0"/>
          </a:p>
          <a:p>
            <a:endParaRPr lang="en-US" dirty="0"/>
          </a:p>
          <a:p>
            <a:r>
              <a:rPr lang="en-US" dirty="0"/>
              <a:t>The </a:t>
            </a:r>
            <a:r>
              <a:rPr lang="en-US" b="1" dirty="0">
                <a:solidFill>
                  <a:srgbClr val="FF0000"/>
                </a:solidFill>
              </a:rPr>
              <a:t>TypeScript compiler does not include by default an interface for jQuery</a:t>
            </a:r>
            <a:r>
              <a:rPr lang="en-US" dirty="0"/>
              <a:t>, so to use jQuery, a programmer could supply a declaration such as: </a:t>
            </a:r>
            <a:endParaRPr lang="es-ES" dirty="0"/>
          </a:p>
        </p:txBody>
      </p:sp>
      <p:pic>
        <p:nvPicPr>
          <p:cNvPr id="5" name="Imagen 4">
            <a:extLst>
              <a:ext uri="{FF2B5EF4-FFF2-40B4-BE49-F238E27FC236}">
                <a16:creationId xmlns:a16="http://schemas.microsoft.com/office/drawing/2014/main" id="{4C66EF27-B356-41FF-B447-8BA52D04585C}"/>
              </a:ext>
            </a:extLst>
          </p:cNvPr>
          <p:cNvPicPr>
            <a:picLocks noChangeAspect="1"/>
          </p:cNvPicPr>
          <p:nvPr/>
        </p:nvPicPr>
        <p:blipFill>
          <a:blip r:embed="rId3"/>
          <a:stretch>
            <a:fillRect/>
          </a:stretch>
        </p:blipFill>
        <p:spPr>
          <a:xfrm>
            <a:off x="1522412" y="2779473"/>
            <a:ext cx="8686800" cy="714636"/>
          </a:xfrm>
          <a:prstGeom prst="rect">
            <a:avLst/>
          </a:prstGeom>
        </p:spPr>
      </p:pic>
      <p:pic>
        <p:nvPicPr>
          <p:cNvPr id="7" name="Imagen 6">
            <a:extLst>
              <a:ext uri="{FF2B5EF4-FFF2-40B4-BE49-F238E27FC236}">
                <a16:creationId xmlns:a16="http://schemas.microsoft.com/office/drawing/2014/main" id="{125838EF-D82B-47B7-B45E-A148D7F064DE}"/>
              </a:ext>
            </a:extLst>
          </p:cNvPr>
          <p:cNvPicPr>
            <a:picLocks noChangeAspect="1"/>
          </p:cNvPicPr>
          <p:nvPr/>
        </p:nvPicPr>
        <p:blipFill>
          <a:blip r:embed="rId4"/>
          <a:stretch>
            <a:fillRect/>
          </a:stretch>
        </p:blipFill>
        <p:spPr>
          <a:xfrm>
            <a:off x="1446212" y="4493514"/>
            <a:ext cx="2133600" cy="511090"/>
          </a:xfrm>
          <a:prstGeom prst="rect">
            <a:avLst/>
          </a:prstGeom>
        </p:spPr>
      </p:pic>
    </p:spTree>
    <p:extLst>
      <p:ext uri="{BB962C8B-B14F-4D97-AF65-F5344CB8AC3E}">
        <p14:creationId xmlns:p14="http://schemas.microsoft.com/office/powerpoint/2010/main" val="195629154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B595AAAE-8495-4C1B-8B41-3C10ED9A0C1A}"/>
              </a:ext>
            </a:extLst>
          </p:cNvPr>
          <p:cNvSpPr>
            <a:spLocks noGrp="1"/>
          </p:cNvSpPr>
          <p:nvPr>
            <p:ph type="title"/>
          </p:nvPr>
        </p:nvSpPr>
        <p:spPr/>
        <p:txBody>
          <a:bodyPr>
            <a:normAutofit/>
          </a:bodyPr>
          <a:lstStyle/>
          <a:p>
            <a:r>
              <a:rPr lang="es-ES" dirty="0" err="1"/>
              <a:t>Objects</a:t>
            </a:r>
            <a:endParaRPr lang="es-ES" dirty="0"/>
          </a:p>
        </p:txBody>
      </p:sp>
      <p:sp>
        <p:nvSpPr>
          <p:cNvPr id="4" name="Marcador de número de diapositiva 3">
            <a:extLst>
              <a:ext uri="{FF2B5EF4-FFF2-40B4-BE49-F238E27FC236}">
                <a16:creationId xmlns:a16="http://schemas.microsoft.com/office/drawing/2014/main" id="{5CCF0B83-5173-421C-83BB-43A30A44F428}"/>
              </a:ext>
            </a:extLst>
          </p:cNvPr>
          <p:cNvSpPr>
            <a:spLocks noGrp="1"/>
          </p:cNvSpPr>
          <p:nvPr>
            <p:ph type="sldNum" sz="quarter" idx="4294967295"/>
          </p:nvPr>
        </p:nvSpPr>
        <p:spPr>
          <a:xfrm>
            <a:off x="9447213" y="6356350"/>
            <a:ext cx="2741612" cy="365125"/>
          </a:xfrm>
          <a:prstGeom prst="rect">
            <a:avLst/>
          </a:prstGeom>
        </p:spPr>
        <p:txBody>
          <a:bodyPr/>
          <a:lstStyle/>
          <a:p>
            <a:fld id="{C014DD1E-5D91-48A3-AD6D-45FBA980D106}" type="slidenum">
              <a:rPr lang="en-US" smtClean="0"/>
              <a:pPr/>
              <a:t>62</a:t>
            </a:fld>
            <a:endParaRPr lang="en-US" dirty="0"/>
          </a:p>
        </p:txBody>
      </p:sp>
    </p:spTree>
    <p:extLst>
      <p:ext uri="{BB962C8B-B14F-4D97-AF65-F5344CB8AC3E}">
        <p14:creationId xmlns:p14="http://schemas.microsoft.com/office/powerpoint/2010/main" val="379466484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FEE3B8B-A774-412C-A1FD-5C08F450B6B7}"/>
              </a:ext>
            </a:extLst>
          </p:cNvPr>
          <p:cNvSpPr>
            <a:spLocks noGrp="1"/>
          </p:cNvSpPr>
          <p:nvPr>
            <p:ph type="title"/>
          </p:nvPr>
        </p:nvSpPr>
        <p:spPr/>
        <p:txBody>
          <a:bodyPr>
            <a:normAutofit fontScale="90000"/>
          </a:bodyPr>
          <a:lstStyle/>
          <a:p>
            <a:r>
              <a:rPr lang="es-ES" dirty="0" err="1"/>
              <a:t>Object</a:t>
            </a:r>
            <a:r>
              <a:rPr lang="es-ES" dirty="0"/>
              <a:t> </a:t>
            </a:r>
            <a:r>
              <a:rPr lang="es-ES" dirty="0" err="1"/>
              <a:t>Types</a:t>
            </a:r>
            <a:r>
              <a:rPr lang="es-ES" dirty="0"/>
              <a:t> </a:t>
            </a:r>
          </a:p>
        </p:txBody>
      </p:sp>
      <p:sp>
        <p:nvSpPr>
          <p:cNvPr id="3" name="Marcador de contenido 2">
            <a:extLst>
              <a:ext uri="{FF2B5EF4-FFF2-40B4-BE49-F238E27FC236}">
                <a16:creationId xmlns:a16="http://schemas.microsoft.com/office/drawing/2014/main" id="{063D089B-222B-452F-83C8-7AE2DBB84FE5}"/>
              </a:ext>
            </a:extLst>
          </p:cNvPr>
          <p:cNvSpPr>
            <a:spLocks noGrp="1"/>
          </p:cNvSpPr>
          <p:nvPr>
            <p:ph idx="1"/>
          </p:nvPr>
        </p:nvSpPr>
        <p:spPr/>
        <p:txBody>
          <a:bodyPr/>
          <a:lstStyle/>
          <a:p>
            <a:r>
              <a:rPr lang="en-US" dirty="0"/>
              <a:t>TypeScript programmers use </a:t>
            </a:r>
            <a:r>
              <a:rPr lang="en-US" i="1" dirty="0"/>
              <a:t>object types </a:t>
            </a:r>
            <a:r>
              <a:rPr lang="en-US" dirty="0"/>
              <a:t>to declare their expectations of object behavior. </a:t>
            </a:r>
            <a:br>
              <a:rPr lang="en-US" dirty="0"/>
            </a:br>
            <a:endParaRPr lang="en-US" dirty="0"/>
          </a:p>
          <a:p>
            <a:pPr marL="0" indent="0">
              <a:buNone/>
            </a:pPr>
            <a:endParaRPr lang="en-US" dirty="0"/>
          </a:p>
          <a:p>
            <a:r>
              <a:rPr lang="en-US" dirty="0"/>
              <a:t>Programmers can give names to object types; we call named object types </a:t>
            </a:r>
            <a:r>
              <a:rPr lang="en-US" i="1" dirty="0"/>
              <a:t>interfaces</a:t>
            </a:r>
            <a:r>
              <a:rPr lang="en-US" dirty="0"/>
              <a:t>. </a:t>
            </a:r>
            <a:endParaRPr lang="es-ES" dirty="0"/>
          </a:p>
        </p:txBody>
      </p:sp>
      <p:pic>
        <p:nvPicPr>
          <p:cNvPr id="5" name="Imagen 4">
            <a:extLst>
              <a:ext uri="{FF2B5EF4-FFF2-40B4-BE49-F238E27FC236}">
                <a16:creationId xmlns:a16="http://schemas.microsoft.com/office/drawing/2014/main" id="{6FDCABC3-7430-423B-AB9D-52F633EE62E6}"/>
              </a:ext>
            </a:extLst>
          </p:cNvPr>
          <p:cNvPicPr>
            <a:picLocks noChangeAspect="1"/>
          </p:cNvPicPr>
          <p:nvPr/>
        </p:nvPicPr>
        <p:blipFill>
          <a:blip r:embed="rId2"/>
          <a:stretch>
            <a:fillRect/>
          </a:stretch>
        </p:blipFill>
        <p:spPr>
          <a:xfrm>
            <a:off x="2800687" y="1600200"/>
            <a:ext cx="3124200" cy="911784"/>
          </a:xfrm>
          <a:prstGeom prst="rect">
            <a:avLst/>
          </a:prstGeom>
        </p:spPr>
      </p:pic>
      <p:pic>
        <p:nvPicPr>
          <p:cNvPr id="7" name="Imagen 6">
            <a:extLst>
              <a:ext uri="{FF2B5EF4-FFF2-40B4-BE49-F238E27FC236}">
                <a16:creationId xmlns:a16="http://schemas.microsoft.com/office/drawing/2014/main" id="{A91961FA-08E9-4315-B805-993F32D0447A}"/>
              </a:ext>
            </a:extLst>
          </p:cNvPr>
          <p:cNvPicPr>
            <a:picLocks noChangeAspect="1"/>
          </p:cNvPicPr>
          <p:nvPr/>
        </p:nvPicPr>
        <p:blipFill>
          <a:blip r:embed="rId3"/>
          <a:stretch>
            <a:fillRect/>
          </a:stretch>
        </p:blipFill>
        <p:spPr>
          <a:xfrm>
            <a:off x="1161714" y="3429000"/>
            <a:ext cx="3122856" cy="1971033"/>
          </a:xfrm>
          <a:prstGeom prst="rect">
            <a:avLst/>
          </a:prstGeom>
        </p:spPr>
      </p:pic>
      <p:pic>
        <p:nvPicPr>
          <p:cNvPr id="8" name="Imagen 7">
            <a:extLst>
              <a:ext uri="{FF2B5EF4-FFF2-40B4-BE49-F238E27FC236}">
                <a16:creationId xmlns:a16="http://schemas.microsoft.com/office/drawing/2014/main" id="{DF41B36F-796C-4B42-9492-2138676B7A0C}"/>
              </a:ext>
            </a:extLst>
          </p:cNvPr>
          <p:cNvPicPr>
            <a:picLocks noChangeAspect="1"/>
          </p:cNvPicPr>
          <p:nvPr/>
        </p:nvPicPr>
        <p:blipFill>
          <a:blip r:embed="rId4"/>
          <a:stretch>
            <a:fillRect/>
          </a:stretch>
        </p:blipFill>
        <p:spPr>
          <a:xfrm>
            <a:off x="5020226" y="4017792"/>
            <a:ext cx="5818617" cy="793448"/>
          </a:xfrm>
          <a:prstGeom prst="rect">
            <a:avLst/>
          </a:prstGeom>
        </p:spPr>
      </p:pic>
    </p:spTree>
    <p:extLst>
      <p:ext uri="{BB962C8B-B14F-4D97-AF65-F5344CB8AC3E}">
        <p14:creationId xmlns:p14="http://schemas.microsoft.com/office/powerpoint/2010/main" val="340377217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FF9A311-3C48-4216-BD59-4C3AD7FBB96B}"/>
              </a:ext>
            </a:extLst>
          </p:cNvPr>
          <p:cNvSpPr>
            <a:spLocks noGrp="1"/>
          </p:cNvSpPr>
          <p:nvPr>
            <p:ph type="title"/>
          </p:nvPr>
        </p:nvSpPr>
        <p:spPr/>
        <p:txBody>
          <a:bodyPr>
            <a:normAutofit fontScale="90000"/>
          </a:bodyPr>
          <a:lstStyle/>
          <a:p>
            <a:r>
              <a:rPr lang="es-ES" dirty="0" err="1"/>
              <a:t>Structural</a:t>
            </a:r>
            <a:r>
              <a:rPr lang="es-ES" dirty="0"/>
              <a:t> </a:t>
            </a:r>
            <a:r>
              <a:rPr lang="es-ES" dirty="0" err="1"/>
              <a:t>Subtyping</a:t>
            </a:r>
            <a:endParaRPr lang="es-ES" dirty="0"/>
          </a:p>
        </p:txBody>
      </p:sp>
      <p:sp>
        <p:nvSpPr>
          <p:cNvPr id="3" name="Marcador de contenido 2">
            <a:extLst>
              <a:ext uri="{FF2B5EF4-FFF2-40B4-BE49-F238E27FC236}">
                <a16:creationId xmlns:a16="http://schemas.microsoft.com/office/drawing/2014/main" id="{B956FAF6-3A47-4B1B-8C62-EAC239F04BB1}"/>
              </a:ext>
            </a:extLst>
          </p:cNvPr>
          <p:cNvSpPr>
            <a:spLocks noGrp="1"/>
          </p:cNvSpPr>
          <p:nvPr>
            <p:ph idx="1"/>
          </p:nvPr>
        </p:nvSpPr>
        <p:spPr>
          <a:xfrm>
            <a:off x="837982" y="1825625"/>
            <a:ext cx="4265830" cy="4351338"/>
          </a:xfrm>
        </p:spPr>
        <p:txBody>
          <a:bodyPr/>
          <a:lstStyle/>
          <a:p>
            <a:r>
              <a:rPr lang="en-US" dirty="0"/>
              <a:t>Object types are compared </a:t>
            </a:r>
            <a:r>
              <a:rPr lang="en-US" i="1" dirty="0"/>
              <a:t>structurally</a:t>
            </a:r>
            <a:br>
              <a:rPr lang="en-US" dirty="0"/>
            </a:br>
            <a:endParaRPr lang="es-ES" dirty="0"/>
          </a:p>
        </p:txBody>
      </p:sp>
      <p:pic>
        <p:nvPicPr>
          <p:cNvPr id="5" name="Imagen 4">
            <a:extLst>
              <a:ext uri="{FF2B5EF4-FFF2-40B4-BE49-F238E27FC236}">
                <a16:creationId xmlns:a16="http://schemas.microsoft.com/office/drawing/2014/main" id="{B867A63B-FB01-4AC4-BB88-9180F3A1C59A}"/>
              </a:ext>
            </a:extLst>
          </p:cNvPr>
          <p:cNvPicPr>
            <a:picLocks noChangeAspect="1"/>
          </p:cNvPicPr>
          <p:nvPr/>
        </p:nvPicPr>
        <p:blipFill>
          <a:blip r:embed="rId2"/>
          <a:stretch>
            <a:fillRect/>
          </a:stretch>
        </p:blipFill>
        <p:spPr>
          <a:xfrm>
            <a:off x="6171265" y="1080136"/>
            <a:ext cx="5381625" cy="4697727"/>
          </a:xfrm>
          <a:prstGeom prst="rect">
            <a:avLst/>
          </a:prstGeom>
        </p:spPr>
      </p:pic>
    </p:spTree>
    <p:extLst>
      <p:ext uri="{BB962C8B-B14F-4D97-AF65-F5344CB8AC3E}">
        <p14:creationId xmlns:p14="http://schemas.microsoft.com/office/powerpoint/2010/main" val="286235009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EEB4958-DE9A-4E94-98B6-ED362E697772}"/>
              </a:ext>
            </a:extLst>
          </p:cNvPr>
          <p:cNvSpPr>
            <a:spLocks noGrp="1"/>
          </p:cNvSpPr>
          <p:nvPr>
            <p:ph type="title"/>
          </p:nvPr>
        </p:nvSpPr>
        <p:spPr/>
        <p:txBody>
          <a:bodyPr>
            <a:normAutofit fontScale="90000"/>
          </a:bodyPr>
          <a:lstStyle/>
          <a:p>
            <a:r>
              <a:rPr lang="es-ES" dirty="0"/>
              <a:t>Contextual </a:t>
            </a:r>
            <a:r>
              <a:rPr lang="es-ES" dirty="0" err="1"/>
              <a:t>Typing</a:t>
            </a:r>
            <a:r>
              <a:rPr lang="es-ES" dirty="0"/>
              <a:t> </a:t>
            </a:r>
          </a:p>
        </p:txBody>
      </p:sp>
      <p:sp>
        <p:nvSpPr>
          <p:cNvPr id="3" name="Marcador de contenido 2">
            <a:extLst>
              <a:ext uri="{FF2B5EF4-FFF2-40B4-BE49-F238E27FC236}">
                <a16:creationId xmlns:a16="http://schemas.microsoft.com/office/drawing/2014/main" id="{C2A91FCF-53E3-4B86-A2D1-AEB9EF9B864E}"/>
              </a:ext>
            </a:extLst>
          </p:cNvPr>
          <p:cNvSpPr>
            <a:spLocks noGrp="1"/>
          </p:cNvSpPr>
          <p:nvPr>
            <p:ph idx="1"/>
          </p:nvPr>
        </p:nvSpPr>
        <p:spPr/>
        <p:txBody>
          <a:bodyPr>
            <a:normAutofit/>
          </a:bodyPr>
          <a:lstStyle/>
          <a:p>
            <a:r>
              <a:rPr lang="en-US" dirty="0"/>
              <a:t>Ordinarily, TypeScript type inference proceeds "bottom-up": from the leaves of an expression tree to its root </a:t>
            </a:r>
          </a:p>
          <a:p>
            <a:r>
              <a:rPr lang="en-US" dirty="0"/>
              <a:t>In the following example, </a:t>
            </a:r>
            <a:r>
              <a:rPr lang="en-US" b="1" dirty="0"/>
              <a:t>TypeScript infers 'number' as the return </a:t>
            </a:r>
            <a:r>
              <a:rPr lang="en-US" dirty="0"/>
              <a:t>type of the function '</a:t>
            </a:r>
            <a:r>
              <a:rPr lang="en-US" dirty="0" err="1"/>
              <a:t>mul</a:t>
            </a:r>
            <a:r>
              <a:rPr lang="en-US" dirty="0"/>
              <a:t>’ by flowing type information bottom up in the return expression. </a:t>
            </a:r>
          </a:p>
          <a:p>
            <a:endParaRPr lang="en-US" dirty="0"/>
          </a:p>
          <a:p>
            <a:endParaRPr lang="en-US" dirty="0"/>
          </a:p>
          <a:p>
            <a:r>
              <a:rPr lang="en-US" dirty="0"/>
              <a:t>For variables and </a:t>
            </a:r>
            <a:r>
              <a:rPr lang="en-US" b="1" dirty="0"/>
              <a:t>parameters without a type annotation or a default value, TypeScript infers type 'any’, </a:t>
            </a:r>
            <a:r>
              <a:rPr lang="en-US" dirty="0"/>
              <a:t>ensuring that compilers do not need non-local information about a function's call sites to infer the function's return type. </a:t>
            </a:r>
            <a:endParaRPr lang="es-ES" dirty="0"/>
          </a:p>
        </p:txBody>
      </p:sp>
      <p:pic>
        <p:nvPicPr>
          <p:cNvPr id="5" name="Imagen 4">
            <a:extLst>
              <a:ext uri="{FF2B5EF4-FFF2-40B4-BE49-F238E27FC236}">
                <a16:creationId xmlns:a16="http://schemas.microsoft.com/office/drawing/2014/main" id="{DCDA7FAA-2D2D-4FA2-B8C2-EAD09E79DC5A}"/>
              </a:ext>
            </a:extLst>
          </p:cNvPr>
          <p:cNvPicPr>
            <a:picLocks noChangeAspect="1"/>
          </p:cNvPicPr>
          <p:nvPr/>
        </p:nvPicPr>
        <p:blipFill>
          <a:blip r:embed="rId2"/>
          <a:stretch>
            <a:fillRect/>
          </a:stretch>
        </p:blipFill>
        <p:spPr>
          <a:xfrm>
            <a:off x="3884612" y="2743200"/>
            <a:ext cx="4114800" cy="824793"/>
          </a:xfrm>
          <a:prstGeom prst="rect">
            <a:avLst/>
          </a:prstGeom>
        </p:spPr>
      </p:pic>
    </p:spTree>
    <p:extLst>
      <p:ext uri="{BB962C8B-B14F-4D97-AF65-F5344CB8AC3E}">
        <p14:creationId xmlns:p14="http://schemas.microsoft.com/office/powerpoint/2010/main" val="97988327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3C9807D-FC42-4567-B77E-DA993F37BB3F}"/>
              </a:ext>
            </a:extLst>
          </p:cNvPr>
          <p:cNvSpPr>
            <a:spLocks noGrp="1"/>
          </p:cNvSpPr>
          <p:nvPr>
            <p:ph type="title"/>
          </p:nvPr>
        </p:nvSpPr>
        <p:spPr/>
        <p:txBody>
          <a:bodyPr>
            <a:normAutofit fontScale="90000"/>
          </a:bodyPr>
          <a:lstStyle/>
          <a:p>
            <a:r>
              <a:rPr lang="es-ES" dirty="0" err="1"/>
              <a:t>Classes</a:t>
            </a:r>
            <a:r>
              <a:rPr lang="es-ES" dirty="0"/>
              <a:t> </a:t>
            </a:r>
          </a:p>
        </p:txBody>
      </p:sp>
      <p:sp>
        <p:nvSpPr>
          <p:cNvPr id="3" name="Marcador de contenido 2">
            <a:extLst>
              <a:ext uri="{FF2B5EF4-FFF2-40B4-BE49-F238E27FC236}">
                <a16:creationId xmlns:a16="http://schemas.microsoft.com/office/drawing/2014/main" id="{E80803D1-414E-4E58-925F-E343C2F4E5A8}"/>
              </a:ext>
            </a:extLst>
          </p:cNvPr>
          <p:cNvSpPr>
            <a:spLocks noGrp="1"/>
          </p:cNvSpPr>
          <p:nvPr>
            <p:ph idx="1"/>
          </p:nvPr>
        </p:nvSpPr>
        <p:spPr>
          <a:xfrm>
            <a:off x="837982" y="1825625"/>
            <a:ext cx="4570630" cy="4351338"/>
          </a:xfrm>
        </p:spPr>
        <p:txBody>
          <a:bodyPr>
            <a:normAutofit lnSpcReduction="10000"/>
          </a:bodyPr>
          <a:lstStyle/>
          <a:p>
            <a:r>
              <a:rPr lang="en-US" dirty="0"/>
              <a:t>JavaScript practice has two very common design patterns: the </a:t>
            </a:r>
            <a:r>
              <a:rPr lang="en-US" b="1" dirty="0"/>
              <a:t>module pattern </a:t>
            </a:r>
            <a:r>
              <a:rPr lang="en-US" dirty="0"/>
              <a:t>and the </a:t>
            </a:r>
            <a:r>
              <a:rPr lang="en-US" b="1" dirty="0"/>
              <a:t>class pattern</a:t>
            </a:r>
            <a:r>
              <a:rPr lang="en-US" dirty="0"/>
              <a:t>. </a:t>
            </a:r>
          </a:p>
          <a:p>
            <a:r>
              <a:rPr lang="en-US" dirty="0"/>
              <a:t>The </a:t>
            </a:r>
            <a:r>
              <a:rPr lang="en-US" b="1" dirty="0"/>
              <a:t>module pattern uses closures </a:t>
            </a:r>
            <a:r>
              <a:rPr lang="en-US" dirty="0"/>
              <a:t>to hide names and to encapsulate private data, while the </a:t>
            </a:r>
            <a:r>
              <a:rPr lang="en-US" b="1" dirty="0"/>
              <a:t>class pattern uses prototype chains</a:t>
            </a:r>
            <a:r>
              <a:rPr lang="en-US" dirty="0"/>
              <a:t> to implement many variations on object-oriented inheritance mechanisms. Libraries such as 'prototype.js' are typical of this practice.</a:t>
            </a:r>
            <a:endParaRPr lang="es-ES" dirty="0"/>
          </a:p>
        </p:txBody>
      </p:sp>
      <p:sp>
        <p:nvSpPr>
          <p:cNvPr id="4" name="Marcador de número de diapositiva 3">
            <a:extLst>
              <a:ext uri="{FF2B5EF4-FFF2-40B4-BE49-F238E27FC236}">
                <a16:creationId xmlns:a16="http://schemas.microsoft.com/office/drawing/2014/main" id="{E32CC034-C87D-477C-AA15-57EB9D8741EB}"/>
              </a:ext>
            </a:extLst>
          </p:cNvPr>
          <p:cNvSpPr>
            <a:spLocks noGrp="1"/>
          </p:cNvSpPr>
          <p:nvPr>
            <p:ph type="sldNum" sz="quarter" idx="4294967295"/>
          </p:nvPr>
        </p:nvSpPr>
        <p:spPr>
          <a:xfrm>
            <a:off x="9447213" y="6356350"/>
            <a:ext cx="2741612" cy="365125"/>
          </a:xfrm>
          <a:prstGeom prst="rect">
            <a:avLst/>
          </a:prstGeom>
        </p:spPr>
        <p:txBody>
          <a:bodyPr/>
          <a:lstStyle/>
          <a:p>
            <a:fld id="{C014DD1E-5D91-48A3-AD6D-45FBA980D106}" type="slidenum">
              <a:rPr lang="en-US" smtClean="0"/>
              <a:pPr/>
              <a:t>66</a:t>
            </a:fld>
            <a:endParaRPr lang="en-US" dirty="0"/>
          </a:p>
        </p:txBody>
      </p:sp>
      <p:pic>
        <p:nvPicPr>
          <p:cNvPr id="5" name="Imagen 4">
            <a:extLst>
              <a:ext uri="{FF2B5EF4-FFF2-40B4-BE49-F238E27FC236}">
                <a16:creationId xmlns:a16="http://schemas.microsoft.com/office/drawing/2014/main" id="{BE208B4C-718F-4450-A9F7-4216D33EAF65}"/>
              </a:ext>
            </a:extLst>
          </p:cNvPr>
          <p:cNvPicPr>
            <a:picLocks noChangeAspect="1"/>
          </p:cNvPicPr>
          <p:nvPr/>
        </p:nvPicPr>
        <p:blipFill>
          <a:blip r:embed="rId2"/>
          <a:stretch>
            <a:fillRect/>
          </a:stretch>
        </p:blipFill>
        <p:spPr>
          <a:xfrm>
            <a:off x="7085012" y="1295400"/>
            <a:ext cx="3257550" cy="1790700"/>
          </a:xfrm>
          <a:prstGeom prst="rect">
            <a:avLst/>
          </a:prstGeom>
        </p:spPr>
      </p:pic>
      <p:sp>
        <p:nvSpPr>
          <p:cNvPr id="6" name="Rectángulo 5">
            <a:extLst>
              <a:ext uri="{FF2B5EF4-FFF2-40B4-BE49-F238E27FC236}">
                <a16:creationId xmlns:a16="http://schemas.microsoft.com/office/drawing/2014/main" id="{097A5340-5888-4EF5-BDCA-6F15C91BC0D7}"/>
              </a:ext>
            </a:extLst>
          </p:cNvPr>
          <p:cNvSpPr/>
          <p:nvPr/>
        </p:nvSpPr>
        <p:spPr>
          <a:xfrm>
            <a:off x="6008687" y="3429000"/>
            <a:ext cx="5410200" cy="369332"/>
          </a:xfrm>
          <a:prstGeom prst="rect">
            <a:avLst/>
          </a:prstGeom>
        </p:spPr>
        <p:txBody>
          <a:bodyPr wrap="square">
            <a:spAutoFit/>
          </a:bodyPr>
          <a:lstStyle/>
          <a:p>
            <a:pPr algn="ctr"/>
            <a:r>
              <a:rPr lang="en-US" dirty="0">
                <a:solidFill>
                  <a:srgbClr val="000000"/>
                </a:solidFill>
                <a:latin typeface="Segoe UI" panose="020B0502040204020203" pitchFamily="34" charset="0"/>
              </a:rPr>
              <a:t>This class generates the following JavaScript code:</a:t>
            </a:r>
            <a:endParaRPr lang="es-ES" dirty="0"/>
          </a:p>
        </p:txBody>
      </p:sp>
      <p:pic>
        <p:nvPicPr>
          <p:cNvPr id="7" name="Imagen 6">
            <a:extLst>
              <a:ext uri="{FF2B5EF4-FFF2-40B4-BE49-F238E27FC236}">
                <a16:creationId xmlns:a16="http://schemas.microsoft.com/office/drawing/2014/main" id="{64F99CCC-4004-4CEC-9D95-F5F6B8CE1CE5}"/>
              </a:ext>
            </a:extLst>
          </p:cNvPr>
          <p:cNvPicPr>
            <a:picLocks noChangeAspect="1"/>
          </p:cNvPicPr>
          <p:nvPr/>
        </p:nvPicPr>
        <p:blipFill>
          <a:blip r:embed="rId3"/>
          <a:stretch>
            <a:fillRect/>
          </a:stretch>
        </p:blipFill>
        <p:spPr>
          <a:xfrm>
            <a:off x="5922962" y="3798332"/>
            <a:ext cx="5581650" cy="2533650"/>
          </a:xfrm>
          <a:prstGeom prst="rect">
            <a:avLst/>
          </a:prstGeom>
        </p:spPr>
      </p:pic>
      <p:sp>
        <p:nvSpPr>
          <p:cNvPr id="8" name="Rectángulo 7">
            <a:extLst>
              <a:ext uri="{FF2B5EF4-FFF2-40B4-BE49-F238E27FC236}">
                <a16:creationId xmlns:a16="http://schemas.microsoft.com/office/drawing/2014/main" id="{9D3494D6-8C4A-457C-84EB-DFC5DF7B41A2}"/>
              </a:ext>
            </a:extLst>
          </p:cNvPr>
          <p:cNvSpPr/>
          <p:nvPr/>
        </p:nvSpPr>
        <p:spPr>
          <a:xfrm>
            <a:off x="6474757" y="566242"/>
            <a:ext cx="4267200" cy="923330"/>
          </a:xfrm>
          <a:prstGeom prst="rect">
            <a:avLst/>
          </a:prstGeom>
        </p:spPr>
        <p:txBody>
          <a:bodyPr wrap="square">
            <a:spAutoFit/>
          </a:bodyPr>
          <a:lstStyle/>
          <a:p>
            <a:pPr algn="ctr"/>
            <a:r>
              <a:rPr lang="en-US" dirty="0">
                <a:solidFill>
                  <a:srgbClr val="000000"/>
                </a:solidFill>
                <a:latin typeface="Segoe UI" panose="020B0502040204020203" pitchFamily="34" charset="0"/>
              </a:rPr>
              <a:t>TypeScript's namespaces are a formalization of the module pattern</a:t>
            </a:r>
            <a:br>
              <a:rPr lang="en-US" dirty="0"/>
            </a:br>
            <a:endParaRPr lang="es-ES" dirty="0"/>
          </a:p>
        </p:txBody>
      </p:sp>
    </p:spTree>
    <p:extLst>
      <p:ext uri="{BB962C8B-B14F-4D97-AF65-F5344CB8AC3E}">
        <p14:creationId xmlns:p14="http://schemas.microsoft.com/office/powerpoint/2010/main" val="172609333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3E334E2-C3AD-4580-B216-27C418FD8874}"/>
              </a:ext>
            </a:extLst>
          </p:cNvPr>
          <p:cNvSpPr>
            <a:spLocks noGrp="1"/>
          </p:cNvSpPr>
          <p:nvPr>
            <p:ph type="title"/>
          </p:nvPr>
        </p:nvSpPr>
        <p:spPr/>
        <p:txBody>
          <a:bodyPr>
            <a:normAutofit fontScale="90000"/>
          </a:bodyPr>
          <a:lstStyle/>
          <a:p>
            <a:r>
              <a:rPr lang="es-ES" dirty="0" err="1"/>
              <a:t>Classes</a:t>
            </a:r>
            <a:r>
              <a:rPr lang="es-ES" dirty="0"/>
              <a:t> - constructor</a:t>
            </a:r>
          </a:p>
        </p:txBody>
      </p:sp>
      <p:sp>
        <p:nvSpPr>
          <p:cNvPr id="3" name="Marcador de contenido 2">
            <a:extLst>
              <a:ext uri="{FF2B5EF4-FFF2-40B4-BE49-F238E27FC236}">
                <a16:creationId xmlns:a16="http://schemas.microsoft.com/office/drawing/2014/main" id="{C5781D78-A2EE-4D6E-B3A8-0A74DC62AF6E}"/>
              </a:ext>
            </a:extLst>
          </p:cNvPr>
          <p:cNvSpPr>
            <a:spLocks noGrp="1"/>
          </p:cNvSpPr>
          <p:nvPr>
            <p:ph idx="1"/>
          </p:nvPr>
        </p:nvSpPr>
        <p:spPr>
          <a:xfrm>
            <a:off x="837981" y="1825625"/>
            <a:ext cx="6365205" cy="4351338"/>
          </a:xfrm>
        </p:spPr>
        <p:txBody>
          <a:bodyPr>
            <a:normAutofit/>
          </a:bodyPr>
          <a:lstStyle/>
          <a:p>
            <a:r>
              <a:rPr lang="en-US" dirty="0"/>
              <a:t>If we want to start our bank account with an initial balance, we can add to the '</a:t>
            </a:r>
            <a:r>
              <a:rPr lang="en-US" dirty="0" err="1"/>
              <a:t>BankAccount</a:t>
            </a:r>
            <a:r>
              <a:rPr lang="en-US" dirty="0"/>
              <a:t>' class a constructor declaration. </a:t>
            </a:r>
          </a:p>
          <a:p>
            <a:endParaRPr lang="en-US" dirty="0"/>
          </a:p>
          <a:p>
            <a:endParaRPr lang="en-US" dirty="0"/>
          </a:p>
          <a:p>
            <a:r>
              <a:rPr lang="en-US" sz="1800" dirty="0"/>
              <a:t>This version of the '</a:t>
            </a:r>
            <a:r>
              <a:rPr lang="en-US" sz="1800" dirty="0" err="1"/>
              <a:t>BankAccount</a:t>
            </a:r>
            <a:r>
              <a:rPr lang="en-US" sz="1800" dirty="0"/>
              <a:t>' class requires us to introduce a constructor parameter and then assign it to the 'balance' field. </a:t>
            </a:r>
            <a:r>
              <a:rPr lang="en-US" dirty="0"/>
              <a:t>To simplify this common case, </a:t>
            </a:r>
            <a:r>
              <a:rPr lang="en-US" b="1" dirty="0"/>
              <a:t>TypeScript accepts the shorthand syntax </a:t>
            </a:r>
            <a:endParaRPr lang="es-ES" b="1" dirty="0"/>
          </a:p>
        </p:txBody>
      </p:sp>
      <p:sp>
        <p:nvSpPr>
          <p:cNvPr id="4" name="Marcador de número de diapositiva 3">
            <a:extLst>
              <a:ext uri="{FF2B5EF4-FFF2-40B4-BE49-F238E27FC236}">
                <a16:creationId xmlns:a16="http://schemas.microsoft.com/office/drawing/2014/main" id="{371432D2-4CF6-40E4-BA29-8BA3F956EBC9}"/>
              </a:ext>
            </a:extLst>
          </p:cNvPr>
          <p:cNvSpPr>
            <a:spLocks noGrp="1"/>
          </p:cNvSpPr>
          <p:nvPr>
            <p:ph type="sldNum" sz="quarter" idx="4294967295"/>
          </p:nvPr>
        </p:nvSpPr>
        <p:spPr>
          <a:xfrm>
            <a:off x="9447213" y="6356350"/>
            <a:ext cx="2741612" cy="365125"/>
          </a:xfrm>
          <a:prstGeom prst="rect">
            <a:avLst/>
          </a:prstGeom>
        </p:spPr>
        <p:txBody>
          <a:bodyPr/>
          <a:lstStyle/>
          <a:p>
            <a:fld id="{C014DD1E-5D91-48A3-AD6D-45FBA980D106}" type="slidenum">
              <a:rPr lang="en-US" smtClean="0"/>
              <a:pPr/>
              <a:t>67</a:t>
            </a:fld>
            <a:endParaRPr lang="en-US" dirty="0"/>
          </a:p>
        </p:txBody>
      </p:sp>
      <p:pic>
        <p:nvPicPr>
          <p:cNvPr id="5" name="Imagen 4">
            <a:extLst>
              <a:ext uri="{FF2B5EF4-FFF2-40B4-BE49-F238E27FC236}">
                <a16:creationId xmlns:a16="http://schemas.microsoft.com/office/drawing/2014/main" id="{16D64F94-CC94-41CA-A23A-EE0FD0E81433}"/>
              </a:ext>
            </a:extLst>
          </p:cNvPr>
          <p:cNvPicPr>
            <a:picLocks noChangeAspect="1"/>
          </p:cNvPicPr>
          <p:nvPr/>
        </p:nvPicPr>
        <p:blipFill>
          <a:blip r:embed="rId2"/>
          <a:stretch>
            <a:fillRect/>
          </a:stretch>
        </p:blipFill>
        <p:spPr>
          <a:xfrm>
            <a:off x="7577352" y="905795"/>
            <a:ext cx="3584283" cy="2346234"/>
          </a:xfrm>
          <a:prstGeom prst="rect">
            <a:avLst/>
          </a:prstGeom>
        </p:spPr>
      </p:pic>
      <p:pic>
        <p:nvPicPr>
          <p:cNvPr id="6" name="Imagen 5">
            <a:extLst>
              <a:ext uri="{FF2B5EF4-FFF2-40B4-BE49-F238E27FC236}">
                <a16:creationId xmlns:a16="http://schemas.microsoft.com/office/drawing/2014/main" id="{17CA6DB9-F4A2-4F17-9A9E-76BE3D52C0C9}"/>
              </a:ext>
            </a:extLst>
          </p:cNvPr>
          <p:cNvPicPr>
            <a:picLocks noChangeAspect="1"/>
          </p:cNvPicPr>
          <p:nvPr/>
        </p:nvPicPr>
        <p:blipFill>
          <a:blip r:embed="rId3"/>
          <a:stretch>
            <a:fillRect/>
          </a:stretch>
        </p:blipFill>
        <p:spPr>
          <a:xfrm>
            <a:off x="7581604" y="4287414"/>
            <a:ext cx="3580031" cy="1702891"/>
          </a:xfrm>
          <a:prstGeom prst="rect">
            <a:avLst/>
          </a:prstGeom>
        </p:spPr>
      </p:pic>
      <p:sp>
        <p:nvSpPr>
          <p:cNvPr id="7" name="Rectángulo 6">
            <a:extLst>
              <a:ext uri="{FF2B5EF4-FFF2-40B4-BE49-F238E27FC236}">
                <a16:creationId xmlns:a16="http://schemas.microsoft.com/office/drawing/2014/main" id="{F2201E51-CFC3-4E92-922F-8584521CFA06}"/>
              </a:ext>
            </a:extLst>
          </p:cNvPr>
          <p:cNvSpPr/>
          <p:nvPr/>
        </p:nvSpPr>
        <p:spPr>
          <a:xfrm>
            <a:off x="8380412" y="3919725"/>
            <a:ext cx="1848583" cy="369332"/>
          </a:xfrm>
          <a:prstGeom prst="rect">
            <a:avLst/>
          </a:prstGeom>
        </p:spPr>
        <p:txBody>
          <a:bodyPr wrap="none">
            <a:spAutoFit/>
          </a:bodyPr>
          <a:lstStyle/>
          <a:p>
            <a:r>
              <a:rPr lang="es-ES" dirty="0" err="1"/>
              <a:t>shorthand</a:t>
            </a:r>
            <a:r>
              <a:rPr lang="es-ES" dirty="0"/>
              <a:t> </a:t>
            </a:r>
            <a:r>
              <a:rPr lang="es-ES" dirty="0" err="1"/>
              <a:t>syntax</a:t>
            </a:r>
            <a:r>
              <a:rPr lang="es-ES" dirty="0"/>
              <a:t> </a:t>
            </a:r>
          </a:p>
        </p:txBody>
      </p:sp>
    </p:spTree>
    <p:extLst>
      <p:ext uri="{BB962C8B-B14F-4D97-AF65-F5344CB8AC3E}">
        <p14:creationId xmlns:p14="http://schemas.microsoft.com/office/powerpoint/2010/main" val="382406849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азвание 1"/>
          <p:cNvSpPr>
            <a:spLocks noGrp="1"/>
          </p:cNvSpPr>
          <p:nvPr>
            <p:ph type="title"/>
          </p:nvPr>
        </p:nvSpPr>
        <p:spPr/>
        <p:txBody>
          <a:bodyPr/>
          <a:lstStyle/>
          <a:p>
            <a:pPr fontAlgn="base"/>
            <a:r>
              <a:rPr lang="en-US" dirty="0"/>
              <a:t>Classes</a:t>
            </a:r>
            <a:endParaRPr lang="ru-RU" dirty="0"/>
          </a:p>
        </p:txBody>
      </p:sp>
      <p:sp>
        <p:nvSpPr>
          <p:cNvPr id="5" name="Прямоугольник 4"/>
          <p:cNvSpPr/>
          <p:nvPr/>
        </p:nvSpPr>
        <p:spPr>
          <a:xfrm>
            <a:off x="837982" y="1305341"/>
            <a:ext cx="9828430" cy="4247317"/>
          </a:xfrm>
          <a:prstGeom prst="rect">
            <a:avLst/>
          </a:prstGeom>
        </p:spPr>
        <p:txBody>
          <a:bodyPr wrap="square">
            <a:spAutoFit/>
          </a:bodyPr>
          <a:lstStyle/>
          <a:p>
            <a:r>
              <a:rPr lang="en-US" b="1" dirty="0">
                <a:solidFill>
                  <a:srgbClr val="0000FF"/>
                </a:solidFill>
                <a:latin typeface="Consolas" panose="020B0609020204030204" pitchFamily="49" charset="0"/>
              </a:rPr>
              <a:t>class</a:t>
            </a:r>
            <a:r>
              <a:rPr lang="en-US" b="1" dirty="0">
                <a:solidFill>
                  <a:srgbClr val="000000"/>
                </a:solidFill>
                <a:latin typeface="Consolas" panose="020B0609020204030204" pitchFamily="49" charset="0"/>
              </a:rPr>
              <a:t> Greeter { </a:t>
            </a:r>
          </a:p>
          <a:p>
            <a:r>
              <a:rPr lang="en-US" b="1" dirty="0">
                <a:solidFill>
                  <a:srgbClr val="000000"/>
                </a:solidFill>
                <a:latin typeface="Consolas" panose="020B0609020204030204" pitchFamily="49" charset="0"/>
              </a:rPr>
              <a:t>	greeting: string; </a:t>
            </a:r>
          </a:p>
          <a:p>
            <a:endParaRPr lang="en-US" b="1" dirty="0">
              <a:solidFill>
                <a:srgbClr val="000000"/>
              </a:solidFill>
              <a:latin typeface="Consolas" panose="020B0609020204030204" pitchFamily="49" charset="0"/>
            </a:endParaRPr>
          </a:p>
          <a:p>
            <a:r>
              <a:rPr lang="en-US" b="1" dirty="0">
                <a:solidFill>
                  <a:srgbClr val="000000"/>
                </a:solidFill>
                <a:latin typeface="Consolas" panose="020B0609020204030204" pitchFamily="49" charset="0"/>
              </a:rPr>
              <a:t>	constructor(message: string) { </a:t>
            </a:r>
          </a:p>
          <a:p>
            <a:r>
              <a:rPr lang="en-US" b="1" dirty="0">
                <a:solidFill>
                  <a:srgbClr val="000000"/>
                </a:solidFill>
                <a:latin typeface="Consolas" panose="020B0609020204030204" pitchFamily="49" charset="0"/>
              </a:rPr>
              <a:t>		</a:t>
            </a:r>
            <a:r>
              <a:rPr lang="en-US" b="1" dirty="0" err="1">
                <a:solidFill>
                  <a:srgbClr val="0000FF"/>
                </a:solidFill>
                <a:latin typeface="Consolas" panose="020B0609020204030204" pitchFamily="49" charset="0"/>
              </a:rPr>
              <a:t>this</a:t>
            </a:r>
            <a:r>
              <a:rPr lang="en-US" b="1" dirty="0" err="1">
                <a:solidFill>
                  <a:srgbClr val="000000"/>
                </a:solidFill>
                <a:latin typeface="Consolas" panose="020B0609020204030204" pitchFamily="49" charset="0"/>
              </a:rPr>
              <a:t>.greeting</a:t>
            </a:r>
            <a:r>
              <a:rPr lang="en-US" b="1" dirty="0">
                <a:solidFill>
                  <a:srgbClr val="000000"/>
                </a:solidFill>
                <a:latin typeface="Consolas" panose="020B0609020204030204" pitchFamily="49" charset="0"/>
              </a:rPr>
              <a:t> = message; </a:t>
            </a:r>
          </a:p>
          <a:p>
            <a:r>
              <a:rPr lang="en-US" b="1" dirty="0">
                <a:solidFill>
                  <a:srgbClr val="000000"/>
                </a:solidFill>
                <a:latin typeface="Consolas" panose="020B0609020204030204" pitchFamily="49" charset="0"/>
              </a:rPr>
              <a:t>	} </a:t>
            </a:r>
          </a:p>
          <a:p>
            <a:endParaRPr lang="en-US" b="1" dirty="0">
              <a:solidFill>
                <a:srgbClr val="000000"/>
              </a:solidFill>
              <a:latin typeface="Consolas" panose="020B0609020204030204" pitchFamily="49" charset="0"/>
            </a:endParaRPr>
          </a:p>
          <a:p>
            <a:r>
              <a:rPr lang="en-US" b="1" dirty="0">
                <a:solidFill>
                  <a:srgbClr val="000000"/>
                </a:solidFill>
                <a:latin typeface="Consolas" panose="020B0609020204030204" pitchFamily="49" charset="0"/>
              </a:rPr>
              <a:t>	greet() { </a:t>
            </a:r>
          </a:p>
          <a:p>
            <a:r>
              <a:rPr lang="en-US" b="1" dirty="0">
                <a:solidFill>
                  <a:srgbClr val="000000"/>
                </a:solidFill>
                <a:latin typeface="Consolas" panose="020B0609020204030204" pitchFamily="49" charset="0"/>
              </a:rPr>
              <a:t>		</a:t>
            </a:r>
            <a:r>
              <a:rPr lang="en-US" b="1" dirty="0">
                <a:solidFill>
                  <a:srgbClr val="0000FF"/>
                </a:solidFill>
                <a:latin typeface="Consolas" panose="020B0609020204030204" pitchFamily="49" charset="0"/>
              </a:rPr>
              <a:t>return</a:t>
            </a:r>
            <a:r>
              <a:rPr lang="en-US" b="1" dirty="0">
                <a:solidFill>
                  <a:srgbClr val="000000"/>
                </a:solidFill>
                <a:latin typeface="Consolas" panose="020B0609020204030204" pitchFamily="49" charset="0"/>
              </a:rPr>
              <a:t> </a:t>
            </a:r>
            <a:r>
              <a:rPr lang="en-US" b="1" dirty="0">
                <a:solidFill>
                  <a:srgbClr val="A31515"/>
                </a:solidFill>
                <a:latin typeface="Consolas" panose="020B0609020204030204" pitchFamily="49" charset="0"/>
              </a:rPr>
              <a:t>"Hello, "</a:t>
            </a:r>
            <a:r>
              <a:rPr lang="en-US" b="1" dirty="0">
                <a:solidFill>
                  <a:srgbClr val="000000"/>
                </a:solidFill>
                <a:latin typeface="Consolas" panose="020B0609020204030204" pitchFamily="49" charset="0"/>
              </a:rPr>
              <a:t> + </a:t>
            </a:r>
            <a:r>
              <a:rPr lang="en-US" b="1" dirty="0" err="1">
                <a:solidFill>
                  <a:srgbClr val="0000FF"/>
                </a:solidFill>
                <a:latin typeface="Consolas" panose="020B0609020204030204" pitchFamily="49" charset="0"/>
              </a:rPr>
              <a:t>this</a:t>
            </a:r>
            <a:r>
              <a:rPr lang="en-US" b="1" dirty="0" err="1">
                <a:solidFill>
                  <a:srgbClr val="000000"/>
                </a:solidFill>
                <a:latin typeface="Consolas" panose="020B0609020204030204" pitchFamily="49" charset="0"/>
              </a:rPr>
              <a:t>.greeting</a:t>
            </a:r>
            <a:r>
              <a:rPr lang="en-US" b="1" dirty="0">
                <a:solidFill>
                  <a:srgbClr val="000000"/>
                </a:solidFill>
                <a:latin typeface="Consolas" panose="020B0609020204030204" pitchFamily="49" charset="0"/>
              </a:rPr>
              <a:t>; </a:t>
            </a:r>
          </a:p>
          <a:p>
            <a:r>
              <a:rPr lang="en-US" b="1" dirty="0">
                <a:solidFill>
                  <a:srgbClr val="000000"/>
                </a:solidFill>
                <a:latin typeface="Consolas" panose="020B0609020204030204" pitchFamily="49" charset="0"/>
              </a:rPr>
              <a:t>	} </a:t>
            </a:r>
          </a:p>
          <a:p>
            <a:r>
              <a:rPr lang="en-US" b="1" dirty="0">
                <a:solidFill>
                  <a:srgbClr val="000000"/>
                </a:solidFill>
                <a:latin typeface="Consolas" panose="020B0609020204030204" pitchFamily="49" charset="0"/>
              </a:rPr>
              <a:t>} </a:t>
            </a:r>
          </a:p>
          <a:p>
            <a:endParaRPr lang="en-US" b="1" dirty="0">
              <a:solidFill>
                <a:srgbClr val="000000"/>
              </a:solidFill>
              <a:latin typeface="Consolas" panose="020B0609020204030204" pitchFamily="49" charset="0"/>
            </a:endParaRPr>
          </a:p>
          <a:p>
            <a:r>
              <a:rPr lang="en-US" b="1" dirty="0" err="1">
                <a:solidFill>
                  <a:srgbClr val="0000FF"/>
                </a:solidFill>
                <a:latin typeface="Consolas" panose="020B0609020204030204" pitchFamily="49" charset="0"/>
              </a:rPr>
              <a:t>var</a:t>
            </a:r>
            <a:r>
              <a:rPr lang="en-US" b="1" dirty="0">
                <a:solidFill>
                  <a:srgbClr val="000000"/>
                </a:solidFill>
                <a:latin typeface="Consolas" panose="020B0609020204030204" pitchFamily="49" charset="0"/>
              </a:rPr>
              <a:t> greeter = </a:t>
            </a:r>
            <a:r>
              <a:rPr lang="en-US" b="1" dirty="0">
                <a:solidFill>
                  <a:srgbClr val="0000FF"/>
                </a:solidFill>
                <a:latin typeface="Consolas" panose="020B0609020204030204" pitchFamily="49" charset="0"/>
              </a:rPr>
              <a:t>new</a:t>
            </a:r>
            <a:r>
              <a:rPr lang="en-US" b="1" dirty="0">
                <a:solidFill>
                  <a:srgbClr val="000000"/>
                </a:solidFill>
                <a:latin typeface="Consolas" panose="020B0609020204030204" pitchFamily="49" charset="0"/>
              </a:rPr>
              <a:t> Greeter(</a:t>
            </a:r>
            <a:r>
              <a:rPr lang="en-US" b="1" dirty="0">
                <a:solidFill>
                  <a:srgbClr val="A31515"/>
                </a:solidFill>
                <a:latin typeface="Consolas" panose="020B0609020204030204" pitchFamily="49" charset="0"/>
              </a:rPr>
              <a:t>"world"</a:t>
            </a:r>
            <a:r>
              <a:rPr lang="en-US" b="1" dirty="0">
                <a:solidFill>
                  <a:srgbClr val="000000"/>
                </a:solidFill>
                <a:latin typeface="Consolas" panose="020B0609020204030204" pitchFamily="49" charset="0"/>
              </a:rPr>
              <a:t>); </a:t>
            </a:r>
          </a:p>
          <a:p>
            <a:br>
              <a:rPr lang="en-US" b="1" dirty="0">
                <a:latin typeface="Consolas" panose="020B0609020204030204" pitchFamily="49" charset="0"/>
              </a:rPr>
            </a:br>
            <a:endParaRPr lang="ru-RU" b="1" dirty="0">
              <a:latin typeface="Consolas" panose="020B0609020204030204" pitchFamily="49" charset="0"/>
            </a:endParaRPr>
          </a:p>
        </p:txBody>
      </p:sp>
    </p:spTree>
    <p:extLst>
      <p:ext uri="{BB962C8B-B14F-4D97-AF65-F5344CB8AC3E}">
        <p14:creationId xmlns:p14="http://schemas.microsoft.com/office/powerpoint/2010/main" val="319622650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азвание 1"/>
          <p:cNvSpPr>
            <a:spLocks noGrp="1"/>
          </p:cNvSpPr>
          <p:nvPr>
            <p:ph type="title"/>
          </p:nvPr>
        </p:nvSpPr>
        <p:spPr/>
        <p:txBody>
          <a:bodyPr>
            <a:normAutofit/>
          </a:bodyPr>
          <a:lstStyle/>
          <a:p>
            <a:pPr fontAlgn="base"/>
            <a:r>
              <a:rPr lang="en-US" dirty="0"/>
              <a:t>Private/Public: Public by default</a:t>
            </a:r>
            <a:endParaRPr lang="ru-RU" dirty="0"/>
          </a:p>
        </p:txBody>
      </p:sp>
      <p:sp>
        <p:nvSpPr>
          <p:cNvPr id="5" name="Прямоугольник 4"/>
          <p:cNvSpPr/>
          <p:nvPr/>
        </p:nvSpPr>
        <p:spPr>
          <a:xfrm>
            <a:off x="531812" y="1186845"/>
            <a:ext cx="10485784" cy="5709255"/>
          </a:xfrm>
          <a:prstGeom prst="rect">
            <a:avLst/>
          </a:prstGeom>
        </p:spPr>
        <p:txBody>
          <a:bodyPr wrap="square">
            <a:spAutoFit/>
          </a:bodyPr>
          <a:lstStyle/>
          <a:p>
            <a:pPr lvl="1"/>
            <a:r>
              <a:rPr lang="en-US" b="1" dirty="0">
                <a:solidFill>
                  <a:srgbClr val="0000FF"/>
                </a:solidFill>
                <a:latin typeface="Consolas" panose="020B0609020204030204" pitchFamily="49" charset="0"/>
              </a:rPr>
              <a:t>class</a:t>
            </a:r>
            <a:r>
              <a:rPr lang="en-US" b="1" dirty="0">
                <a:solidFill>
                  <a:srgbClr val="000000"/>
                </a:solidFill>
                <a:latin typeface="Consolas" panose="020B0609020204030204" pitchFamily="49" charset="0"/>
              </a:rPr>
              <a:t> Animal { </a:t>
            </a:r>
          </a:p>
          <a:p>
            <a:pPr lvl="1"/>
            <a:r>
              <a:rPr lang="en-US" b="1" dirty="0">
                <a:solidFill>
                  <a:srgbClr val="000000"/>
                </a:solidFill>
                <a:latin typeface="Consolas" panose="020B0609020204030204" pitchFamily="49" charset="0"/>
              </a:rPr>
              <a:t>	</a:t>
            </a:r>
            <a:r>
              <a:rPr lang="en-US" b="1" dirty="0">
                <a:solidFill>
                  <a:srgbClr val="0000FF"/>
                </a:solidFill>
                <a:latin typeface="Consolas" panose="020B0609020204030204" pitchFamily="49" charset="0"/>
              </a:rPr>
              <a:t>private</a:t>
            </a:r>
            <a:r>
              <a:rPr lang="en-US" b="1" dirty="0">
                <a:solidFill>
                  <a:srgbClr val="000000"/>
                </a:solidFill>
                <a:latin typeface="Consolas" panose="020B0609020204030204" pitchFamily="49" charset="0"/>
              </a:rPr>
              <a:t> </a:t>
            </a:r>
            <a:r>
              <a:rPr lang="en-US" b="1" dirty="0" err="1">
                <a:solidFill>
                  <a:srgbClr val="000000"/>
                </a:solidFill>
                <a:latin typeface="Consolas" panose="020B0609020204030204" pitchFamily="49" charset="0"/>
              </a:rPr>
              <a:t>name:string</a:t>
            </a:r>
            <a:r>
              <a:rPr lang="en-US" b="1" dirty="0">
                <a:solidFill>
                  <a:srgbClr val="000000"/>
                </a:solidFill>
                <a:latin typeface="Consolas" panose="020B0609020204030204" pitchFamily="49" charset="0"/>
              </a:rPr>
              <a:t>; </a:t>
            </a:r>
          </a:p>
          <a:p>
            <a:pPr lvl="1"/>
            <a:endParaRPr lang="en-US" b="1" dirty="0">
              <a:solidFill>
                <a:srgbClr val="000000"/>
              </a:solidFill>
              <a:latin typeface="Consolas" panose="020B0609020204030204" pitchFamily="49" charset="0"/>
            </a:endParaRPr>
          </a:p>
          <a:p>
            <a:pPr lvl="1"/>
            <a:r>
              <a:rPr lang="en-US" b="1" dirty="0">
                <a:solidFill>
                  <a:srgbClr val="000000"/>
                </a:solidFill>
                <a:latin typeface="Consolas" panose="020B0609020204030204" pitchFamily="49" charset="0"/>
              </a:rPr>
              <a:t>	constructor(</a:t>
            </a:r>
            <a:r>
              <a:rPr lang="en-US" b="1" dirty="0" err="1">
                <a:solidFill>
                  <a:srgbClr val="000000"/>
                </a:solidFill>
                <a:latin typeface="Consolas" panose="020B0609020204030204" pitchFamily="49" charset="0"/>
              </a:rPr>
              <a:t>theName</a:t>
            </a:r>
            <a:r>
              <a:rPr lang="en-US" b="1" dirty="0">
                <a:solidFill>
                  <a:srgbClr val="000000"/>
                </a:solidFill>
                <a:latin typeface="Consolas" panose="020B0609020204030204" pitchFamily="49" charset="0"/>
              </a:rPr>
              <a:t>: string) { </a:t>
            </a:r>
          </a:p>
          <a:p>
            <a:pPr lvl="1"/>
            <a:r>
              <a:rPr lang="en-US" b="1" dirty="0">
                <a:solidFill>
                  <a:srgbClr val="000000"/>
                </a:solidFill>
                <a:latin typeface="Consolas" panose="020B0609020204030204" pitchFamily="49" charset="0"/>
              </a:rPr>
              <a:t>		</a:t>
            </a:r>
            <a:r>
              <a:rPr lang="en-US" b="1" dirty="0">
                <a:solidFill>
                  <a:srgbClr val="0000FF"/>
                </a:solidFill>
                <a:latin typeface="Consolas" panose="020B0609020204030204" pitchFamily="49" charset="0"/>
              </a:rPr>
              <a:t>this</a:t>
            </a:r>
            <a:r>
              <a:rPr lang="en-US" b="1" dirty="0">
                <a:solidFill>
                  <a:srgbClr val="000000"/>
                </a:solidFill>
                <a:latin typeface="Consolas" panose="020B0609020204030204" pitchFamily="49" charset="0"/>
              </a:rPr>
              <a:t>.name = </a:t>
            </a:r>
            <a:r>
              <a:rPr lang="en-US" b="1" dirty="0" err="1">
                <a:solidFill>
                  <a:srgbClr val="000000"/>
                </a:solidFill>
                <a:latin typeface="Consolas" panose="020B0609020204030204" pitchFamily="49" charset="0"/>
              </a:rPr>
              <a:t>theName</a:t>
            </a:r>
            <a:r>
              <a:rPr lang="en-US" b="1" dirty="0">
                <a:solidFill>
                  <a:srgbClr val="000000"/>
                </a:solidFill>
                <a:latin typeface="Consolas" panose="020B0609020204030204" pitchFamily="49" charset="0"/>
              </a:rPr>
              <a:t>; </a:t>
            </a:r>
          </a:p>
          <a:p>
            <a:pPr lvl="1"/>
            <a:r>
              <a:rPr lang="en-US" b="1" dirty="0">
                <a:solidFill>
                  <a:srgbClr val="000000"/>
                </a:solidFill>
                <a:latin typeface="Consolas" panose="020B0609020204030204" pitchFamily="49" charset="0"/>
              </a:rPr>
              <a:t>	} </a:t>
            </a:r>
          </a:p>
          <a:p>
            <a:pPr lvl="1"/>
            <a:endParaRPr lang="en-US" b="1" dirty="0">
              <a:solidFill>
                <a:srgbClr val="000000"/>
              </a:solidFill>
              <a:latin typeface="Consolas" panose="020B0609020204030204" pitchFamily="49" charset="0"/>
            </a:endParaRPr>
          </a:p>
          <a:p>
            <a:pPr lvl="1"/>
            <a:r>
              <a:rPr lang="en-US" b="1" dirty="0">
                <a:solidFill>
                  <a:srgbClr val="000000"/>
                </a:solidFill>
                <a:latin typeface="Consolas" panose="020B0609020204030204" pitchFamily="49" charset="0"/>
              </a:rPr>
              <a:t>	move(meters: number) { </a:t>
            </a:r>
          </a:p>
          <a:p>
            <a:pPr lvl="1"/>
            <a:r>
              <a:rPr lang="en-US" b="1" dirty="0">
                <a:solidFill>
                  <a:srgbClr val="000000"/>
                </a:solidFill>
                <a:latin typeface="Consolas" panose="020B0609020204030204" pitchFamily="49" charset="0"/>
              </a:rPr>
              <a:t>		alert(</a:t>
            </a:r>
            <a:r>
              <a:rPr lang="en-US" b="1" dirty="0">
                <a:solidFill>
                  <a:srgbClr val="0000FF"/>
                </a:solidFill>
                <a:latin typeface="Consolas" panose="020B0609020204030204" pitchFamily="49" charset="0"/>
              </a:rPr>
              <a:t>this</a:t>
            </a:r>
            <a:r>
              <a:rPr lang="en-US" b="1" dirty="0">
                <a:solidFill>
                  <a:srgbClr val="000000"/>
                </a:solidFill>
                <a:latin typeface="Consolas" panose="020B0609020204030204" pitchFamily="49" charset="0"/>
              </a:rPr>
              <a:t>.name + </a:t>
            </a:r>
            <a:r>
              <a:rPr lang="en-US" b="1" dirty="0">
                <a:solidFill>
                  <a:srgbClr val="A31515"/>
                </a:solidFill>
                <a:latin typeface="Consolas" panose="020B0609020204030204" pitchFamily="49" charset="0"/>
              </a:rPr>
              <a:t>" moved "</a:t>
            </a:r>
            <a:r>
              <a:rPr lang="en-US" b="1" dirty="0">
                <a:solidFill>
                  <a:srgbClr val="000000"/>
                </a:solidFill>
                <a:latin typeface="Consolas" panose="020B0609020204030204" pitchFamily="49" charset="0"/>
              </a:rPr>
              <a:t> + meters + </a:t>
            </a:r>
            <a:r>
              <a:rPr lang="en-US" b="1" dirty="0">
                <a:solidFill>
                  <a:srgbClr val="A31515"/>
                </a:solidFill>
                <a:latin typeface="Consolas" panose="020B0609020204030204" pitchFamily="49" charset="0"/>
              </a:rPr>
              <a:t>"m."</a:t>
            </a:r>
            <a:r>
              <a:rPr lang="en-US" b="1" dirty="0">
                <a:solidFill>
                  <a:srgbClr val="000000"/>
                </a:solidFill>
                <a:latin typeface="Consolas" panose="020B0609020204030204" pitchFamily="49" charset="0"/>
              </a:rPr>
              <a:t>); </a:t>
            </a:r>
          </a:p>
          <a:p>
            <a:pPr lvl="1"/>
            <a:r>
              <a:rPr lang="en-US" b="1" dirty="0">
                <a:solidFill>
                  <a:srgbClr val="000000"/>
                </a:solidFill>
                <a:latin typeface="Consolas" panose="020B0609020204030204" pitchFamily="49" charset="0"/>
              </a:rPr>
              <a:t>	} </a:t>
            </a:r>
          </a:p>
          <a:p>
            <a:pPr lvl="1"/>
            <a:r>
              <a:rPr lang="en-US" b="1" dirty="0">
                <a:solidFill>
                  <a:srgbClr val="000000"/>
                </a:solidFill>
                <a:latin typeface="Consolas" panose="020B0609020204030204" pitchFamily="49" charset="0"/>
              </a:rPr>
              <a:t>} </a:t>
            </a:r>
          </a:p>
          <a:p>
            <a:endParaRPr lang="en-US" b="1" dirty="0">
              <a:latin typeface="Consolas" panose="020B0609020204030204" pitchFamily="49" charset="0"/>
            </a:endParaRPr>
          </a:p>
          <a:p>
            <a:r>
              <a:rPr lang="en-US" b="1" dirty="0">
                <a:solidFill>
                  <a:schemeClr val="accent2"/>
                </a:solidFill>
                <a:latin typeface="Consolas" panose="020B0609020204030204" pitchFamily="49" charset="0"/>
              </a:rPr>
              <a:t>Parameter properties:</a:t>
            </a:r>
          </a:p>
          <a:p>
            <a:pPr lvl="1"/>
            <a:br>
              <a:rPr lang="en-US" sz="500" b="1" dirty="0">
                <a:latin typeface="Consolas" panose="020B0609020204030204" pitchFamily="49" charset="0"/>
              </a:rPr>
            </a:br>
            <a:r>
              <a:rPr lang="en-US" b="1" dirty="0">
                <a:solidFill>
                  <a:srgbClr val="0000FF"/>
                </a:solidFill>
                <a:latin typeface="Consolas" panose="020B0609020204030204" pitchFamily="49" charset="0"/>
              </a:rPr>
              <a:t>class</a:t>
            </a:r>
            <a:r>
              <a:rPr lang="en-US" b="1" dirty="0">
                <a:latin typeface="Consolas" panose="020B0609020204030204" pitchFamily="49" charset="0"/>
              </a:rPr>
              <a:t> Animal { </a:t>
            </a:r>
          </a:p>
          <a:p>
            <a:pPr lvl="1"/>
            <a:r>
              <a:rPr lang="en-US" b="1" dirty="0">
                <a:latin typeface="Consolas" panose="020B0609020204030204" pitchFamily="49" charset="0"/>
              </a:rPr>
              <a:t>	constructor(</a:t>
            </a:r>
            <a:r>
              <a:rPr lang="en-US" b="1" dirty="0">
                <a:solidFill>
                  <a:srgbClr val="0000FF"/>
                </a:solidFill>
                <a:latin typeface="Consolas" panose="020B0609020204030204" pitchFamily="49" charset="0"/>
              </a:rPr>
              <a:t>private</a:t>
            </a:r>
            <a:r>
              <a:rPr lang="en-US" b="1" dirty="0">
                <a:latin typeface="Consolas" panose="020B0609020204030204" pitchFamily="49" charset="0"/>
              </a:rPr>
              <a:t> name: string) { } </a:t>
            </a:r>
          </a:p>
          <a:p>
            <a:pPr lvl="1"/>
            <a:r>
              <a:rPr lang="en-US" b="1" dirty="0">
                <a:latin typeface="Consolas" panose="020B0609020204030204" pitchFamily="49" charset="0"/>
              </a:rPr>
              <a:t>	move(meters: number) { </a:t>
            </a:r>
          </a:p>
          <a:p>
            <a:pPr lvl="1"/>
            <a:r>
              <a:rPr lang="en-US" b="1" dirty="0">
                <a:latin typeface="Consolas" panose="020B0609020204030204" pitchFamily="49" charset="0"/>
              </a:rPr>
              <a:t>		alert(</a:t>
            </a:r>
            <a:r>
              <a:rPr lang="en-US" b="1" dirty="0">
                <a:solidFill>
                  <a:srgbClr val="0000FF"/>
                </a:solidFill>
                <a:latin typeface="Consolas" panose="020B0609020204030204" pitchFamily="49" charset="0"/>
              </a:rPr>
              <a:t>this</a:t>
            </a:r>
            <a:r>
              <a:rPr lang="en-US" b="1" dirty="0">
                <a:latin typeface="Consolas" panose="020B0609020204030204" pitchFamily="49" charset="0"/>
              </a:rPr>
              <a:t>.name + </a:t>
            </a:r>
            <a:r>
              <a:rPr lang="en-US" b="1" dirty="0">
                <a:solidFill>
                  <a:srgbClr val="A31515"/>
                </a:solidFill>
                <a:latin typeface="Consolas" panose="020B0609020204030204" pitchFamily="49" charset="0"/>
              </a:rPr>
              <a:t>" moved "</a:t>
            </a:r>
            <a:r>
              <a:rPr lang="en-US" b="1" dirty="0">
                <a:latin typeface="Consolas" panose="020B0609020204030204" pitchFamily="49" charset="0"/>
              </a:rPr>
              <a:t> + meters + </a:t>
            </a:r>
            <a:r>
              <a:rPr lang="en-US" b="1" dirty="0">
                <a:solidFill>
                  <a:srgbClr val="A31515"/>
                </a:solidFill>
                <a:latin typeface="Consolas" panose="020B0609020204030204" pitchFamily="49" charset="0"/>
              </a:rPr>
              <a:t>"m."</a:t>
            </a:r>
            <a:r>
              <a:rPr lang="en-US" b="1" dirty="0">
                <a:latin typeface="Consolas" panose="020B0609020204030204" pitchFamily="49" charset="0"/>
              </a:rPr>
              <a:t>); </a:t>
            </a:r>
          </a:p>
          <a:p>
            <a:pPr lvl="1"/>
            <a:r>
              <a:rPr lang="en-US" b="1" dirty="0">
                <a:latin typeface="Consolas" panose="020B0609020204030204" pitchFamily="49" charset="0"/>
              </a:rPr>
              <a:t>	} </a:t>
            </a:r>
          </a:p>
          <a:p>
            <a:pPr lvl="1"/>
            <a:r>
              <a:rPr lang="en-US" b="1" dirty="0">
                <a:latin typeface="Consolas" panose="020B0609020204030204" pitchFamily="49" charset="0"/>
              </a:rPr>
              <a:t>}</a:t>
            </a:r>
            <a:br>
              <a:rPr lang="en-US" b="1" dirty="0">
                <a:latin typeface="Consolas" panose="020B0609020204030204" pitchFamily="49" charset="0"/>
              </a:rPr>
            </a:br>
            <a:endParaRPr lang="ru-RU" b="1" dirty="0">
              <a:latin typeface="Consolas" panose="020B0609020204030204" pitchFamily="49" charset="0"/>
            </a:endParaRPr>
          </a:p>
        </p:txBody>
      </p:sp>
    </p:spTree>
    <p:extLst>
      <p:ext uri="{BB962C8B-B14F-4D97-AF65-F5344CB8AC3E}">
        <p14:creationId xmlns:p14="http://schemas.microsoft.com/office/powerpoint/2010/main" val="211102559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азвание 1"/>
          <p:cNvSpPr>
            <a:spLocks noGrp="1"/>
          </p:cNvSpPr>
          <p:nvPr>
            <p:ph type="title"/>
          </p:nvPr>
        </p:nvSpPr>
        <p:spPr/>
        <p:txBody>
          <a:bodyPr>
            <a:normAutofit/>
          </a:bodyPr>
          <a:lstStyle/>
          <a:p>
            <a:pPr fontAlgn="base"/>
            <a:r>
              <a:rPr lang="en-US" dirty="0"/>
              <a:t>Accessors</a:t>
            </a:r>
            <a:endParaRPr lang="ru-RU" dirty="0"/>
          </a:p>
        </p:txBody>
      </p:sp>
      <p:sp>
        <p:nvSpPr>
          <p:cNvPr id="5" name="Прямоугольник 4"/>
          <p:cNvSpPr/>
          <p:nvPr/>
        </p:nvSpPr>
        <p:spPr>
          <a:xfrm>
            <a:off x="684212" y="948690"/>
            <a:ext cx="11353800" cy="5909310"/>
          </a:xfrm>
          <a:prstGeom prst="rect">
            <a:avLst/>
          </a:prstGeom>
        </p:spPr>
        <p:txBody>
          <a:bodyPr wrap="square">
            <a:spAutoFit/>
          </a:bodyPr>
          <a:lstStyle/>
          <a:p>
            <a:pPr lvl="1"/>
            <a:r>
              <a:rPr lang="en-US" b="1" dirty="0" err="1">
                <a:solidFill>
                  <a:srgbClr val="0000FF"/>
                </a:solidFill>
                <a:latin typeface="Consolas" panose="020B0609020204030204" pitchFamily="49" charset="0"/>
              </a:rPr>
              <a:t>var</a:t>
            </a:r>
            <a:r>
              <a:rPr lang="en-US" b="1" dirty="0">
                <a:latin typeface="Consolas" panose="020B0609020204030204" pitchFamily="49" charset="0"/>
              </a:rPr>
              <a:t> passcode = </a:t>
            </a:r>
            <a:r>
              <a:rPr lang="en-US" b="1" dirty="0">
                <a:solidFill>
                  <a:srgbClr val="A31515"/>
                </a:solidFill>
                <a:latin typeface="Consolas" panose="020B0609020204030204" pitchFamily="49" charset="0"/>
              </a:rPr>
              <a:t>"secret passcode"</a:t>
            </a:r>
            <a:r>
              <a:rPr lang="en-US" b="1" dirty="0">
                <a:latin typeface="Consolas" panose="020B0609020204030204" pitchFamily="49" charset="0"/>
              </a:rPr>
              <a:t>; </a:t>
            </a:r>
          </a:p>
          <a:p>
            <a:pPr lvl="1"/>
            <a:endParaRPr lang="en-US" b="1" dirty="0">
              <a:solidFill>
                <a:srgbClr val="0000FF"/>
              </a:solidFill>
              <a:latin typeface="Consolas" panose="020B0609020204030204" pitchFamily="49" charset="0"/>
            </a:endParaRPr>
          </a:p>
          <a:p>
            <a:pPr lvl="1"/>
            <a:r>
              <a:rPr lang="en-US" b="1" dirty="0">
                <a:solidFill>
                  <a:srgbClr val="0000FF"/>
                </a:solidFill>
                <a:latin typeface="Consolas" panose="020B0609020204030204" pitchFamily="49" charset="0"/>
              </a:rPr>
              <a:t>class</a:t>
            </a:r>
            <a:r>
              <a:rPr lang="en-US" b="1" dirty="0">
                <a:latin typeface="Consolas" panose="020B0609020204030204" pitchFamily="49" charset="0"/>
              </a:rPr>
              <a:t> Employee { </a:t>
            </a:r>
          </a:p>
          <a:p>
            <a:pPr lvl="1"/>
            <a:r>
              <a:rPr lang="en-US" b="1" dirty="0">
                <a:solidFill>
                  <a:srgbClr val="0000FF"/>
                </a:solidFill>
                <a:latin typeface="Consolas" panose="020B0609020204030204" pitchFamily="49" charset="0"/>
              </a:rPr>
              <a:t>	private</a:t>
            </a:r>
            <a:r>
              <a:rPr lang="en-US" b="1" dirty="0">
                <a:latin typeface="Consolas" panose="020B0609020204030204" pitchFamily="49" charset="0"/>
              </a:rPr>
              <a:t> _</a:t>
            </a:r>
            <a:r>
              <a:rPr lang="en-US" b="1" dirty="0" err="1">
                <a:latin typeface="Consolas" panose="020B0609020204030204" pitchFamily="49" charset="0"/>
              </a:rPr>
              <a:t>fullName</a:t>
            </a:r>
            <a:r>
              <a:rPr lang="en-US" b="1" dirty="0">
                <a:latin typeface="Consolas" panose="020B0609020204030204" pitchFamily="49" charset="0"/>
              </a:rPr>
              <a:t>: string; </a:t>
            </a:r>
          </a:p>
          <a:p>
            <a:pPr lvl="1"/>
            <a:r>
              <a:rPr lang="en-US" b="1" dirty="0">
                <a:latin typeface="Consolas" panose="020B0609020204030204" pitchFamily="49" charset="0"/>
              </a:rPr>
              <a:t>	</a:t>
            </a:r>
          </a:p>
          <a:p>
            <a:pPr lvl="1"/>
            <a:r>
              <a:rPr lang="en-US" b="1" dirty="0">
                <a:latin typeface="Consolas" panose="020B0609020204030204" pitchFamily="49" charset="0"/>
              </a:rPr>
              <a:t>	get </a:t>
            </a:r>
            <a:r>
              <a:rPr lang="en-US" b="1" dirty="0" err="1">
                <a:latin typeface="Consolas" panose="020B0609020204030204" pitchFamily="49" charset="0"/>
              </a:rPr>
              <a:t>fullName</a:t>
            </a:r>
            <a:r>
              <a:rPr lang="en-US" b="1" dirty="0">
                <a:latin typeface="Consolas" panose="020B0609020204030204" pitchFamily="49" charset="0"/>
              </a:rPr>
              <a:t>(): string { </a:t>
            </a:r>
            <a:r>
              <a:rPr lang="en-US" b="1" dirty="0">
                <a:solidFill>
                  <a:srgbClr val="0000FF"/>
                </a:solidFill>
                <a:latin typeface="Consolas" panose="020B0609020204030204" pitchFamily="49" charset="0"/>
              </a:rPr>
              <a:t>return</a:t>
            </a:r>
            <a:r>
              <a:rPr lang="en-US" b="1" dirty="0">
                <a:latin typeface="Consolas" panose="020B0609020204030204" pitchFamily="49" charset="0"/>
              </a:rPr>
              <a:t> </a:t>
            </a:r>
            <a:r>
              <a:rPr lang="en-US" b="1" dirty="0">
                <a:solidFill>
                  <a:srgbClr val="0000FF"/>
                </a:solidFill>
                <a:latin typeface="Consolas" panose="020B0609020204030204" pitchFamily="49" charset="0"/>
              </a:rPr>
              <a:t>this</a:t>
            </a:r>
            <a:r>
              <a:rPr lang="en-US" b="1" dirty="0">
                <a:latin typeface="Consolas" panose="020B0609020204030204" pitchFamily="49" charset="0"/>
              </a:rPr>
              <a:t>._</a:t>
            </a:r>
            <a:r>
              <a:rPr lang="en-US" b="1" dirty="0" err="1">
                <a:latin typeface="Consolas" panose="020B0609020204030204" pitchFamily="49" charset="0"/>
              </a:rPr>
              <a:t>fullName</a:t>
            </a:r>
            <a:r>
              <a:rPr lang="en-US" b="1" dirty="0">
                <a:latin typeface="Consolas" panose="020B0609020204030204" pitchFamily="49" charset="0"/>
              </a:rPr>
              <a:t>; } </a:t>
            </a:r>
          </a:p>
          <a:p>
            <a:pPr lvl="1"/>
            <a:r>
              <a:rPr lang="en-US" b="1" dirty="0">
                <a:latin typeface="Consolas" panose="020B0609020204030204" pitchFamily="49" charset="0"/>
              </a:rPr>
              <a:t>	set </a:t>
            </a:r>
            <a:r>
              <a:rPr lang="en-US" b="1" dirty="0" err="1">
                <a:latin typeface="Consolas" panose="020B0609020204030204" pitchFamily="49" charset="0"/>
              </a:rPr>
              <a:t>fullName</a:t>
            </a:r>
            <a:r>
              <a:rPr lang="en-US" b="1" dirty="0">
                <a:latin typeface="Consolas" panose="020B0609020204030204" pitchFamily="49" charset="0"/>
              </a:rPr>
              <a:t>(</a:t>
            </a:r>
            <a:r>
              <a:rPr lang="en-US" b="1" dirty="0" err="1">
                <a:latin typeface="Consolas" panose="020B0609020204030204" pitchFamily="49" charset="0"/>
              </a:rPr>
              <a:t>newName</a:t>
            </a:r>
            <a:r>
              <a:rPr lang="en-US" b="1" dirty="0">
                <a:latin typeface="Consolas" panose="020B0609020204030204" pitchFamily="49" charset="0"/>
              </a:rPr>
              <a:t>: string) { </a:t>
            </a:r>
          </a:p>
          <a:p>
            <a:pPr lvl="1"/>
            <a:r>
              <a:rPr lang="en-US" b="1" dirty="0">
                <a:solidFill>
                  <a:srgbClr val="0000FF"/>
                </a:solidFill>
                <a:latin typeface="Consolas" panose="020B0609020204030204" pitchFamily="49" charset="0"/>
              </a:rPr>
              <a:t>		if</a:t>
            </a:r>
            <a:r>
              <a:rPr lang="en-US" b="1" dirty="0">
                <a:latin typeface="Consolas" panose="020B0609020204030204" pitchFamily="49" charset="0"/>
              </a:rPr>
              <a:t> (passcode &amp;&amp; passcode == </a:t>
            </a:r>
            <a:r>
              <a:rPr lang="en-US" b="1" dirty="0">
                <a:solidFill>
                  <a:srgbClr val="A31515"/>
                </a:solidFill>
                <a:latin typeface="Consolas" panose="020B0609020204030204" pitchFamily="49" charset="0"/>
              </a:rPr>
              <a:t>"secret passcode"</a:t>
            </a:r>
            <a:r>
              <a:rPr lang="en-US" b="1" dirty="0">
                <a:latin typeface="Consolas" panose="020B0609020204030204" pitchFamily="49" charset="0"/>
              </a:rPr>
              <a:t>) {</a:t>
            </a:r>
          </a:p>
          <a:p>
            <a:pPr lvl="1"/>
            <a:r>
              <a:rPr lang="en-US" b="1" dirty="0">
                <a:latin typeface="Consolas" panose="020B0609020204030204" pitchFamily="49" charset="0"/>
              </a:rPr>
              <a:t>			</a:t>
            </a:r>
            <a:r>
              <a:rPr lang="en-US" b="1" dirty="0">
                <a:solidFill>
                  <a:srgbClr val="0000FF"/>
                </a:solidFill>
                <a:latin typeface="Consolas" panose="020B0609020204030204" pitchFamily="49" charset="0"/>
              </a:rPr>
              <a:t>this</a:t>
            </a:r>
            <a:r>
              <a:rPr lang="en-US" b="1" dirty="0">
                <a:latin typeface="Consolas" panose="020B0609020204030204" pitchFamily="49" charset="0"/>
              </a:rPr>
              <a:t>._</a:t>
            </a:r>
            <a:r>
              <a:rPr lang="en-US" b="1" dirty="0" err="1">
                <a:latin typeface="Consolas" panose="020B0609020204030204" pitchFamily="49" charset="0"/>
              </a:rPr>
              <a:t>fullName</a:t>
            </a:r>
            <a:r>
              <a:rPr lang="en-US" b="1" dirty="0">
                <a:latin typeface="Consolas" panose="020B0609020204030204" pitchFamily="49" charset="0"/>
              </a:rPr>
              <a:t> = </a:t>
            </a:r>
            <a:r>
              <a:rPr lang="en-US" b="1" dirty="0" err="1">
                <a:latin typeface="Consolas" panose="020B0609020204030204" pitchFamily="49" charset="0"/>
              </a:rPr>
              <a:t>newName</a:t>
            </a:r>
            <a:r>
              <a:rPr lang="en-US" b="1" dirty="0">
                <a:latin typeface="Consolas" panose="020B0609020204030204" pitchFamily="49" charset="0"/>
              </a:rPr>
              <a:t>; </a:t>
            </a:r>
          </a:p>
          <a:p>
            <a:pPr lvl="1"/>
            <a:r>
              <a:rPr lang="en-US" b="1" dirty="0">
                <a:latin typeface="Consolas" panose="020B0609020204030204" pitchFamily="49" charset="0"/>
              </a:rPr>
              <a:t>		} </a:t>
            </a:r>
            <a:r>
              <a:rPr lang="en-US" b="1" dirty="0">
                <a:solidFill>
                  <a:srgbClr val="0000FF"/>
                </a:solidFill>
                <a:latin typeface="Consolas" panose="020B0609020204030204" pitchFamily="49" charset="0"/>
              </a:rPr>
              <a:t>else</a:t>
            </a:r>
            <a:r>
              <a:rPr lang="en-US" b="1" dirty="0">
                <a:latin typeface="Consolas" panose="020B0609020204030204" pitchFamily="49" charset="0"/>
              </a:rPr>
              <a:t> { </a:t>
            </a:r>
          </a:p>
          <a:p>
            <a:pPr lvl="1"/>
            <a:r>
              <a:rPr lang="en-US" b="1" dirty="0">
                <a:latin typeface="Consolas" panose="020B0609020204030204" pitchFamily="49" charset="0"/>
              </a:rPr>
              <a:t>			alert(</a:t>
            </a:r>
            <a:r>
              <a:rPr lang="en-US" b="1" dirty="0">
                <a:solidFill>
                  <a:srgbClr val="A31515"/>
                </a:solidFill>
                <a:latin typeface="Consolas" panose="020B0609020204030204" pitchFamily="49" charset="0"/>
              </a:rPr>
              <a:t>"Error: Unauthorized update!"</a:t>
            </a:r>
            <a:r>
              <a:rPr lang="en-US" b="1" dirty="0">
                <a:latin typeface="Consolas" panose="020B0609020204030204" pitchFamily="49" charset="0"/>
              </a:rPr>
              <a:t>); </a:t>
            </a:r>
          </a:p>
          <a:p>
            <a:pPr lvl="1"/>
            <a:r>
              <a:rPr lang="en-US" b="1" dirty="0">
                <a:latin typeface="Consolas" panose="020B0609020204030204" pitchFamily="49" charset="0"/>
              </a:rPr>
              <a:t>		} </a:t>
            </a:r>
          </a:p>
          <a:p>
            <a:pPr lvl="1"/>
            <a:r>
              <a:rPr lang="en-US" b="1" dirty="0">
                <a:latin typeface="Consolas" panose="020B0609020204030204" pitchFamily="49" charset="0"/>
              </a:rPr>
              <a:t>	} </a:t>
            </a:r>
          </a:p>
          <a:p>
            <a:pPr lvl="1"/>
            <a:r>
              <a:rPr lang="en-US" b="1" dirty="0">
                <a:latin typeface="Consolas" panose="020B0609020204030204" pitchFamily="49" charset="0"/>
              </a:rPr>
              <a:t>} </a:t>
            </a:r>
          </a:p>
          <a:p>
            <a:pPr lvl="1"/>
            <a:endParaRPr lang="en-US" b="1" dirty="0">
              <a:solidFill>
                <a:srgbClr val="0000FF"/>
              </a:solidFill>
              <a:latin typeface="Consolas" panose="020B0609020204030204" pitchFamily="49" charset="0"/>
            </a:endParaRPr>
          </a:p>
          <a:p>
            <a:pPr lvl="1"/>
            <a:r>
              <a:rPr lang="en-US" b="1" dirty="0" err="1">
                <a:solidFill>
                  <a:srgbClr val="0000FF"/>
                </a:solidFill>
                <a:latin typeface="Consolas" panose="020B0609020204030204" pitchFamily="49" charset="0"/>
              </a:rPr>
              <a:t>var</a:t>
            </a:r>
            <a:r>
              <a:rPr lang="en-US" b="1" dirty="0">
                <a:latin typeface="Consolas" panose="020B0609020204030204" pitchFamily="49" charset="0"/>
              </a:rPr>
              <a:t> employee = </a:t>
            </a:r>
            <a:r>
              <a:rPr lang="en-US" b="1" dirty="0">
                <a:solidFill>
                  <a:srgbClr val="0000FF"/>
                </a:solidFill>
                <a:latin typeface="Consolas" panose="020B0609020204030204" pitchFamily="49" charset="0"/>
              </a:rPr>
              <a:t>new</a:t>
            </a:r>
            <a:r>
              <a:rPr lang="en-US" b="1" dirty="0">
                <a:latin typeface="Consolas" panose="020B0609020204030204" pitchFamily="49" charset="0"/>
              </a:rPr>
              <a:t> Employee(); </a:t>
            </a:r>
          </a:p>
          <a:p>
            <a:pPr lvl="1"/>
            <a:r>
              <a:rPr lang="en-US" b="1" dirty="0" err="1">
                <a:latin typeface="Consolas" panose="020B0609020204030204" pitchFamily="49" charset="0"/>
              </a:rPr>
              <a:t>employee.fullName</a:t>
            </a:r>
            <a:r>
              <a:rPr lang="en-US" b="1" dirty="0">
                <a:latin typeface="Consolas" panose="020B0609020204030204" pitchFamily="49" charset="0"/>
              </a:rPr>
              <a:t> = </a:t>
            </a:r>
            <a:r>
              <a:rPr lang="en-US" b="1" dirty="0">
                <a:solidFill>
                  <a:srgbClr val="A31515"/>
                </a:solidFill>
                <a:latin typeface="Consolas" panose="020B0609020204030204" pitchFamily="49" charset="0"/>
              </a:rPr>
              <a:t>"Bob Smith"</a:t>
            </a:r>
            <a:r>
              <a:rPr lang="en-US" b="1" dirty="0">
                <a:latin typeface="Consolas" panose="020B0609020204030204" pitchFamily="49" charset="0"/>
              </a:rPr>
              <a:t>; </a:t>
            </a:r>
          </a:p>
          <a:p>
            <a:pPr lvl="1"/>
            <a:r>
              <a:rPr lang="en-US" b="1" dirty="0">
                <a:solidFill>
                  <a:srgbClr val="0000FF"/>
                </a:solidFill>
                <a:latin typeface="Consolas" panose="020B0609020204030204" pitchFamily="49" charset="0"/>
              </a:rPr>
              <a:t>if</a:t>
            </a:r>
            <a:r>
              <a:rPr lang="en-US" b="1" dirty="0">
                <a:latin typeface="Consolas" panose="020B0609020204030204" pitchFamily="49" charset="0"/>
              </a:rPr>
              <a:t> (</a:t>
            </a:r>
            <a:r>
              <a:rPr lang="en-US" b="1" dirty="0" err="1">
                <a:latin typeface="Consolas" panose="020B0609020204030204" pitchFamily="49" charset="0"/>
              </a:rPr>
              <a:t>employee.fullName</a:t>
            </a:r>
            <a:r>
              <a:rPr lang="en-US" b="1" dirty="0">
                <a:latin typeface="Consolas" panose="020B0609020204030204" pitchFamily="49" charset="0"/>
              </a:rPr>
              <a:t>) { </a:t>
            </a:r>
          </a:p>
          <a:p>
            <a:pPr lvl="1"/>
            <a:r>
              <a:rPr lang="en-US" b="1" dirty="0">
                <a:latin typeface="Consolas" panose="020B0609020204030204" pitchFamily="49" charset="0"/>
              </a:rPr>
              <a:t>	alert(</a:t>
            </a:r>
            <a:r>
              <a:rPr lang="en-US" b="1" dirty="0" err="1">
                <a:latin typeface="Consolas" panose="020B0609020204030204" pitchFamily="49" charset="0"/>
              </a:rPr>
              <a:t>employee.fullName</a:t>
            </a:r>
            <a:r>
              <a:rPr lang="en-US" b="1" dirty="0">
                <a:latin typeface="Consolas" panose="020B0609020204030204" pitchFamily="49" charset="0"/>
              </a:rPr>
              <a:t>); </a:t>
            </a:r>
          </a:p>
          <a:p>
            <a:pPr lvl="1"/>
            <a:r>
              <a:rPr lang="en-US" b="1" dirty="0">
                <a:latin typeface="Consolas" panose="020B0609020204030204" pitchFamily="49" charset="0"/>
              </a:rPr>
              <a:t>}</a:t>
            </a:r>
            <a:br>
              <a:rPr lang="en-US" b="1" dirty="0">
                <a:latin typeface="Consolas" panose="020B0609020204030204" pitchFamily="49" charset="0"/>
              </a:rPr>
            </a:br>
            <a:endParaRPr lang="ru-RU" b="1" dirty="0">
              <a:latin typeface="Consolas" panose="020B0609020204030204" pitchFamily="49" charset="0"/>
            </a:endParaRPr>
          </a:p>
        </p:txBody>
      </p:sp>
    </p:spTree>
    <p:extLst>
      <p:ext uri="{BB962C8B-B14F-4D97-AF65-F5344CB8AC3E}">
        <p14:creationId xmlns:p14="http://schemas.microsoft.com/office/powerpoint/2010/main" val="225553650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азвание 1"/>
          <p:cNvSpPr>
            <a:spLocks noGrp="1"/>
          </p:cNvSpPr>
          <p:nvPr>
            <p:ph type="title"/>
          </p:nvPr>
        </p:nvSpPr>
        <p:spPr/>
        <p:txBody>
          <a:bodyPr/>
          <a:lstStyle/>
          <a:p>
            <a:pPr fontAlgn="base"/>
            <a:r>
              <a:rPr lang="en-US" dirty="0"/>
              <a:t>Static properties</a:t>
            </a:r>
            <a:endParaRPr lang="ru-RU" dirty="0"/>
          </a:p>
        </p:txBody>
      </p:sp>
      <p:sp>
        <p:nvSpPr>
          <p:cNvPr id="5" name="Прямоугольник 4"/>
          <p:cNvSpPr/>
          <p:nvPr/>
        </p:nvSpPr>
        <p:spPr>
          <a:xfrm>
            <a:off x="531812" y="1414561"/>
            <a:ext cx="11337236" cy="4801314"/>
          </a:xfrm>
          <a:prstGeom prst="rect">
            <a:avLst/>
          </a:prstGeom>
        </p:spPr>
        <p:txBody>
          <a:bodyPr wrap="square">
            <a:spAutoFit/>
          </a:bodyPr>
          <a:lstStyle/>
          <a:p>
            <a:pPr lvl="1"/>
            <a:r>
              <a:rPr lang="en-US" b="1" dirty="0">
                <a:solidFill>
                  <a:srgbClr val="0000FF"/>
                </a:solidFill>
                <a:latin typeface="Consolas" panose="020B0609020204030204" pitchFamily="49" charset="0"/>
              </a:rPr>
              <a:t>class</a:t>
            </a:r>
            <a:r>
              <a:rPr lang="en-US" b="1" dirty="0">
                <a:latin typeface="Consolas" panose="020B0609020204030204" pitchFamily="49" charset="0"/>
              </a:rPr>
              <a:t> Grid { </a:t>
            </a:r>
          </a:p>
          <a:p>
            <a:pPr lvl="1"/>
            <a:r>
              <a:rPr lang="en-US" b="1" dirty="0">
                <a:solidFill>
                  <a:srgbClr val="0000FF"/>
                </a:solidFill>
                <a:latin typeface="Consolas" panose="020B0609020204030204" pitchFamily="49" charset="0"/>
              </a:rPr>
              <a:t>	static</a:t>
            </a:r>
            <a:r>
              <a:rPr lang="en-US" b="1" dirty="0">
                <a:latin typeface="Consolas" panose="020B0609020204030204" pitchFamily="49" charset="0"/>
              </a:rPr>
              <a:t> origin = {x: 0, y: 0}; </a:t>
            </a:r>
          </a:p>
          <a:p>
            <a:pPr lvl="1"/>
            <a:endParaRPr lang="en-US" b="1" dirty="0">
              <a:latin typeface="Consolas" panose="020B0609020204030204" pitchFamily="49" charset="0"/>
            </a:endParaRPr>
          </a:p>
          <a:p>
            <a:pPr lvl="1"/>
            <a:r>
              <a:rPr lang="en-US" b="1" dirty="0">
                <a:latin typeface="Consolas" panose="020B0609020204030204" pitchFamily="49" charset="0"/>
              </a:rPr>
              <a:t>	</a:t>
            </a:r>
            <a:r>
              <a:rPr lang="en-US" b="1" dirty="0" err="1">
                <a:latin typeface="Consolas" panose="020B0609020204030204" pitchFamily="49" charset="0"/>
              </a:rPr>
              <a:t>calculateDistanceFromOrigin</a:t>
            </a:r>
            <a:r>
              <a:rPr lang="en-US" b="1" dirty="0">
                <a:latin typeface="Consolas" panose="020B0609020204030204" pitchFamily="49" charset="0"/>
              </a:rPr>
              <a:t>(point: {x: number; y: number;}) { </a:t>
            </a:r>
          </a:p>
          <a:p>
            <a:pPr lvl="1"/>
            <a:r>
              <a:rPr lang="en-US" b="1" dirty="0">
                <a:solidFill>
                  <a:srgbClr val="0000FF"/>
                </a:solidFill>
                <a:latin typeface="Consolas" panose="020B0609020204030204" pitchFamily="49" charset="0"/>
              </a:rPr>
              <a:t>		</a:t>
            </a:r>
            <a:r>
              <a:rPr lang="en-US" b="1" dirty="0" err="1">
                <a:solidFill>
                  <a:srgbClr val="0000FF"/>
                </a:solidFill>
                <a:latin typeface="Consolas" panose="020B0609020204030204" pitchFamily="49" charset="0"/>
              </a:rPr>
              <a:t>var</a:t>
            </a:r>
            <a:r>
              <a:rPr lang="en-US" b="1" dirty="0">
                <a:latin typeface="Consolas" panose="020B0609020204030204" pitchFamily="49" charset="0"/>
              </a:rPr>
              <a:t> </a:t>
            </a:r>
            <a:r>
              <a:rPr lang="en-US" b="1" dirty="0" err="1">
                <a:latin typeface="Consolas" panose="020B0609020204030204" pitchFamily="49" charset="0"/>
              </a:rPr>
              <a:t>xDist</a:t>
            </a:r>
            <a:r>
              <a:rPr lang="en-US" b="1" dirty="0">
                <a:latin typeface="Consolas" panose="020B0609020204030204" pitchFamily="49" charset="0"/>
              </a:rPr>
              <a:t> = (</a:t>
            </a:r>
            <a:r>
              <a:rPr lang="en-US" b="1" dirty="0" err="1">
                <a:latin typeface="Consolas" panose="020B0609020204030204" pitchFamily="49" charset="0"/>
              </a:rPr>
              <a:t>point.x</a:t>
            </a:r>
            <a:r>
              <a:rPr lang="en-US" b="1" dirty="0">
                <a:latin typeface="Consolas" panose="020B0609020204030204" pitchFamily="49" charset="0"/>
              </a:rPr>
              <a:t> - </a:t>
            </a:r>
            <a:r>
              <a:rPr lang="en-US" b="1" dirty="0" err="1">
                <a:latin typeface="Consolas" panose="020B0609020204030204" pitchFamily="49" charset="0"/>
              </a:rPr>
              <a:t>Grid.origin.x</a:t>
            </a:r>
            <a:r>
              <a:rPr lang="en-US" b="1" dirty="0">
                <a:latin typeface="Consolas" panose="020B0609020204030204" pitchFamily="49" charset="0"/>
              </a:rPr>
              <a:t>); </a:t>
            </a:r>
          </a:p>
          <a:p>
            <a:pPr lvl="1"/>
            <a:r>
              <a:rPr lang="en-US" b="1" dirty="0">
                <a:solidFill>
                  <a:srgbClr val="0000FF"/>
                </a:solidFill>
                <a:latin typeface="Consolas" panose="020B0609020204030204" pitchFamily="49" charset="0"/>
              </a:rPr>
              <a:t>		</a:t>
            </a:r>
            <a:r>
              <a:rPr lang="en-US" b="1" dirty="0" err="1">
                <a:solidFill>
                  <a:srgbClr val="0000FF"/>
                </a:solidFill>
                <a:latin typeface="Consolas" panose="020B0609020204030204" pitchFamily="49" charset="0"/>
              </a:rPr>
              <a:t>var</a:t>
            </a:r>
            <a:r>
              <a:rPr lang="en-US" b="1" dirty="0">
                <a:latin typeface="Consolas" panose="020B0609020204030204" pitchFamily="49" charset="0"/>
              </a:rPr>
              <a:t> </a:t>
            </a:r>
            <a:r>
              <a:rPr lang="en-US" b="1" dirty="0" err="1">
                <a:latin typeface="Consolas" panose="020B0609020204030204" pitchFamily="49" charset="0"/>
              </a:rPr>
              <a:t>yDist</a:t>
            </a:r>
            <a:r>
              <a:rPr lang="en-US" b="1" dirty="0">
                <a:latin typeface="Consolas" panose="020B0609020204030204" pitchFamily="49" charset="0"/>
              </a:rPr>
              <a:t> = (</a:t>
            </a:r>
            <a:r>
              <a:rPr lang="en-US" b="1" dirty="0" err="1">
                <a:latin typeface="Consolas" panose="020B0609020204030204" pitchFamily="49" charset="0"/>
              </a:rPr>
              <a:t>point.y</a:t>
            </a:r>
            <a:r>
              <a:rPr lang="en-US" b="1" dirty="0">
                <a:latin typeface="Consolas" panose="020B0609020204030204" pitchFamily="49" charset="0"/>
              </a:rPr>
              <a:t> - </a:t>
            </a:r>
            <a:r>
              <a:rPr lang="en-US" b="1" dirty="0" err="1">
                <a:latin typeface="Consolas" panose="020B0609020204030204" pitchFamily="49" charset="0"/>
              </a:rPr>
              <a:t>Grid.origin.y</a:t>
            </a:r>
            <a:r>
              <a:rPr lang="en-US" b="1" dirty="0">
                <a:latin typeface="Consolas" panose="020B0609020204030204" pitchFamily="49" charset="0"/>
              </a:rPr>
              <a:t>); </a:t>
            </a:r>
          </a:p>
          <a:p>
            <a:pPr lvl="1"/>
            <a:r>
              <a:rPr lang="en-US" b="1" dirty="0">
                <a:solidFill>
                  <a:srgbClr val="0000FF"/>
                </a:solidFill>
                <a:latin typeface="Consolas" panose="020B0609020204030204" pitchFamily="49" charset="0"/>
              </a:rPr>
              <a:t>		return</a:t>
            </a:r>
            <a:r>
              <a:rPr lang="en-US" b="1" dirty="0">
                <a:latin typeface="Consolas" panose="020B0609020204030204" pitchFamily="49" charset="0"/>
              </a:rPr>
              <a:t> </a:t>
            </a:r>
            <a:r>
              <a:rPr lang="en-US" b="1" dirty="0" err="1">
                <a:latin typeface="Consolas" panose="020B0609020204030204" pitchFamily="49" charset="0"/>
              </a:rPr>
              <a:t>Math.sqrt</a:t>
            </a:r>
            <a:r>
              <a:rPr lang="en-US" b="1" dirty="0">
                <a:latin typeface="Consolas" panose="020B0609020204030204" pitchFamily="49" charset="0"/>
              </a:rPr>
              <a:t>(</a:t>
            </a:r>
            <a:r>
              <a:rPr lang="en-US" b="1" dirty="0" err="1">
                <a:latin typeface="Consolas" panose="020B0609020204030204" pitchFamily="49" charset="0"/>
              </a:rPr>
              <a:t>xDist</a:t>
            </a:r>
            <a:r>
              <a:rPr lang="en-US" b="1" dirty="0">
                <a:latin typeface="Consolas" panose="020B0609020204030204" pitchFamily="49" charset="0"/>
              </a:rPr>
              <a:t> * </a:t>
            </a:r>
            <a:r>
              <a:rPr lang="en-US" b="1" dirty="0" err="1">
                <a:latin typeface="Consolas" panose="020B0609020204030204" pitchFamily="49" charset="0"/>
              </a:rPr>
              <a:t>xDist</a:t>
            </a:r>
            <a:r>
              <a:rPr lang="en-US" b="1" dirty="0">
                <a:latin typeface="Consolas" panose="020B0609020204030204" pitchFamily="49" charset="0"/>
              </a:rPr>
              <a:t> + </a:t>
            </a:r>
            <a:r>
              <a:rPr lang="en-US" b="1" dirty="0" err="1">
                <a:latin typeface="Consolas" panose="020B0609020204030204" pitchFamily="49" charset="0"/>
              </a:rPr>
              <a:t>yDist</a:t>
            </a:r>
            <a:r>
              <a:rPr lang="en-US" b="1" dirty="0">
                <a:latin typeface="Consolas" panose="020B0609020204030204" pitchFamily="49" charset="0"/>
              </a:rPr>
              <a:t> * </a:t>
            </a:r>
            <a:r>
              <a:rPr lang="en-US" b="1" dirty="0" err="1">
                <a:latin typeface="Consolas" panose="020B0609020204030204" pitchFamily="49" charset="0"/>
              </a:rPr>
              <a:t>yDist</a:t>
            </a:r>
            <a:r>
              <a:rPr lang="en-US" b="1" dirty="0">
                <a:latin typeface="Consolas" panose="020B0609020204030204" pitchFamily="49" charset="0"/>
              </a:rPr>
              <a:t>) / </a:t>
            </a:r>
            <a:r>
              <a:rPr lang="en-US" b="1" dirty="0" err="1">
                <a:solidFill>
                  <a:srgbClr val="0000FF"/>
                </a:solidFill>
                <a:latin typeface="Consolas" panose="020B0609020204030204" pitchFamily="49" charset="0"/>
              </a:rPr>
              <a:t>this</a:t>
            </a:r>
            <a:r>
              <a:rPr lang="en-US" b="1" dirty="0" err="1">
                <a:latin typeface="Consolas" panose="020B0609020204030204" pitchFamily="49" charset="0"/>
              </a:rPr>
              <a:t>.scale</a:t>
            </a:r>
            <a:r>
              <a:rPr lang="en-US" b="1" dirty="0">
                <a:latin typeface="Consolas" panose="020B0609020204030204" pitchFamily="49" charset="0"/>
              </a:rPr>
              <a:t>; </a:t>
            </a:r>
          </a:p>
          <a:p>
            <a:pPr lvl="1"/>
            <a:r>
              <a:rPr lang="en-US" b="1" dirty="0">
                <a:latin typeface="Consolas" panose="020B0609020204030204" pitchFamily="49" charset="0"/>
              </a:rPr>
              <a:t>	} </a:t>
            </a:r>
          </a:p>
          <a:p>
            <a:pPr lvl="1"/>
            <a:endParaRPr lang="en-US" b="1" dirty="0">
              <a:latin typeface="Consolas" panose="020B0609020204030204" pitchFamily="49" charset="0"/>
            </a:endParaRPr>
          </a:p>
          <a:p>
            <a:pPr lvl="1"/>
            <a:r>
              <a:rPr lang="en-US" b="1" dirty="0">
                <a:latin typeface="Consolas" panose="020B0609020204030204" pitchFamily="49" charset="0"/>
              </a:rPr>
              <a:t>	constructor (</a:t>
            </a:r>
            <a:r>
              <a:rPr lang="en-US" b="1" dirty="0">
                <a:solidFill>
                  <a:srgbClr val="0000FF"/>
                </a:solidFill>
                <a:latin typeface="Consolas" panose="020B0609020204030204" pitchFamily="49" charset="0"/>
              </a:rPr>
              <a:t>public</a:t>
            </a:r>
            <a:r>
              <a:rPr lang="en-US" b="1" dirty="0">
                <a:latin typeface="Consolas" panose="020B0609020204030204" pitchFamily="49" charset="0"/>
              </a:rPr>
              <a:t> scale: number) { } </a:t>
            </a:r>
          </a:p>
          <a:p>
            <a:pPr lvl="1"/>
            <a:r>
              <a:rPr lang="en-US" b="1" dirty="0">
                <a:latin typeface="Consolas" panose="020B0609020204030204" pitchFamily="49" charset="0"/>
              </a:rPr>
              <a:t>} </a:t>
            </a:r>
          </a:p>
          <a:p>
            <a:pPr lvl="1"/>
            <a:endParaRPr lang="en-US" b="1" dirty="0">
              <a:solidFill>
                <a:srgbClr val="0000FF"/>
              </a:solidFill>
              <a:latin typeface="Consolas" panose="020B0609020204030204" pitchFamily="49" charset="0"/>
            </a:endParaRPr>
          </a:p>
          <a:p>
            <a:pPr lvl="1"/>
            <a:r>
              <a:rPr lang="en-US" b="1" dirty="0" err="1">
                <a:solidFill>
                  <a:srgbClr val="0000FF"/>
                </a:solidFill>
                <a:latin typeface="Consolas" panose="020B0609020204030204" pitchFamily="49" charset="0"/>
              </a:rPr>
              <a:t>var</a:t>
            </a:r>
            <a:r>
              <a:rPr lang="en-US" b="1" dirty="0">
                <a:latin typeface="Consolas" panose="020B0609020204030204" pitchFamily="49" charset="0"/>
              </a:rPr>
              <a:t> grid1 = </a:t>
            </a:r>
            <a:r>
              <a:rPr lang="en-US" b="1" dirty="0">
                <a:solidFill>
                  <a:srgbClr val="0000FF"/>
                </a:solidFill>
                <a:latin typeface="Consolas" panose="020B0609020204030204" pitchFamily="49" charset="0"/>
              </a:rPr>
              <a:t>new</a:t>
            </a:r>
            <a:r>
              <a:rPr lang="en-US" b="1" dirty="0">
                <a:latin typeface="Consolas" panose="020B0609020204030204" pitchFamily="49" charset="0"/>
              </a:rPr>
              <a:t> Grid(1.0); </a:t>
            </a:r>
            <a:r>
              <a:rPr lang="en-US" b="1" dirty="0">
                <a:solidFill>
                  <a:srgbClr val="008000"/>
                </a:solidFill>
                <a:latin typeface="Consolas" panose="020B0609020204030204" pitchFamily="49" charset="0"/>
              </a:rPr>
              <a:t>// 1x scale</a:t>
            </a:r>
            <a:r>
              <a:rPr lang="en-US" b="1" dirty="0">
                <a:latin typeface="Consolas" panose="020B0609020204030204" pitchFamily="49" charset="0"/>
              </a:rPr>
              <a:t> </a:t>
            </a:r>
          </a:p>
          <a:p>
            <a:pPr lvl="1"/>
            <a:r>
              <a:rPr lang="en-US" b="1" dirty="0" err="1">
                <a:solidFill>
                  <a:srgbClr val="0000FF"/>
                </a:solidFill>
                <a:latin typeface="Consolas" panose="020B0609020204030204" pitchFamily="49" charset="0"/>
              </a:rPr>
              <a:t>var</a:t>
            </a:r>
            <a:r>
              <a:rPr lang="en-US" b="1" dirty="0">
                <a:latin typeface="Consolas" panose="020B0609020204030204" pitchFamily="49" charset="0"/>
              </a:rPr>
              <a:t> grid2 = </a:t>
            </a:r>
            <a:r>
              <a:rPr lang="en-US" b="1" dirty="0">
                <a:solidFill>
                  <a:srgbClr val="0000FF"/>
                </a:solidFill>
                <a:latin typeface="Consolas" panose="020B0609020204030204" pitchFamily="49" charset="0"/>
              </a:rPr>
              <a:t>new</a:t>
            </a:r>
            <a:r>
              <a:rPr lang="en-US" b="1" dirty="0">
                <a:latin typeface="Consolas" panose="020B0609020204030204" pitchFamily="49" charset="0"/>
              </a:rPr>
              <a:t> Grid(5.0); </a:t>
            </a:r>
            <a:r>
              <a:rPr lang="en-US" b="1" dirty="0">
                <a:solidFill>
                  <a:srgbClr val="008000"/>
                </a:solidFill>
                <a:latin typeface="Consolas" panose="020B0609020204030204" pitchFamily="49" charset="0"/>
              </a:rPr>
              <a:t>// 5x scale</a:t>
            </a:r>
            <a:r>
              <a:rPr lang="en-US" b="1" dirty="0">
                <a:latin typeface="Consolas" panose="020B0609020204030204" pitchFamily="49" charset="0"/>
              </a:rPr>
              <a:t> </a:t>
            </a:r>
          </a:p>
          <a:p>
            <a:pPr lvl="1"/>
            <a:r>
              <a:rPr lang="en-US" b="1" dirty="0">
                <a:latin typeface="Consolas" panose="020B0609020204030204" pitchFamily="49" charset="0"/>
              </a:rPr>
              <a:t>alert(grid1.calculateDistanceFromOrigin({x: 10, y: 10})); </a:t>
            </a:r>
          </a:p>
          <a:p>
            <a:pPr lvl="1"/>
            <a:r>
              <a:rPr lang="en-US" b="1" dirty="0">
                <a:latin typeface="Consolas" panose="020B0609020204030204" pitchFamily="49" charset="0"/>
              </a:rPr>
              <a:t>alert(grid2.calculateDistanceFromOrigin({x: 10, y: 10}));</a:t>
            </a:r>
            <a:br>
              <a:rPr lang="en-US" b="1" dirty="0">
                <a:latin typeface="Consolas" panose="020B0609020204030204" pitchFamily="49" charset="0"/>
              </a:rPr>
            </a:br>
            <a:endParaRPr lang="ru-RU" b="1" dirty="0">
              <a:latin typeface="Consolas" panose="020B0609020204030204" pitchFamily="49" charset="0"/>
            </a:endParaRPr>
          </a:p>
        </p:txBody>
      </p:sp>
    </p:spTree>
    <p:extLst>
      <p:ext uri="{BB962C8B-B14F-4D97-AF65-F5344CB8AC3E}">
        <p14:creationId xmlns:p14="http://schemas.microsoft.com/office/powerpoint/2010/main" val="203007525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азвание 1"/>
          <p:cNvSpPr>
            <a:spLocks noGrp="1"/>
          </p:cNvSpPr>
          <p:nvPr>
            <p:ph type="title"/>
          </p:nvPr>
        </p:nvSpPr>
        <p:spPr/>
        <p:txBody>
          <a:bodyPr/>
          <a:lstStyle/>
          <a:p>
            <a:pPr fontAlgn="base"/>
            <a:r>
              <a:rPr lang="en-US" dirty="0"/>
              <a:t>Constructor function</a:t>
            </a:r>
            <a:endParaRPr lang="ru-RU" dirty="0"/>
          </a:p>
        </p:txBody>
      </p:sp>
      <p:sp>
        <p:nvSpPr>
          <p:cNvPr id="5" name="Прямоугольник 4"/>
          <p:cNvSpPr/>
          <p:nvPr/>
        </p:nvSpPr>
        <p:spPr>
          <a:xfrm>
            <a:off x="531812" y="1257927"/>
            <a:ext cx="11413436" cy="5355312"/>
          </a:xfrm>
          <a:prstGeom prst="rect">
            <a:avLst/>
          </a:prstGeom>
        </p:spPr>
        <p:txBody>
          <a:bodyPr wrap="square">
            <a:spAutoFit/>
          </a:bodyPr>
          <a:lstStyle/>
          <a:p>
            <a:pPr lvl="1"/>
            <a:r>
              <a:rPr lang="en-US" b="1" dirty="0">
                <a:solidFill>
                  <a:srgbClr val="0000FF"/>
                </a:solidFill>
                <a:latin typeface="Consolas" panose="020B0609020204030204" pitchFamily="49" charset="0"/>
              </a:rPr>
              <a:t>class</a:t>
            </a:r>
            <a:r>
              <a:rPr lang="en-US" b="1" dirty="0">
                <a:latin typeface="Consolas" panose="020B0609020204030204" pitchFamily="49" charset="0"/>
              </a:rPr>
              <a:t> Greeter { </a:t>
            </a:r>
          </a:p>
          <a:p>
            <a:pPr lvl="1"/>
            <a:r>
              <a:rPr lang="en-US" b="1" dirty="0">
                <a:solidFill>
                  <a:srgbClr val="0000FF"/>
                </a:solidFill>
                <a:latin typeface="Consolas" panose="020B0609020204030204" pitchFamily="49" charset="0"/>
              </a:rPr>
              <a:t>	static</a:t>
            </a:r>
            <a:r>
              <a:rPr lang="en-US" b="1" dirty="0">
                <a:latin typeface="Consolas" panose="020B0609020204030204" pitchFamily="49" charset="0"/>
              </a:rPr>
              <a:t> </a:t>
            </a:r>
            <a:r>
              <a:rPr lang="en-US" b="1" dirty="0" err="1">
                <a:latin typeface="Consolas" panose="020B0609020204030204" pitchFamily="49" charset="0"/>
              </a:rPr>
              <a:t>standardGreeting</a:t>
            </a:r>
            <a:r>
              <a:rPr lang="en-US" b="1" dirty="0">
                <a:latin typeface="Consolas" panose="020B0609020204030204" pitchFamily="49" charset="0"/>
              </a:rPr>
              <a:t> = </a:t>
            </a:r>
            <a:r>
              <a:rPr lang="en-US" b="1" dirty="0">
                <a:solidFill>
                  <a:srgbClr val="A31515"/>
                </a:solidFill>
                <a:latin typeface="Consolas" panose="020B0609020204030204" pitchFamily="49" charset="0"/>
              </a:rPr>
              <a:t>"Hello, there"</a:t>
            </a:r>
            <a:r>
              <a:rPr lang="en-US" b="1" dirty="0">
                <a:latin typeface="Consolas" panose="020B0609020204030204" pitchFamily="49" charset="0"/>
              </a:rPr>
              <a:t>; </a:t>
            </a:r>
          </a:p>
          <a:p>
            <a:pPr lvl="1"/>
            <a:r>
              <a:rPr lang="en-US" b="1" dirty="0">
                <a:latin typeface="Consolas" panose="020B0609020204030204" pitchFamily="49" charset="0"/>
              </a:rPr>
              <a:t>	greeting: string; </a:t>
            </a:r>
          </a:p>
          <a:p>
            <a:pPr lvl="1"/>
            <a:r>
              <a:rPr lang="en-US" b="1" dirty="0">
                <a:latin typeface="Consolas" panose="020B0609020204030204" pitchFamily="49" charset="0"/>
              </a:rPr>
              <a:t>	</a:t>
            </a:r>
          </a:p>
          <a:p>
            <a:pPr lvl="1"/>
            <a:r>
              <a:rPr lang="en-US" b="1" dirty="0">
                <a:latin typeface="Consolas" panose="020B0609020204030204" pitchFamily="49" charset="0"/>
              </a:rPr>
              <a:t>	greet() { </a:t>
            </a:r>
          </a:p>
          <a:p>
            <a:pPr lvl="1"/>
            <a:r>
              <a:rPr lang="en-US" b="1" dirty="0">
                <a:solidFill>
                  <a:srgbClr val="0000FF"/>
                </a:solidFill>
                <a:latin typeface="Consolas" panose="020B0609020204030204" pitchFamily="49" charset="0"/>
              </a:rPr>
              <a:t>		if</a:t>
            </a:r>
            <a:r>
              <a:rPr lang="en-US" b="1" dirty="0">
                <a:latin typeface="Consolas" panose="020B0609020204030204" pitchFamily="49" charset="0"/>
              </a:rPr>
              <a:t> (</a:t>
            </a:r>
            <a:r>
              <a:rPr lang="en-US" b="1" dirty="0" err="1">
                <a:solidFill>
                  <a:srgbClr val="0000FF"/>
                </a:solidFill>
                <a:latin typeface="Consolas" panose="020B0609020204030204" pitchFamily="49" charset="0"/>
              </a:rPr>
              <a:t>this</a:t>
            </a:r>
            <a:r>
              <a:rPr lang="en-US" b="1" dirty="0" err="1">
                <a:latin typeface="Consolas" panose="020B0609020204030204" pitchFamily="49" charset="0"/>
              </a:rPr>
              <a:t>.greeting</a:t>
            </a:r>
            <a:r>
              <a:rPr lang="en-US" b="1" dirty="0">
                <a:latin typeface="Consolas" panose="020B0609020204030204" pitchFamily="49" charset="0"/>
              </a:rPr>
              <a:t>) { </a:t>
            </a:r>
            <a:r>
              <a:rPr lang="en-US" b="1" dirty="0">
                <a:solidFill>
                  <a:srgbClr val="0000FF"/>
                </a:solidFill>
                <a:latin typeface="Consolas" panose="020B0609020204030204" pitchFamily="49" charset="0"/>
              </a:rPr>
              <a:t>return</a:t>
            </a:r>
            <a:r>
              <a:rPr lang="en-US" b="1" dirty="0">
                <a:latin typeface="Consolas" panose="020B0609020204030204" pitchFamily="49" charset="0"/>
              </a:rPr>
              <a:t> </a:t>
            </a:r>
            <a:r>
              <a:rPr lang="en-US" b="1" dirty="0">
                <a:solidFill>
                  <a:srgbClr val="A31515"/>
                </a:solidFill>
                <a:latin typeface="Consolas" panose="020B0609020204030204" pitchFamily="49" charset="0"/>
              </a:rPr>
              <a:t>"Hello, "</a:t>
            </a:r>
            <a:r>
              <a:rPr lang="en-US" b="1" dirty="0">
                <a:latin typeface="Consolas" panose="020B0609020204030204" pitchFamily="49" charset="0"/>
              </a:rPr>
              <a:t> + </a:t>
            </a:r>
            <a:r>
              <a:rPr lang="en-US" b="1" dirty="0" err="1">
                <a:solidFill>
                  <a:srgbClr val="0000FF"/>
                </a:solidFill>
                <a:latin typeface="Consolas" panose="020B0609020204030204" pitchFamily="49" charset="0"/>
              </a:rPr>
              <a:t>this</a:t>
            </a:r>
            <a:r>
              <a:rPr lang="en-US" b="1" dirty="0" err="1">
                <a:latin typeface="Consolas" panose="020B0609020204030204" pitchFamily="49" charset="0"/>
              </a:rPr>
              <a:t>.greeting</a:t>
            </a:r>
            <a:r>
              <a:rPr lang="en-US" b="1" dirty="0">
                <a:latin typeface="Consolas" panose="020B0609020204030204" pitchFamily="49" charset="0"/>
              </a:rPr>
              <a:t>; } </a:t>
            </a:r>
          </a:p>
          <a:p>
            <a:pPr lvl="1"/>
            <a:r>
              <a:rPr lang="en-US" b="1" dirty="0">
                <a:solidFill>
                  <a:srgbClr val="0000FF"/>
                </a:solidFill>
                <a:latin typeface="Consolas" panose="020B0609020204030204" pitchFamily="49" charset="0"/>
              </a:rPr>
              <a:t>		else</a:t>
            </a:r>
            <a:r>
              <a:rPr lang="en-US" b="1" dirty="0">
                <a:latin typeface="Consolas" panose="020B0609020204030204" pitchFamily="49" charset="0"/>
              </a:rPr>
              <a:t> { </a:t>
            </a:r>
            <a:r>
              <a:rPr lang="en-US" b="1" dirty="0">
                <a:solidFill>
                  <a:srgbClr val="0000FF"/>
                </a:solidFill>
                <a:latin typeface="Consolas" panose="020B0609020204030204" pitchFamily="49" charset="0"/>
              </a:rPr>
              <a:t>return</a:t>
            </a:r>
            <a:r>
              <a:rPr lang="en-US" b="1" dirty="0">
                <a:latin typeface="Consolas" panose="020B0609020204030204" pitchFamily="49" charset="0"/>
              </a:rPr>
              <a:t> </a:t>
            </a:r>
            <a:r>
              <a:rPr lang="en-US" b="1" dirty="0" err="1">
                <a:latin typeface="Consolas" panose="020B0609020204030204" pitchFamily="49" charset="0"/>
              </a:rPr>
              <a:t>Greeter.standardGreeting</a:t>
            </a:r>
            <a:r>
              <a:rPr lang="en-US" b="1" dirty="0">
                <a:latin typeface="Consolas" panose="020B0609020204030204" pitchFamily="49" charset="0"/>
              </a:rPr>
              <a:t>; } </a:t>
            </a:r>
          </a:p>
          <a:p>
            <a:pPr lvl="1"/>
            <a:r>
              <a:rPr lang="en-US" b="1" dirty="0">
                <a:latin typeface="Consolas" panose="020B0609020204030204" pitchFamily="49" charset="0"/>
              </a:rPr>
              <a:t>	} </a:t>
            </a:r>
          </a:p>
          <a:p>
            <a:pPr lvl="1"/>
            <a:r>
              <a:rPr lang="en-US" b="1" dirty="0">
                <a:latin typeface="Consolas" panose="020B0609020204030204" pitchFamily="49" charset="0"/>
              </a:rPr>
              <a:t>} </a:t>
            </a:r>
          </a:p>
          <a:p>
            <a:pPr lvl="1"/>
            <a:endParaRPr lang="en-US" b="1" dirty="0">
              <a:solidFill>
                <a:srgbClr val="0000FF"/>
              </a:solidFill>
              <a:latin typeface="Consolas" panose="020B0609020204030204" pitchFamily="49" charset="0"/>
            </a:endParaRPr>
          </a:p>
          <a:p>
            <a:pPr lvl="1"/>
            <a:r>
              <a:rPr lang="en-US" b="1" dirty="0" err="1">
                <a:solidFill>
                  <a:srgbClr val="0000FF"/>
                </a:solidFill>
                <a:latin typeface="Consolas" panose="020B0609020204030204" pitchFamily="49" charset="0"/>
              </a:rPr>
              <a:t>var</a:t>
            </a:r>
            <a:r>
              <a:rPr lang="en-US" b="1" dirty="0">
                <a:latin typeface="Consolas" panose="020B0609020204030204" pitchFamily="49" charset="0"/>
              </a:rPr>
              <a:t> greeter1: Greeter; </a:t>
            </a:r>
          </a:p>
          <a:p>
            <a:pPr lvl="1"/>
            <a:r>
              <a:rPr lang="en-US" b="1" dirty="0">
                <a:latin typeface="Consolas" panose="020B0609020204030204" pitchFamily="49" charset="0"/>
              </a:rPr>
              <a:t>greeter1 = </a:t>
            </a:r>
            <a:r>
              <a:rPr lang="en-US" b="1" dirty="0">
                <a:solidFill>
                  <a:srgbClr val="0000FF"/>
                </a:solidFill>
                <a:latin typeface="Consolas" panose="020B0609020204030204" pitchFamily="49" charset="0"/>
              </a:rPr>
              <a:t>new</a:t>
            </a:r>
            <a:r>
              <a:rPr lang="en-US" b="1" dirty="0">
                <a:latin typeface="Consolas" panose="020B0609020204030204" pitchFamily="49" charset="0"/>
              </a:rPr>
              <a:t> Greeter(); </a:t>
            </a:r>
          </a:p>
          <a:p>
            <a:pPr lvl="1"/>
            <a:r>
              <a:rPr lang="en-US" b="1" dirty="0">
                <a:latin typeface="Consolas" panose="020B0609020204030204" pitchFamily="49" charset="0"/>
              </a:rPr>
              <a:t>alert(greeter1.greet()); </a:t>
            </a:r>
          </a:p>
          <a:p>
            <a:pPr lvl="1"/>
            <a:endParaRPr lang="en-US" b="1" dirty="0">
              <a:solidFill>
                <a:srgbClr val="0000FF"/>
              </a:solidFill>
              <a:latin typeface="Consolas" panose="020B0609020204030204" pitchFamily="49" charset="0"/>
            </a:endParaRPr>
          </a:p>
          <a:p>
            <a:pPr lvl="1"/>
            <a:r>
              <a:rPr lang="en-US" b="1" dirty="0" err="1">
                <a:solidFill>
                  <a:srgbClr val="0000FF"/>
                </a:solidFill>
                <a:latin typeface="Consolas" panose="020B0609020204030204" pitchFamily="49" charset="0"/>
              </a:rPr>
              <a:t>var</a:t>
            </a:r>
            <a:r>
              <a:rPr lang="en-US" b="1" dirty="0">
                <a:latin typeface="Consolas" panose="020B0609020204030204" pitchFamily="49" charset="0"/>
              </a:rPr>
              <a:t> </a:t>
            </a:r>
            <a:r>
              <a:rPr lang="en-US" b="1" dirty="0" err="1">
                <a:latin typeface="Consolas" panose="020B0609020204030204" pitchFamily="49" charset="0"/>
              </a:rPr>
              <a:t>greeterMaker</a:t>
            </a:r>
            <a:r>
              <a:rPr lang="en-US" b="1" dirty="0">
                <a:latin typeface="Consolas" panose="020B0609020204030204" pitchFamily="49" charset="0"/>
              </a:rPr>
              <a:t>: </a:t>
            </a:r>
            <a:r>
              <a:rPr lang="en-US" b="1" dirty="0" err="1">
                <a:solidFill>
                  <a:srgbClr val="0000FF"/>
                </a:solidFill>
                <a:latin typeface="Consolas" panose="020B0609020204030204" pitchFamily="49" charset="0"/>
              </a:rPr>
              <a:t>typeof</a:t>
            </a:r>
            <a:r>
              <a:rPr lang="en-US" b="1" dirty="0">
                <a:latin typeface="Consolas" panose="020B0609020204030204" pitchFamily="49" charset="0"/>
              </a:rPr>
              <a:t> Greeter = Greeter; </a:t>
            </a:r>
          </a:p>
          <a:p>
            <a:pPr lvl="1"/>
            <a:r>
              <a:rPr lang="en-US" b="1" dirty="0" err="1">
                <a:latin typeface="Consolas" panose="020B0609020204030204" pitchFamily="49" charset="0"/>
              </a:rPr>
              <a:t>greeterMaker.standardGreeting</a:t>
            </a:r>
            <a:r>
              <a:rPr lang="en-US" b="1" dirty="0">
                <a:latin typeface="Consolas" panose="020B0609020204030204" pitchFamily="49" charset="0"/>
              </a:rPr>
              <a:t> = </a:t>
            </a:r>
            <a:r>
              <a:rPr lang="en-US" b="1" dirty="0">
                <a:solidFill>
                  <a:srgbClr val="A31515"/>
                </a:solidFill>
                <a:latin typeface="Consolas" panose="020B0609020204030204" pitchFamily="49" charset="0"/>
              </a:rPr>
              <a:t>"Hey there!"</a:t>
            </a:r>
            <a:r>
              <a:rPr lang="en-US" b="1" dirty="0">
                <a:latin typeface="Consolas" panose="020B0609020204030204" pitchFamily="49" charset="0"/>
              </a:rPr>
              <a:t>; </a:t>
            </a:r>
          </a:p>
          <a:p>
            <a:pPr lvl="1"/>
            <a:r>
              <a:rPr lang="en-US" b="1" dirty="0" err="1">
                <a:solidFill>
                  <a:srgbClr val="0000FF"/>
                </a:solidFill>
                <a:latin typeface="Consolas" panose="020B0609020204030204" pitchFamily="49" charset="0"/>
              </a:rPr>
              <a:t>var</a:t>
            </a:r>
            <a:r>
              <a:rPr lang="en-US" b="1" dirty="0">
                <a:latin typeface="Consolas" panose="020B0609020204030204" pitchFamily="49" charset="0"/>
              </a:rPr>
              <a:t> greeter2:Greeter = </a:t>
            </a:r>
            <a:r>
              <a:rPr lang="en-US" b="1" dirty="0">
                <a:solidFill>
                  <a:srgbClr val="0000FF"/>
                </a:solidFill>
                <a:latin typeface="Consolas" panose="020B0609020204030204" pitchFamily="49" charset="0"/>
              </a:rPr>
              <a:t>new</a:t>
            </a:r>
            <a:r>
              <a:rPr lang="en-US" b="1" dirty="0">
                <a:latin typeface="Consolas" panose="020B0609020204030204" pitchFamily="49" charset="0"/>
              </a:rPr>
              <a:t> </a:t>
            </a:r>
            <a:r>
              <a:rPr lang="en-US" b="1" dirty="0" err="1">
                <a:latin typeface="Consolas" panose="020B0609020204030204" pitchFamily="49" charset="0"/>
              </a:rPr>
              <a:t>greeterMaker</a:t>
            </a:r>
            <a:r>
              <a:rPr lang="en-US" b="1" dirty="0">
                <a:latin typeface="Consolas" panose="020B0609020204030204" pitchFamily="49" charset="0"/>
              </a:rPr>
              <a:t>(); </a:t>
            </a:r>
          </a:p>
          <a:p>
            <a:pPr lvl="1"/>
            <a:r>
              <a:rPr lang="en-US" b="1" dirty="0">
                <a:latin typeface="Consolas" panose="020B0609020204030204" pitchFamily="49" charset="0"/>
              </a:rPr>
              <a:t>alert(greeter2.greet());</a:t>
            </a:r>
            <a:br>
              <a:rPr lang="en-US" b="1" dirty="0">
                <a:latin typeface="Consolas" panose="020B0609020204030204" pitchFamily="49" charset="0"/>
              </a:rPr>
            </a:br>
            <a:endParaRPr lang="ru-RU" b="1" dirty="0">
              <a:latin typeface="Consolas" panose="020B0609020204030204" pitchFamily="49" charset="0"/>
            </a:endParaRPr>
          </a:p>
        </p:txBody>
      </p:sp>
    </p:spTree>
    <p:extLst>
      <p:ext uri="{BB962C8B-B14F-4D97-AF65-F5344CB8AC3E}">
        <p14:creationId xmlns:p14="http://schemas.microsoft.com/office/powerpoint/2010/main" val="152789417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азвание 1"/>
          <p:cNvSpPr>
            <a:spLocks noGrp="1"/>
          </p:cNvSpPr>
          <p:nvPr>
            <p:ph type="title"/>
          </p:nvPr>
        </p:nvSpPr>
        <p:spPr/>
        <p:txBody>
          <a:bodyPr/>
          <a:lstStyle/>
          <a:p>
            <a:pPr fontAlgn="base"/>
            <a:r>
              <a:rPr lang="en-US" dirty="0"/>
              <a:t>Using a class as an interface</a:t>
            </a:r>
            <a:endParaRPr lang="ru-RU" dirty="0"/>
          </a:p>
        </p:txBody>
      </p:sp>
      <p:sp>
        <p:nvSpPr>
          <p:cNvPr id="5" name="Прямоугольник 4"/>
          <p:cNvSpPr/>
          <p:nvPr/>
        </p:nvSpPr>
        <p:spPr>
          <a:xfrm>
            <a:off x="379412" y="1295400"/>
            <a:ext cx="8898836" cy="2862322"/>
          </a:xfrm>
          <a:prstGeom prst="rect">
            <a:avLst/>
          </a:prstGeom>
        </p:spPr>
        <p:txBody>
          <a:bodyPr wrap="square">
            <a:spAutoFit/>
          </a:bodyPr>
          <a:lstStyle/>
          <a:p>
            <a:pPr lvl="1"/>
            <a:r>
              <a:rPr lang="en-US" b="1" dirty="0">
                <a:solidFill>
                  <a:srgbClr val="0000FF"/>
                </a:solidFill>
                <a:latin typeface="Consolas" panose="020B0609020204030204" pitchFamily="49" charset="0"/>
              </a:rPr>
              <a:t>class</a:t>
            </a:r>
            <a:r>
              <a:rPr lang="en-US" b="1" dirty="0">
                <a:latin typeface="Consolas" panose="020B0609020204030204" pitchFamily="49" charset="0"/>
              </a:rPr>
              <a:t> Point { </a:t>
            </a:r>
          </a:p>
          <a:p>
            <a:pPr lvl="1"/>
            <a:r>
              <a:rPr lang="en-US" b="1" dirty="0">
                <a:latin typeface="Consolas" panose="020B0609020204030204" pitchFamily="49" charset="0"/>
              </a:rPr>
              <a:t>	x: number; </a:t>
            </a:r>
          </a:p>
          <a:p>
            <a:pPr lvl="1"/>
            <a:r>
              <a:rPr lang="en-US" b="1" dirty="0">
                <a:latin typeface="Consolas" panose="020B0609020204030204" pitchFamily="49" charset="0"/>
              </a:rPr>
              <a:t>	y: number; </a:t>
            </a:r>
          </a:p>
          <a:p>
            <a:pPr lvl="1"/>
            <a:r>
              <a:rPr lang="en-US" b="1" dirty="0">
                <a:latin typeface="Consolas" panose="020B0609020204030204" pitchFamily="49" charset="0"/>
              </a:rPr>
              <a:t>} </a:t>
            </a:r>
          </a:p>
          <a:p>
            <a:pPr lvl="1"/>
            <a:endParaRPr lang="en-US" b="1" dirty="0">
              <a:solidFill>
                <a:srgbClr val="0000FF"/>
              </a:solidFill>
              <a:latin typeface="Consolas" panose="020B0609020204030204" pitchFamily="49" charset="0"/>
            </a:endParaRPr>
          </a:p>
          <a:p>
            <a:pPr lvl="1"/>
            <a:r>
              <a:rPr lang="en-US" b="1" dirty="0">
                <a:solidFill>
                  <a:srgbClr val="0000FF"/>
                </a:solidFill>
                <a:latin typeface="Consolas" panose="020B0609020204030204" pitchFamily="49" charset="0"/>
              </a:rPr>
              <a:t>interface</a:t>
            </a:r>
            <a:r>
              <a:rPr lang="en-US" b="1" dirty="0">
                <a:latin typeface="Consolas" panose="020B0609020204030204" pitchFamily="49" charset="0"/>
              </a:rPr>
              <a:t> Point3d </a:t>
            </a:r>
            <a:r>
              <a:rPr lang="en-US" b="1" dirty="0">
                <a:solidFill>
                  <a:srgbClr val="0000FF"/>
                </a:solidFill>
                <a:latin typeface="Consolas" panose="020B0609020204030204" pitchFamily="49" charset="0"/>
              </a:rPr>
              <a:t>extends</a:t>
            </a:r>
            <a:r>
              <a:rPr lang="en-US" b="1" dirty="0">
                <a:latin typeface="Consolas" panose="020B0609020204030204" pitchFamily="49" charset="0"/>
              </a:rPr>
              <a:t> Point { </a:t>
            </a:r>
          </a:p>
          <a:p>
            <a:pPr lvl="1"/>
            <a:r>
              <a:rPr lang="en-US" b="1" dirty="0">
                <a:latin typeface="Consolas" panose="020B0609020204030204" pitchFamily="49" charset="0"/>
              </a:rPr>
              <a:t>	z: number; </a:t>
            </a:r>
          </a:p>
          <a:p>
            <a:pPr lvl="1"/>
            <a:r>
              <a:rPr lang="en-US" b="1" dirty="0">
                <a:latin typeface="Consolas" panose="020B0609020204030204" pitchFamily="49" charset="0"/>
              </a:rPr>
              <a:t>} </a:t>
            </a:r>
          </a:p>
          <a:p>
            <a:pPr lvl="1"/>
            <a:endParaRPr lang="en-US" b="1" dirty="0">
              <a:solidFill>
                <a:srgbClr val="0000FF"/>
              </a:solidFill>
              <a:latin typeface="Consolas" panose="020B0609020204030204" pitchFamily="49" charset="0"/>
            </a:endParaRPr>
          </a:p>
          <a:p>
            <a:pPr lvl="1"/>
            <a:r>
              <a:rPr lang="en-US" b="1" dirty="0" err="1">
                <a:solidFill>
                  <a:srgbClr val="0000FF"/>
                </a:solidFill>
                <a:latin typeface="Consolas" panose="020B0609020204030204" pitchFamily="49" charset="0"/>
              </a:rPr>
              <a:t>var</a:t>
            </a:r>
            <a:r>
              <a:rPr lang="en-US" b="1" dirty="0">
                <a:latin typeface="Consolas" panose="020B0609020204030204" pitchFamily="49" charset="0"/>
              </a:rPr>
              <a:t> point3d: Point3d = {x: 1, y: 2, z: 3};</a:t>
            </a:r>
            <a:endParaRPr lang="ru-RU" b="1" dirty="0">
              <a:latin typeface="Consolas" panose="020B0609020204030204" pitchFamily="49" charset="0"/>
            </a:endParaRPr>
          </a:p>
        </p:txBody>
      </p:sp>
    </p:spTree>
    <p:extLst>
      <p:ext uri="{BB962C8B-B14F-4D97-AF65-F5344CB8AC3E}">
        <p14:creationId xmlns:p14="http://schemas.microsoft.com/office/powerpoint/2010/main" val="284105056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70018" name="Rectangle 2"/>
          <p:cNvSpPr>
            <a:spLocks noGrp="1" noChangeArrowheads="1"/>
          </p:cNvSpPr>
          <p:nvPr>
            <p:ph type="title"/>
          </p:nvPr>
        </p:nvSpPr>
        <p:spPr/>
        <p:txBody>
          <a:bodyPr>
            <a:normAutofit fontScale="90000"/>
          </a:bodyPr>
          <a:lstStyle/>
          <a:p>
            <a:pPr>
              <a:lnSpc>
                <a:spcPct val="100000"/>
              </a:lnSpc>
            </a:pPr>
            <a:r>
              <a:rPr lang="en-US" sz="3600" dirty="0"/>
              <a:t>Typescript: Adding classes</a:t>
            </a:r>
            <a:endParaRPr lang="en-US" sz="3600" dirty="0">
              <a:solidFill>
                <a:schemeClr val="accent1">
                  <a:lumMod val="60000"/>
                  <a:lumOff val="40000"/>
                </a:schemeClr>
              </a:solidFill>
            </a:endParaRPr>
          </a:p>
        </p:txBody>
      </p:sp>
      <p:sp>
        <p:nvSpPr>
          <p:cNvPr id="470019" name="Rectangle 3"/>
          <p:cNvSpPr>
            <a:spLocks noGrp="1" noChangeArrowheads="1"/>
          </p:cNvSpPr>
          <p:nvPr>
            <p:ph idx="4294967295"/>
          </p:nvPr>
        </p:nvSpPr>
        <p:spPr>
          <a:xfrm>
            <a:off x="0" y="881063"/>
            <a:ext cx="10134600" cy="5715000"/>
          </a:xfrm>
        </p:spPr>
        <p:txBody>
          <a:bodyPr>
            <a:normAutofit/>
          </a:bodyPr>
          <a:lstStyle/>
          <a:p>
            <a:pPr marL="0" indent="0">
              <a:lnSpc>
                <a:spcPct val="100000"/>
              </a:lnSpc>
              <a:buNone/>
            </a:pPr>
            <a:endParaRPr lang="en-US" sz="2800" dirty="0">
              <a:solidFill>
                <a:schemeClr val="accent1">
                  <a:lumMod val="60000"/>
                  <a:lumOff val="40000"/>
                </a:schemeClr>
              </a:solidFill>
            </a:endParaRPr>
          </a:p>
          <a:p>
            <a:pPr>
              <a:lnSpc>
                <a:spcPct val="100000"/>
              </a:lnSpc>
              <a:spcBef>
                <a:spcPts val="0"/>
              </a:spcBef>
              <a:spcAft>
                <a:spcPts val="0"/>
              </a:spcAft>
            </a:pPr>
            <a:endParaRPr lang="en-US" sz="2800" dirty="0">
              <a:solidFill>
                <a:schemeClr val="accent1">
                  <a:lumMod val="60000"/>
                  <a:lumOff val="40000"/>
                </a:schemeClr>
              </a:solidFill>
            </a:endParaRPr>
          </a:p>
        </p:txBody>
      </p:sp>
      <p:sp>
        <p:nvSpPr>
          <p:cNvPr id="5" name="Slide Number Placeholder 3"/>
          <p:cNvSpPr>
            <a:spLocks noGrp="1"/>
          </p:cNvSpPr>
          <p:nvPr>
            <p:ph type="sldNum" sz="quarter" idx="4294967295"/>
          </p:nvPr>
        </p:nvSpPr>
        <p:spPr>
          <a:xfrm>
            <a:off x="11731625" y="6553200"/>
            <a:ext cx="457200" cy="228600"/>
          </a:xfrm>
          <a:prstGeom prst="rect">
            <a:avLst/>
          </a:prstGeom>
        </p:spPr>
        <p:txBody>
          <a:bodyPr/>
          <a:lstStyle/>
          <a:p>
            <a:pPr>
              <a:defRPr/>
            </a:pPr>
            <a:fld id="{58452FF4-89E3-4D1B-9927-2DBDC00E58D7}" type="slidenum">
              <a:rPr lang="en-US" smtClean="0"/>
              <a:pPr>
                <a:defRPr/>
              </a:pPr>
              <a:t>74</a:t>
            </a:fld>
            <a:endParaRPr lang="en-US" dirty="0"/>
          </a:p>
        </p:txBody>
      </p:sp>
      <p:sp>
        <p:nvSpPr>
          <p:cNvPr id="6" name="Rectangle 4"/>
          <p:cNvSpPr>
            <a:spLocks noChangeArrowheads="1"/>
          </p:cNvSpPr>
          <p:nvPr/>
        </p:nvSpPr>
        <p:spPr bwMode="auto">
          <a:xfrm>
            <a:off x="418307" y="1378824"/>
            <a:ext cx="9599611" cy="5324535"/>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pPr>
            <a:r>
              <a:rPr lang="en-US" sz="2000" b="1" noProof="1">
                <a:solidFill>
                  <a:srgbClr val="FF0000"/>
                </a:solidFill>
                <a:latin typeface="Consolas" pitchFamily="49" charset="0"/>
                <a:cs typeface="Consolas" pitchFamily="49" charset="0"/>
              </a:rPr>
              <a:t>class</a:t>
            </a:r>
            <a:r>
              <a:rPr lang="en-US" sz="2000" b="1" noProof="1">
                <a:latin typeface="Consolas" pitchFamily="49" charset="0"/>
                <a:cs typeface="Consolas" pitchFamily="49" charset="0"/>
              </a:rPr>
              <a:t> Greeter {</a:t>
            </a:r>
          </a:p>
          <a:p>
            <a:pPr eaLnBrk="0" hangingPunct="0">
              <a:buClr>
                <a:schemeClr val="accent5">
                  <a:lumMod val="40000"/>
                  <a:lumOff val="60000"/>
                </a:schemeClr>
              </a:buClr>
              <a:buSzPct val="70000"/>
            </a:pPr>
            <a:r>
              <a:rPr lang="en-US" sz="2000" b="1" noProof="1">
                <a:latin typeface="Consolas" pitchFamily="49" charset="0"/>
                <a:cs typeface="Consolas" pitchFamily="49" charset="0"/>
              </a:rPr>
              <a:t>  private greeting: string;</a:t>
            </a:r>
          </a:p>
          <a:p>
            <a:pPr eaLnBrk="0" hangingPunct="0">
              <a:buClr>
                <a:schemeClr val="accent5">
                  <a:lumMod val="40000"/>
                  <a:lumOff val="60000"/>
                </a:schemeClr>
              </a:buClr>
              <a:buSzPct val="70000"/>
            </a:pPr>
            <a:endParaRPr lang="en-US" sz="2000" b="1" noProof="1">
              <a:latin typeface="Consolas" pitchFamily="49" charset="0"/>
              <a:cs typeface="Consolas" pitchFamily="49" charset="0"/>
            </a:endParaRPr>
          </a:p>
          <a:p>
            <a:pPr eaLnBrk="0" hangingPunct="0">
              <a:buClr>
                <a:schemeClr val="accent5">
                  <a:lumMod val="40000"/>
                  <a:lumOff val="60000"/>
                </a:schemeClr>
              </a:buClr>
              <a:buSzPct val="70000"/>
            </a:pPr>
            <a:r>
              <a:rPr lang="en-US" sz="2000" b="1" noProof="1">
                <a:latin typeface="Consolas" pitchFamily="49" charset="0"/>
                <a:cs typeface="Consolas" pitchFamily="49" charset="0"/>
              </a:rPr>
              <a:t>  </a:t>
            </a:r>
            <a:r>
              <a:rPr lang="en-US" sz="2000" b="1" noProof="1">
                <a:solidFill>
                  <a:srgbClr val="FF0000"/>
                </a:solidFill>
                <a:latin typeface="Consolas" pitchFamily="49" charset="0"/>
                <a:cs typeface="Consolas" pitchFamily="49" charset="0"/>
              </a:rPr>
              <a:t>constructor</a:t>
            </a:r>
            <a:r>
              <a:rPr lang="en-US" sz="2000" b="1" noProof="1">
                <a:latin typeface="Consolas" pitchFamily="49" charset="0"/>
                <a:cs typeface="Consolas" pitchFamily="49" charset="0"/>
              </a:rPr>
              <a:t> (greeting: string) {</a:t>
            </a:r>
          </a:p>
          <a:p>
            <a:pPr eaLnBrk="0" hangingPunct="0">
              <a:buClr>
                <a:schemeClr val="accent5">
                  <a:lumMod val="40000"/>
                  <a:lumOff val="60000"/>
                </a:schemeClr>
              </a:buClr>
              <a:buSzPct val="70000"/>
            </a:pPr>
            <a:r>
              <a:rPr lang="en-US" sz="2000" b="1" noProof="1">
                <a:latin typeface="Consolas" pitchFamily="49" charset="0"/>
                <a:cs typeface="Consolas" pitchFamily="49" charset="0"/>
              </a:rPr>
              <a:t>    this.greeting = greeting</a:t>
            </a:r>
          </a:p>
          <a:p>
            <a:pPr eaLnBrk="0" hangingPunct="0">
              <a:buClr>
                <a:schemeClr val="accent5">
                  <a:lumMod val="40000"/>
                  <a:lumOff val="60000"/>
                </a:schemeClr>
              </a:buClr>
              <a:buSzPct val="70000"/>
            </a:pPr>
            <a:r>
              <a:rPr lang="en-US" sz="2000" b="1" noProof="1">
                <a:latin typeface="Consolas" pitchFamily="49" charset="0"/>
                <a:cs typeface="Consolas" pitchFamily="49" charset="0"/>
              </a:rPr>
              <a:t>  }</a:t>
            </a:r>
          </a:p>
          <a:p>
            <a:pPr eaLnBrk="0" hangingPunct="0">
              <a:buClr>
                <a:schemeClr val="accent5">
                  <a:lumMod val="40000"/>
                  <a:lumOff val="60000"/>
                </a:schemeClr>
              </a:buClr>
              <a:buSzPct val="70000"/>
            </a:pPr>
            <a:endParaRPr lang="en-US" sz="2000" b="1" noProof="1">
              <a:latin typeface="Consolas" pitchFamily="49" charset="0"/>
              <a:cs typeface="Consolas" pitchFamily="49" charset="0"/>
            </a:endParaRPr>
          </a:p>
          <a:p>
            <a:pPr eaLnBrk="0" hangingPunct="0">
              <a:buClr>
                <a:schemeClr val="accent5">
                  <a:lumMod val="40000"/>
                  <a:lumOff val="60000"/>
                </a:schemeClr>
              </a:buClr>
              <a:buSzPct val="70000"/>
            </a:pPr>
            <a:r>
              <a:rPr lang="en-US" sz="2000" b="1" noProof="1">
                <a:latin typeface="Consolas" pitchFamily="49" charset="0"/>
                <a:cs typeface="Consolas" pitchFamily="49" charset="0"/>
              </a:rPr>
              <a:t>  greet () {</a:t>
            </a:r>
          </a:p>
          <a:p>
            <a:pPr eaLnBrk="0" hangingPunct="0">
              <a:buClr>
                <a:schemeClr val="accent5">
                  <a:lumMod val="40000"/>
                  <a:lumOff val="60000"/>
                </a:schemeClr>
              </a:buClr>
              <a:buSzPct val="70000"/>
            </a:pPr>
            <a:r>
              <a:rPr lang="en-US" sz="2000" b="1" noProof="1">
                <a:latin typeface="Consolas" pitchFamily="49" charset="0"/>
                <a:cs typeface="Consolas" pitchFamily="49" charset="0"/>
              </a:rPr>
              <a:t>    return 'Hello, ' + this.greeting</a:t>
            </a:r>
          </a:p>
          <a:p>
            <a:pPr eaLnBrk="0" hangingPunct="0">
              <a:buClr>
                <a:schemeClr val="accent5">
                  <a:lumMod val="40000"/>
                  <a:lumOff val="60000"/>
                </a:schemeClr>
              </a:buClr>
              <a:buSzPct val="70000"/>
            </a:pPr>
            <a:r>
              <a:rPr lang="en-US" sz="2000" b="1" noProof="1">
                <a:latin typeface="Consolas" pitchFamily="49" charset="0"/>
                <a:cs typeface="Consolas" pitchFamily="49" charset="0"/>
              </a:rPr>
              <a:t>  }</a:t>
            </a:r>
          </a:p>
          <a:p>
            <a:pPr eaLnBrk="0" hangingPunct="0">
              <a:buClr>
                <a:schemeClr val="accent5">
                  <a:lumMod val="40000"/>
                  <a:lumOff val="60000"/>
                </a:schemeClr>
              </a:buClr>
              <a:buSzPct val="70000"/>
            </a:pPr>
            <a:r>
              <a:rPr lang="en-US" sz="2000" b="1" noProof="1">
                <a:latin typeface="Consolas" pitchFamily="49" charset="0"/>
                <a:cs typeface="Consolas" pitchFamily="49" charset="0"/>
              </a:rPr>
              <a:t>}</a:t>
            </a:r>
          </a:p>
          <a:p>
            <a:pPr eaLnBrk="0" hangingPunct="0">
              <a:buClr>
                <a:schemeClr val="accent5">
                  <a:lumMod val="40000"/>
                  <a:lumOff val="60000"/>
                </a:schemeClr>
              </a:buClr>
              <a:buSzPct val="70000"/>
            </a:pPr>
            <a:endParaRPr lang="en-US" sz="2000" b="1" noProof="1">
              <a:latin typeface="Consolas" pitchFamily="49" charset="0"/>
              <a:cs typeface="Consolas" pitchFamily="49" charset="0"/>
            </a:endParaRPr>
          </a:p>
          <a:p>
            <a:pPr eaLnBrk="0" hangingPunct="0">
              <a:buClr>
                <a:schemeClr val="accent5">
                  <a:lumMod val="40000"/>
                  <a:lumOff val="60000"/>
                </a:schemeClr>
              </a:buClr>
              <a:buSzPct val="70000"/>
            </a:pPr>
            <a:r>
              <a:rPr lang="en-US" sz="2000" b="1" noProof="1">
                <a:latin typeface="Consolas" pitchFamily="49" charset="0"/>
                <a:cs typeface="Consolas" pitchFamily="49" charset="0"/>
              </a:rPr>
              <a:t>let greeter = new Greeter('world')</a:t>
            </a:r>
          </a:p>
          <a:p>
            <a:pPr eaLnBrk="0" hangingPunct="0">
              <a:buClr>
                <a:schemeClr val="accent5">
                  <a:lumMod val="40000"/>
                  <a:lumOff val="60000"/>
                </a:schemeClr>
              </a:buClr>
              <a:buSzPct val="70000"/>
            </a:pPr>
            <a:endParaRPr lang="en-US" sz="2000" b="1" noProof="1">
              <a:latin typeface="Consolas" pitchFamily="49" charset="0"/>
              <a:cs typeface="Consolas" pitchFamily="49" charset="0"/>
            </a:endParaRPr>
          </a:p>
          <a:p>
            <a:pPr eaLnBrk="0" hangingPunct="0">
              <a:buClr>
                <a:schemeClr val="accent5">
                  <a:lumMod val="40000"/>
                  <a:lumOff val="60000"/>
                </a:schemeClr>
              </a:buClr>
              <a:buSzPct val="70000"/>
            </a:pPr>
            <a:r>
              <a:rPr lang="en-US" sz="2000" b="1" noProof="1">
                <a:latin typeface="Consolas" pitchFamily="49" charset="0"/>
                <a:cs typeface="Consolas" pitchFamily="49" charset="0"/>
              </a:rPr>
              <a:t>let greeting = greeter.greet()</a:t>
            </a:r>
          </a:p>
          <a:p>
            <a:pPr eaLnBrk="0" hangingPunct="0">
              <a:buClr>
                <a:schemeClr val="accent5">
                  <a:lumMod val="40000"/>
                  <a:lumOff val="60000"/>
                </a:schemeClr>
              </a:buClr>
              <a:buSzPct val="70000"/>
            </a:pPr>
            <a:endParaRPr lang="en-US" sz="2000" b="1" noProof="1">
              <a:latin typeface="Consolas" pitchFamily="49" charset="0"/>
              <a:cs typeface="Consolas" pitchFamily="49" charset="0"/>
            </a:endParaRPr>
          </a:p>
          <a:p>
            <a:pPr eaLnBrk="0" hangingPunct="0">
              <a:buClr>
                <a:schemeClr val="accent5">
                  <a:lumMod val="40000"/>
                  <a:lumOff val="60000"/>
                </a:schemeClr>
              </a:buClr>
              <a:buSzPct val="70000"/>
            </a:pPr>
            <a:r>
              <a:rPr lang="en-US" sz="2000" b="1" noProof="1">
                <a:latin typeface="Consolas" pitchFamily="49" charset="0"/>
                <a:cs typeface="Consolas" pitchFamily="49" charset="0"/>
              </a:rPr>
              <a:t>console.log(greeting)</a:t>
            </a:r>
          </a:p>
        </p:txBody>
      </p:sp>
      <p:sp>
        <p:nvSpPr>
          <p:cNvPr id="7" name="Rectángulo 6">
            <a:extLst>
              <a:ext uri="{FF2B5EF4-FFF2-40B4-BE49-F238E27FC236}">
                <a16:creationId xmlns:a16="http://schemas.microsoft.com/office/drawing/2014/main" id="{AD5E6717-EBFD-443C-9B54-A7771885E053}"/>
              </a:ext>
            </a:extLst>
          </p:cNvPr>
          <p:cNvSpPr/>
          <p:nvPr/>
        </p:nvSpPr>
        <p:spPr>
          <a:xfrm>
            <a:off x="10436406" y="180232"/>
            <a:ext cx="1754006" cy="830997"/>
          </a:xfrm>
          <a:prstGeom prst="rect">
            <a:avLst/>
          </a:prstGeom>
        </p:spPr>
        <p:txBody>
          <a:bodyPr wrap="none">
            <a:spAutoFit/>
          </a:bodyPr>
          <a:lstStyle/>
          <a:p>
            <a:r>
              <a:rPr lang="en-US" sz="4800" b="1" dirty="0">
                <a:solidFill>
                  <a:srgbClr val="FF0000"/>
                </a:solidFill>
              </a:rPr>
              <a:t>LAB 3 </a:t>
            </a:r>
            <a:endParaRPr lang="es-ES" sz="4800" dirty="0">
              <a:solidFill>
                <a:srgbClr val="FF0000"/>
              </a:solidFill>
            </a:endParaRPr>
          </a:p>
        </p:txBody>
      </p:sp>
      <p:sp>
        <p:nvSpPr>
          <p:cNvPr id="8" name="Rectángulo 7">
            <a:extLst>
              <a:ext uri="{FF2B5EF4-FFF2-40B4-BE49-F238E27FC236}">
                <a16:creationId xmlns:a16="http://schemas.microsoft.com/office/drawing/2014/main" id="{DFE0835D-AA68-415C-9EA2-1D6352083394}"/>
              </a:ext>
            </a:extLst>
          </p:cNvPr>
          <p:cNvSpPr/>
          <p:nvPr/>
        </p:nvSpPr>
        <p:spPr>
          <a:xfrm>
            <a:off x="10366848" y="874318"/>
            <a:ext cx="1637436" cy="369332"/>
          </a:xfrm>
          <a:prstGeom prst="rect">
            <a:avLst/>
          </a:prstGeom>
        </p:spPr>
        <p:txBody>
          <a:bodyPr wrap="none">
            <a:spAutoFit/>
          </a:bodyPr>
          <a:lstStyle/>
          <a:p>
            <a:r>
              <a:rPr lang="es-ES" dirty="0"/>
              <a:t>C:\Labs\T1\EX3</a:t>
            </a:r>
          </a:p>
        </p:txBody>
      </p:sp>
    </p:spTree>
    <p:extLst>
      <p:ext uri="{BB962C8B-B14F-4D97-AF65-F5344CB8AC3E}">
        <p14:creationId xmlns:p14="http://schemas.microsoft.com/office/powerpoint/2010/main" val="228950769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938FE4C9-CE72-4BEE-B62C-4AB147C64D6B}"/>
              </a:ext>
            </a:extLst>
          </p:cNvPr>
          <p:cNvSpPr>
            <a:spLocks noGrp="1"/>
          </p:cNvSpPr>
          <p:nvPr>
            <p:ph type="title"/>
          </p:nvPr>
        </p:nvSpPr>
        <p:spPr/>
        <p:txBody>
          <a:bodyPr>
            <a:normAutofit fontScale="90000"/>
          </a:bodyPr>
          <a:lstStyle/>
          <a:p>
            <a:r>
              <a:rPr lang="es-ES" dirty="0"/>
              <a:t>Interfaces</a:t>
            </a:r>
          </a:p>
        </p:txBody>
      </p:sp>
      <p:sp>
        <p:nvSpPr>
          <p:cNvPr id="3" name="Marcador de contenido 2">
            <a:extLst>
              <a:ext uri="{FF2B5EF4-FFF2-40B4-BE49-F238E27FC236}">
                <a16:creationId xmlns:a16="http://schemas.microsoft.com/office/drawing/2014/main" id="{BA115BED-3AF6-483C-BB86-AA77D76175F9}"/>
              </a:ext>
            </a:extLst>
          </p:cNvPr>
          <p:cNvSpPr>
            <a:spLocks noGrp="1"/>
          </p:cNvSpPr>
          <p:nvPr>
            <p:ph idx="1"/>
          </p:nvPr>
        </p:nvSpPr>
        <p:spPr/>
        <p:txBody>
          <a:bodyPr>
            <a:normAutofit/>
          </a:bodyPr>
          <a:lstStyle/>
          <a:p>
            <a:r>
              <a:rPr lang="en-US" dirty="0"/>
              <a:t>If we were to write this type as an interface it would look like the following. </a:t>
            </a:r>
          </a:p>
          <a:p>
            <a:endParaRPr lang="en-US" dirty="0"/>
          </a:p>
          <a:p>
            <a:endParaRPr lang="en-US" dirty="0"/>
          </a:p>
          <a:p>
            <a:endParaRPr lang="en-US" dirty="0"/>
          </a:p>
          <a:p>
            <a:endParaRPr lang="en-US" dirty="0"/>
          </a:p>
          <a:p>
            <a:r>
              <a:rPr lang="en-US" dirty="0"/>
              <a:t>If we were to write out the function type declaration for the '</a:t>
            </a:r>
            <a:r>
              <a:rPr lang="en-US" dirty="0" err="1"/>
              <a:t>BankAccount</a:t>
            </a:r>
            <a:r>
              <a:rPr lang="en-US" dirty="0"/>
              <a:t>' constructor variable, it would have the following form. </a:t>
            </a:r>
            <a:br>
              <a:rPr lang="en-US" dirty="0"/>
            </a:br>
            <a:br>
              <a:rPr lang="en-US" dirty="0"/>
            </a:br>
            <a:endParaRPr lang="es-ES" dirty="0"/>
          </a:p>
        </p:txBody>
      </p:sp>
      <p:pic>
        <p:nvPicPr>
          <p:cNvPr id="9" name="Imagen 8">
            <a:extLst>
              <a:ext uri="{FF2B5EF4-FFF2-40B4-BE49-F238E27FC236}">
                <a16:creationId xmlns:a16="http://schemas.microsoft.com/office/drawing/2014/main" id="{7EE1B054-03D8-440A-9449-498D1A550AD8}"/>
              </a:ext>
            </a:extLst>
          </p:cNvPr>
          <p:cNvPicPr>
            <a:picLocks noChangeAspect="1"/>
          </p:cNvPicPr>
          <p:nvPr/>
        </p:nvPicPr>
        <p:blipFill>
          <a:blip r:embed="rId2"/>
          <a:stretch>
            <a:fillRect/>
          </a:stretch>
        </p:blipFill>
        <p:spPr>
          <a:xfrm>
            <a:off x="4208462" y="1752600"/>
            <a:ext cx="3771900" cy="1123950"/>
          </a:xfrm>
          <a:prstGeom prst="rect">
            <a:avLst/>
          </a:prstGeom>
        </p:spPr>
      </p:pic>
      <p:pic>
        <p:nvPicPr>
          <p:cNvPr id="10" name="Imagen 9">
            <a:extLst>
              <a:ext uri="{FF2B5EF4-FFF2-40B4-BE49-F238E27FC236}">
                <a16:creationId xmlns:a16="http://schemas.microsoft.com/office/drawing/2014/main" id="{6A4C5B48-8CFC-4802-99CF-4B76D8E45D50}"/>
              </a:ext>
            </a:extLst>
          </p:cNvPr>
          <p:cNvPicPr>
            <a:picLocks noChangeAspect="1"/>
          </p:cNvPicPr>
          <p:nvPr/>
        </p:nvPicPr>
        <p:blipFill>
          <a:blip r:embed="rId3"/>
          <a:stretch>
            <a:fillRect/>
          </a:stretch>
        </p:blipFill>
        <p:spPr>
          <a:xfrm>
            <a:off x="4122737" y="4471427"/>
            <a:ext cx="3943350" cy="466725"/>
          </a:xfrm>
          <a:prstGeom prst="rect">
            <a:avLst/>
          </a:prstGeom>
        </p:spPr>
      </p:pic>
    </p:spTree>
    <p:extLst>
      <p:ext uri="{BB962C8B-B14F-4D97-AF65-F5344CB8AC3E}">
        <p14:creationId xmlns:p14="http://schemas.microsoft.com/office/powerpoint/2010/main" val="299670087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азвание 1"/>
          <p:cNvSpPr>
            <a:spLocks noGrp="1"/>
          </p:cNvSpPr>
          <p:nvPr>
            <p:ph type="title"/>
          </p:nvPr>
        </p:nvSpPr>
        <p:spPr/>
        <p:txBody>
          <a:bodyPr/>
          <a:lstStyle/>
          <a:p>
            <a:r>
              <a:rPr lang="en-US" dirty="0"/>
              <a:t>Interfaces</a:t>
            </a:r>
            <a:endParaRPr lang="ru-RU" dirty="0"/>
          </a:p>
        </p:txBody>
      </p:sp>
      <p:sp>
        <p:nvSpPr>
          <p:cNvPr id="5" name="Прямоугольник 4"/>
          <p:cNvSpPr/>
          <p:nvPr/>
        </p:nvSpPr>
        <p:spPr>
          <a:xfrm>
            <a:off x="1598612" y="1371600"/>
            <a:ext cx="9079685" cy="4955203"/>
          </a:xfrm>
          <a:prstGeom prst="rect">
            <a:avLst/>
          </a:prstGeom>
        </p:spPr>
        <p:txBody>
          <a:bodyPr wrap="square">
            <a:spAutoFit/>
          </a:bodyPr>
          <a:lstStyle/>
          <a:p>
            <a:r>
              <a:rPr lang="en-US" b="1" dirty="0">
                <a:solidFill>
                  <a:schemeClr val="accent2"/>
                </a:solidFill>
                <a:latin typeface="Consolas" panose="020B0609020204030204" pitchFamily="49" charset="0"/>
              </a:rPr>
              <a:t>Define right in place:</a:t>
            </a:r>
          </a:p>
          <a:p>
            <a:endParaRPr lang="en-US" sz="500" b="1" dirty="0">
              <a:solidFill>
                <a:srgbClr val="0000FF"/>
              </a:solidFill>
              <a:latin typeface="Consolas" panose="020B0609020204030204" pitchFamily="49" charset="0"/>
            </a:endParaRPr>
          </a:p>
          <a:p>
            <a:pPr lvl="1"/>
            <a:r>
              <a:rPr lang="en-US" b="1" dirty="0">
                <a:solidFill>
                  <a:srgbClr val="0000FF"/>
                </a:solidFill>
                <a:latin typeface="Consolas" panose="020B0609020204030204" pitchFamily="49" charset="0"/>
              </a:rPr>
              <a:t>function</a:t>
            </a:r>
            <a:r>
              <a:rPr lang="en-US" b="1" dirty="0">
                <a:solidFill>
                  <a:srgbClr val="000000"/>
                </a:solidFill>
                <a:latin typeface="Consolas" panose="020B0609020204030204" pitchFamily="49" charset="0"/>
              </a:rPr>
              <a:t> </a:t>
            </a:r>
            <a:r>
              <a:rPr lang="en-US" b="1" dirty="0" err="1">
                <a:solidFill>
                  <a:srgbClr val="000000"/>
                </a:solidFill>
                <a:latin typeface="Consolas" panose="020B0609020204030204" pitchFamily="49" charset="0"/>
              </a:rPr>
              <a:t>printLabel</a:t>
            </a:r>
            <a:r>
              <a:rPr lang="en-US" b="1" dirty="0">
                <a:solidFill>
                  <a:srgbClr val="000000"/>
                </a:solidFill>
                <a:latin typeface="Consolas" panose="020B0609020204030204" pitchFamily="49" charset="0"/>
              </a:rPr>
              <a:t>(</a:t>
            </a:r>
            <a:r>
              <a:rPr lang="en-US" b="1" dirty="0" err="1">
                <a:solidFill>
                  <a:srgbClr val="000000"/>
                </a:solidFill>
                <a:latin typeface="Consolas" panose="020B0609020204030204" pitchFamily="49" charset="0"/>
              </a:rPr>
              <a:t>labelledObj</a:t>
            </a:r>
            <a:r>
              <a:rPr lang="en-US" b="1" dirty="0">
                <a:solidFill>
                  <a:srgbClr val="000000"/>
                </a:solidFill>
                <a:latin typeface="Consolas" panose="020B0609020204030204" pitchFamily="49" charset="0"/>
              </a:rPr>
              <a:t>: {label: string}) { 	console.log(</a:t>
            </a:r>
            <a:r>
              <a:rPr lang="en-US" b="1" dirty="0" err="1">
                <a:solidFill>
                  <a:srgbClr val="000000"/>
                </a:solidFill>
                <a:latin typeface="Consolas" panose="020B0609020204030204" pitchFamily="49" charset="0"/>
              </a:rPr>
              <a:t>labelledObj.label</a:t>
            </a:r>
            <a:r>
              <a:rPr lang="en-US" b="1" dirty="0">
                <a:solidFill>
                  <a:srgbClr val="000000"/>
                </a:solidFill>
                <a:latin typeface="Consolas" panose="020B0609020204030204" pitchFamily="49" charset="0"/>
              </a:rPr>
              <a:t>); </a:t>
            </a:r>
          </a:p>
          <a:p>
            <a:pPr lvl="1"/>
            <a:r>
              <a:rPr lang="en-US" b="1" dirty="0">
                <a:solidFill>
                  <a:srgbClr val="000000"/>
                </a:solidFill>
                <a:latin typeface="Consolas" panose="020B0609020204030204" pitchFamily="49" charset="0"/>
              </a:rPr>
              <a:t>} </a:t>
            </a:r>
          </a:p>
          <a:p>
            <a:pPr lvl="1"/>
            <a:endParaRPr lang="en-US" b="1" dirty="0">
              <a:solidFill>
                <a:srgbClr val="000000"/>
              </a:solidFill>
              <a:latin typeface="Consolas" panose="020B0609020204030204" pitchFamily="49" charset="0"/>
            </a:endParaRPr>
          </a:p>
          <a:p>
            <a:pPr lvl="1"/>
            <a:r>
              <a:rPr lang="en-US" b="1" dirty="0" err="1">
                <a:solidFill>
                  <a:srgbClr val="0000FF"/>
                </a:solidFill>
                <a:latin typeface="Consolas" panose="020B0609020204030204" pitchFamily="49" charset="0"/>
              </a:rPr>
              <a:t>var</a:t>
            </a:r>
            <a:r>
              <a:rPr lang="en-US" b="1" dirty="0">
                <a:solidFill>
                  <a:srgbClr val="000000"/>
                </a:solidFill>
                <a:latin typeface="Consolas" panose="020B0609020204030204" pitchFamily="49" charset="0"/>
              </a:rPr>
              <a:t> </a:t>
            </a:r>
            <a:r>
              <a:rPr lang="en-US" b="1" dirty="0" err="1">
                <a:solidFill>
                  <a:srgbClr val="000000"/>
                </a:solidFill>
                <a:latin typeface="Consolas" panose="020B0609020204030204" pitchFamily="49" charset="0"/>
              </a:rPr>
              <a:t>myObj</a:t>
            </a:r>
            <a:r>
              <a:rPr lang="en-US" b="1" dirty="0">
                <a:solidFill>
                  <a:srgbClr val="000000"/>
                </a:solidFill>
                <a:latin typeface="Consolas" panose="020B0609020204030204" pitchFamily="49" charset="0"/>
              </a:rPr>
              <a:t> = {size: 10, label: </a:t>
            </a:r>
            <a:r>
              <a:rPr lang="en-US" b="1" dirty="0">
                <a:solidFill>
                  <a:srgbClr val="A31515"/>
                </a:solidFill>
                <a:latin typeface="Consolas" panose="020B0609020204030204" pitchFamily="49" charset="0"/>
              </a:rPr>
              <a:t>"Size 10 Object"</a:t>
            </a:r>
            <a:r>
              <a:rPr lang="en-US" b="1" dirty="0">
                <a:solidFill>
                  <a:srgbClr val="000000"/>
                </a:solidFill>
                <a:latin typeface="Consolas" panose="020B0609020204030204" pitchFamily="49" charset="0"/>
              </a:rPr>
              <a:t>}; </a:t>
            </a:r>
            <a:r>
              <a:rPr lang="en-US" b="1" dirty="0" err="1">
                <a:solidFill>
                  <a:srgbClr val="000000"/>
                </a:solidFill>
                <a:latin typeface="Consolas" panose="020B0609020204030204" pitchFamily="49" charset="0"/>
              </a:rPr>
              <a:t>printLabel</a:t>
            </a:r>
            <a:r>
              <a:rPr lang="en-US" b="1" dirty="0">
                <a:solidFill>
                  <a:srgbClr val="000000"/>
                </a:solidFill>
                <a:latin typeface="Consolas" panose="020B0609020204030204" pitchFamily="49" charset="0"/>
              </a:rPr>
              <a:t>(</a:t>
            </a:r>
            <a:r>
              <a:rPr lang="en-US" b="1" dirty="0" err="1">
                <a:solidFill>
                  <a:srgbClr val="000000"/>
                </a:solidFill>
                <a:latin typeface="Consolas" panose="020B0609020204030204" pitchFamily="49" charset="0"/>
              </a:rPr>
              <a:t>myObj</a:t>
            </a:r>
            <a:r>
              <a:rPr lang="en-US" b="1" dirty="0">
                <a:solidFill>
                  <a:srgbClr val="000000"/>
                </a:solidFill>
                <a:latin typeface="Consolas" panose="020B0609020204030204" pitchFamily="49" charset="0"/>
              </a:rPr>
              <a:t>); </a:t>
            </a:r>
          </a:p>
          <a:p>
            <a:endParaRPr lang="en-US" b="1" dirty="0">
              <a:latin typeface="Consolas" panose="020B0609020204030204" pitchFamily="49" charset="0"/>
            </a:endParaRPr>
          </a:p>
          <a:p>
            <a:endParaRPr lang="en-US" b="1" dirty="0">
              <a:latin typeface="Consolas" panose="020B0609020204030204" pitchFamily="49" charset="0"/>
            </a:endParaRPr>
          </a:p>
          <a:p>
            <a:r>
              <a:rPr lang="en-US" b="1" dirty="0">
                <a:solidFill>
                  <a:schemeClr val="accent2"/>
                </a:solidFill>
                <a:latin typeface="Consolas" panose="020B0609020204030204" pitchFamily="49" charset="0"/>
              </a:rPr>
              <a:t>Using interface keyword:</a:t>
            </a:r>
          </a:p>
          <a:p>
            <a:endParaRPr lang="en-US" sz="500" b="1" dirty="0">
              <a:latin typeface="Consolas" panose="020B0609020204030204" pitchFamily="49" charset="0"/>
            </a:endParaRPr>
          </a:p>
          <a:p>
            <a:pPr lvl="1"/>
            <a:r>
              <a:rPr lang="en-US" b="1" dirty="0">
                <a:solidFill>
                  <a:srgbClr val="0000FF"/>
                </a:solidFill>
                <a:latin typeface="Consolas" panose="020B0609020204030204" pitchFamily="49" charset="0"/>
              </a:rPr>
              <a:t>interface</a:t>
            </a:r>
            <a:r>
              <a:rPr lang="en-US" b="1" dirty="0">
                <a:latin typeface="Consolas" panose="020B0609020204030204" pitchFamily="49" charset="0"/>
              </a:rPr>
              <a:t> </a:t>
            </a:r>
            <a:r>
              <a:rPr lang="en-US" b="1" dirty="0" err="1">
                <a:latin typeface="Consolas" panose="020B0609020204030204" pitchFamily="49" charset="0"/>
              </a:rPr>
              <a:t>LabelledValue</a:t>
            </a:r>
            <a:r>
              <a:rPr lang="en-US" b="1" dirty="0">
                <a:latin typeface="Consolas" panose="020B0609020204030204" pitchFamily="49" charset="0"/>
              </a:rPr>
              <a:t> { </a:t>
            </a:r>
          </a:p>
          <a:p>
            <a:pPr lvl="1"/>
            <a:r>
              <a:rPr lang="en-US" b="1" dirty="0">
                <a:latin typeface="Consolas" panose="020B0609020204030204" pitchFamily="49" charset="0"/>
              </a:rPr>
              <a:t>	label: string; </a:t>
            </a:r>
          </a:p>
          <a:p>
            <a:pPr lvl="1"/>
            <a:r>
              <a:rPr lang="en-US" b="1" dirty="0">
                <a:latin typeface="Consolas" panose="020B0609020204030204" pitchFamily="49" charset="0"/>
              </a:rPr>
              <a:t>} </a:t>
            </a:r>
          </a:p>
          <a:p>
            <a:pPr lvl="1"/>
            <a:r>
              <a:rPr lang="en-US" b="1" dirty="0">
                <a:solidFill>
                  <a:srgbClr val="0000FF"/>
                </a:solidFill>
                <a:latin typeface="Consolas" panose="020B0609020204030204" pitchFamily="49" charset="0"/>
              </a:rPr>
              <a:t>function</a:t>
            </a:r>
            <a:r>
              <a:rPr lang="en-US" b="1" dirty="0">
                <a:latin typeface="Consolas" panose="020B0609020204030204" pitchFamily="49" charset="0"/>
              </a:rPr>
              <a:t> </a:t>
            </a:r>
            <a:r>
              <a:rPr lang="en-US" b="1" dirty="0" err="1">
                <a:latin typeface="Consolas" panose="020B0609020204030204" pitchFamily="49" charset="0"/>
              </a:rPr>
              <a:t>printLabel</a:t>
            </a:r>
            <a:r>
              <a:rPr lang="en-US" b="1" dirty="0">
                <a:latin typeface="Consolas" panose="020B0609020204030204" pitchFamily="49" charset="0"/>
              </a:rPr>
              <a:t>(</a:t>
            </a:r>
            <a:r>
              <a:rPr lang="en-US" b="1" dirty="0" err="1">
                <a:latin typeface="Consolas" panose="020B0609020204030204" pitchFamily="49" charset="0"/>
              </a:rPr>
              <a:t>labelledObj</a:t>
            </a:r>
            <a:r>
              <a:rPr lang="en-US" b="1" dirty="0">
                <a:latin typeface="Consolas" panose="020B0609020204030204" pitchFamily="49" charset="0"/>
              </a:rPr>
              <a:t>: </a:t>
            </a:r>
            <a:r>
              <a:rPr lang="en-US" b="1" dirty="0" err="1">
                <a:latin typeface="Consolas" panose="020B0609020204030204" pitchFamily="49" charset="0"/>
              </a:rPr>
              <a:t>LabelledValue</a:t>
            </a:r>
            <a:r>
              <a:rPr lang="en-US" b="1" dirty="0">
                <a:latin typeface="Consolas" panose="020B0609020204030204" pitchFamily="49" charset="0"/>
              </a:rPr>
              <a:t>) { 	console.log(</a:t>
            </a:r>
            <a:r>
              <a:rPr lang="en-US" b="1" dirty="0" err="1">
                <a:latin typeface="Consolas" panose="020B0609020204030204" pitchFamily="49" charset="0"/>
              </a:rPr>
              <a:t>labelledObj.label</a:t>
            </a:r>
            <a:r>
              <a:rPr lang="en-US" b="1" dirty="0">
                <a:latin typeface="Consolas" panose="020B0609020204030204" pitchFamily="49" charset="0"/>
              </a:rPr>
              <a:t>); </a:t>
            </a:r>
          </a:p>
          <a:p>
            <a:pPr lvl="1"/>
            <a:r>
              <a:rPr lang="en-US" b="1" dirty="0">
                <a:latin typeface="Consolas" panose="020B0609020204030204" pitchFamily="49" charset="0"/>
              </a:rPr>
              <a:t>} </a:t>
            </a:r>
          </a:p>
          <a:p>
            <a:pPr lvl="1"/>
            <a:r>
              <a:rPr lang="en-US" b="1" dirty="0" err="1">
                <a:solidFill>
                  <a:srgbClr val="0000FF"/>
                </a:solidFill>
                <a:latin typeface="Consolas" panose="020B0609020204030204" pitchFamily="49" charset="0"/>
              </a:rPr>
              <a:t>var</a:t>
            </a:r>
            <a:r>
              <a:rPr lang="en-US" b="1" dirty="0">
                <a:latin typeface="Consolas" panose="020B0609020204030204" pitchFamily="49" charset="0"/>
              </a:rPr>
              <a:t> </a:t>
            </a:r>
            <a:r>
              <a:rPr lang="en-US" b="1" dirty="0" err="1">
                <a:latin typeface="Consolas" panose="020B0609020204030204" pitchFamily="49" charset="0"/>
              </a:rPr>
              <a:t>myObj</a:t>
            </a:r>
            <a:r>
              <a:rPr lang="en-US" b="1" dirty="0">
                <a:latin typeface="Consolas" panose="020B0609020204030204" pitchFamily="49" charset="0"/>
              </a:rPr>
              <a:t> = {size: 10, label: </a:t>
            </a:r>
            <a:r>
              <a:rPr lang="en-US" b="1" dirty="0">
                <a:solidFill>
                  <a:srgbClr val="A31515"/>
                </a:solidFill>
                <a:latin typeface="Consolas" panose="020B0609020204030204" pitchFamily="49" charset="0"/>
              </a:rPr>
              <a:t>"Size 10 Object"</a:t>
            </a:r>
            <a:r>
              <a:rPr lang="en-US" b="1" dirty="0">
                <a:latin typeface="Consolas" panose="020B0609020204030204" pitchFamily="49" charset="0"/>
              </a:rPr>
              <a:t>}; </a:t>
            </a:r>
            <a:r>
              <a:rPr lang="en-US" b="1" dirty="0" err="1">
                <a:latin typeface="Consolas" panose="020B0609020204030204" pitchFamily="49" charset="0"/>
              </a:rPr>
              <a:t>printLabel</a:t>
            </a:r>
            <a:r>
              <a:rPr lang="en-US" b="1" dirty="0">
                <a:latin typeface="Consolas" panose="020B0609020204030204" pitchFamily="49" charset="0"/>
              </a:rPr>
              <a:t>(</a:t>
            </a:r>
            <a:r>
              <a:rPr lang="en-US" b="1" dirty="0" err="1">
                <a:latin typeface="Consolas" panose="020B0609020204030204" pitchFamily="49" charset="0"/>
              </a:rPr>
              <a:t>myObj</a:t>
            </a:r>
            <a:r>
              <a:rPr lang="en-US" b="1" dirty="0">
                <a:latin typeface="Consolas" panose="020B0609020204030204" pitchFamily="49" charset="0"/>
              </a:rPr>
              <a:t>);</a:t>
            </a:r>
            <a:br>
              <a:rPr lang="en-US" b="1" dirty="0">
                <a:latin typeface="Consolas" panose="020B0609020204030204" pitchFamily="49" charset="0"/>
              </a:rPr>
            </a:br>
            <a:endParaRPr lang="ru-RU" b="1" dirty="0">
              <a:latin typeface="Consolas" panose="020B0609020204030204" pitchFamily="49" charset="0"/>
            </a:endParaRPr>
          </a:p>
        </p:txBody>
      </p:sp>
    </p:spTree>
    <p:extLst>
      <p:ext uri="{BB962C8B-B14F-4D97-AF65-F5344CB8AC3E}">
        <p14:creationId xmlns:p14="http://schemas.microsoft.com/office/powerpoint/2010/main" val="221669296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азвание 1"/>
          <p:cNvSpPr>
            <a:spLocks noGrp="1"/>
          </p:cNvSpPr>
          <p:nvPr>
            <p:ph type="title"/>
          </p:nvPr>
        </p:nvSpPr>
        <p:spPr/>
        <p:txBody>
          <a:bodyPr/>
          <a:lstStyle/>
          <a:p>
            <a:r>
              <a:rPr lang="en-US" dirty="0"/>
              <a:t>Interfaces: optional properties</a:t>
            </a:r>
            <a:endParaRPr lang="ru-RU" dirty="0"/>
          </a:p>
        </p:txBody>
      </p:sp>
      <p:sp>
        <p:nvSpPr>
          <p:cNvPr id="5" name="Прямоугольник 4"/>
          <p:cNvSpPr/>
          <p:nvPr/>
        </p:nvSpPr>
        <p:spPr>
          <a:xfrm>
            <a:off x="1813958" y="1295400"/>
            <a:ext cx="9995454" cy="5078313"/>
          </a:xfrm>
          <a:prstGeom prst="rect">
            <a:avLst/>
          </a:prstGeom>
        </p:spPr>
        <p:txBody>
          <a:bodyPr wrap="square">
            <a:spAutoFit/>
          </a:bodyPr>
          <a:lstStyle/>
          <a:p>
            <a:r>
              <a:rPr lang="en-US" b="1" dirty="0">
                <a:solidFill>
                  <a:srgbClr val="0000FF"/>
                </a:solidFill>
                <a:latin typeface="Consolas" panose="020B0609020204030204" pitchFamily="49" charset="0"/>
              </a:rPr>
              <a:t>interface</a:t>
            </a:r>
            <a:r>
              <a:rPr lang="en-US" b="1" dirty="0">
                <a:solidFill>
                  <a:srgbClr val="000000"/>
                </a:solidFill>
                <a:latin typeface="Consolas" panose="020B0609020204030204" pitchFamily="49" charset="0"/>
              </a:rPr>
              <a:t> </a:t>
            </a:r>
            <a:r>
              <a:rPr lang="en-US" b="1" dirty="0" err="1">
                <a:solidFill>
                  <a:srgbClr val="000000"/>
                </a:solidFill>
                <a:latin typeface="Consolas" panose="020B0609020204030204" pitchFamily="49" charset="0"/>
              </a:rPr>
              <a:t>SquareConfig</a:t>
            </a:r>
            <a:r>
              <a:rPr lang="en-US" b="1" dirty="0">
                <a:solidFill>
                  <a:srgbClr val="000000"/>
                </a:solidFill>
                <a:latin typeface="Consolas" panose="020B0609020204030204" pitchFamily="49" charset="0"/>
              </a:rPr>
              <a:t> { </a:t>
            </a:r>
          </a:p>
          <a:p>
            <a:r>
              <a:rPr lang="en-US" b="1" dirty="0">
                <a:solidFill>
                  <a:srgbClr val="000000"/>
                </a:solidFill>
                <a:latin typeface="Consolas" panose="020B0609020204030204" pitchFamily="49" charset="0"/>
              </a:rPr>
              <a:t>	color</a:t>
            </a:r>
            <a:r>
              <a:rPr lang="en-US" b="1" dirty="0">
                <a:solidFill>
                  <a:srgbClr val="FF0000"/>
                </a:solidFill>
                <a:latin typeface="Consolas" panose="020B0609020204030204" pitchFamily="49" charset="0"/>
              </a:rPr>
              <a:t>?</a:t>
            </a:r>
            <a:r>
              <a:rPr lang="en-US" b="1" dirty="0">
                <a:solidFill>
                  <a:srgbClr val="000000"/>
                </a:solidFill>
                <a:latin typeface="Consolas" panose="020B0609020204030204" pitchFamily="49" charset="0"/>
              </a:rPr>
              <a:t>: string; </a:t>
            </a:r>
          </a:p>
          <a:p>
            <a:r>
              <a:rPr lang="en-US" b="1" dirty="0">
                <a:solidFill>
                  <a:srgbClr val="000000"/>
                </a:solidFill>
                <a:latin typeface="Consolas" panose="020B0609020204030204" pitchFamily="49" charset="0"/>
              </a:rPr>
              <a:t>	width</a:t>
            </a:r>
            <a:r>
              <a:rPr lang="en-US" b="1" dirty="0">
                <a:solidFill>
                  <a:srgbClr val="FF0000"/>
                </a:solidFill>
                <a:latin typeface="Consolas" panose="020B0609020204030204" pitchFamily="49" charset="0"/>
              </a:rPr>
              <a:t>?</a:t>
            </a:r>
            <a:r>
              <a:rPr lang="en-US" b="1" dirty="0">
                <a:solidFill>
                  <a:srgbClr val="000000"/>
                </a:solidFill>
                <a:latin typeface="Consolas" panose="020B0609020204030204" pitchFamily="49" charset="0"/>
              </a:rPr>
              <a:t>: number; </a:t>
            </a:r>
          </a:p>
          <a:p>
            <a:r>
              <a:rPr lang="en-US" b="1" dirty="0">
                <a:solidFill>
                  <a:srgbClr val="000000"/>
                </a:solidFill>
                <a:latin typeface="Consolas" panose="020B0609020204030204" pitchFamily="49" charset="0"/>
              </a:rPr>
              <a:t>} </a:t>
            </a:r>
          </a:p>
          <a:p>
            <a:endParaRPr lang="en-US" b="1" dirty="0">
              <a:solidFill>
                <a:srgbClr val="000000"/>
              </a:solidFill>
              <a:latin typeface="Consolas" panose="020B0609020204030204" pitchFamily="49" charset="0"/>
            </a:endParaRPr>
          </a:p>
          <a:p>
            <a:r>
              <a:rPr lang="en-US" b="1" dirty="0">
                <a:solidFill>
                  <a:srgbClr val="0000FF"/>
                </a:solidFill>
                <a:latin typeface="Consolas" panose="020B0609020204030204" pitchFamily="49" charset="0"/>
              </a:rPr>
              <a:t>function</a:t>
            </a:r>
            <a:r>
              <a:rPr lang="en-US" b="1" dirty="0">
                <a:solidFill>
                  <a:srgbClr val="000000"/>
                </a:solidFill>
                <a:latin typeface="Consolas" panose="020B0609020204030204" pitchFamily="49" charset="0"/>
              </a:rPr>
              <a:t> </a:t>
            </a:r>
            <a:r>
              <a:rPr lang="en-US" b="1" dirty="0" err="1">
                <a:solidFill>
                  <a:srgbClr val="000000"/>
                </a:solidFill>
                <a:latin typeface="Consolas" panose="020B0609020204030204" pitchFamily="49" charset="0"/>
              </a:rPr>
              <a:t>createSquare</a:t>
            </a:r>
            <a:r>
              <a:rPr lang="en-US" b="1" dirty="0">
                <a:solidFill>
                  <a:srgbClr val="000000"/>
                </a:solidFill>
                <a:latin typeface="Consolas" panose="020B0609020204030204" pitchFamily="49" charset="0"/>
              </a:rPr>
              <a:t>(config: </a:t>
            </a:r>
            <a:r>
              <a:rPr lang="en-US" b="1" dirty="0" err="1">
                <a:solidFill>
                  <a:srgbClr val="000000"/>
                </a:solidFill>
                <a:latin typeface="Consolas" panose="020B0609020204030204" pitchFamily="49" charset="0"/>
              </a:rPr>
              <a:t>SquareConfig</a:t>
            </a:r>
            <a:r>
              <a:rPr lang="en-US" b="1" dirty="0">
                <a:solidFill>
                  <a:srgbClr val="000000"/>
                </a:solidFill>
                <a:latin typeface="Consolas" panose="020B0609020204030204" pitchFamily="49" charset="0"/>
              </a:rPr>
              <a:t>): {color: string; area: number} {</a:t>
            </a:r>
          </a:p>
          <a:p>
            <a:r>
              <a:rPr lang="en-US" b="1" dirty="0">
                <a:solidFill>
                  <a:srgbClr val="0000FF"/>
                </a:solidFill>
                <a:latin typeface="Consolas" panose="020B0609020204030204" pitchFamily="49" charset="0"/>
              </a:rPr>
              <a:t>	</a:t>
            </a:r>
            <a:r>
              <a:rPr lang="en-US" b="1" dirty="0" err="1">
                <a:solidFill>
                  <a:srgbClr val="0000FF"/>
                </a:solidFill>
                <a:latin typeface="Consolas" panose="020B0609020204030204" pitchFamily="49" charset="0"/>
              </a:rPr>
              <a:t>var</a:t>
            </a:r>
            <a:r>
              <a:rPr lang="en-US" b="1" dirty="0">
                <a:solidFill>
                  <a:srgbClr val="000000"/>
                </a:solidFill>
                <a:latin typeface="Consolas" panose="020B0609020204030204" pitchFamily="49" charset="0"/>
              </a:rPr>
              <a:t> </a:t>
            </a:r>
            <a:r>
              <a:rPr lang="en-US" b="1" dirty="0" err="1">
                <a:solidFill>
                  <a:srgbClr val="000000"/>
                </a:solidFill>
                <a:latin typeface="Consolas" panose="020B0609020204030204" pitchFamily="49" charset="0"/>
              </a:rPr>
              <a:t>newSquare</a:t>
            </a:r>
            <a:r>
              <a:rPr lang="en-US" b="1" dirty="0">
                <a:solidFill>
                  <a:srgbClr val="000000"/>
                </a:solidFill>
                <a:latin typeface="Consolas" panose="020B0609020204030204" pitchFamily="49" charset="0"/>
              </a:rPr>
              <a:t> = {color: </a:t>
            </a:r>
            <a:r>
              <a:rPr lang="en-US" b="1" dirty="0">
                <a:solidFill>
                  <a:srgbClr val="A31515"/>
                </a:solidFill>
                <a:latin typeface="Consolas" panose="020B0609020204030204" pitchFamily="49" charset="0"/>
              </a:rPr>
              <a:t>"white"</a:t>
            </a:r>
            <a:r>
              <a:rPr lang="en-US" b="1" dirty="0">
                <a:solidFill>
                  <a:srgbClr val="000000"/>
                </a:solidFill>
                <a:latin typeface="Consolas" panose="020B0609020204030204" pitchFamily="49" charset="0"/>
              </a:rPr>
              <a:t>, area: 100}; </a:t>
            </a:r>
          </a:p>
          <a:p>
            <a:r>
              <a:rPr lang="en-US" b="1" dirty="0">
                <a:solidFill>
                  <a:srgbClr val="000000"/>
                </a:solidFill>
                <a:latin typeface="Consolas" panose="020B0609020204030204" pitchFamily="49" charset="0"/>
              </a:rPr>
              <a:t>	</a:t>
            </a:r>
            <a:r>
              <a:rPr lang="en-US" b="1" dirty="0">
                <a:solidFill>
                  <a:srgbClr val="0000FF"/>
                </a:solidFill>
                <a:latin typeface="Consolas" panose="020B0609020204030204" pitchFamily="49" charset="0"/>
              </a:rPr>
              <a:t>if</a:t>
            </a:r>
            <a:r>
              <a:rPr lang="en-US" b="1" dirty="0">
                <a:solidFill>
                  <a:srgbClr val="000000"/>
                </a:solidFill>
                <a:latin typeface="Consolas" panose="020B0609020204030204" pitchFamily="49" charset="0"/>
              </a:rPr>
              <a:t> (</a:t>
            </a:r>
            <a:r>
              <a:rPr lang="en-US" b="1" dirty="0" err="1">
                <a:solidFill>
                  <a:srgbClr val="000000"/>
                </a:solidFill>
                <a:latin typeface="Consolas" panose="020B0609020204030204" pitchFamily="49" charset="0"/>
              </a:rPr>
              <a:t>config.color</a:t>
            </a:r>
            <a:r>
              <a:rPr lang="en-US" b="1" dirty="0">
                <a:solidFill>
                  <a:srgbClr val="000000"/>
                </a:solidFill>
                <a:latin typeface="Consolas" panose="020B0609020204030204" pitchFamily="49" charset="0"/>
              </a:rPr>
              <a:t>) { </a:t>
            </a:r>
          </a:p>
          <a:p>
            <a:r>
              <a:rPr lang="en-US" b="1" dirty="0">
                <a:solidFill>
                  <a:srgbClr val="000000"/>
                </a:solidFill>
                <a:latin typeface="Consolas" panose="020B0609020204030204" pitchFamily="49" charset="0"/>
              </a:rPr>
              <a:t>		</a:t>
            </a:r>
            <a:r>
              <a:rPr lang="en-US" b="1" dirty="0" err="1">
                <a:solidFill>
                  <a:srgbClr val="000000"/>
                </a:solidFill>
                <a:latin typeface="Consolas" panose="020B0609020204030204" pitchFamily="49" charset="0"/>
              </a:rPr>
              <a:t>newSquare.color</a:t>
            </a:r>
            <a:r>
              <a:rPr lang="en-US" b="1" dirty="0">
                <a:solidFill>
                  <a:srgbClr val="000000"/>
                </a:solidFill>
                <a:latin typeface="Consolas" panose="020B0609020204030204" pitchFamily="49" charset="0"/>
              </a:rPr>
              <a:t> = </a:t>
            </a:r>
            <a:r>
              <a:rPr lang="en-US" b="1" dirty="0" err="1">
                <a:solidFill>
                  <a:srgbClr val="000000"/>
                </a:solidFill>
                <a:latin typeface="Consolas" panose="020B0609020204030204" pitchFamily="49" charset="0"/>
              </a:rPr>
              <a:t>config.color</a:t>
            </a:r>
            <a:r>
              <a:rPr lang="en-US" b="1" dirty="0">
                <a:solidFill>
                  <a:srgbClr val="000000"/>
                </a:solidFill>
                <a:latin typeface="Consolas" panose="020B0609020204030204" pitchFamily="49" charset="0"/>
              </a:rPr>
              <a:t>; </a:t>
            </a:r>
          </a:p>
          <a:p>
            <a:r>
              <a:rPr lang="en-US" b="1" dirty="0">
                <a:solidFill>
                  <a:srgbClr val="000000"/>
                </a:solidFill>
                <a:latin typeface="Consolas" panose="020B0609020204030204" pitchFamily="49" charset="0"/>
              </a:rPr>
              <a:t>		</a:t>
            </a:r>
            <a:r>
              <a:rPr lang="en-US" b="1" dirty="0">
                <a:solidFill>
                  <a:srgbClr val="008000"/>
                </a:solidFill>
                <a:latin typeface="Consolas" panose="020B0609020204030204" pitchFamily="49" charset="0"/>
              </a:rPr>
              <a:t>// Type-checker can catch the mistyped name here</a:t>
            </a:r>
            <a:endParaRPr lang="en-US" b="1" dirty="0">
              <a:solidFill>
                <a:srgbClr val="000000"/>
              </a:solidFill>
              <a:latin typeface="Consolas" panose="020B0609020204030204" pitchFamily="49" charset="0"/>
            </a:endParaRPr>
          </a:p>
          <a:p>
            <a:r>
              <a:rPr lang="en-US" b="1" dirty="0">
                <a:solidFill>
                  <a:srgbClr val="000000"/>
                </a:solidFill>
                <a:latin typeface="Consolas" panose="020B0609020204030204" pitchFamily="49" charset="0"/>
              </a:rPr>
              <a:t>	} </a:t>
            </a:r>
          </a:p>
          <a:p>
            <a:r>
              <a:rPr lang="en-US" b="1" dirty="0">
                <a:solidFill>
                  <a:srgbClr val="000000"/>
                </a:solidFill>
                <a:latin typeface="Consolas" panose="020B0609020204030204" pitchFamily="49" charset="0"/>
              </a:rPr>
              <a:t>	</a:t>
            </a:r>
            <a:r>
              <a:rPr lang="en-US" b="1" dirty="0">
                <a:solidFill>
                  <a:srgbClr val="0000FF"/>
                </a:solidFill>
                <a:latin typeface="Consolas" panose="020B0609020204030204" pitchFamily="49" charset="0"/>
              </a:rPr>
              <a:t>if</a:t>
            </a:r>
            <a:r>
              <a:rPr lang="en-US" b="1" dirty="0">
                <a:solidFill>
                  <a:srgbClr val="000000"/>
                </a:solidFill>
                <a:latin typeface="Consolas" panose="020B0609020204030204" pitchFamily="49" charset="0"/>
              </a:rPr>
              <a:t> (</a:t>
            </a:r>
            <a:r>
              <a:rPr lang="en-US" b="1" dirty="0" err="1">
                <a:solidFill>
                  <a:srgbClr val="000000"/>
                </a:solidFill>
                <a:latin typeface="Consolas" panose="020B0609020204030204" pitchFamily="49" charset="0"/>
              </a:rPr>
              <a:t>config.width</a:t>
            </a:r>
            <a:r>
              <a:rPr lang="en-US" b="1" dirty="0">
                <a:solidFill>
                  <a:srgbClr val="000000"/>
                </a:solidFill>
                <a:latin typeface="Consolas" panose="020B0609020204030204" pitchFamily="49" charset="0"/>
              </a:rPr>
              <a:t>) { </a:t>
            </a:r>
          </a:p>
          <a:p>
            <a:r>
              <a:rPr lang="en-US" b="1" dirty="0">
                <a:solidFill>
                  <a:srgbClr val="000000"/>
                </a:solidFill>
                <a:latin typeface="Consolas" panose="020B0609020204030204" pitchFamily="49" charset="0"/>
              </a:rPr>
              <a:t>		</a:t>
            </a:r>
            <a:r>
              <a:rPr lang="en-US" b="1" dirty="0" err="1">
                <a:solidFill>
                  <a:srgbClr val="000000"/>
                </a:solidFill>
                <a:latin typeface="Consolas" panose="020B0609020204030204" pitchFamily="49" charset="0"/>
              </a:rPr>
              <a:t>newSquare.area</a:t>
            </a:r>
            <a:r>
              <a:rPr lang="en-US" b="1" dirty="0">
                <a:solidFill>
                  <a:srgbClr val="000000"/>
                </a:solidFill>
                <a:latin typeface="Consolas" panose="020B0609020204030204" pitchFamily="49" charset="0"/>
              </a:rPr>
              <a:t> = </a:t>
            </a:r>
            <a:r>
              <a:rPr lang="en-US" b="1" dirty="0" err="1">
                <a:solidFill>
                  <a:srgbClr val="000000"/>
                </a:solidFill>
                <a:latin typeface="Consolas" panose="020B0609020204030204" pitchFamily="49" charset="0"/>
              </a:rPr>
              <a:t>config.width</a:t>
            </a:r>
            <a:r>
              <a:rPr lang="en-US" b="1" dirty="0">
                <a:solidFill>
                  <a:srgbClr val="000000"/>
                </a:solidFill>
                <a:latin typeface="Consolas" panose="020B0609020204030204" pitchFamily="49" charset="0"/>
              </a:rPr>
              <a:t> * </a:t>
            </a:r>
            <a:r>
              <a:rPr lang="en-US" b="1" dirty="0" err="1">
                <a:solidFill>
                  <a:srgbClr val="000000"/>
                </a:solidFill>
                <a:latin typeface="Consolas" panose="020B0609020204030204" pitchFamily="49" charset="0"/>
              </a:rPr>
              <a:t>config.width</a:t>
            </a:r>
            <a:r>
              <a:rPr lang="en-US" b="1" dirty="0">
                <a:solidFill>
                  <a:srgbClr val="000000"/>
                </a:solidFill>
                <a:latin typeface="Consolas" panose="020B0609020204030204" pitchFamily="49" charset="0"/>
              </a:rPr>
              <a:t>; </a:t>
            </a:r>
          </a:p>
          <a:p>
            <a:r>
              <a:rPr lang="en-US" b="1" dirty="0">
                <a:solidFill>
                  <a:srgbClr val="000000"/>
                </a:solidFill>
                <a:latin typeface="Consolas" panose="020B0609020204030204" pitchFamily="49" charset="0"/>
              </a:rPr>
              <a:t>	} </a:t>
            </a:r>
          </a:p>
          <a:p>
            <a:r>
              <a:rPr lang="en-US" b="1" dirty="0">
                <a:solidFill>
                  <a:srgbClr val="000000"/>
                </a:solidFill>
                <a:latin typeface="Consolas" panose="020B0609020204030204" pitchFamily="49" charset="0"/>
              </a:rPr>
              <a:t>	</a:t>
            </a:r>
            <a:r>
              <a:rPr lang="en-US" b="1" dirty="0">
                <a:solidFill>
                  <a:srgbClr val="0000FF"/>
                </a:solidFill>
                <a:latin typeface="Consolas" panose="020B0609020204030204" pitchFamily="49" charset="0"/>
              </a:rPr>
              <a:t>return</a:t>
            </a:r>
            <a:r>
              <a:rPr lang="en-US" b="1" dirty="0">
                <a:solidFill>
                  <a:srgbClr val="000000"/>
                </a:solidFill>
                <a:latin typeface="Consolas" panose="020B0609020204030204" pitchFamily="49" charset="0"/>
              </a:rPr>
              <a:t> </a:t>
            </a:r>
            <a:r>
              <a:rPr lang="en-US" b="1" dirty="0" err="1">
                <a:solidFill>
                  <a:srgbClr val="000000"/>
                </a:solidFill>
                <a:latin typeface="Consolas" panose="020B0609020204030204" pitchFamily="49" charset="0"/>
              </a:rPr>
              <a:t>newSquare</a:t>
            </a:r>
            <a:r>
              <a:rPr lang="en-US" b="1" dirty="0">
                <a:solidFill>
                  <a:srgbClr val="000000"/>
                </a:solidFill>
                <a:latin typeface="Consolas" panose="020B0609020204030204" pitchFamily="49" charset="0"/>
              </a:rPr>
              <a:t>; </a:t>
            </a:r>
          </a:p>
          <a:p>
            <a:r>
              <a:rPr lang="en-US" b="1" dirty="0">
                <a:solidFill>
                  <a:srgbClr val="000000"/>
                </a:solidFill>
                <a:latin typeface="Consolas" panose="020B0609020204030204" pitchFamily="49" charset="0"/>
              </a:rPr>
              <a:t>} </a:t>
            </a:r>
          </a:p>
          <a:p>
            <a:endParaRPr lang="en-US" b="1" dirty="0">
              <a:solidFill>
                <a:srgbClr val="000000"/>
              </a:solidFill>
              <a:latin typeface="Consolas" panose="020B0609020204030204" pitchFamily="49" charset="0"/>
            </a:endParaRPr>
          </a:p>
          <a:p>
            <a:r>
              <a:rPr lang="en-US" b="1" dirty="0" err="1">
                <a:solidFill>
                  <a:srgbClr val="0000FF"/>
                </a:solidFill>
                <a:latin typeface="Consolas" panose="020B0609020204030204" pitchFamily="49" charset="0"/>
              </a:rPr>
              <a:t>var</a:t>
            </a:r>
            <a:r>
              <a:rPr lang="en-US" b="1" dirty="0">
                <a:solidFill>
                  <a:srgbClr val="000000"/>
                </a:solidFill>
                <a:latin typeface="Consolas" panose="020B0609020204030204" pitchFamily="49" charset="0"/>
              </a:rPr>
              <a:t> </a:t>
            </a:r>
            <a:r>
              <a:rPr lang="en-US" b="1" dirty="0" err="1">
                <a:solidFill>
                  <a:srgbClr val="000000"/>
                </a:solidFill>
                <a:latin typeface="Consolas" panose="020B0609020204030204" pitchFamily="49" charset="0"/>
              </a:rPr>
              <a:t>mySquare</a:t>
            </a:r>
            <a:r>
              <a:rPr lang="en-US" b="1" dirty="0">
                <a:solidFill>
                  <a:srgbClr val="000000"/>
                </a:solidFill>
                <a:latin typeface="Consolas" panose="020B0609020204030204" pitchFamily="49" charset="0"/>
              </a:rPr>
              <a:t> = </a:t>
            </a:r>
            <a:r>
              <a:rPr lang="en-US" b="1" dirty="0" err="1">
                <a:solidFill>
                  <a:srgbClr val="000000"/>
                </a:solidFill>
                <a:latin typeface="Consolas" panose="020B0609020204030204" pitchFamily="49" charset="0"/>
              </a:rPr>
              <a:t>createSquare</a:t>
            </a:r>
            <a:r>
              <a:rPr lang="en-US" b="1" dirty="0">
                <a:solidFill>
                  <a:srgbClr val="000000"/>
                </a:solidFill>
                <a:latin typeface="Consolas" panose="020B0609020204030204" pitchFamily="49" charset="0"/>
              </a:rPr>
              <a:t>({color: </a:t>
            </a:r>
            <a:r>
              <a:rPr lang="en-US" b="1" dirty="0">
                <a:solidFill>
                  <a:srgbClr val="A31515"/>
                </a:solidFill>
                <a:latin typeface="Consolas" panose="020B0609020204030204" pitchFamily="49" charset="0"/>
              </a:rPr>
              <a:t>"black"</a:t>
            </a:r>
            <a:r>
              <a:rPr lang="en-US" b="1" dirty="0">
                <a:solidFill>
                  <a:srgbClr val="000000"/>
                </a:solidFill>
                <a:latin typeface="Consolas" panose="020B0609020204030204" pitchFamily="49" charset="0"/>
              </a:rPr>
              <a:t>});</a:t>
            </a:r>
            <a:endParaRPr lang="ru-RU" b="1" dirty="0">
              <a:latin typeface="Consolas" panose="020B0609020204030204" pitchFamily="49" charset="0"/>
            </a:endParaRPr>
          </a:p>
        </p:txBody>
      </p:sp>
    </p:spTree>
    <p:extLst>
      <p:ext uri="{BB962C8B-B14F-4D97-AF65-F5344CB8AC3E}">
        <p14:creationId xmlns:p14="http://schemas.microsoft.com/office/powerpoint/2010/main" val="340188331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азвание 1"/>
          <p:cNvSpPr>
            <a:spLocks noGrp="1"/>
          </p:cNvSpPr>
          <p:nvPr>
            <p:ph type="title"/>
          </p:nvPr>
        </p:nvSpPr>
        <p:spPr/>
        <p:txBody>
          <a:bodyPr/>
          <a:lstStyle/>
          <a:p>
            <a:r>
              <a:rPr lang="en-US" dirty="0"/>
              <a:t>Interfaces: function types</a:t>
            </a:r>
            <a:endParaRPr lang="ru-RU" dirty="0"/>
          </a:p>
        </p:txBody>
      </p:sp>
      <p:sp>
        <p:nvSpPr>
          <p:cNvPr id="5" name="Прямоугольник 4"/>
          <p:cNvSpPr/>
          <p:nvPr/>
        </p:nvSpPr>
        <p:spPr>
          <a:xfrm>
            <a:off x="1979612" y="1690689"/>
            <a:ext cx="9157254" cy="4093428"/>
          </a:xfrm>
          <a:prstGeom prst="rect">
            <a:avLst/>
          </a:prstGeom>
        </p:spPr>
        <p:txBody>
          <a:bodyPr wrap="square">
            <a:spAutoFit/>
          </a:bodyPr>
          <a:lstStyle/>
          <a:p>
            <a:r>
              <a:rPr lang="en-US" sz="2000" b="1" dirty="0">
                <a:solidFill>
                  <a:srgbClr val="0000FF"/>
                </a:solidFill>
                <a:latin typeface="Consolas" panose="020B0609020204030204" pitchFamily="49" charset="0"/>
              </a:rPr>
              <a:t>interface</a:t>
            </a:r>
            <a:r>
              <a:rPr lang="en-US" sz="2000" b="1" dirty="0">
                <a:latin typeface="Consolas" panose="020B0609020204030204" pitchFamily="49" charset="0"/>
              </a:rPr>
              <a:t> </a:t>
            </a:r>
            <a:r>
              <a:rPr lang="en-US" sz="2000" b="1" dirty="0" err="1">
                <a:latin typeface="Consolas" panose="020B0609020204030204" pitchFamily="49" charset="0"/>
              </a:rPr>
              <a:t>SearchFunc</a:t>
            </a:r>
            <a:r>
              <a:rPr lang="en-US" sz="2000" b="1" dirty="0">
                <a:latin typeface="Consolas" panose="020B0609020204030204" pitchFamily="49" charset="0"/>
              </a:rPr>
              <a:t> { </a:t>
            </a:r>
          </a:p>
          <a:p>
            <a:r>
              <a:rPr lang="en-US" sz="2000" b="1" dirty="0">
                <a:latin typeface="Consolas" panose="020B0609020204030204" pitchFamily="49" charset="0"/>
              </a:rPr>
              <a:t>	(source: string, </a:t>
            </a:r>
            <a:r>
              <a:rPr lang="en-US" sz="2000" b="1" dirty="0" err="1">
                <a:latin typeface="Consolas" panose="020B0609020204030204" pitchFamily="49" charset="0"/>
              </a:rPr>
              <a:t>subString</a:t>
            </a:r>
            <a:r>
              <a:rPr lang="en-US" sz="2000" b="1" dirty="0">
                <a:latin typeface="Consolas" panose="020B0609020204030204" pitchFamily="49" charset="0"/>
              </a:rPr>
              <a:t>: string): </a:t>
            </a:r>
            <a:r>
              <a:rPr lang="en-US" sz="2000" b="1" dirty="0" err="1">
                <a:solidFill>
                  <a:srgbClr val="0000FF"/>
                </a:solidFill>
                <a:latin typeface="Consolas" panose="020B0609020204030204" pitchFamily="49" charset="0"/>
              </a:rPr>
              <a:t>boolean</a:t>
            </a:r>
            <a:r>
              <a:rPr lang="en-US" sz="2000" b="1" dirty="0">
                <a:latin typeface="Consolas" panose="020B0609020204030204" pitchFamily="49" charset="0"/>
              </a:rPr>
              <a:t>; </a:t>
            </a:r>
          </a:p>
          <a:p>
            <a:r>
              <a:rPr lang="en-US" sz="2000" b="1" dirty="0">
                <a:latin typeface="Consolas" panose="020B0609020204030204" pitchFamily="49" charset="0"/>
              </a:rPr>
              <a:t>}</a:t>
            </a:r>
          </a:p>
          <a:p>
            <a:endParaRPr lang="en-US" sz="2000" b="1" dirty="0">
              <a:latin typeface="Consolas" panose="020B0609020204030204" pitchFamily="49" charset="0"/>
            </a:endParaRPr>
          </a:p>
          <a:p>
            <a:r>
              <a:rPr lang="en-US" sz="2000" b="1" dirty="0" err="1">
                <a:solidFill>
                  <a:srgbClr val="0000FF"/>
                </a:solidFill>
                <a:latin typeface="Consolas" panose="020B0609020204030204" pitchFamily="49" charset="0"/>
              </a:rPr>
              <a:t>var</a:t>
            </a:r>
            <a:r>
              <a:rPr lang="en-US" sz="2000" b="1" dirty="0">
                <a:latin typeface="Consolas" panose="020B0609020204030204" pitchFamily="49" charset="0"/>
              </a:rPr>
              <a:t> </a:t>
            </a:r>
            <a:r>
              <a:rPr lang="en-US" sz="2000" b="1" dirty="0" err="1">
                <a:latin typeface="Consolas" panose="020B0609020204030204" pitchFamily="49" charset="0"/>
              </a:rPr>
              <a:t>mySearch</a:t>
            </a:r>
            <a:r>
              <a:rPr lang="en-US" sz="2000" b="1" dirty="0">
                <a:latin typeface="Consolas" panose="020B0609020204030204" pitchFamily="49" charset="0"/>
              </a:rPr>
              <a:t>: </a:t>
            </a:r>
            <a:r>
              <a:rPr lang="en-US" sz="2000" b="1" dirty="0" err="1">
                <a:latin typeface="Consolas" panose="020B0609020204030204" pitchFamily="49" charset="0"/>
              </a:rPr>
              <a:t>SearchFunc</a:t>
            </a:r>
            <a:r>
              <a:rPr lang="en-US" sz="2000" b="1" dirty="0">
                <a:latin typeface="Consolas" panose="020B0609020204030204" pitchFamily="49" charset="0"/>
              </a:rPr>
              <a:t>; </a:t>
            </a:r>
          </a:p>
          <a:p>
            <a:r>
              <a:rPr lang="en-US" sz="2000" b="1" dirty="0" err="1">
                <a:latin typeface="Consolas" panose="020B0609020204030204" pitchFamily="49" charset="0"/>
              </a:rPr>
              <a:t>mySearch</a:t>
            </a:r>
            <a:r>
              <a:rPr lang="en-US" sz="2000" b="1" dirty="0">
                <a:latin typeface="Consolas" panose="020B0609020204030204" pitchFamily="49" charset="0"/>
              </a:rPr>
              <a:t> = </a:t>
            </a:r>
            <a:r>
              <a:rPr lang="en-US" sz="2000" b="1" dirty="0">
                <a:solidFill>
                  <a:srgbClr val="0000FF"/>
                </a:solidFill>
                <a:latin typeface="Consolas" panose="020B0609020204030204" pitchFamily="49" charset="0"/>
              </a:rPr>
              <a:t>function</a:t>
            </a:r>
            <a:r>
              <a:rPr lang="en-US" sz="2000" b="1" dirty="0">
                <a:latin typeface="Consolas" panose="020B0609020204030204" pitchFamily="49" charset="0"/>
              </a:rPr>
              <a:t>(source: string, </a:t>
            </a:r>
            <a:r>
              <a:rPr lang="en-US" sz="2000" b="1" dirty="0" err="1">
                <a:latin typeface="Consolas" panose="020B0609020204030204" pitchFamily="49" charset="0"/>
              </a:rPr>
              <a:t>subStr</a:t>
            </a:r>
            <a:r>
              <a:rPr lang="en-US" sz="2000" b="1" dirty="0">
                <a:latin typeface="Consolas" panose="020B0609020204030204" pitchFamily="49" charset="0"/>
              </a:rPr>
              <a:t>: string) { </a:t>
            </a:r>
          </a:p>
          <a:p>
            <a:r>
              <a:rPr lang="en-US" sz="2000" b="1" dirty="0">
                <a:solidFill>
                  <a:srgbClr val="0000FF"/>
                </a:solidFill>
                <a:latin typeface="Consolas" panose="020B0609020204030204" pitchFamily="49" charset="0"/>
              </a:rPr>
              <a:t>	</a:t>
            </a:r>
            <a:r>
              <a:rPr lang="en-US" sz="2000" b="1" dirty="0" err="1">
                <a:solidFill>
                  <a:srgbClr val="0000FF"/>
                </a:solidFill>
                <a:latin typeface="Consolas" panose="020B0609020204030204" pitchFamily="49" charset="0"/>
              </a:rPr>
              <a:t>var</a:t>
            </a:r>
            <a:r>
              <a:rPr lang="en-US" sz="2000" b="1" dirty="0">
                <a:latin typeface="Consolas" panose="020B0609020204030204" pitchFamily="49" charset="0"/>
              </a:rPr>
              <a:t> result = </a:t>
            </a:r>
            <a:r>
              <a:rPr lang="en-US" sz="2000" b="1" dirty="0" err="1">
                <a:latin typeface="Consolas" panose="020B0609020204030204" pitchFamily="49" charset="0"/>
              </a:rPr>
              <a:t>source.search</a:t>
            </a:r>
            <a:r>
              <a:rPr lang="en-US" sz="2000" b="1" dirty="0">
                <a:latin typeface="Consolas" panose="020B0609020204030204" pitchFamily="49" charset="0"/>
              </a:rPr>
              <a:t>(</a:t>
            </a:r>
            <a:r>
              <a:rPr lang="en-US" sz="2000" b="1" dirty="0" err="1">
                <a:latin typeface="Consolas" panose="020B0609020204030204" pitchFamily="49" charset="0"/>
              </a:rPr>
              <a:t>subStr</a:t>
            </a:r>
            <a:r>
              <a:rPr lang="en-US" sz="2000" b="1" dirty="0">
                <a:latin typeface="Consolas" panose="020B0609020204030204" pitchFamily="49" charset="0"/>
              </a:rPr>
              <a:t>); </a:t>
            </a:r>
          </a:p>
          <a:p>
            <a:r>
              <a:rPr lang="en-US" sz="2000" b="1" dirty="0">
                <a:solidFill>
                  <a:srgbClr val="0000FF"/>
                </a:solidFill>
                <a:latin typeface="Consolas" panose="020B0609020204030204" pitchFamily="49" charset="0"/>
              </a:rPr>
              <a:t>	if</a:t>
            </a:r>
            <a:r>
              <a:rPr lang="en-US" sz="2000" b="1" dirty="0">
                <a:latin typeface="Consolas" panose="020B0609020204030204" pitchFamily="49" charset="0"/>
              </a:rPr>
              <a:t> (result == -1) { </a:t>
            </a:r>
          </a:p>
          <a:p>
            <a:r>
              <a:rPr lang="en-US" sz="2000" b="1" dirty="0">
                <a:solidFill>
                  <a:srgbClr val="0000FF"/>
                </a:solidFill>
                <a:latin typeface="Consolas" panose="020B0609020204030204" pitchFamily="49" charset="0"/>
              </a:rPr>
              <a:t>		return</a:t>
            </a:r>
            <a:r>
              <a:rPr lang="en-US" sz="2000" b="1" dirty="0">
                <a:latin typeface="Consolas" panose="020B0609020204030204" pitchFamily="49" charset="0"/>
              </a:rPr>
              <a:t> </a:t>
            </a:r>
            <a:r>
              <a:rPr lang="en-US" sz="2000" b="1" dirty="0">
                <a:solidFill>
                  <a:srgbClr val="0000FF"/>
                </a:solidFill>
                <a:latin typeface="Consolas" panose="020B0609020204030204" pitchFamily="49" charset="0"/>
              </a:rPr>
              <a:t>false</a:t>
            </a:r>
            <a:r>
              <a:rPr lang="en-US" sz="2000" b="1" dirty="0">
                <a:latin typeface="Consolas" panose="020B0609020204030204" pitchFamily="49" charset="0"/>
              </a:rPr>
              <a:t>; </a:t>
            </a:r>
          </a:p>
          <a:p>
            <a:r>
              <a:rPr lang="en-US" sz="2000" b="1" dirty="0">
                <a:latin typeface="Consolas" panose="020B0609020204030204" pitchFamily="49" charset="0"/>
              </a:rPr>
              <a:t>	} </a:t>
            </a:r>
            <a:r>
              <a:rPr lang="en-US" sz="2000" b="1" dirty="0">
                <a:solidFill>
                  <a:srgbClr val="0000FF"/>
                </a:solidFill>
                <a:latin typeface="Consolas" panose="020B0609020204030204" pitchFamily="49" charset="0"/>
              </a:rPr>
              <a:t>else</a:t>
            </a:r>
            <a:r>
              <a:rPr lang="en-US" sz="2000" b="1" dirty="0">
                <a:latin typeface="Consolas" panose="020B0609020204030204" pitchFamily="49" charset="0"/>
              </a:rPr>
              <a:t> { </a:t>
            </a:r>
          </a:p>
          <a:p>
            <a:r>
              <a:rPr lang="en-US" sz="2000" b="1" dirty="0">
                <a:solidFill>
                  <a:srgbClr val="0000FF"/>
                </a:solidFill>
                <a:latin typeface="Consolas" panose="020B0609020204030204" pitchFamily="49" charset="0"/>
              </a:rPr>
              <a:t>		return</a:t>
            </a:r>
            <a:r>
              <a:rPr lang="en-US" sz="2000" b="1" dirty="0">
                <a:latin typeface="Consolas" panose="020B0609020204030204" pitchFamily="49" charset="0"/>
              </a:rPr>
              <a:t> </a:t>
            </a:r>
            <a:r>
              <a:rPr lang="en-US" sz="2000" b="1" dirty="0">
                <a:solidFill>
                  <a:srgbClr val="0000FF"/>
                </a:solidFill>
                <a:latin typeface="Consolas" panose="020B0609020204030204" pitchFamily="49" charset="0"/>
              </a:rPr>
              <a:t>true</a:t>
            </a:r>
            <a:r>
              <a:rPr lang="en-US" sz="2000" b="1" dirty="0">
                <a:latin typeface="Consolas" panose="020B0609020204030204" pitchFamily="49" charset="0"/>
              </a:rPr>
              <a:t>; </a:t>
            </a:r>
          </a:p>
          <a:p>
            <a:r>
              <a:rPr lang="en-US" sz="2000" b="1" dirty="0">
                <a:latin typeface="Consolas" panose="020B0609020204030204" pitchFamily="49" charset="0"/>
              </a:rPr>
              <a:t>	} </a:t>
            </a:r>
          </a:p>
          <a:p>
            <a:r>
              <a:rPr lang="en-US" sz="2000" b="1" dirty="0">
                <a:latin typeface="Consolas" panose="020B0609020204030204" pitchFamily="49" charset="0"/>
              </a:rPr>
              <a:t>}</a:t>
            </a:r>
            <a:endParaRPr lang="ru-RU" sz="2000" b="1" dirty="0">
              <a:latin typeface="Consolas" panose="020B0609020204030204" pitchFamily="49" charset="0"/>
            </a:endParaRPr>
          </a:p>
        </p:txBody>
      </p:sp>
    </p:spTree>
    <p:extLst>
      <p:ext uri="{BB962C8B-B14F-4D97-AF65-F5344CB8AC3E}">
        <p14:creationId xmlns:p14="http://schemas.microsoft.com/office/powerpoint/2010/main" val="243355512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азвание 1"/>
          <p:cNvSpPr>
            <a:spLocks noGrp="1"/>
          </p:cNvSpPr>
          <p:nvPr>
            <p:ph type="title"/>
          </p:nvPr>
        </p:nvSpPr>
        <p:spPr/>
        <p:txBody>
          <a:bodyPr/>
          <a:lstStyle/>
          <a:p>
            <a:r>
              <a:rPr lang="en-US" dirty="0"/>
              <a:t>Interfaces: array types</a:t>
            </a:r>
            <a:endParaRPr lang="ru-RU" dirty="0"/>
          </a:p>
        </p:txBody>
      </p:sp>
      <p:sp>
        <p:nvSpPr>
          <p:cNvPr id="5" name="Прямоугольник 4"/>
          <p:cNvSpPr/>
          <p:nvPr/>
        </p:nvSpPr>
        <p:spPr>
          <a:xfrm>
            <a:off x="2208212" y="1714337"/>
            <a:ext cx="8305800" cy="1938992"/>
          </a:xfrm>
          <a:prstGeom prst="rect">
            <a:avLst/>
          </a:prstGeom>
        </p:spPr>
        <p:txBody>
          <a:bodyPr wrap="square">
            <a:spAutoFit/>
          </a:bodyPr>
          <a:lstStyle/>
          <a:p>
            <a:r>
              <a:rPr lang="en-US" sz="2000" b="1" dirty="0">
                <a:solidFill>
                  <a:srgbClr val="0000FF"/>
                </a:solidFill>
                <a:latin typeface="Consolas" panose="020B0609020204030204" pitchFamily="49" charset="0"/>
              </a:rPr>
              <a:t>interface</a:t>
            </a:r>
            <a:r>
              <a:rPr lang="en-US" sz="2000" b="1" dirty="0">
                <a:latin typeface="Consolas" panose="020B0609020204030204" pitchFamily="49" charset="0"/>
              </a:rPr>
              <a:t> </a:t>
            </a:r>
            <a:r>
              <a:rPr lang="en-US" sz="2000" b="1" dirty="0" err="1">
                <a:latin typeface="Consolas" panose="020B0609020204030204" pitchFamily="49" charset="0"/>
              </a:rPr>
              <a:t>StringArray</a:t>
            </a:r>
            <a:r>
              <a:rPr lang="en-US" sz="2000" b="1" dirty="0">
                <a:latin typeface="Consolas" panose="020B0609020204030204" pitchFamily="49" charset="0"/>
              </a:rPr>
              <a:t> { </a:t>
            </a:r>
          </a:p>
          <a:p>
            <a:r>
              <a:rPr lang="en-US" sz="2000" b="1" dirty="0">
                <a:latin typeface="Consolas" panose="020B0609020204030204" pitchFamily="49" charset="0"/>
              </a:rPr>
              <a:t>	[index: number]: string; </a:t>
            </a:r>
          </a:p>
          <a:p>
            <a:r>
              <a:rPr lang="en-US" sz="2000" b="1" dirty="0">
                <a:latin typeface="Consolas" panose="020B0609020204030204" pitchFamily="49" charset="0"/>
              </a:rPr>
              <a:t>} </a:t>
            </a:r>
          </a:p>
          <a:p>
            <a:r>
              <a:rPr lang="en-US" sz="2000" b="1" dirty="0" err="1">
                <a:solidFill>
                  <a:srgbClr val="0000FF"/>
                </a:solidFill>
                <a:latin typeface="Consolas" panose="020B0609020204030204" pitchFamily="49" charset="0"/>
              </a:rPr>
              <a:t>var</a:t>
            </a:r>
            <a:r>
              <a:rPr lang="en-US" sz="2000" b="1" dirty="0">
                <a:latin typeface="Consolas" panose="020B0609020204030204" pitchFamily="49" charset="0"/>
              </a:rPr>
              <a:t> </a:t>
            </a:r>
            <a:r>
              <a:rPr lang="en-US" sz="2000" b="1" dirty="0" err="1">
                <a:latin typeface="Consolas" panose="020B0609020204030204" pitchFamily="49" charset="0"/>
              </a:rPr>
              <a:t>myArray</a:t>
            </a:r>
            <a:r>
              <a:rPr lang="en-US" sz="2000" b="1" dirty="0">
                <a:latin typeface="Consolas" panose="020B0609020204030204" pitchFamily="49" charset="0"/>
              </a:rPr>
              <a:t>: </a:t>
            </a:r>
            <a:r>
              <a:rPr lang="en-US" sz="2000" b="1" dirty="0" err="1">
                <a:latin typeface="Consolas" panose="020B0609020204030204" pitchFamily="49" charset="0"/>
              </a:rPr>
              <a:t>StringArray</a:t>
            </a:r>
            <a:r>
              <a:rPr lang="en-US" sz="2000" b="1" dirty="0">
                <a:latin typeface="Consolas" panose="020B0609020204030204" pitchFamily="49" charset="0"/>
              </a:rPr>
              <a:t>; </a:t>
            </a:r>
          </a:p>
          <a:p>
            <a:r>
              <a:rPr lang="en-US" sz="2000" b="1" dirty="0" err="1">
                <a:latin typeface="Consolas" panose="020B0609020204030204" pitchFamily="49" charset="0"/>
              </a:rPr>
              <a:t>myArray</a:t>
            </a:r>
            <a:r>
              <a:rPr lang="en-US" sz="2000" b="1" dirty="0">
                <a:latin typeface="Consolas" panose="020B0609020204030204" pitchFamily="49" charset="0"/>
              </a:rPr>
              <a:t> = [</a:t>
            </a:r>
            <a:r>
              <a:rPr lang="en-US" sz="2000" b="1" dirty="0">
                <a:solidFill>
                  <a:srgbClr val="A31515"/>
                </a:solidFill>
                <a:latin typeface="Consolas" panose="020B0609020204030204" pitchFamily="49" charset="0"/>
              </a:rPr>
              <a:t>"Bob"</a:t>
            </a:r>
            <a:r>
              <a:rPr lang="en-US" sz="2000" b="1" dirty="0">
                <a:latin typeface="Consolas" panose="020B0609020204030204" pitchFamily="49" charset="0"/>
              </a:rPr>
              <a:t>, </a:t>
            </a:r>
            <a:r>
              <a:rPr lang="en-US" sz="2000" b="1" dirty="0">
                <a:solidFill>
                  <a:srgbClr val="A31515"/>
                </a:solidFill>
                <a:latin typeface="Consolas" panose="020B0609020204030204" pitchFamily="49" charset="0"/>
              </a:rPr>
              <a:t>"Fred"</a:t>
            </a:r>
            <a:r>
              <a:rPr lang="en-US" sz="2000" b="1" dirty="0">
                <a:latin typeface="Consolas" panose="020B0609020204030204" pitchFamily="49" charset="0"/>
              </a:rPr>
              <a:t>];</a:t>
            </a:r>
          </a:p>
          <a:p>
            <a:endParaRPr lang="ru-RU" sz="2000" b="1" dirty="0">
              <a:latin typeface="Consolas" panose="020B0609020204030204" pitchFamily="49" charset="0"/>
            </a:endParaRPr>
          </a:p>
        </p:txBody>
      </p:sp>
    </p:spTree>
    <p:extLst>
      <p:ext uri="{BB962C8B-B14F-4D97-AF65-F5344CB8AC3E}">
        <p14:creationId xmlns:p14="http://schemas.microsoft.com/office/powerpoint/2010/main" val="183391510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азвание 1"/>
          <p:cNvSpPr>
            <a:spLocks noGrp="1"/>
          </p:cNvSpPr>
          <p:nvPr>
            <p:ph type="title"/>
          </p:nvPr>
        </p:nvSpPr>
        <p:spPr/>
        <p:txBody>
          <a:bodyPr/>
          <a:lstStyle/>
          <a:p>
            <a:r>
              <a:rPr lang="en-US" dirty="0"/>
              <a:t>Interfaces: class types</a:t>
            </a:r>
            <a:endParaRPr lang="ru-RU" dirty="0"/>
          </a:p>
        </p:txBody>
      </p:sp>
      <p:sp>
        <p:nvSpPr>
          <p:cNvPr id="5" name="Прямоугольник 4"/>
          <p:cNvSpPr/>
          <p:nvPr/>
        </p:nvSpPr>
        <p:spPr>
          <a:xfrm>
            <a:off x="2360612" y="1690689"/>
            <a:ext cx="8458200" cy="4401205"/>
          </a:xfrm>
          <a:prstGeom prst="rect">
            <a:avLst/>
          </a:prstGeom>
        </p:spPr>
        <p:txBody>
          <a:bodyPr wrap="square">
            <a:spAutoFit/>
          </a:bodyPr>
          <a:lstStyle/>
          <a:p>
            <a:r>
              <a:rPr lang="en-US" sz="2000" b="1" dirty="0">
                <a:solidFill>
                  <a:srgbClr val="0000FF"/>
                </a:solidFill>
                <a:latin typeface="Consolas" panose="020B0609020204030204" pitchFamily="49" charset="0"/>
              </a:rPr>
              <a:t>interface</a:t>
            </a:r>
            <a:r>
              <a:rPr lang="en-US" sz="2000" b="1" dirty="0">
                <a:latin typeface="Consolas" panose="020B0609020204030204" pitchFamily="49" charset="0"/>
              </a:rPr>
              <a:t> </a:t>
            </a:r>
            <a:r>
              <a:rPr lang="en-US" sz="2000" b="1" dirty="0" err="1">
                <a:latin typeface="Consolas" panose="020B0609020204030204" pitchFamily="49" charset="0"/>
              </a:rPr>
              <a:t>ClockInterface</a:t>
            </a:r>
            <a:r>
              <a:rPr lang="en-US" sz="2000" b="1" dirty="0">
                <a:latin typeface="Consolas" panose="020B0609020204030204" pitchFamily="49" charset="0"/>
              </a:rPr>
              <a:t> { </a:t>
            </a:r>
          </a:p>
          <a:p>
            <a:r>
              <a:rPr lang="en-US" sz="2000" b="1" dirty="0">
                <a:latin typeface="Consolas" panose="020B0609020204030204" pitchFamily="49" charset="0"/>
              </a:rPr>
              <a:t>	</a:t>
            </a:r>
            <a:r>
              <a:rPr lang="en-US" sz="2000" b="1" dirty="0" err="1">
                <a:latin typeface="Consolas" panose="020B0609020204030204" pitchFamily="49" charset="0"/>
              </a:rPr>
              <a:t>currentTime</a:t>
            </a:r>
            <a:r>
              <a:rPr lang="en-US" sz="2000" b="1" dirty="0">
                <a:latin typeface="Consolas" panose="020B0609020204030204" pitchFamily="49" charset="0"/>
              </a:rPr>
              <a:t>: Date; </a:t>
            </a:r>
          </a:p>
          <a:p>
            <a:r>
              <a:rPr lang="en-US" sz="2000" b="1" dirty="0">
                <a:latin typeface="Consolas" panose="020B0609020204030204" pitchFamily="49" charset="0"/>
              </a:rPr>
              <a:t>	</a:t>
            </a:r>
            <a:r>
              <a:rPr lang="en-US" sz="2000" b="1" dirty="0" err="1">
                <a:latin typeface="Consolas" panose="020B0609020204030204" pitchFamily="49" charset="0"/>
              </a:rPr>
              <a:t>setTime</a:t>
            </a:r>
            <a:r>
              <a:rPr lang="en-US" sz="2000" b="1" dirty="0">
                <a:latin typeface="Consolas" panose="020B0609020204030204" pitchFamily="49" charset="0"/>
              </a:rPr>
              <a:t>(d: Date); </a:t>
            </a:r>
          </a:p>
          <a:p>
            <a:r>
              <a:rPr lang="en-US" sz="2000" b="1" dirty="0">
                <a:latin typeface="Consolas" panose="020B0609020204030204" pitchFamily="49" charset="0"/>
              </a:rPr>
              <a:t>} </a:t>
            </a:r>
          </a:p>
          <a:p>
            <a:endParaRPr lang="en-US" sz="2000" b="1" dirty="0">
              <a:solidFill>
                <a:srgbClr val="0000FF"/>
              </a:solidFill>
              <a:latin typeface="Consolas" panose="020B0609020204030204" pitchFamily="49" charset="0"/>
            </a:endParaRPr>
          </a:p>
          <a:p>
            <a:r>
              <a:rPr lang="en-US" sz="2000" b="1" dirty="0">
                <a:solidFill>
                  <a:srgbClr val="0000FF"/>
                </a:solidFill>
                <a:latin typeface="Consolas" panose="020B0609020204030204" pitchFamily="49" charset="0"/>
              </a:rPr>
              <a:t>class</a:t>
            </a:r>
            <a:r>
              <a:rPr lang="en-US" sz="2000" b="1" dirty="0">
                <a:latin typeface="Consolas" panose="020B0609020204030204" pitchFamily="49" charset="0"/>
              </a:rPr>
              <a:t> Clock </a:t>
            </a:r>
            <a:r>
              <a:rPr lang="en-US" sz="2000" b="1" dirty="0">
                <a:solidFill>
                  <a:srgbClr val="0000FF"/>
                </a:solidFill>
                <a:latin typeface="Consolas" panose="020B0609020204030204" pitchFamily="49" charset="0"/>
              </a:rPr>
              <a:t>implements</a:t>
            </a:r>
            <a:r>
              <a:rPr lang="en-US" sz="2000" b="1" dirty="0">
                <a:latin typeface="Consolas" panose="020B0609020204030204" pitchFamily="49" charset="0"/>
              </a:rPr>
              <a:t> </a:t>
            </a:r>
            <a:r>
              <a:rPr lang="en-US" sz="2000" b="1" dirty="0" err="1">
                <a:latin typeface="Consolas" panose="020B0609020204030204" pitchFamily="49" charset="0"/>
              </a:rPr>
              <a:t>ClockInterface</a:t>
            </a:r>
            <a:r>
              <a:rPr lang="en-US" sz="2000" b="1" dirty="0">
                <a:latin typeface="Consolas" panose="020B0609020204030204" pitchFamily="49" charset="0"/>
              </a:rPr>
              <a:t> { </a:t>
            </a:r>
          </a:p>
          <a:p>
            <a:r>
              <a:rPr lang="en-US" sz="2000" b="1" dirty="0">
                <a:latin typeface="Consolas" panose="020B0609020204030204" pitchFamily="49" charset="0"/>
              </a:rPr>
              <a:t>	</a:t>
            </a:r>
            <a:r>
              <a:rPr lang="en-US" sz="2000" b="1" dirty="0" err="1">
                <a:latin typeface="Consolas" panose="020B0609020204030204" pitchFamily="49" charset="0"/>
              </a:rPr>
              <a:t>currentTime</a:t>
            </a:r>
            <a:r>
              <a:rPr lang="en-US" sz="2000" b="1" dirty="0">
                <a:latin typeface="Consolas" panose="020B0609020204030204" pitchFamily="49" charset="0"/>
              </a:rPr>
              <a:t>: Date; </a:t>
            </a:r>
          </a:p>
          <a:p>
            <a:r>
              <a:rPr lang="en-US" sz="2000" b="1" dirty="0">
                <a:latin typeface="Consolas" panose="020B0609020204030204" pitchFamily="49" charset="0"/>
              </a:rPr>
              <a:t>	</a:t>
            </a:r>
          </a:p>
          <a:p>
            <a:r>
              <a:rPr lang="en-US" sz="2000" b="1" dirty="0">
                <a:latin typeface="Consolas" panose="020B0609020204030204" pitchFamily="49" charset="0"/>
              </a:rPr>
              <a:t>	</a:t>
            </a:r>
            <a:r>
              <a:rPr lang="en-US" sz="2000" b="1" dirty="0" err="1">
                <a:latin typeface="Consolas" panose="020B0609020204030204" pitchFamily="49" charset="0"/>
              </a:rPr>
              <a:t>setTime</a:t>
            </a:r>
            <a:r>
              <a:rPr lang="en-US" sz="2000" b="1" dirty="0">
                <a:latin typeface="Consolas" panose="020B0609020204030204" pitchFamily="49" charset="0"/>
              </a:rPr>
              <a:t>(d: Date) { </a:t>
            </a:r>
          </a:p>
          <a:p>
            <a:r>
              <a:rPr lang="en-US" sz="2000" b="1" dirty="0">
                <a:solidFill>
                  <a:srgbClr val="0000FF"/>
                </a:solidFill>
                <a:latin typeface="Consolas" panose="020B0609020204030204" pitchFamily="49" charset="0"/>
              </a:rPr>
              <a:t>		</a:t>
            </a:r>
            <a:r>
              <a:rPr lang="en-US" sz="2000" b="1" dirty="0" err="1">
                <a:solidFill>
                  <a:srgbClr val="0000FF"/>
                </a:solidFill>
                <a:latin typeface="Consolas" panose="020B0609020204030204" pitchFamily="49" charset="0"/>
              </a:rPr>
              <a:t>this</a:t>
            </a:r>
            <a:r>
              <a:rPr lang="en-US" sz="2000" b="1" dirty="0" err="1">
                <a:latin typeface="Consolas" panose="020B0609020204030204" pitchFamily="49" charset="0"/>
              </a:rPr>
              <a:t>.currentTime</a:t>
            </a:r>
            <a:r>
              <a:rPr lang="en-US" sz="2000" b="1" dirty="0">
                <a:latin typeface="Consolas" panose="020B0609020204030204" pitchFamily="49" charset="0"/>
              </a:rPr>
              <a:t> = d; </a:t>
            </a:r>
          </a:p>
          <a:p>
            <a:r>
              <a:rPr lang="en-US" sz="2000" b="1" dirty="0">
                <a:latin typeface="Consolas" panose="020B0609020204030204" pitchFamily="49" charset="0"/>
              </a:rPr>
              <a:t>	} </a:t>
            </a:r>
          </a:p>
          <a:p>
            <a:endParaRPr lang="en-US" sz="2000" b="1" dirty="0">
              <a:latin typeface="Consolas" panose="020B0609020204030204" pitchFamily="49" charset="0"/>
            </a:endParaRPr>
          </a:p>
          <a:p>
            <a:r>
              <a:rPr lang="en-US" sz="2000" b="1" dirty="0">
                <a:latin typeface="Consolas" panose="020B0609020204030204" pitchFamily="49" charset="0"/>
              </a:rPr>
              <a:t>	constructor(h: number, m: number) { } </a:t>
            </a:r>
          </a:p>
          <a:p>
            <a:r>
              <a:rPr lang="en-US" sz="2000" b="1" dirty="0">
                <a:latin typeface="Consolas" panose="020B0609020204030204" pitchFamily="49" charset="0"/>
              </a:rPr>
              <a:t>}</a:t>
            </a:r>
            <a:endParaRPr lang="ru-RU" sz="2000" b="1" dirty="0">
              <a:latin typeface="Consolas" panose="020B0609020204030204" pitchFamily="49" charset="0"/>
            </a:endParaRPr>
          </a:p>
        </p:txBody>
      </p:sp>
    </p:spTree>
    <p:extLst>
      <p:ext uri="{BB962C8B-B14F-4D97-AF65-F5344CB8AC3E}">
        <p14:creationId xmlns:p14="http://schemas.microsoft.com/office/powerpoint/2010/main" val="312211553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азвание 1"/>
          <p:cNvSpPr>
            <a:spLocks noGrp="1"/>
          </p:cNvSpPr>
          <p:nvPr>
            <p:ph type="title"/>
          </p:nvPr>
        </p:nvSpPr>
        <p:spPr/>
        <p:txBody>
          <a:bodyPr/>
          <a:lstStyle/>
          <a:p>
            <a:pPr fontAlgn="base"/>
            <a:r>
              <a:rPr lang="en-US" dirty="0"/>
              <a:t>Interfaces: static/instance side of class</a:t>
            </a:r>
            <a:endParaRPr lang="ru-RU" dirty="0"/>
          </a:p>
        </p:txBody>
      </p:sp>
      <p:sp>
        <p:nvSpPr>
          <p:cNvPr id="5" name="Прямоугольник 4"/>
          <p:cNvSpPr/>
          <p:nvPr/>
        </p:nvSpPr>
        <p:spPr>
          <a:xfrm>
            <a:off x="2360612" y="1828800"/>
            <a:ext cx="8534400" cy="4401205"/>
          </a:xfrm>
          <a:prstGeom prst="rect">
            <a:avLst/>
          </a:prstGeom>
        </p:spPr>
        <p:txBody>
          <a:bodyPr wrap="square">
            <a:spAutoFit/>
          </a:bodyPr>
          <a:lstStyle/>
          <a:p>
            <a:r>
              <a:rPr lang="en-US" sz="2000" b="1" dirty="0">
                <a:solidFill>
                  <a:srgbClr val="0000FF"/>
                </a:solidFill>
                <a:latin typeface="Consolas" panose="020B0609020204030204" pitchFamily="49" charset="0"/>
              </a:rPr>
              <a:t>interface</a:t>
            </a:r>
            <a:r>
              <a:rPr lang="en-US" sz="2000" b="1" dirty="0">
                <a:solidFill>
                  <a:srgbClr val="000000"/>
                </a:solidFill>
                <a:latin typeface="Consolas" panose="020B0609020204030204" pitchFamily="49" charset="0"/>
              </a:rPr>
              <a:t> </a:t>
            </a:r>
            <a:r>
              <a:rPr lang="en-US" sz="2000" b="1" dirty="0" err="1">
                <a:solidFill>
                  <a:srgbClr val="000000"/>
                </a:solidFill>
                <a:latin typeface="Consolas" panose="020B0609020204030204" pitchFamily="49" charset="0"/>
              </a:rPr>
              <a:t>ClockStatic</a:t>
            </a:r>
            <a:r>
              <a:rPr lang="en-US" sz="2000" b="1" dirty="0">
                <a:solidFill>
                  <a:srgbClr val="000000"/>
                </a:solidFill>
                <a:latin typeface="Consolas" panose="020B0609020204030204" pitchFamily="49" charset="0"/>
              </a:rPr>
              <a:t> { </a:t>
            </a:r>
          </a:p>
          <a:p>
            <a:r>
              <a:rPr lang="en-US" sz="2000" b="1" dirty="0">
                <a:solidFill>
                  <a:srgbClr val="000000"/>
                </a:solidFill>
                <a:latin typeface="Consolas" panose="020B0609020204030204" pitchFamily="49" charset="0"/>
              </a:rPr>
              <a:t>	</a:t>
            </a:r>
            <a:r>
              <a:rPr lang="en-US" sz="2000" b="1" dirty="0">
                <a:solidFill>
                  <a:srgbClr val="0000FF"/>
                </a:solidFill>
                <a:latin typeface="Consolas" panose="020B0609020204030204" pitchFamily="49" charset="0"/>
              </a:rPr>
              <a:t>new</a:t>
            </a:r>
            <a:r>
              <a:rPr lang="en-US" sz="2000" b="1" dirty="0">
                <a:solidFill>
                  <a:srgbClr val="000000"/>
                </a:solidFill>
                <a:latin typeface="Consolas" panose="020B0609020204030204" pitchFamily="49" charset="0"/>
              </a:rPr>
              <a:t> (hour: number, minute: number); </a:t>
            </a:r>
          </a:p>
          <a:p>
            <a:r>
              <a:rPr lang="en-US" sz="2000" b="1" dirty="0">
                <a:solidFill>
                  <a:srgbClr val="000000"/>
                </a:solidFill>
                <a:latin typeface="Consolas" panose="020B0609020204030204" pitchFamily="49" charset="0"/>
              </a:rPr>
              <a:t>} </a:t>
            </a:r>
          </a:p>
          <a:p>
            <a:endParaRPr lang="en-US" sz="2000" b="1" dirty="0">
              <a:solidFill>
                <a:srgbClr val="000000"/>
              </a:solidFill>
              <a:latin typeface="Consolas" panose="020B0609020204030204" pitchFamily="49" charset="0"/>
            </a:endParaRPr>
          </a:p>
          <a:p>
            <a:r>
              <a:rPr lang="en-US" sz="2000" b="1" dirty="0">
                <a:solidFill>
                  <a:srgbClr val="0000FF"/>
                </a:solidFill>
                <a:latin typeface="Consolas" panose="020B0609020204030204" pitchFamily="49" charset="0"/>
              </a:rPr>
              <a:t>class</a:t>
            </a:r>
            <a:r>
              <a:rPr lang="en-US" sz="2000" b="1" dirty="0">
                <a:solidFill>
                  <a:srgbClr val="000000"/>
                </a:solidFill>
                <a:latin typeface="Consolas" panose="020B0609020204030204" pitchFamily="49" charset="0"/>
              </a:rPr>
              <a:t> Clock { </a:t>
            </a:r>
          </a:p>
          <a:p>
            <a:r>
              <a:rPr lang="en-US" sz="2000" b="1" dirty="0">
                <a:solidFill>
                  <a:srgbClr val="000000"/>
                </a:solidFill>
                <a:latin typeface="Consolas" panose="020B0609020204030204" pitchFamily="49" charset="0"/>
              </a:rPr>
              <a:t>	</a:t>
            </a:r>
            <a:r>
              <a:rPr lang="en-US" sz="2000" b="1" dirty="0" err="1">
                <a:solidFill>
                  <a:srgbClr val="000000"/>
                </a:solidFill>
                <a:latin typeface="Consolas" panose="020B0609020204030204" pitchFamily="49" charset="0"/>
              </a:rPr>
              <a:t>currentTime</a:t>
            </a:r>
            <a:r>
              <a:rPr lang="en-US" sz="2000" b="1" dirty="0">
                <a:solidFill>
                  <a:srgbClr val="000000"/>
                </a:solidFill>
                <a:latin typeface="Consolas" panose="020B0609020204030204" pitchFamily="49" charset="0"/>
              </a:rPr>
              <a:t>: Date; </a:t>
            </a:r>
          </a:p>
          <a:p>
            <a:r>
              <a:rPr lang="en-US" sz="2000" b="1" dirty="0">
                <a:solidFill>
                  <a:srgbClr val="000000"/>
                </a:solidFill>
                <a:latin typeface="Consolas" panose="020B0609020204030204" pitchFamily="49" charset="0"/>
              </a:rPr>
              <a:t>	</a:t>
            </a:r>
          </a:p>
          <a:p>
            <a:r>
              <a:rPr lang="en-US" sz="2000" b="1" dirty="0">
                <a:solidFill>
                  <a:srgbClr val="000000"/>
                </a:solidFill>
                <a:latin typeface="Consolas" panose="020B0609020204030204" pitchFamily="49" charset="0"/>
              </a:rPr>
              <a:t>	constructor(h: number, m: number) { } </a:t>
            </a:r>
          </a:p>
          <a:p>
            <a:r>
              <a:rPr lang="en-US" sz="2000" b="1" dirty="0">
                <a:solidFill>
                  <a:srgbClr val="000000"/>
                </a:solidFill>
                <a:latin typeface="Consolas" panose="020B0609020204030204" pitchFamily="49" charset="0"/>
              </a:rPr>
              <a:t>} </a:t>
            </a:r>
          </a:p>
          <a:p>
            <a:endParaRPr lang="en-US" sz="2000" b="1" dirty="0">
              <a:solidFill>
                <a:srgbClr val="000000"/>
              </a:solidFill>
              <a:latin typeface="Consolas" panose="020B0609020204030204" pitchFamily="49" charset="0"/>
            </a:endParaRPr>
          </a:p>
          <a:p>
            <a:r>
              <a:rPr lang="en-US" sz="2000" b="1" dirty="0" err="1">
                <a:solidFill>
                  <a:srgbClr val="0000FF"/>
                </a:solidFill>
                <a:latin typeface="Consolas" panose="020B0609020204030204" pitchFamily="49" charset="0"/>
              </a:rPr>
              <a:t>var</a:t>
            </a:r>
            <a:r>
              <a:rPr lang="en-US" sz="2000" b="1" dirty="0">
                <a:solidFill>
                  <a:srgbClr val="000000"/>
                </a:solidFill>
                <a:latin typeface="Consolas" panose="020B0609020204030204" pitchFamily="49" charset="0"/>
              </a:rPr>
              <a:t> </a:t>
            </a:r>
            <a:r>
              <a:rPr lang="en-US" sz="2000" b="1" dirty="0" err="1">
                <a:solidFill>
                  <a:srgbClr val="000000"/>
                </a:solidFill>
                <a:latin typeface="Consolas" panose="020B0609020204030204" pitchFamily="49" charset="0"/>
              </a:rPr>
              <a:t>cs</a:t>
            </a:r>
            <a:r>
              <a:rPr lang="en-US" sz="2000" b="1" dirty="0">
                <a:solidFill>
                  <a:srgbClr val="000000"/>
                </a:solidFill>
                <a:latin typeface="Consolas" panose="020B0609020204030204" pitchFamily="49" charset="0"/>
              </a:rPr>
              <a:t>: </a:t>
            </a:r>
            <a:r>
              <a:rPr lang="en-US" sz="2000" b="1" dirty="0" err="1">
                <a:solidFill>
                  <a:srgbClr val="000000"/>
                </a:solidFill>
                <a:latin typeface="Consolas" panose="020B0609020204030204" pitchFamily="49" charset="0"/>
              </a:rPr>
              <a:t>ClockStatic</a:t>
            </a:r>
            <a:r>
              <a:rPr lang="en-US" sz="2000" b="1" dirty="0">
                <a:solidFill>
                  <a:srgbClr val="000000"/>
                </a:solidFill>
                <a:latin typeface="Consolas" panose="020B0609020204030204" pitchFamily="49" charset="0"/>
              </a:rPr>
              <a:t> = Clock; </a:t>
            </a:r>
          </a:p>
          <a:p>
            <a:r>
              <a:rPr lang="en-US" sz="2000" b="1" dirty="0" err="1">
                <a:solidFill>
                  <a:srgbClr val="0000FF"/>
                </a:solidFill>
                <a:latin typeface="Consolas" panose="020B0609020204030204" pitchFamily="49" charset="0"/>
              </a:rPr>
              <a:t>var</a:t>
            </a:r>
            <a:r>
              <a:rPr lang="en-US" sz="2000" b="1" dirty="0">
                <a:solidFill>
                  <a:srgbClr val="000000"/>
                </a:solidFill>
                <a:latin typeface="Consolas" panose="020B0609020204030204" pitchFamily="49" charset="0"/>
              </a:rPr>
              <a:t> </a:t>
            </a:r>
            <a:r>
              <a:rPr lang="en-US" sz="2000" b="1" dirty="0" err="1">
                <a:solidFill>
                  <a:srgbClr val="000000"/>
                </a:solidFill>
                <a:latin typeface="Consolas" panose="020B0609020204030204" pitchFamily="49" charset="0"/>
              </a:rPr>
              <a:t>newClock</a:t>
            </a:r>
            <a:r>
              <a:rPr lang="en-US" sz="2000" b="1" dirty="0">
                <a:solidFill>
                  <a:srgbClr val="000000"/>
                </a:solidFill>
                <a:latin typeface="Consolas" panose="020B0609020204030204" pitchFamily="49" charset="0"/>
              </a:rPr>
              <a:t> = </a:t>
            </a:r>
            <a:r>
              <a:rPr lang="en-US" sz="2000" b="1" dirty="0">
                <a:solidFill>
                  <a:srgbClr val="0000FF"/>
                </a:solidFill>
                <a:latin typeface="Consolas" panose="020B0609020204030204" pitchFamily="49" charset="0"/>
              </a:rPr>
              <a:t>new</a:t>
            </a:r>
            <a:r>
              <a:rPr lang="en-US" sz="2000" b="1" dirty="0">
                <a:solidFill>
                  <a:srgbClr val="000000"/>
                </a:solidFill>
                <a:latin typeface="Consolas" panose="020B0609020204030204" pitchFamily="49" charset="0"/>
              </a:rPr>
              <a:t> </a:t>
            </a:r>
            <a:r>
              <a:rPr lang="en-US" sz="2000" b="1" dirty="0" err="1">
                <a:solidFill>
                  <a:srgbClr val="000000"/>
                </a:solidFill>
                <a:latin typeface="Consolas" panose="020B0609020204030204" pitchFamily="49" charset="0"/>
              </a:rPr>
              <a:t>cs</a:t>
            </a:r>
            <a:r>
              <a:rPr lang="en-US" sz="2000" b="1" dirty="0">
                <a:solidFill>
                  <a:srgbClr val="000000"/>
                </a:solidFill>
                <a:latin typeface="Consolas" panose="020B0609020204030204" pitchFamily="49" charset="0"/>
              </a:rPr>
              <a:t>(7, 30); </a:t>
            </a:r>
          </a:p>
          <a:p>
            <a:br>
              <a:rPr lang="en-US" sz="2000" b="1" dirty="0">
                <a:latin typeface="Consolas" panose="020B0609020204030204" pitchFamily="49" charset="0"/>
              </a:rPr>
            </a:br>
            <a:endParaRPr lang="ru-RU" sz="2000" b="1" dirty="0">
              <a:latin typeface="Consolas" panose="020B0609020204030204" pitchFamily="49" charset="0"/>
            </a:endParaRPr>
          </a:p>
        </p:txBody>
      </p:sp>
    </p:spTree>
    <p:extLst>
      <p:ext uri="{BB962C8B-B14F-4D97-AF65-F5344CB8AC3E}">
        <p14:creationId xmlns:p14="http://schemas.microsoft.com/office/powerpoint/2010/main" val="288166288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азвание 1"/>
          <p:cNvSpPr>
            <a:spLocks noGrp="1"/>
          </p:cNvSpPr>
          <p:nvPr>
            <p:ph type="title"/>
          </p:nvPr>
        </p:nvSpPr>
        <p:spPr/>
        <p:txBody>
          <a:bodyPr/>
          <a:lstStyle/>
          <a:p>
            <a:pPr fontAlgn="base"/>
            <a:r>
              <a:rPr lang="en-US" dirty="0"/>
              <a:t>Extending Interfaces</a:t>
            </a:r>
            <a:endParaRPr lang="ru-RU" dirty="0"/>
          </a:p>
        </p:txBody>
      </p:sp>
      <p:sp>
        <p:nvSpPr>
          <p:cNvPr id="5" name="Прямоугольник 4"/>
          <p:cNvSpPr/>
          <p:nvPr/>
        </p:nvSpPr>
        <p:spPr>
          <a:xfrm>
            <a:off x="2436812" y="1691560"/>
            <a:ext cx="6636936" cy="4801314"/>
          </a:xfrm>
          <a:prstGeom prst="rect">
            <a:avLst/>
          </a:prstGeom>
        </p:spPr>
        <p:txBody>
          <a:bodyPr wrap="square">
            <a:spAutoFit/>
          </a:bodyPr>
          <a:lstStyle/>
          <a:p>
            <a:r>
              <a:rPr lang="en-US" b="1" dirty="0">
                <a:solidFill>
                  <a:srgbClr val="0000FF"/>
                </a:solidFill>
                <a:latin typeface="Consolas" panose="020B0609020204030204" pitchFamily="49" charset="0"/>
              </a:rPr>
              <a:t>interface</a:t>
            </a:r>
            <a:r>
              <a:rPr lang="en-US" b="1" dirty="0">
                <a:latin typeface="Consolas" panose="020B0609020204030204" pitchFamily="49" charset="0"/>
              </a:rPr>
              <a:t> Shape { </a:t>
            </a:r>
          </a:p>
          <a:p>
            <a:r>
              <a:rPr lang="en-US" b="1" dirty="0">
                <a:latin typeface="Consolas" panose="020B0609020204030204" pitchFamily="49" charset="0"/>
              </a:rPr>
              <a:t>	color: string; </a:t>
            </a:r>
          </a:p>
          <a:p>
            <a:r>
              <a:rPr lang="en-US" b="1" dirty="0">
                <a:latin typeface="Consolas" panose="020B0609020204030204" pitchFamily="49" charset="0"/>
              </a:rPr>
              <a:t>} </a:t>
            </a:r>
          </a:p>
          <a:p>
            <a:endParaRPr lang="en-US" b="1" dirty="0">
              <a:solidFill>
                <a:srgbClr val="0000FF"/>
              </a:solidFill>
              <a:latin typeface="Consolas" panose="020B0609020204030204" pitchFamily="49" charset="0"/>
            </a:endParaRPr>
          </a:p>
          <a:p>
            <a:r>
              <a:rPr lang="en-US" b="1" dirty="0">
                <a:solidFill>
                  <a:srgbClr val="0000FF"/>
                </a:solidFill>
                <a:latin typeface="Consolas" panose="020B0609020204030204" pitchFamily="49" charset="0"/>
              </a:rPr>
              <a:t>interface</a:t>
            </a:r>
            <a:r>
              <a:rPr lang="en-US" b="1" dirty="0">
                <a:latin typeface="Consolas" panose="020B0609020204030204" pitchFamily="49" charset="0"/>
              </a:rPr>
              <a:t> </a:t>
            </a:r>
            <a:r>
              <a:rPr lang="en-US" b="1" dirty="0" err="1">
                <a:latin typeface="Consolas" panose="020B0609020204030204" pitchFamily="49" charset="0"/>
              </a:rPr>
              <a:t>PenStroke</a:t>
            </a:r>
            <a:r>
              <a:rPr lang="en-US" b="1" dirty="0">
                <a:latin typeface="Consolas" panose="020B0609020204030204" pitchFamily="49" charset="0"/>
              </a:rPr>
              <a:t> { </a:t>
            </a:r>
          </a:p>
          <a:p>
            <a:r>
              <a:rPr lang="en-US" b="1" dirty="0">
                <a:latin typeface="Consolas" panose="020B0609020204030204" pitchFamily="49" charset="0"/>
              </a:rPr>
              <a:t>	</a:t>
            </a:r>
            <a:r>
              <a:rPr lang="en-US" b="1" dirty="0" err="1">
                <a:latin typeface="Consolas" panose="020B0609020204030204" pitchFamily="49" charset="0"/>
              </a:rPr>
              <a:t>penWidth</a:t>
            </a:r>
            <a:r>
              <a:rPr lang="en-US" b="1" dirty="0">
                <a:latin typeface="Consolas" panose="020B0609020204030204" pitchFamily="49" charset="0"/>
              </a:rPr>
              <a:t>: number; </a:t>
            </a:r>
          </a:p>
          <a:p>
            <a:r>
              <a:rPr lang="en-US" b="1" dirty="0">
                <a:latin typeface="Consolas" panose="020B0609020204030204" pitchFamily="49" charset="0"/>
              </a:rPr>
              <a:t>} </a:t>
            </a:r>
          </a:p>
          <a:p>
            <a:endParaRPr lang="en-US" b="1" dirty="0">
              <a:solidFill>
                <a:srgbClr val="0000FF"/>
              </a:solidFill>
              <a:latin typeface="Consolas" panose="020B0609020204030204" pitchFamily="49" charset="0"/>
            </a:endParaRPr>
          </a:p>
          <a:p>
            <a:r>
              <a:rPr lang="en-US" b="1" dirty="0">
                <a:solidFill>
                  <a:srgbClr val="0000FF"/>
                </a:solidFill>
                <a:latin typeface="Consolas" panose="020B0609020204030204" pitchFamily="49" charset="0"/>
              </a:rPr>
              <a:t>interface</a:t>
            </a:r>
            <a:r>
              <a:rPr lang="en-US" b="1" dirty="0">
                <a:latin typeface="Consolas" panose="020B0609020204030204" pitchFamily="49" charset="0"/>
              </a:rPr>
              <a:t> Square </a:t>
            </a:r>
            <a:r>
              <a:rPr lang="en-US" b="1" dirty="0">
                <a:solidFill>
                  <a:srgbClr val="0000FF"/>
                </a:solidFill>
                <a:latin typeface="Consolas" panose="020B0609020204030204" pitchFamily="49" charset="0"/>
              </a:rPr>
              <a:t>extends</a:t>
            </a:r>
            <a:r>
              <a:rPr lang="en-US" b="1" dirty="0">
                <a:latin typeface="Consolas" panose="020B0609020204030204" pitchFamily="49" charset="0"/>
              </a:rPr>
              <a:t> Shape, </a:t>
            </a:r>
            <a:r>
              <a:rPr lang="en-US" b="1" dirty="0" err="1">
                <a:latin typeface="Consolas" panose="020B0609020204030204" pitchFamily="49" charset="0"/>
              </a:rPr>
              <a:t>PenStroke</a:t>
            </a:r>
            <a:r>
              <a:rPr lang="en-US" b="1" dirty="0">
                <a:latin typeface="Consolas" panose="020B0609020204030204" pitchFamily="49" charset="0"/>
              </a:rPr>
              <a:t> { </a:t>
            </a:r>
          </a:p>
          <a:p>
            <a:r>
              <a:rPr lang="en-US" b="1" dirty="0">
                <a:latin typeface="Consolas" panose="020B0609020204030204" pitchFamily="49" charset="0"/>
              </a:rPr>
              <a:t>	</a:t>
            </a:r>
            <a:r>
              <a:rPr lang="en-US" b="1" dirty="0" err="1">
                <a:latin typeface="Consolas" panose="020B0609020204030204" pitchFamily="49" charset="0"/>
              </a:rPr>
              <a:t>sideLength</a:t>
            </a:r>
            <a:r>
              <a:rPr lang="en-US" b="1" dirty="0">
                <a:latin typeface="Consolas" panose="020B0609020204030204" pitchFamily="49" charset="0"/>
              </a:rPr>
              <a:t>: number; </a:t>
            </a:r>
          </a:p>
          <a:p>
            <a:r>
              <a:rPr lang="en-US" b="1" dirty="0">
                <a:latin typeface="Consolas" panose="020B0609020204030204" pitchFamily="49" charset="0"/>
              </a:rPr>
              <a:t>} </a:t>
            </a:r>
          </a:p>
          <a:p>
            <a:endParaRPr lang="en-US" b="1" dirty="0">
              <a:solidFill>
                <a:srgbClr val="0000FF"/>
              </a:solidFill>
              <a:latin typeface="Consolas" panose="020B0609020204030204" pitchFamily="49" charset="0"/>
            </a:endParaRPr>
          </a:p>
          <a:p>
            <a:r>
              <a:rPr lang="en-US" b="1" dirty="0" err="1">
                <a:solidFill>
                  <a:srgbClr val="0000FF"/>
                </a:solidFill>
                <a:latin typeface="Consolas" panose="020B0609020204030204" pitchFamily="49" charset="0"/>
              </a:rPr>
              <a:t>var</a:t>
            </a:r>
            <a:r>
              <a:rPr lang="en-US" b="1" dirty="0">
                <a:latin typeface="Consolas" panose="020B0609020204030204" pitchFamily="49" charset="0"/>
              </a:rPr>
              <a:t> square = &lt;Square&gt;{}; </a:t>
            </a:r>
          </a:p>
          <a:p>
            <a:r>
              <a:rPr lang="en-US" b="1" dirty="0" err="1">
                <a:latin typeface="Consolas" panose="020B0609020204030204" pitchFamily="49" charset="0"/>
              </a:rPr>
              <a:t>square.color</a:t>
            </a:r>
            <a:r>
              <a:rPr lang="en-US" b="1" dirty="0">
                <a:latin typeface="Consolas" panose="020B0609020204030204" pitchFamily="49" charset="0"/>
              </a:rPr>
              <a:t> = </a:t>
            </a:r>
            <a:r>
              <a:rPr lang="en-US" b="1" dirty="0">
                <a:solidFill>
                  <a:srgbClr val="A31515"/>
                </a:solidFill>
                <a:latin typeface="Consolas" panose="020B0609020204030204" pitchFamily="49" charset="0"/>
              </a:rPr>
              <a:t>"blue"</a:t>
            </a:r>
            <a:r>
              <a:rPr lang="en-US" b="1" dirty="0">
                <a:latin typeface="Consolas" panose="020B0609020204030204" pitchFamily="49" charset="0"/>
              </a:rPr>
              <a:t>; </a:t>
            </a:r>
          </a:p>
          <a:p>
            <a:r>
              <a:rPr lang="en-US" b="1" dirty="0" err="1">
                <a:latin typeface="Consolas" panose="020B0609020204030204" pitchFamily="49" charset="0"/>
              </a:rPr>
              <a:t>square.sideLength</a:t>
            </a:r>
            <a:r>
              <a:rPr lang="en-US" b="1" dirty="0">
                <a:latin typeface="Consolas" panose="020B0609020204030204" pitchFamily="49" charset="0"/>
              </a:rPr>
              <a:t> = 10; </a:t>
            </a:r>
          </a:p>
          <a:p>
            <a:r>
              <a:rPr lang="en-US" b="1" dirty="0" err="1">
                <a:latin typeface="Consolas" panose="020B0609020204030204" pitchFamily="49" charset="0"/>
              </a:rPr>
              <a:t>square.penWidth</a:t>
            </a:r>
            <a:r>
              <a:rPr lang="en-US" b="1" dirty="0">
                <a:latin typeface="Consolas" panose="020B0609020204030204" pitchFamily="49" charset="0"/>
              </a:rPr>
              <a:t> = 5.0;</a:t>
            </a:r>
            <a:br>
              <a:rPr lang="en-US" b="1" dirty="0">
                <a:latin typeface="Consolas" panose="020B0609020204030204" pitchFamily="49" charset="0"/>
              </a:rPr>
            </a:br>
            <a:endParaRPr lang="ru-RU" b="1" dirty="0">
              <a:latin typeface="Consolas" panose="020B0609020204030204" pitchFamily="49" charset="0"/>
            </a:endParaRPr>
          </a:p>
        </p:txBody>
      </p:sp>
    </p:spTree>
    <p:extLst>
      <p:ext uri="{BB962C8B-B14F-4D97-AF65-F5344CB8AC3E}">
        <p14:creationId xmlns:p14="http://schemas.microsoft.com/office/powerpoint/2010/main" val="410972225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азвание 1"/>
          <p:cNvSpPr>
            <a:spLocks noGrp="1"/>
          </p:cNvSpPr>
          <p:nvPr>
            <p:ph type="title"/>
          </p:nvPr>
        </p:nvSpPr>
        <p:spPr/>
        <p:txBody>
          <a:bodyPr/>
          <a:lstStyle/>
          <a:p>
            <a:pPr fontAlgn="base"/>
            <a:r>
              <a:rPr lang="en-US" dirty="0"/>
              <a:t>Interfaces: Hybrid Types</a:t>
            </a:r>
            <a:endParaRPr lang="ru-RU" dirty="0"/>
          </a:p>
        </p:txBody>
      </p:sp>
      <p:sp>
        <p:nvSpPr>
          <p:cNvPr id="5" name="Прямоугольник 4"/>
          <p:cNvSpPr/>
          <p:nvPr/>
        </p:nvSpPr>
        <p:spPr>
          <a:xfrm>
            <a:off x="2589212" y="1981200"/>
            <a:ext cx="6636936" cy="3477875"/>
          </a:xfrm>
          <a:prstGeom prst="rect">
            <a:avLst/>
          </a:prstGeom>
        </p:spPr>
        <p:txBody>
          <a:bodyPr wrap="square">
            <a:spAutoFit/>
          </a:bodyPr>
          <a:lstStyle/>
          <a:p>
            <a:r>
              <a:rPr lang="en-US" sz="2000" b="1" dirty="0">
                <a:solidFill>
                  <a:srgbClr val="0000FF"/>
                </a:solidFill>
                <a:latin typeface="Consolas" panose="020B0609020204030204" pitchFamily="49" charset="0"/>
              </a:rPr>
              <a:t>interface</a:t>
            </a:r>
            <a:r>
              <a:rPr lang="en-US" sz="2000" b="1" dirty="0">
                <a:latin typeface="Consolas" panose="020B0609020204030204" pitchFamily="49" charset="0"/>
              </a:rPr>
              <a:t> Counter { </a:t>
            </a:r>
          </a:p>
          <a:p>
            <a:r>
              <a:rPr lang="en-US" sz="2000" b="1" dirty="0">
                <a:latin typeface="Consolas" panose="020B0609020204030204" pitchFamily="49" charset="0"/>
              </a:rPr>
              <a:t>	(start: number): string; </a:t>
            </a:r>
          </a:p>
          <a:p>
            <a:r>
              <a:rPr lang="en-US" sz="2000" b="1" dirty="0">
                <a:latin typeface="Consolas" panose="020B0609020204030204" pitchFamily="49" charset="0"/>
              </a:rPr>
              <a:t>	interval: number; </a:t>
            </a:r>
          </a:p>
          <a:p>
            <a:r>
              <a:rPr lang="en-US" sz="2000" b="1" dirty="0">
                <a:latin typeface="Consolas" panose="020B0609020204030204" pitchFamily="49" charset="0"/>
              </a:rPr>
              <a:t>	reset(): </a:t>
            </a:r>
            <a:r>
              <a:rPr lang="en-US" sz="2000" b="1" dirty="0">
                <a:solidFill>
                  <a:srgbClr val="0000FF"/>
                </a:solidFill>
                <a:latin typeface="Consolas" panose="020B0609020204030204" pitchFamily="49" charset="0"/>
              </a:rPr>
              <a:t>void</a:t>
            </a:r>
            <a:r>
              <a:rPr lang="en-US" sz="2000" b="1" dirty="0">
                <a:latin typeface="Consolas" panose="020B0609020204030204" pitchFamily="49" charset="0"/>
              </a:rPr>
              <a:t>; </a:t>
            </a:r>
          </a:p>
          <a:p>
            <a:r>
              <a:rPr lang="en-US" sz="2000" b="1" dirty="0">
                <a:latin typeface="Consolas" panose="020B0609020204030204" pitchFamily="49" charset="0"/>
              </a:rPr>
              <a:t>} </a:t>
            </a:r>
          </a:p>
          <a:p>
            <a:endParaRPr lang="en-US" sz="2000" b="1" dirty="0">
              <a:solidFill>
                <a:srgbClr val="0000FF"/>
              </a:solidFill>
              <a:latin typeface="Consolas" panose="020B0609020204030204" pitchFamily="49" charset="0"/>
            </a:endParaRPr>
          </a:p>
          <a:p>
            <a:r>
              <a:rPr lang="en-US" sz="2000" b="1" dirty="0">
                <a:solidFill>
                  <a:srgbClr val="0000FF"/>
                </a:solidFill>
                <a:latin typeface="Consolas" panose="020B0609020204030204" pitchFamily="49" charset="0"/>
              </a:rPr>
              <a:t>var</a:t>
            </a:r>
            <a:r>
              <a:rPr lang="en-US" sz="2000" b="1" dirty="0">
                <a:latin typeface="Consolas" panose="020B0609020204030204" pitchFamily="49" charset="0"/>
              </a:rPr>
              <a:t> c: Counter; </a:t>
            </a:r>
          </a:p>
          <a:p>
            <a:r>
              <a:rPr lang="en-US" sz="2000" b="1" dirty="0">
                <a:latin typeface="Consolas" panose="020B0609020204030204" pitchFamily="49" charset="0"/>
              </a:rPr>
              <a:t>c(10); </a:t>
            </a:r>
          </a:p>
          <a:p>
            <a:r>
              <a:rPr lang="en-US" sz="2000" b="1" dirty="0" err="1">
                <a:latin typeface="Consolas" panose="020B0609020204030204" pitchFamily="49" charset="0"/>
              </a:rPr>
              <a:t>c.reset</a:t>
            </a:r>
            <a:r>
              <a:rPr lang="en-US" sz="2000" b="1" dirty="0">
                <a:latin typeface="Consolas" panose="020B0609020204030204" pitchFamily="49" charset="0"/>
              </a:rPr>
              <a:t>(); </a:t>
            </a:r>
          </a:p>
          <a:p>
            <a:r>
              <a:rPr lang="en-US" sz="2000" b="1" dirty="0" err="1">
                <a:latin typeface="Consolas" panose="020B0609020204030204" pitchFamily="49" charset="0"/>
              </a:rPr>
              <a:t>c.interval</a:t>
            </a:r>
            <a:r>
              <a:rPr lang="en-US" sz="2000" b="1" dirty="0">
                <a:latin typeface="Consolas" panose="020B0609020204030204" pitchFamily="49" charset="0"/>
              </a:rPr>
              <a:t> = 5.0;</a:t>
            </a:r>
            <a:br>
              <a:rPr lang="en-US" sz="2000" b="1" dirty="0">
                <a:latin typeface="Consolas" panose="020B0609020204030204" pitchFamily="49" charset="0"/>
              </a:rPr>
            </a:br>
            <a:endParaRPr lang="ru-RU" sz="2000" b="1" dirty="0">
              <a:latin typeface="Consolas" panose="020B0609020204030204" pitchFamily="49" charset="0"/>
            </a:endParaRPr>
          </a:p>
        </p:txBody>
      </p:sp>
    </p:spTree>
    <p:extLst>
      <p:ext uri="{BB962C8B-B14F-4D97-AF65-F5344CB8AC3E}">
        <p14:creationId xmlns:p14="http://schemas.microsoft.com/office/powerpoint/2010/main" val="235875439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70018" name="Rectangle 2"/>
          <p:cNvSpPr>
            <a:spLocks noGrp="1" noChangeArrowheads="1"/>
          </p:cNvSpPr>
          <p:nvPr>
            <p:ph type="title"/>
          </p:nvPr>
        </p:nvSpPr>
        <p:spPr/>
        <p:txBody>
          <a:bodyPr>
            <a:normAutofit fontScale="90000"/>
          </a:bodyPr>
          <a:lstStyle/>
          <a:p>
            <a:pPr>
              <a:lnSpc>
                <a:spcPct val="100000"/>
              </a:lnSpc>
            </a:pPr>
            <a:r>
              <a:rPr lang="en-US" sz="3600" dirty="0"/>
              <a:t>Typescript: Adding interface</a:t>
            </a:r>
            <a:endParaRPr lang="en-US" sz="3600" dirty="0">
              <a:solidFill>
                <a:schemeClr val="accent1">
                  <a:lumMod val="60000"/>
                  <a:lumOff val="40000"/>
                </a:schemeClr>
              </a:solidFill>
            </a:endParaRPr>
          </a:p>
        </p:txBody>
      </p:sp>
      <p:sp>
        <p:nvSpPr>
          <p:cNvPr id="470019" name="Rectangle 3"/>
          <p:cNvSpPr>
            <a:spLocks noGrp="1" noChangeArrowheads="1"/>
          </p:cNvSpPr>
          <p:nvPr>
            <p:ph idx="4294967295"/>
          </p:nvPr>
        </p:nvSpPr>
        <p:spPr>
          <a:xfrm>
            <a:off x="0" y="881063"/>
            <a:ext cx="10134600" cy="5715000"/>
          </a:xfrm>
        </p:spPr>
        <p:txBody>
          <a:bodyPr>
            <a:normAutofit/>
          </a:bodyPr>
          <a:lstStyle/>
          <a:p>
            <a:pPr marL="0" indent="0">
              <a:lnSpc>
                <a:spcPct val="100000"/>
              </a:lnSpc>
              <a:buNone/>
            </a:pPr>
            <a:endParaRPr lang="en-US" sz="2800" dirty="0">
              <a:solidFill>
                <a:schemeClr val="accent1">
                  <a:lumMod val="60000"/>
                  <a:lumOff val="40000"/>
                </a:schemeClr>
              </a:solidFill>
            </a:endParaRPr>
          </a:p>
          <a:p>
            <a:pPr>
              <a:lnSpc>
                <a:spcPct val="100000"/>
              </a:lnSpc>
              <a:spcBef>
                <a:spcPts val="0"/>
              </a:spcBef>
              <a:spcAft>
                <a:spcPts val="0"/>
              </a:spcAft>
            </a:pPr>
            <a:endParaRPr lang="en-US" sz="2800" dirty="0">
              <a:solidFill>
                <a:schemeClr val="accent1">
                  <a:lumMod val="60000"/>
                  <a:lumOff val="40000"/>
                </a:schemeClr>
              </a:solidFill>
            </a:endParaRPr>
          </a:p>
        </p:txBody>
      </p:sp>
      <p:sp>
        <p:nvSpPr>
          <p:cNvPr id="6" name="Rectangle 4"/>
          <p:cNvSpPr>
            <a:spLocks noChangeArrowheads="1"/>
          </p:cNvSpPr>
          <p:nvPr/>
        </p:nvSpPr>
        <p:spPr bwMode="auto">
          <a:xfrm>
            <a:off x="418307" y="1378824"/>
            <a:ext cx="9599611" cy="4708981"/>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pPr>
            <a:r>
              <a:rPr lang="en-US" sz="2000" b="1" noProof="1">
                <a:solidFill>
                  <a:srgbClr val="FF0000"/>
                </a:solidFill>
                <a:latin typeface="Consolas" pitchFamily="49" charset="0"/>
                <a:cs typeface="Consolas" pitchFamily="49" charset="0"/>
              </a:rPr>
              <a:t>interface Person {</a:t>
            </a:r>
          </a:p>
          <a:p>
            <a:pPr eaLnBrk="0" hangingPunct="0">
              <a:buClr>
                <a:schemeClr val="accent5">
                  <a:lumMod val="40000"/>
                  <a:lumOff val="60000"/>
                </a:schemeClr>
              </a:buClr>
              <a:buSzPct val="70000"/>
            </a:pPr>
            <a:r>
              <a:rPr lang="en-US" sz="2000" b="1" noProof="1">
                <a:solidFill>
                  <a:srgbClr val="FF0000"/>
                </a:solidFill>
                <a:latin typeface="Consolas" pitchFamily="49" charset="0"/>
                <a:cs typeface="Consolas" pitchFamily="49" charset="0"/>
              </a:rPr>
              <a:t>  firstName: string,</a:t>
            </a:r>
          </a:p>
          <a:p>
            <a:pPr eaLnBrk="0" hangingPunct="0">
              <a:buClr>
                <a:schemeClr val="accent5">
                  <a:lumMod val="40000"/>
                  <a:lumOff val="60000"/>
                </a:schemeClr>
              </a:buClr>
              <a:buSzPct val="70000"/>
            </a:pPr>
            <a:r>
              <a:rPr lang="en-US" sz="2000" b="1" noProof="1">
                <a:solidFill>
                  <a:srgbClr val="FF0000"/>
                </a:solidFill>
                <a:latin typeface="Consolas" pitchFamily="49" charset="0"/>
                <a:cs typeface="Consolas" pitchFamily="49" charset="0"/>
              </a:rPr>
              <a:t>  lastname: string</a:t>
            </a:r>
          </a:p>
          <a:p>
            <a:pPr eaLnBrk="0" hangingPunct="0">
              <a:buClr>
                <a:schemeClr val="accent5">
                  <a:lumMod val="40000"/>
                  <a:lumOff val="60000"/>
                </a:schemeClr>
              </a:buClr>
              <a:buSzPct val="70000"/>
            </a:pPr>
            <a:r>
              <a:rPr lang="en-US" sz="2000" b="1" noProof="1">
                <a:solidFill>
                  <a:srgbClr val="FF0000"/>
                </a:solidFill>
                <a:latin typeface="Consolas" pitchFamily="49" charset="0"/>
                <a:cs typeface="Consolas" pitchFamily="49" charset="0"/>
              </a:rPr>
              <a:t>}</a:t>
            </a:r>
          </a:p>
          <a:p>
            <a:pPr eaLnBrk="0" hangingPunct="0">
              <a:buClr>
                <a:schemeClr val="accent5">
                  <a:lumMod val="40000"/>
                  <a:lumOff val="60000"/>
                </a:schemeClr>
              </a:buClr>
              <a:buSzPct val="70000"/>
            </a:pPr>
            <a:endParaRPr lang="en-US" sz="2000" b="1" noProof="1">
              <a:solidFill>
                <a:schemeClr val="accent1">
                  <a:lumMod val="60000"/>
                  <a:lumOff val="40000"/>
                </a:schemeClr>
              </a:solidFill>
              <a:latin typeface="Consolas" pitchFamily="49" charset="0"/>
              <a:cs typeface="Consolas" pitchFamily="49" charset="0"/>
            </a:endParaRPr>
          </a:p>
          <a:p>
            <a:pPr eaLnBrk="0" hangingPunct="0">
              <a:buClr>
                <a:schemeClr val="accent5">
                  <a:lumMod val="40000"/>
                  <a:lumOff val="60000"/>
                </a:schemeClr>
              </a:buClr>
              <a:buSzPct val="70000"/>
            </a:pPr>
            <a:r>
              <a:rPr lang="en-US" sz="2000" b="1" noProof="1">
                <a:latin typeface="Consolas" pitchFamily="49" charset="0"/>
                <a:cs typeface="Consolas" pitchFamily="49" charset="0"/>
              </a:rPr>
              <a:t>function sayHello (person</a:t>
            </a:r>
            <a:r>
              <a:rPr lang="en-US" sz="2000" b="1" noProof="1">
                <a:solidFill>
                  <a:srgbClr val="FF0000"/>
                </a:solidFill>
                <a:latin typeface="Consolas" pitchFamily="49" charset="0"/>
                <a:cs typeface="Consolas" pitchFamily="49" charset="0"/>
              </a:rPr>
              <a:t>: Person</a:t>
            </a:r>
            <a:r>
              <a:rPr lang="en-US" sz="2000" b="1" noProof="1">
                <a:latin typeface="Consolas" pitchFamily="49" charset="0"/>
                <a:cs typeface="Consolas" pitchFamily="49" charset="0"/>
              </a:rPr>
              <a:t>) {</a:t>
            </a:r>
          </a:p>
          <a:p>
            <a:pPr eaLnBrk="0" hangingPunct="0">
              <a:buClr>
                <a:schemeClr val="accent5">
                  <a:lumMod val="40000"/>
                  <a:lumOff val="60000"/>
                </a:schemeClr>
              </a:buClr>
              <a:buSzPct val="70000"/>
            </a:pPr>
            <a:r>
              <a:rPr lang="en-US" sz="2000" b="1" noProof="1">
                <a:latin typeface="Consolas" pitchFamily="49" charset="0"/>
                <a:cs typeface="Consolas" pitchFamily="49" charset="0"/>
              </a:rPr>
              <a:t>  return 'Hello from ' + person.firstName + ' ' + person.lastname</a:t>
            </a:r>
          </a:p>
          <a:p>
            <a:pPr eaLnBrk="0" hangingPunct="0">
              <a:buClr>
                <a:schemeClr val="accent5">
                  <a:lumMod val="40000"/>
                  <a:lumOff val="60000"/>
                </a:schemeClr>
              </a:buClr>
              <a:buSzPct val="70000"/>
            </a:pPr>
            <a:r>
              <a:rPr lang="en-US" sz="2000" b="1" noProof="1">
                <a:latin typeface="Consolas" pitchFamily="49" charset="0"/>
                <a:cs typeface="Consolas" pitchFamily="49" charset="0"/>
              </a:rPr>
              <a:t>}</a:t>
            </a:r>
          </a:p>
          <a:p>
            <a:pPr eaLnBrk="0" hangingPunct="0">
              <a:buClr>
                <a:schemeClr val="accent5">
                  <a:lumMod val="40000"/>
                  <a:lumOff val="60000"/>
                </a:schemeClr>
              </a:buClr>
              <a:buSzPct val="70000"/>
            </a:pPr>
            <a:endParaRPr lang="en-US" sz="2000" b="1" noProof="1">
              <a:solidFill>
                <a:schemeClr val="accent1">
                  <a:lumMod val="60000"/>
                  <a:lumOff val="40000"/>
                </a:schemeClr>
              </a:solidFill>
              <a:latin typeface="Consolas" pitchFamily="49" charset="0"/>
              <a:cs typeface="Consolas" pitchFamily="49" charset="0"/>
            </a:endParaRPr>
          </a:p>
          <a:p>
            <a:pPr eaLnBrk="0" hangingPunct="0">
              <a:buClr>
                <a:schemeClr val="accent5">
                  <a:lumMod val="40000"/>
                  <a:lumOff val="60000"/>
                </a:schemeClr>
              </a:buClr>
              <a:buSzPct val="70000"/>
            </a:pPr>
            <a:r>
              <a:rPr lang="en-US" sz="2000" b="1" noProof="1">
                <a:latin typeface="Consolas" pitchFamily="49" charset="0"/>
                <a:cs typeface="Consolas" pitchFamily="49" charset="0"/>
              </a:rPr>
              <a:t>let hello = sayHello(</a:t>
            </a:r>
            <a:r>
              <a:rPr lang="en-US" sz="2000" b="1" noProof="1">
                <a:solidFill>
                  <a:srgbClr val="FF0000"/>
                </a:solidFill>
                <a:latin typeface="Consolas" pitchFamily="49" charset="0"/>
                <a:cs typeface="Consolas" pitchFamily="49" charset="0"/>
              </a:rPr>
              <a:t>{</a:t>
            </a:r>
          </a:p>
          <a:p>
            <a:pPr eaLnBrk="0" hangingPunct="0">
              <a:buClr>
                <a:schemeClr val="accent5">
                  <a:lumMod val="40000"/>
                  <a:lumOff val="60000"/>
                </a:schemeClr>
              </a:buClr>
              <a:buSzPct val="70000"/>
            </a:pPr>
            <a:r>
              <a:rPr lang="en-US" sz="2000" b="1" noProof="1">
                <a:solidFill>
                  <a:srgbClr val="FF0000"/>
                </a:solidFill>
                <a:latin typeface="Consolas" pitchFamily="49" charset="0"/>
                <a:cs typeface="Consolas" pitchFamily="49" charset="0"/>
              </a:rPr>
              <a:t>  firstName: 'Ivaylo',</a:t>
            </a:r>
          </a:p>
          <a:p>
            <a:pPr eaLnBrk="0" hangingPunct="0">
              <a:buClr>
                <a:schemeClr val="accent5">
                  <a:lumMod val="40000"/>
                  <a:lumOff val="60000"/>
                </a:schemeClr>
              </a:buClr>
              <a:buSzPct val="70000"/>
            </a:pPr>
            <a:r>
              <a:rPr lang="en-US" sz="2000" b="1" noProof="1">
                <a:solidFill>
                  <a:srgbClr val="FF0000"/>
                </a:solidFill>
                <a:latin typeface="Consolas" pitchFamily="49" charset="0"/>
                <a:cs typeface="Consolas" pitchFamily="49" charset="0"/>
              </a:rPr>
              <a:t>  lastname: 'Kenov'</a:t>
            </a:r>
          </a:p>
          <a:p>
            <a:pPr eaLnBrk="0" hangingPunct="0">
              <a:buClr>
                <a:schemeClr val="accent5">
                  <a:lumMod val="40000"/>
                  <a:lumOff val="60000"/>
                </a:schemeClr>
              </a:buClr>
              <a:buSzPct val="70000"/>
            </a:pPr>
            <a:r>
              <a:rPr lang="en-US" sz="2000" b="1" noProof="1">
                <a:solidFill>
                  <a:srgbClr val="FF0000"/>
                </a:solidFill>
                <a:latin typeface="Consolas" pitchFamily="49" charset="0"/>
                <a:cs typeface="Consolas" pitchFamily="49" charset="0"/>
              </a:rPr>
              <a:t>}</a:t>
            </a:r>
            <a:r>
              <a:rPr lang="en-US" sz="2000" b="1" noProof="1">
                <a:latin typeface="Consolas" pitchFamily="49" charset="0"/>
                <a:cs typeface="Consolas" pitchFamily="49" charset="0"/>
              </a:rPr>
              <a:t>)</a:t>
            </a:r>
          </a:p>
          <a:p>
            <a:pPr eaLnBrk="0" hangingPunct="0">
              <a:buClr>
                <a:schemeClr val="accent5">
                  <a:lumMod val="40000"/>
                  <a:lumOff val="60000"/>
                </a:schemeClr>
              </a:buClr>
              <a:buSzPct val="70000"/>
            </a:pPr>
            <a:endParaRPr lang="en-US" sz="2000" b="1" noProof="1">
              <a:solidFill>
                <a:schemeClr val="accent1">
                  <a:lumMod val="60000"/>
                  <a:lumOff val="40000"/>
                </a:schemeClr>
              </a:solidFill>
              <a:effectLst>
                <a:outerShdw blurRad="38100" dist="38100" dir="2700000" algn="tl">
                  <a:srgbClr val="000000">
                    <a:alpha val="43137"/>
                  </a:srgbClr>
                </a:outerShdw>
              </a:effectLst>
              <a:latin typeface="Consolas" pitchFamily="49" charset="0"/>
              <a:cs typeface="Consolas" pitchFamily="49" charset="0"/>
            </a:endParaRPr>
          </a:p>
          <a:p>
            <a:pPr eaLnBrk="0" hangingPunct="0">
              <a:buClr>
                <a:schemeClr val="accent5">
                  <a:lumMod val="40000"/>
                  <a:lumOff val="60000"/>
                </a:schemeClr>
              </a:buClr>
              <a:buSzPct val="70000"/>
            </a:pPr>
            <a:r>
              <a:rPr lang="en-US" sz="2000" b="1" noProof="1">
                <a:latin typeface="Consolas" pitchFamily="49" charset="0"/>
                <a:cs typeface="Consolas" pitchFamily="49" charset="0"/>
              </a:rPr>
              <a:t>console.log(hello)</a:t>
            </a:r>
          </a:p>
        </p:txBody>
      </p:sp>
      <p:sp>
        <p:nvSpPr>
          <p:cNvPr id="10" name="Rectángulo 9">
            <a:extLst>
              <a:ext uri="{FF2B5EF4-FFF2-40B4-BE49-F238E27FC236}">
                <a16:creationId xmlns:a16="http://schemas.microsoft.com/office/drawing/2014/main" id="{431C2F04-8AA6-478E-A4DE-BA1DB5ADCC8E}"/>
              </a:ext>
            </a:extLst>
          </p:cNvPr>
          <p:cNvSpPr/>
          <p:nvPr/>
        </p:nvSpPr>
        <p:spPr>
          <a:xfrm>
            <a:off x="10436406" y="180232"/>
            <a:ext cx="1754006" cy="830997"/>
          </a:xfrm>
          <a:prstGeom prst="rect">
            <a:avLst/>
          </a:prstGeom>
        </p:spPr>
        <p:txBody>
          <a:bodyPr wrap="none">
            <a:spAutoFit/>
          </a:bodyPr>
          <a:lstStyle/>
          <a:p>
            <a:r>
              <a:rPr lang="en-US" sz="4800" b="1" dirty="0">
                <a:solidFill>
                  <a:srgbClr val="FF0000"/>
                </a:solidFill>
              </a:rPr>
              <a:t>LAB 4 </a:t>
            </a:r>
            <a:endParaRPr lang="es-ES" sz="4800" dirty="0">
              <a:solidFill>
                <a:srgbClr val="FF0000"/>
              </a:solidFill>
            </a:endParaRPr>
          </a:p>
        </p:txBody>
      </p:sp>
      <p:sp>
        <p:nvSpPr>
          <p:cNvPr id="11" name="Rectángulo 10">
            <a:extLst>
              <a:ext uri="{FF2B5EF4-FFF2-40B4-BE49-F238E27FC236}">
                <a16:creationId xmlns:a16="http://schemas.microsoft.com/office/drawing/2014/main" id="{8F2B6E47-C28F-43F1-B56C-DB7F01FD3ABF}"/>
              </a:ext>
            </a:extLst>
          </p:cNvPr>
          <p:cNvSpPr/>
          <p:nvPr/>
        </p:nvSpPr>
        <p:spPr>
          <a:xfrm>
            <a:off x="10366848" y="874318"/>
            <a:ext cx="1637436" cy="369332"/>
          </a:xfrm>
          <a:prstGeom prst="rect">
            <a:avLst/>
          </a:prstGeom>
        </p:spPr>
        <p:txBody>
          <a:bodyPr wrap="none">
            <a:spAutoFit/>
          </a:bodyPr>
          <a:lstStyle/>
          <a:p>
            <a:r>
              <a:rPr lang="es-ES" dirty="0"/>
              <a:t>C:\Labs\T1\EX4</a:t>
            </a:r>
          </a:p>
        </p:txBody>
      </p:sp>
    </p:spTree>
    <p:extLst>
      <p:ext uri="{BB962C8B-B14F-4D97-AF65-F5344CB8AC3E}">
        <p14:creationId xmlns:p14="http://schemas.microsoft.com/office/powerpoint/2010/main" val="307782916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D87F355-0AB3-4553-A173-27DC1496DFA3}"/>
              </a:ext>
            </a:extLst>
          </p:cNvPr>
          <p:cNvSpPr>
            <a:spLocks noGrp="1"/>
          </p:cNvSpPr>
          <p:nvPr>
            <p:ph type="title"/>
          </p:nvPr>
        </p:nvSpPr>
        <p:spPr>
          <a:xfrm>
            <a:off x="608012" y="457200"/>
            <a:ext cx="11201400" cy="845299"/>
          </a:xfrm>
        </p:spPr>
        <p:txBody>
          <a:bodyPr/>
          <a:lstStyle/>
          <a:p>
            <a:r>
              <a:rPr lang="es-ES" dirty="0" err="1"/>
              <a:t>Classes</a:t>
            </a:r>
            <a:r>
              <a:rPr lang="es-ES" dirty="0"/>
              <a:t> - </a:t>
            </a:r>
            <a:r>
              <a:rPr lang="en-US" dirty="0"/>
              <a:t>inheritance</a:t>
            </a:r>
            <a:endParaRPr lang="es-ES" dirty="0"/>
          </a:p>
        </p:txBody>
      </p:sp>
      <p:sp>
        <p:nvSpPr>
          <p:cNvPr id="3" name="Marcador de contenido 2">
            <a:extLst>
              <a:ext uri="{FF2B5EF4-FFF2-40B4-BE49-F238E27FC236}">
                <a16:creationId xmlns:a16="http://schemas.microsoft.com/office/drawing/2014/main" id="{5CF21CC0-408C-4D99-B124-065CD1C9777A}"/>
              </a:ext>
            </a:extLst>
          </p:cNvPr>
          <p:cNvSpPr>
            <a:spLocks noGrp="1"/>
          </p:cNvSpPr>
          <p:nvPr>
            <p:ph idx="4294967295"/>
          </p:nvPr>
        </p:nvSpPr>
        <p:spPr>
          <a:xfrm>
            <a:off x="608012" y="1434164"/>
            <a:ext cx="11201400" cy="5080936"/>
          </a:xfrm>
        </p:spPr>
        <p:txBody>
          <a:bodyPr/>
          <a:lstStyle/>
          <a:p>
            <a:r>
              <a:rPr lang="en-US" dirty="0"/>
              <a:t>TypeScript classes also support inheritance, as in the following example.</a:t>
            </a:r>
            <a:br>
              <a:rPr lang="en-US" dirty="0"/>
            </a:br>
            <a:br>
              <a:rPr lang="en-US" dirty="0"/>
            </a:br>
            <a:endParaRPr lang="es-ES" dirty="0"/>
          </a:p>
        </p:txBody>
      </p:sp>
      <p:pic>
        <p:nvPicPr>
          <p:cNvPr id="5" name="Imagen 4">
            <a:extLst>
              <a:ext uri="{FF2B5EF4-FFF2-40B4-BE49-F238E27FC236}">
                <a16:creationId xmlns:a16="http://schemas.microsoft.com/office/drawing/2014/main" id="{D510921D-D817-44A5-981F-D0B388375792}"/>
              </a:ext>
            </a:extLst>
          </p:cNvPr>
          <p:cNvPicPr>
            <a:picLocks noChangeAspect="1"/>
          </p:cNvPicPr>
          <p:nvPr/>
        </p:nvPicPr>
        <p:blipFill>
          <a:blip r:embed="rId2"/>
          <a:stretch>
            <a:fillRect/>
          </a:stretch>
        </p:blipFill>
        <p:spPr>
          <a:xfrm>
            <a:off x="3656012" y="2953544"/>
            <a:ext cx="4686300" cy="2095500"/>
          </a:xfrm>
          <a:prstGeom prst="rect">
            <a:avLst/>
          </a:prstGeom>
        </p:spPr>
      </p:pic>
    </p:spTree>
    <p:extLst>
      <p:ext uri="{BB962C8B-B14F-4D97-AF65-F5344CB8AC3E}">
        <p14:creationId xmlns:p14="http://schemas.microsoft.com/office/powerpoint/2010/main" val="239096917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AF25A49-0B79-4A11-BEA7-393C2D2445A8}"/>
              </a:ext>
            </a:extLst>
          </p:cNvPr>
          <p:cNvSpPr>
            <a:spLocks noGrp="1"/>
          </p:cNvSpPr>
          <p:nvPr>
            <p:ph type="title"/>
          </p:nvPr>
        </p:nvSpPr>
        <p:spPr>
          <a:xfrm>
            <a:off x="608012" y="457200"/>
            <a:ext cx="11201400" cy="845299"/>
          </a:xfrm>
        </p:spPr>
        <p:txBody>
          <a:bodyPr>
            <a:normAutofit/>
          </a:bodyPr>
          <a:lstStyle/>
          <a:p>
            <a:r>
              <a:rPr lang="es-ES" dirty="0" err="1"/>
              <a:t>Enum</a:t>
            </a:r>
            <a:r>
              <a:rPr lang="es-ES" dirty="0"/>
              <a:t> </a:t>
            </a:r>
            <a:r>
              <a:rPr lang="es-ES" dirty="0" err="1"/>
              <a:t>Types</a:t>
            </a:r>
            <a:endParaRPr lang="es-ES" dirty="0"/>
          </a:p>
        </p:txBody>
      </p:sp>
      <p:sp>
        <p:nvSpPr>
          <p:cNvPr id="3" name="Marcador de contenido 2">
            <a:extLst>
              <a:ext uri="{FF2B5EF4-FFF2-40B4-BE49-F238E27FC236}">
                <a16:creationId xmlns:a16="http://schemas.microsoft.com/office/drawing/2014/main" id="{66F2F6DB-91C0-44D4-87A3-18144D9191A2}"/>
              </a:ext>
            </a:extLst>
          </p:cNvPr>
          <p:cNvSpPr>
            <a:spLocks noGrp="1"/>
          </p:cNvSpPr>
          <p:nvPr>
            <p:ph idx="4294967295"/>
          </p:nvPr>
        </p:nvSpPr>
        <p:spPr>
          <a:xfrm>
            <a:off x="608012" y="1434164"/>
            <a:ext cx="11201400" cy="5080936"/>
          </a:xfrm>
        </p:spPr>
        <p:txBody>
          <a:bodyPr>
            <a:normAutofit/>
          </a:bodyPr>
          <a:lstStyle/>
          <a:p>
            <a:r>
              <a:rPr lang="en-US" dirty="0"/>
              <a:t>TypeScript enables programmers to summarize a set of numeric constants as an </a:t>
            </a:r>
            <a:r>
              <a:rPr lang="en-US" i="1" dirty="0" err="1"/>
              <a:t>enum</a:t>
            </a:r>
            <a:r>
              <a:rPr lang="en-US" i="1" dirty="0"/>
              <a:t> type</a:t>
            </a:r>
            <a:r>
              <a:rPr lang="en-US" dirty="0"/>
              <a:t>. </a:t>
            </a:r>
          </a:p>
          <a:p>
            <a:endParaRPr lang="en-US" dirty="0"/>
          </a:p>
          <a:p>
            <a:endParaRPr lang="en-US" dirty="0"/>
          </a:p>
          <a:p>
            <a:endParaRPr lang="en-US" dirty="0"/>
          </a:p>
          <a:p>
            <a:r>
              <a:rPr lang="en-US" dirty="0"/>
              <a:t>In this example, the compute function logs the operator 'op' using a feature of </a:t>
            </a:r>
            <a:r>
              <a:rPr lang="en-US" dirty="0" err="1"/>
              <a:t>enum</a:t>
            </a:r>
            <a:r>
              <a:rPr lang="en-US" dirty="0"/>
              <a:t> types: reverse mapping from the </a:t>
            </a:r>
            <a:r>
              <a:rPr lang="en-US" dirty="0" err="1"/>
              <a:t>enum</a:t>
            </a:r>
            <a:r>
              <a:rPr lang="en-US" dirty="0"/>
              <a:t> value ('op') to the string corresponding to that value. </a:t>
            </a:r>
            <a:endParaRPr lang="es-ES" dirty="0"/>
          </a:p>
        </p:txBody>
      </p:sp>
      <p:pic>
        <p:nvPicPr>
          <p:cNvPr id="5" name="Imagen 4">
            <a:extLst>
              <a:ext uri="{FF2B5EF4-FFF2-40B4-BE49-F238E27FC236}">
                <a16:creationId xmlns:a16="http://schemas.microsoft.com/office/drawing/2014/main" id="{17BFC786-E7FE-4BDC-8795-81FFF30FC0D3}"/>
              </a:ext>
            </a:extLst>
          </p:cNvPr>
          <p:cNvPicPr>
            <a:picLocks noChangeAspect="1"/>
          </p:cNvPicPr>
          <p:nvPr/>
        </p:nvPicPr>
        <p:blipFill>
          <a:blip r:embed="rId2"/>
          <a:stretch>
            <a:fillRect/>
          </a:stretch>
        </p:blipFill>
        <p:spPr>
          <a:xfrm>
            <a:off x="4394199" y="1905000"/>
            <a:ext cx="3400425" cy="1600200"/>
          </a:xfrm>
          <a:prstGeom prst="rect">
            <a:avLst/>
          </a:prstGeom>
        </p:spPr>
      </p:pic>
      <p:pic>
        <p:nvPicPr>
          <p:cNvPr id="6" name="Imagen 5">
            <a:extLst>
              <a:ext uri="{FF2B5EF4-FFF2-40B4-BE49-F238E27FC236}">
                <a16:creationId xmlns:a16="http://schemas.microsoft.com/office/drawing/2014/main" id="{7774B722-452B-4521-83BB-49E6AFCDB6E2}"/>
              </a:ext>
            </a:extLst>
          </p:cNvPr>
          <p:cNvPicPr>
            <a:picLocks noChangeAspect="1"/>
          </p:cNvPicPr>
          <p:nvPr/>
        </p:nvPicPr>
        <p:blipFill>
          <a:blip r:embed="rId3"/>
          <a:stretch>
            <a:fillRect/>
          </a:stretch>
        </p:blipFill>
        <p:spPr>
          <a:xfrm>
            <a:off x="3351212" y="5381625"/>
            <a:ext cx="6029325" cy="1133475"/>
          </a:xfrm>
          <a:prstGeom prst="rect">
            <a:avLst/>
          </a:prstGeom>
        </p:spPr>
      </p:pic>
    </p:spTree>
    <p:extLst>
      <p:ext uri="{BB962C8B-B14F-4D97-AF65-F5344CB8AC3E}">
        <p14:creationId xmlns:p14="http://schemas.microsoft.com/office/powerpoint/2010/main" val="105239312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638410-401F-4DD6-A5B8-5D54E2DA3385}"/>
              </a:ext>
            </a:extLst>
          </p:cNvPr>
          <p:cNvSpPr>
            <a:spLocks noGrp="1"/>
          </p:cNvSpPr>
          <p:nvPr>
            <p:ph type="title"/>
          </p:nvPr>
        </p:nvSpPr>
        <p:spPr/>
        <p:txBody>
          <a:bodyPr>
            <a:normAutofit fontScale="90000"/>
          </a:bodyPr>
          <a:lstStyle/>
          <a:p>
            <a:r>
              <a:rPr lang="es-ES"/>
              <a:t>Overloading on String Parameters </a:t>
            </a:r>
            <a:endParaRPr lang="es-ES" dirty="0"/>
          </a:p>
        </p:txBody>
      </p:sp>
      <p:sp>
        <p:nvSpPr>
          <p:cNvPr id="3" name="Marcador de contenido 2">
            <a:extLst>
              <a:ext uri="{FF2B5EF4-FFF2-40B4-BE49-F238E27FC236}">
                <a16:creationId xmlns:a16="http://schemas.microsoft.com/office/drawing/2014/main" id="{24C8E4D6-E937-4432-A0B3-6F49091F946B}"/>
              </a:ext>
            </a:extLst>
          </p:cNvPr>
          <p:cNvSpPr>
            <a:spLocks noGrp="1"/>
          </p:cNvSpPr>
          <p:nvPr>
            <p:ph idx="1"/>
          </p:nvPr>
        </p:nvSpPr>
        <p:spPr>
          <a:xfrm>
            <a:off x="837981" y="1447800"/>
            <a:ext cx="5559861" cy="5273675"/>
          </a:xfrm>
        </p:spPr>
        <p:txBody>
          <a:bodyPr>
            <a:normAutofit fontScale="92500"/>
          </a:bodyPr>
          <a:lstStyle/>
          <a:p>
            <a:r>
              <a:rPr lang="en-US" dirty="0"/>
              <a:t>JavaScript programming interfaces often include functions whose behavior is discriminated by a string constant passed to the function. DOM makes heavy use of this pattern. </a:t>
            </a:r>
          </a:p>
          <a:p>
            <a:r>
              <a:rPr lang="en-US" dirty="0"/>
              <a:t>The following code fragment uses this feature. Because the 'span' variable is inferred to have the type '</a:t>
            </a:r>
            <a:r>
              <a:rPr lang="en-US" dirty="0" err="1"/>
              <a:t>HTMLSpanElement</a:t>
            </a:r>
            <a:r>
              <a:rPr lang="en-US" dirty="0"/>
              <a:t>', the code can reference without static error the '</a:t>
            </a:r>
            <a:r>
              <a:rPr lang="en-US" dirty="0" err="1"/>
              <a:t>isMultiline</a:t>
            </a:r>
            <a:r>
              <a:rPr lang="en-US" dirty="0"/>
              <a:t>' property of 'span’ </a:t>
            </a:r>
          </a:p>
          <a:p>
            <a:r>
              <a:rPr lang="en-US" dirty="0"/>
              <a:t>A programming tool combines information from overloading on string parameters with contextual typing to infer that the type of the variable 'e' is '</a:t>
            </a:r>
            <a:r>
              <a:rPr lang="en-US" dirty="0" err="1"/>
              <a:t>MouseEvent</a:t>
            </a:r>
            <a:r>
              <a:rPr lang="en-US" dirty="0"/>
              <a:t>' and that therefore 'e' has a '</a:t>
            </a:r>
            <a:r>
              <a:rPr lang="en-US" dirty="0" err="1"/>
              <a:t>clientX</a:t>
            </a:r>
            <a:r>
              <a:rPr lang="en-US" dirty="0"/>
              <a:t>' property. </a:t>
            </a:r>
          </a:p>
        </p:txBody>
      </p:sp>
      <p:pic>
        <p:nvPicPr>
          <p:cNvPr id="5" name="Imagen 4">
            <a:extLst>
              <a:ext uri="{FF2B5EF4-FFF2-40B4-BE49-F238E27FC236}">
                <a16:creationId xmlns:a16="http://schemas.microsoft.com/office/drawing/2014/main" id="{CDAE77D0-AF86-44EB-BA7D-3D5ABA7E4542}"/>
              </a:ext>
            </a:extLst>
          </p:cNvPr>
          <p:cNvPicPr>
            <a:picLocks noChangeAspect="1"/>
          </p:cNvPicPr>
          <p:nvPr/>
        </p:nvPicPr>
        <p:blipFill>
          <a:blip r:embed="rId3"/>
          <a:stretch>
            <a:fillRect/>
          </a:stretch>
        </p:blipFill>
        <p:spPr>
          <a:xfrm>
            <a:off x="6542940" y="1447800"/>
            <a:ext cx="4953000" cy="530105"/>
          </a:xfrm>
          <a:prstGeom prst="rect">
            <a:avLst/>
          </a:prstGeom>
        </p:spPr>
      </p:pic>
      <p:pic>
        <p:nvPicPr>
          <p:cNvPr id="6" name="Imagen 5">
            <a:extLst>
              <a:ext uri="{FF2B5EF4-FFF2-40B4-BE49-F238E27FC236}">
                <a16:creationId xmlns:a16="http://schemas.microsoft.com/office/drawing/2014/main" id="{1AC7A4FA-B11C-4D84-B540-773C628378B5}"/>
              </a:ext>
            </a:extLst>
          </p:cNvPr>
          <p:cNvPicPr>
            <a:picLocks noChangeAspect="1"/>
          </p:cNvPicPr>
          <p:nvPr/>
        </p:nvPicPr>
        <p:blipFill>
          <a:blip r:embed="rId4"/>
          <a:stretch>
            <a:fillRect/>
          </a:stretch>
        </p:blipFill>
        <p:spPr>
          <a:xfrm>
            <a:off x="6490552" y="2920709"/>
            <a:ext cx="5057775" cy="454291"/>
          </a:xfrm>
          <a:prstGeom prst="rect">
            <a:avLst/>
          </a:prstGeom>
        </p:spPr>
      </p:pic>
      <p:pic>
        <p:nvPicPr>
          <p:cNvPr id="11" name="Imagen 10">
            <a:extLst>
              <a:ext uri="{FF2B5EF4-FFF2-40B4-BE49-F238E27FC236}">
                <a16:creationId xmlns:a16="http://schemas.microsoft.com/office/drawing/2014/main" id="{BAB248FB-61C6-415B-8DEF-7F4A70F9F18B}"/>
              </a:ext>
            </a:extLst>
          </p:cNvPr>
          <p:cNvPicPr>
            <a:picLocks noChangeAspect="1"/>
          </p:cNvPicPr>
          <p:nvPr/>
        </p:nvPicPr>
        <p:blipFill>
          <a:blip r:embed="rId5"/>
          <a:stretch>
            <a:fillRect/>
          </a:stretch>
        </p:blipFill>
        <p:spPr>
          <a:xfrm>
            <a:off x="6856412" y="4535512"/>
            <a:ext cx="4173932" cy="1845151"/>
          </a:xfrm>
          <a:prstGeom prst="rect">
            <a:avLst/>
          </a:prstGeom>
        </p:spPr>
      </p:pic>
    </p:spTree>
    <p:extLst>
      <p:ext uri="{BB962C8B-B14F-4D97-AF65-F5344CB8AC3E}">
        <p14:creationId xmlns:p14="http://schemas.microsoft.com/office/powerpoint/2010/main" val="11057176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1AF70F-1F11-416B-B149-F35515D6A062}"/>
              </a:ext>
            </a:extLst>
          </p:cNvPr>
          <p:cNvSpPr>
            <a:spLocks noGrp="1"/>
          </p:cNvSpPr>
          <p:nvPr>
            <p:ph type="title"/>
          </p:nvPr>
        </p:nvSpPr>
        <p:spPr/>
        <p:txBody>
          <a:bodyPr>
            <a:normAutofit fontScale="90000"/>
          </a:bodyPr>
          <a:lstStyle/>
          <a:p>
            <a:r>
              <a:rPr lang="es-ES" dirty="0" err="1"/>
              <a:t>Generic</a:t>
            </a:r>
            <a:r>
              <a:rPr lang="es-ES" dirty="0"/>
              <a:t> </a:t>
            </a:r>
            <a:r>
              <a:rPr lang="es-ES" dirty="0" err="1"/>
              <a:t>Types</a:t>
            </a:r>
            <a:r>
              <a:rPr lang="es-ES" dirty="0"/>
              <a:t> and </a:t>
            </a:r>
            <a:r>
              <a:rPr lang="es-ES" dirty="0" err="1"/>
              <a:t>Functions</a:t>
            </a:r>
            <a:r>
              <a:rPr lang="es-ES" dirty="0"/>
              <a:t> </a:t>
            </a:r>
          </a:p>
        </p:txBody>
      </p:sp>
      <p:sp>
        <p:nvSpPr>
          <p:cNvPr id="3" name="Marcador de contenido 2">
            <a:extLst>
              <a:ext uri="{FF2B5EF4-FFF2-40B4-BE49-F238E27FC236}">
                <a16:creationId xmlns:a16="http://schemas.microsoft.com/office/drawing/2014/main" id="{39C48F5C-A2F3-439B-9320-CFFF2B502B8B}"/>
              </a:ext>
            </a:extLst>
          </p:cNvPr>
          <p:cNvSpPr>
            <a:spLocks noGrp="1"/>
          </p:cNvSpPr>
          <p:nvPr>
            <p:ph idx="1"/>
          </p:nvPr>
        </p:nvSpPr>
        <p:spPr>
          <a:xfrm>
            <a:off x="837982" y="1825625"/>
            <a:ext cx="11047630" cy="4351338"/>
          </a:xfrm>
        </p:spPr>
        <p:txBody>
          <a:bodyPr>
            <a:normAutofit/>
          </a:bodyPr>
          <a:lstStyle/>
          <a:p>
            <a:r>
              <a:rPr lang="en-US" dirty="0"/>
              <a:t>Like overloading on string parameters, </a:t>
            </a:r>
            <a:r>
              <a:rPr lang="en-US" i="1" dirty="0"/>
              <a:t>generic types </a:t>
            </a:r>
            <a:r>
              <a:rPr lang="en-US" dirty="0"/>
              <a:t>make it easier for TypeScript to accurately capture the behavior of JavaScript libraries. </a:t>
            </a:r>
          </a:p>
          <a:p>
            <a:r>
              <a:rPr lang="en-US" dirty="0"/>
              <a:t>To illustrate this, let's take a look at part of the TypeScript interface for the built-in JavaScript array type. </a:t>
            </a:r>
          </a:p>
          <a:p>
            <a:endParaRPr lang="en-US" dirty="0"/>
          </a:p>
          <a:p>
            <a:endParaRPr lang="en-US" dirty="0"/>
          </a:p>
          <a:p>
            <a:r>
              <a:rPr lang="en-US" dirty="0"/>
              <a:t>Functions can also have generic parameters. </a:t>
            </a:r>
          </a:p>
          <a:p>
            <a:endParaRPr lang="en-US" dirty="0"/>
          </a:p>
          <a:p>
            <a:r>
              <a:rPr lang="en-US" dirty="0"/>
              <a:t>The map method, invoked on an array 'a' with element type 'T', will apply function '</a:t>
            </a:r>
            <a:r>
              <a:rPr lang="en-US" dirty="0" err="1"/>
              <a:t>func</a:t>
            </a:r>
            <a:r>
              <a:rPr lang="en-US" dirty="0"/>
              <a:t>' to each element of 'a', returning a value of type 'U'.</a:t>
            </a:r>
            <a:endParaRPr lang="es-ES" dirty="0"/>
          </a:p>
        </p:txBody>
      </p:sp>
      <p:pic>
        <p:nvPicPr>
          <p:cNvPr id="5" name="Imagen 4">
            <a:extLst>
              <a:ext uri="{FF2B5EF4-FFF2-40B4-BE49-F238E27FC236}">
                <a16:creationId xmlns:a16="http://schemas.microsoft.com/office/drawing/2014/main" id="{80BCBCF1-D282-4BC5-97A3-FDA08BCAE1C2}"/>
              </a:ext>
            </a:extLst>
          </p:cNvPr>
          <p:cNvPicPr>
            <a:picLocks noChangeAspect="1"/>
          </p:cNvPicPr>
          <p:nvPr/>
        </p:nvPicPr>
        <p:blipFill>
          <a:blip r:embed="rId2"/>
          <a:stretch>
            <a:fillRect/>
          </a:stretch>
        </p:blipFill>
        <p:spPr>
          <a:xfrm>
            <a:off x="5408612" y="3048000"/>
            <a:ext cx="4390848" cy="1070751"/>
          </a:xfrm>
          <a:prstGeom prst="rect">
            <a:avLst/>
          </a:prstGeom>
        </p:spPr>
      </p:pic>
      <p:pic>
        <p:nvPicPr>
          <p:cNvPr id="6" name="Imagen 5">
            <a:extLst>
              <a:ext uri="{FF2B5EF4-FFF2-40B4-BE49-F238E27FC236}">
                <a16:creationId xmlns:a16="http://schemas.microsoft.com/office/drawing/2014/main" id="{9904BE0C-095B-40AD-BD59-DA909F16617F}"/>
              </a:ext>
            </a:extLst>
          </p:cNvPr>
          <p:cNvPicPr>
            <a:picLocks noChangeAspect="1"/>
          </p:cNvPicPr>
          <p:nvPr/>
        </p:nvPicPr>
        <p:blipFill>
          <a:blip r:embed="rId3"/>
          <a:stretch>
            <a:fillRect/>
          </a:stretch>
        </p:blipFill>
        <p:spPr>
          <a:xfrm>
            <a:off x="2336224" y="4676369"/>
            <a:ext cx="7463236" cy="505231"/>
          </a:xfrm>
          <a:prstGeom prst="rect">
            <a:avLst/>
          </a:prstGeom>
        </p:spPr>
      </p:pic>
    </p:spTree>
    <p:extLst>
      <p:ext uri="{BB962C8B-B14F-4D97-AF65-F5344CB8AC3E}">
        <p14:creationId xmlns:p14="http://schemas.microsoft.com/office/powerpoint/2010/main" val="238233454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A6B2ABA9-214D-378E-2ABC-3AB90C62290A}"/>
              </a:ext>
            </a:extLst>
          </p:cNvPr>
          <p:cNvSpPr txBox="1"/>
          <p:nvPr/>
        </p:nvSpPr>
        <p:spPr>
          <a:xfrm>
            <a:off x="866400" y="761999"/>
            <a:ext cx="1524000" cy="36933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r>
              <a:rPr lang="es-ES" dirty="0"/>
              <a:t>Cliente</a:t>
            </a:r>
          </a:p>
        </p:txBody>
      </p:sp>
      <p:sp>
        <p:nvSpPr>
          <p:cNvPr id="6" name="CuadroTexto 5">
            <a:extLst>
              <a:ext uri="{FF2B5EF4-FFF2-40B4-BE49-F238E27FC236}">
                <a16:creationId xmlns:a16="http://schemas.microsoft.com/office/drawing/2014/main" id="{33DF6195-6F91-7861-6532-A8FA3DB72152}"/>
              </a:ext>
            </a:extLst>
          </p:cNvPr>
          <p:cNvSpPr txBox="1"/>
          <p:nvPr/>
        </p:nvSpPr>
        <p:spPr>
          <a:xfrm>
            <a:off x="866400" y="1219199"/>
            <a:ext cx="1524000" cy="36933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r>
              <a:rPr lang="es-ES" dirty="0"/>
              <a:t>Proveedor</a:t>
            </a:r>
          </a:p>
        </p:txBody>
      </p:sp>
      <p:sp>
        <p:nvSpPr>
          <p:cNvPr id="7" name="CuadroTexto 6">
            <a:extLst>
              <a:ext uri="{FF2B5EF4-FFF2-40B4-BE49-F238E27FC236}">
                <a16:creationId xmlns:a16="http://schemas.microsoft.com/office/drawing/2014/main" id="{4E870F5B-DEFC-CD46-7D6D-50EA8475B887}"/>
              </a:ext>
            </a:extLst>
          </p:cNvPr>
          <p:cNvSpPr txBox="1"/>
          <p:nvPr/>
        </p:nvSpPr>
        <p:spPr>
          <a:xfrm>
            <a:off x="866400" y="1676399"/>
            <a:ext cx="1524000" cy="36933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r>
              <a:rPr lang="es-ES" dirty="0"/>
              <a:t>Pedido</a:t>
            </a:r>
          </a:p>
        </p:txBody>
      </p:sp>
      <p:sp>
        <p:nvSpPr>
          <p:cNvPr id="8" name="CuadroTexto 7">
            <a:extLst>
              <a:ext uri="{FF2B5EF4-FFF2-40B4-BE49-F238E27FC236}">
                <a16:creationId xmlns:a16="http://schemas.microsoft.com/office/drawing/2014/main" id="{1EC50485-2140-2A84-54DD-077573C7442F}"/>
              </a:ext>
            </a:extLst>
          </p:cNvPr>
          <p:cNvSpPr txBox="1"/>
          <p:nvPr/>
        </p:nvSpPr>
        <p:spPr>
          <a:xfrm>
            <a:off x="2971518" y="761999"/>
            <a:ext cx="1524000" cy="36933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r>
              <a:rPr lang="es-ES" dirty="0" err="1"/>
              <a:t>AClientes</a:t>
            </a:r>
            <a:endParaRPr lang="es-ES" dirty="0"/>
          </a:p>
        </p:txBody>
      </p:sp>
      <p:sp>
        <p:nvSpPr>
          <p:cNvPr id="10" name="CuadroTexto 9">
            <a:extLst>
              <a:ext uri="{FF2B5EF4-FFF2-40B4-BE49-F238E27FC236}">
                <a16:creationId xmlns:a16="http://schemas.microsoft.com/office/drawing/2014/main" id="{4477E51C-B338-3A58-E256-E7478622528F}"/>
              </a:ext>
            </a:extLst>
          </p:cNvPr>
          <p:cNvSpPr txBox="1"/>
          <p:nvPr/>
        </p:nvSpPr>
        <p:spPr>
          <a:xfrm>
            <a:off x="2971518" y="1219199"/>
            <a:ext cx="1524000" cy="36933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r>
              <a:rPr lang="es-ES" dirty="0" err="1"/>
              <a:t>AProveedores</a:t>
            </a:r>
            <a:endParaRPr lang="es-ES" dirty="0"/>
          </a:p>
        </p:txBody>
      </p:sp>
      <p:sp>
        <p:nvSpPr>
          <p:cNvPr id="11" name="CuadroTexto 10">
            <a:extLst>
              <a:ext uri="{FF2B5EF4-FFF2-40B4-BE49-F238E27FC236}">
                <a16:creationId xmlns:a16="http://schemas.microsoft.com/office/drawing/2014/main" id="{A4CB0621-5C2F-4F8F-A176-6220072394C6}"/>
              </a:ext>
            </a:extLst>
          </p:cNvPr>
          <p:cNvSpPr txBox="1"/>
          <p:nvPr/>
        </p:nvSpPr>
        <p:spPr>
          <a:xfrm>
            <a:off x="2971518" y="1676399"/>
            <a:ext cx="1524000" cy="36933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r>
              <a:rPr lang="es-ES" dirty="0"/>
              <a:t>Pedidos</a:t>
            </a:r>
          </a:p>
        </p:txBody>
      </p:sp>
      <p:sp>
        <p:nvSpPr>
          <p:cNvPr id="12" name="CuadroTexto 11">
            <a:extLst>
              <a:ext uri="{FF2B5EF4-FFF2-40B4-BE49-F238E27FC236}">
                <a16:creationId xmlns:a16="http://schemas.microsoft.com/office/drawing/2014/main" id="{3C34E9B4-3845-73B4-8811-92A1B785EC72}"/>
              </a:ext>
            </a:extLst>
          </p:cNvPr>
          <p:cNvSpPr txBox="1"/>
          <p:nvPr/>
        </p:nvSpPr>
        <p:spPr>
          <a:xfrm>
            <a:off x="1018800" y="1828799"/>
            <a:ext cx="1524000" cy="36933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r>
              <a:rPr lang="es-ES" dirty="0"/>
              <a:t>Pedido</a:t>
            </a:r>
          </a:p>
        </p:txBody>
      </p:sp>
      <p:sp>
        <p:nvSpPr>
          <p:cNvPr id="13" name="CuadroTexto 12">
            <a:extLst>
              <a:ext uri="{FF2B5EF4-FFF2-40B4-BE49-F238E27FC236}">
                <a16:creationId xmlns:a16="http://schemas.microsoft.com/office/drawing/2014/main" id="{5BEB0313-6029-14E7-E16C-2C3CB8064003}"/>
              </a:ext>
            </a:extLst>
          </p:cNvPr>
          <p:cNvSpPr txBox="1"/>
          <p:nvPr/>
        </p:nvSpPr>
        <p:spPr>
          <a:xfrm>
            <a:off x="3123918" y="1828799"/>
            <a:ext cx="1524000" cy="36933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r>
              <a:rPr lang="es-ES" dirty="0"/>
              <a:t>Pedidos</a:t>
            </a:r>
          </a:p>
        </p:txBody>
      </p:sp>
      <p:sp>
        <p:nvSpPr>
          <p:cNvPr id="14" name="CuadroTexto 13">
            <a:extLst>
              <a:ext uri="{FF2B5EF4-FFF2-40B4-BE49-F238E27FC236}">
                <a16:creationId xmlns:a16="http://schemas.microsoft.com/office/drawing/2014/main" id="{D4925437-333B-6475-73F5-F4AE932D4765}"/>
              </a:ext>
            </a:extLst>
          </p:cNvPr>
          <p:cNvSpPr txBox="1"/>
          <p:nvPr/>
        </p:nvSpPr>
        <p:spPr>
          <a:xfrm>
            <a:off x="1171200" y="1981199"/>
            <a:ext cx="1524000" cy="36933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r>
              <a:rPr lang="es-ES" dirty="0"/>
              <a:t>Pedido</a:t>
            </a:r>
          </a:p>
        </p:txBody>
      </p:sp>
      <p:sp>
        <p:nvSpPr>
          <p:cNvPr id="15" name="CuadroTexto 14">
            <a:extLst>
              <a:ext uri="{FF2B5EF4-FFF2-40B4-BE49-F238E27FC236}">
                <a16:creationId xmlns:a16="http://schemas.microsoft.com/office/drawing/2014/main" id="{8D0E9FBC-8292-13D8-2B35-6529BC2EDD1A}"/>
              </a:ext>
            </a:extLst>
          </p:cNvPr>
          <p:cNvSpPr txBox="1"/>
          <p:nvPr/>
        </p:nvSpPr>
        <p:spPr>
          <a:xfrm>
            <a:off x="3276318" y="1981199"/>
            <a:ext cx="1524000" cy="36933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r>
              <a:rPr lang="es-ES" dirty="0"/>
              <a:t>Pedidos</a:t>
            </a:r>
          </a:p>
        </p:txBody>
      </p:sp>
      <p:sp>
        <p:nvSpPr>
          <p:cNvPr id="16" name="CuadroTexto 15">
            <a:extLst>
              <a:ext uri="{FF2B5EF4-FFF2-40B4-BE49-F238E27FC236}">
                <a16:creationId xmlns:a16="http://schemas.microsoft.com/office/drawing/2014/main" id="{E619AF0D-0A4F-A58E-D9A3-B61D8BB1068F}"/>
              </a:ext>
            </a:extLst>
          </p:cNvPr>
          <p:cNvSpPr txBox="1"/>
          <p:nvPr/>
        </p:nvSpPr>
        <p:spPr>
          <a:xfrm>
            <a:off x="1323600" y="2133599"/>
            <a:ext cx="1524000" cy="36933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r>
              <a:rPr lang="es-ES" dirty="0"/>
              <a:t>Pedido</a:t>
            </a:r>
          </a:p>
        </p:txBody>
      </p:sp>
      <p:sp>
        <p:nvSpPr>
          <p:cNvPr id="17" name="CuadroTexto 16">
            <a:extLst>
              <a:ext uri="{FF2B5EF4-FFF2-40B4-BE49-F238E27FC236}">
                <a16:creationId xmlns:a16="http://schemas.microsoft.com/office/drawing/2014/main" id="{D835E3F2-B771-13DC-569B-C93BA0375539}"/>
              </a:ext>
            </a:extLst>
          </p:cNvPr>
          <p:cNvSpPr txBox="1"/>
          <p:nvPr/>
        </p:nvSpPr>
        <p:spPr>
          <a:xfrm>
            <a:off x="3428718" y="2133599"/>
            <a:ext cx="1524000" cy="36933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r>
              <a:rPr lang="es-ES" dirty="0"/>
              <a:t>Pedidos</a:t>
            </a:r>
          </a:p>
        </p:txBody>
      </p:sp>
      <p:sp>
        <p:nvSpPr>
          <p:cNvPr id="18" name="CuadroTexto 17">
            <a:extLst>
              <a:ext uri="{FF2B5EF4-FFF2-40B4-BE49-F238E27FC236}">
                <a16:creationId xmlns:a16="http://schemas.microsoft.com/office/drawing/2014/main" id="{F54675FD-6838-700A-4162-016E10087973}"/>
              </a:ext>
            </a:extLst>
          </p:cNvPr>
          <p:cNvSpPr txBox="1"/>
          <p:nvPr/>
        </p:nvSpPr>
        <p:spPr>
          <a:xfrm>
            <a:off x="1476000" y="2285999"/>
            <a:ext cx="1524000" cy="36933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r>
              <a:rPr lang="es-ES" dirty="0"/>
              <a:t>Pedido</a:t>
            </a:r>
          </a:p>
        </p:txBody>
      </p:sp>
      <p:sp>
        <p:nvSpPr>
          <p:cNvPr id="19" name="CuadroTexto 18">
            <a:extLst>
              <a:ext uri="{FF2B5EF4-FFF2-40B4-BE49-F238E27FC236}">
                <a16:creationId xmlns:a16="http://schemas.microsoft.com/office/drawing/2014/main" id="{A9B526CE-C9CD-C1F8-C926-A5F8D04210DE}"/>
              </a:ext>
            </a:extLst>
          </p:cNvPr>
          <p:cNvSpPr txBox="1"/>
          <p:nvPr/>
        </p:nvSpPr>
        <p:spPr>
          <a:xfrm>
            <a:off x="3581118" y="2285999"/>
            <a:ext cx="1524000" cy="36933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r>
              <a:rPr lang="es-ES" dirty="0" err="1"/>
              <a:t>APedidos</a:t>
            </a:r>
            <a:endParaRPr lang="es-ES" dirty="0"/>
          </a:p>
        </p:txBody>
      </p:sp>
      <p:sp>
        <p:nvSpPr>
          <p:cNvPr id="20" name="CuadroTexto 19">
            <a:extLst>
              <a:ext uri="{FF2B5EF4-FFF2-40B4-BE49-F238E27FC236}">
                <a16:creationId xmlns:a16="http://schemas.microsoft.com/office/drawing/2014/main" id="{4A360970-0B4C-6CDD-BD85-221B45D19584}"/>
              </a:ext>
            </a:extLst>
          </p:cNvPr>
          <p:cNvSpPr txBox="1"/>
          <p:nvPr/>
        </p:nvSpPr>
        <p:spPr>
          <a:xfrm>
            <a:off x="836612" y="4138137"/>
            <a:ext cx="1524000" cy="36933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r>
              <a:rPr lang="es-ES" dirty="0"/>
              <a:t>Cliente</a:t>
            </a:r>
          </a:p>
        </p:txBody>
      </p:sp>
      <p:sp>
        <p:nvSpPr>
          <p:cNvPr id="21" name="CuadroTexto 20">
            <a:extLst>
              <a:ext uri="{FF2B5EF4-FFF2-40B4-BE49-F238E27FC236}">
                <a16:creationId xmlns:a16="http://schemas.microsoft.com/office/drawing/2014/main" id="{3EFCB81A-C422-D418-FAE4-FF0C00F20E83}"/>
              </a:ext>
            </a:extLst>
          </p:cNvPr>
          <p:cNvSpPr txBox="1"/>
          <p:nvPr/>
        </p:nvSpPr>
        <p:spPr>
          <a:xfrm>
            <a:off x="836612" y="4595337"/>
            <a:ext cx="1524000" cy="36933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r>
              <a:rPr lang="es-ES" dirty="0"/>
              <a:t>Proveedor</a:t>
            </a:r>
          </a:p>
        </p:txBody>
      </p:sp>
      <p:sp>
        <p:nvSpPr>
          <p:cNvPr id="22" name="CuadroTexto 21">
            <a:extLst>
              <a:ext uri="{FF2B5EF4-FFF2-40B4-BE49-F238E27FC236}">
                <a16:creationId xmlns:a16="http://schemas.microsoft.com/office/drawing/2014/main" id="{5CFD236E-D655-E7AD-F52F-7294186B8512}"/>
              </a:ext>
            </a:extLst>
          </p:cNvPr>
          <p:cNvSpPr txBox="1"/>
          <p:nvPr/>
        </p:nvSpPr>
        <p:spPr>
          <a:xfrm>
            <a:off x="836612" y="5052537"/>
            <a:ext cx="1524000" cy="36933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r>
              <a:rPr lang="es-ES" dirty="0"/>
              <a:t>Pedido</a:t>
            </a:r>
          </a:p>
        </p:txBody>
      </p:sp>
      <p:sp>
        <p:nvSpPr>
          <p:cNvPr id="23" name="CuadroTexto 22">
            <a:extLst>
              <a:ext uri="{FF2B5EF4-FFF2-40B4-BE49-F238E27FC236}">
                <a16:creationId xmlns:a16="http://schemas.microsoft.com/office/drawing/2014/main" id="{ACBCD601-B387-3135-D589-59E20EFB467B}"/>
              </a:ext>
            </a:extLst>
          </p:cNvPr>
          <p:cNvSpPr txBox="1"/>
          <p:nvPr/>
        </p:nvSpPr>
        <p:spPr>
          <a:xfrm>
            <a:off x="3551330" y="4867871"/>
            <a:ext cx="1524000" cy="36933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r>
              <a:rPr lang="es-ES" dirty="0"/>
              <a:t>Array&lt;T&gt;</a:t>
            </a:r>
          </a:p>
        </p:txBody>
      </p:sp>
      <p:sp>
        <p:nvSpPr>
          <p:cNvPr id="26" name="CuadroTexto 25">
            <a:extLst>
              <a:ext uri="{FF2B5EF4-FFF2-40B4-BE49-F238E27FC236}">
                <a16:creationId xmlns:a16="http://schemas.microsoft.com/office/drawing/2014/main" id="{E79F7E81-ABD4-5522-BECC-68CDCDE3A92D}"/>
              </a:ext>
            </a:extLst>
          </p:cNvPr>
          <p:cNvSpPr txBox="1"/>
          <p:nvPr/>
        </p:nvSpPr>
        <p:spPr>
          <a:xfrm>
            <a:off x="989012" y="5204937"/>
            <a:ext cx="1524000" cy="36933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r>
              <a:rPr lang="es-ES" dirty="0"/>
              <a:t>Pedido</a:t>
            </a:r>
          </a:p>
        </p:txBody>
      </p:sp>
      <p:sp>
        <p:nvSpPr>
          <p:cNvPr id="28" name="CuadroTexto 27">
            <a:extLst>
              <a:ext uri="{FF2B5EF4-FFF2-40B4-BE49-F238E27FC236}">
                <a16:creationId xmlns:a16="http://schemas.microsoft.com/office/drawing/2014/main" id="{86019ECC-01BA-7CCF-BB3D-7C85B523D67C}"/>
              </a:ext>
            </a:extLst>
          </p:cNvPr>
          <p:cNvSpPr txBox="1"/>
          <p:nvPr/>
        </p:nvSpPr>
        <p:spPr>
          <a:xfrm>
            <a:off x="1141412" y="5357337"/>
            <a:ext cx="1524000" cy="36933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r>
              <a:rPr lang="es-ES" dirty="0"/>
              <a:t>Pedido</a:t>
            </a:r>
          </a:p>
        </p:txBody>
      </p:sp>
      <p:sp>
        <p:nvSpPr>
          <p:cNvPr id="30" name="CuadroTexto 29">
            <a:extLst>
              <a:ext uri="{FF2B5EF4-FFF2-40B4-BE49-F238E27FC236}">
                <a16:creationId xmlns:a16="http://schemas.microsoft.com/office/drawing/2014/main" id="{E9AD0DB2-F5AA-BADD-0710-297C380DDF1A}"/>
              </a:ext>
            </a:extLst>
          </p:cNvPr>
          <p:cNvSpPr txBox="1"/>
          <p:nvPr/>
        </p:nvSpPr>
        <p:spPr>
          <a:xfrm>
            <a:off x="1293812" y="5509737"/>
            <a:ext cx="1524000" cy="36933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r>
              <a:rPr lang="es-ES" dirty="0"/>
              <a:t>Pedido</a:t>
            </a:r>
          </a:p>
        </p:txBody>
      </p:sp>
      <p:sp>
        <p:nvSpPr>
          <p:cNvPr id="32" name="CuadroTexto 31">
            <a:extLst>
              <a:ext uri="{FF2B5EF4-FFF2-40B4-BE49-F238E27FC236}">
                <a16:creationId xmlns:a16="http://schemas.microsoft.com/office/drawing/2014/main" id="{16216BA2-789D-848A-B877-331946157477}"/>
              </a:ext>
            </a:extLst>
          </p:cNvPr>
          <p:cNvSpPr txBox="1"/>
          <p:nvPr/>
        </p:nvSpPr>
        <p:spPr>
          <a:xfrm>
            <a:off x="1446212" y="5662137"/>
            <a:ext cx="1524000" cy="36933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r>
              <a:rPr lang="es-ES" dirty="0"/>
              <a:t>Pedido</a:t>
            </a:r>
          </a:p>
        </p:txBody>
      </p:sp>
      <p:sp>
        <p:nvSpPr>
          <p:cNvPr id="34" name="CuadroTexto 33">
            <a:extLst>
              <a:ext uri="{FF2B5EF4-FFF2-40B4-BE49-F238E27FC236}">
                <a16:creationId xmlns:a16="http://schemas.microsoft.com/office/drawing/2014/main" id="{38F1F44D-47DD-A886-E50A-AC7A2C9A144D}"/>
              </a:ext>
            </a:extLst>
          </p:cNvPr>
          <p:cNvSpPr txBox="1"/>
          <p:nvPr/>
        </p:nvSpPr>
        <p:spPr>
          <a:xfrm>
            <a:off x="7696202" y="761999"/>
            <a:ext cx="1524000" cy="36933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r>
              <a:rPr lang="es-ES" dirty="0"/>
              <a:t>Cliente</a:t>
            </a:r>
          </a:p>
        </p:txBody>
      </p:sp>
      <p:sp>
        <p:nvSpPr>
          <p:cNvPr id="35" name="CuadroTexto 34">
            <a:extLst>
              <a:ext uri="{FF2B5EF4-FFF2-40B4-BE49-F238E27FC236}">
                <a16:creationId xmlns:a16="http://schemas.microsoft.com/office/drawing/2014/main" id="{D8272491-1DCF-CE4B-BAF9-0123C5D0A53D}"/>
              </a:ext>
            </a:extLst>
          </p:cNvPr>
          <p:cNvSpPr txBox="1"/>
          <p:nvPr/>
        </p:nvSpPr>
        <p:spPr>
          <a:xfrm>
            <a:off x="7696202" y="1219199"/>
            <a:ext cx="1524000" cy="36933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r>
              <a:rPr lang="es-ES" dirty="0"/>
              <a:t>Proveedor</a:t>
            </a:r>
          </a:p>
        </p:txBody>
      </p:sp>
      <p:sp>
        <p:nvSpPr>
          <p:cNvPr id="36" name="CuadroTexto 35">
            <a:extLst>
              <a:ext uri="{FF2B5EF4-FFF2-40B4-BE49-F238E27FC236}">
                <a16:creationId xmlns:a16="http://schemas.microsoft.com/office/drawing/2014/main" id="{336A99A5-356B-66EC-2424-D7B8B6934AB9}"/>
              </a:ext>
            </a:extLst>
          </p:cNvPr>
          <p:cNvSpPr txBox="1"/>
          <p:nvPr/>
        </p:nvSpPr>
        <p:spPr>
          <a:xfrm>
            <a:off x="7696202" y="1676399"/>
            <a:ext cx="1524000" cy="36933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r>
              <a:rPr lang="es-ES" dirty="0"/>
              <a:t>Pedido</a:t>
            </a:r>
          </a:p>
        </p:txBody>
      </p:sp>
      <p:sp>
        <p:nvSpPr>
          <p:cNvPr id="37" name="CuadroTexto 36">
            <a:extLst>
              <a:ext uri="{FF2B5EF4-FFF2-40B4-BE49-F238E27FC236}">
                <a16:creationId xmlns:a16="http://schemas.microsoft.com/office/drawing/2014/main" id="{99DD1632-4E71-7F8E-3121-EA109370636E}"/>
              </a:ext>
            </a:extLst>
          </p:cNvPr>
          <p:cNvSpPr txBox="1"/>
          <p:nvPr/>
        </p:nvSpPr>
        <p:spPr>
          <a:xfrm>
            <a:off x="9801320" y="761999"/>
            <a:ext cx="1524000" cy="36933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r>
              <a:rPr lang="es-ES" dirty="0" err="1"/>
              <a:t>AClientes</a:t>
            </a:r>
            <a:endParaRPr lang="es-ES" dirty="0"/>
          </a:p>
        </p:txBody>
      </p:sp>
      <p:sp>
        <p:nvSpPr>
          <p:cNvPr id="38" name="CuadroTexto 37">
            <a:extLst>
              <a:ext uri="{FF2B5EF4-FFF2-40B4-BE49-F238E27FC236}">
                <a16:creationId xmlns:a16="http://schemas.microsoft.com/office/drawing/2014/main" id="{FFCE50E5-160B-891F-C385-19A711A8B5A0}"/>
              </a:ext>
            </a:extLst>
          </p:cNvPr>
          <p:cNvSpPr txBox="1"/>
          <p:nvPr/>
        </p:nvSpPr>
        <p:spPr>
          <a:xfrm>
            <a:off x="9801320" y="1219199"/>
            <a:ext cx="1524000" cy="36933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r>
              <a:rPr lang="es-ES" dirty="0" err="1"/>
              <a:t>AProveedores</a:t>
            </a:r>
            <a:endParaRPr lang="es-ES" dirty="0"/>
          </a:p>
        </p:txBody>
      </p:sp>
      <p:sp>
        <p:nvSpPr>
          <p:cNvPr id="39" name="CuadroTexto 38">
            <a:extLst>
              <a:ext uri="{FF2B5EF4-FFF2-40B4-BE49-F238E27FC236}">
                <a16:creationId xmlns:a16="http://schemas.microsoft.com/office/drawing/2014/main" id="{93D45CC8-6338-9E76-BE18-421986B23B03}"/>
              </a:ext>
            </a:extLst>
          </p:cNvPr>
          <p:cNvSpPr txBox="1"/>
          <p:nvPr/>
        </p:nvSpPr>
        <p:spPr>
          <a:xfrm>
            <a:off x="9801320" y="1676399"/>
            <a:ext cx="1524000" cy="36933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r>
              <a:rPr lang="es-ES" dirty="0"/>
              <a:t>Pedidos</a:t>
            </a:r>
          </a:p>
        </p:txBody>
      </p:sp>
      <p:sp>
        <p:nvSpPr>
          <p:cNvPr id="40" name="CuadroTexto 39">
            <a:extLst>
              <a:ext uri="{FF2B5EF4-FFF2-40B4-BE49-F238E27FC236}">
                <a16:creationId xmlns:a16="http://schemas.microsoft.com/office/drawing/2014/main" id="{488B9DC7-B252-2B89-14B5-0C330A988FE3}"/>
              </a:ext>
            </a:extLst>
          </p:cNvPr>
          <p:cNvSpPr txBox="1"/>
          <p:nvPr/>
        </p:nvSpPr>
        <p:spPr>
          <a:xfrm>
            <a:off x="7848602" y="1828799"/>
            <a:ext cx="1524000" cy="36933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r>
              <a:rPr lang="es-ES" dirty="0"/>
              <a:t>Pedido</a:t>
            </a:r>
          </a:p>
        </p:txBody>
      </p:sp>
      <p:sp>
        <p:nvSpPr>
          <p:cNvPr id="41" name="CuadroTexto 40">
            <a:extLst>
              <a:ext uri="{FF2B5EF4-FFF2-40B4-BE49-F238E27FC236}">
                <a16:creationId xmlns:a16="http://schemas.microsoft.com/office/drawing/2014/main" id="{F982E5F6-7BD3-C740-0972-78ABD8C4B75E}"/>
              </a:ext>
            </a:extLst>
          </p:cNvPr>
          <p:cNvSpPr txBox="1"/>
          <p:nvPr/>
        </p:nvSpPr>
        <p:spPr>
          <a:xfrm>
            <a:off x="9953720" y="1828799"/>
            <a:ext cx="1524000" cy="36933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r>
              <a:rPr lang="es-ES" dirty="0"/>
              <a:t>Pedidos</a:t>
            </a:r>
          </a:p>
        </p:txBody>
      </p:sp>
      <p:sp>
        <p:nvSpPr>
          <p:cNvPr id="42" name="CuadroTexto 41">
            <a:extLst>
              <a:ext uri="{FF2B5EF4-FFF2-40B4-BE49-F238E27FC236}">
                <a16:creationId xmlns:a16="http://schemas.microsoft.com/office/drawing/2014/main" id="{204F21B4-3F21-3C7F-2F35-F286C659AA52}"/>
              </a:ext>
            </a:extLst>
          </p:cNvPr>
          <p:cNvSpPr txBox="1"/>
          <p:nvPr/>
        </p:nvSpPr>
        <p:spPr>
          <a:xfrm>
            <a:off x="8001002" y="1981199"/>
            <a:ext cx="1524000" cy="36933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r>
              <a:rPr lang="es-ES" dirty="0"/>
              <a:t>Pedido</a:t>
            </a:r>
          </a:p>
        </p:txBody>
      </p:sp>
      <p:sp>
        <p:nvSpPr>
          <p:cNvPr id="43" name="CuadroTexto 42">
            <a:extLst>
              <a:ext uri="{FF2B5EF4-FFF2-40B4-BE49-F238E27FC236}">
                <a16:creationId xmlns:a16="http://schemas.microsoft.com/office/drawing/2014/main" id="{63E8D4F7-2FF5-47A2-4A94-3E48BDC1ACCE}"/>
              </a:ext>
            </a:extLst>
          </p:cNvPr>
          <p:cNvSpPr txBox="1"/>
          <p:nvPr/>
        </p:nvSpPr>
        <p:spPr>
          <a:xfrm>
            <a:off x="10106120" y="1981199"/>
            <a:ext cx="1524000" cy="36933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r>
              <a:rPr lang="es-ES" dirty="0"/>
              <a:t>Pedidos</a:t>
            </a:r>
          </a:p>
        </p:txBody>
      </p:sp>
      <p:sp>
        <p:nvSpPr>
          <p:cNvPr id="44" name="CuadroTexto 43">
            <a:extLst>
              <a:ext uri="{FF2B5EF4-FFF2-40B4-BE49-F238E27FC236}">
                <a16:creationId xmlns:a16="http://schemas.microsoft.com/office/drawing/2014/main" id="{F2DCFABB-F880-3380-413A-0A4178856EA1}"/>
              </a:ext>
            </a:extLst>
          </p:cNvPr>
          <p:cNvSpPr txBox="1"/>
          <p:nvPr/>
        </p:nvSpPr>
        <p:spPr>
          <a:xfrm>
            <a:off x="8153402" y="2133599"/>
            <a:ext cx="1524000" cy="36933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r>
              <a:rPr lang="es-ES" dirty="0"/>
              <a:t>Pedido</a:t>
            </a:r>
          </a:p>
        </p:txBody>
      </p:sp>
      <p:sp>
        <p:nvSpPr>
          <p:cNvPr id="45" name="CuadroTexto 44">
            <a:extLst>
              <a:ext uri="{FF2B5EF4-FFF2-40B4-BE49-F238E27FC236}">
                <a16:creationId xmlns:a16="http://schemas.microsoft.com/office/drawing/2014/main" id="{D3C089EE-1923-0F14-79FA-C3EEBA06706F}"/>
              </a:ext>
            </a:extLst>
          </p:cNvPr>
          <p:cNvSpPr txBox="1"/>
          <p:nvPr/>
        </p:nvSpPr>
        <p:spPr>
          <a:xfrm>
            <a:off x="10258520" y="2133599"/>
            <a:ext cx="1524000" cy="36933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r>
              <a:rPr lang="es-ES" dirty="0"/>
              <a:t>Pedidos</a:t>
            </a:r>
          </a:p>
        </p:txBody>
      </p:sp>
      <p:sp>
        <p:nvSpPr>
          <p:cNvPr id="46" name="CuadroTexto 45">
            <a:extLst>
              <a:ext uri="{FF2B5EF4-FFF2-40B4-BE49-F238E27FC236}">
                <a16:creationId xmlns:a16="http://schemas.microsoft.com/office/drawing/2014/main" id="{3D14364C-2931-8942-0170-E887735CDB21}"/>
              </a:ext>
            </a:extLst>
          </p:cNvPr>
          <p:cNvSpPr txBox="1"/>
          <p:nvPr/>
        </p:nvSpPr>
        <p:spPr>
          <a:xfrm>
            <a:off x="8305802" y="2285999"/>
            <a:ext cx="1524000" cy="36933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r>
              <a:rPr lang="es-ES" dirty="0"/>
              <a:t>Pedido</a:t>
            </a:r>
          </a:p>
        </p:txBody>
      </p:sp>
      <p:sp>
        <p:nvSpPr>
          <p:cNvPr id="47" name="CuadroTexto 46">
            <a:extLst>
              <a:ext uri="{FF2B5EF4-FFF2-40B4-BE49-F238E27FC236}">
                <a16:creationId xmlns:a16="http://schemas.microsoft.com/office/drawing/2014/main" id="{1A6C1973-F5D0-32B8-C964-559D0EBB0EAD}"/>
              </a:ext>
            </a:extLst>
          </p:cNvPr>
          <p:cNvSpPr txBox="1"/>
          <p:nvPr/>
        </p:nvSpPr>
        <p:spPr>
          <a:xfrm>
            <a:off x="10410920" y="2285999"/>
            <a:ext cx="1524000" cy="36933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r>
              <a:rPr lang="es-ES" dirty="0" err="1"/>
              <a:t>APedidos</a:t>
            </a:r>
            <a:endParaRPr lang="es-ES" dirty="0"/>
          </a:p>
        </p:txBody>
      </p:sp>
      <p:cxnSp>
        <p:nvCxnSpPr>
          <p:cNvPr id="49" name="Conector recto 48">
            <a:extLst>
              <a:ext uri="{FF2B5EF4-FFF2-40B4-BE49-F238E27FC236}">
                <a16:creationId xmlns:a16="http://schemas.microsoft.com/office/drawing/2014/main" id="{7A33E96A-4A17-4DA9-1D0A-ADA6F6318C49}"/>
              </a:ext>
            </a:extLst>
          </p:cNvPr>
          <p:cNvCxnSpPr/>
          <p:nvPr/>
        </p:nvCxnSpPr>
        <p:spPr>
          <a:xfrm>
            <a:off x="6551612" y="381000"/>
            <a:ext cx="0" cy="5975351"/>
          </a:xfrm>
          <a:prstGeom prst="line">
            <a:avLst/>
          </a:prstGeom>
        </p:spPr>
        <p:style>
          <a:lnRef idx="2">
            <a:schemeClr val="accent2">
              <a:shade val="15000"/>
            </a:schemeClr>
          </a:lnRef>
          <a:fillRef idx="1">
            <a:schemeClr val="accent2"/>
          </a:fillRef>
          <a:effectRef idx="0">
            <a:schemeClr val="accent2"/>
          </a:effectRef>
          <a:fontRef idx="minor">
            <a:schemeClr val="lt1"/>
          </a:fontRef>
        </p:style>
      </p:cxnSp>
      <p:sp>
        <p:nvSpPr>
          <p:cNvPr id="50" name="CuadroTexto 49">
            <a:extLst>
              <a:ext uri="{FF2B5EF4-FFF2-40B4-BE49-F238E27FC236}">
                <a16:creationId xmlns:a16="http://schemas.microsoft.com/office/drawing/2014/main" id="{A1D9D3B1-3791-6B97-4458-4FE3D8A34985}"/>
              </a:ext>
            </a:extLst>
          </p:cNvPr>
          <p:cNvSpPr txBox="1"/>
          <p:nvPr/>
        </p:nvSpPr>
        <p:spPr>
          <a:xfrm>
            <a:off x="7820120" y="4070351"/>
            <a:ext cx="1524000" cy="36933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r>
              <a:rPr lang="es-ES" dirty="0"/>
              <a:t>Cliente</a:t>
            </a:r>
          </a:p>
        </p:txBody>
      </p:sp>
      <p:sp>
        <p:nvSpPr>
          <p:cNvPr id="51" name="CuadroTexto 50">
            <a:extLst>
              <a:ext uri="{FF2B5EF4-FFF2-40B4-BE49-F238E27FC236}">
                <a16:creationId xmlns:a16="http://schemas.microsoft.com/office/drawing/2014/main" id="{9F89C4B9-7479-31A1-68D4-19BC3753A18D}"/>
              </a:ext>
            </a:extLst>
          </p:cNvPr>
          <p:cNvSpPr txBox="1"/>
          <p:nvPr/>
        </p:nvSpPr>
        <p:spPr>
          <a:xfrm>
            <a:off x="7820120" y="4527551"/>
            <a:ext cx="1524000" cy="36933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r>
              <a:rPr lang="es-ES" dirty="0"/>
              <a:t>Proveedor</a:t>
            </a:r>
          </a:p>
        </p:txBody>
      </p:sp>
      <p:sp>
        <p:nvSpPr>
          <p:cNvPr id="52" name="CuadroTexto 51">
            <a:extLst>
              <a:ext uri="{FF2B5EF4-FFF2-40B4-BE49-F238E27FC236}">
                <a16:creationId xmlns:a16="http://schemas.microsoft.com/office/drawing/2014/main" id="{15D893E3-7340-D5F4-18A5-265587C8428E}"/>
              </a:ext>
            </a:extLst>
          </p:cNvPr>
          <p:cNvSpPr txBox="1"/>
          <p:nvPr/>
        </p:nvSpPr>
        <p:spPr>
          <a:xfrm>
            <a:off x="7820120" y="4984751"/>
            <a:ext cx="1524000" cy="36933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r>
              <a:rPr lang="es-ES" dirty="0"/>
              <a:t>Pedido</a:t>
            </a:r>
          </a:p>
        </p:txBody>
      </p:sp>
      <p:sp>
        <p:nvSpPr>
          <p:cNvPr id="53" name="CuadroTexto 52">
            <a:extLst>
              <a:ext uri="{FF2B5EF4-FFF2-40B4-BE49-F238E27FC236}">
                <a16:creationId xmlns:a16="http://schemas.microsoft.com/office/drawing/2014/main" id="{3B794709-4B3B-52D8-0C33-AC6406877197}"/>
              </a:ext>
            </a:extLst>
          </p:cNvPr>
          <p:cNvSpPr txBox="1"/>
          <p:nvPr/>
        </p:nvSpPr>
        <p:spPr>
          <a:xfrm>
            <a:off x="9925238" y="4070351"/>
            <a:ext cx="1524000" cy="36933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r>
              <a:rPr lang="es-ES" dirty="0" err="1"/>
              <a:t>AClientes</a:t>
            </a:r>
            <a:endParaRPr lang="es-ES" dirty="0"/>
          </a:p>
        </p:txBody>
      </p:sp>
      <p:sp>
        <p:nvSpPr>
          <p:cNvPr id="54" name="CuadroTexto 53">
            <a:extLst>
              <a:ext uri="{FF2B5EF4-FFF2-40B4-BE49-F238E27FC236}">
                <a16:creationId xmlns:a16="http://schemas.microsoft.com/office/drawing/2014/main" id="{ECEF49EA-2ECD-52A1-1630-6FAB7C29EC30}"/>
              </a:ext>
            </a:extLst>
          </p:cNvPr>
          <p:cNvSpPr txBox="1"/>
          <p:nvPr/>
        </p:nvSpPr>
        <p:spPr>
          <a:xfrm>
            <a:off x="9925238" y="4527551"/>
            <a:ext cx="1524000" cy="36933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r>
              <a:rPr lang="es-ES" dirty="0" err="1"/>
              <a:t>AProveedores</a:t>
            </a:r>
            <a:endParaRPr lang="es-ES" dirty="0"/>
          </a:p>
        </p:txBody>
      </p:sp>
      <p:sp>
        <p:nvSpPr>
          <p:cNvPr id="55" name="CuadroTexto 54">
            <a:extLst>
              <a:ext uri="{FF2B5EF4-FFF2-40B4-BE49-F238E27FC236}">
                <a16:creationId xmlns:a16="http://schemas.microsoft.com/office/drawing/2014/main" id="{B3D12E9F-4F97-324F-50F7-83C13E78B964}"/>
              </a:ext>
            </a:extLst>
          </p:cNvPr>
          <p:cNvSpPr txBox="1"/>
          <p:nvPr/>
        </p:nvSpPr>
        <p:spPr>
          <a:xfrm>
            <a:off x="9925238" y="4984751"/>
            <a:ext cx="1524000" cy="36933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r>
              <a:rPr lang="es-ES" dirty="0"/>
              <a:t>Pedidos</a:t>
            </a:r>
          </a:p>
        </p:txBody>
      </p:sp>
      <p:sp>
        <p:nvSpPr>
          <p:cNvPr id="56" name="CuadroTexto 55">
            <a:extLst>
              <a:ext uri="{FF2B5EF4-FFF2-40B4-BE49-F238E27FC236}">
                <a16:creationId xmlns:a16="http://schemas.microsoft.com/office/drawing/2014/main" id="{2F8AFFDC-6F2C-24A8-0CAC-E1ECBD2D8A2C}"/>
              </a:ext>
            </a:extLst>
          </p:cNvPr>
          <p:cNvSpPr txBox="1"/>
          <p:nvPr/>
        </p:nvSpPr>
        <p:spPr>
          <a:xfrm>
            <a:off x="7972520" y="5137151"/>
            <a:ext cx="1524000" cy="36933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r>
              <a:rPr lang="es-ES" dirty="0"/>
              <a:t>Pedido</a:t>
            </a:r>
          </a:p>
        </p:txBody>
      </p:sp>
      <p:sp>
        <p:nvSpPr>
          <p:cNvPr id="57" name="CuadroTexto 56">
            <a:extLst>
              <a:ext uri="{FF2B5EF4-FFF2-40B4-BE49-F238E27FC236}">
                <a16:creationId xmlns:a16="http://schemas.microsoft.com/office/drawing/2014/main" id="{FD0926B4-EAFC-8729-3614-8A6832550060}"/>
              </a:ext>
            </a:extLst>
          </p:cNvPr>
          <p:cNvSpPr txBox="1"/>
          <p:nvPr/>
        </p:nvSpPr>
        <p:spPr>
          <a:xfrm>
            <a:off x="10077638" y="5137151"/>
            <a:ext cx="1524000" cy="36933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r>
              <a:rPr lang="es-ES" dirty="0"/>
              <a:t>Pedidos</a:t>
            </a:r>
          </a:p>
        </p:txBody>
      </p:sp>
      <p:sp>
        <p:nvSpPr>
          <p:cNvPr id="58" name="CuadroTexto 57">
            <a:extLst>
              <a:ext uri="{FF2B5EF4-FFF2-40B4-BE49-F238E27FC236}">
                <a16:creationId xmlns:a16="http://schemas.microsoft.com/office/drawing/2014/main" id="{73BF2D5F-7186-6C52-2A8E-C32E2A21D3B6}"/>
              </a:ext>
            </a:extLst>
          </p:cNvPr>
          <p:cNvSpPr txBox="1"/>
          <p:nvPr/>
        </p:nvSpPr>
        <p:spPr>
          <a:xfrm>
            <a:off x="8124920" y="5289551"/>
            <a:ext cx="1524000" cy="36933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r>
              <a:rPr lang="es-ES" dirty="0"/>
              <a:t>Pedido</a:t>
            </a:r>
          </a:p>
        </p:txBody>
      </p:sp>
      <p:sp>
        <p:nvSpPr>
          <p:cNvPr id="59" name="CuadroTexto 58">
            <a:extLst>
              <a:ext uri="{FF2B5EF4-FFF2-40B4-BE49-F238E27FC236}">
                <a16:creationId xmlns:a16="http://schemas.microsoft.com/office/drawing/2014/main" id="{B4B242C8-9B8E-5DF1-4399-98DEE0A328C6}"/>
              </a:ext>
            </a:extLst>
          </p:cNvPr>
          <p:cNvSpPr txBox="1"/>
          <p:nvPr/>
        </p:nvSpPr>
        <p:spPr>
          <a:xfrm>
            <a:off x="10230038" y="5289551"/>
            <a:ext cx="1524000" cy="36933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r>
              <a:rPr lang="es-ES" dirty="0"/>
              <a:t>Pedidos</a:t>
            </a:r>
          </a:p>
        </p:txBody>
      </p:sp>
      <p:sp>
        <p:nvSpPr>
          <p:cNvPr id="60" name="CuadroTexto 59">
            <a:extLst>
              <a:ext uri="{FF2B5EF4-FFF2-40B4-BE49-F238E27FC236}">
                <a16:creationId xmlns:a16="http://schemas.microsoft.com/office/drawing/2014/main" id="{09119908-D638-37F0-3934-AB93852751CA}"/>
              </a:ext>
            </a:extLst>
          </p:cNvPr>
          <p:cNvSpPr txBox="1"/>
          <p:nvPr/>
        </p:nvSpPr>
        <p:spPr>
          <a:xfrm>
            <a:off x="8277320" y="5441951"/>
            <a:ext cx="1524000" cy="36933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r>
              <a:rPr lang="es-ES" dirty="0"/>
              <a:t>Pedido</a:t>
            </a:r>
          </a:p>
        </p:txBody>
      </p:sp>
      <p:sp>
        <p:nvSpPr>
          <p:cNvPr id="61" name="CuadroTexto 60">
            <a:extLst>
              <a:ext uri="{FF2B5EF4-FFF2-40B4-BE49-F238E27FC236}">
                <a16:creationId xmlns:a16="http://schemas.microsoft.com/office/drawing/2014/main" id="{CEACCC50-4260-4981-3BF1-99FBDCAAB407}"/>
              </a:ext>
            </a:extLst>
          </p:cNvPr>
          <p:cNvSpPr txBox="1"/>
          <p:nvPr/>
        </p:nvSpPr>
        <p:spPr>
          <a:xfrm>
            <a:off x="10382438" y="5441951"/>
            <a:ext cx="1524000" cy="36933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r>
              <a:rPr lang="es-ES" dirty="0"/>
              <a:t>Pedidos</a:t>
            </a:r>
          </a:p>
        </p:txBody>
      </p:sp>
      <p:sp>
        <p:nvSpPr>
          <p:cNvPr id="62" name="CuadroTexto 61">
            <a:extLst>
              <a:ext uri="{FF2B5EF4-FFF2-40B4-BE49-F238E27FC236}">
                <a16:creationId xmlns:a16="http://schemas.microsoft.com/office/drawing/2014/main" id="{6B1B69AB-13D6-5446-DB02-939B8A06A844}"/>
              </a:ext>
            </a:extLst>
          </p:cNvPr>
          <p:cNvSpPr txBox="1"/>
          <p:nvPr/>
        </p:nvSpPr>
        <p:spPr>
          <a:xfrm>
            <a:off x="8429720" y="5594351"/>
            <a:ext cx="1524000" cy="36933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r>
              <a:rPr lang="es-ES" dirty="0"/>
              <a:t>Pedido</a:t>
            </a:r>
          </a:p>
        </p:txBody>
      </p:sp>
      <p:sp>
        <p:nvSpPr>
          <p:cNvPr id="63" name="CuadroTexto 62">
            <a:extLst>
              <a:ext uri="{FF2B5EF4-FFF2-40B4-BE49-F238E27FC236}">
                <a16:creationId xmlns:a16="http://schemas.microsoft.com/office/drawing/2014/main" id="{417A4A4E-CB88-C8D1-3B8E-CA1040924532}"/>
              </a:ext>
            </a:extLst>
          </p:cNvPr>
          <p:cNvSpPr txBox="1"/>
          <p:nvPr/>
        </p:nvSpPr>
        <p:spPr>
          <a:xfrm>
            <a:off x="10534838" y="5594351"/>
            <a:ext cx="1524000" cy="36933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r>
              <a:rPr lang="es-ES" dirty="0" err="1"/>
              <a:t>APedidos</a:t>
            </a:r>
            <a:endParaRPr lang="es-ES" dirty="0"/>
          </a:p>
        </p:txBody>
      </p:sp>
      <p:sp>
        <p:nvSpPr>
          <p:cNvPr id="2" name="CuadroTexto 1">
            <a:extLst>
              <a:ext uri="{FF2B5EF4-FFF2-40B4-BE49-F238E27FC236}">
                <a16:creationId xmlns:a16="http://schemas.microsoft.com/office/drawing/2014/main" id="{103BA646-DDC9-EF82-B75D-3042AFBC5D26}"/>
              </a:ext>
            </a:extLst>
          </p:cNvPr>
          <p:cNvSpPr txBox="1"/>
          <p:nvPr/>
        </p:nvSpPr>
        <p:spPr>
          <a:xfrm>
            <a:off x="8886920" y="262491"/>
            <a:ext cx="1159292" cy="369332"/>
          </a:xfrm>
          <a:prstGeom prst="rect">
            <a:avLst/>
          </a:prstGeom>
          <a:noFill/>
        </p:spPr>
        <p:txBody>
          <a:bodyPr wrap="none" rtlCol="0">
            <a:spAutoFit/>
          </a:bodyPr>
          <a:lstStyle/>
          <a:p>
            <a:r>
              <a:rPr lang="es-ES" dirty="0"/>
              <a:t>MEMORIA</a:t>
            </a:r>
          </a:p>
        </p:txBody>
      </p:sp>
      <p:sp>
        <p:nvSpPr>
          <p:cNvPr id="3" name="CuadroTexto 2">
            <a:extLst>
              <a:ext uri="{FF2B5EF4-FFF2-40B4-BE49-F238E27FC236}">
                <a16:creationId xmlns:a16="http://schemas.microsoft.com/office/drawing/2014/main" id="{6EB14E37-603A-8A98-2CC9-BA27449408BF}"/>
              </a:ext>
            </a:extLst>
          </p:cNvPr>
          <p:cNvSpPr txBox="1"/>
          <p:nvPr/>
        </p:nvSpPr>
        <p:spPr>
          <a:xfrm>
            <a:off x="2214002" y="241670"/>
            <a:ext cx="1417376" cy="369332"/>
          </a:xfrm>
          <a:prstGeom prst="rect">
            <a:avLst/>
          </a:prstGeom>
          <a:noFill/>
        </p:spPr>
        <p:txBody>
          <a:bodyPr wrap="none" rtlCol="0">
            <a:spAutoFit/>
          </a:bodyPr>
          <a:lstStyle/>
          <a:p>
            <a:r>
              <a:rPr lang="es-ES" dirty="0"/>
              <a:t>DESARROLLO</a:t>
            </a:r>
          </a:p>
        </p:txBody>
      </p:sp>
    </p:spTree>
    <p:extLst>
      <p:ext uri="{BB962C8B-B14F-4D97-AF65-F5344CB8AC3E}">
        <p14:creationId xmlns:p14="http://schemas.microsoft.com/office/powerpoint/2010/main" val="353675887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40A5CD4-6576-45EC-B19F-1AC8E79F5532}"/>
              </a:ext>
            </a:extLst>
          </p:cNvPr>
          <p:cNvSpPr>
            <a:spLocks noGrp="1"/>
          </p:cNvSpPr>
          <p:nvPr>
            <p:ph type="title"/>
          </p:nvPr>
        </p:nvSpPr>
        <p:spPr/>
        <p:txBody>
          <a:bodyPr>
            <a:normAutofit fontScale="90000"/>
          </a:bodyPr>
          <a:lstStyle/>
          <a:p>
            <a:r>
              <a:rPr lang="es-ES" dirty="0" err="1"/>
              <a:t>Namespaces</a:t>
            </a:r>
            <a:r>
              <a:rPr lang="es-ES" dirty="0"/>
              <a:t> </a:t>
            </a:r>
          </a:p>
        </p:txBody>
      </p:sp>
      <p:sp>
        <p:nvSpPr>
          <p:cNvPr id="3" name="Marcador de contenido 2">
            <a:extLst>
              <a:ext uri="{FF2B5EF4-FFF2-40B4-BE49-F238E27FC236}">
                <a16:creationId xmlns:a16="http://schemas.microsoft.com/office/drawing/2014/main" id="{48611DAD-597F-4146-8EBF-C313B013030C}"/>
              </a:ext>
            </a:extLst>
          </p:cNvPr>
          <p:cNvSpPr>
            <a:spLocks noGrp="1"/>
          </p:cNvSpPr>
          <p:nvPr>
            <p:ph idx="1"/>
          </p:nvPr>
        </p:nvSpPr>
        <p:spPr>
          <a:xfrm>
            <a:off x="837982" y="1825625"/>
            <a:ext cx="5637430" cy="4351338"/>
          </a:xfrm>
        </p:spPr>
        <p:txBody>
          <a:bodyPr>
            <a:normAutofit lnSpcReduction="10000"/>
          </a:bodyPr>
          <a:lstStyle/>
          <a:p>
            <a:r>
              <a:rPr lang="en-US" dirty="0"/>
              <a:t>Classes and interfaces support large-scale JavaScript development by providing a mechanism for describing how to use a software component that can be separated from that component's</a:t>
            </a:r>
            <a:br>
              <a:rPr lang="en-US" dirty="0"/>
            </a:br>
            <a:r>
              <a:rPr lang="en-US" dirty="0"/>
              <a:t>implementation. </a:t>
            </a:r>
          </a:p>
          <a:p>
            <a:r>
              <a:rPr lang="en-US" dirty="0"/>
              <a:t>TypeScript enforces </a:t>
            </a:r>
            <a:r>
              <a:rPr lang="en-US" i="1" dirty="0"/>
              <a:t>encapsulation </a:t>
            </a:r>
            <a:r>
              <a:rPr lang="en-US" dirty="0"/>
              <a:t>of implementation in classes at design time (by restricting use of private and protected members), </a:t>
            </a:r>
            <a:r>
              <a:rPr lang="en-US" b="1" dirty="0">
                <a:solidFill>
                  <a:srgbClr val="FF0000"/>
                </a:solidFill>
              </a:rPr>
              <a:t>but cannot enforce encapsulation at runtime </a:t>
            </a:r>
            <a:r>
              <a:rPr lang="en-US" dirty="0"/>
              <a:t>because all object properties are accessible at runtime. </a:t>
            </a:r>
            <a:endParaRPr lang="es-ES" dirty="0"/>
          </a:p>
        </p:txBody>
      </p:sp>
      <p:pic>
        <p:nvPicPr>
          <p:cNvPr id="5" name="Imagen 4">
            <a:extLst>
              <a:ext uri="{FF2B5EF4-FFF2-40B4-BE49-F238E27FC236}">
                <a16:creationId xmlns:a16="http://schemas.microsoft.com/office/drawing/2014/main" id="{4325D394-A53D-4A1F-8115-1C9F23C90CAB}"/>
              </a:ext>
            </a:extLst>
          </p:cNvPr>
          <p:cNvPicPr>
            <a:picLocks noChangeAspect="1"/>
          </p:cNvPicPr>
          <p:nvPr/>
        </p:nvPicPr>
        <p:blipFill>
          <a:blip r:embed="rId2"/>
          <a:stretch>
            <a:fillRect/>
          </a:stretch>
        </p:blipFill>
        <p:spPr>
          <a:xfrm>
            <a:off x="7194792" y="1780939"/>
            <a:ext cx="4419600" cy="1895475"/>
          </a:xfrm>
          <a:prstGeom prst="rect">
            <a:avLst/>
          </a:prstGeom>
        </p:spPr>
      </p:pic>
      <p:sp>
        <p:nvSpPr>
          <p:cNvPr id="6" name="Rectángulo 5">
            <a:extLst>
              <a:ext uri="{FF2B5EF4-FFF2-40B4-BE49-F238E27FC236}">
                <a16:creationId xmlns:a16="http://schemas.microsoft.com/office/drawing/2014/main" id="{02CC1093-A8EA-4CA6-BA06-26795FC69E1E}"/>
              </a:ext>
            </a:extLst>
          </p:cNvPr>
          <p:cNvSpPr/>
          <p:nvPr/>
        </p:nvSpPr>
        <p:spPr>
          <a:xfrm>
            <a:off x="7999412" y="1456293"/>
            <a:ext cx="2630720" cy="369332"/>
          </a:xfrm>
          <a:prstGeom prst="rect">
            <a:avLst/>
          </a:prstGeom>
        </p:spPr>
        <p:txBody>
          <a:bodyPr wrap="none">
            <a:spAutoFit/>
          </a:bodyPr>
          <a:lstStyle/>
          <a:p>
            <a:r>
              <a:rPr lang="en-US" dirty="0"/>
              <a:t>JavaScript module pattern</a:t>
            </a:r>
            <a:endParaRPr lang="es-ES" dirty="0"/>
          </a:p>
        </p:txBody>
      </p:sp>
      <p:pic>
        <p:nvPicPr>
          <p:cNvPr id="7" name="Imagen 6">
            <a:extLst>
              <a:ext uri="{FF2B5EF4-FFF2-40B4-BE49-F238E27FC236}">
                <a16:creationId xmlns:a16="http://schemas.microsoft.com/office/drawing/2014/main" id="{EA5D94D9-0456-4C2F-8719-741A9EA28C5F}"/>
              </a:ext>
            </a:extLst>
          </p:cNvPr>
          <p:cNvPicPr>
            <a:picLocks noChangeAspect="1"/>
          </p:cNvPicPr>
          <p:nvPr/>
        </p:nvPicPr>
        <p:blipFill>
          <a:blip r:embed="rId3"/>
          <a:stretch>
            <a:fillRect/>
          </a:stretch>
        </p:blipFill>
        <p:spPr>
          <a:xfrm>
            <a:off x="7647230" y="4325940"/>
            <a:ext cx="3514725" cy="2219325"/>
          </a:xfrm>
          <a:prstGeom prst="rect">
            <a:avLst/>
          </a:prstGeom>
        </p:spPr>
      </p:pic>
      <p:sp>
        <p:nvSpPr>
          <p:cNvPr id="8" name="Rectángulo 7">
            <a:extLst>
              <a:ext uri="{FF2B5EF4-FFF2-40B4-BE49-F238E27FC236}">
                <a16:creationId xmlns:a16="http://schemas.microsoft.com/office/drawing/2014/main" id="{66F40C5F-FEFA-4794-A9FE-BC0749745E1B}"/>
              </a:ext>
            </a:extLst>
          </p:cNvPr>
          <p:cNvSpPr/>
          <p:nvPr/>
        </p:nvSpPr>
        <p:spPr>
          <a:xfrm>
            <a:off x="7599238" y="4001294"/>
            <a:ext cx="3431067" cy="369332"/>
          </a:xfrm>
          <a:prstGeom prst="rect">
            <a:avLst/>
          </a:prstGeom>
        </p:spPr>
        <p:txBody>
          <a:bodyPr wrap="none">
            <a:spAutoFit/>
          </a:bodyPr>
          <a:lstStyle/>
          <a:p>
            <a:r>
              <a:rPr lang="en-US" dirty="0"/>
              <a:t>TypeScript enforces </a:t>
            </a:r>
            <a:r>
              <a:rPr lang="en-US" i="1" dirty="0"/>
              <a:t>encapsulation </a:t>
            </a:r>
            <a:endParaRPr lang="es-ES" dirty="0"/>
          </a:p>
        </p:txBody>
      </p:sp>
    </p:spTree>
    <p:extLst>
      <p:ext uri="{BB962C8B-B14F-4D97-AF65-F5344CB8AC3E}">
        <p14:creationId xmlns:p14="http://schemas.microsoft.com/office/powerpoint/2010/main" val="195076114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BF867CE-D597-4B46-802A-FC21E8648640}"/>
              </a:ext>
            </a:extLst>
          </p:cNvPr>
          <p:cNvSpPr>
            <a:spLocks noGrp="1"/>
          </p:cNvSpPr>
          <p:nvPr>
            <p:ph type="title"/>
          </p:nvPr>
        </p:nvSpPr>
        <p:spPr/>
        <p:txBody>
          <a:bodyPr>
            <a:normAutofit fontScale="90000"/>
          </a:bodyPr>
          <a:lstStyle/>
          <a:p>
            <a:r>
              <a:rPr lang="es-ES" dirty="0"/>
              <a:t>Modules </a:t>
            </a:r>
          </a:p>
        </p:txBody>
      </p:sp>
      <p:sp>
        <p:nvSpPr>
          <p:cNvPr id="3" name="Marcador de contenido 2">
            <a:extLst>
              <a:ext uri="{FF2B5EF4-FFF2-40B4-BE49-F238E27FC236}">
                <a16:creationId xmlns:a16="http://schemas.microsoft.com/office/drawing/2014/main" id="{8C39F33E-486E-481F-A797-FE578487ECF9}"/>
              </a:ext>
            </a:extLst>
          </p:cNvPr>
          <p:cNvSpPr>
            <a:spLocks noGrp="1"/>
          </p:cNvSpPr>
          <p:nvPr>
            <p:ph idx="1"/>
          </p:nvPr>
        </p:nvSpPr>
        <p:spPr/>
        <p:txBody>
          <a:bodyPr/>
          <a:lstStyle/>
          <a:p>
            <a:r>
              <a:rPr lang="en-US" dirty="0"/>
              <a:t>TypeScript also supports ECMAScript 2015 modules, which are files that contain top-level </a:t>
            </a:r>
            <a:r>
              <a:rPr lang="en-US" i="1" dirty="0"/>
              <a:t>export </a:t>
            </a:r>
            <a:r>
              <a:rPr lang="en-US" dirty="0"/>
              <a:t>and </a:t>
            </a:r>
            <a:r>
              <a:rPr lang="en-US" i="1" dirty="0"/>
              <a:t>import </a:t>
            </a:r>
            <a:r>
              <a:rPr lang="en-US" dirty="0"/>
              <a:t>directives. For this type of module the TypeScript compiler can emit both ECMAScript 2015</a:t>
            </a:r>
            <a:br>
              <a:rPr lang="en-US" dirty="0"/>
            </a:br>
            <a:r>
              <a:rPr lang="en-US" dirty="0"/>
              <a:t>compliant code and down-level ECMAScript 3 or 5 compliant code for a variety of module loading systems, including </a:t>
            </a:r>
            <a:r>
              <a:rPr lang="en-US" dirty="0" err="1"/>
              <a:t>CommonJS</a:t>
            </a:r>
            <a:r>
              <a:rPr lang="en-US" dirty="0"/>
              <a:t>, Asynchronous Module Definition (AMD), and Universal Module Definition (UMD). </a:t>
            </a:r>
            <a:endParaRPr lang="es-ES" dirty="0"/>
          </a:p>
        </p:txBody>
      </p:sp>
    </p:spTree>
    <p:extLst>
      <p:ext uri="{BB962C8B-B14F-4D97-AF65-F5344CB8AC3E}">
        <p14:creationId xmlns:p14="http://schemas.microsoft.com/office/powerpoint/2010/main" val="169216389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азвание 1"/>
          <p:cNvSpPr>
            <a:spLocks noGrp="1"/>
          </p:cNvSpPr>
          <p:nvPr>
            <p:ph type="title"/>
          </p:nvPr>
        </p:nvSpPr>
        <p:spPr/>
        <p:txBody>
          <a:bodyPr/>
          <a:lstStyle/>
          <a:p>
            <a:pPr fontAlgn="base"/>
            <a:r>
              <a:rPr lang="en-US" dirty="0"/>
              <a:t>Modules</a:t>
            </a:r>
            <a:endParaRPr lang="ru-RU" dirty="0"/>
          </a:p>
        </p:txBody>
      </p:sp>
      <p:sp>
        <p:nvSpPr>
          <p:cNvPr id="5" name="Прямоугольник 4"/>
          <p:cNvSpPr/>
          <p:nvPr/>
        </p:nvSpPr>
        <p:spPr>
          <a:xfrm>
            <a:off x="1827212" y="1219200"/>
            <a:ext cx="9906000" cy="4601260"/>
          </a:xfrm>
          <a:prstGeom prst="rect">
            <a:avLst/>
          </a:prstGeom>
        </p:spPr>
        <p:txBody>
          <a:bodyPr wrap="square">
            <a:spAutoFit/>
          </a:bodyPr>
          <a:lstStyle/>
          <a:p>
            <a:pPr fontAlgn="base"/>
            <a:r>
              <a:rPr lang="en-US" b="1" dirty="0" err="1">
                <a:solidFill>
                  <a:schemeClr val="accent2"/>
                </a:solidFill>
                <a:latin typeface="Consolas" panose="020B0609020204030204" pitchFamily="49" charset="0"/>
              </a:rPr>
              <a:t>Validation.ts</a:t>
            </a:r>
            <a:endParaRPr lang="en-US" b="1" dirty="0">
              <a:solidFill>
                <a:schemeClr val="accent2"/>
              </a:solidFill>
              <a:latin typeface="Consolas" panose="020B0609020204030204" pitchFamily="49" charset="0"/>
            </a:endParaRPr>
          </a:p>
          <a:p>
            <a:endParaRPr lang="en-US" sz="500" b="1" dirty="0">
              <a:latin typeface="Consolas" panose="020B0609020204030204" pitchFamily="49" charset="0"/>
            </a:endParaRPr>
          </a:p>
          <a:p>
            <a:pPr lvl="1"/>
            <a:r>
              <a:rPr lang="en-US" b="1" dirty="0">
                <a:latin typeface="Consolas" panose="020B0609020204030204" pitchFamily="49" charset="0"/>
              </a:rPr>
              <a:t>module Validation { </a:t>
            </a:r>
          </a:p>
          <a:p>
            <a:pPr lvl="1"/>
            <a:r>
              <a:rPr lang="en-US" b="1" dirty="0">
                <a:solidFill>
                  <a:srgbClr val="0000FF"/>
                </a:solidFill>
                <a:latin typeface="Consolas" panose="020B0609020204030204" pitchFamily="49" charset="0"/>
              </a:rPr>
              <a:t>	export</a:t>
            </a:r>
            <a:r>
              <a:rPr lang="en-US" b="1" dirty="0">
                <a:latin typeface="Consolas" panose="020B0609020204030204" pitchFamily="49" charset="0"/>
              </a:rPr>
              <a:t> </a:t>
            </a:r>
            <a:r>
              <a:rPr lang="en-US" b="1" dirty="0">
                <a:solidFill>
                  <a:srgbClr val="0000FF"/>
                </a:solidFill>
                <a:latin typeface="Consolas" panose="020B0609020204030204" pitchFamily="49" charset="0"/>
              </a:rPr>
              <a:t>interface</a:t>
            </a:r>
            <a:r>
              <a:rPr lang="en-US" b="1" dirty="0">
                <a:latin typeface="Consolas" panose="020B0609020204030204" pitchFamily="49" charset="0"/>
              </a:rPr>
              <a:t> </a:t>
            </a:r>
            <a:r>
              <a:rPr lang="en-US" b="1" dirty="0" err="1">
                <a:latin typeface="Consolas" panose="020B0609020204030204" pitchFamily="49" charset="0"/>
              </a:rPr>
              <a:t>StringValidator</a:t>
            </a:r>
            <a:r>
              <a:rPr lang="en-US" b="1" dirty="0">
                <a:latin typeface="Consolas" panose="020B0609020204030204" pitchFamily="49" charset="0"/>
              </a:rPr>
              <a:t> { </a:t>
            </a:r>
          </a:p>
          <a:p>
            <a:pPr lvl="1"/>
            <a:r>
              <a:rPr lang="en-US" b="1" dirty="0">
                <a:latin typeface="Consolas" panose="020B0609020204030204" pitchFamily="49" charset="0"/>
              </a:rPr>
              <a:t>		</a:t>
            </a:r>
            <a:r>
              <a:rPr lang="en-US" b="1" dirty="0" err="1">
                <a:latin typeface="Consolas" panose="020B0609020204030204" pitchFamily="49" charset="0"/>
              </a:rPr>
              <a:t>isAcceptable</a:t>
            </a:r>
            <a:r>
              <a:rPr lang="en-US" b="1" dirty="0">
                <a:latin typeface="Consolas" panose="020B0609020204030204" pitchFamily="49" charset="0"/>
              </a:rPr>
              <a:t>(s: string): </a:t>
            </a:r>
            <a:r>
              <a:rPr lang="en-US" b="1" dirty="0" err="1">
                <a:solidFill>
                  <a:srgbClr val="0000FF"/>
                </a:solidFill>
                <a:latin typeface="Consolas" panose="020B0609020204030204" pitchFamily="49" charset="0"/>
              </a:rPr>
              <a:t>boolean</a:t>
            </a:r>
            <a:r>
              <a:rPr lang="en-US" b="1" dirty="0">
                <a:latin typeface="Consolas" panose="020B0609020204030204" pitchFamily="49" charset="0"/>
              </a:rPr>
              <a:t>; </a:t>
            </a:r>
          </a:p>
          <a:p>
            <a:pPr lvl="1"/>
            <a:r>
              <a:rPr lang="en-US" b="1" dirty="0">
                <a:latin typeface="Consolas" panose="020B0609020204030204" pitchFamily="49" charset="0"/>
              </a:rPr>
              <a:t>	} </a:t>
            </a:r>
          </a:p>
          <a:p>
            <a:pPr lvl="1"/>
            <a:r>
              <a:rPr lang="en-US" b="1" dirty="0">
                <a:latin typeface="Consolas" panose="020B0609020204030204" pitchFamily="49" charset="0"/>
              </a:rPr>
              <a:t>}</a:t>
            </a:r>
          </a:p>
          <a:p>
            <a:pPr lvl="1"/>
            <a:endParaRPr lang="en-US" b="1" dirty="0">
              <a:latin typeface="Consolas" panose="020B0609020204030204" pitchFamily="49" charset="0"/>
            </a:endParaRPr>
          </a:p>
          <a:p>
            <a:pPr fontAlgn="base"/>
            <a:r>
              <a:rPr lang="en-US" b="1" dirty="0" err="1">
                <a:solidFill>
                  <a:schemeClr val="accent2"/>
                </a:solidFill>
                <a:latin typeface="Consolas" panose="020B0609020204030204" pitchFamily="49" charset="0"/>
              </a:rPr>
              <a:t>LettersOnlyValidator.ts</a:t>
            </a:r>
            <a:endParaRPr lang="en-US" b="1" dirty="0">
              <a:solidFill>
                <a:schemeClr val="accent2"/>
              </a:solidFill>
              <a:latin typeface="Consolas" panose="020B0609020204030204" pitchFamily="49" charset="0"/>
            </a:endParaRPr>
          </a:p>
          <a:p>
            <a:pPr lvl="1"/>
            <a:r>
              <a:rPr lang="en-US" b="1" dirty="0">
                <a:solidFill>
                  <a:srgbClr val="008000"/>
                </a:solidFill>
                <a:latin typeface="Consolas" panose="020B0609020204030204" pitchFamily="49" charset="0"/>
              </a:rPr>
              <a:t>/// &lt;reference path="</a:t>
            </a:r>
            <a:r>
              <a:rPr lang="en-US" b="1" dirty="0" err="1">
                <a:solidFill>
                  <a:srgbClr val="008000"/>
                </a:solidFill>
                <a:latin typeface="Consolas" panose="020B0609020204030204" pitchFamily="49" charset="0"/>
              </a:rPr>
              <a:t>Validation.ts</a:t>
            </a:r>
            <a:r>
              <a:rPr lang="en-US" b="1" dirty="0">
                <a:solidFill>
                  <a:srgbClr val="008000"/>
                </a:solidFill>
                <a:latin typeface="Consolas" panose="020B0609020204030204" pitchFamily="49" charset="0"/>
              </a:rPr>
              <a:t>" /&gt;</a:t>
            </a:r>
            <a:r>
              <a:rPr lang="en-US" b="1" dirty="0">
                <a:latin typeface="Consolas" panose="020B0609020204030204" pitchFamily="49" charset="0"/>
              </a:rPr>
              <a:t> </a:t>
            </a:r>
          </a:p>
          <a:p>
            <a:pPr lvl="1"/>
            <a:r>
              <a:rPr lang="en-US" b="1" dirty="0">
                <a:latin typeface="Consolas" panose="020B0609020204030204" pitchFamily="49" charset="0"/>
              </a:rPr>
              <a:t>module Validation { </a:t>
            </a:r>
          </a:p>
          <a:p>
            <a:pPr lvl="1"/>
            <a:r>
              <a:rPr lang="en-US" b="1" dirty="0">
                <a:solidFill>
                  <a:srgbClr val="0000FF"/>
                </a:solidFill>
                <a:latin typeface="Consolas" panose="020B0609020204030204" pitchFamily="49" charset="0"/>
              </a:rPr>
              <a:t>	</a:t>
            </a:r>
            <a:r>
              <a:rPr lang="en-US" b="1" dirty="0" err="1">
                <a:solidFill>
                  <a:srgbClr val="0000FF"/>
                </a:solidFill>
                <a:latin typeface="Consolas" panose="020B0609020204030204" pitchFamily="49" charset="0"/>
              </a:rPr>
              <a:t>var</a:t>
            </a:r>
            <a:r>
              <a:rPr lang="en-US" b="1" dirty="0">
                <a:latin typeface="Consolas" panose="020B0609020204030204" pitchFamily="49" charset="0"/>
              </a:rPr>
              <a:t> </a:t>
            </a:r>
            <a:r>
              <a:rPr lang="en-US" b="1" dirty="0" err="1">
                <a:latin typeface="Consolas" panose="020B0609020204030204" pitchFamily="49" charset="0"/>
              </a:rPr>
              <a:t>lettersRegexp</a:t>
            </a:r>
            <a:r>
              <a:rPr lang="en-US" b="1" dirty="0">
                <a:latin typeface="Consolas" panose="020B0609020204030204" pitchFamily="49" charset="0"/>
              </a:rPr>
              <a:t> = /^[A-</a:t>
            </a:r>
            <a:r>
              <a:rPr lang="en-US" b="1" dirty="0" err="1">
                <a:latin typeface="Consolas" panose="020B0609020204030204" pitchFamily="49" charset="0"/>
              </a:rPr>
              <a:t>Za</a:t>
            </a:r>
            <a:r>
              <a:rPr lang="en-US" b="1" dirty="0">
                <a:latin typeface="Consolas" panose="020B0609020204030204" pitchFamily="49" charset="0"/>
              </a:rPr>
              <a:t>-z]+$/; </a:t>
            </a:r>
          </a:p>
          <a:p>
            <a:pPr lvl="1"/>
            <a:r>
              <a:rPr lang="en-US" b="1" dirty="0">
                <a:solidFill>
                  <a:srgbClr val="0000FF"/>
                </a:solidFill>
                <a:latin typeface="Consolas" panose="020B0609020204030204" pitchFamily="49" charset="0"/>
              </a:rPr>
              <a:t>	</a:t>
            </a:r>
          </a:p>
          <a:p>
            <a:pPr lvl="1"/>
            <a:r>
              <a:rPr lang="en-US" b="1" dirty="0">
                <a:solidFill>
                  <a:srgbClr val="0000FF"/>
                </a:solidFill>
                <a:latin typeface="Consolas" panose="020B0609020204030204" pitchFamily="49" charset="0"/>
              </a:rPr>
              <a:t>	export</a:t>
            </a:r>
            <a:r>
              <a:rPr lang="en-US" b="1" dirty="0">
                <a:latin typeface="Consolas" panose="020B0609020204030204" pitchFamily="49" charset="0"/>
              </a:rPr>
              <a:t> </a:t>
            </a:r>
            <a:r>
              <a:rPr lang="en-US" b="1" dirty="0">
                <a:solidFill>
                  <a:srgbClr val="0000FF"/>
                </a:solidFill>
                <a:latin typeface="Consolas" panose="020B0609020204030204" pitchFamily="49" charset="0"/>
              </a:rPr>
              <a:t>class</a:t>
            </a:r>
            <a:r>
              <a:rPr lang="en-US" b="1" dirty="0">
                <a:latin typeface="Consolas" panose="020B0609020204030204" pitchFamily="49" charset="0"/>
              </a:rPr>
              <a:t> </a:t>
            </a:r>
            <a:r>
              <a:rPr lang="en-US" b="1" dirty="0" err="1">
                <a:latin typeface="Consolas" panose="020B0609020204030204" pitchFamily="49" charset="0"/>
              </a:rPr>
              <a:t>LettersOnlyValidator</a:t>
            </a:r>
            <a:r>
              <a:rPr lang="en-US" b="1" dirty="0">
                <a:latin typeface="Consolas" panose="020B0609020204030204" pitchFamily="49" charset="0"/>
              </a:rPr>
              <a:t> </a:t>
            </a:r>
            <a:r>
              <a:rPr lang="en-US" b="1" dirty="0">
                <a:solidFill>
                  <a:srgbClr val="0000FF"/>
                </a:solidFill>
                <a:latin typeface="Consolas" panose="020B0609020204030204" pitchFamily="49" charset="0"/>
              </a:rPr>
              <a:t>implements</a:t>
            </a:r>
            <a:r>
              <a:rPr lang="en-US" b="1" dirty="0">
                <a:latin typeface="Consolas" panose="020B0609020204030204" pitchFamily="49" charset="0"/>
              </a:rPr>
              <a:t> </a:t>
            </a:r>
            <a:r>
              <a:rPr lang="en-US" b="1" dirty="0" err="1">
                <a:latin typeface="Consolas" panose="020B0609020204030204" pitchFamily="49" charset="0"/>
              </a:rPr>
              <a:t>StringValidator</a:t>
            </a:r>
            <a:r>
              <a:rPr lang="en-US" b="1" dirty="0">
                <a:latin typeface="Consolas" panose="020B0609020204030204" pitchFamily="49" charset="0"/>
              </a:rPr>
              <a:t> { </a:t>
            </a:r>
          </a:p>
          <a:p>
            <a:pPr lvl="1"/>
            <a:r>
              <a:rPr lang="en-US" b="1" dirty="0">
                <a:latin typeface="Consolas" panose="020B0609020204030204" pitchFamily="49" charset="0"/>
              </a:rPr>
              <a:t>		</a:t>
            </a:r>
            <a:r>
              <a:rPr lang="en-US" b="1" dirty="0" err="1">
                <a:latin typeface="Consolas" panose="020B0609020204030204" pitchFamily="49" charset="0"/>
              </a:rPr>
              <a:t>isAcceptable</a:t>
            </a:r>
            <a:r>
              <a:rPr lang="en-US" b="1" dirty="0">
                <a:latin typeface="Consolas" panose="020B0609020204030204" pitchFamily="49" charset="0"/>
              </a:rPr>
              <a:t>(s: string) { </a:t>
            </a:r>
            <a:r>
              <a:rPr lang="en-US" b="1" dirty="0">
                <a:solidFill>
                  <a:srgbClr val="0000FF"/>
                </a:solidFill>
                <a:latin typeface="Consolas" panose="020B0609020204030204" pitchFamily="49" charset="0"/>
              </a:rPr>
              <a:t>return</a:t>
            </a:r>
            <a:r>
              <a:rPr lang="en-US" b="1" dirty="0">
                <a:latin typeface="Consolas" panose="020B0609020204030204" pitchFamily="49" charset="0"/>
              </a:rPr>
              <a:t> </a:t>
            </a:r>
            <a:r>
              <a:rPr lang="en-US" b="1" dirty="0" err="1">
                <a:latin typeface="Consolas" panose="020B0609020204030204" pitchFamily="49" charset="0"/>
              </a:rPr>
              <a:t>lettersRegexp.test</a:t>
            </a:r>
            <a:r>
              <a:rPr lang="en-US" b="1" dirty="0">
                <a:latin typeface="Consolas" panose="020B0609020204030204" pitchFamily="49" charset="0"/>
              </a:rPr>
              <a:t>(s); } </a:t>
            </a:r>
          </a:p>
          <a:p>
            <a:pPr lvl="1"/>
            <a:r>
              <a:rPr lang="en-US" b="1" dirty="0">
                <a:latin typeface="Consolas" panose="020B0609020204030204" pitchFamily="49" charset="0"/>
              </a:rPr>
              <a:t>	} </a:t>
            </a:r>
          </a:p>
          <a:p>
            <a:pPr lvl="1"/>
            <a:r>
              <a:rPr lang="en-US" b="1" dirty="0">
                <a:latin typeface="Consolas" panose="020B0609020204030204" pitchFamily="49" charset="0"/>
              </a:rPr>
              <a:t>}</a:t>
            </a:r>
            <a:endParaRPr lang="ru-RU" b="1" dirty="0">
              <a:latin typeface="Consolas" panose="020B0609020204030204" pitchFamily="49" charset="0"/>
            </a:endParaRPr>
          </a:p>
        </p:txBody>
      </p:sp>
    </p:spTree>
    <p:extLst>
      <p:ext uri="{BB962C8B-B14F-4D97-AF65-F5344CB8AC3E}">
        <p14:creationId xmlns:p14="http://schemas.microsoft.com/office/powerpoint/2010/main" val="132656161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азвание 1"/>
          <p:cNvSpPr>
            <a:spLocks noGrp="1"/>
          </p:cNvSpPr>
          <p:nvPr>
            <p:ph type="title"/>
          </p:nvPr>
        </p:nvSpPr>
        <p:spPr/>
        <p:txBody>
          <a:bodyPr/>
          <a:lstStyle/>
          <a:p>
            <a:pPr fontAlgn="base"/>
            <a:r>
              <a:rPr lang="en-US" dirty="0"/>
              <a:t>Modules</a:t>
            </a:r>
            <a:endParaRPr lang="ru-RU" dirty="0"/>
          </a:p>
        </p:txBody>
      </p:sp>
      <p:sp>
        <p:nvSpPr>
          <p:cNvPr id="5" name="Прямоугольник 4"/>
          <p:cNvSpPr/>
          <p:nvPr/>
        </p:nvSpPr>
        <p:spPr>
          <a:xfrm>
            <a:off x="1903412" y="1371600"/>
            <a:ext cx="9982200" cy="5355312"/>
          </a:xfrm>
          <a:prstGeom prst="rect">
            <a:avLst/>
          </a:prstGeom>
        </p:spPr>
        <p:txBody>
          <a:bodyPr wrap="square">
            <a:spAutoFit/>
          </a:bodyPr>
          <a:lstStyle/>
          <a:p>
            <a:pPr fontAlgn="base"/>
            <a:r>
              <a:rPr lang="en-US" b="1" dirty="0">
                <a:solidFill>
                  <a:srgbClr val="008000"/>
                </a:solidFill>
                <a:latin typeface="Consolas" panose="020B0609020204030204" pitchFamily="49" charset="0"/>
              </a:rPr>
              <a:t>/// &lt;reference path="</a:t>
            </a:r>
            <a:r>
              <a:rPr lang="en-US" b="1" dirty="0" err="1">
                <a:solidFill>
                  <a:srgbClr val="008000"/>
                </a:solidFill>
                <a:latin typeface="Consolas" panose="020B0609020204030204" pitchFamily="49" charset="0"/>
              </a:rPr>
              <a:t>Validation.ts</a:t>
            </a:r>
            <a:r>
              <a:rPr lang="en-US" b="1" dirty="0">
                <a:solidFill>
                  <a:srgbClr val="008000"/>
                </a:solidFill>
                <a:latin typeface="Consolas" panose="020B0609020204030204" pitchFamily="49" charset="0"/>
              </a:rPr>
              <a:t>" /&gt;</a:t>
            </a:r>
            <a:r>
              <a:rPr lang="en-US" b="1" dirty="0">
                <a:latin typeface="Consolas" panose="020B0609020204030204" pitchFamily="49" charset="0"/>
              </a:rPr>
              <a:t> </a:t>
            </a:r>
          </a:p>
          <a:p>
            <a:pPr fontAlgn="base"/>
            <a:r>
              <a:rPr lang="en-US" b="1" dirty="0">
                <a:solidFill>
                  <a:srgbClr val="008000"/>
                </a:solidFill>
                <a:latin typeface="Consolas" panose="020B0609020204030204" pitchFamily="49" charset="0"/>
              </a:rPr>
              <a:t>/// &lt;reference path="</a:t>
            </a:r>
            <a:r>
              <a:rPr lang="en-US" b="1" dirty="0" err="1">
                <a:solidFill>
                  <a:srgbClr val="008000"/>
                </a:solidFill>
                <a:latin typeface="Consolas" panose="020B0609020204030204" pitchFamily="49" charset="0"/>
              </a:rPr>
              <a:t>LettersOnlyValidator.ts</a:t>
            </a:r>
            <a:r>
              <a:rPr lang="en-US" b="1" dirty="0">
                <a:solidFill>
                  <a:srgbClr val="008000"/>
                </a:solidFill>
                <a:latin typeface="Consolas" panose="020B0609020204030204" pitchFamily="49" charset="0"/>
              </a:rPr>
              <a:t>" /&gt;</a:t>
            </a:r>
            <a:r>
              <a:rPr lang="en-US" b="1" dirty="0">
                <a:latin typeface="Consolas" panose="020B0609020204030204" pitchFamily="49" charset="0"/>
              </a:rPr>
              <a:t> </a:t>
            </a:r>
          </a:p>
          <a:p>
            <a:pPr fontAlgn="base"/>
            <a:r>
              <a:rPr lang="en-US" b="1" dirty="0">
                <a:solidFill>
                  <a:srgbClr val="008000"/>
                </a:solidFill>
                <a:latin typeface="Consolas" panose="020B0609020204030204" pitchFamily="49" charset="0"/>
              </a:rPr>
              <a:t>/// &lt;reference path="</a:t>
            </a:r>
            <a:r>
              <a:rPr lang="en-US" b="1" dirty="0" err="1">
                <a:solidFill>
                  <a:srgbClr val="008000"/>
                </a:solidFill>
                <a:latin typeface="Consolas" panose="020B0609020204030204" pitchFamily="49" charset="0"/>
              </a:rPr>
              <a:t>ZipCodeValidator.ts</a:t>
            </a:r>
            <a:r>
              <a:rPr lang="en-US" b="1" dirty="0">
                <a:solidFill>
                  <a:srgbClr val="008000"/>
                </a:solidFill>
                <a:latin typeface="Consolas" panose="020B0609020204030204" pitchFamily="49" charset="0"/>
              </a:rPr>
              <a:t>" /&gt;</a:t>
            </a:r>
            <a:r>
              <a:rPr lang="en-US" b="1" dirty="0">
                <a:latin typeface="Consolas" panose="020B0609020204030204" pitchFamily="49" charset="0"/>
              </a:rPr>
              <a:t> </a:t>
            </a:r>
          </a:p>
          <a:p>
            <a:pPr fontAlgn="base"/>
            <a:endParaRPr lang="en-US" b="1" dirty="0">
              <a:solidFill>
                <a:srgbClr val="008000"/>
              </a:solidFill>
              <a:latin typeface="Consolas" panose="020B0609020204030204" pitchFamily="49" charset="0"/>
            </a:endParaRPr>
          </a:p>
          <a:p>
            <a:pPr fontAlgn="base"/>
            <a:r>
              <a:rPr lang="en-US" b="1" dirty="0">
                <a:solidFill>
                  <a:srgbClr val="008000"/>
                </a:solidFill>
                <a:latin typeface="Consolas" panose="020B0609020204030204" pitchFamily="49" charset="0"/>
              </a:rPr>
              <a:t>// Some samples to try</a:t>
            </a:r>
            <a:r>
              <a:rPr lang="en-US" b="1" dirty="0">
                <a:latin typeface="Consolas" panose="020B0609020204030204" pitchFamily="49" charset="0"/>
              </a:rPr>
              <a:t> </a:t>
            </a:r>
          </a:p>
          <a:p>
            <a:pPr fontAlgn="base"/>
            <a:r>
              <a:rPr lang="en-US" b="1" dirty="0" err="1">
                <a:solidFill>
                  <a:srgbClr val="0000FF"/>
                </a:solidFill>
                <a:latin typeface="Consolas" panose="020B0609020204030204" pitchFamily="49" charset="0"/>
              </a:rPr>
              <a:t>var</a:t>
            </a:r>
            <a:r>
              <a:rPr lang="en-US" b="1" dirty="0">
                <a:latin typeface="Consolas" panose="020B0609020204030204" pitchFamily="49" charset="0"/>
              </a:rPr>
              <a:t> strings = [</a:t>
            </a:r>
            <a:r>
              <a:rPr lang="en-US" b="1" dirty="0">
                <a:solidFill>
                  <a:srgbClr val="A31515"/>
                </a:solidFill>
                <a:latin typeface="Consolas" panose="020B0609020204030204" pitchFamily="49" charset="0"/>
              </a:rPr>
              <a:t>'Hello'</a:t>
            </a:r>
            <a:r>
              <a:rPr lang="en-US" b="1" dirty="0">
                <a:latin typeface="Consolas" panose="020B0609020204030204" pitchFamily="49" charset="0"/>
              </a:rPr>
              <a:t>, </a:t>
            </a:r>
            <a:r>
              <a:rPr lang="en-US" b="1" dirty="0">
                <a:solidFill>
                  <a:srgbClr val="A31515"/>
                </a:solidFill>
                <a:latin typeface="Consolas" panose="020B0609020204030204" pitchFamily="49" charset="0"/>
              </a:rPr>
              <a:t>'98052'</a:t>
            </a:r>
            <a:r>
              <a:rPr lang="en-US" b="1" dirty="0">
                <a:latin typeface="Consolas" panose="020B0609020204030204" pitchFamily="49" charset="0"/>
              </a:rPr>
              <a:t>, </a:t>
            </a:r>
            <a:r>
              <a:rPr lang="en-US" b="1" dirty="0">
                <a:solidFill>
                  <a:srgbClr val="A31515"/>
                </a:solidFill>
                <a:latin typeface="Consolas" panose="020B0609020204030204" pitchFamily="49" charset="0"/>
              </a:rPr>
              <a:t>'101'</a:t>
            </a:r>
            <a:r>
              <a:rPr lang="en-US" b="1" dirty="0">
                <a:latin typeface="Consolas" panose="020B0609020204030204" pitchFamily="49" charset="0"/>
              </a:rPr>
              <a:t>]; </a:t>
            </a:r>
          </a:p>
          <a:p>
            <a:pPr fontAlgn="base"/>
            <a:r>
              <a:rPr lang="en-US" b="1" dirty="0">
                <a:solidFill>
                  <a:srgbClr val="008000"/>
                </a:solidFill>
                <a:latin typeface="Consolas" panose="020B0609020204030204" pitchFamily="49" charset="0"/>
              </a:rPr>
              <a:t>// Validators to use</a:t>
            </a:r>
            <a:r>
              <a:rPr lang="en-US" b="1" dirty="0">
                <a:latin typeface="Consolas" panose="020B0609020204030204" pitchFamily="49" charset="0"/>
              </a:rPr>
              <a:t> </a:t>
            </a:r>
          </a:p>
          <a:p>
            <a:pPr fontAlgn="base"/>
            <a:r>
              <a:rPr lang="en-US" b="1" dirty="0" err="1">
                <a:solidFill>
                  <a:srgbClr val="0000FF"/>
                </a:solidFill>
                <a:latin typeface="Consolas" panose="020B0609020204030204" pitchFamily="49" charset="0"/>
              </a:rPr>
              <a:t>var</a:t>
            </a:r>
            <a:r>
              <a:rPr lang="en-US" b="1" dirty="0">
                <a:latin typeface="Consolas" panose="020B0609020204030204" pitchFamily="49" charset="0"/>
              </a:rPr>
              <a:t> validators: { [s: string]: </a:t>
            </a:r>
            <a:r>
              <a:rPr lang="en-US" b="1" dirty="0" err="1">
                <a:latin typeface="Consolas" panose="020B0609020204030204" pitchFamily="49" charset="0"/>
              </a:rPr>
              <a:t>Validation.StringValidator</a:t>
            </a:r>
            <a:r>
              <a:rPr lang="en-US" b="1" dirty="0">
                <a:latin typeface="Consolas" panose="020B0609020204030204" pitchFamily="49" charset="0"/>
              </a:rPr>
              <a:t>; } = {}; </a:t>
            </a:r>
          </a:p>
          <a:p>
            <a:pPr fontAlgn="base"/>
            <a:r>
              <a:rPr lang="en-US" b="1" dirty="0">
                <a:latin typeface="Consolas" panose="020B0609020204030204" pitchFamily="49" charset="0"/>
              </a:rPr>
              <a:t>validators[</a:t>
            </a:r>
            <a:r>
              <a:rPr lang="en-US" b="1" dirty="0">
                <a:solidFill>
                  <a:srgbClr val="A31515"/>
                </a:solidFill>
                <a:latin typeface="Consolas" panose="020B0609020204030204" pitchFamily="49" charset="0"/>
              </a:rPr>
              <a:t>'ZIP code'</a:t>
            </a:r>
            <a:r>
              <a:rPr lang="en-US" b="1" dirty="0">
                <a:latin typeface="Consolas" panose="020B0609020204030204" pitchFamily="49" charset="0"/>
              </a:rPr>
              <a:t>] = </a:t>
            </a:r>
            <a:r>
              <a:rPr lang="en-US" b="1" dirty="0">
                <a:solidFill>
                  <a:srgbClr val="0000FF"/>
                </a:solidFill>
                <a:latin typeface="Consolas" panose="020B0609020204030204" pitchFamily="49" charset="0"/>
              </a:rPr>
              <a:t>new</a:t>
            </a:r>
            <a:r>
              <a:rPr lang="en-US" b="1" dirty="0">
                <a:latin typeface="Consolas" panose="020B0609020204030204" pitchFamily="49" charset="0"/>
              </a:rPr>
              <a:t> </a:t>
            </a:r>
            <a:r>
              <a:rPr lang="en-US" b="1" dirty="0" err="1">
                <a:latin typeface="Consolas" panose="020B0609020204030204" pitchFamily="49" charset="0"/>
              </a:rPr>
              <a:t>Validation.ZipCodeValidator</a:t>
            </a:r>
            <a:r>
              <a:rPr lang="en-US" b="1" dirty="0">
                <a:latin typeface="Consolas" panose="020B0609020204030204" pitchFamily="49" charset="0"/>
              </a:rPr>
              <a:t>(); </a:t>
            </a:r>
          </a:p>
          <a:p>
            <a:pPr fontAlgn="base"/>
            <a:r>
              <a:rPr lang="en-US" b="1" dirty="0">
                <a:latin typeface="Consolas" panose="020B0609020204030204" pitchFamily="49" charset="0"/>
              </a:rPr>
              <a:t>validators[</a:t>
            </a:r>
            <a:r>
              <a:rPr lang="en-US" b="1" dirty="0">
                <a:solidFill>
                  <a:srgbClr val="A31515"/>
                </a:solidFill>
                <a:latin typeface="Consolas" panose="020B0609020204030204" pitchFamily="49" charset="0"/>
              </a:rPr>
              <a:t>'Letters only'</a:t>
            </a:r>
            <a:r>
              <a:rPr lang="en-US" b="1" dirty="0">
                <a:latin typeface="Consolas" panose="020B0609020204030204" pitchFamily="49" charset="0"/>
              </a:rPr>
              <a:t>] = </a:t>
            </a:r>
            <a:r>
              <a:rPr lang="en-US" b="1" dirty="0">
                <a:solidFill>
                  <a:srgbClr val="0000FF"/>
                </a:solidFill>
                <a:latin typeface="Consolas" panose="020B0609020204030204" pitchFamily="49" charset="0"/>
              </a:rPr>
              <a:t>new</a:t>
            </a:r>
            <a:r>
              <a:rPr lang="en-US" b="1" dirty="0">
                <a:latin typeface="Consolas" panose="020B0609020204030204" pitchFamily="49" charset="0"/>
              </a:rPr>
              <a:t> </a:t>
            </a:r>
            <a:r>
              <a:rPr lang="en-US" b="1" dirty="0" err="1">
                <a:latin typeface="Consolas" panose="020B0609020204030204" pitchFamily="49" charset="0"/>
              </a:rPr>
              <a:t>Validation.LettersOnlyValidator</a:t>
            </a:r>
            <a:r>
              <a:rPr lang="en-US" b="1" dirty="0">
                <a:latin typeface="Consolas" panose="020B0609020204030204" pitchFamily="49" charset="0"/>
              </a:rPr>
              <a:t>(); </a:t>
            </a:r>
          </a:p>
          <a:p>
            <a:pPr fontAlgn="base"/>
            <a:r>
              <a:rPr lang="en-US" b="1" dirty="0">
                <a:solidFill>
                  <a:srgbClr val="008000"/>
                </a:solidFill>
                <a:latin typeface="Consolas" panose="020B0609020204030204" pitchFamily="49" charset="0"/>
              </a:rPr>
              <a:t>// Show whether each string passed each validator</a:t>
            </a:r>
            <a:r>
              <a:rPr lang="en-US" b="1" dirty="0">
                <a:latin typeface="Consolas" panose="020B0609020204030204" pitchFamily="49" charset="0"/>
              </a:rPr>
              <a:t> </a:t>
            </a:r>
          </a:p>
          <a:p>
            <a:pPr fontAlgn="base"/>
            <a:r>
              <a:rPr lang="en-US" b="1" dirty="0" err="1">
                <a:latin typeface="Consolas" panose="020B0609020204030204" pitchFamily="49" charset="0"/>
              </a:rPr>
              <a:t>strings.forEach</a:t>
            </a:r>
            <a:r>
              <a:rPr lang="en-US" b="1" dirty="0">
                <a:latin typeface="Consolas" panose="020B0609020204030204" pitchFamily="49" charset="0"/>
              </a:rPr>
              <a:t>(s =&gt; { </a:t>
            </a:r>
          </a:p>
          <a:p>
            <a:pPr fontAlgn="base"/>
            <a:r>
              <a:rPr lang="en-US" b="1" dirty="0">
                <a:solidFill>
                  <a:srgbClr val="0000FF"/>
                </a:solidFill>
                <a:latin typeface="Consolas" panose="020B0609020204030204" pitchFamily="49" charset="0"/>
              </a:rPr>
              <a:t>	for</a:t>
            </a:r>
            <a:r>
              <a:rPr lang="en-US" b="1" dirty="0">
                <a:latin typeface="Consolas" panose="020B0609020204030204" pitchFamily="49" charset="0"/>
              </a:rPr>
              <a:t> (</a:t>
            </a:r>
            <a:r>
              <a:rPr lang="en-US" b="1" dirty="0" err="1">
                <a:solidFill>
                  <a:srgbClr val="0000FF"/>
                </a:solidFill>
                <a:latin typeface="Consolas" panose="020B0609020204030204" pitchFamily="49" charset="0"/>
              </a:rPr>
              <a:t>var</a:t>
            </a:r>
            <a:r>
              <a:rPr lang="en-US" b="1" dirty="0">
                <a:latin typeface="Consolas" panose="020B0609020204030204" pitchFamily="49" charset="0"/>
              </a:rPr>
              <a:t> name </a:t>
            </a:r>
            <a:r>
              <a:rPr lang="en-US" b="1" dirty="0">
                <a:solidFill>
                  <a:srgbClr val="0000FF"/>
                </a:solidFill>
                <a:latin typeface="Consolas" panose="020B0609020204030204" pitchFamily="49" charset="0"/>
              </a:rPr>
              <a:t>in</a:t>
            </a:r>
            <a:r>
              <a:rPr lang="en-US" b="1" dirty="0">
                <a:latin typeface="Consolas" panose="020B0609020204030204" pitchFamily="49" charset="0"/>
              </a:rPr>
              <a:t> validators) { </a:t>
            </a:r>
          </a:p>
          <a:p>
            <a:pPr fontAlgn="base"/>
            <a:r>
              <a:rPr lang="en-US" b="1" dirty="0">
                <a:latin typeface="Consolas" panose="020B0609020204030204" pitchFamily="49" charset="0"/>
              </a:rPr>
              <a:t>		console.log(</a:t>
            </a:r>
            <a:r>
              <a:rPr lang="en-US" b="1" dirty="0">
                <a:solidFill>
                  <a:srgbClr val="A31515"/>
                </a:solidFill>
                <a:latin typeface="Consolas" panose="020B0609020204030204" pitchFamily="49" charset="0"/>
              </a:rPr>
              <a:t>'"'</a:t>
            </a:r>
            <a:r>
              <a:rPr lang="en-US" b="1" dirty="0">
                <a:latin typeface="Consolas" panose="020B0609020204030204" pitchFamily="49" charset="0"/>
              </a:rPr>
              <a:t> + s + </a:t>
            </a:r>
            <a:r>
              <a:rPr lang="en-US" b="1" dirty="0">
                <a:solidFill>
                  <a:srgbClr val="A31515"/>
                </a:solidFill>
                <a:latin typeface="Consolas" panose="020B0609020204030204" pitchFamily="49" charset="0"/>
              </a:rPr>
              <a:t>'" '</a:t>
            </a:r>
            <a:r>
              <a:rPr lang="en-US" b="1" dirty="0">
                <a:latin typeface="Consolas" panose="020B0609020204030204" pitchFamily="49" charset="0"/>
              </a:rPr>
              <a:t> + (</a:t>
            </a:r>
          </a:p>
          <a:p>
            <a:pPr fontAlgn="base"/>
            <a:r>
              <a:rPr lang="en-US" b="1" dirty="0">
                <a:latin typeface="Consolas" panose="020B0609020204030204" pitchFamily="49" charset="0"/>
              </a:rPr>
              <a:t>			validators[name].</a:t>
            </a:r>
            <a:r>
              <a:rPr lang="en-US" b="1" dirty="0" err="1">
                <a:latin typeface="Consolas" panose="020B0609020204030204" pitchFamily="49" charset="0"/>
              </a:rPr>
              <a:t>isAcceptable</a:t>
            </a:r>
            <a:r>
              <a:rPr lang="en-US" b="1" dirty="0">
                <a:latin typeface="Consolas" panose="020B0609020204030204" pitchFamily="49" charset="0"/>
              </a:rPr>
              <a:t>(s) ? </a:t>
            </a:r>
            <a:r>
              <a:rPr lang="en-US" b="1" dirty="0">
                <a:solidFill>
                  <a:srgbClr val="A31515"/>
                </a:solidFill>
                <a:latin typeface="Consolas" panose="020B0609020204030204" pitchFamily="49" charset="0"/>
              </a:rPr>
              <a:t>' matches '</a:t>
            </a:r>
            <a:r>
              <a:rPr lang="en-US" b="1" dirty="0">
                <a:latin typeface="Consolas" panose="020B0609020204030204" pitchFamily="49" charset="0"/>
              </a:rPr>
              <a:t> </a:t>
            </a:r>
          </a:p>
          <a:p>
            <a:pPr fontAlgn="base"/>
            <a:r>
              <a:rPr lang="en-US" b="1" dirty="0">
                <a:latin typeface="Consolas" panose="020B0609020204030204" pitchFamily="49" charset="0"/>
              </a:rPr>
              <a:t>			: </a:t>
            </a:r>
            <a:r>
              <a:rPr lang="en-US" b="1" dirty="0">
                <a:solidFill>
                  <a:srgbClr val="A31515"/>
                </a:solidFill>
                <a:latin typeface="Consolas" panose="020B0609020204030204" pitchFamily="49" charset="0"/>
              </a:rPr>
              <a:t>' does not match '</a:t>
            </a:r>
            <a:r>
              <a:rPr lang="en-US" b="1" dirty="0">
                <a:latin typeface="Consolas" panose="020B0609020204030204" pitchFamily="49" charset="0"/>
              </a:rPr>
              <a:t>) + name); </a:t>
            </a:r>
          </a:p>
          <a:p>
            <a:pPr fontAlgn="base"/>
            <a:r>
              <a:rPr lang="en-US" b="1" dirty="0">
                <a:latin typeface="Consolas" panose="020B0609020204030204" pitchFamily="49" charset="0"/>
              </a:rPr>
              <a:t>	} </a:t>
            </a:r>
          </a:p>
          <a:p>
            <a:pPr fontAlgn="base"/>
            <a:r>
              <a:rPr lang="en-US" b="1" dirty="0">
                <a:latin typeface="Consolas" panose="020B0609020204030204" pitchFamily="49" charset="0"/>
              </a:rPr>
              <a:t>});</a:t>
            </a:r>
          </a:p>
          <a:p>
            <a:pPr fontAlgn="base"/>
            <a:endParaRPr lang="en-US" b="1" dirty="0">
              <a:latin typeface="Consolas" panose="020B0609020204030204" pitchFamily="49" charset="0"/>
            </a:endParaRPr>
          </a:p>
        </p:txBody>
      </p:sp>
    </p:spTree>
    <p:extLst>
      <p:ext uri="{BB962C8B-B14F-4D97-AF65-F5344CB8AC3E}">
        <p14:creationId xmlns:p14="http://schemas.microsoft.com/office/powerpoint/2010/main" val="214260321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70018" name="Rectangle 2"/>
          <p:cNvSpPr>
            <a:spLocks noGrp="1" noChangeArrowheads="1"/>
          </p:cNvSpPr>
          <p:nvPr>
            <p:ph type="title"/>
          </p:nvPr>
        </p:nvSpPr>
        <p:spPr/>
        <p:txBody>
          <a:bodyPr>
            <a:normAutofit fontScale="90000"/>
          </a:bodyPr>
          <a:lstStyle/>
          <a:p>
            <a:r>
              <a:rPr lang="en-US" dirty="0"/>
              <a:t>Other features</a:t>
            </a:r>
          </a:p>
        </p:txBody>
      </p:sp>
      <p:sp>
        <p:nvSpPr>
          <p:cNvPr id="470019" name="Rectangle 3"/>
          <p:cNvSpPr>
            <a:spLocks noGrp="1" noChangeArrowheads="1"/>
          </p:cNvSpPr>
          <p:nvPr>
            <p:ph idx="1"/>
          </p:nvPr>
        </p:nvSpPr>
        <p:spPr/>
        <p:txBody>
          <a:bodyPr/>
          <a:lstStyle/>
          <a:p>
            <a:r>
              <a:rPr lang="en-US" dirty="0">
                <a:solidFill>
                  <a:srgbClr val="0070C0"/>
                </a:solidFill>
              </a:rPr>
              <a:t>private</a:t>
            </a:r>
            <a:r>
              <a:rPr lang="en-US" dirty="0"/>
              <a:t>, </a:t>
            </a:r>
            <a:r>
              <a:rPr lang="en-US" dirty="0">
                <a:solidFill>
                  <a:srgbClr val="0070C0"/>
                </a:solidFill>
              </a:rPr>
              <a:t>public</a:t>
            </a:r>
            <a:r>
              <a:rPr lang="en-US" dirty="0"/>
              <a:t> or </a:t>
            </a:r>
            <a:r>
              <a:rPr lang="en-US" dirty="0">
                <a:solidFill>
                  <a:srgbClr val="0070C0"/>
                </a:solidFill>
              </a:rPr>
              <a:t>protected</a:t>
            </a:r>
            <a:r>
              <a:rPr lang="en-US" dirty="0"/>
              <a:t> modifiers</a:t>
            </a:r>
          </a:p>
          <a:p>
            <a:r>
              <a:rPr lang="en-US" dirty="0" err="1">
                <a:solidFill>
                  <a:srgbClr val="0070C0"/>
                </a:solidFill>
              </a:rPr>
              <a:t>readonly</a:t>
            </a:r>
            <a:r>
              <a:rPr lang="en-US" dirty="0"/>
              <a:t> modifier</a:t>
            </a:r>
          </a:p>
          <a:p>
            <a:r>
              <a:rPr lang="en-US" dirty="0">
                <a:solidFill>
                  <a:srgbClr val="0070C0"/>
                </a:solidFill>
              </a:rPr>
              <a:t>get</a:t>
            </a:r>
            <a:r>
              <a:rPr lang="en-US" dirty="0"/>
              <a:t> or </a:t>
            </a:r>
            <a:r>
              <a:rPr lang="en-US" dirty="0">
                <a:solidFill>
                  <a:srgbClr val="0070C0"/>
                </a:solidFill>
              </a:rPr>
              <a:t>set</a:t>
            </a:r>
            <a:r>
              <a:rPr lang="en-US" dirty="0"/>
              <a:t> for properties</a:t>
            </a:r>
          </a:p>
          <a:p>
            <a:r>
              <a:rPr lang="en-US" dirty="0">
                <a:solidFill>
                  <a:srgbClr val="0070C0"/>
                </a:solidFill>
              </a:rPr>
              <a:t>static</a:t>
            </a:r>
            <a:r>
              <a:rPr lang="en-US" dirty="0"/>
              <a:t> methods and properties</a:t>
            </a:r>
          </a:p>
          <a:p>
            <a:r>
              <a:rPr lang="en-US" dirty="0">
                <a:solidFill>
                  <a:srgbClr val="0070C0"/>
                </a:solidFill>
              </a:rPr>
              <a:t>abstract</a:t>
            </a:r>
            <a:r>
              <a:rPr lang="en-US" dirty="0"/>
              <a:t> classes</a:t>
            </a:r>
          </a:p>
          <a:p>
            <a:r>
              <a:rPr lang="en-US" dirty="0" err="1">
                <a:solidFill>
                  <a:srgbClr val="0070C0"/>
                </a:solidFill>
              </a:rPr>
              <a:t>enum</a:t>
            </a:r>
            <a:r>
              <a:rPr lang="en-US" dirty="0"/>
              <a:t> data type</a:t>
            </a:r>
          </a:p>
          <a:p>
            <a:r>
              <a:rPr lang="en-US" dirty="0"/>
              <a:t>and many more here: </a:t>
            </a:r>
            <a:r>
              <a:rPr lang="en-US" dirty="0">
                <a:hlinkClick r:id="rId2"/>
              </a:rPr>
              <a:t>https://www.typescriptlang.org/docs/handbook/basic-types.html</a:t>
            </a:r>
            <a:r>
              <a:rPr lang="en-US" dirty="0"/>
              <a:t> </a:t>
            </a:r>
          </a:p>
        </p:txBody>
      </p:sp>
    </p:spTree>
    <p:extLst>
      <p:ext uri="{BB962C8B-B14F-4D97-AF65-F5344CB8AC3E}">
        <p14:creationId xmlns:p14="http://schemas.microsoft.com/office/powerpoint/2010/main" val="371047696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азвание 1"/>
          <p:cNvSpPr>
            <a:spLocks noGrp="1"/>
          </p:cNvSpPr>
          <p:nvPr>
            <p:ph type="title"/>
          </p:nvPr>
        </p:nvSpPr>
        <p:spPr/>
        <p:txBody>
          <a:bodyPr/>
          <a:lstStyle/>
          <a:p>
            <a:pPr fontAlgn="base"/>
            <a:r>
              <a:rPr lang="en-US" dirty="0"/>
              <a:t>Generics</a:t>
            </a:r>
            <a:endParaRPr lang="ru-RU" dirty="0"/>
          </a:p>
        </p:txBody>
      </p:sp>
      <p:sp>
        <p:nvSpPr>
          <p:cNvPr id="5" name="Прямоугольник 4"/>
          <p:cNvSpPr/>
          <p:nvPr/>
        </p:nvSpPr>
        <p:spPr>
          <a:xfrm>
            <a:off x="837981" y="1443841"/>
            <a:ext cx="10895231" cy="3970318"/>
          </a:xfrm>
          <a:prstGeom prst="rect">
            <a:avLst/>
          </a:prstGeom>
        </p:spPr>
        <p:txBody>
          <a:bodyPr wrap="square">
            <a:spAutoFit/>
          </a:bodyPr>
          <a:lstStyle/>
          <a:p>
            <a:r>
              <a:rPr lang="en-US" b="1" dirty="0">
                <a:solidFill>
                  <a:schemeClr val="accent2"/>
                </a:solidFill>
                <a:latin typeface="Consolas" panose="020B0609020204030204" pitchFamily="49" charset="0"/>
              </a:rPr>
              <a:t>Generics:</a:t>
            </a:r>
          </a:p>
          <a:p>
            <a:r>
              <a:rPr lang="en-US" b="1" dirty="0">
                <a:solidFill>
                  <a:srgbClr val="0000FF"/>
                </a:solidFill>
                <a:latin typeface="Consolas" panose="020B0609020204030204" pitchFamily="49" charset="0"/>
              </a:rPr>
              <a:t>	function</a:t>
            </a:r>
            <a:r>
              <a:rPr lang="en-US" b="1" dirty="0">
                <a:latin typeface="Consolas" panose="020B0609020204030204" pitchFamily="49" charset="0"/>
              </a:rPr>
              <a:t> identity(</a:t>
            </a:r>
            <a:r>
              <a:rPr lang="en-US" b="1" dirty="0" err="1">
                <a:latin typeface="Consolas" panose="020B0609020204030204" pitchFamily="49" charset="0"/>
              </a:rPr>
              <a:t>arg</a:t>
            </a:r>
            <a:r>
              <a:rPr lang="en-US" b="1" dirty="0">
                <a:latin typeface="Consolas" panose="020B0609020204030204" pitchFamily="49" charset="0"/>
              </a:rPr>
              <a:t>: number): number { </a:t>
            </a:r>
            <a:r>
              <a:rPr lang="en-US" b="1" dirty="0">
                <a:solidFill>
                  <a:srgbClr val="0000FF"/>
                </a:solidFill>
                <a:latin typeface="Consolas" panose="020B0609020204030204" pitchFamily="49" charset="0"/>
              </a:rPr>
              <a:t>return</a:t>
            </a:r>
            <a:r>
              <a:rPr lang="en-US" b="1" dirty="0">
                <a:latin typeface="Consolas" panose="020B0609020204030204" pitchFamily="49" charset="0"/>
              </a:rPr>
              <a:t> </a:t>
            </a:r>
            <a:r>
              <a:rPr lang="en-US" b="1" dirty="0" err="1">
                <a:latin typeface="Consolas" panose="020B0609020204030204" pitchFamily="49" charset="0"/>
              </a:rPr>
              <a:t>arg</a:t>
            </a:r>
            <a:r>
              <a:rPr lang="en-US" b="1" dirty="0">
                <a:latin typeface="Consolas" panose="020B0609020204030204" pitchFamily="49" charset="0"/>
              </a:rPr>
              <a:t>; }</a:t>
            </a:r>
          </a:p>
          <a:p>
            <a:endParaRPr lang="en-US" b="1" dirty="0">
              <a:latin typeface="Consolas" panose="020B0609020204030204" pitchFamily="49" charset="0"/>
            </a:endParaRPr>
          </a:p>
          <a:p>
            <a:r>
              <a:rPr lang="en-US" b="1" dirty="0">
                <a:solidFill>
                  <a:srgbClr val="0000FF"/>
                </a:solidFill>
                <a:latin typeface="Consolas" panose="020B0609020204030204" pitchFamily="49" charset="0"/>
              </a:rPr>
              <a:t>	function</a:t>
            </a:r>
            <a:r>
              <a:rPr lang="en-US" b="1" dirty="0">
                <a:latin typeface="Consolas" panose="020B0609020204030204" pitchFamily="49" charset="0"/>
              </a:rPr>
              <a:t> identity(</a:t>
            </a:r>
            <a:r>
              <a:rPr lang="en-US" b="1" dirty="0" err="1">
                <a:latin typeface="Consolas" panose="020B0609020204030204" pitchFamily="49" charset="0"/>
              </a:rPr>
              <a:t>arg</a:t>
            </a:r>
            <a:r>
              <a:rPr lang="en-US" b="1" dirty="0">
                <a:latin typeface="Consolas" panose="020B0609020204030204" pitchFamily="49" charset="0"/>
              </a:rPr>
              <a:t>: any): any { </a:t>
            </a:r>
            <a:r>
              <a:rPr lang="en-US" b="1" dirty="0">
                <a:solidFill>
                  <a:srgbClr val="0000FF"/>
                </a:solidFill>
                <a:latin typeface="Consolas" panose="020B0609020204030204" pitchFamily="49" charset="0"/>
              </a:rPr>
              <a:t>return</a:t>
            </a:r>
            <a:r>
              <a:rPr lang="en-US" b="1" dirty="0">
                <a:latin typeface="Consolas" panose="020B0609020204030204" pitchFamily="49" charset="0"/>
              </a:rPr>
              <a:t> </a:t>
            </a:r>
            <a:r>
              <a:rPr lang="en-US" b="1" dirty="0" err="1">
                <a:latin typeface="Consolas" panose="020B0609020204030204" pitchFamily="49" charset="0"/>
              </a:rPr>
              <a:t>arg</a:t>
            </a:r>
            <a:r>
              <a:rPr lang="en-US" b="1" dirty="0">
                <a:latin typeface="Consolas" panose="020B0609020204030204" pitchFamily="49" charset="0"/>
              </a:rPr>
              <a:t>; }</a:t>
            </a:r>
          </a:p>
          <a:p>
            <a:endParaRPr lang="en-US" b="1" dirty="0">
              <a:latin typeface="Consolas" panose="020B0609020204030204" pitchFamily="49" charset="0"/>
            </a:endParaRPr>
          </a:p>
          <a:p>
            <a:r>
              <a:rPr lang="en-US" b="1" dirty="0">
                <a:solidFill>
                  <a:schemeClr val="accent2"/>
                </a:solidFill>
                <a:latin typeface="Consolas" panose="020B0609020204030204" pitchFamily="49" charset="0"/>
              </a:rPr>
              <a:t>Using generics:</a:t>
            </a:r>
          </a:p>
          <a:p>
            <a:r>
              <a:rPr lang="fr-FR" b="1" dirty="0">
                <a:solidFill>
                  <a:srgbClr val="0000FF"/>
                </a:solidFill>
                <a:latin typeface="Consolas" panose="020B0609020204030204" pitchFamily="49" charset="0"/>
              </a:rPr>
              <a:t>	</a:t>
            </a:r>
            <a:r>
              <a:rPr lang="fr-FR" b="1" dirty="0" err="1">
                <a:solidFill>
                  <a:srgbClr val="0000FF"/>
                </a:solidFill>
                <a:latin typeface="Consolas" panose="020B0609020204030204" pitchFamily="49" charset="0"/>
              </a:rPr>
              <a:t>function</a:t>
            </a:r>
            <a:r>
              <a:rPr lang="fr-FR" b="1" dirty="0">
                <a:latin typeface="Consolas" panose="020B0609020204030204" pitchFamily="49" charset="0"/>
              </a:rPr>
              <a:t> </a:t>
            </a:r>
            <a:r>
              <a:rPr lang="fr-FR" b="1" dirty="0" err="1">
                <a:latin typeface="Consolas" panose="020B0609020204030204" pitchFamily="49" charset="0"/>
              </a:rPr>
              <a:t>identity</a:t>
            </a:r>
            <a:r>
              <a:rPr lang="fr-FR" b="1" dirty="0">
                <a:latin typeface="Consolas" panose="020B0609020204030204" pitchFamily="49" charset="0"/>
              </a:rPr>
              <a:t>&lt;T&gt;(</a:t>
            </a:r>
            <a:r>
              <a:rPr lang="fr-FR" b="1" dirty="0" err="1">
                <a:latin typeface="Consolas" panose="020B0609020204030204" pitchFamily="49" charset="0"/>
              </a:rPr>
              <a:t>arg</a:t>
            </a:r>
            <a:r>
              <a:rPr lang="fr-FR" b="1" dirty="0">
                <a:latin typeface="Consolas" panose="020B0609020204030204" pitchFamily="49" charset="0"/>
              </a:rPr>
              <a:t>: T): T { </a:t>
            </a:r>
            <a:r>
              <a:rPr lang="fr-FR" b="1" dirty="0">
                <a:solidFill>
                  <a:srgbClr val="0000FF"/>
                </a:solidFill>
                <a:latin typeface="Consolas" panose="020B0609020204030204" pitchFamily="49" charset="0"/>
              </a:rPr>
              <a:t>return</a:t>
            </a:r>
            <a:r>
              <a:rPr lang="fr-FR" b="1" dirty="0">
                <a:latin typeface="Consolas" panose="020B0609020204030204" pitchFamily="49" charset="0"/>
              </a:rPr>
              <a:t> </a:t>
            </a:r>
            <a:r>
              <a:rPr lang="fr-FR" b="1" dirty="0" err="1">
                <a:latin typeface="Consolas" panose="020B0609020204030204" pitchFamily="49" charset="0"/>
              </a:rPr>
              <a:t>arg</a:t>
            </a:r>
            <a:r>
              <a:rPr lang="fr-FR" b="1" dirty="0">
                <a:latin typeface="Consolas" panose="020B0609020204030204" pitchFamily="49" charset="0"/>
              </a:rPr>
              <a:t>; }</a:t>
            </a:r>
          </a:p>
          <a:p>
            <a:endParaRPr lang="fr-FR" b="1" dirty="0">
              <a:latin typeface="Consolas" panose="020B0609020204030204" pitchFamily="49" charset="0"/>
            </a:endParaRPr>
          </a:p>
          <a:p>
            <a:r>
              <a:rPr lang="fr-FR" b="1" dirty="0" err="1">
                <a:solidFill>
                  <a:schemeClr val="accent2"/>
                </a:solidFill>
                <a:latin typeface="Consolas" panose="020B0609020204030204" pitchFamily="49" charset="0"/>
              </a:rPr>
              <a:t>Pass</a:t>
            </a:r>
            <a:r>
              <a:rPr lang="fr-FR" b="1" dirty="0">
                <a:solidFill>
                  <a:schemeClr val="accent2"/>
                </a:solidFill>
                <a:latin typeface="Consolas" panose="020B0609020204030204" pitchFamily="49" charset="0"/>
              </a:rPr>
              <a:t> type in &lt;&gt;:</a:t>
            </a:r>
          </a:p>
          <a:p>
            <a:r>
              <a:rPr lang="en-US" b="1" dirty="0">
                <a:solidFill>
                  <a:srgbClr val="0000FF"/>
                </a:solidFill>
                <a:latin typeface="Consolas" panose="020B0609020204030204" pitchFamily="49" charset="0"/>
              </a:rPr>
              <a:t>	</a:t>
            </a:r>
            <a:r>
              <a:rPr lang="en-US" b="1" dirty="0" err="1">
                <a:solidFill>
                  <a:srgbClr val="0000FF"/>
                </a:solidFill>
                <a:latin typeface="Consolas" panose="020B0609020204030204" pitchFamily="49" charset="0"/>
              </a:rPr>
              <a:t>var</a:t>
            </a:r>
            <a:r>
              <a:rPr lang="en-US" b="1" dirty="0">
                <a:latin typeface="Consolas" panose="020B0609020204030204" pitchFamily="49" charset="0"/>
              </a:rPr>
              <a:t> output = identity&lt;string&gt;(</a:t>
            </a:r>
            <a:r>
              <a:rPr lang="en-US" b="1" dirty="0">
                <a:solidFill>
                  <a:srgbClr val="A31515"/>
                </a:solidFill>
                <a:latin typeface="Consolas" panose="020B0609020204030204" pitchFamily="49" charset="0"/>
              </a:rPr>
              <a:t>"</a:t>
            </a:r>
            <a:r>
              <a:rPr lang="en-US" b="1" dirty="0" err="1">
                <a:solidFill>
                  <a:srgbClr val="A31515"/>
                </a:solidFill>
                <a:latin typeface="Consolas" panose="020B0609020204030204" pitchFamily="49" charset="0"/>
              </a:rPr>
              <a:t>myString</a:t>
            </a:r>
            <a:r>
              <a:rPr lang="en-US" b="1" dirty="0">
                <a:solidFill>
                  <a:srgbClr val="A31515"/>
                </a:solidFill>
                <a:latin typeface="Consolas" panose="020B0609020204030204" pitchFamily="49" charset="0"/>
              </a:rPr>
              <a:t>"</a:t>
            </a:r>
            <a:r>
              <a:rPr lang="en-US" b="1" dirty="0">
                <a:latin typeface="Consolas" panose="020B0609020204030204" pitchFamily="49" charset="0"/>
              </a:rPr>
              <a:t>); </a:t>
            </a:r>
            <a:r>
              <a:rPr lang="en-US" b="1" dirty="0">
                <a:solidFill>
                  <a:srgbClr val="008000"/>
                </a:solidFill>
                <a:latin typeface="Consolas" panose="020B0609020204030204" pitchFamily="49" charset="0"/>
              </a:rPr>
              <a:t>// type of output will be 'string‘</a:t>
            </a:r>
          </a:p>
          <a:p>
            <a:endParaRPr lang="en-US" b="1" dirty="0">
              <a:solidFill>
                <a:srgbClr val="008000"/>
              </a:solidFill>
              <a:latin typeface="Consolas" panose="020B0609020204030204" pitchFamily="49" charset="0"/>
            </a:endParaRPr>
          </a:p>
          <a:p>
            <a:r>
              <a:rPr lang="en-US" b="1" dirty="0">
                <a:solidFill>
                  <a:schemeClr val="accent2"/>
                </a:solidFill>
                <a:latin typeface="Consolas" panose="020B0609020204030204" pitchFamily="49" charset="0"/>
              </a:rPr>
              <a:t>Interfere type automatically:</a:t>
            </a:r>
          </a:p>
          <a:p>
            <a:r>
              <a:rPr lang="en-US" b="1" dirty="0">
                <a:solidFill>
                  <a:srgbClr val="0000FF"/>
                </a:solidFill>
                <a:latin typeface="Consolas" panose="020B0609020204030204" pitchFamily="49" charset="0"/>
              </a:rPr>
              <a:t>	</a:t>
            </a:r>
            <a:r>
              <a:rPr lang="en-US" b="1" dirty="0" err="1">
                <a:solidFill>
                  <a:srgbClr val="0000FF"/>
                </a:solidFill>
                <a:latin typeface="Consolas" panose="020B0609020204030204" pitchFamily="49" charset="0"/>
              </a:rPr>
              <a:t>var</a:t>
            </a:r>
            <a:r>
              <a:rPr lang="en-US" b="1" dirty="0">
                <a:solidFill>
                  <a:srgbClr val="000000"/>
                </a:solidFill>
                <a:latin typeface="Consolas" panose="020B0609020204030204" pitchFamily="49" charset="0"/>
              </a:rPr>
              <a:t> output = identity(</a:t>
            </a:r>
            <a:r>
              <a:rPr lang="en-US" b="1" dirty="0">
                <a:solidFill>
                  <a:srgbClr val="A31515"/>
                </a:solidFill>
                <a:latin typeface="Consolas" panose="020B0609020204030204" pitchFamily="49" charset="0"/>
              </a:rPr>
              <a:t>"</a:t>
            </a:r>
            <a:r>
              <a:rPr lang="en-US" b="1" dirty="0" err="1">
                <a:solidFill>
                  <a:srgbClr val="A31515"/>
                </a:solidFill>
                <a:latin typeface="Consolas" panose="020B0609020204030204" pitchFamily="49" charset="0"/>
              </a:rPr>
              <a:t>myString</a:t>
            </a:r>
            <a:r>
              <a:rPr lang="en-US" b="1" dirty="0">
                <a:solidFill>
                  <a:srgbClr val="A31515"/>
                </a:solidFill>
                <a:latin typeface="Consolas" panose="020B0609020204030204" pitchFamily="49" charset="0"/>
              </a:rPr>
              <a:t>"</a:t>
            </a:r>
            <a:r>
              <a:rPr lang="en-US" b="1" dirty="0">
                <a:solidFill>
                  <a:srgbClr val="000000"/>
                </a:solidFill>
                <a:latin typeface="Consolas" panose="020B0609020204030204" pitchFamily="49" charset="0"/>
              </a:rPr>
              <a:t>); </a:t>
            </a:r>
            <a:r>
              <a:rPr lang="en-US" b="1" dirty="0">
                <a:solidFill>
                  <a:srgbClr val="008000"/>
                </a:solidFill>
                <a:latin typeface="Consolas" panose="020B0609020204030204" pitchFamily="49" charset="0"/>
              </a:rPr>
              <a:t>// type of output will be 'string'</a:t>
            </a:r>
            <a:r>
              <a:rPr lang="en-US" b="1" dirty="0">
                <a:solidFill>
                  <a:srgbClr val="000000"/>
                </a:solidFill>
                <a:latin typeface="Consolas" panose="020B0609020204030204" pitchFamily="49" charset="0"/>
              </a:rPr>
              <a:t> </a:t>
            </a:r>
          </a:p>
          <a:p>
            <a:endParaRPr lang="en-US" b="1" dirty="0">
              <a:latin typeface="Consolas" panose="020B0609020204030204" pitchFamily="49" charset="0"/>
            </a:endParaRPr>
          </a:p>
        </p:txBody>
      </p:sp>
    </p:spTree>
    <p:extLst>
      <p:ext uri="{BB962C8B-B14F-4D97-AF65-F5344CB8AC3E}">
        <p14:creationId xmlns:p14="http://schemas.microsoft.com/office/powerpoint/2010/main" val="198217299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азвание 1"/>
          <p:cNvSpPr>
            <a:spLocks noGrp="1"/>
          </p:cNvSpPr>
          <p:nvPr>
            <p:ph type="title"/>
          </p:nvPr>
        </p:nvSpPr>
        <p:spPr/>
        <p:txBody>
          <a:bodyPr/>
          <a:lstStyle/>
          <a:p>
            <a:pPr fontAlgn="base"/>
            <a:r>
              <a:rPr lang="en-US" dirty="0"/>
              <a:t>Generics: </a:t>
            </a:r>
            <a:endParaRPr lang="ru-RU" dirty="0"/>
          </a:p>
        </p:txBody>
      </p:sp>
      <p:sp>
        <p:nvSpPr>
          <p:cNvPr id="5" name="Прямоугольник 4"/>
          <p:cNvSpPr/>
          <p:nvPr/>
        </p:nvSpPr>
        <p:spPr>
          <a:xfrm>
            <a:off x="851047" y="1502688"/>
            <a:ext cx="10972799" cy="5355312"/>
          </a:xfrm>
          <a:prstGeom prst="rect">
            <a:avLst/>
          </a:prstGeom>
        </p:spPr>
        <p:txBody>
          <a:bodyPr wrap="square">
            <a:spAutoFit/>
          </a:bodyPr>
          <a:lstStyle/>
          <a:p>
            <a:r>
              <a:rPr lang="en-US" b="1" dirty="0">
                <a:solidFill>
                  <a:schemeClr val="accent2"/>
                </a:solidFill>
                <a:latin typeface="Consolas" panose="020B0609020204030204" pitchFamily="49" charset="0"/>
              </a:rPr>
              <a:t>Generics:</a:t>
            </a:r>
            <a:endParaRPr lang="en-US" b="1" dirty="0">
              <a:solidFill>
                <a:srgbClr val="0000FF"/>
              </a:solidFill>
              <a:latin typeface="Consolas" panose="020B0609020204030204" pitchFamily="49" charset="0"/>
              <a:ea typeface="Tahoma" panose="020B0604030504040204" pitchFamily="34" charset="0"/>
              <a:cs typeface="Tahoma" panose="020B0604030504040204" pitchFamily="34" charset="0"/>
            </a:endParaRPr>
          </a:p>
          <a:p>
            <a:pPr lvl="1"/>
            <a:r>
              <a:rPr lang="en-US" b="1" dirty="0">
                <a:solidFill>
                  <a:srgbClr val="0000FF"/>
                </a:solidFill>
                <a:latin typeface="Consolas" panose="020B0609020204030204" pitchFamily="49" charset="0"/>
                <a:ea typeface="Tahoma" panose="020B0604030504040204" pitchFamily="34" charset="0"/>
                <a:cs typeface="Tahoma" panose="020B0604030504040204" pitchFamily="34" charset="0"/>
              </a:rPr>
              <a:t>function</a:t>
            </a:r>
            <a:r>
              <a:rPr lang="en-US" b="1" dirty="0">
                <a:latin typeface="Consolas" panose="020B0609020204030204" pitchFamily="49" charset="0"/>
                <a:ea typeface="Tahoma" panose="020B0604030504040204" pitchFamily="34" charset="0"/>
                <a:cs typeface="Tahoma" panose="020B0604030504040204" pitchFamily="34" charset="0"/>
              </a:rPr>
              <a:t> </a:t>
            </a:r>
            <a:r>
              <a:rPr lang="en-US" b="1" dirty="0" err="1">
                <a:latin typeface="Consolas" panose="020B0609020204030204" pitchFamily="49" charset="0"/>
                <a:ea typeface="Tahoma" panose="020B0604030504040204" pitchFamily="34" charset="0"/>
                <a:cs typeface="Tahoma" panose="020B0604030504040204" pitchFamily="34" charset="0"/>
              </a:rPr>
              <a:t>loggingIdentity</a:t>
            </a:r>
            <a:r>
              <a:rPr lang="en-US" b="1" dirty="0">
                <a:latin typeface="Consolas" panose="020B0609020204030204" pitchFamily="49" charset="0"/>
                <a:ea typeface="Tahoma" panose="020B0604030504040204" pitchFamily="34" charset="0"/>
                <a:cs typeface="Tahoma" panose="020B0604030504040204" pitchFamily="34" charset="0"/>
              </a:rPr>
              <a:t>&lt;T&gt;(</a:t>
            </a:r>
            <a:r>
              <a:rPr lang="en-US" b="1" dirty="0" err="1">
                <a:latin typeface="Consolas" panose="020B0609020204030204" pitchFamily="49" charset="0"/>
                <a:ea typeface="Tahoma" panose="020B0604030504040204" pitchFamily="34" charset="0"/>
                <a:cs typeface="Tahoma" panose="020B0604030504040204" pitchFamily="34" charset="0"/>
              </a:rPr>
              <a:t>arg</a:t>
            </a:r>
            <a:r>
              <a:rPr lang="en-US" b="1" dirty="0">
                <a:latin typeface="Consolas" panose="020B0609020204030204" pitchFamily="49" charset="0"/>
                <a:ea typeface="Tahoma" panose="020B0604030504040204" pitchFamily="34" charset="0"/>
                <a:cs typeface="Tahoma" panose="020B0604030504040204" pitchFamily="34" charset="0"/>
              </a:rPr>
              <a:t>: T): T { </a:t>
            </a:r>
          </a:p>
          <a:p>
            <a:pPr lvl="1"/>
            <a:r>
              <a:rPr lang="en-US" b="1" dirty="0">
                <a:latin typeface="Consolas" panose="020B0609020204030204" pitchFamily="49" charset="0"/>
                <a:ea typeface="Tahoma" panose="020B0604030504040204" pitchFamily="34" charset="0"/>
                <a:cs typeface="Tahoma" panose="020B0604030504040204" pitchFamily="34" charset="0"/>
              </a:rPr>
              <a:t>	console.log(</a:t>
            </a:r>
            <a:r>
              <a:rPr lang="en-US" b="1" dirty="0" err="1">
                <a:latin typeface="Consolas" panose="020B0609020204030204" pitchFamily="49" charset="0"/>
                <a:ea typeface="Tahoma" panose="020B0604030504040204" pitchFamily="34" charset="0"/>
                <a:cs typeface="Tahoma" panose="020B0604030504040204" pitchFamily="34" charset="0"/>
              </a:rPr>
              <a:t>arg.length</a:t>
            </a:r>
            <a:r>
              <a:rPr lang="en-US" b="1" dirty="0">
                <a:latin typeface="Consolas" panose="020B0609020204030204" pitchFamily="49" charset="0"/>
                <a:ea typeface="Tahoma" panose="020B0604030504040204" pitchFamily="34" charset="0"/>
                <a:cs typeface="Tahoma" panose="020B0604030504040204" pitchFamily="34" charset="0"/>
              </a:rPr>
              <a:t>); </a:t>
            </a:r>
            <a:r>
              <a:rPr lang="en-US" b="1" dirty="0">
                <a:solidFill>
                  <a:srgbClr val="008000"/>
                </a:solidFill>
                <a:latin typeface="Consolas" panose="020B0609020204030204" pitchFamily="49" charset="0"/>
                <a:ea typeface="Tahoma" panose="020B0604030504040204" pitchFamily="34" charset="0"/>
                <a:cs typeface="Tahoma" panose="020B0604030504040204" pitchFamily="34" charset="0"/>
              </a:rPr>
              <a:t>// Error: T doesn't have .length</a:t>
            </a:r>
            <a:r>
              <a:rPr lang="en-US" b="1" dirty="0">
                <a:latin typeface="Consolas" panose="020B0609020204030204" pitchFamily="49" charset="0"/>
                <a:ea typeface="Tahoma" panose="020B0604030504040204" pitchFamily="34" charset="0"/>
                <a:cs typeface="Tahoma" panose="020B0604030504040204" pitchFamily="34" charset="0"/>
              </a:rPr>
              <a:t> </a:t>
            </a:r>
          </a:p>
          <a:p>
            <a:pPr lvl="1"/>
            <a:r>
              <a:rPr lang="en-US" b="1" dirty="0">
                <a:solidFill>
                  <a:srgbClr val="0000FF"/>
                </a:solidFill>
                <a:latin typeface="Consolas" panose="020B0609020204030204" pitchFamily="49" charset="0"/>
                <a:ea typeface="Tahoma" panose="020B0604030504040204" pitchFamily="34" charset="0"/>
                <a:cs typeface="Tahoma" panose="020B0604030504040204" pitchFamily="34" charset="0"/>
              </a:rPr>
              <a:t>	return</a:t>
            </a:r>
            <a:r>
              <a:rPr lang="en-US" b="1" dirty="0">
                <a:latin typeface="Consolas" panose="020B0609020204030204" pitchFamily="49" charset="0"/>
                <a:ea typeface="Tahoma" panose="020B0604030504040204" pitchFamily="34" charset="0"/>
                <a:cs typeface="Tahoma" panose="020B0604030504040204" pitchFamily="34" charset="0"/>
              </a:rPr>
              <a:t> </a:t>
            </a:r>
            <a:r>
              <a:rPr lang="en-US" b="1" dirty="0" err="1">
                <a:latin typeface="Consolas" panose="020B0609020204030204" pitchFamily="49" charset="0"/>
                <a:ea typeface="Tahoma" panose="020B0604030504040204" pitchFamily="34" charset="0"/>
                <a:cs typeface="Tahoma" panose="020B0604030504040204" pitchFamily="34" charset="0"/>
              </a:rPr>
              <a:t>arg</a:t>
            </a:r>
            <a:r>
              <a:rPr lang="en-US" b="1" dirty="0">
                <a:latin typeface="Consolas" panose="020B0609020204030204" pitchFamily="49" charset="0"/>
                <a:ea typeface="Tahoma" panose="020B0604030504040204" pitchFamily="34" charset="0"/>
                <a:cs typeface="Tahoma" panose="020B0604030504040204" pitchFamily="34" charset="0"/>
              </a:rPr>
              <a:t>; </a:t>
            </a:r>
          </a:p>
          <a:p>
            <a:pPr lvl="1"/>
            <a:r>
              <a:rPr lang="en-US" b="1" dirty="0">
                <a:latin typeface="Consolas" panose="020B0609020204030204" pitchFamily="49" charset="0"/>
                <a:ea typeface="Tahoma" panose="020B0604030504040204" pitchFamily="34" charset="0"/>
                <a:cs typeface="Tahoma" panose="020B0604030504040204" pitchFamily="34" charset="0"/>
              </a:rPr>
              <a:t>}</a:t>
            </a:r>
            <a:br>
              <a:rPr lang="en-US" b="1" dirty="0">
                <a:latin typeface="Consolas" panose="020B0609020204030204" pitchFamily="49" charset="0"/>
                <a:ea typeface="Tahoma" panose="020B0604030504040204" pitchFamily="34" charset="0"/>
                <a:cs typeface="Tahoma" panose="020B0604030504040204" pitchFamily="34" charset="0"/>
              </a:rPr>
            </a:br>
            <a:endParaRPr lang="en-US" b="1" dirty="0">
              <a:latin typeface="Consolas" panose="020B0609020204030204" pitchFamily="49" charset="0"/>
              <a:ea typeface="Tahoma" panose="020B0604030504040204" pitchFamily="34" charset="0"/>
              <a:cs typeface="Tahoma" panose="020B0604030504040204" pitchFamily="34" charset="0"/>
            </a:endParaRPr>
          </a:p>
          <a:p>
            <a:r>
              <a:rPr lang="en-US" b="1" dirty="0">
                <a:solidFill>
                  <a:schemeClr val="accent2"/>
                </a:solidFill>
                <a:latin typeface="Consolas" panose="020B0609020204030204" pitchFamily="49" charset="0"/>
                <a:ea typeface="Tahoma" panose="020B0604030504040204" pitchFamily="34" charset="0"/>
                <a:cs typeface="Tahoma" panose="020B0604030504040204" pitchFamily="34" charset="0"/>
              </a:rPr>
              <a:t>We can define that we are using array:</a:t>
            </a:r>
          </a:p>
          <a:p>
            <a:pPr lvl="1"/>
            <a:r>
              <a:rPr lang="en-US" b="1" dirty="0">
                <a:solidFill>
                  <a:srgbClr val="0000FF"/>
                </a:solidFill>
                <a:latin typeface="Consolas" panose="020B0609020204030204" pitchFamily="49" charset="0"/>
                <a:ea typeface="Tahoma" panose="020B0604030504040204" pitchFamily="34" charset="0"/>
                <a:cs typeface="Tahoma" panose="020B0604030504040204" pitchFamily="34" charset="0"/>
              </a:rPr>
              <a:t>function</a:t>
            </a:r>
            <a:r>
              <a:rPr lang="en-US" b="1" dirty="0">
                <a:latin typeface="Consolas" panose="020B0609020204030204" pitchFamily="49" charset="0"/>
                <a:ea typeface="Tahoma" panose="020B0604030504040204" pitchFamily="34" charset="0"/>
                <a:cs typeface="Tahoma" panose="020B0604030504040204" pitchFamily="34" charset="0"/>
              </a:rPr>
              <a:t> </a:t>
            </a:r>
            <a:r>
              <a:rPr lang="en-US" b="1" dirty="0" err="1">
                <a:latin typeface="Consolas" panose="020B0609020204030204" pitchFamily="49" charset="0"/>
                <a:ea typeface="Tahoma" panose="020B0604030504040204" pitchFamily="34" charset="0"/>
                <a:cs typeface="Tahoma" panose="020B0604030504040204" pitchFamily="34" charset="0"/>
              </a:rPr>
              <a:t>loggingIdentity</a:t>
            </a:r>
            <a:r>
              <a:rPr lang="en-US" b="1" dirty="0">
                <a:latin typeface="Consolas" panose="020B0609020204030204" pitchFamily="49" charset="0"/>
                <a:ea typeface="Tahoma" panose="020B0604030504040204" pitchFamily="34" charset="0"/>
                <a:cs typeface="Tahoma" panose="020B0604030504040204" pitchFamily="34" charset="0"/>
              </a:rPr>
              <a:t>&lt;T&gt;(</a:t>
            </a:r>
            <a:r>
              <a:rPr lang="en-US" b="1" dirty="0" err="1">
                <a:latin typeface="Consolas" panose="020B0609020204030204" pitchFamily="49" charset="0"/>
                <a:ea typeface="Tahoma" panose="020B0604030504040204" pitchFamily="34" charset="0"/>
                <a:cs typeface="Tahoma" panose="020B0604030504040204" pitchFamily="34" charset="0"/>
              </a:rPr>
              <a:t>arg</a:t>
            </a:r>
            <a:r>
              <a:rPr lang="en-US" b="1" dirty="0">
                <a:latin typeface="Consolas" panose="020B0609020204030204" pitchFamily="49" charset="0"/>
                <a:ea typeface="Tahoma" panose="020B0604030504040204" pitchFamily="34" charset="0"/>
                <a:cs typeface="Tahoma" panose="020B0604030504040204" pitchFamily="34" charset="0"/>
              </a:rPr>
              <a:t>: T[]): T[] { </a:t>
            </a:r>
          </a:p>
          <a:p>
            <a:pPr lvl="1"/>
            <a:r>
              <a:rPr lang="en-US" b="1" dirty="0">
                <a:latin typeface="Consolas" panose="020B0609020204030204" pitchFamily="49" charset="0"/>
                <a:ea typeface="Tahoma" panose="020B0604030504040204" pitchFamily="34" charset="0"/>
                <a:cs typeface="Tahoma" panose="020B0604030504040204" pitchFamily="34" charset="0"/>
              </a:rPr>
              <a:t>	console.log(</a:t>
            </a:r>
            <a:r>
              <a:rPr lang="en-US" b="1" dirty="0" err="1">
                <a:latin typeface="Consolas" panose="020B0609020204030204" pitchFamily="49" charset="0"/>
                <a:ea typeface="Tahoma" panose="020B0604030504040204" pitchFamily="34" charset="0"/>
                <a:cs typeface="Tahoma" panose="020B0604030504040204" pitchFamily="34" charset="0"/>
              </a:rPr>
              <a:t>arg.length</a:t>
            </a:r>
            <a:r>
              <a:rPr lang="en-US" b="1" dirty="0">
                <a:latin typeface="Consolas" panose="020B0609020204030204" pitchFamily="49" charset="0"/>
                <a:ea typeface="Tahoma" panose="020B0604030504040204" pitchFamily="34" charset="0"/>
                <a:cs typeface="Tahoma" panose="020B0604030504040204" pitchFamily="34" charset="0"/>
              </a:rPr>
              <a:t>); </a:t>
            </a:r>
            <a:r>
              <a:rPr lang="en-US" b="1" dirty="0">
                <a:solidFill>
                  <a:srgbClr val="008000"/>
                </a:solidFill>
                <a:latin typeface="Consolas" panose="020B0609020204030204" pitchFamily="49" charset="0"/>
                <a:ea typeface="Tahoma" panose="020B0604030504040204" pitchFamily="34" charset="0"/>
                <a:cs typeface="Tahoma" panose="020B0604030504040204" pitchFamily="34" charset="0"/>
              </a:rPr>
              <a:t>// Array has a .length, so no more error</a:t>
            </a:r>
            <a:r>
              <a:rPr lang="en-US" b="1" dirty="0">
                <a:latin typeface="Consolas" panose="020B0609020204030204" pitchFamily="49" charset="0"/>
                <a:ea typeface="Tahoma" panose="020B0604030504040204" pitchFamily="34" charset="0"/>
                <a:cs typeface="Tahoma" panose="020B0604030504040204" pitchFamily="34" charset="0"/>
              </a:rPr>
              <a:t> </a:t>
            </a:r>
          </a:p>
          <a:p>
            <a:pPr lvl="1"/>
            <a:r>
              <a:rPr lang="en-US" b="1" dirty="0">
                <a:solidFill>
                  <a:srgbClr val="0000FF"/>
                </a:solidFill>
                <a:latin typeface="Consolas" panose="020B0609020204030204" pitchFamily="49" charset="0"/>
                <a:ea typeface="Tahoma" panose="020B0604030504040204" pitchFamily="34" charset="0"/>
                <a:cs typeface="Tahoma" panose="020B0604030504040204" pitchFamily="34" charset="0"/>
              </a:rPr>
              <a:t>	return</a:t>
            </a:r>
            <a:r>
              <a:rPr lang="en-US" b="1" dirty="0">
                <a:latin typeface="Consolas" panose="020B0609020204030204" pitchFamily="49" charset="0"/>
                <a:ea typeface="Tahoma" panose="020B0604030504040204" pitchFamily="34" charset="0"/>
                <a:cs typeface="Tahoma" panose="020B0604030504040204" pitchFamily="34" charset="0"/>
              </a:rPr>
              <a:t> </a:t>
            </a:r>
            <a:r>
              <a:rPr lang="en-US" b="1" dirty="0" err="1">
                <a:latin typeface="Consolas" panose="020B0609020204030204" pitchFamily="49" charset="0"/>
                <a:ea typeface="Tahoma" panose="020B0604030504040204" pitchFamily="34" charset="0"/>
                <a:cs typeface="Tahoma" panose="020B0604030504040204" pitchFamily="34" charset="0"/>
              </a:rPr>
              <a:t>arg</a:t>
            </a:r>
            <a:r>
              <a:rPr lang="en-US" b="1" dirty="0">
                <a:latin typeface="Consolas" panose="020B0609020204030204" pitchFamily="49" charset="0"/>
                <a:ea typeface="Tahoma" panose="020B0604030504040204" pitchFamily="34" charset="0"/>
                <a:cs typeface="Tahoma" panose="020B0604030504040204" pitchFamily="34" charset="0"/>
              </a:rPr>
              <a:t>; </a:t>
            </a:r>
          </a:p>
          <a:p>
            <a:pPr lvl="1"/>
            <a:r>
              <a:rPr lang="en-US" b="1" dirty="0">
                <a:latin typeface="Consolas" panose="020B0609020204030204" pitchFamily="49" charset="0"/>
                <a:ea typeface="Tahoma" panose="020B0604030504040204" pitchFamily="34" charset="0"/>
                <a:cs typeface="Tahoma" panose="020B0604030504040204" pitchFamily="34" charset="0"/>
              </a:rPr>
              <a:t>}</a:t>
            </a:r>
          </a:p>
          <a:p>
            <a:endParaRPr lang="en-US" b="1" dirty="0">
              <a:latin typeface="Consolas" panose="020B0609020204030204" pitchFamily="49" charset="0"/>
              <a:ea typeface="Tahoma" panose="020B0604030504040204" pitchFamily="34" charset="0"/>
              <a:cs typeface="Tahoma" panose="020B0604030504040204" pitchFamily="34" charset="0"/>
            </a:endParaRPr>
          </a:p>
          <a:p>
            <a:r>
              <a:rPr lang="en-US" b="1" dirty="0">
                <a:solidFill>
                  <a:schemeClr val="accent2"/>
                </a:solidFill>
                <a:latin typeface="Consolas" panose="020B0609020204030204" pitchFamily="49" charset="0"/>
                <a:ea typeface="Tahoma" panose="020B0604030504040204" pitchFamily="34" charset="0"/>
                <a:cs typeface="Tahoma" panose="020B0604030504040204" pitchFamily="34" charset="0"/>
              </a:rPr>
              <a:t>Alternatively:</a:t>
            </a:r>
          </a:p>
          <a:p>
            <a:pPr lvl="1"/>
            <a:r>
              <a:rPr lang="en-US" b="1" dirty="0">
                <a:solidFill>
                  <a:srgbClr val="0000FF"/>
                </a:solidFill>
                <a:latin typeface="Consolas" panose="020B0609020204030204" pitchFamily="49" charset="0"/>
                <a:ea typeface="Tahoma" panose="020B0604030504040204" pitchFamily="34" charset="0"/>
                <a:cs typeface="Tahoma" panose="020B0604030504040204" pitchFamily="34" charset="0"/>
              </a:rPr>
              <a:t>function</a:t>
            </a:r>
            <a:r>
              <a:rPr lang="en-US" b="1" dirty="0">
                <a:latin typeface="Consolas" panose="020B0609020204030204" pitchFamily="49" charset="0"/>
                <a:ea typeface="Tahoma" panose="020B0604030504040204" pitchFamily="34" charset="0"/>
                <a:cs typeface="Tahoma" panose="020B0604030504040204" pitchFamily="34" charset="0"/>
              </a:rPr>
              <a:t> </a:t>
            </a:r>
            <a:r>
              <a:rPr lang="en-US" b="1" dirty="0" err="1">
                <a:latin typeface="Consolas" panose="020B0609020204030204" pitchFamily="49" charset="0"/>
                <a:ea typeface="Tahoma" panose="020B0604030504040204" pitchFamily="34" charset="0"/>
                <a:cs typeface="Tahoma" panose="020B0604030504040204" pitchFamily="34" charset="0"/>
              </a:rPr>
              <a:t>loggingIdentity</a:t>
            </a:r>
            <a:r>
              <a:rPr lang="en-US" b="1" dirty="0">
                <a:latin typeface="Consolas" panose="020B0609020204030204" pitchFamily="49" charset="0"/>
                <a:ea typeface="Tahoma" panose="020B0604030504040204" pitchFamily="34" charset="0"/>
                <a:cs typeface="Tahoma" panose="020B0604030504040204" pitchFamily="34" charset="0"/>
              </a:rPr>
              <a:t>&lt;T&gt;(</a:t>
            </a:r>
            <a:r>
              <a:rPr lang="en-US" b="1" dirty="0" err="1">
                <a:latin typeface="Consolas" panose="020B0609020204030204" pitchFamily="49" charset="0"/>
                <a:ea typeface="Tahoma" panose="020B0604030504040204" pitchFamily="34" charset="0"/>
                <a:cs typeface="Tahoma" panose="020B0604030504040204" pitchFamily="34" charset="0"/>
              </a:rPr>
              <a:t>arg</a:t>
            </a:r>
            <a:r>
              <a:rPr lang="en-US" b="1" dirty="0">
                <a:latin typeface="Consolas" panose="020B0609020204030204" pitchFamily="49" charset="0"/>
                <a:ea typeface="Tahoma" panose="020B0604030504040204" pitchFamily="34" charset="0"/>
                <a:cs typeface="Tahoma" panose="020B0604030504040204" pitchFamily="34" charset="0"/>
              </a:rPr>
              <a:t>: Array&lt;T&gt;): Array&lt;T&gt; { </a:t>
            </a:r>
          </a:p>
          <a:p>
            <a:pPr lvl="1"/>
            <a:r>
              <a:rPr lang="en-US" b="1" dirty="0">
                <a:latin typeface="Consolas" panose="020B0609020204030204" pitchFamily="49" charset="0"/>
                <a:ea typeface="Tahoma" panose="020B0604030504040204" pitchFamily="34" charset="0"/>
                <a:cs typeface="Tahoma" panose="020B0604030504040204" pitchFamily="34" charset="0"/>
              </a:rPr>
              <a:t>	console.log(</a:t>
            </a:r>
            <a:r>
              <a:rPr lang="en-US" b="1" dirty="0" err="1">
                <a:latin typeface="Consolas" panose="020B0609020204030204" pitchFamily="49" charset="0"/>
                <a:ea typeface="Tahoma" panose="020B0604030504040204" pitchFamily="34" charset="0"/>
                <a:cs typeface="Tahoma" panose="020B0604030504040204" pitchFamily="34" charset="0"/>
              </a:rPr>
              <a:t>arg.length</a:t>
            </a:r>
            <a:r>
              <a:rPr lang="en-US" b="1" dirty="0">
                <a:latin typeface="Consolas" panose="020B0609020204030204" pitchFamily="49" charset="0"/>
                <a:ea typeface="Tahoma" panose="020B0604030504040204" pitchFamily="34" charset="0"/>
                <a:cs typeface="Tahoma" panose="020B0604030504040204" pitchFamily="34" charset="0"/>
              </a:rPr>
              <a:t>); </a:t>
            </a:r>
          </a:p>
          <a:p>
            <a:pPr lvl="1"/>
            <a:r>
              <a:rPr lang="en-US" b="1" dirty="0">
                <a:solidFill>
                  <a:srgbClr val="008000"/>
                </a:solidFill>
                <a:latin typeface="Consolas" panose="020B0609020204030204" pitchFamily="49" charset="0"/>
                <a:ea typeface="Tahoma" panose="020B0604030504040204" pitchFamily="34" charset="0"/>
                <a:cs typeface="Tahoma" panose="020B0604030504040204" pitchFamily="34" charset="0"/>
              </a:rPr>
              <a:t>	// Array has a .length, so no more error</a:t>
            </a:r>
            <a:r>
              <a:rPr lang="en-US" b="1" dirty="0">
                <a:latin typeface="Consolas" panose="020B0609020204030204" pitchFamily="49" charset="0"/>
                <a:ea typeface="Tahoma" panose="020B0604030504040204" pitchFamily="34" charset="0"/>
                <a:cs typeface="Tahoma" panose="020B0604030504040204" pitchFamily="34" charset="0"/>
              </a:rPr>
              <a:t> </a:t>
            </a:r>
          </a:p>
          <a:p>
            <a:pPr lvl="1"/>
            <a:r>
              <a:rPr lang="en-US" b="1" dirty="0">
                <a:solidFill>
                  <a:srgbClr val="0000FF"/>
                </a:solidFill>
                <a:latin typeface="Consolas" panose="020B0609020204030204" pitchFamily="49" charset="0"/>
                <a:ea typeface="Tahoma" panose="020B0604030504040204" pitchFamily="34" charset="0"/>
                <a:cs typeface="Tahoma" panose="020B0604030504040204" pitchFamily="34" charset="0"/>
              </a:rPr>
              <a:t>	return</a:t>
            </a:r>
            <a:r>
              <a:rPr lang="en-US" b="1" dirty="0">
                <a:latin typeface="Consolas" panose="020B0609020204030204" pitchFamily="49" charset="0"/>
                <a:ea typeface="Tahoma" panose="020B0604030504040204" pitchFamily="34" charset="0"/>
                <a:cs typeface="Tahoma" panose="020B0604030504040204" pitchFamily="34" charset="0"/>
              </a:rPr>
              <a:t> </a:t>
            </a:r>
            <a:r>
              <a:rPr lang="en-US" b="1" dirty="0" err="1">
                <a:latin typeface="Consolas" panose="020B0609020204030204" pitchFamily="49" charset="0"/>
                <a:ea typeface="Tahoma" panose="020B0604030504040204" pitchFamily="34" charset="0"/>
                <a:cs typeface="Tahoma" panose="020B0604030504040204" pitchFamily="34" charset="0"/>
              </a:rPr>
              <a:t>arg</a:t>
            </a:r>
            <a:r>
              <a:rPr lang="en-US" b="1" dirty="0">
                <a:latin typeface="Consolas" panose="020B0609020204030204" pitchFamily="49" charset="0"/>
                <a:ea typeface="Tahoma" panose="020B0604030504040204" pitchFamily="34" charset="0"/>
                <a:cs typeface="Tahoma" panose="020B0604030504040204" pitchFamily="34" charset="0"/>
              </a:rPr>
              <a:t>; </a:t>
            </a:r>
          </a:p>
          <a:p>
            <a:pPr lvl="1"/>
            <a:r>
              <a:rPr lang="en-US" b="1" dirty="0">
                <a:latin typeface="Consolas" panose="020B0609020204030204" pitchFamily="49" charset="0"/>
                <a:ea typeface="Tahoma" panose="020B0604030504040204" pitchFamily="34" charset="0"/>
                <a:cs typeface="Tahoma" panose="020B0604030504040204" pitchFamily="34" charset="0"/>
              </a:rPr>
              <a:t>}</a:t>
            </a:r>
          </a:p>
          <a:p>
            <a:endParaRPr lang="en-US" b="1" dirty="0">
              <a:latin typeface="Consolas" panose="020B0609020204030204" pitchFamily="49"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51491285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азвание 1"/>
          <p:cNvSpPr>
            <a:spLocks noGrp="1"/>
          </p:cNvSpPr>
          <p:nvPr>
            <p:ph type="title"/>
          </p:nvPr>
        </p:nvSpPr>
        <p:spPr/>
        <p:txBody>
          <a:bodyPr/>
          <a:lstStyle/>
          <a:p>
            <a:pPr fontAlgn="base"/>
            <a:r>
              <a:rPr lang="en-US" dirty="0"/>
              <a:t>Generic types: </a:t>
            </a:r>
            <a:endParaRPr lang="ru-RU" dirty="0"/>
          </a:p>
        </p:txBody>
      </p:sp>
      <p:sp>
        <p:nvSpPr>
          <p:cNvPr id="5" name="Прямоугольник 4"/>
          <p:cNvSpPr/>
          <p:nvPr/>
        </p:nvSpPr>
        <p:spPr>
          <a:xfrm>
            <a:off x="531812" y="1447800"/>
            <a:ext cx="8509895" cy="1477328"/>
          </a:xfrm>
          <a:prstGeom prst="rect">
            <a:avLst/>
          </a:prstGeom>
        </p:spPr>
        <p:txBody>
          <a:bodyPr wrap="square">
            <a:spAutoFit/>
          </a:bodyPr>
          <a:lstStyle/>
          <a:p>
            <a:pPr lvl="1"/>
            <a:r>
              <a:rPr lang="fr-FR" b="1" dirty="0" err="1">
                <a:solidFill>
                  <a:srgbClr val="0000FF"/>
                </a:solidFill>
                <a:latin typeface="Consolas" panose="020B0609020204030204" pitchFamily="49" charset="0"/>
                <a:ea typeface="Tahoma" panose="020B0604030504040204" pitchFamily="34" charset="0"/>
                <a:cs typeface="Tahoma" panose="020B0604030504040204" pitchFamily="34" charset="0"/>
              </a:rPr>
              <a:t>function</a:t>
            </a:r>
            <a:r>
              <a:rPr lang="fr-FR" b="1" dirty="0">
                <a:latin typeface="Consolas" panose="020B0609020204030204" pitchFamily="49" charset="0"/>
                <a:ea typeface="Tahoma" panose="020B0604030504040204" pitchFamily="34" charset="0"/>
                <a:cs typeface="Tahoma" panose="020B0604030504040204" pitchFamily="34" charset="0"/>
              </a:rPr>
              <a:t> </a:t>
            </a:r>
            <a:r>
              <a:rPr lang="fr-FR" b="1" dirty="0" err="1">
                <a:latin typeface="Consolas" panose="020B0609020204030204" pitchFamily="49" charset="0"/>
                <a:ea typeface="Tahoma" panose="020B0604030504040204" pitchFamily="34" charset="0"/>
                <a:cs typeface="Tahoma" panose="020B0604030504040204" pitchFamily="34" charset="0"/>
              </a:rPr>
              <a:t>identity</a:t>
            </a:r>
            <a:r>
              <a:rPr lang="fr-FR" b="1" dirty="0">
                <a:latin typeface="Consolas" panose="020B0609020204030204" pitchFamily="49" charset="0"/>
                <a:ea typeface="Tahoma" panose="020B0604030504040204" pitchFamily="34" charset="0"/>
                <a:cs typeface="Tahoma" panose="020B0604030504040204" pitchFamily="34" charset="0"/>
              </a:rPr>
              <a:t>&lt;T&gt;(</a:t>
            </a:r>
            <a:r>
              <a:rPr lang="fr-FR" b="1" dirty="0" err="1">
                <a:latin typeface="Consolas" panose="020B0609020204030204" pitchFamily="49" charset="0"/>
                <a:ea typeface="Tahoma" panose="020B0604030504040204" pitchFamily="34" charset="0"/>
                <a:cs typeface="Tahoma" panose="020B0604030504040204" pitchFamily="34" charset="0"/>
              </a:rPr>
              <a:t>arg</a:t>
            </a:r>
            <a:r>
              <a:rPr lang="fr-FR" b="1" dirty="0">
                <a:latin typeface="Consolas" panose="020B0609020204030204" pitchFamily="49" charset="0"/>
                <a:ea typeface="Tahoma" panose="020B0604030504040204" pitchFamily="34" charset="0"/>
                <a:cs typeface="Tahoma" panose="020B0604030504040204" pitchFamily="34" charset="0"/>
              </a:rPr>
              <a:t>: T): T { </a:t>
            </a:r>
          </a:p>
          <a:p>
            <a:pPr lvl="1"/>
            <a:r>
              <a:rPr lang="fr-FR" b="1" dirty="0">
                <a:solidFill>
                  <a:srgbClr val="0000FF"/>
                </a:solidFill>
                <a:latin typeface="Consolas" panose="020B0609020204030204" pitchFamily="49" charset="0"/>
                <a:ea typeface="Tahoma" panose="020B0604030504040204" pitchFamily="34" charset="0"/>
                <a:cs typeface="Tahoma" panose="020B0604030504040204" pitchFamily="34" charset="0"/>
              </a:rPr>
              <a:t>	return</a:t>
            </a:r>
            <a:r>
              <a:rPr lang="fr-FR" b="1" dirty="0">
                <a:latin typeface="Consolas" panose="020B0609020204030204" pitchFamily="49" charset="0"/>
                <a:ea typeface="Tahoma" panose="020B0604030504040204" pitchFamily="34" charset="0"/>
                <a:cs typeface="Tahoma" panose="020B0604030504040204" pitchFamily="34" charset="0"/>
              </a:rPr>
              <a:t> </a:t>
            </a:r>
            <a:r>
              <a:rPr lang="fr-FR" b="1" dirty="0" err="1">
                <a:latin typeface="Consolas" panose="020B0609020204030204" pitchFamily="49" charset="0"/>
                <a:ea typeface="Tahoma" panose="020B0604030504040204" pitchFamily="34" charset="0"/>
                <a:cs typeface="Tahoma" panose="020B0604030504040204" pitchFamily="34" charset="0"/>
              </a:rPr>
              <a:t>arg</a:t>
            </a:r>
            <a:r>
              <a:rPr lang="fr-FR" b="1" dirty="0">
                <a:latin typeface="Consolas" panose="020B0609020204030204" pitchFamily="49" charset="0"/>
                <a:ea typeface="Tahoma" panose="020B0604030504040204" pitchFamily="34" charset="0"/>
                <a:cs typeface="Tahoma" panose="020B0604030504040204" pitchFamily="34" charset="0"/>
              </a:rPr>
              <a:t>; </a:t>
            </a:r>
          </a:p>
          <a:p>
            <a:pPr lvl="1"/>
            <a:r>
              <a:rPr lang="fr-FR" b="1" dirty="0">
                <a:latin typeface="Consolas" panose="020B0609020204030204" pitchFamily="49" charset="0"/>
                <a:ea typeface="Tahoma" panose="020B0604030504040204" pitchFamily="34" charset="0"/>
                <a:cs typeface="Tahoma" panose="020B0604030504040204" pitchFamily="34" charset="0"/>
              </a:rPr>
              <a:t>} </a:t>
            </a:r>
          </a:p>
          <a:p>
            <a:pPr lvl="1"/>
            <a:endParaRPr lang="fr-FR" b="1" dirty="0">
              <a:solidFill>
                <a:srgbClr val="0000FF"/>
              </a:solidFill>
              <a:latin typeface="Consolas" panose="020B0609020204030204" pitchFamily="49" charset="0"/>
              <a:ea typeface="Tahoma" panose="020B0604030504040204" pitchFamily="34" charset="0"/>
              <a:cs typeface="Tahoma" panose="020B0604030504040204" pitchFamily="34" charset="0"/>
            </a:endParaRPr>
          </a:p>
          <a:p>
            <a:pPr lvl="1"/>
            <a:r>
              <a:rPr lang="fr-FR" b="1" dirty="0">
                <a:solidFill>
                  <a:srgbClr val="0000FF"/>
                </a:solidFill>
                <a:latin typeface="Consolas" panose="020B0609020204030204" pitchFamily="49" charset="0"/>
                <a:ea typeface="Tahoma" panose="020B0604030504040204" pitchFamily="34" charset="0"/>
                <a:cs typeface="Tahoma" panose="020B0604030504040204" pitchFamily="34" charset="0"/>
              </a:rPr>
              <a:t>var</a:t>
            </a:r>
            <a:r>
              <a:rPr lang="fr-FR" b="1" dirty="0">
                <a:latin typeface="Consolas" panose="020B0609020204030204" pitchFamily="49" charset="0"/>
                <a:ea typeface="Tahoma" panose="020B0604030504040204" pitchFamily="34" charset="0"/>
                <a:cs typeface="Tahoma" panose="020B0604030504040204" pitchFamily="34" charset="0"/>
              </a:rPr>
              <a:t> </a:t>
            </a:r>
            <a:r>
              <a:rPr lang="fr-FR" b="1" dirty="0" err="1">
                <a:latin typeface="Consolas" panose="020B0609020204030204" pitchFamily="49" charset="0"/>
                <a:ea typeface="Tahoma" panose="020B0604030504040204" pitchFamily="34" charset="0"/>
                <a:cs typeface="Tahoma" panose="020B0604030504040204" pitchFamily="34" charset="0"/>
              </a:rPr>
              <a:t>myIdentity</a:t>
            </a:r>
            <a:r>
              <a:rPr lang="fr-FR" b="1" dirty="0">
                <a:latin typeface="Consolas" panose="020B0609020204030204" pitchFamily="49" charset="0"/>
                <a:ea typeface="Tahoma" panose="020B0604030504040204" pitchFamily="34" charset="0"/>
                <a:cs typeface="Tahoma" panose="020B0604030504040204" pitchFamily="34" charset="0"/>
              </a:rPr>
              <a:t>: &lt;T&gt;(arg: T) </a:t>
            </a:r>
            <a:r>
              <a:rPr lang="fr-FR" b="1" dirty="0">
                <a:solidFill>
                  <a:srgbClr val="FF0000"/>
                </a:solidFill>
                <a:latin typeface="Consolas" panose="020B0609020204030204" pitchFamily="49" charset="0"/>
                <a:ea typeface="Tahoma" panose="020B0604030504040204" pitchFamily="34" charset="0"/>
                <a:cs typeface="Tahoma" panose="020B0604030504040204" pitchFamily="34" charset="0"/>
              </a:rPr>
              <a:t>=&gt;</a:t>
            </a:r>
            <a:r>
              <a:rPr lang="fr-FR" b="1" dirty="0">
                <a:latin typeface="Consolas" panose="020B0609020204030204" pitchFamily="49" charset="0"/>
                <a:ea typeface="Tahoma" panose="020B0604030504040204" pitchFamily="34" charset="0"/>
                <a:cs typeface="Tahoma" panose="020B0604030504040204" pitchFamily="34" charset="0"/>
              </a:rPr>
              <a:t> T = </a:t>
            </a:r>
            <a:r>
              <a:rPr lang="fr-FR" b="1" dirty="0" err="1">
                <a:latin typeface="Consolas" panose="020B0609020204030204" pitchFamily="49" charset="0"/>
                <a:ea typeface="Tahoma" panose="020B0604030504040204" pitchFamily="34" charset="0"/>
                <a:cs typeface="Tahoma" panose="020B0604030504040204" pitchFamily="34" charset="0"/>
              </a:rPr>
              <a:t>identity</a:t>
            </a:r>
            <a:r>
              <a:rPr lang="fr-FR" b="1" dirty="0">
                <a:latin typeface="Consolas" panose="020B0609020204030204" pitchFamily="49" charset="0"/>
                <a:ea typeface="Tahoma" panose="020B0604030504040204" pitchFamily="34" charset="0"/>
                <a:cs typeface="Tahoma" panose="020B0604030504040204" pitchFamily="34" charset="0"/>
              </a:rPr>
              <a:t>;</a:t>
            </a:r>
            <a:endParaRPr lang="en-US" b="1" dirty="0">
              <a:latin typeface="Consolas" panose="020B0609020204030204" pitchFamily="49"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10920090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азвание 1"/>
          <p:cNvSpPr>
            <a:spLocks noGrp="1"/>
          </p:cNvSpPr>
          <p:nvPr>
            <p:ph type="title"/>
          </p:nvPr>
        </p:nvSpPr>
        <p:spPr/>
        <p:txBody>
          <a:bodyPr/>
          <a:lstStyle/>
          <a:p>
            <a:pPr fontAlgn="base"/>
            <a:r>
              <a:rPr lang="en-US" dirty="0"/>
              <a:t>Generic Classes</a:t>
            </a:r>
            <a:endParaRPr lang="ru-RU" dirty="0"/>
          </a:p>
        </p:txBody>
      </p:sp>
      <p:sp>
        <p:nvSpPr>
          <p:cNvPr id="5" name="Прямоугольник 4"/>
          <p:cNvSpPr/>
          <p:nvPr/>
        </p:nvSpPr>
        <p:spPr>
          <a:xfrm>
            <a:off x="455612" y="1371600"/>
            <a:ext cx="8509895" cy="4524315"/>
          </a:xfrm>
          <a:prstGeom prst="rect">
            <a:avLst/>
          </a:prstGeom>
        </p:spPr>
        <p:txBody>
          <a:bodyPr wrap="square">
            <a:spAutoFit/>
          </a:bodyPr>
          <a:lstStyle/>
          <a:p>
            <a:pPr lvl="1"/>
            <a:r>
              <a:rPr lang="en-US" b="1" dirty="0">
                <a:solidFill>
                  <a:srgbClr val="0000FF"/>
                </a:solidFill>
                <a:latin typeface="Consolas" panose="020B0609020204030204" pitchFamily="49" charset="0"/>
                <a:ea typeface="Tahoma" panose="020B0604030504040204" pitchFamily="34" charset="0"/>
                <a:cs typeface="Tahoma" panose="020B0604030504040204" pitchFamily="34" charset="0"/>
              </a:rPr>
              <a:t>class</a:t>
            </a:r>
            <a:r>
              <a:rPr lang="en-US" b="1" dirty="0">
                <a:latin typeface="Consolas" panose="020B0609020204030204" pitchFamily="49" charset="0"/>
                <a:ea typeface="Tahoma" panose="020B0604030504040204" pitchFamily="34" charset="0"/>
                <a:cs typeface="Tahoma" panose="020B0604030504040204" pitchFamily="34" charset="0"/>
              </a:rPr>
              <a:t> </a:t>
            </a:r>
            <a:r>
              <a:rPr lang="en-US" b="1" dirty="0" err="1">
                <a:latin typeface="Consolas" panose="020B0609020204030204" pitchFamily="49" charset="0"/>
                <a:ea typeface="Tahoma" panose="020B0604030504040204" pitchFamily="34" charset="0"/>
                <a:cs typeface="Tahoma" panose="020B0604030504040204" pitchFamily="34" charset="0"/>
              </a:rPr>
              <a:t>GenericNumber</a:t>
            </a:r>
            <a:r>
              <a:rPr lang="en-US" b="1" dirty="0">
                <a:latin typeface="Consolas" panose="020B0609020204030204" pitchFamily="49" charset="0"/>
                <a:ea typeface="Tahoma" panose="020B0604030504040204" pitchFamily="34" charset="0"/>
                <a:cs typeface="Tahoma" panose="020B0604030504040204" pitchFamily="34" charset="0"/>
              </a:rPr>
              <a:t>&lt;T&gt; { </a:t>
            </a:r>
          </a:p>
          <a:p>
            <a:pPr lvl="1"/>
            <a:r>
              <a:rPr lang="en-US" b="1" dirty="0">
                <a:latin typeface="Consolas" panose="020B0609020204030204" pitchFamily="49" charset="0"/>
                <a:ea typeface="Tahoma" panose="020B0604030504040204" pitchFamily="34" charset="0"/>
                <a:cs typeface="Tahoma" panose="020B0604030504040204" pitchFamily="34" charset="0"/>
              </a:rPr>
              <a:t>	</a:t>
            </a:r>
            <a:r>
              <a:rPr lang="en-US" b="1" dirty="0" err="1">
                <a:latin typeface="Consolas" panose="020B0609020204030204" pitchFamily="49" charset="0"/>
                <a:ea typeface="Tahoma" panose="020B0604030504040204" pitchFamily="34" charset="0"/>
                <a:cs typeface="Tahoma" panose="020B0604030504040204" pitchFamily="34" charset="0"/>
              </a:rPr>
              <a:t>zeroValue</a:t>
            </a:r>
            <a:r>
              <a:rPr lang="en-US" b="1" dirty="0">
                <a:latin typeface="Consolas" panose="020B0609020204030204" pitchFamily="49" charset="0"/>
                <a:ea typeface="Tahoma" panose="020B0604030504040204" pitchFamily="34" charset="0"/>
                <a:cs typeface="Tahoma" panose="020B0604030504040204" pitchFamily="34" charset="0"/>
              </a:rPr>
              <a:t>: T; </a:t>
            </a:r>
          </a:p>
          <a:p>
            <a:pPr lvl="1"/>
            <a:r>
              <a:rPr lang="en-US" b="1" dirty="0">
                <a:latin typeface="Consolas" panose="020B0609020204030204" pitchFamily="49" charset="0"/>
                <a:ea typeface="Tahoma" panose="020B0604030504040204" pitchFamily="34" charset="0"/>
                <a:cs typeface="Tahoma" panose="020B0604030504040204" pitchFamily="34" charset="0"/>
              </a:rPr>
              <a:t>	add: (x: T, y: T) =&gt; T; </a:t>
            </a:r>
          </a:p>
          <a:p>
            <a:pPr lvl="1"/>
            <a:r>
              <a:rPr lang="en-US" b="1" dirty="0">
                <a:latin typeface="Consolas" panose="020B0609020204030204" pitchFamily="49" charset="0"/>
                <a:ea typeface="Tahoma" panose="020B0604030504040204" pitchFamily="34" charset="0"/>
                <a:cs typeface="Tahoma" panose="020B0604030504040204" pitchFamily="34" charset="0"/>
              </a:rPr>
              <a:t>} </a:t>
            </a:r>
          </a:p>
          <a:p>
            <a:pPr lvl="1"/>
            <a:endParaRPr lang="en-US" b="1" dirty="0">
              <a:solidFill>
                <a:srgbClr val="0000FF"/>
              </a:solidFill>
              <a:latin typeface="Consolas" panose="020B0609020204030204" pitchFamily="49" charset="0"/>
              <a:ea typeface="Tahoma" panose="020B0604030504040204" pitchFamily="34" charset="0"/>
              <a:cs typeface="Tahoma" panose="020B0604030504040204" pitchFamily="34" charset="0"/>
            </a:endParaRPr>
          </a:p>
          <a:p>
            <a:pPr lvl="1"/>
            <a:r>
              <a:rPr lang="en-US" b="1" dirty="0" err="1">
                <a:solidFill>
                  <a:srgbClr val="0000FF"/>
                </a:solidFill>
                <a:latin typeface="Consolas" panose="020B0609020204030204" pitchFamily="49" charset="0"/>
                <a:ea typeface="Tahoma" panose="020B0604030504040204" pitchFamily="34" charset="0"/>
                <a:cs typeface="Tahoma" panose="020B0604030504040204" pitchFamily="34" charset="0"/>
              </a:rPr>
              <a:t>var</a:t>
            </a:r>
            <a:r>
              <a:rPr lang="en-US" b="1" dirty="0">
                <a:latin typeface="Consolas" panose="020B0609020204030204" pitchFamily="49" charset="0"/>
                <a:ea typeface="Tahoma" panose="020B0604030504040204" pitchFamily="34" charset="0"/>
                <a:cs typeface="Tahoma" panose="020B0604030504040204" pitchFamily="34" charset="0"/>
              </a:rPr>
              <a:t> </a:t>
            </a:r>
            <a:r>
              <a:rPr lang="en-US" b="1" dirty="0" err="1">
                <a:latin typeface="Consolas" panose="020B0609020204030204" pitchFamily="49" charset="0"/>
                <a:ea typeface="Tahoma" panose="020B0604030504040204" pitchFamily="34" charset="0"/>
                <a:cs typeface="Tahoma" panose="020B0604030504040204" pitchFamily="34" charset="0"/>
              </a:rPr>
              <a:t>myGenericNumber</a:t>
            </a:r>
            <a:r>
              <a:rPr lang="en-US" b="1" dirty="0">
                <a:latin typeface="Consolas" panose="020B0609020204030204" pitchFamily="49" charset="0"/>
                <a:ea typeface="Tahoma" panose="020B0604030504040204" pitchFamily="34" charset="0"/>
                <a:cs typeface="Tahoma" panose="020B0604030504040204" pitchFamily="34" charset="0"/>
              </a:rPr>
              <a:t> = </a:t>
            </a:r>
            <a:r>
              <a:rPr lang="en-US" b="1" dirty="0">
                <a:solidFill>
                  <a:srgbClr val="0000FF"/>
                </a:solidFill>
                <a:latin typeface="Consolas" panose="020B0609020204030204" pitchFamily="49" charset="0"/>
                <a:ea typeface="Tahoma" panose="020B0604030504040204" pitchFamily="34" charset="0"/>
                <a:cs typeface="Tahoma" panose="020B0604030504040204" pitchFamily="34" charset="0"/>
              </a:rPr>
              <a:t>new</a:t>
            </a:r>
            <a:r>
              <a:rPr lang="en-US" b="1" dirty="0">
                <a:latin typeface="Consolas" panose="020B0609020204030204" pitchFamily="49" charset="0"/>
                <a:ea typeface="Tahoma" panose="020B0604030504040204" pitchFamily="34" charset="0"/>
                <a:cs typeface="Tahoma" panose="020B0604030504040204" pitchFamily="34" charset="0"/>
              </a:rPr>
              <a:t> </a:t>
            </a:r>
            <a:r>
              <a:rPr lang="en-US" b="1" dirty="0" err="1">
                <a:latin typeface="Consolas" panose="020B0609020204030204" pitchFamily="49" charset="0"/>
                <a:ea typeface="Tahoma" panose="020B0604030504040204" pitchFamily="34" charset="0"/>
                <a:cs typeface="Tahoma" panose="020B0604030504040204" pitchFamily="34" charset="0"/>
              </a:rPr>
              <a:t>GenericNumber</a:t>
            </a:r>
            <a:r>
              <a:rPr lang="en-US" b="1" dirty="0">
                <a:latin typeface="Consolas" panose="020B0609020204030204" pitchFamily="49" charset="0"/>
                <a:ea typeface="Tahoma" panose="020B0604030504040204" pitchFamily="34" charset="0"/>
                <a:cs typeface="Tahoma" panose="020B0604030504040204" pitchFamily="34" charset="0"/>
              </a:rPr>
              <a:t>&lt;number&gt;();</a:t>
            </a:r>
          </a:p>
          <a:p>
            <a:pPr lvl="1"/>
            <a:r>
              <a:rPr lang="en-US" b="1" dirty="0" err="1">
                <a:latin typeface="Consolas" panose="020B0609020204030204" pitchFamily="49" charset="0"/>
                <a:ea typeface="Tahoma" panose="020B0604030504040204" pitchFamily="34" charset="0"/>
                <a:cs typeface="Tahoma" panose="020B0604030504040204" pitchFamily="34" charset="0"/>
              </a:rPr>
              <a:t>myGenericNumber.zeroValue</a:t>
            </a:r>
            <a:r>
              <a:rPr lang="en-US" b="1" dirty="0">
                <a:latin typeface="Consolas" panose="020B0609020204030204" pitchFamily="49" charset="0"/>
                <a:ea typeface="Tahoma" panose="020B0604030504040204" pitchFamily="34" charset="0"/>
                <a:cs typeface="Tahoma" panose="020B0604030504040204" pitchFamily="34" charset="0"/>
              </a:rPr>
              <a:t> = 0; </a:t>
            </a:r>
          </a:p>
          <a:p>
            <a:pPr lvl="1"/>
            <a:r>
              <a:rPr lang="en-US" b="1" dirty="0" err="1">
                <a:latin typeface="Consolas" panose="020B0609020204030204" pitchFamily="49" charset="0"/>
                <a:ea typeface="Tahoma" panose="020B0604030504040204" pitchFamily="34" charset="0"/>
                <a:cs typeface="Tahoma" panose="020B0604030504040204" pitchFamily="34" charset="0"/>
              </a:rPr>
              <a:t>myGenericNumber.add</a:t>
            </a:r>
            <a:r>
              <a:rPr lang="en-US" b="1" dirty="0">
                <a:latin typeface="Consolas" panose="020B0609020204030204" pitchFamily="49" charset="0"/>
                <a:ea typeface="Tahoma" panose="020B0604030504040204" pitchFamily="34" charset="0"/>
                <a:cs typeface="Tahoma" panose="020B0604030504040204" pitchFamily="34" charset="0"/>
              </a:rPr>
              <a:t> = </a:t>
            </a:r>
            <a:r>
              <a:rPr lang="en-US" b="1" dirty="0">
                <a:solidFill>
                  <a:srgbClr val="0000FF"/>
                </a:solidFill>
                <a:latin typeface="Consolas" panose="020B0609020204030204" pitchFamily="49" charset="0"/>
                <a:ea typeface="Tahoma" panose="020B0604030504040204" pitchFamily="34" charset="0"/>
                <a:cs typeface="Tahoma" panose="020B0604030504040204" pitchFamily="34" charset="0"/>
              </a:rPr>
              <a:t>function</a:t>
            </a:r>
            <a:r>
              <a:rPr lang="en-US" b="1" dirty="0">
                <a:latin typeface="Consolas" panose="020B0609020204030204" pitchFamily="49" charset="0"/>
                <a:ea typeface="Tahoma" panose="020B0604030504040204" pitchFamily="34" charset="0"/>
                <a:cs typeface="Tahoma" panose="020B0604030504040204" pitchFamily="34" charset="0"/>
              </a:rPr>
              <a:t>(x, y) { </a:t>
            </a:r>
            <a:r>
              <a:rPr lang="en-US" b="1" dirty="0">
                <a:solidFill>
                  <a:srgbClr val="0000FF"/>
                </a:solidFill>
                <a:latin typeface="Consolas" panose="020B0609020204030204" pitchFamily="49" charset="0"/>
                <a:ea typeface="Tahoma" panose="020B0604030504040204" pitchFamily="34" charset="0"/>
                <a:cs typeface="Tahoma" panose="020B0604030504040204" pitchFamily="34" charset="0"/>
              </a:rPr>
              <a:t>return</a:t>
            </a:r>
            <a:r>
              <a:rPr lang="en-US" b="1" dirty="0">
                <a:latin typeface="Consolas" panose="020B0609020204030204" pitchFamily="49" charset="0"/>
                <a:ea typeface="Tahoma" panose="020B0604030504040204" pitchFamily="34" charset="0"/>
                <a:cs typeface="Tahoma" panose="020B0604030504040204" pitchFamily="34" charset="0"/>
              </a:rPr>
              <a:t> x + y; };</a:t>
            </a:r>
          </a:p>
          <a:p>
            <a:pPr lvl="1"/>
            <a:endParaRPr lang="en-US" b="1" dirty="0">
              <a:latin typeface="Consolas" panose="020B0609020204030204" pitchFamily="49" charset="0"/>
              <a:ea typeface="Tahoma" panose="020B0604030504040204" pitchFamily="34" charset="0"/>
              <a:cs typeface="Tahoma" panose="020B0604030504040204" pitchFamily="34" charset="0"/>
            </a:endParaRPr>
          </a:p>
          <a:p>
            <a:pPr lvl="1"/>
            <a:endParaRPr lang="en-US" b="1" dirty="0">
              <a:latin typeface="Consolas" panose="020B0609020204030204" pitchFamily="49" charset="0"/>
              <a:ea typeface="Tahoma" panose="020B0604030504040204" pitchFamily="34" charset="0"/>
              <a:cs typeface="Tahoma" panose="020B0604030504040204" pitchFamily="34" charset="0"/>
            </a:endParaRPr>
          </a:p>
          <a:p>
            <a:pPr lvl="1"/>
            <a:endParaRPr lang="en-US" b="1" dirty="0">
              <a:latin typeface="Consolas" panose="020B0609020204030204" pitchFamily="49" charset="0"/>
              <a:ea typeface="Tahoma" panose="020B0604030504040204" pitchFamily="34" charset="0"/>
              <a:cs typeface="Tahoma" panose="020B0604030504040204" pitchFamily="34" charset="0"/>
            </a:endParaRPr>
          </a:p>
          <a:p>
            <a:pPr lvl="1"/>
            <a:r>
              <a:rPr lang="en-US" b="1" dirty="0" err="1">
                <a:solidFill>
                  <a:srgbClr val="0000FF"/>
                </a:solidFill>
                <a:latin typeface="Consolas" panose="020B0609020204030204" pitchFamily="49" charset="0"/>
                <a:ea typeface="Tahoma" panose="020B0604030504040204" pitchFamily="34" charset="0"/>
                <a:cs typeface="Tahoma" panose="020B0604030504040204" pitchFamily="34" charset="0"/>
              </a:rPr>
              <a:t>var</a:t>
            </a:r>
            <a:r>
              <a:rPr lang="en-US" b="1" dirty="0">
                <a:latin typeface="Consolas" panose="020B0609020204030204" pitchFamily="49" charset="0"/>
                <a:ea typeface="Tahoma" panose="020B0604030504040204" pitchFamily="34" charset="0"/>
                <a:cs typeface="Tahoma" panose="020B0604030504040204" pitchFamily="34" charset="0"/>
              </a:rPr>
              <a:t> </a:t>
            </a:r>
            <a:r>
              <a:rPr lang="en-US" b="1" dirty="0" err="1">
                <a:latin typeface="Consolas" panose="020B0609020204030204" pitchFamily="49" charset="0"/>
                <a:ea typeface="Tahoma" panose="020B0604030504040204" pitchFamily="34" charset="0"/>
                <a:cs typeface="Tahoma" panose="020B0604030504040204" pitchFamily="34" charset="0"/>
              </a:rPr>
              <a:t>stringNumeric</a:t>
            </a:r>
            <a:r>
              <a:rPr lang="en-US" b="1" dirty="0">
                <a:latin typeface="Consolas" panose="020B0609020204030204" pitchFamily="49" charset="0"/>
                <a:ea typeface="Tahoma" panose="020B0604030504040204" pitchFamily="34" charset="0"/>
                <a:cs typeface="Tahoma" panose="020B0604030504040204" pitchFamily="34" charset="0"/>
              </a:rPr>
              <a:t> = </a:t>
            </a:r>
            <a:r>
              <a:rPr lang="en-US" b="1" dirty="0">
                <a:solidFill>
                  <a:srgbClr val="0000FF"/>
                </a:solidFill>
                <a:latin typeface="Consolas" panose="020B0609020204030204" pitchFamily="49" charset="0"/>
                <a:ea typeface="Tahoma" panose="020B0604030504040204" pitchFamily="34" charset="0"/>
                <a:cs typeface="Tahoma" panose="020B0604030504040204" pitchFamily="34" charset="0"/>
              </a:rPr>
              <a:t>new</a:t>
            </a:r>
            <a:r>
              <a:rPr lang="en-US" b="1" dirty="0">
                <a:latin typeface="Consolas" panose="020B0609020204030204" pitchFamily="49" charset="0"/>
                <a:ea typeface="Tahoma" panose="020B0604030504040204" pitchFamily="34" charset="0"/>
                <a:cs typeface="Tahoma" panose="020B0604030504040204" pitchFamily="34" charset="0"/>
              </a:rPr>
              <a:t> </a:t>
            </a:r>
            <a:r>
              <a:rPr lang="en-US" b="1" dirty="0" err="1">
                <a:latin typeface="Consolas" panose="020B0609020204030204" pitchFamily="49" charset="0"/>
                <a:ea typeface="Tahoma" panose="020B0604030504040204" pitchFamily="34" charset="0"/>
                <a:cs typeface="Tahoma" panose="020B0604030504040204" pitchFamily="34" charset="0"/>
              </a:rPr>
              <a:t>GenericNumber</a:t>
            </a:r>
            <a:r>
              <a:rPr lang="en-US" b="1" dirty="0">
                <a:latin typeface="Consolas" panose="020B0609020204030204" pitchFamily="49" charset="0"/>
                <a:ea typeface="Tahoma" panose="020B0604030504040204" pitchFamily="34" charset="0"/>
                <a:cs typeface="Tahoma" panose="020B0604030504040204" pitchFamily="34" charset="0"/>
              </a:rPr>
              <a:t>&lt;string&gt;(); </a:t>
            </a:r>
          </a:p>
          <a:p>
            <a:pPr lvl="1"/>
            <a:r>
              <a:rPr lang="en-US" b="1" dirty="0" err="1">
                <a:latin typeface="Consolas" panose="020B0609020204030204" pitchFamily="49" charset="0"/>
                <a:ea typeface="Tahoma" panose="020B0604030504040204" pitchFamily="34" charset="0"/>
                <a:cs typeface="Tahoma" panose="020B0604030504040204" pitchFamily="34" charset="0"/>
              </a:rPr>
              <a:t>stringNumeric.zeroValue</a:t>
            </a:r>
            <a:r>
              <a:rPr lang="en-US" b="1" dirty="0">
                <a:latin typeface="Consolas" panose="020B0609020204030204" pitchFamily="49" charset="0"/>
                <a:ea typeface="Tahoma" panose="020B0604030504040204" pitchFamily="34" charset="0"/>
                <a:cs typeface="Tahoma" panose="020B0604030504040204" pitchFamily="34" charset="0"/>
              </a:rPr>
              <a:t> = </a:t>
            </a:r>
            <a:r>
              <a:rPr lang="en-US" b="1" dirty="0">
                <a:solidFill>
                  <a:srgbClr val="A31515"/>
                </a:solidFill>
                <a:latin typeface="Consolas" panose="020B0609020204030204" pitchFamily="49" charset="0"/>
                <a:ea typeface="Tahoma" panose="020B0604030504040204" pitchFamily="34" charset="0"/>
                <a:cs typeface="Tahoma" panose="020B0604030504040204" pitchFamily="34" charset="0"/>
              </a:rPr>
              <a:t>""</a:t>
            </a:r>
            <a:r>
              <a:rPr lang="en-US" b="1" dirty="0">
                <a:latin typeface="Consolas" panose="020B0609020204030204" pitchFamily="49" charset="0"/>
                <a:ea typeface="Tahoma" panose="020B0604030504040204" pitchFamily="34" charset="0"/>
                <a:cs typeface="Tahoma" panose="020B0604030504040204" pitchFamily="34" charset="0"/>
              </a:rPr>
              <a:t>; </a:t>
            </a:r>
          </a:p>
          <a:p>
            <a:pPr lvl="1"/>
            <a:r>
              <a:rPr lang="en-US" b="1" dirty="0" err="1">
                <a:latin typeface="Consolas" panose="020B0609020204030204" pitchFamily="49" charset="0"/>
                <a:ea typeface="Tahoma" panose="020B0604030504040204" pitchFamily="34" charset="0"/>
                <a:cs typeface="Tahoma" panose="020B0604030504040204" pitchFamily="34" charset="0"/>
              </a:rPr>
              <a:t>stringNumeric.add</a:t>
            </a:r>
            <a:r>
              <a:rPr lang="en-US" b="1" dirty="0">
                <a:latin typeface="Consolas" panose="020B0609020204030204" pitchFamily="49" charset="0"/>
                <a:ea typeface="Tahoma" panose="020B0604030504040204" pitchFamily="34" charset="0"/>
                <a:cs typeface="Tahoma" panose="020B0604030504040204" pitchFamily="34" charset="0"/>
              </a:rPr>
              <a:t> = </a:t>
            </a:r>
            <a:r>
              <a:rPr lang="en-US" b="1" dirty="0">
                <a:solidFill>
                  <a:srgbClr val="0000FF"/>
                </a:solidFill>
                <a:latin typeface="Consolas" panose="020B0609020204030204" pitchFamily="49" charset="0"/>
                <a:ea typeface="Tahoma" panose="020B0604030504040204" pitchFamily="34" charset="0"/>
                <a:cs typeface="Tahoma" panose="020B0604030504040204" pitchFamily="34" charset="0"/>
              </a:rPr>
              <a:t>function</a:t>
            </a:r>
            <a:r>
              <a:rPr lang="en-US" b="1" dirty="0">
                <a:latin typeface="Consolas" panose="020B0609020204030204" pitchFamily="49" charset="0"/>
                <a:ea typeface="Tahoma" panose="020B0604030504040204" pitchFamily="34" charset="0"/>
                <a:cs typeface="Tahoma" panose="020B0604030504040204" pitchFamily="34" charset="0"/>
              </a:rPr>
              <a:t>(x, y) { </a:t>
            </a:r>
            <a:r>
              <a:rPr lang="en-US" b="1" dirty="0">
                <a:solidFill>
                  <a:srgbClr val="0000FF"/>
                </a:solidFill>
                <a:latin typeface="Consolas" panose="020B0609020204030204" pitchFamily="49" charset="0"/>
                <a:ea typeface="Tahoma" panose="020B0604030504040204" pitchFamily="34" charset="0"/>
                <a:cs typeface="Tahoma" panose="020B0604030504040204" pitchFamily="34" charset="0"/>
              </a:rPr>
              <a:t>return</a:t>
            </a:r>
            <a:r>
              <a:rPr lang="en-US" b="1" dirty="0">
                <a:latin typeface="Consolas" panose="020B0609020204030204" pitchFamily="49" charset="0"/>
                <a:ea typeface="Tahoma" panose="020B0604030504040204" pitchFamily="34" charset="0"/>
                <a:cs typeface="Tahoma" panose="020B0604030504040204" pitchFamily="34" charset="0"/>
              </a:rPr>
              <a:t> x + y; }; </a:t>
            </a:r>
          </a:p>
          <a:p>
            <a:pPr lvl="1"/>
            <a:endParaRPr lang="en-US" b="1" dirty="0">
              <a:latin typeface="Consolas" panose="020B0609020204030204" pitchFamily="49" charset="0"/>
              <a:ea typeface="Tahoma" panose="020B0604030504040204" pitchFamily="34" charset="0"/>
              <a:cs typeface="Tahoma" panose="020B0604030504040204" pitchFamily="34" charset="0"/>
            </a:endParaRPr>
          </a:p>
          <a:p>
            <a:pPr lvl="1"/>
            <a:r>
              <a:rPr lang="en-US" b="1" dirty="0">
                <a:latin typeface="Consolas" panose="020B0609020204030204" pitchFamily="49" charset="0"/>
                <a:ea typeface="Tahoma" panose="020B0604030504040204" pitchFamily="34" charset="0"/>
                <a:cs typeface="Tahoma" panose="020B0604030504040204" pitchFamily="34" charset="0"/>
              </a:rPr>
              <a:t>alert(</a:t>
            </a:r>
            <a:r>
              <a:rPr lang="en-US" b="1" dirty="0" err="1">
                <a:latin typeface="Consolas" panose="020B0609020204030204" pitchFamily="49" charset="0"/>
                <a:ea typeface="Tahoma" panose="020B0604030504040204" pitchFamily="34" charset="0"/>
                <a:cs typeface="Tahoma" panose="020B0604030504040204" pitchFamily="34" charset="0"/>
              </a:rPr>
              <a:t>stringNumeric.add</a:t>
            </a:r>
            <a:r>
              <a:rPr lang="en-US" b="1" dirty="0">
                <a:latin typeface="Consolas" panose="020B0609020204030204" pitchFamily="49" charset="0"/>
                <a:ea typeface="Tahoma" panose="020B0604030504040204" pitchFamily="34" charset="0"/>
                <a:cs typeface="Tahoma" panose="020B0604030504040204" pitchFamily="34" charset="0"/>
              </a:rPr>
              <a:t>(</a:t>
            </a:r>
            <a:r>
              <a:rPr lang="en-US" b="1" dirty="0" err="1">
                <a:latin typeface="Consolas" panose="020B0609020204030204" pitchFamily="49" charset="0"/>
                <a:ea typeface="Tahoma" panose="020B0604030504040204" pitchFamily="34" charset="0"/>
                <a:cs typeface="Tahoma" panose="020B0604030504040204" pitchFamily="34" charset="0"/>
              </a:rPr>
              <a:t>stringNumeric.zeroValue</a:t>
            </a:r>
            <a:r>
              <a:rPr lang="en-US" b="1" dirty="0">
                <a:latin typeface="Consolas" panose="020B0609020204030204" pitchFamily="49" charset="0"/>
                <a:ea typeface="Tahoma" panose="020B0604030504040204" pitchFamily="34" charset="0"/>
                <a:cs typeface="Tahoma" panose="020B0604030504040204" pitchFamily="34" charset="0"/>
              </a:rPr>
              <a:t>, </a:t>
            </a:r>
            <a:r>
              <a:rPr lang="en-US" b="1" dirty="0">
                <a:solidFill>
                  <a:srgbClr val="A31515"/>
                </a:solidFill>
                <a:latin typeface="Consolas" panose="020B0609020204030204" pitchFamily="49" charset="0"/>
                <a:ea typeface="Tahoma" panose="020B0604030504040204" pitchFamily="34" charset="0"/>
                <a:cs typeface="Tahoma" panose="020B0604030504040204" pitchFamily="34" charset="0"/>
              </a:rPr>
              <a:t>"test"</a:t>
            </a:r>
            <a:r>
              <a:rPr lang="en-US" b="1" dirty="0">
                <a:latin typeface="Consolas" panose="020B0609020204030204" pitchFamily="49" charset="0"/>
                <a:ea typeface="Tahoma" panose="020B0604030504040204" pitchFamily="34" charset="0"/>
                <a:cs typeface="Tahoma" panose="020B0604030504040204" pitchFamily="34" charset="0"/>
              </a:rPr>
              <a:t>));</a:t>
            </a:r>
          </a:p>
        </p:txBody>
      </p:sp>
    </p:spTree>
    <p:extLst>
      <p:ext uri="{BB962C8B-B14F-4D97-AF65-F5344CB8AC3E}">
        <p14:creationId xmlns:p14="http://schemas.microsoft.com/office/powerpoint/2010/main" val="271485413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азвание 1"/>
          <p:cNvSpPr>
            <a:spLocks noGrp="1"/>
          </p:cNvSpPr>
          <p:nvPr>
            <p:ph type="title"/>
          </p:nvPr>
        </p:nvSpPr>
        <p:spPr/>
        <p:txBody>
          <a:bodyPr/>
          <a:lstStyle/>
          <a:p>
            <a:pPr fontAlgn="base"/>
            <a:r>
              <a:rPr lang="en-US" dirty="0"/>
              <a:t>Generic constraints</a:t>
            </a:r>
            <a:endParaRPr lang="ru-RU" dirty="0"/>
          </a:p>
        </p:txBody>
      </p:sp>
      <p:sp>
        <p:nvSpPr>
          <p:cNvPr id="5" name="Прямоугольник 4"/>
          <p:cNvSpPr/>
          <p:nvPr/>
        </p:nvSpPr>
        <p:spPr>
          <a:xfrm>
            <a:off x="760412" y="1447800"/>
            <a:ext cx="11201400" cy="5355312"/>
          </a:xfrm>
          <a:prstGeom prst="rect">
            <a:avLst/>
          </a:prstGeom>
        </p:spPr>
        <p:txBody>
          <a:bodyPr wrap="square">
            <a:spAutoFit/>
          </a:bodyPr>
          <a:lstStyle/>
          <a:p>
            <a:pPr lvl="1"/>
            <a:r>
              <a:rPr lang="en-US" b="1" dirty="0">
                <a:solidFill>
                  <a:srgbClr val="0000FF"/>
                </a:solidFill>
                <a:latin typeface="Consolas" panose="020B0609020204030204" pitchFamily="49" charset="0"/>
                <a:ea typeface="Tahoma" panose="020B0604030504040204" pitchFamily="34" charset="0"/>
                <a:cs typeface="Tahoma" panose="020B0604030504040204" pitchFamily="34" charset="0"/>
              </a:rPr>
              <a:t>function</a:t>
            </a:r>
            <a:r>
              <a:rPr lang="en-US" b="1" dirty="0">
                <a:solidFill>
                  <a:srgbClr val="717171"/>
                </a:solidFill>
                <a:latin typeface="Consolas" panose="020B0609020204030204" pitchFamily="49" charset="0"/>
                <a:ea typeface="Tahoma" panose="020B0604030504040204" pitchFamily="34" charset="0"/>
                <a:cs typeface="Tahoma" panose="020B0604030504040204" pitchFamily="34" charset="0"/>
              </a:rPr>
              <a:t> </a:t>
            </a:r>
            <a:r>
              <a:rPr lang="en-US" b="1" dirty="0" err="1">
                <a:solidFill>
                  <a:srgbClr val="717171"/>
                </a:solidFill>
                <a:latin typeface="Consolas" panose="020B0609020204030204" pitchFamily="49" charset="0"/>
                <a:ea typeface="Tahoma" panose="020B0604030504040204" pitchFamily="34" charset="0"/>
                <a:cs typeface="Tahoma" panose="020B0604030504040204" pitchFamily="34" charset="0"/>
              </a:rPr>
              <a:t>loggingIdentity</a:t>
            </a:r>
            <a:r>
              <a:rPr lang="en-US" b="1" dirty="0">
                <a:solidFill>
                  <a:srgbClr val="717171"/>
                </a:solidFill>
                <a:latin typeface="Consolas" panose="020B0609020204030204" pitchFamily="49" charset="0"/>
                <a:ea typeface="Tahoma" panose="020B0604030504040204" pitchFamily="34" charset="0"/>
                <a:cs typeface="Tahoma" panose="020B0604030504040204" pitchFamily="34" charset="0"/>
              </a:rPr>
              <a:t>&lt;T&gt;(</a:t>
            </a:r>
            <a:r>
              <a:rPr lang="en-US" b="1" dirty="0" err="1">
                <a:solidFill>
                  <a:srgbClr val="717171"/>
                </a:solidFill>
                <a:latin typeface="Consolas" panose="020B0609020204030204" pitchFamily="49" charset="0"/>
                <a:ea typeface="Tahoma" panose="020B0604030504040204" pitchFamily="34" charset="0"/>
                <a:cs typeface="Tahoma" panose="020B0604030504040204" pitchFamily="34" charset="0"/>
              </a:rPr>
              <a:t>arg</a:t>
            </a:r>
            <a:r>
              <a:rPr lang="en-US" b="1" dirty="0">
                <a:solidFill>
                  <a:srgbClr val="717171"/>
                </a:solidFill>
                <a:latin typeface="Consolas" panose="020B0609020204030204" pitchFamily="49" charset="0"/>
                <a:ea typeface="Tahoma" panose="020B0604030504040204" pitchFamily="34" charset="0"/>
                <a:cs typeface="Tahoma" panose="020B0604030504040204" pitchFamily="34" charset="0"/>
              </a:rPr>
              <a:t>: T): T { </a:t>
            </a:r>
          </a:p>
          <a:p>
            <a:pPr lvl="1"/>
            <a:r>
              <a:rPr lang="en-US" b="1" dirty="0">
                <a:solidFill>
                  <a:srgbClr val="717171"/>
                </a:solidFill>
                <a:latin typeface="Consolas" panose="020B0609020204030204" pitchFamily="49" charset="0"/>
                <a:ea typeface="Tahoma" panose="020B0604030504040204" pitchFamily="34" charset="0"/>
                <a:cs typeface="Tahoma" panose="020B0604030504040204" pitchFamily="34" charset="0"/>
              </a:rPr>
              <a:t>	console.log(</a:t>
            </a:r>
            <a:r>
              <a:rPr lang="en-US" b="1" dirty="0" err="1">
                <a:solidFill>
                  <a:srgbClr val="717171"/>
                </a:solidFill>
                <a:latin typeface="Consolas" panose="020B0609020204030204" pitchFamily="49" charset="0"/>
                <a:ea typeface="Tahoma" panose="020B0604030504040204" pitchFamily="34" charset="0"/>
                <a:cs typeface="Tahoma" panose="020B0604030504040204" pitchFamily="34" charset="0"/>
              </a:rPr>
              <a:t>arg.length</a:t>
            </a:r>
            <a:r>
              <a:rPr lang="en-US" b="1" dirty="0">
                <a:solidFill>
                  <a:srgbClr val="717171"/>
                </a:solidFill>
                <a:latin typeface="Consolas" panose="020B0609020204030204" pitchFamily="49" charset="0"/>
                <a:ea typeface="Tahoma" panose="020B0604030504040204" pitchFamily="34" charset="0"/>
                <a:cs typeface="Tahoma" panose="020B0604030504040204" pitchFamily="34" charset="0"/>
              </a:rPr>
              <a:t>); </a:t>
            </a:r>
            <a:r>
              <a:rPr lang="en-US" b="1" dirty="0">
                <a:solidFill>
                  <a:srgbClr val="008000"/>
                </a:solidFill>
                <a:latin typeface="Consolas" panose="020B0609020204030204" pitchFamily="49" charset="0"/>
                <a:ea typeface="Tahoma" panose="020B0604030504040204" pitchFamily="34" charset="0"/>
                <a:cs typeface="Tahoma" panose="020B0604030504040204" pitchFamily="34" charset="0"/>
              </a:rPr>
              <a:t>// Error: T doesn't have .length</a:t>
            </a:r>
          </a:p>
          <a:p>
            <a:pPr lvl="1"/>
            <a:r>
              <a:rPr lang="en-US" b="1" dirty="0">
                <a:solidFill>
                  <a:srgbClr val="717171"/>
                </a:solidFill>
                <a:latin typeface="Consolas" panose="020B0609020204030204" pitchFamily="49" charset="0"/>
                <a:ea typeface="Tahoma" panose="020B0604030504040204" pitchFamily="34" charset="0"/>
                <a:cs typeface="Tahoma" panose="020B0604030504040204" pitchFamily="34" charset="0"/>
              </a:rPr>
              <a:t> 	</a:t>
            </a:r>
            <a:r>
              <a:rPr lang="en-US" b="1" dirty="0">
                <a:solidFill>
                  <a:srgbClr val="0000FF"/>
                </a:solidFill>
                <a:latin typeface="Consolas" panose="020B0609020204030204" pitchFamily="49" charset="0"/>
                <a:ea typeface="Tahoma" panose="020B0604030504040204" pitchFamily="34" charset="0"/>
                <a:cs typeface="Tahoma" panose="020B0604030504040204" pitchFamily="34" charset="0"/>
              </a:rPr>
              <a:t>return</a:t>
            </a:r>
            <a:r>
              <a:rPr lang="en-US" b="1" dirty="0">
                <a:solidFill>
                  <a:srgbClr val="717171"/>
                </a:solidFill>
                <a:latin typeface="Consolas" panose="020B0609020204030204" pitchFamily="49" charset="0"/>
                <a:ea typeface="Tahoma" panose="020B0604030504040204" pitchFamily="34" charset="0"/>
                <a:cs typeface="Tahoma" panose="020B0604030504040204" pitchFamily="34" charset="0"/>
              </a:rPr>
              <a:t> </a:t>
            </a:r>
            <a:r>
              <a:rPr lang="en-US" b="1" dirty="0" err="1">
                <a:solidFill>
                  <a:srgbClr val="717171"/>
                </a:solidFill>
                <a:latin typeface="Consolas" panose="020B0609020204030204" pitchFamily="49" charset="0"/>
                <a:ea typeface="Tahoma" panose="020B0604030504040204" pitchFamily="34" charset="0"/>
                <a:cs typeface="Tahoma" panose="020B0604030504040204" pitchFamily="34" charset="0"/>
              </a:rPr>
              <a:t>arg</a:t>
            </a:r>
            <a:r>
              <a:rPr lang="en-US" b="1" dirty="0">
                <a:solidFill>
                  <a:srgbClr val="717171"/>
                </a:solidFill>
                <a:latin typeface="Consolas" panose="020B0609020204030204" pitchFamily="49" charset="0"/>
                <a:ea typeface="Tahoma" panose="020B0604030504040204" pitchFamily="34" charset="0"/>
                <a:cs typeface="Tahoma" panose="020B0604030504040204" pitchFamily="34" charset="0"/>
              </a:rPr>
              <a:t>; </a:t>
            </a:r>
          </a:p>
          <a:p>
            <a:pPr lvl="1"/>
            <a:r>
              <a:rPr lang="en-US" b="1" dirty="0">
                <a:solidFill>
                  <a:srgbClr val="717171"/>
                </a:solidFill>
                <a:latin typeface="Consolas" panose="020B0609020204030204" pitchFamily="49" charset="0"/>
                <a:ea typeface="Tahoma" panose="020B0604030504040204" pitchFamily="34" charset="0"/>
                <a:cs typeface="Tahoma" panose="020B0604030504040204" pitchFamily="34" charset="0"/>
              </a:rPr>
              <a:t>}</a:t>
            </a:r>
          </a:p>
          <a:p>
            <a:pPr lvl="1"/>
            <a:endParaRPr lang="en-US" b="1" dirty="0">
              <a:solidFill>
                <a:srgbClr val="717171"/>
              </a:solidFill>
              <a:latin typeface="Consolas" panose="020B0609020204030204" pitchFamily="49" charset="0"/>
              <a:ea typeface="Tahoma" panose="020B0604030504040204" pitchFamily="34" charset="0"/>
              <a:cs typeface="Tahoma" panose="020B0604030504040204" pitchFamily="34" charset="0"/>
            </a:endParaRPr>
          </a:p>
          <a:p>
            <a:pPr marL="6350" lvl="1"/>
            <a:r>
              <a:rPr lang="en-US" b="1" dirty="0">
                <a:solidFill>
                  <a:schemeClr val="accent2"/>
                </a:solidFill>
                <a:latin typeface="Consolas" panose="020B0609020204030204" pitchFamily="49" charset="0"/>
                <a:ea typeface="Tahoma" panose="020B0604030504040204" pitchFamily="34" charset="0"/>
                <a:cs typeface="Tahoma" panose="020B0604030504040204" pitchFamily="34" charset="0"/>
              </a:rPr>
              <a:t>Solution using constraint:</a:t>
            </a:r>
          </a:p>
          <a:p>
            <a:pPr lvl="1"/>
            <a:r>
              <a:rPr lang="en-US" b="1" dirty="0">
                <a:solidFill>
                  <a:srgbClr val="0000FF"/>
                </a:solidFill>
                <a:latin typeface="Consolas" panose="020B0609020204030204" pitchFamily="49" charset="0"/>
                <a:ea typeface="Tahoma" panose="020B0604030504040204" pitchFamily="34" charset="0"/>
                <a:cs typeface="Tahoma" panose="020B0604030504040204" pitchFamily="34" charset="0"/>
              </a:rPr>
              <a:t>interface</a:t>
            </a:r>
            <a:r>
              <a:rPr lang="en-US" b="1" dirty="0">
                <a:solidFill>
                  <a:srgbClr val="000000"/>
                </a:solidFill>
                <a:latin typeface="Consolas" panose="020B0609020204030204" pitchFamily="49" charset="0"/>
                <a:ea typeface="Tahoma" panose="020B0604030504040204" pitchFamily="34" charset="0"/>
                <a:cs typeface="Tahoma" panose="020B0604030504040204" pitchFamily="34" charset="0"/>
              </a:rPr>
              <a:t> Lengthwise { </a:t>
            </a:r>
          </a:p>
          <a:p>
            <a:pPr lvl="1"/>
            <a:r>
              <a:rPr lang="en-US" b="1" dirty="0">
                <a:solidFill>
                  <a:srgbClr val="000000"/>
                </a:solidFill>
                <a:latin typeface="Consolas" panose="020B0609020204030204" pitchFamily="49" charset="0"/>
                <a:ea typeface="Tahoma" panose="020B0604030504040204" pitchFamily="34" charset="0"/>
                <a:cs typeface="Tahoma" panose="020B0604030504040204" pitchFamily="34" charset="0"/>
              </a:rPr>
              <a:t>	length: number; </a:t>
            </a:r>
          </a:p>
          <a:p>
            <a:pPr lvl="1"/>
            <a:r>
              <a:rPr lang="en-US" b="1" dirty="0">
                <a:solidFill>
                  <a:srgbClr val="000000"/>
                </a:solidFill>
                <a:latin typeface="Consolas" panose="020B0609020204030204" pitchFamily="49" charset="0"/>
                <a:ea typeface="Tahoma" panose="020B0604030504040204" pitchFamily="34" charset="0"/>
                <a:cs typeface="Tahoma" panose="020B0604030504040204" pitchFamily="34" charset="0"/>
              </a:rPr>
              <a:t>} </a:t>
            </a:r>
          </a:p>
          <a:p>
            <a:pPr lvl="1"/>
            <a:endParaRPr lang="en-US" b="1" dirty="0">
              <a:solidFill>
                <a:srgbClr val="000000"/>
              </a:solidFill>
              <a:latin typeface="Consolas" panose="020B0609020204030204" pitchFamily="49" charset="0"/>
              <a:ea typeface="Tahoma" panose="020B0604030504040204" pitchFamily="34" charset="0"/>
              <a:cs typeface="Tahoma" panose="020B0604030504040204" pitchFamily="34" charset="0"/>
            </a:endParaRPr>
          </a:p>
          <a:p>
            <a:pPr lvl="1"/>
            <a:r>
              <a:rPr lang="en-US" b="1" dirty="0">
                <a:solidFill>
                  <a:srgbClr val="0000FF"/>
                </a:solidFill>
                <a:latin typeface="Consolas" panose="020B0609020204030204" pitchFamily="49" charset="0"/>
                <a:ea typeface="Tahoma" panose="020B0604030504040204" pitchFamily="34" charset="0"/>
                <a:cs typeface="Tahoma" panose="020B0604030504040204" pitchFamily="34" charset="0"/>
              </a:rPr>
              <a:t>function</a:t>
            </a:r>
            <a:r>
              <a:rPr lang="en-US" b="1" dirty="0">
                <a:solidFill>
                  <a:srgbClr val="000000"/>
                </a:solidFill>
                <a:latin typeface="Consolas" panose="020B0609020204030204" pitchFamily="49" charset="0"/>
                <a:ea typeface="Tahoma" panose="020B0604030504040204" pitchFamily="34" charset="0"/>
                <a:cs typeface="Tahoma" panose="020B0604030504040204" pitchFamily="34" charset="0"/>
              </a:rPr>
              <a:t> </a:t>
            </a:r>
            <a:r>
              <a:rPr lang="en-US" b="1" dirty="0" err="1">
                <a:solidFill>
                  <a:srgbClr val="000000"/>
                </a:solidFill>
                <a:latin typeface="Consolas" panose="020B0609020204030204" pitchFamily="49" charset="0"/>
                <a:ea typeface="Tahoma" panose="020B0604030504040204" pitchFamily="34" charset="0"/>
                <a:cs typeface="Tahoma" panose="020B0604030504040204" pitchFamily="34" charset="0"/>
              </a:rPr>
              <a:t>loggingIdentity</a:t>
            </a:r>
            <a:r>
              <a:rPr lang="en-US" b="1" dirty="0">
                <a:solidFill>
                  <a:srgbClr val="000000"/>
                </a:solidFill>
                <a:latin typeface="Consolas" panose="020B0609020204030204" pitchFamily="49" charset="0"/>
                <a:ea typeface="Tahoma" panose="020B0604030504040204" pitchFamily="34" charset="0"/>
                <a:cs typeface="Tahoma" panose="020B0604030504040204" pitchFamily="34" charset="0"/>
              </a:rPr>
              <a:t>&lt;T </a:t>
            </a:r>
            <a:r>
              <a:rPr lang="en-US" b="1" dirty="0">
                <a:solidFill>
                  <a:srgbClr val="0000FF"/>
                </a:solidFill>
                <a:latin typeface="Consolas" panose="020B0609020204030204" pitchFamily="49" charset="0"/>
                <a:ea typeface="Tahoma" panose="020B0604030504040204" pitchFamily="34" charset="0"/>
                <a:cs typeface="Tahoma" panose="020B0604030504040204" pitchFamily="34" charset="0"/>
              </a:rPr>
              <a:t>extends</a:t>
            </a:r>
            <a:r>
              <a:rPr lang="en-US" b="1" dirty="0">
                <a:solidFill>
                  <a:srgbClr val="000000"/>
                </a:solidFill>
                <a:latin typeface="Consolas" panose="020B0609020204030204" pitchFamily="49" charset="0"/>
                <a:ea typeface="Tahoma" panose="020B0604030504040204" pitchFamily="34" charset="0"/>
                <a:cs typeface="Tahoma" panose="020B0604030504040204" pitchFamily="34" charset="0"/>
              </a:rPr>
              <a:t> Lengthwise&gt;(</a:t>
            </a:r>
            <a:r>
              <a:rPr lang="en-US" b="1" dirty="0" err="1">
                <a:solidFill>
                  <a:srgbClr val="000000"/>
                </a:solidFill>
                <a:latin typeface="Consolas" panose="020B0609020204030204" pitchFamily="49" charset="0"/>
                <a:ea typeface="Tahoma" panose="020B0604030504040204" pitchFamily="34" charset="0"/>
                <a:cs typeface="Tahoma" panose="020B0604030504040204" pitchFamily="34" charset="0"/>
              </a:rPr>
              <a:t>arg</a:t>
            </a:r>
            <a:r>
              <a:rPr lang="en-US" b="1" dirty="0">
                <a:solidFill>
                  <a:srgbClr val="000000"/>
                </a:solidFill>
                <a:latin typeface="Consolas" panose="020B0609020204030204" pitchFamily="49" charset="0"/>
                <a:ea typeface="Tahoma" panose="020B0604030504040204" pitchFamily="34" charset="0"/>
                <a:cs typeface="Tahoma" panose="020B0604030504040204" pitchFamily="34" charset="0"/>
              </a:rPr>
              <a:t>: T): T { </a:t>
            </a:r>
          </a:p>
          <a:p>
            <a:pPr lvl="1"/>
            <a:r>
              <a:rPr lang="en-US" b="1" dirty="0">
                <a:solidFill>
                  <a:srgbClr val="000000"/>
                </a:solidFill>
                <a:latin typeface="Consolas" panose="020B0609020204030204" pitchFamily="49" charset="0"/>
                <a:ea typeface="Tahoma" panose="020B0604030504040204" pitchFamily="34" charset="0"/>
                <a:cs typeface="Tahoma" panose="020B0604030504040204" pitchFamily="34" charset="0"/>
              </a:rPr>
              <a:t>	console.log(</a:t>
            </a:r>
            <a:r>
              <a:rPr lang="en-US" b="1" dirty="0" err="1">
                <a:solidFill>
                  <a:srgbClr val="000000"/>
                </a:solidFill>
                <a:latin typeface="Consolas" panose="020B0609020204030204" pitchFamily="49" charset="0"/>
                <a:ea typeface="Tahoma" panose="020B0604030504040204" pitchFamily="34" charset="0"/>
                <a:cs typeface="Tahoma" panose="020B0604030504040204" pitchFamily="34" charset="0"/>
              </a:rPr>
              <a:t>arg.length</a:t>
            </a:r>
            <a:r>
              <a:rPr lang="en-US" b="1" dirty="0">
                <a:solidFill>
                  <a:srgbClr val="000000"/>
                </a:solidFill>
                <a:latin typeface="Consolas" panose="020B0609020204030204" pitchFamily="49" charset="0"/>
                <a:ea typeface="Tahoma" panose="020B0604030504040204" pitchFamily="34" charset="0"/>
                <a:cs typeface="Tahoma" panose="020B0604030504040204" pitchFamily="34" charset="0"/>
              </a:rPr>
              <a:t>); </a:t>
            </a:r>
          </a:p>
          <a:p>
            <a:pPr lvl="1"/>
            <a:r>
              <a:rPr lang="en-US" b="1" dirty="0">
                <a:solidFill>
                  <a:srgbClr val="000000"/>
                </a:solidFill>
                <a:latin typeface="Consolas" panose="020B0609020204030204" pitchFamily="49" charset="0"/>
                <a:ea typeface="Tahoma" panose="020B0604030504040204" pitchFamily="34" charset="0"/>
                <a:cs typeface="Tahoma" panose="020B0604030504040204" pitchFamily="34" charset="0"/>
              </a:rPr>
              <a:t>	</a:t>
            </a:r>
            <a:r>
              <a:rPr lang="en-US" b="1" dirty="0">
                <a:solidFill>
                  <a:srgbClr val="008000"/>
                </a:solidFill>
                <a:latin typeface="Consolas" panose="020B0609020204030204" pitchFamily="49" charset="0"/>
                <a:ea typeface="Tahoma" panose="020B0604030504040204" pitchFamily="34" charset="0"/>
                <a:cs typeface="Tahoma" panose="020B0604030504040204" pitchFamily="34" charset="0"/>
              </a:rPr>
              <a:t>// Now we know it has a .length property, so no more error</a:t>
            </a:r>
            <a:r>
              <a:rPr lang="en-US" b="1" dirty="0">
                <a:solidFill>
                  <a:srgbClr val="000000"/>
                </a:solidFill>
                <a:latin typeface="Consolas" panose="020B0609020204030204" pitchFamily="49" charset="0"/>
                <a:ea typeface="Tahoma" panose="020B0604030504040204" pitchFamily="34" charset="0"/>
                <a:cs typeface="Tahoma" panose="020B0604030504040204" pitchFamily="34" charset="0"/>
              </a:rPr>
              <a:t> </a:t>
            </a:r>
          </a:p>
          <a:p>
            <a:pPr lvl="1"/>
            <a:r>
              <a:rPr lang="en-US" b="1" dirty="0">
                <a:solidFill>
                  <a:srgbClr val="000000"/>
                </a:solidFill>
                <a:latin typeface="Consolas" panose="020B0609020204030204" pitchFamily="49" charset="0"/>
                <a:ea typeface="Tahoma" panose="020B0604030504040204" pitchFamily="34" charset="0"/>
                <a:cs typeface="Tahoma" panose="020B0604030504040204" pitchFamily="34" charset="0"/>
              </a:rPr>
              <a:t>	</a:t>
            </a:r>
            <a:r>
              <a:rPr lang="en-US" b="1" dirty="0">
                <a:solidFill>
                  <a:srgbClr val="0000FF"/>
                </a:solidFill>
                <a:latin typeface="Consolas" panose="020B0609020204030204" pitchFamily="49" charset="0"/>
                <a:ea typeface="Tahoma" panose="020B0604030504040204" pitchFamily="34" charset="0"/>
                <a:cs typeface="Tahoma" panose="020B0604030504040204" pitchFamily="34" charset="0"/>
              </a:rPr>
              <a:t>return</a:t>
            </a:r>
            <a:r>
              <a:rPr lang="en-US" b="1" dirty="0">
                <a:solidFill>
                  <a:srgbClr val="000000"/>
                </a:solidFill>
                <a:latin typeface="Consolas" panose="020B0609020204030204" pitchFamily="49" charset="0"/>
                <a:ea typeface="Tahoma" panose="020B0604030504040204" pitchFamily="34" charset="0"/>
                <a:cs typeface="Tahoma" panose="020B0604030504040204" pitchFamily="34" charset="0"/>
              </a:rPr>
              <a:t> </a:t>
            </a:r>
            <a:r>
              <a:rPr lang="en-US" b="1" dirty="0" err="1">
                <a:solidFill>
                  <a:srgbClr val="000000"/>
                </a:solidFill>
                <a:latin typeface="Consolas" panose="020B0609020204030204" pitchFamily="49" charset="0"/>
                <a:ea typeface="Tahoma" panose="020B0604030504040204" pitchFamily="34" charset="0"/>
                <a:cs typeface="Tahoma" panose="020B0604030504040204" pitchFamily="34" charset="0"/>
              </a:rPr>
              <a:t>arg</a:t>
            </a:r>
            <a:r>
              <a:rPr lang="en-US" b="1" dirty="0">
                <a:solidFill>
                  <a:srgbClr val="000000"/>
                </a:solidFill>
                <a:latin typeface="Consolas" panose="020B0609020204030204" pitchFamily="49" charset="0"/>
                <a:ea typeface="Tahoma" panose="020B0604030504040204" pitchFamily="34" charset="0"/>
                <a:cs typeface="Tahoma" panose="020B0604030504040204" pitchFamily="34" charset="0"/>
              </a:rPr>
              <a:t>; </a:t>
            </a:r>
          </a:p>
          <a:p>
            <a:pPr lvl="1"/>
            <a:r>
              <a:rPr lang="en-US" b="1" dirty="0">
                <a:solidFill>
                  <a:srgbClr val="000000"/>
                </a:solidFill>
                <a:latin typeface="Consolas" panose="020B0609020204030204" pitchFamily="49" charset="0"/>
                <a:ea typeface="Tahoma" panose="020B0604030504040204" pitchFamily="34" charset="0"/>
                <a:cs typeface="Tahoma" panose="020B0604030504040204" pitchFamily="34" charset="0"/>
              </a:rPr>
              <a:t>} </a:t>
            </a:r>
          </a:p>
          <a:p>
            <a:r>
              <a:rPr lang="en-US" dirty="0">
                <a:latin typeface="Consolas" panose="020B0609020204030204" pitchFamily="49" charset="0"/>
              </a:rPr>
              <a:t>	</a:t>
            </a:r>
          </a:p>
          <a:p>
            <a:pPr lvl="1"/>
            <a:r>
              <a:rPr lang="en-US" b="1" dirty="0" err="1">
                <a:latin typeface="Consolas" panose="020B0609020204030204" pitchFamily="49" charset="0"/>
              </a:rPr>
              <a:t>loggingIdentity</a:t>
            </a:r>
            <a:r>
              <a:rPr lang="en-US" b="1" dirty="0">
                <a:latin typeface="Consolas" panose="020B0609020204030204" pitchFamily="49" charset="0"/>
              </a:rPr>
              <a:t>(3); </a:t>
            </a:r>
            <a:r>
              <a:rPr lang="en-US" b="1" dirty="0">
                <a:solidFill>
                  <a:srgbClr val="008000"/>
                </a:solidFill>
                <a:latin typeface="Consolas" panose="020B0609020204030204" pitchFamily="49" charset="0"/>
              </a:rPr>
              <a:t>// Error, number doesn't have a .length property</a:t>
            </a:r>
          </a:p>
          <a:p>
            <a:pPr lvl="1"/>
            <a:r>
              <a:rPr lang="en-US" b="1" dirty="0" err="1">
                <a:solidFill>
                  <a:srgbClr val="000000"/>
                </a:solidFill>
                <a:latin typeface="Consolas" panose="020B0609020204030204" pitchFamily="49" charset="0"/>
              </a:rPr>
              <a:t>loggingIdentity</a:t>
            </a:r>
            <a:r>
              <a:rPr lang="en-US" b="1" dirty="0">
                <a:solidFill>
                  <a:srgbClr val="000000"/>
                </a:solidFill>
                <a:latin typeface="Consolas" panose="020B0609020204030204" pitchFamily="49" charset="0"/>
              </a:rPr>
              <a:t>({length: 10, value: 3}); </a:t>
            </a:r>
            <a:r>
              <a:rPr lang="en-US" b="1" dirty="0">
                <a:solidFill>
                  <a:srgbClr val="008000"/>
                </a:solidFill>
                <a:latin typeface="Consolas" panose="020B0609020204030204" pitchFamily="49" charset="0"/>
              </a:rPr>
              <a:t>// OK</a:t>
            </a:r>
            <a:br>
              <a:rPr lang="en-US" b="1" dirty="0">
                <a:latin typeface="Consolas" panose="020B0609020204030204" pitchFamily="49" charset="0"/>
                <a:ea typeface="Tahoma" panose="020B0604030504040204" pitchFamily="34" charset="0"/>
                <a:cs typeface="Tahoma" panose="020B0604030504040204" pitchFamily="34" charset="0"/>
              </a:rPr>
            </a:br>
            <a:endParaRPr lang="en-US" b="1" dirty="0">
              <a:latin typeface="Consolas" panose="020B0609020204030204" pitchFamily="49"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96217319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азвание 1"/>
          <p:cNvSpPr>
            <a:spLocks noGrp="1"/>
          </p:cNvSpPr>
          <p:nvPr>
            <p:ph type="title"/>
          </p:nvPr>
        </p:nvSpPr>
        <p:spPr/>
        <p:txBody>
          <a:bodyPr/>
          <a:lstStyle/>
          <a:p>
            <a:pPr fontAlgn="base"/>
            <a:r>
              <a:rPr lang="en-US" dirty="0"/>
              <a:t>Using class type in generics</a:t>
            </a:r>
            <a:endParaRPr lang="ru-RU" dirty="0"/>
          </a:p>
        </p:txBody>
      </p:sp>
      <p:sp>
        <p:nvSpPr>
          <p:cNvPr id="5" name="Прямоугольник 4"/>
          <p:cNvSpPr/>
          <p:nvPr/>
        </p:nvSpPr>
        <p:spPr>
          <a:xfrm>
            <a:off x="989012" y="1502688"/>
            <a:ext cx="10668000" cy="5355312"/>
          </a:xfrm>
          <a:prstGeom prst="rect">
            <a:avLst/>
          </a:prstGeom>
        </p:spPr>
        <p:txBody>
          <a:bodyPr wrap="square">
            <a:spAutoFit/>
          </a:bodyPr>
          <a:lstStyle/>
          <a:p>
            <a:pPr lvl="1"/>
            <a:r>
              <a:rPr lang="en-US" b="1" dirty="0">
                <a:solidFill>
                  <a:srgbClr val="0000FF"/>
                </a:solidFill>
                <a:latin typeface="Consolas" panose="020B0609020204030204" pitchFamily="49" charset="0"/>
              </a:rPr>
              <a:t>function</a:t>
            </a:r>
            <a:r>
              <a:rPr lang="en-US" b="1" dirty="0">
                <a:solidFill>
                  <a:srgbClr val="717171"/>
                </a:solidFill>
                <a:latin typeface="Consolas" panose="020B0609020204030204" pitchFamily="49" charset="0"/>
              </a:rPr>
              <a:t> create&lt;T&gt;(c: {</a:t>
            </a:r>
            <a:r>
              <a:rPr lang="en-US" b="1" dirty="0">
                <a:solidFill>
                  <a:srgbClr val="0000FF"/>
                </a:solidFill>
                <a:latin typeface="Consolas" panose="020B0609020204030204" pitchFamily="49" charset="0"/>
              </a:rPr>
              <a:t>new</a:t>
            </a:r>
            <a:r>
              <a:rPr lang="en-US" b="1" dirty="0">
                <a:solidFill>
                  <a:srgbClr val="717171"/>
                </a:solidFill>
                <a:latin typeface="Consolas" panose="020B0609020204030204" pitchFamily="49" charset="0"/>
              </a:rPr>
              <a:t>(): T; }): T { </a:t>
            </a:r>
          </a:p>
          <a:p>
            <a:pPr lvl="1"/>
            <a:r>
              <a:rPr lang="en-US" b="1" dirty="0">
                <a:solidFill>
                  <a:srgbClr val="717171"/>
                </a:solidFill>
                <a:latin typeface="Consolas" panose="020B0609020204030204" pitchFamily="49" charset="0"/>
              </a:rPr>
              <a:t>	</a:t>
            </a:r>
            <a:r>
              <a:rPr lang="en-US" b="1" dirty="0">
                <a:solidFill>
                  <a:srgbClr val="0000FF"/>
                </a:solidFill>
                <a:latin typeface="Consolas" panose="020B0609020204030204" pitchFamily="49" charset="0"/>
              </a:rPr>
              <a:t>return</a:t>
            </a:r>
            <a:r>
              <a:rPr lang="en-US" b="1" dirty="0">
                <a:solidFill>
                  <a:srgbClr val="717171"/>
                </a:solidFill>
                <a:latin typeface="Consolas" panose="020B0609020204030204" pitchFamily="49" charset="0"/>
              </a:rPr>
              <a:t> </a:t>
            </a:r>
            <a:r>
              <a:rPr lang="en-US" b="1" dirty="0">
                <a:solidFill>
                  <a:srgbClr val="0000FF"/>
                </a:solidFill>
                <a:latin typeface="Consolas" panose="020B0609020204030204" pitchFamily="49" charset="0"/>
              </a:rPr>
              <a:t>new</a:t>
            </a:r>
            <a:r>
              <a:rPr lang="en-US" b="1" dirty="0">
                <a:solidFill>
                  <a:srgbClr val="717171"/>
                </a:solidFill>
                <a:latin typeface="Consolas" panose="020B0609020204030204" pitchFamily="49" charset="0"/>
              </a:rPr>
              <a:t> c(); </a:t>
            </a:r>
          </a:p>
          <a:p>
            <a:pPr lvl="1"/>
            <a:r>
              <a:rPr lang="en-US" b="1" dirty="0">
                <a:solidFill>
                  <a:srgbClr val="717171"/>
                </a:solidFill>
                <a:latin typeface="Consolas" panose="020B0609020204030204" pitchFamily="49" charset="0"/>
              </a:rPr>
              <a:t>}</a:t>
            </a:r>
          </a:p>
          <a:p>
            <a:pPr lvl="1"/>
            <a:endParaRPr lang="en-US" b="1" dirty="0">
              <a:solidFill>
                <a:srgbClr val="717171"/>
              </a:solidFill>
              <a:latin typeface="Consolas" panose="020B0609020204030204" pitchFamily="49" charset="0"/>
              <a:ea typeface="Tahoma" panose="020B0604030504040204" pitchFamily="34" charset="0"/>
              <a:cs typeface="Tahoma" panose="020B0604030504040204" pitchFamily="34" charset="0"/>
            </a:endParaRPr>
          </a:p>
          <a:p>
            <a:pPr marL="6350" lvl="1"/>
            <a:r>
              <a:rPr lang="en-US" b="1" dirty="0">
                <a:solidFill>
                  <a:schemeClr val="accent2"/>
                </a:solidFill>
                <a:latin typeface="Consolas" panose="020B0609020204030204" pitchFamily="49" charset="0"/>
              </a:rPr>
              <a:t>Example of using:</a:t>
            </a:r>
          </a:p>
          <a:p>
            <a:pPr marL="6350" lvl="1"/>
            <a:endParaRPr lang="en-US" b="1" dirty="0">
              <a:solidFill>
                <a:schemeClr val="accent2"/>
              </a:solidFill>
              <a:latin typeface="Consolas" panose="020B0609020204030204" pitchFamily="49" charset="0"/>
            </a:endParaRPr>
          </a:p>
          <a:p>
            <a:pPr marL="6350" lvl="1"/>
            <a:r>
              <a:rPr lang="en-US" b="1" dirty="0">
                <a:solidFill>
                  <a:srgbClr val="0000FF"/>
                </a:solidFill>
                <a:latin typeface="Consolas" panose="020B0609020204030204" pitchFamily="49" charset="0"/>
              </a:rPr>
              <a:t>	class</a:t>
            </a:r>
            <a:r>
              <a:rPr lang="en-US" b="1" dirty="0">
                <a:latin typeface="Consolas" panose="020B0609020204030204" pitchFamily="49" charset="0"/>
              </a:rPr>
              <a:t> </a:t>
            </a:r>
            <a:r>
              <a:rPr lang="en-US" b="1" dirty="0" err="1">
                <a:latin typeface="Consolas" panose="020B0609020204030204" pitchFamily="49" charset="0"/>
              </a:rPr>
              <a:t>BeeKeeper</a:t>
            </a:r>
            <a:r>
              <a:rPr lang="en-US" b="1" dirty="0">
                <a:latin typeface="Consolas" panose="020B0609020204030204" pitchFamily="49" charset="0"/>
              </a:rPr>
              <a:t> { </a:t>
            </a:r>
            <a:r>
              <a:rPr lang="en-US" b="1" dirty="0" err="1">
                <a:latin typeface="Consolas" panose="020B0609020204030204" pitchFamily="49" charset="0"/>
              </a:rPr>
              <a:t>hasMask</a:t>
            </a:r>
            <a:r>
              <a:rPr lang="en-US" b="1" dirty="0">
                <a:latin typeface="Consolas" panose="020B0609020204030204" pitchFamily="49" charset="0"/>
              </a:rPr>
              <a:t>: </a:t>
            </a:r>
            <a:r>
              <a:rPr lang="en-US" b="1" dirty="0" err="1">
                <a:solidFill>
                  <a:srgbClr val="0000FF"/>
                </a:solidFill>
                <a:latin typeface="Consolas" panose="020B0609020204030204" pitchFamily="49" charset="0"/>
              </a:rPr>
              <a:t>boolean</a:t>
            </a:r>
            <a:r>
              <a:rPr lang="en-US" b="1" dirty="0">
                <a:latin typeface="Consolas" panose="020B0609020204030204" pitchFamily="49" charset="0"/>
              </a:rPr>
              <a:t>; } </a:t>
            </a:r>
          </a:p>
          <a:p>
            <a:pPr marL="6350" lvl="1"/>
            <a:r>
              <a:rPr lang="en-US" b="1" dirty="0">
                <a:solidFill>
                  <a:srgbClr val="0000FF"/>
                </a:solidFill>
                <a:latin typeface="Consolas" panose="020B0609020204030204" pitchFamily="49" charset="0"/>
              </a:rPr>
              <a:t>	class</a:t>
            </a:r>
            <a:r>
              <a:rPr lang="en-US" b="1" dirty="0">
                <a:latin typeface="Consolas" panose="020B0609020204030204" pitchFamily="49" charset="0"/>
              </a:rPr>
              <a:t> </a:t>
            </a:r>
            <a:r>
              <a:rPr lang="en-US" b="1" dirty="0" err="1">
                <a:latin typeface="Consolas" panose="020B0609020204030204" pitchFamily="49" charset="0"/>
              </a:rPr>
              <a:t>ZooKeeper</a:t>
            </a:r>
            <a:r>
              <a:rPr lang="en-US" b="1" dirty="0">
                <a:latin typeface="Consolas" panose="020B0609020204030204" pitchFamily="49" charset="0"/>
              </a:rPr>
              <a:t> { nametag: string; } </a:t>
            </a:r>
          </a:p>
          <a:p>
            <a:pPr marL="6350" lvl="1"/>
            <a:r>
              <a:rPr lang="en-US" b="1" dirty="0">
                <a:solidFill>
                  <a:srgbClr val="0000FF"/>
                </a:solidFill>
                <a:latin typeface="Consolas" panose="020B0609020204030204" pitchFamily="49" charset="0"/>
              </a:rPr>
              <a:t>	class</a:t>
            </a:r>
            <a:r>
              <a:rPr lang="en-US" b="1" dirty="0">
                <a:latin typeface="Consolas" panose="020B0609020204030204" pitchFamily="49" charset="0"/>
              </a:rPr>
              <a:t> Animal { </a:t>
            </a:r>
            <a:r>
              <a:rPr lang="en-US" b="1" dirty="0" err="1">
                <a:latin typeface="Consolas" panose="020B0609020204030204" pitchFamily="49" charset="0"/>
              </a:rPr>
              <a:t>numLegs</a:t>
            </a:r>
            <a:r>
              <a:rPr lang="en-US" b="1" dirty="0">
                <a:latin typeface="Consolas" panose="020B0609020204030204" pitchFamily="49" charset="0"/>
              </a:rPr>
              <a:t>: number; } </a:t>
            </a:r>
          </a:p>
          <a:p>
            <a:pPr marL="6350" lvl="1"/>
            <a:r>
              <a:rPr lang="en-US" b="1" dirty="0">
                <a:solidFill>
                  <a:srgbClr val="0000FF"/>
                </a:solidFill>
                <a:latin typeface="Consolas" panose="020B0609020204030204" pitchFamily="49" charset="0"/>
              </a:rPr>
              <a:t>	class</a:t>
            </a:r>
            <a:r>
              <a:rPr lang="en-US" b="1" dirty="0">
                <a:latin typeface="Consolas" panose="020B0609020204030204" pitchFamily="49" charset="0"/>
              </a:rPr>
              <a:t> Bee </a:t>
            </a:r>
            <a:r>
              <a:rPr lang="en-US" b="1" dirty="0">
                <a:solidFill>
                  <a:srgbClr val="0000FF"/>
                </a:solidFill>
                <a:latin typeface="Consolas" panose="020B0609020204030204" pitchFamily="49" charset="0"/>
              </a:rPr>
              <a:t>extends</a:t>
            </a:r>
            <a:r>
              <a:rPr lang="en-US" b="1" dirty="0">
                <a:latin typeface="Consolas" panose="020B0609020204030204" pitchFamily="49" charset="0"/>
              </a:rPr>
              <a:t> Animal { keeper: </a:t>
            </a:r>
            <a:r>
              <a:rPr lang="en-US" b="1" dirty="0" err="1">
                <a:latin typeface="Consolas" panose="020B0609020204030204" pitchFamily="49" charset="0"/>
              </a:rPr>
              <a:t>BeeKeeper</a:t>
            </a:r>
            <a:r>
              <a:rPr lang="en-US" b="1" dirty="0">
                <a:latin typeface="Consolas" panose="020B0609020204030204" pitchFamily="49" charset="0"/>
              </a:rPr>
              <a:t>; } </a:t>
            </a:r>
          </a:p>
          <a:p>
            <a:pPr marL="6350" lvl="1"/>
            <a:r>
              <a:rPr lang="en-US" b="1" dirty="0">
                <a:solidFill>
                  <a:srgbClr val="0000FF"/>
                </a:solidFill>
                <a:latin typeface="Consolas" panose="020B0609020204030204" pitchFamily="49" charset="0"/>
              </a:rPr>
              <a:t>	class</a:t>
            </a:r>
            <a:r>
              <a:rPr lang="en-US" b="1" dirty="0">
                <a:latin typeface="Consolas" panose="020B0609020204030204" pitchFamily="49" charset="0"/>
              </a:rPr>
              <a:t> Lion </a:t>
            </a:r>
            <a:r>
              <a:rPr lang="en-US" b="1" dirty="0">
                <a:solidFill>
                  <a:srgbClr val="0000FF"/>
                </a:solidFill>
                <a:latin typeface="Consolas" panose="020B0609020204030204" pitchFamily="49" charset="0"/>
              </a:rPr>
              <a:t>extends</a:t>
            </a:r>
            <a:r>
              <a:rPr lang="en-US" b="1" dirty="0">
                <a:latin typeface="Consolas" panose="020B0609020204030204" pitchFamily="49" charset="0"/>
              </a:rPr>
              <a:t> Animal { keeper: </a:t>
            </a:r>
            <a:r>
              <a:rPr lang="en-US" b="1" dirty="0" err="1">
                <a:latin typeface="Consolas" panose="020B0609020204030204" pitchFamily="49" charset="0"/>
              </a:rPr>
              <a:t>ZooKeeper</a:t>
            </a:r>
            <a:r>
              <a:rPr lang="en-US" b="1" dirty="0">
                <a:latin typeface="Consolas" panose="020B0609020204030204" pitchFamily="49" charset="0"/>
              </a:rPr>
              <a:t>; } </a:t>
            </a:r>
          </a:p>
          <a:p>
            <a:pPr marL="6350" lvl="1"/>
            <a:endParaRPr lang="en-US" b="1" dirty="0">
              <a:latin typeface="Consolas" panose="020B0609020204030204" pitchFamily="49" charset="0"/>
            </a:endParaRPr>
          </a:p>
          <a:p>
            <a:pPr marL="6350" lvl="1"/>
            <a:r>
              <a:rPr lang="en-US" b="1" dirty="0">
                <a:solidFill>
                  <a:srgbClr val="0000FF"/>
                </a:solidFill>
                <a:latin typeface="Consolas" panose="020B0609020204030204" pitchFamily="49" charset="0"/>
              </a:rPr>
              <a:t>	function</a:t>
            </a:r>
            <a:r>
              <a:rPr lang="en-US" b="1" dirty="0">
                <a:latin typeface="Consolas" panose="020B0609020204030204" pitchFamily="49" charset="0"/>
              </a:rPr>
              <a:t> </a:t>
            </a:r>
            <a:r>
              <a:rPr lang="en-US" b="1" dirty="0" err="1">
                <a:latin typeface="Consolas" panose="020B0609020204030204" pitchFamily="49" charset="0"/>
              </a:rPr>
              <a:t>findKeeper</a:t>
            </a:r>
            <a:r>
              <a:rPr lang="en-US" b="1" dirty="0">
                <a:latin typeface="Consolas" panose="020B0609020204030204" pitchFamily="49" charset="0"/>
              </a:rPr>
              <a:t>&lt;A </a:t>
            </a:r>
            <a:r>
              <a:rPr lang="en-US" b="1" dirty="0">
                <a:solidFill>
                  <a:srgbClr val="0000FF"/>
                </a:solidFill>
                <a:latin typeface="Consolas" panose="020B0609020204030204" pitchFamily="49" charset="0"/>
              </a:rPr>
              <a:t>extends</a:t>
            </a:r>
            <a:r>
              <a:rPr lang="en-US" b="1" dirty="0">
                <a:latin typeface="Consolas" panose="020B0609020204030204" pitchFamily="49" charset="0"/>
              </a:rPr>
              <a:t> Animal, K&gt; (a: {</a:t>
            </a:r>
            <a:r>
              <a:rPr lang="en-US" b="1" dirty="0">
                <a:solidFill>
                  <a:srgbClr val="0000FF"/>
                </a:solidFill>
                <a:latin typeface="Consolas" panose="020B0609020204030204" pitchFamily="49" charset="0"/>
              </a:rPr>
              <a:t>new</a:t>
            </a:r>
            <a:r>
              <a:rPr lang="en-US" b="1" dirty="0">
                <a:latin typeface="Consolas" panose="020B0609020204030204" pitchFamily="49" charset="0"/>
              </a:rPr>
              <a:t>(): A; </a:t>
            </a:r>
          </a:p>
          <a:p>
            <a:pPr marL="6350" lvl="1"/>
            <a:r>
              <a:rPr lang="en-US" b="1" dirty="0">
                <a:latin typeface="Consolas" panose="020B0609020204030204" pitchFamily="49" charset="0"/>
              </a:rPr>
              <a:t>		prototype: {keeper: K}}): K { </a:t>
            </a:r>
          </a:p>
          <a:p>
            <a:pPr marL="6350" lvl="1"/>
            <a:r>
              <a:rPr lang="en-US" b="1" dirty="0">
                <a:solidFill>
                  <a:srgbClr val="0000FF"/>
                </a:solidFill>
                <a:latin typeface="Consolas" panose="020B0609020204030204" pitchFamily="49" charset="0"/>
              </a:rPr>
              <a:t>			return</a:t>
            </a:r>
            <a:r>
              <a:rPr lang="en-US" b="1" dirty="0">
                <a:latin typeface="Consolas" panose="020B0609020204030204" pitchFamily="49" charset="0"/>
              </a:rPr>
              <a:t> </a:t>
            </a:r>
            <a:r>
              <a:rPr lang="en-US" b="1" dirty="0" err="1">
                <a:latin typeface="Consolas" panose="020B0609020204030204" pitchFamily="49" charset="0"/>
              </a:rPr>
              <a:t>a.prototype.keeper</a:t>
            </a:r>
            <a:r>
              <a:rPr lang="en-US" b="1" dirty="0">
                <a:latin typeface="Consolas" panose="020B0609020204030204" pitchFamily="49" charset="0"/>
              </a:rPr>
              <a:t>; </a:t>
            </a:r>
          </a:p>
          <a:p>
            <a:pPr marL="6350" lvl="1"/>
            <a:r>
              <a:rPr lang="en-US" b="1" dirty="0">
                <a:latin typeface="Consolas" panose="020B0609020204030204" pitchFamily="49" charset="0"/>
              </a:rPr>
              <a:t>	} </a:t>
            </a:r>
          </a:p>
          <a:p>
            <a:pPr marL="6350" lvl="1"/>
            <a:r>
              <a:rPr lang="en-US" b="1" dirty="0">
                <a:latin typeface="Consolas" panose="020B0609020204030204" pitchFamily="49" charset="0"/>
              </a:rPr>
              <a:t>	</a:t>
            </a:r>
          </a:p>
          <a:p>
            <a:pPr marL="6350" lvl="1"/>
            <a:r>
              <a:rPr lang="en-US" b="1" dirty="0">
                <a:latin typeface="Consolas" panose="020B0609020204030204" pitchFamily="49" charset="0"/>
              </a:rPr>
              <a:t>	</a:t>
            </a:r>
            <a:r>
              <a:rPr lang="en-US" b="1" dirty="0" err="1">
                <a:latin typeface="Consolas" panose="020B0609020204030204" pitchFamily="49" charset="0"/>
              </a:rPr>
              <a:t>findKeeper</a:t>
            </a:r>
            <a:r>
              <a:rPr lang="en-US" b="1" dirty="0">
                <a:latin typeface="Consolas" panose="020B0609020204030204" pitchFamily="49" charset="0"/>
              </a:rPr>
              <a:t>(Lion).nametag; </a:t>
            </a:r>
            <a:r>
              <a:rPr lang="en-US" b="1" dirty="0">
                <a:solidFill>
                  <a:srgbClr val="008000"/>
                </a:solidFill>
                <a:latin typeface="Consolas" panose="020B0609020204030204" pitchFamily="49" charset="0"/>
              </a:rPr>
              <a:t>// </a:t>
            </a:r>
            <a:r>
              <a:rPr lang="en-US" b="1" dirty="0" err="1">
                <a:solidFill>
                  <a:srgbClr val="008000"/>
                </a:solidFill>
                <a:latin typeface="Consolas" panose="020B0609020204030204" pitchFamily="49" charset="0"/>
              </a:rPr>
              <a:t>typechecks</a:t>
            </a:r>
            <a:r>
              <a:rPr lang="en-US" b="1" dirty="0">
                <a:solidFill>
                  <a:srgbClr val="008000"/>
                </a:solidFill>
                <a:latin typeface="Consolas" panose="020B0609020204030204" pitchFamily="49" charset="0"/>
              </a:rPr>
              <a:t>!</a:t>
            </a:r>
            <a:br>
              <a:rPr lang="en-US" b="1" dirty="0">
                <a:latin typeface="Consolas" panose="020B0609020204030204" pitchFamily="49" charset="0"/>
                <a:ea typeface="Tahoma" panose="020B0604030504040204" pitchFamily="34" charset="0"/>
                <a:cs typeface="Tahoma" panose="020B0604030504040204" pitchFamily="34" charset="0"/>
              </a:rPr>
            </a:br>
            <a:endParaRPr lang="en-US" b="1" dirty="0">
              <a:latin typeface="Consolas" panose="020B0609020204030204" pitchFamily="49"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73067027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азвание 1"/>
          <p:cNvSpPr>
            <a:spLocks noGrp="1"/>
          </p:cNvSpPr>
          <p:nvPr>
            <p:ph type="title"/>
          </p:nvPr>
        </p:nvSpPr>
        <p:spPr/>
        <p:txBody>
          <a:bodyPr/>
          <a:lstStyle/>
          <a:p>
            <a:pPr fontAlgn="base"/>
            <a:r>
              <a:rPr lang="en-US" dirty="0"/>
              <a:t>Merging interfaces</a:t>
            </a:r>
            <a:endParaRPr lang="ru-RU" dirty="0"/>
          </a:p>
        </p:txBody>
      </p:sp>
      <p:sp>
        <p:nvSpPr>
          <p:cNvPr id="5" name="Прямоугольник 4"/>
          <p:cNvSpPr/>
          <p:nvPr/>
        </p:nvSpPr>
        <p:spPr>
          <a:xfrm>
            <a:off x="455612" y="1524000"/>
            <a:ext cx="8509895" cy="2585323"/>
          </a:xfrm>
          <a:prstGeom prst="rect">
            <a:avLst/>
          </a:prstGeom>
        </p:spPr>
        <p:txBody>
          <a:bodyPr wrap="square">
            <a:spAutoFit/>
          </a:bodyPr>
          <a:lstStyle/>
          <a:p>
            <a:pPr lvl="1"/>
            <a:r>
              <a:rPr lang="en-US" b="1" dirty="0">
                <a:solidFill>
                  <a:srgbClr val="0000FF"/>
                </a:solidFill>
                <a:latin typeface="Consolas" panose="020B0609020204030204" pitchFamily="49" charset="0"/>
              </a:rPr>
              <a:t>interface</a:t>
            </a:r>
            <a:r>
              <a:rPr lang="en-US" b="1" dirty="0">
                <a:latin typeface="Consolas" panose="020B0609020204030204" pitchFamily="49" charset="0"/>
              </a:rPr>
              <a:t> Box { </a:t>
            </a:r>
          </a:p>
          <a:p>
            <a:pPr lvl="1"/>
            <a:r>
              <a:rPr lang="en-US" b="1" dirty="0">
                <a:latin typeface="Consolas" panose="020B0609020204030204" pitchFamily="49" charset="0"/>
              </a:rPr>
              <a:t>	height: number; </a:t>
            </a:r>
          </a:p>
          <a:p>
            <a:pPr lvl="1"/>
            <a:r>
              <a:rPr lang="en-US" b="1" dirty="0">
                <a:latin typeface="Consolas" panose="020B0609020204030204" pitchFamily="49" charset="0"/>
              </a:rPr>
              <a:t>	width: number; </a:t>
            </a:r>
          </a:p>
          <a:p>
            <a:pPr lvl="1"/>
            <a:r>
              <a:rPr lang="en-US" b="1" dirty="0">
                <a:latin typeface="Consolas" panose="020B0609020204030204" pitchFamily="49" charset="0"/>
              </a:rPr>
              <a:t>} </a:t>
            </a:r>
          </a:p>
          <a:p>
            <a:pPr lvl="1"/>
            <a:endParaRPr lang="en-US" b="1" dirty="0">
              <a:solidFill>
                <a:srgbClr val="0000FF"/>
              </a:solidFill>
              <a:latin typeface="Consolas" panose="020B0609020204030204" pitchFamily="49" charset="0"/>
            </a:endParaRPr>
          </a:p>
          <a:p>
            <a:pPr lvl="1"/>
            <a:r>
              <a:rPr lang="en-US" b="1" dirty="0">
                <a:solidFill>
                  <a:srgbClr val="0000FF"/>
                </a:solidFill>
                <a:latin typeface="Consolas" panose="020B0609020204030204" pitchFamily="49" charset="0"/>
              </a:rPr>
              <a:t>interface</a:t>
            </a:r>
            <a:r>
              <a:rPr lang="en-US" b="1" dirty="0">
                <a:latin typeface="Consolas" panose="020B0609020204030204" pitchFamily="49" charset="0"/>
              </a:rPr>
              <a:t> Box { scale: number; } </a:t>
            </a:r>
          </a:p>
          <a:p>
            <a:pPr lvl="1"/>
            <a:endParaRPr lang="en-US" b="1" dirty="0">
              <a:solidFill>
                <a:srgbClr val="0000FF"/>
              </a:solidFill>
              <a:latin typeface="Consolas" panose="020B0609020204030204" pitchFamily="49" charset="0"/>
            </a:endParaRPr>
          </a:p>
          <a:p>
            <a:pPr lvl="1"/>
            <a:r>
              <a:rPr lang="en-US" b="1" dirty="0" err="1">
                <a:solidFill>
                  <a:srgbClr val="0000FF"/>
                </a:solidFill>
                <a:latin typeface="Consolas" panose="020B0609020204030204" pitchFamily="49" charset="0"/>
              </a:rPr>
              <a:t>var</a:t>
            </a:r>
            <a:r>
              <a:rPr lang="en-US" b="1" dirty="0">
                <a:latin typeface="Consolas" panose="020B0609020204030204" pitchFamily="49" charset="0"/>
              </a:rPr>
              <a:t> box: Box = {height: 5, width: 6, scale: 10};</a:t>
            </a:r>
            <a:br>
              <a:rPr lang="en-US" b="1" dirty="0">
                <a:latin typeface="Consolas" panose="020B0609020204030204" pitchFamily="49" charset="0"/>
                <a:ea typeface="Tahoma" panose="020B0604030504040204" pitchFamily="34" charset="0"/>
                <a:cs typeface="Tahoma" panose="020B0604030504040204" pitchFamily="34" charset="0"/>
              </a:rPr>
            </a:br>
            <a:endParaRPr lang="en-US" b="1" dirty="0">
              <a:latin typeface="Consolas" panose="020B0609020204030204" pitchFamily="49"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40926153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азвание 1"/>
          <p:cNvSpPr>
            <a:spLocks noGrp="1"/>
          </p:cNvSpPr>
          <p:nvPr>
            <p:ph type="title"/>
          </p:nvPr>
        </p:nvSpPr>
        <p:spPr/>
        <p:txBody>
          <a:bodyPr/>
          <a:lstStyle/>
          <a:p>
            <a:pPr fontAlgn="base"/>
            <a:r>
              <a:rPr lang="en-US" dirty="0"/>
              <a:t>Merging modules</a:t>
            </a:r>
            <a:endParaRPr lang="ru-RU" dirty="0"/>
          </a:p>
        </p:txBody>
      </p:sp>
      <p:sp>
        <p:nvSpPr>
          <p:cNvPr id="5" name="Прямоугольник 4"/>
          <p:cNvSpPr/>
          <p:nvPr/>
        </p:nvSpPr>
        <p:spPr>
          <a:xfrm>
            <a:off x="837981" y="1524000"/>
            <a:ext cx="8509895" cy="4247317"/>
          </a:xfrm>
          <a:prstGeom prst="rect">
            <a:avLst/>
          </a:prstGeom>
        </p:spPr>
        <p:txBody>
          <a:bodyPr wrap="square">
            <a:spAutoFit/>
          </a:bodyPr>
          <a:lstStyle/>
          <a:p>
            <a:pPr lvl="1"/>
            <a:r>
              <a:rPr lang="en-US" b="1" dirty="0">
                <a:latin typeface="Consolas" panose="020B0609020204030204" pitchFamily="49" charset="0"/>
              </a:rPr>
              <a:t>module Animals { </a:t>
            </a:r>
          </a:p>
          <a:p>
            <a:pPr lvl="1"/>
            <a:r>
              <a:rPr lang="en-US" b="1" dirty="0">
                <a:solidFill>
                  <a:srgbClr val="0000FF"/>
                </a:solidFill>
                <a:latin typeface="Consolas" panose="020B0609020204030204" pitchFamily="49" charset="0"/>
              </a:rPr>
              <a:t>	export</a:t>
            </a:r>
            <a:r>
              <a:rPr lang="en-US" b="1" dirty="0">
                <a:latin typeface="Consolas" panose="020B0609020204030204" pitchFamily="49" charset="0"/>
              </a:rPr>
              <a:t> </a:t>
            </a:r>
            <a:r>
              <a:rPr lang="en-US" b="1" dirty="0">
                <a:solidFill>
                  <a:srgbClr val="0000FF"/>
                </a:solidFill>
                <a:latin typeface="Consolas" panose="020B0609020204030204" pitchFamily="49" charset="0"/>
              </a:rPr>
              <a:t>class</a:t>
            </a:r>
            <a:r>
              <a:rPr lang="en-US" b="1" dirty="0">
                <a:latin typeface="Consolas" panose="020B0609020204030204" pitchFamily="49" charset="0"/>
              </a:rPr>
              <a:t> Zebra { } </a:t>
            </a:r>
          </a:p>
          <a:p>
            <a:pPr lvl="1"/>
            <a:r>
              <a:rPr lang="en-US" b="1" dirty="0">
                <a:latin typeface="Consolas" panose="020B0609020204030204" pitchFamily="49" charset="0"/>
              </a:rPr>
              <a:t>} </a:t>
            </a:r>
          </a:p>
          <a:p>
            <a:pPr lvl="1"/>
            <a:r>
              <a:rPr lang="en-US" b="1" dirty="0">
                <a:latin typeface="Consolas" panose="020B0609020204030204" pitchFamily="49" charset="0"/>
              </a:rPr>
              <a:t>module Animals { </a:t>
            </a:r>
          </a:p>
          <a:p>
            <a:pPr lvl="1"/>
            <a:r>
              <a:rPr lang="en-US" b="1" dirty="0">
                <a:solidFill>
                  <a:srgbClr val="0000FF"/>
                </a:solidFill>
                <a:latin typeface="Consolas" panose="020B0609020204030204" pitchFamily="49" charset="0"/>
              </a:rPr>
              <a:t>	export</a:t>
            </a:r>
            <a:r>
              <a:rPr lang="en-US" b="1" dirty="0">
                <a:latin typeface="Consolas" panose="020B0609020204030204" pitchFamily="49" charset="0"/>
              </a:rPr>
              <a:t> </a:t>
            </a:r>
            <a:r>
              <a:rPr lang="en-US" b="1" dirty="0">
                <a:solidFill>
                  <a:srgbClr val="0000FF"/>
                </a:solidFill>
                <a:latin typeface="Consolas" panose="020B0609020204030204" pitchFamily="49" charset="0"/>
              </a:rPr>
              <a:t>interface</a:t>
            </a:r>
            <a:r>
              <a:rPr lang="en-US" b="1" dirty="0">
                <a:latin typeface="Consolas" panose="020B0609020204030204" pitchFamily="49" charset="0"/>
              </a:rPr>
              <a:t> Legged { </a:t>
            </a:r>
            <a:r>
              <a:rPr lang="en-US" b="1" dirty="0" err="1">
                <a:latin typeface="Consolas" panose="020B0609020204030204" pitchFamily="49" charset="0"/>
              </a:rPr>
              <a:t>numberOfLegs</a:t>
            </a:r>
            <a:r>
              <a:rPr lang="en-US" b="1" dirty="0">
                <a:latin typeface="Consolas" panose="020B0609020204030204" pitchFamily="49" charset="0"/>
              </a:rPr>
              <a:t>: number; } </a:t>
            </a:r>
          </a:p>
          <a:p>
            <a:pPr lvl="1"/>
            <a:r>
              <a:rPr lang="en-US" b="1" dirty="0">
                <a:solidFill>
                  <a:srgbClr val="0000FF"/>
                </a:solidFill>
                <a:latin typeface="Consolas" panose="020B0609020204030204" pitchFamily="49" charset="0"/>
              </a:rPr>
              <a:t>	export</a:t>
            </a:r>
            <a:r>
              <a:rPr lang="en-US" b="1" dirty="0">
                <a:latin typeface="Consolas" panose="020B0609020204030204" pitchFamily="49" charset="0"/>
              </a:rPr>
              <a:t> </a:t>
            </a:r>
            <a:r>
              <a:rPr lang="en-US" b="1" dirty="0">
                <a:solidFill>
                  <a:srgbClr val="0000FF"/>
                </a:solidFill>
                <a:latin typeface="Consolas" panose="020B0609020204030204" pitchFamily="49" charset="0"/>
              </a:rPr>
              <a:t>class</a:t>
            </a:r>
            <a:r>
              <a:rPr lang="en-US" b="1" dirty="0">
                <a:latin typeface="Consolas" panose="020B0609020204030204" pitchFamily="49" charset="0"/>
              </a:rPr>
              <a:t> Dog { } </a:t>
            </a:r>
          </a:p>
          <a:p>
            <a:pPr lvl="1"/>
            <a:r>
              <a:rPr lang="en-US" b="1" dirty="0">
                <a:latin typeface="Consolas" panose="020B0609020204030204" pitchFamily="49" charset="0"/>
              </a:rPr>
              <a:t>}</a:t>
            </a:r>
          </a:p>
          <a:p>
            <a:pPr lvl="1"/>
            <a:endParaRPr lang="en-US" b="1" dirty="0">
              <a:latin typeface="Consolas" panose="020B0609020204030204" pitchFamily="49" charset="0"/>
              <a:ea typeface="Tahoma" panose="020B0604030504040204" pitchFamily="34" charset="0"/>
              <a:cs typeface="Tahoma" panose="020B0604030504040204" pitchFamily="34" charset="0"/>
            </a:endParaRPr>
          </a:p>
          <a:p>
            <a:pPr lvl="1"/>
            <a:endParaRPr lang="en-US" b="1" dirty="0">
              <a:latin typeface="Consolas" panose="020B0609020204030204" pitchFamily="49" charset="0"/>
              <a:ea typeface="Tahoma" panose="020B0604030504040204" pitchFamily="34" charset="0"/>
              <a:cs typeface="Tahoma" panose="020B0604030504040204" pitchFamily="34" charset="0"/>
            </a:endParaRPr>
          </a:p>
          <a:p>
            <a:pPr marL="6350" lvl="1"/>
            <a:r>
              <a:rPr lang="en-US" b="1" dirty="0">
                <a:solidFill>
                  <a:schemeClr val="accent2"/>
                </a:solidFill>
                <a:latin typeface="Consolas" panose="020B0609020204030204" pitchFamily="49" charset="0"/>
              </a:rPr>
              <a:t>is equivalent to:</a:t>
            </a:r>
            <a:endParaRPr lang="en-US" b="1" dirty="0">
              <a:solidFill>
                <a:schemeClr val="accent2"/>
              </a:solidFill>
              <a:latin typeface="Consolas" panose="020B0609020204030204" pitchFamily="49" charset="0"/>
              <a:ea typeface="Tahoma" panose="020B0604030504040204" pitchFamily="34" charset="0"/>
              <a:cs typeface="Tahoma" panose="020B0604030504040204" pitchFamily="34" charset="0"/>
            </a:endParaRPr>
          </a:p>
          <a:p>
            <a:pPr lvl="1"/>
            <a:r>
              <a:rPr lang="en-US" b="1" dirty="0">
                <a:latin typeface="Consolas" panose="020B0609020204030204" pitchFamily="49" charset="0"/>
              </a:rPr>
              <a:t>module Animals { </a:t>
            </a:r>
          </a:p>
          <a:p>
            <a:pPr lvl="1"/>
            <a:r>
              <a:rPr lang="en-US" b="1" dirty="0">
                <a:solidFill>
                  <a:srgbClr val="0000FF"/>
                </a:solidFill>
                <a:latin typeface="Consolas" panose="020B0609020204030204" pitchFamily="49" charset="0"/>
              </a:rPr>
              <a:t>	export</a:t>
            </a:r>
            <a:r>
              <a:rPr lang="en-US" b="1" dirty="0">
                <a:latin typeface="Consolas" panose="020B0609020204030204" pitchFamily="49" charset="0"/>
              </a:rPr>
              <a:t> </a:t>
            </a:r>
            <a:r>
              <a:rPr lang="en-US" b="1" dirty="0">
                <a:solidFill>
                  <a:srgbClr val="0000FF"/>
                </a:solidFill>
                <a:latin typeface="Consolas" panose="020B0609020204030204" pitchFamily="49" charset="0"/>
              </a:rPr>
              <a:t>interface</a:t>
            </a:r>
            <a:r>
              <a:rPr lang="en-US" b="1" dirty="0">
                <a:latin typeface="Consolas" panose="020B0609020204030204" pitchFamily="49" charset="0"/>
              </a:rPr>
              <a:t> Legged { </a:t>
            </a:r>
            <a:r>
              <a:rPr lang="en-US" b="1" dirty="0" err="1">
                <a:latin typeface="Consolas" panose="020B0609020204030204" pitchFamily="49" charset="0"/>
              </a:rPr>
              <a:t>numberOfLegs</a:t>
            </a:r>
            <a:r>
              <a:rPr lang="en-US" b="1" dirty="0">
                <a:latin typeface="Consolas" panose="020B0609020204030204" pitchFamily="49" charset="0"/>
              </a:rPr>
              <a:t>: number; } </a:t>
            </a:r>
          </a:p>
          <a:p>
            <a:pPr lvl="1"/>
            <a:r>
              <a:rPr lang="en-US" b="1" dirty="0">
                <a:solidFill>
                  <a:srgbClr val="0000FF"/>
                </a:solidFill>
                <a:latin typeface="Consolas" panose="020B0609020204030204" pitchFamily="49" charset="0"/>
              </a:rPr>
              <a:t>	export</a:t>
            </a:r>
            <a:r>
              <a:rPr lang="en-US" b="1" dirty="0">
                <a:latin typeface="Consolas" panose="020B0609020204030204" pitchFamily="49" charset="0"/>
              </a:rPr>
              <a:t> </a:t>
            </a:r>
            <a:r>
              <a:rPr lang="en-US" b="1" dirty="0">
                <a:solidFill>
                  <a:srgbClr val="0000FF"/>
                </a:solidFill>
                <a:latin typeface="Consolas" panose="020B0609020204030204" pitchFamily="49" charset="0"/>
              </a:rPr>
              <a:t>class</a:t>
            </a:r>
            <a:r>
              <a:rPr lang="en-US" b="1" dirty="0">
                <a:latin typeface="Consolas" panose="020B0609020204030204" pitchFamily="49" charset="0"/>
              </a:rPr>
              <a:t> Zebra { } </a:t>
            </a:r>
          </a:p>
          <a:p>
            <a:pPr lvl="1"/>
            <a:r>
              <a:rPr lang="en-US" b="1" dirty="0">
                <a:solidFill>
                  <a:srgbClr val="0000FF"/>
                </a:solidFill>
                <a:latin typeface="Consolas" panose="020B0609020204030204" pitchFamily="49" charset="0"/>
              </a:rPr>
              <a:t>	export</a:t>
            </a:r>
            <a:r>
              <a:rPr lang="en-US" b="1" dirty="0">
                <a:latin typeface="Consolas" panose="020B0609020204030204" pitchFamily="49" charset="0"/>
              </a:rPr>
              <a:t> </a:t>
            </a:r>
            <a:r>
              <a:rPr lang="en-US" b="1" dirty="0">
                <a:solidFill>
                  <a:srgbClr val="0000FF"/>
                </a:solidFill>
                <a:latin typeface="Consolas" panose="020B0609020204030204" pitchFamily="49" charset="0"/>
              </a:rPr>
              <a:t>class</a:t>
            </a:r>
            <a:r>
              <a:rPr lang="en-US" b="1" dirty="0">
                <a:latin typeface="Consolas" panose="020B0609020204030204" pitchFamily="49" charset="0"/>
              </a:rPr>
              <a:t> Dog { } </a:t>
            </a:r>
          </a:p>
          <a:p>
            <a:pPr lvl="1"/>
            <a:r>
              <a:rPr lang="en-US" b="1" dirty="0">
                <a:latin typeface="Consolas" panose="020B0609020204030204" pitchFamily="49" charset="0"/>
              </a:rPr>
              <a:t>}</a:t>
            </a:r>
            <a:endParaRPr lang="en-US" b="1" dirty="0">
              <a:latin typeface="Consolas" panose="020B0609020204030204" pitchFamily="49"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42231207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 Inference</a:t>
            </a:r>
            <a:endParaRPr lang="ru-RU" dirty="0"/>
          </a:p>
        </p:txBody>
      </p:sp>
      <p:sp>
        <p:nvSpPr>
          <p:cNvPr id="3" name="Прямоугольник 4"/>
          <p:cNvSpPr/>
          <p:nvPr/>
        </p:nvSpPr>
        <p:spPr>
          <a:xfrm>
            <a:off x="989012" y="1524000"/>
            <a:ext cx="10820400" cy="3970318"/>
          </a:xfrm>
          <a:prstGeom prst="rect">
            <a:avLst/>
          </a:prstGeom>
        </p:spPr>
        <p:txBody>
          <a:bodyPr wrap="square">
            <a:spAutoFit/>
          </a:bodyPr>
          <a:lstStyle/>
          <a:p>
            <a:pPr lvl="1"/>
            <a:endParaRPr lang="en-US" b="1" dirty="0">
              <a:latin typeface="Consolas" panose="020B0609020204030204" pitchFamily="49" charset="0"/>
              <a:ea typeface="Tahoma" panose="020B0604030504040204" pitchFamily="34" charset="0"/>
              <a:cs typeface="Tahoma" panose="020B0604030504040204" pitchFamily="34" charset="0"/>
            </a:endParaRPr>
          </a:p>
          <a:p>
            <a:pPr marL="6350" lvl="1"/>
            <a:r>
              <a:rPr lang="en-US" b="1" dirty="0">
                <a:solidFill>
                  <a:schemeClr val="accent2"/>
                </a:solidFill>
                <a:latin typeface="Consolas" panose="020B0609020204030204" pitchFamily="49" charset="0"/>
              </a:rPr>
              <a:t>basic:</a:t>
            </a:r>
            <a:endParaRPr lang="en-US" b="1" dirty="0">
              <a:solidFill>
                <a:schemeClr val="accent2"/>
              </a:solidFill>
              <a:latin typeface="Consolas" panose="020B0609020204030204" pitchFamily="49" charset="0"/>
              <a:ea typeface="Tahoma" panose="020B0604030504040204" pitchFamily="34" charset="0"/>
              <a:cs typeface="Tahoma" panose="020B0604030504040204" pitchFamily="34" charset="0"/>
            </a:endParaRPr>
          </a:p>
          <a:p>
            <a:pPr lvl="1"/>
            <a:r>
              <a:rPr lang="en-US" b="1" dirty="0">
                <a:latin typeface="Consolas" panose="020B0609020204030204" pitchFamily="49" charset="0"/>
              </a:rPr>
              <a:t>x = 3</a:t>
            </a:r>
          </a:p>
          <a:p>
            <a:pPr lvl="1"/>
            <a:endParaRPr lang="en-US" b="1" dirty="0">
              <a:latin typeface="Consolas" panose="020B0609020204030204" pitchFamily="49" charset="0"/>
              <a:ea typeface="Tahoma" panose="020B0604030504040204" pitchFamily="34" charset="0"/>
              <a:cs typeface="Tahoma" panose="020B0604030504040204" pitchFamily="34" charset="0"/>
            </a:endParaRPr>
          </a:p>
          <a:p>
            <a:pPr marL="6350" lvl="1"/>
            <a:r>
              <a:rPr lang="en-US" b="1" dirty="0">
                <a:solidFill>
                  <a:schemeClr val="accent2"/>
                </a:solidFill>
                <a:latin typeface="Consolas" panose="020B0609020204030204" pitchFamily="49" charset="0"/>
                <a:ea typeface="Tahoma" panose="020B0604030504040204" pitchFamily="34" charset="0"/>
                <a:cs typeface="Tahoma" panose="020B0604030504040204" pitchFamily="34" charset="0"/>
              </a:rPr>
              <a:t>best common type:</a:t>
            </a:r>
          </a:p>
          <a:p>
            <a:r>
              <a:rPr lang="en-US" b="1" dirty="0">
                <a:latin typeface="Consolas" panose="020B0609020204030204" pitchFamily="49" charset="0"/>
                <a:ea typeface="Tahoma" panose="020B0604030504040204" pitchFamily="34" charset="0"/>
                <a:cs typeface="Tahoma" panose="020B0604030504040204" pitchFamily="34" charset="0"/>
              </a:rPr>
              <a:t>	</a:t>
            </a:r>
            <a:r>
              <a:rPr lang="sv-SE" b="1" dirty="0">
                <a:solidFill>
                  <a:srgbClr val="0000FF"/>
                </a:solidFill>
                <a:latin typeface="Consolas" panose="020B0609020204030204" pitchFamily="49" charset="0"/>
              </a:rPr>
              <a:t>var</a:t>
            </a:r>
            <a:r>
              <a:rPr lang="sv-SE" b="1" dirty="0">
                <a:solidFill>
                  <a:srgbClr val="000000"/>
                </a:solidFill>
                <a:latin typeface="Consolas" panose="020B0609020204030204" pitchFamily="49" charset="0"/>
              </a:rPr>
              <a:t> x = [0, 1, </a:t>
            </a:r>
            <a:r>
              <a:rPr lang="sv-SE" b="1" dirty="0">
                <a:solidFill>
                  <a:srgbClr val="0000FF"/>
                </a:solidFill>
                <a:latin typeface="Consolas" panose="020B0609020204030204" pitchFamily="49" charset="0"/>
              </a:rPr>
              <a:t>null</a:t>
            </a:r>
            <a:r>
              <a:rPr lang="sv-SE" b="1" dirty="0">
                <a:solidFill>
                  <a:srgbClr val="000000"/>
                </a:solidFill>
                <a:latin typeface="Consolas" panose="020B0609020204030204" pitchFamily="49" charset="0"/>
              </a:rPr>
              <a:t>]; </a:t>
            </a:r>
          </a:p>
          <a:p>
            <a:endParaRPr lang="sv-SE" b="1" dirty="0">
              <a:latin typeface="Consolas" panose="020B0609020204030204" pitchFamily="49" charset="0"/>
            </a:endParaRPr>
          </a:p>
          <a:p>
            <a:r>
              <a:rPr lang="en-US" b="1" dirty="0">
                <a:solidFill>
                  <a:schemeClr val="accent2"/>
                </a:solidFill>
                <a:latin typeface="Consolas" panose="020B0609020204030204" pitchFamily="49" charset="0"/>
              </a:rPr>
              <a:t>types share a common structure, but no one is the super type of all candidate types:</a:t>
            </a:r>
            <a:br>
              <a:rPr lang="sv-SE" b="1" dirty="0">
                <a:latin typeface="Consolas" panose="020B0609020204030204" pitchFamily="49" charset="0"/>
              </a:rPr>
            </a:br>
            <a:r>
              <a:rPr lang="sv-SE" b="1" dirty="0">
                <a:latin typeface="Consolas" panose="020B0609020204030204" pitchFamily="49" charset="0"/>
              </a:rPr>
              <a:t>	</a:t>
            </a:r>
            <a:r>
              <a:rPr lang="en-US" b="1" dirty="0" err="1">
                <a:solidFill>
                  <a:srgbClr val="0000FF"/>
                </a:solidFill>
                <a:latin typeface="Consolas" panose="020B0609020204030204" pitchFamily="49" charset="0"/>
              </a:rPr>
              <a:t>var</a:t>
            </a:r>
            <a:r>
              <a:rPr lang="en-US" b="1" dirty="0">
                <a:latin typeface="Consolas" panose="020B0609020204030204" pitchFamily="49" charset="0"/>
              </a:rPr>
              <a:t> zoo = [</a:t>
            </a:r>
            <a:r>
              <a:rPr lang="en-US" b="1" dirty="0">
                <a:solidFill>
                  <a:srgbClr val="0000FF"/>
                </a:solidFill>
                <a:latin typeface="Consolas" panose="020B0609020204030204" pitchFamily="49" charset="0"/>
              </a:rPr>
              <a:t>new</a:t>
            </a:r>
            <a:r>
              <a:rPr lang="en-US" b="1" dirty="0">
                <a:latin typeface="Consolas" panose="020B0609020204030204" pitchFamily="49" charset="0"/>
              </a:rPr>
              <a:t> Rhino(), </a:t>
            </a:r>
            <a:r>
              <a:rPr lang="en-US" b="1" dirty="0">
                <a:solidFill>
                  <a:srgbClr val="0000FF"/>
                </a:solidFill>
                <a:latin typeface="Consolas" panose="020B0609020204030204" pitchFamily="49" charset="0"/>
              </a:rPr>
              <a:t>new</a:t>
            </a:r>
            <a:r>
              <a:rPr lang="en-US" b="1" dirty="0">
                <a:latin typeface="Consolas" panose="020B0609020204030204" pitchFamily="49" charset="0"/>
              </a:rPr>
              <a:t> Elephant(), </a:t>
            </a:r>
            <a:r>
              <a:rPr lang="en-US" b="1" dirty="0">
                <a:solidFill>
                  <a:srgbClr val="0000FF"/>
                </a:solidFill>
                <a:latin typeface="Consolas" panose="020B0609020204030204" pitchFamily="49" charset="0"/>
              </a:rPr>
              <a:t>new</a:t>
            </a:r>
            <a:r>
              <a:rPr lang="en-US" b="1" dirty="0">
                <a:latin typeface="Consolas" panose="020B0609020204030204" pitchFamily="49" charset="0"/>
              </a:rPr>
              <a:t> Snake()];</a:t>
            </a:r>
          </a:p>
          <a:p>
            <a:r>
              <a:rPr lang="en-US" b="1" dirty="0">
                <a:latin typeface="Consolas" panose="020B0609020204030204" pitchFamily="49" charset="0"/>
              </a:rPr>
              <a:t>	</a:t>
            </a:r>
          </a:p>
          <a:p>
            <a:r>
              <a:rPr lang="en-US" b="1" dirty="0">
                <a:solidFill>
                  <a:schemeClr val="accent2"/>
                </a:solidFill>
                <a:latin typeface="Consolas" panose="020B0609020204030204" pitchFamily="49" charset="0"/>
                <a:ea typeface="Tahoma" panose="020B0604030504040204" pitchFamily="34" charset="0"/>
                <a:cs typeface="Tahoma" panose="020B0604030504040204" pitchFamily="34" charset="0"/>
              </a:rPr>
              <a:t>to correct use :</a:t>
            </a:r>
          </a:p>
          <a:p>
            <a:r>
              <a:rPr lang="en-US" b="1" dirty="0">
                <a:solidFill>
                  <a:srgbClr val="0000FF"/>
                </a:solidFill>
                <a:latin typeface="Consolas" panose="020B0609020204030204" pitchFamily="49" charset="0"/>
              </a:rPr>
              <a:t>	</a:t>
            </a:r>
            <a:r>
              <a:rPr lang="en-US" b="1" dirty="0" err="1">
                <a:solidFill>
                  <a:srgbClr val="0000FF"/>
                </a:solidFill>
                <a:latin typeface="Consolas" panose="020B0609020204030204" pitchFamily="49" charset="0"/>
              </a:rPr>
              <a:t>var</a:t>
            </a:r>
            <a:r>
              <a:rPr lang="en-US" b="1" dirty="0">
                <a:solidFill>
                  <a:srgbClr val="000000"/>
                </a:solidFill>
                <a:latin typeface="Consolas" panose="020B0609020204030204" pitchFamily="49" charset="0"/>
              </a:rPr>
              <a:t> zoo: Animal[] = [</a:t>
            </a:r>
            <a:r>
              <a:rPr lang="en-US" b="1" dirty="0">
                <a:solidFill>
                  <a:srgbClr val="0000FF"/>
                </a:solidFill>
                <a:latin typeface="Consolas" panose="020B0609020204030204" pitchFamily="49" charset="0"/>
              </a:rPr>
              <a:t>new</a:t>
            </a:r>
            <a:r>
              <a:rPr lang="en-US" b="1" dirty="0">
                <a:solidFill>
                  <a:srgbClr val="000000"/>
                </a:solidFill>
                <a:latin typeface="Consolas" panose="020B0609020204030204" pitchFamily="49" charset="0"/>
              </a:rPr>
              <a:t> Rhino(), </a:t>
            </a:r>
            <a:r>
              <a:rPr lang="en-US" b="1" dirty="0">
                <a:solidFill>
                  <a:srgbClr val="0000FF"/>
                </a:solidFill>
                <a:latin typeface="Consolas" panose="020B0609020204030204" pitchFamily="49" charset="0"/>
              </a:rPr>
              <a:t>new</a:t>
            </a:r>
            <a:r>
              <a:rPr lang="en-US" b="1" dirty="0">
                <a:solidFill>
                  <a:srgbClr val="000000"/>
                </a:solidFill>
                <a:latin typeface="Consolas" panose="020B0609020204030204" pitchFamily="49" charset="0"/>
              </a:rPr>
              <a:t> Elephant(), </a:t>
            </a:r>
            <a:r>
              <a:rPr lang="en-US" b="1" dirty="0">
                <a:solidFill>
                  <a:srgbClr val="0000FF"/>
                </a:solidFill>
                <a:latin typeface="Consolas" panose="020B0609020204030204" pitchFamily="49" charset="0"/>
              </a:rPr>
              <a:t>new</a:t>
            </a:r>
            <a:r>
              <a:rPr lang="en-US" b="1" dirty="0">
                <a:solidFill>
                  <a:srgbClr val="000000"/>
                </a:solidFill>
                <a:latin typeface="Consolas" panose="020B0609020204030204" pitchFamily="49" charset="0"/>
              </a:rPr>
              <a:t> Snake()]; </a:t>
            </a:r>
          </a:p>
          <a:p>
            <a:br>
              <a:rPr lang="en-US" b="1" dirty="0">
                <a:latin typeface="Consolas" panose="020B0609020204030204" pitchFamily="49" charset="0"/>
              </a:rPr>
            </a:br>
            <a:endParaRPr lang="en-US" b="1" dirty="0">
              <a:latin typeface="Consolas" panose="020B0609020204030204" pitchFamily="49"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654829806"/>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Contextual type</a:t>
            </a:r>
            <a:endParaRPr lang="ru-RU" dirty="0"/>
          </a:p>
        </p:txBody>
      </p:sp>
      <p:sp>
        <p:nvSpPr>
          <p:cNvPr id="3" name="Прямоугольник 4"/>
          <p:cNvSpPr/>
          <p:nvPr/>
        </p:nvSpPr>
        <p:spPr>
          <a:xfrm>
            <a:off x="865700" y="1524000"/>
            <a:ext cx="11096111" cy="4524315"/>
          </a:xfrm>
          <a:prstGeom prst="rect">
            <a:avLst/>
          </a:prstGeom>
        </p:spPr>
        <p:txBody>
          <a:bodyPr wrap="square">
            <a:spAutoFit/>
          </a:bodyPr>
          <a:lstStyle/>
          <a:p>
            <a:pPr lvl="1"/>
            <a:r>
              <a:rPr lang="en-US" b="1" dirty="0" err="1">
                <a:latin typeface="Consolas" panose="020B0609020204030204" pitchFamily="49" charset="0"/>
              </a:rPr>
              <a:t>window.onmousedown</a:t>
            </a:r>
            <a:r>
              <a:rPr lang="en-US" b="1" dirty="0">
                <a:latin typeface="Consolas" panose="020B0609020204030204" pitchFamily="49" charset="0"/>
              </a:rPr>
              <a:t> = </a:t>
            </a:r>
            <a:r>
              <a:rPr lang="en-US" b="1" dirty="0">
                <a:solidFill>
                  <a:srgbClr val="0000FF"/>
                </a:solidFill>
                <a:latin typeface="Consolas" panose="020B0609020204030204" pitchFamily="49" charset="0"/>
              </a:rPr>
              <a:t>function</a:t>
            </a:r>
            <a:r>
              <a:rPr lang="en-US" b="1" dirty="0">
                <a:latin typeface="Consolas" panose="020B0609020204030204" pitchFamily="49" charset="0"/>
              </a:rPr>
              <a:t>(</a:t>
            </a:r>
            <a:r>
              <a:rPr lang="en-US" b="1" dirty="0" err="1">
                <a:latin typeface="Consolas" panose="020B0609020204030204" pitchFamily="49" charset="0"/>
              </a:rPr>
              <a:t>mouseEvent</a:t>
            </a:r>
            <a:r>
              <a:rPr lang="en-US" b="1" dirty="0">
                <a:latin typeface="Consolas" panose="020B0609020204030204" pitchFamily="49" charset="0"/>
              </a:rPr>
              <a:t>) { 	</a:t>
            </a:r>
          </a:p>
          <a:p>
            <a:pPr lvl="1"/>
            <a:r>
              <a:rPr lang="en-US" b="1" dirty="0">
                <a:latin typeface="Consolas" panose="020B0609020204030204" pitchFamily="49" charset="0"/>
              </a:rPr>
              <a:t>	console.log(</a:t>
            </a:r>
            <a:r>
              <a:rPr lang="en-US" b="1" dirty="0" err="1">
                <a:latin typeface="Consolas" panose="020B0609020204030204" pitchFamily="49" charset="0"/>
              </a:rPr>
              <a:t>mouseEvent.button</a:t>
            </a:r>
            <a:r>
              <a:rPr lang="en-US" b="1" dirty="0">
                <a:latin typeface="Consolas" panose="020B0609020204030204" pitchFamily="49" charset="0"/>
              </a:rPr>
              <a:t>); </a:t>
            </a:r>
            <a:r>
              <a:rPr lang="en-US" b="1" dirty="0">
                <a:solidFill>
                  <a:srgbClr val="FF0000"/>
                </a:solidFill>
                <a:latin typeface="Consolas" panose="020B0609020204030204" pitchFamily="49" charset="0"/>
              </a:rPr>
              <a:t>//&lt;- Error </a:t>
            </a:r>
          </a:p>
          <a:p>
            <a:pPr lvl="1"/>
            <a:r>
              <a:rPr lang="en-US" b="1" dirty="0">
                <a:latin typeface="Consolas" panose="020B0609020204030204" pitchFamily="49" charset="0"/>
              </a:rPr>
              <a:t>};</a:t>
            </a:r>
          </a:p>
          <a:p>
            <a:pPr marL="0" lvl="1"/>
            <a:endParaRPr lang="en-US" b="1" dirty="0">
              <a:latin typeface="Consolas" panose="020B0609020204030204" pitchFamily="49" charset="0"/>
            </a:endParaRPr>
          </a:p>
          <a:p>
            <a:pPr marL="0" lvl="1"/>
            <a:r>
              <a:rPr lang="en-US" b="1" dirty="0">
                <a:solidFill>
                  <a:schemeClr val="accent2"/>
                </a:solidFill>
                <a:latin typeface="Consolas" panose="020B0609020204030204" pitchFamily="49" charset="0"/>
              </a:rPr>
              <a:t>Solution:</a:t>
            </a:r>
          </a:p>
          <a:p>
            <a:pPr marL="0" lvl="1"/>
            <a:endParaRPr lang="en-US" b="1" dirty="0">
              <a:solidFill>
                <a:schemeClr val="accent2"/>
              </a:solidFill>
              <a:latin typeface="Consolas" panose="020B0609020204030204" pitchFamily="49" charset="0"/>
            </a:endParaRPr>
          </a:p>
          <a:p>
            <a:pPr lvl="1"/>
            <a:r>
              <a:rPr lang="en-US" b="1" dirty="0" err="1">
                <a:latin typeface="Consolas" panose="020B0609020204030204" pitchFamily="49" charset="0"/>
              </a:rPr>
              <a:t>window.onmousedown</a:t>
            </a:r>
            <a:r>
              <a:rPr lang="en-US" b="1" dirty="0">
                <a:latin typeface="Consolas" panose="020B0609020204030204" pitchFamily="49" charset="0"/>
              </a:rPr>
              <a:t> = </a:t>
            </a:r>
            <a:r>
              <a:rPr lang="en-US" b="1" dirty="0">
                <a:solidFill>
                  <a:srgbClr val="0000FF"/>
                </a:solidFill>
                <a:latin typeface="Consolas" panose="020B0609020204030204" pitchFamily="49" charset="0"/>
              </a:rPr>
              <a:t>function</a:t>
            </a:r>
            <a:r>
              <a:rPr lang="en-US" b="1" dirty="0">
                <a:latin typeface="Consolas" panose="020B0609020204030204" pitchFamily="49" charset="0"/>
              </a:rPr>
              <a:t>(</a:t>
            </a:r>
            <a:r>
              <a:rPr lang="en-US" b="1" dirty="0" err="1">
                <a:latin typeface="Consolas" panose="020B0609020204030204" pitchFamily="49" charset="0"/>
              </a:rPr>
              <a:t>mouseEvent</a:t>
            </a:r>
            <a:r>
              <a:rPr lang="en-US" b="1" dirty="0">
                <a:latin typeface="Consolas" panose="020B0609020204030204" pitchFamily="49" charset="0"/>
              </a:rPr>
              <a:t>: any) { 	console.log(</a:t>
            </a:r>
            <a:r>
              <a:rPr lang="en-US" b="1" dirty="0" err="1">
                <a:latin typeface="Consolas" panose="020B0609020204030204" pitchFamily="49" charset="0"/>
              </a:rPr>
              <a:t>mouseEvent.button</a:t>
            </a:r>
            <a:r>
              <a:rPr lang="en-US" b="1" dirty="0">
                <a:latin typeface="Consolas" panose="020B0609020204030204" pitchFamily="49" charset="0"/>
              </a:rPr>
              <a:t>); </a:t>
            </a:r>
            <a:r>
              <a:rPr lang="en-US" b="1" dirty="0">
                <a:solidFill>
                  <a:srgbClr val="008000"/>
                </a:solidFill>
                <a:latin typeface="Consolas" panose="020B0609020204030204" pitchFamily="49" charset="0"/>
              </a:rPr>
              <a:t>//&lt;- Now, no error is given </a:t>
            </a:r>
          </a:p>
          <a:p>
            <a:pPr lvl="1"/>
            <a:r>
              <a:rPr lang="en-US" b="1" dirty="0">
                <a:latin typeface="Consolas" panose="020B0609020204030204" pitchFamily="49" charset="0"/>
              </a:rPr>
              <a:t>};</a:t>
            </a:r>
            <a:br>
              <a:rPr lang="en-US" b="1" dirty="0">
                <a:latin typeface="Consolas" panose="020B0609020204030204" pitchFamily="49" charset="0"/>
              </a:rPr>
            </a:br>
            <a:endParaRPr lang="en-US" b="1" dirty="0">
              <a:latin typeface="Consolas" panose="020B0609020204030204" pitchFamily="49" charset="0"/>
            </a:endParaRPr>
          </a:p>
          <a:p>
            <a:pPr marL="0" lvl="1"/>
            <a:r>
              <a:rPr lang="en-US" b="1" dirty="0">
                <a:solidFill>
                  <a:schemeClr val="accent2"/>
                </a:solidFill>
                <a:latin typeface="Consolas" panose="020B0609020204030204" pitchFamily="49" charset="0"/>
              </a:rPr>
              <a:t>explicit type override the contextual type:</a:t>
            </a:r>
          </a:p>
          <a:p>
            <a:pPr marL="0" lvl="1"/>
            <a:endParaRPr lang="en-US" b="1" dirty="0">
              <a:latin typeface="Consolas" panose="020B0609020204030204" pitchFamily="49" charset="0"/>
              <a:ea typeface="Tahoma" panose="020B0604030504040204" pitchFamily="34" charset="0"/>
              <a:cs typeface="Tahoma" panose="020B0604030504040204" pitchFamily="34" charset="0"/>
            </a:endParaRPr>
          </a:p>
          <a:p>
            <a:pPr marL="457200" lvl="2"/>
            <a:r>
              <a:rPr lang="en-US" b="1" dirty="0">
                <a:solidFill>
                  <a:srgbClr val="0000FF"/>
                </a:solidFill>
                <a:latin typeface="Consolas" panose="020B0609020204030204" pitchFamily="49" charset="0"/>
              </a:rPr>
              <a:t>function</a:t>
            </a:r>
            <a:r>
              <a:rPr lang="en-US" b="1" dirty="0">
                <a:latin typeface="Consolas" panose="020B0609020204030204" pitchFamily="49" charset="0"/>
              </a:rPr>
              <a:t> </a:t>
            </a:r>
            <a:r>
              <a:rPr lang="en-US" b="1" dirty="0" err="1">
                <a:latin typeface="Consolas" panose="020B0609020204030204" pitchFamily="49" charset="0"/>
              </a:rPr>
              <a:t>createZoo</a:t>
            </a:r>
            <a:r>
              <a:rPr lang="en-US" b="1" dirty="0">
                <a:latin typeface="Consolas" panose="020B0609020204030204" pitchFamily="49" charset="0"/>
              </a:rPr>
              <a:t>(): Animal[] { </a:t>
            </a:r>
          </a:p>
          <a:p>
            <a:pPr marL="457200" lvl="2"/>
            <a:r>
              <a:rPr lang="en-US" b="1" dirty="0">
                <a:solidFill>
                  <a:srgbClr val="0000FF"/>
                </a:solidFill>
                <a:latin typeface="Consolas" panose="020B0609020204030204" pitchFamily="49" charset="0"/>
              </a:rPr>
              <a:t>	return</a:t>
            </a:r>
            <a:r>
              <a:rPr lang="en-US" b="1" dirty="0">
                <a:latin typeface="Consolas" panose="020B0609020204030204" pitchFamily="49" charset="0"/>
              </a:rPr>
              <a:t> [</a:t>
            </a:r>
            <a:r>
              <a:rPr lang="en-US" b="1" dirty="0">
                <a:solidFill>
                  <a:srgbClr val="0000FF"/>
                </a:solidFill>
                <a:latin typeface="Consolas" panose="020B0609020204030204" pitchFamily="49" charset="0"/>
              </a:rPr>
              <a:t>new</a:t>
            </a:r>
            <a:r>
              <a:rPr lang="en-US" b="1" dirty="0">
                <a:latin typeface="Consolas" panose="020B0609020204030204" pitchFamily="49" charset="0"/>
              </a:rPr>
              <a:t> Rhino(), </a:t>
            </a:r>
            <a:r>
              <a:rPr lang="en-US" b="1" dirty="0">
                <a:solidFill>
                  <a:srgbClr val="0000FF"/>
                </a:solidFill>
                <a:latin typeface="Consolas" panose="020B0609020204030204" pitchFamily="49" charset="0"/>
              </a:rPr>
              <a:t>new</a:t>
            </a:r>
            <a:r>
              <a:rPr lang="en-US" b="1" dirty="0">
                <a:latin typeface="Consolas" panose="020B0609020204030204" pitchFamily="49" charset="0"/>
              </a:rPr>
              <a:t> Elephant(), </a:t>
            </a:r>
            <a:r>
              <a:rPr lang="en-US" b="1" dirty="0">
                <a:solidFill>
                  <a:srgbClr val="0000FF"/>
                </a:solidFill>
                <a:latin typeface="Consolas" panose="020B0609020204030204" pitchFamily="49" charset="0"/>
              </a:rPr>
              <a:t>new</a:t>
            </a:r>
            <a:r>
              <a:rPr lang="en-US" b="1" dirty="0">
                <a:latin typeface="Consolas" panose="020B0609020204030204" pitchFamily="49" charset="0"/>
              </a:rPr>
              <a:t> Snake()]; </a:t>
            </a:r>
          </a:p>
          <a:p>
            <a:pPr marL="457200" lvl="2"/>
            <a:r>
              <a:rPr lang="en-US" b="1" dirty="0">
                <a:latin typeface="Consolas" panose="020B0609020204030204" pitchFamily="49" charset="0"/>
              </a:rPr>
              <a:t>}</a:t>
            </a:r>
          </a:p>
          <a:p>
            <a:pPr marL="457200" lvl="2"/>
            <a:endParaRPr lang="en-US" b="1" dirty="0">
              <a:latin typeface="Consolas" panose="020B0609020204030204" pitchFamily="49"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43796360"/>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 Compatibility</a:t>
            </a:r>
            <a:endParaRPr lang="ru-RU" dirty="0"/>
          </a:p>
        </p:txBody>
      </p:sp>
      <p:sp>
        <p:nvSpPr>
          <p:cNvPr id="3" name="Прямоугольник 4"/>
          <p:cNvSpPr/>
          <p:nvPr/>
        </p:nvSpPr>
        <p:spPr>
          <a:xfrm>
            <a:off x="760412" y="1447800"/>
            <a:ext cx="11201400" cy="5078313"/>
          </a:xfrm>
          <a:prstGeom prst="rect">
            <a:avLst/>
          </a:prstGeom>
        </p:spPr>
        <p:txBody>
          <a:bodyPr wrap="square">
            <a:spAutoFit/>
          </a:bodyPr>
          <a:lstStyle/>
          <a:p>
            <a:pPr lvl="1"/>
            <a:r>
              <a:rPr lang="en-US" b="1" dirty="0">
                <a:solidFill>
                  <a:srgbClr val="0000FF"/>
                </a:solidFill>
                <a:latin typeface="Consolas" panose="020B0609020204030204" pitchFamily="49" charset="0"/>
              </a:rPr>
              <a:t>interface</a:t>
            </a:r>
            <a:r>
              <a:rPr lang="en-US" b="1" dirty="0">
                <a:latin typeface="Consolas" panose="020B0609020204030204" pitchFamily="49" charset="0"/>
              </a:rPr>
              <a:t> Named { name: string; } </a:t>
            </a:r>
          </a:p>
          <a:p>
            <a:pPr lvl="1"/>
            <a:r>
              <a:rPr lang="en-US" b="1" dirty="0">
                <a:solidFill>
                  <a:srgbClr val="0000FF"/>
                </a:solidFill>
                <a:latin typeface="Consolas" panose="020B0609020204030204" pitchFamily="49" charset="0"/>
              </a:rPr>
              <a:t>class</a:t>
            </a:r>
            <a:r>
              <a:rPr lang="en-US" b="1" dirty="0">
                <a:latin typeface="Consolas" panose="020B0609020204030204" pitchFamily="49" charset="0"/>
              </a:rPr>
              <a:t> Person { </a:t>
            </a:r>
          </a:p>
          <a:p>
            <a:pPr lvl="1"/>
            <a:r>
              <a:rPr lang="en-US" b="1" dirty="0">
                <a:latin typeface="Consolas" panose="020B0609020204030204" pitchFamily="49" charset="0"/>
              </a:rPr>
              <a:t>	name: string; </a:t>
            </a:r>
          </a:p>
          <a:p>
            <a:pPr lvl="1"/>
            <a:r>
              <a:rPr lang="en-US" b="1" dirty="0">
                <a:latin typeface="Consolas" panose="020B0609020204030204" pitchFamily="49" charset="0"/>
              </a:rPr>
              <a:t>} </a:t>
            </a:r>
            <a:endParaRPr lang="en-US" b="1" dirty="0">
              <a:solidFill>
                <a:srgbClr val="0000FF"/>
              </a:solidFill>
              <a:latin typeface="Consolas" panose="020B0609020204030204" pitchFamily="49" charset="0"/>
            </a:endParaRPr>
          </a:p>
          <a:p>
            <a:pPr lvl="1"/>
            <a:r>
              <a:rPr lang="en-US" b="1" dirty="0" err="1">
                <a:solidFill>
                  <a:srgbClr val="0000FF"/>
                </a:solidFill>
                <a:latin typeface="Consolas" panose="020B0609020204030204" pitchFamily="49" charset="0"/>
              </a:rPr>
              <a:t>var</a:t>
            </a:r>
            <a:r>
              <a:rPr lang="en-US" b="1" dirty="0">
                <a:latin typeface="Consolas" panose="020B0609020204030204" pitchFamily="49" charset="0"/>
              </a:rPr>
              <a:t> p: Named; </a:t>
            </a:r>
            <a:r>
              <a:rPr lang="en-US" b="1" dirty="0">
                <a:solidFill>
                  <a:srgbClr val="008000"/>
                </a:solidFill>
                <a:latin typeface="Consolas" panose="020B0609020204030204" pitchFamily="49" charset="0"/>
              </a:rPr>
              <a:t>// OK, because of structural typing</a:t>
            </a:r>
            <a:r>
              <a:rPr lang="en-US" b="1" dirty="0">
                <a:latin typeface="Consolas" panose="020B0609020204030204" pitchFamily="49" charset="0"/>
              </a:rPr>
              <a:t> </a:t>
            </a:r>
          </a:p>
          <a:p>
            <a:pPr lvl="1"/>
            <a:r>
              <a:rPr lang="en-US" b="1" dirty="0">
                <a:latin typeface="Consolas" panose="020B0609020204030204" pitchFamily="49" charset="0"/>
              </a:rPr>
              <a:t>p = </a:t>
            </a:r>
            <a:r>
              <a:rPr lang="en-US" b="1" dirty="0">
                <a:solidFill>
                  <a:srgbClr val="0000FF"/>
                </a:solidFill>
                <a:latin typeface="Consolas" panose="020B0609020204030204" pitchFamily="49" charset="0"/>
              </a:rPr>
              <a:t>new</a:t>
            </a:r>
            <a:r>
              <a:rPr lang="en-US" b="1" dirty="0">
                <a:latin typeface="Consolas" panose="020B0609020204030204" pitchFamily="49" charset="0"/>
              </a:rPr>
              <a:t> Person();</a:t>
            </a:r>
          </a:p>
          <a:p>
            <a:pPr lvl="1"/>
            <a:endParaRPr lang="en-US" b="1" dirty="0">
              <a:latin typeface="Consolas" panose="020B0609020204030204" pitchFamily="49" charset="0"/>
              <a:ea typeface="Tahoma" panose="020B0604030504040204" pitchFamily="34" charset="0"/>
              <a:cs typeface="Tahoma" panose="020B0604030504040204" pitchFamily="34" charset="0"/>
            </a:endParaRPr>
          </a:p>
          <a:p>
            <a:pPr lvl="1" indent="-457200"/>
            <a:r>
              <a:rPr lang="en-US" b="1" dirty="0">
                <a:solidFill>
                  <a:schemeClr val="accent2"/>
                </a:solidFill>
                <a:latin typeface="Consolas" panose="020B0609020204030204" pitchFamily="49" charset="0"/>
              </a:rPr>
              <a:t>x is compatible with y if y has at least the same members as x:</a:t>
            </a:r>
          </a:p>
          <a:p>
            <a:pPr lvl="2" indent="-457200"/>
            <a:r>
              <a:rPr lang="en-US" b="1" dirty="0">
                <a:solidFill>
                  <a:srgbClr val="0000FF"/>
                </a:solidFill>
                <a:latin typeface="Consolas" panose="020B0609020204030204" pitchFamily="49" charset="0"/>
              </a:rPr>
              <a:t>interface</a:t>
            </a:r>
            <a:r>
              <a:rPr lang="en-US" b="1" dirty="0">
                <a:latin typeface="Consolas" panose="020B0609020204030204" pitchFamily="49" charset="0"/>
              </a:rPr>
              <a:t> Named {  name: string; } </a:t>
            </a:r>
          </a:p>
          <a:p>
            <a:pPr lvl="2" indent="-457200"/>
            <a:r>
              <a:rPr lang="en-US" b="1" dirty="0" err="1">
                <a:solidFill>
                  <a:srgbClr val="0000FF"/>
                </a:solidFill>
                <a:latin typeface="Consolas" panose="020B0609020204030204" pitchFamily="49" charset="0"/>
              </a:rPr>
              <a:t>var</a:t>
            </a:r>
            <a:r>
              <a:rPr lang="en-US" b="1" dirty="0">
                <a:latin typeface="Consolas" panose="020B0609020204030204" pitchFamily="49" charset="0"/>
              </a:rPr>
              <a:t> x: Named; </a:t>
            </a:r>
            <a:r>
              <a:rPr lang="en-US" b="1" dirty="0">
                <a:solidFill>
                  <a:srgbClr val="008000"/>
                </a:solidFill>
                <a:latin typeface="Consolas" panose="020B0609020204030204" pitchFamily="49" charset="0"/>
              </a:rPr>
              <a:t>// y’s inferred type is { name: string; location: string; }</a:t>
            </a:r>
            <a:r>
              <a:rPr lang="en-US" b="1" dirty="0">
                <a:latin typeface="Consolas" panose="020B0609020204030204" pitchFamily="49" charset="0"/>
              </a:rPr>
              <a:t> </a:t>
            </a:r>
          </a:p>
          <a:p>
            <a:pPr lvl="2" indent="-457200"/>
            <a:r>
              <a:rPr lang="en-US" b="1" dirty="0" err="1">
                <a:solidFill>
                  <a:srgbClr val="0000FF"/>
                </a:solidFill>
                <a:latin typeface="Consolas" panose="020B0609020204030204" pitchFamily="49" charset="0"/>
              </a:rPr>
              <a:t>var</a:t>
            </a:r>
            <a:r>
              <a:rPr lang="en-US" b="1" dirty="0">
                <a:latin typeface="Consolas" panose="020B0609020204030204" pitchFamily="49" charset="0"/>
              </a:rPr>
              <a:t> y = { name: </a:t>
            </a:r>
            <a:r>
              <a:rPr lang="en-US" b="1" dirty="0">
                <a:solidFill>
                  <a:srgbClr val="A31515"/>
                </a:solidFill>
                <a:latin typeface="Consolas" panose="020B0609020204030204" pitchFamily="49" charset="0"/>
              </a:rPr>
              <a:t>'Alice'</a:t>
            </a:r>
            <a:r>
              <a:rPr lang="en-US" b="1" dirty="0">
                <a:latin typeface="Consolas" panose="020B0609020204030204" pitchFamily="49" charset="0"/>
              </a:rPr>
              <a:t>, location: </a:t>
            </a:r>
            <a:r>
              <a:rPr lang="en-US" b="1" dirty="0">
                <a:solidFill>
                  <a:srgbClr val="A31515"/>
                </a:solidFill>
                <a:latin typeface="Consolas" panose="020B0609020204030204" pitchFamily="49" charset="0"/>
              </a:rPr>
              <a:t>'Seattle'</a:t>
            </a:r>
            <a:r>
              <a:rPr lang="en-US" b="1" dirty="0">
                <a:latin typeface="Consolas" panose="020B0609020204030204" pitchFamily="49" charset="0"/>
              </a:rPr>
              <a:t> }; </a:t>
            </a:r>
          </a:p>
          <a:p>
            <a:pPr lvl="2" indent="-457200"/>
            <a:r>
              <a:rPr lang="en-US" b="1" dirty="0">
                <a:latin typeface="Consolas" panose="020B0609020204030204" pitchFamily="49" charset="0"/>
              </a:rPr>
              <a:t>x = y; </a:t>
            </a:r>
            <a:r>
              <a:rPr lang="en-US" b="1" dirty="0">
                <a:solidFill>
                  <a:srgbClr val="008000"/>
                </a:solidFill>
                <a:latin typeface="Consolas" panose="020B0609020204030204" pitchFamily="49" charset="0"/>
              </a:rPr>
              <a:t>// OK!</a:t>
            </a:r>
          </a:p>
          <a:p>
            <a:pPr lvl="2" indent="-914400"/>
            <a:endParaRPr lang="en-US" b="1" dirty="0">
              <a:latin typeface="Consolas" panose="020B0609020204030204" pitchFamily="49" charset="0"/>
            </a:endParaRPr>
          </a:p>
          <a:p>
            <a:pPr lvl="2" indent="-914400"/>
            <a:r>
              <a:rPr lang="en-US" b="1" dirty="0">
                <a:solidFill>
                  <a:schemeClr val="accent2"/>
                </a:solidFill>
                <a:latin typeface="Consolas" panose="020B0609020204030204" pitchFamily="49" charset="0"/>
              </a:rPr>
              <a:t>the same for checking function call arguments:</a:t>
            </a:r>
          </a:p>
          <a:p>
            <a:r>
              <a:rPr lang="en-US" b="1" dirty="0">
                <a:solidFill>
                  <a:srgbClr val="0000FF"/>
                </a:solidFill>
                <a:latin typeface="Consolas" panose="020B0609020204030204" pitchFamily="49" charset="0"/>
              </a:rPr>
              <a:t>	function</a:t>
            </a:r>
            <a:r>
              <a:rPr lang="en-US" b="1" dirty="0">
                <a:solidFill>
                  <a:srgbClr val="000000"/>
                </a:solidFill>
                <a:latin typeface="Consolas" panose="020B0609020204030204" pitchFamily="49" charset="0"/>
              </a:rPr>
              <a:t> greet(n: Named) { </a:t>
            </a:r>
          </a:p>
          <a:p>
            <a:r>
              <a:rPr lang="en-US" b="1" dirty="0">
                <a:solidFill>
                  <a:srgbClr val="000000"/>
                </a:solidFill>
                <a:latin typeface="Consolas" panose="020B0609020204030204" pitchFamily="49" charset="0"/>
              </a:rPr>
              <a:t>		alert(</a:t>
            </a:r>
            <a:r>
              <a:rPr lang="en-US" b="1" dirty="0">
                <a:solidFill>
                  <a:srgbClr val="A31515"/>
                </a:solidFill>
                <a:latin typeface="Consolas" panose="020B0609020204030204" pitchFamily="49" charset="0"/>
              </a:rPr>
              <a:t>'Hello, '</a:t>
            </a:r>
            <a:r>
              <a:rPr lang="en-US" b="1" dirty="0">
                <a:solidFill>
                  <a:srgbClr val="000000"/>
                </a:solidFill>
                <a:latin typeface="Consolas" panose="020B0609020204030204" pitchFamily="49" charset="0"/>
              </a:rPr>
              <a:t> + n.name); </a:t>
            </a:r>
          </a:p>
          <a:p>
            <a:r>
              <a:rPr lang="en-US" b="1" dirty="0">
                <a:solidFill>
                  <a:srgbClr val="000000"/>
                </a:solidFill>
                <a:latin typeface="Consolas" panose="020B0609020204030204" pitchFamily="49" charset="0"/>
              </a:rPr>
              <a:t>	} </a:t>
            </a:r>
          </a:p>
          <a:p>
            <a:r>
              <a:rPr lang="en-US" b="1" dirty="0">
                <a:solidFill>
                  <a:srgbClr val="000000"/>
                </a:solidFill>
                <a:latin typeface="Consolas" panose="020B0609020204030204" pitchFamily="49" charset="0"/>
              </a:rPr>
              <a:t>	greet(y); </a:t>
            </a:r>
            <a:r>
              <a:rPr lang="en-US" b="1" dirty="0">
                <a:solidFill>
                  <a:srgbClr val="008000"/>
                </a:solidFill>
                <a:latin typeface="Consolas" panose="020B0609020204030204" pitchFamily="49" charset="0"/>
              </a:rPr>
              <a:t>// OK</a:t>
            </a:r>
            <a:endParaRPr lang="en-US" b="1" dirty="0">
              <a:solidFill>
                <a:schemeClr val="accent2"/>
              </a:solidFill>
              <a:latin typeface="Consolas" panose="020B0609020204030204" pitchFamily="49"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966286974"/>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470018" name="Rectangle 2"/>
          <p:cNvSpPr>
            <a:spLocks noGrp="1" noChangeArrowheads="1"/>
          </p:cNvSpPr>
          <p:nvPr>
            <p:ph type="title"/>
          </p:nvPr>
        </p:nvSpPr>
        <p:spPr>
          <a:xfrm>
            <a:off x="608012" y="457200"/>
            <a:ext cx="11201400" cy="845299"/>
          </a:xfrm>
        </p:spPr>
        <p:txBody>
          <a:bodyPr/>
          <a:lstStyle/>
          <a:p>
            <a:pPr>
              <a:lnSpc>
                <a:spcPct val="100000"/>
              </a:lnSpc>
            </a:pPr>
            <a:r>
              <a:rPr lang="en-US" sz="3600" dirty="0"/>
              <a:t>Typescript: Adding unions</a:t>
            </a:r>
            <a:endParaRPr lang="en-US" sz="3600" dirty="0">
              <a:solidFill>
                <a:schemeClr val="accent1">
                  <a:lumMod val="60000"/>
                  <a:lumOff val="40000"/>
                </a:schemeClr>
              </a:solidFill>
            </a:endParaRPr>
          </a:p>
        </p:txBody>
      </p:sp>
      <p:sp>
        <p:nvSpPr>
          <p:cNvPr id="470019" name="Rectangle 3"/>
          <p:cNvSpPr>
            <a:spLocks noGrp="1" noChangeArrowheads="1"/>
          </p:cNvSpPr>
          <p:nvPr>
            <p:ph idx="4294967295"/>
          </p:nvPr>
        </p:nvSpPr>
        <p:spPr>
          <a:xfrm>
            <a:off x="608012" y="1434164"/>
            <a:ext cx="11201400" cy="5080936"/>
          </a:xfrm>
        </p:spPr>
        <p:txBody>
          <a:bodyPr>
            <a:normAutofit/>
          </a:bodyPr>
          <a:lstStyle/>
          <a:p>
            <a:pPr marL="0" indent="0">
              <a:lnSpc>
                <a:spcPct val="100000"/>
              </a:lnSpc>
              <a:buNone/>
            </a:pPr>
            <a:endParaRPr lang="en-US" sz="2800" dirty="0">
              <a:solidFill>
                <a:schemeClr val="accent1">
                  <a:lumMod val="60000"/>
                  <a:lumOff val="40000"/>
                </a:schemeClr>
              </a:solidFill>
            </a:endParaRPr>
          </a:p>
          <a:p>
            <a:pPr>
              <a:lnSpc>
                <a:spcPct val="100000"/>
              </a:lnSpc>
              <a:spcBef>
                <a:spcPts val="0"/>
              </a:spcBef>
              <a:spcAft>
                <a:spcPts val="0"/>
              </a:spcAft>
            </a:pPr>
            <a:endParaRPr lang="en-US" sz="2800" dirty="0">
              <a:solidFill>
                <a:schemeClr val="accent1">
                  <a:lumMod val="60000"/>
                  <a:lumOff val="40000"/>
                </a:schemeClr>
              </a:solidFill>
            </a:endParaRPr>
          </a:p>
        </p:txBody>
      </p:sp>
      <p:sp>
        <p:nvSpPr>
          <p:cNvPr id="6" name="Rectangle 4"/>
          <p:cNvSpPr>
            <a:spLocks noChangeArrowheads="1"/>
          </p:cNvSpPr>
          <p:nvPr/>
        </p:nvSpPr>
        <p:spPr bwMode="auto">
          <a:xfrm>
            <a:off x="303212" y="1371600"/>
            <a:ext cx="9599611" cy="3477875"/>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buClr>
                <a:schemeClr val="accent5">
                  <a:lumMod val="40000"/>
                  <a:lumOff val="60000"/>
                </a:schemeClr>
              </a:buClr>
              <a:buSzPct val="70000"/>
            </a:pPr>
            <a:r>
              <a:rPr lang="en-US" sz="2000" b="1" noProof="1">
                <a:latin typeface="Consolas" pitchFamily="49" charset="0"/>
                <a:cs typeface="Consolas" pitchFamily="49" charset="0"/>
              </a:rPr>
              <a:t>type nameOrNameArray = </a:t>
            </a:r>
            <a:r>
              <a:rPr lang="en-US" sz="2000" b="1" noProof="1">
                <a:solidFill>
                  <a:srgbClr val="FF0000"/>
                </a:solidFill>
                <a:latin typeface="Consolas" pitchFamily="49" charset="0"/>
                <a:cs typeface="Consolas" pitchFamily="49" charset="0"/>
              </a:rPr>
              <a:t>string | string[]</a:t>
            </a:r>
            <a:r>
              <a:rPr lang="en-US" sz="2000" b="1" noProof="1">
                <a:latin typeface="Consolas" pitchFamily="49" charset="0"/>
                <a:cs typeface="Consolas" pitchFamily="49" charset="0"/>
              </a:rPr>
              <a:t>;</a:t>
            </a:r>
          </a:p>
          <a:p>
            <a:pPr eaLnBrk="0" hangingPunct="0">
              <a:buClr>
                <a:schemeClr val="accent5">
                  <a:lumMod val="40000"/>
                  <a:lumOff val="60000"/>
                </a:schemeClr>
              </a:buClr>
              <a:buSzPct val="70000"/>
            </a:pPr>
            <a:endParaRPr lang="en-US" sz="2000" b="1" noProof="1">
              <a:solidFill>
                <a:schemeClr val="accent1">
                  <a:lumMod val="60000"/>
                  <a:lumOff val="40000"/>
                </a:schemeClr>
              </a:solidFill>
              <a:effectLst>
                <a:outerShdw blurRad="38100" dist="38100" dir="2700000" algn="tl">
                  <a:srgbClr val="000000">
                    <a:alpha val="43137"/>
                  </a:srgbClr>
                </a:outerShdw>
              </a:effectLst>
              <a:latin typeface="Consolas" pitchFamily="49" charset="0"/>
              <a:cs typeface="Consolas" pitchFamily="49" charset="0"/>
            </a:endParaRPr>
          </a:p>
          <a:p>
            <a:pPr eaLnBrk="0" hangingPunct="0">
              <a:buClr>
                <a:schemeClr val="accent5">
                  <a:lumMod val="40000"/>
                  <a:lumOff val="60000"/>
                </a:schemeClr>
              </a:buClr>
              <a:buSzPct val="70000"/>
            </a:pPr>
            <a:r>
              <a:rPr lang="en-US" sz="2000" b="1" noProof="1">
                <a:latin typeface="Consolas" pitchFamily="49" charset="0"/>
                <a:cs typeface="Consolas" pitchFamily="49" charset="0"/>
              </a:rPr>
              <a:t>function sayHello (name: </a:t>
            </a:r>
            <a:r>
              <a:rPr lang="en-US" sz="2000" b="1" noProof="1">
                <a:solidFill>
                  <a:srgbClr val="FF0000"/>
                </a:solidFill>
                <a:latin typeface="Consolas" pitchFamily="49" charset="0"/>
                <a:cs typeface="Consolas" pitchFamily="49" charset="0"/>
              </a:rPr>
              <a:t>nameOrNameArray</a:t>
            </a:r>
            <a:r>
              <a:rPr lang="en-US" sz="2000" b="1" noProof="1">
                <a:latin typeface="Consolas" pitchFamily="49" charset="0"/>
                <a:cs typeface="Consolas" pitchFamily="49" charset="0"/>
              </a:rPr>
              <a:t>) {</a:t>
            </a:r>
          </a:p>
          <a:p>
            <a:pPr eaLnBrk="0" hangingPunct="0">
              <a:buClr>
                <a:schemeClr val="accent5">
                  <a:lumMod val="40000"/>
                  <a:lumOff val="60000"/>
                </a:schemeClr>
              </a:buClr>
              <a:buSzPct val="70000"/>
            </a:pPr>
            <a:r>
              <a:rPr lang="en-US" sz="2000" b="1" noProof="1">
                <a:latin typeface="Consolas" pitchFamily="49" charset="0"/>
                <a:cs typeface="Consolas" pitchFamily="49" charset="0"/>
              </a:rPr>
              <a:t>  if (typeof name === 'string') {</a:t>
            </a:r>
          </a:p>
          <a:p>
            <a:pPr eaLnBrk="0" hangingPunct="0">
              <a:buClr>
                <a:schemeClr val="accent5">
                  <a:lumMod val="40000"/>
                  <a:lumOff val="60000"/>
                </a:schemeClr>
              </a:buClr>
              <a:buSzPct val="70000"/>
            </a:pPr>
            <a:r>
              <a:rPr lang="en-US" sz="2000" b="1" noProof="1">
                <a:latin typeface="Consolas" pitchFamily="49" charset="0"/>
                <a:cs typeface="Consolas" pitchFamily="49" charset="0"/>
              </a:rPr>
              <a:t>    console.log(name);</a:t>
            </a:r>
          </a:p>
          <a:p>
            <a:pPr eaLnBrk="0" hangingPunct="0">
              <a:buClr>
                <a:schemeClr val="accent5">
                  <a:lumMod val="40000"/>
                  <a:lumOff val="60000"/>
                </a:schemeClr>
              </a:buClr>
              <a:buSzPct val="70000"/>
            </a:pPr>
            <a:r>
              <a:rPr lang="en-US" sz="2000" b="1" noProof="1">
                <a:latin typeface="Consolas" pitchFamily="49" charset="0"/>
                <a:cs typeface="Consolas" pitchFamily="49" charset="0"/>
              </a:rPr>
              <a:t>  } else {</a:t>
            </a:r>
          </a:p>
          <a:p>
            <a:pPr eaLnBrk="0" hangingPunct="0">
              <a:buClr>
                <a:schemeClr val="accent5">
                  <a:lumMod val="40000"/>
                  <a:lumOff val="60000"/>
                </a:schemeClr>
              </a:buClr>
              <a:buSzPct val="70000"/>
            </a:pPr>
            <a:r>
              <a:rPr lang="en-US" sz="2000" b="1" noProof="1">
                <a:latin typeface="Consolas" pitchFamily="49" charset="0"/>
                <a:cs typeface="Consolas" pitchFamily="49" charset="0"/>
              </a:rPr>
              <a:t>    console.log(name.join(' '));</a:t>
            </a:r>
          </a:p>
          <a:p>
            <a:pPr eaLnBrk="0" hangingPunct="0">
              <a:buClr>
                <a:schemeClr val="accent5">
                  <a:lumMod val="40000"/>
                  <a:lumOff val="60000"/>
                </a:schemeClr>
              </a:buClr>
              <a:buSzPct val="70000"/>
            </a:pPr>
            <a:r>
              <a:rPr lang="en-US" sz="2000" b="1" noProof="1">
                <a:latin typeface="Consolas" pitchFamily="49" charset="0"/>
                <a:cs typeface="Consolas" pitchFamily="49" charset="0"/>
              </a:rPr>
              <a:t>  }</a:t>
            </a:r>
          </a:p>
          <a:p>
            <a:pPr eaLnBrk="0" hangingPunct="0">
              <a:buClr>
                <a:schemeClr val="accent5">
                  <a:lumMod val="40000"/>
                  <a:lumOff val="60000"/>
                </a:schemeClr>
              </a:buClr>
              <a:buSzPct val="70000"/>
            </a:pPr>
            <a:r>
              <a:rPr lang="en-US" sz="2000" b="1" noProof="1">
                <a:latin typeface="Consolas" pitchFamily="49" charset="0"/>
                <a:cs typeface="Consolas" pitchFamily="49" charset="0"/>
              </a:rPr>
              <a:t>}</a:t>
            </a:r>
          </a:p>
          <a:p>
            <a:pPr eaLnBrk="0" hangingPunct="0">
              <a:buClr>
                <a:schemeClr val="accent5">
                  <a:lumMod val="40000"/>
                  <a:lumOff val="60000"/>
                </a:schemeClr>
              </a:buClr>
              <a:buSzPct val="70000"/>
            </a:pPr>
            <a:endParaRPr lang="en-US" sz="2000" b="1" noProof="1">
              <a:latin typeface="Consolas" pitchFamily="49" charset="0"/>
              <a:cs typeface="Consolas" pitchFamily="49" charset="0"/>
            </a:endParaRPr>
          </a:p>
          <a:p>
            <a:pPr eaLnBrk="0" hangingPunct="0">
              <a:buClr>
                <a:schemeClr val="accent5">
                  <a:lumMod val="40000"/>
                  <a:lumOff val="60000"/>
                </a:schemeClr>
              </a:buClr>
              <a:buSzPct val="70000"/>
            </a:pPr>
            <a:r>
              <a:rPr lang="en-US" sz="2000" b="1" noProof="1">
                <a:latin typeface="Consolas" pitchFamily="49" charset="0"/>
                <a:cs typeface="Consolas" pitchFamily="49" charset="0"/>
              </a:rPr>
              <a:t>sayHello(['Ivaylo', 'Kenov'])</a:t>
            </a:r>
          </a:p>
        </p:txBody>
      </p:sp>
      <p:sp>
        <p:nvSpPr>
          <p:cNvPr id="7" name="Rectángulo 6">
            <a:extLst>
              <a:ext uri="{FF2B5EF4-FFF2-40B4-BE49-F238E27FC236}">
                <a16:creationId xmlns:a16="http://schemas.microsoft.com/office/drawing/2014/main" id="{7E0EC0DF-AE2D-45E6-8C5B-9FBCA3BF2CD3}"/>
              </a:ext>
            </a:extLst>
          </p:cNvPr>
          <p:cNvSpPr/>
          <p:nvPr/>
        </p:nvSpPr>
        <p:spPr>
          <a:xfrm>
            <a:off x="10606209" y="180232"/>
            <a:ext cx="1301959" cy="830997"/>
          </a:xfrm>
          <a:prstGeom prst="rect">
            <a:avLst/>
          </a:prstGeom>
        </p:spPr>
        <p:txBody>
          <a:bodyPr wrap="none">
            <a:spAutoFit/>
          </a:bodyPr>
          <a:lstStyle/>
          <a:p>
            <a:r>
              <a:rPr lang="en-US" sz="4800" b="1" dirty="0">
                <a:solidFill>
                  <a:srgbClr val="FF0000"/>
                </a:solidFill>
              </a:rPr>
              <a:t>LAB </a:t>
            </a:r>
            <a:endParaRPr lang="es-ES" sz="4800" dirty="0">
              <a:solidFill>
                <a:srgbClr val="FF0000"/>
              </a:solidFill>
            </a:endParaRPr>
          </a:p>
        </p:txBody>
      </p:sp>
    </p:spTree>
    <p:extLst>
      <p:ext uri="{BB962C8B-B14F-4D97-AF65-F5344CB8AC3E}">
        <p14:creationId xmlns:p14="http://schemas.microsoft.com/office/powerpoint/2010/main" val="300213702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Let's Install It</a:t>
            </a:r>
          </a:p>
        </p:txBody>
      </p:sp>
      <p:sp>
        <p:nvSpPr>
          <p:cNvPr id="6" name="Subtitle 5"/>
          <p:cNvSpPr>
            <a:spLocks noGrp="1"/>
          </p:cNvSpPr>
          <p:nvPr>
            <p:ph type="body" idx="4294967295"/>
          </p:nvPr>
        </p:nvSpPr>
        <p:spPr>
          <a:xfrm>
            <a:off x="1828800" y="2906713"/>
            <a:ext cx="10360025" cy="1500187"/>
          </a:xfrm>
        </p:spPr>
        <p:txBody>
          <a:bodyPr/>
          <a:lstStyle/>
          <a:p>
            <a:r>
              <a:rPr lang="en-US"/>
              <a:t>It's very simple actually</a:t>
            </a:r>
            <a:endParaRPr lang="en-US" dirty="0"/>
          </a:p>
        </p:txBody>
      </p:sp>
    </p:spTree>
    <p:extLst>
      <p:ext uri="{BB962C8B-B14F-4D97-AF65-F5344CB8AC3E}">
        <p14:creationId xmlns:p14="http://schemas.microsoft.com/office/powerpoint/2010/main" val="85018580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TypeScript tools</a:t>
            </a:r>
          </a:p>
        </p:txBody>
      </p:sp>
      <p:pic>
        <p:nvPicPr>
          <p:cNvPr id="3" name="Picture 7" descr="https://upload.wikimedia.org/wikipedia/commons/thumb/e/e4/Visual_Studio_2013_Logo.svg/990px-Visual_Studio_2013_Logo.svg.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90677" y="1711300"/>
            <a:ext cx="1227450" cy="1269604"/>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a:blip r:embed="rId3"/>
          <a:stretch>
            <a:fillRect/>
          </a:stretch>
        </p:blipFill>
        <p:spPr>
          <a:xfrm>
            <a:off x="1084070" y="4175826"/>
            <a:ext cx="1234057" cy="1234057"/>
          </a:xfrm>
          <a:prstGeom prst="rect">
            <a:avLst/>
          </a:prstGeom>
        </p:spPr>
      </p:pic>
      <p:pic>
        <p:nvPicPr>
          <p:cNvPr id="5" name="Picture 9" descr="http://static.grayghostvisuals.com/imgblog/st2-logo.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085285" y="1823324"/>
            <a:ext cx="1045557" cy="104555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12" descr="https://upload.wikimedia.org/wikipedia/commons/thumb/8/80/Atom_editor_logo.svg/1118px-Atom_editor_logo.svg.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898000" y="1940578"/>
            <a:ext cx="885501" cy="81104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p:cNvPicPr>
            <a:picLocks noChangeAspect="1"/>
          </p:cNvPicPr>
          <p:nvPr/>
        </p:nvPicPr>
        <p:blipFill>
          <a:blip r:embed="rId6">
            <a:clrChange>
              <a:clrFrom>
                <a:srgbClr val="FFFFFF"/>
              </a:clrFrom>
              <a:clrTo>
                <a:srgbClr val="FFFFFF">
                  <a:alpha val="0"/>
                </a:srgbClr>
              </a:clrTo>
            </a:clrChange>
          </a:blip>
          <a:stretch>
            <a:fillRect/>
          </a:stretch>
        </p:blipFill>
        <p:spPr>
          <a:xfrm>
            <a:off x="4072316" y="4264459"/>
            <a:ext cx="1082778" cy="1056791"/>
          </a:xfrm>
          <a:prstGeom prst="rect">
            <a:avLst/>
          </a:prstGeom>
        </p:spPr>
      </p:pic>
      <p:pic>
        <p:nvPicPr>
          <p:cNvPr id="8" name="Picture 16" descr="http://s27.postimg.org/fgvlqyyb7/webstorm_logo_400x400.png"/>
          <p:cNvPicPr>
            <a:picLocks noChangeAspect="1" noChangeArrowheads="1"/>
          </p:cNvPicPr>
          <p:nvPr/>
        </p:nvPicPr>
        <p:blipFill>
          <a:blip r:embed="rId7"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550659" y="1899472"/>
            <a:ext cx="893258" cy="893258"/>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18" descr="https://upload.wikimedia.org/wikipedia/commons/thumb/9/9f/Vimlogo.svg/605px-Vimlogo.svg.pn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9577576" y="4372448"/>
            <a:ext cx="839422" cy="84081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0" descr="http://codesters.org/media/topics/emacs.pn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909283" y="4335802"/>
            <a:ext cx="914104" cy="914104"/>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p:cNvSpPr txBox="1"/>
          <p:nvPr/>
        </p:nvSpPr>
        <p:spPr>
          <a:xfrm>
            <a:off x="876469" y="3044448"/>
            <a:ext cx="1649259" cy="533917"/>
          </a:xfrm>
          <a:prstGeom prst="rect">
            <a:avLst/>
          </a:prstGeom>
          <a:noFill/>
        </p:spPr>
        <p:txBody>
          <a:bodyPr wrap="none" lIns="179238" tIns="143391" rIns="179238" bIns="143391" rtlCol="0">
            <a:spAutoFit/>
          </a:bodyPr>
          <a:lstStyle/>
          <a:p>
            <a:pPr algn="ctr" defTabSz="914180">
              <a:lnSpc>
                <a:spcPct val="90000"/>
              </a:lnSpc>
              <a:spcAft>
                <a:spcPts val="588"/>
              </a:spcAft>
              <a:defRPr/>
            </a:pPr>
            <a:r>
              <a:rPr lang="en-US" sz="1764" dirty="0">
                <a:gradFill>
                  <a:gsLst>
                    <a:gs pos="2917">
                      <a:srgbClr val="505050"/>
                    </a:gs>
                    <a:gs pos="30000">
                      <a:srgbClr val="505050"/>
                    </a:gs>
                  </a:gsLst>
                  <a:lin ang="5400000" scaled="0"/>
                </a:gradFill>
                <a:latin typeface="Segoe UI"/>
              </a:rPr>
              <a:t>Visual Studio</a:t>
            </a:r>
          </a:p>
        </p:txBody>
      </p:sp>
      <p:sp>
        <p:nvSpPr>
          <p:cNvPr id="12" name="TextBox 11"/>
          <p:cNvSpPr txBox="1"/>
          <p:nvPr/>
        </p:nvSpPr>
        <p:spPr>
          <a:xfrm>
            <a:off x="3797734" y="3044447"/>
            <a:ext cx="1620665" cy="533917"/>
          </a:xfrm>
          <a:prstGeom prst="rect">
            <a:avLst/>
          </a:prstGeom>
          <a:noFill/>
        </p:spPr>
        <p:txBody>
          <a:bodyPr wrap="none" lIns="179238" tIns="143391" rIns="179238" bIns="143391" rtlCol="0">
            <a:spAutoFit/>
          </a:bodyPr>
          <a:lstStyle/>
          <a:p>
            <a:pPr algn="ctr" defTabSz="914180">
              <a:lnSpc>
                <a:spcPct val="90000"/>
              </a:lnSpc>
              <a:spcAft>
                <a:spcPts val="588"/>
              </a:spcAft>
              <a:defRPr/>
            </a:pPr>
            <a:r>
              <a:rPr lang="en-US" sz="1764" dirty="0">
                <a:gradFill>
                  <a:gsLst>
                    <a:gs pos="2917">
                      <a:srgbClr val="505050"/>
                    </a:gs>
                    <a:gs pos="30000">
                      <a:srgbClr val="505050"/>
                    </a:gs>
                  </a:gsLst>
                  <a:lin ang="5400000" scaled="0"/>
                </a:gradFill>
                <a:latin typeface="Segoe UI"/>
              </a:rPr>
              <a:t>Sublime Text</a:t>
            </a:r>
          </a:p>
        </p:txBody>
      </p:sp>
      <p:sp>
        <p:nvSpPr>
          <p:cNvPr id="13" name="TextBox 12"/>
          <p:cNvSpPr txBox="1"/>
          <p:nvPr/>
        </p:nvSpPr>
        <p:spPr>
          <a:xfrm>
            <a:off x="6887180" y="3044446"/>
            <a:ext cx="907143" cy="533917"/>
          </a:xfrm>
          <a:prstGeom prst="rect">
            <a:avLst/>
          </a:prstGeom>
          <a:noFill/>
        </p:spPr>
        <p:txBody>
          <a:bodyPr wrap="none" lIns="179238" tIns="143391" rIns="179238" bIns="143391" rtlCol="0">
            <a:spAutoFit/>
          </a:bodyPr>
          <a:lstStyle/>
          <a:p>
            <a:pPr algn="ctr" defTabSz="914180">
              <a:lnSpc>
                <a:spcPct val="90000"/>
              </a:lnSpc>
              <a:spcAft>
                <a:spcPts val="588"/>
              </a:spcAft>
              <a:defRPr/>
            </a:pPr>
            <a:r>
              <a:rPr lang="en-US" sz="1764" dirty="0">
                <a:gradFill>
                  <a:gsLst>
                    <a:gs pos="2917">
                      <a:srgbClr val="505050"/>
                    </a:gs>
                    <a:gs pos="30000">
                      <a:srgbClr val="505050"/>
                    </a:gs>
                  </a:gsLst>
                  <a:lin ang="5400000" scaled="0"/>
                </a:gradFill>
                <a:latin typeface="Segoe UI"/>
              </a:rPr>
              <a:t>Atom</a:t>
            </a:r>
          </a:p>
        </p:txBody>
      </p:sp>
      <p:sp>
        <p:nvSpPr>
          <p:cNvPr id="14" name="TextBox 13"/>
          <p:cNvSpPr txBox="1"/>
          <p:nvPr/>
        </p:nvSpPr>
        <p:spPr>
          <a:xfrm>
            <a:off x="9290364" y="3044445"/>
            <a:ext cx="1413848" cy="533917"/>
          </a:xfrm>
          <a:prstGeom prst="rect">
            <a:avLst/>
          </a:prstGeom>
          <a:noFill/>
        </p:spPr>
        <p:txBody>
          <a:bodyPr wrap="none" lIns="179238" tIns="143391" rIns="179238" bIns="143391" rtlCol="0">
            <a:spAutoFit/>
          </a:bodyPr>
          <a:lstStyle/>
          <a:p>
            <a:pPr algn="ctr" defTabSz="914180">
              <a:lnSpc>
                <a:spcPct val="90000"/>
              </a:lnSpc>
              <a:spcAft>
                <a:spcPts val="588"/>
              </a:spcAft>
              <a:defRPr/>
            </a:pPr>
            <a:r>
              <a:rPr lang="en-US" sz="1764" dirty="0" err="1">
                <a:gradFill>
                  <a:gsLst>
                    <a:gs pos="2917">
                      <a:srgbClr val="505050"/>
                    </a:gs>
                    <a:gs pos="30000">
                      <a:srgbClr val="505050"/>
                    </a:gs>
                  </a:gsLst>
                  <a:lin ang="5400000" scaled="0"/>
                </a:gradFill>
                <a:latin typeface="Segoe UI"/>
              </a:rPr>
              <a:t>WebStorm</a:t>
            </a:r>
            <a:endParaRPr lang="en-US" sz="1764" dirty="0">
              <a:gradFill>
                <a:gsLst>
                  <a:gs pos="2917">
                    <a:srgbClr val="505050"/>
                  </a:gs>
                  <a:gs pos="30000">
                    <a:srgbClr val="505050"/>
                  </a:gs>
                </a:gsLst>
                <a:lin ang="5400000" scaled="0"/>
              </a:gradFill>
              <a:latin typeface="Segoe UI"/>
            </a:endParaRPr>
          </a:p>
        </p:txBody>
      </p:sp>
      <p:sp>
        <p:nvSpPr>
          <p:cNvPr id="15" name="TextBox 14"/>
          <p:cNvSpPr txBox="1"/>
          <p:nvPr/>
        </p:nvSpPr>
        <p:spPr>
          <a:xfrm>
            <a:off x="584250" y="5444026"/>
            <a:ext cx="2233701" cy="533917"/>
          </a:xfrm>
          <a:prstGeom prst="rect">
            <a:avLst/>
          </a:prstGeom>
          <a:noFill/>
        </p:spPr>
        <p:txBody>
          <a:bodyPr wrap="none" lIns="179238" tIns="143391" rIns="179238" bIns="143391" rtlCol="0">
            <a:spAutoFit/>
          </a:bodyPr>
          <a:lstStyle/>
          <a:p>
            <a:pPr algn="ctr" defTabSz="914180">
              <a:lnSpc>
                <a:spcPct val="90000"/>
              </a:lnSpc>
              <a:spcAft>
                <a:spcPts val="588"/>
              </a:spcAft>
              <a:defRPr/>
            </a:pPr>
            <a:r>
              <a:rPr lang="en-US" sz="1764" dirty="0">
                <a:gradFill>
                  <a:gsLst>
                    <a:gs pos="2917">
                      <a:srgbClr val="505050"/>
                    </a:gs>
                    <a:gs pos="30000">
                      <a:srgbClr val="505050"/>
                    </a:gs>
                  </a:gsLst>
                  <a:lin ang="5400000" scaled="0"/>
                </a:gradFill>
                <a:latin typeface="Segoe UI"/>
              </a:rPr>
              <a:t>Visual Studio Code</a:t>
            </a:r>
          </a:p>
        </p:txBody>
      </p:sp>
      <p:sp>
        <p:nvSpPr>
          <p:cNvPr id="16" name="TextBox 15"/>
          <p:cNvSpPr txBox="1"/>
          <p:nvPr/>
        </p:nvSpPr>
        <p:spPr>
          <a:xfrm>
            <a:off x="4088505" y="5441673"/>
            <a:ext cx="1039114" cy="533917"/>
          </a:xfrm>
          <a:prstGeom prst="rect">
            <a:avLst/>
          </a:prstGeom>
          <a:noFill/>
        </p:spPr>
        <p:txBody>
          <a:bodyPr wrap="none" lIns="179238" tIns="143391" rIns="179238" bIns="143391" rtlCol="0">
            <a:spAutoFit/>
          </a:bodyPr>
          <a:lstStyle/>
          <a:p>
            <a:pPr algn="ctr" defTabSz="914180">
              <a:lnSpc>
                <a:spcPct val="90000"/>
              </a:lnSpc>
              <a:spcAft>
                <a:spcPts val="588"/>
              </a:spcAft>
              <a:defRPr/>
            </a:pPr>
            <a:r>
              <a:rPr lang="en-US" sz="1764" dirty="0">
                <a:gradFill>
                  <a:gsLst>
                    <a:gs pos="2917">
                      <a:srgbClr val="505050"/>
                    </a:gs>
                    <a:gs pos="30000">
                      <a:srgbClr val="505050"/>
                    </a:gs>
                  </a:gsLst>
                  <a:lin ang="5400000" scaled="0"/>
                </a:gradFill>
                <a:latin typeface="Segoe UI"/>
              </a:rPr>
              <a:t>Eclipse</a:t>
            </a:r>
          </a:p>
        </p:txBody>
      </p:sp>
      <p:sp>
        <p:nvSpPr>
          <p:cNvPr id="17" name="TextBox 16"/>
          <p:cNvSpPr txBox="1"/>
          <p:nvPr/>
        </p:nvSpPr>
        <p:spPr>
          <a:xfrm>
            <a:off x="6872702" y="5438887"/>
            <a:ext cx="987268" cy="533917"/>
          </a:xfrm>
          <a:prstGeom prst="rect">
            <a:avLst/>
          </a:prstGeom>
          <a:noFill/>
        </p:spPr>
        <p:txBody>
          <a:bodyPr wrap="none" lIns="179238" tIns="143391" rIns="179238" bIns="143391" rtlCol="0">
            <a:spAutoFit/>
          </a:bodyPr>
          <a:lstStyle/>
          <a:p>
            <a:pPr algn="ctr" defTabSz="914180">
              <a:lnSpc>
                <a:spcPct val="90000"/>
              </a:lnSpc>
              <a:spcAft>
                <a:spcPts val="588"/>
              </a:spcAft>
              <a:defRPr/>
            </a:pPr>
            <a:r>
              <a:rPr lang="en-US" sz="1764" dirty="0" err="1">
                <a:gradFill>
                  <a:gsLst>
                    <a:gs pos="2917">
                      <a:srgbClr val="505050"/>
                    </a:gs>
                    <a:gs pos="30000">
                      <a:srgbClr val="505050"/>
                    </a:gs>
                  </a:gsLst>
                  <a:lin ang="5400000" scaled="0"/>
                </a:gradFill>
                <a:latin typeface="Segoe UI"/>
              </a:rPr>
              <a:t>Emacs</a:t>
            </a:r>
            <a:endParaRPr lang="en-US" sz="1764" dirty="0">
              <a:gradFill>
                <a:gsLst>
                  <a:gs pos="2917">
                    <a:srgbClr val="505050"/>
                  </a:gs>
                  <a:gs pos="30000">
                    <a:srgbClr val="505050"/>
                  </a:gs>
                </a:gsLst>
                <a:lin ang="5400000" scaled="0"/>
              </a:gradFill>
              <a:latin typeface="Segoe UI"/>
            </a:endParaRPr>
          </a:p>
        </p:txBody>
      </p:sp>
      <p:sp>
        <p:nvSpPr>
          <p:cNvPr id="18" name="TextBox 17"/>
          <p:cNvSpPr txBox="1"/>
          <p:nvPr/>
        </p:nvSpPr>
        <p:spPr>
          <a:xfrm>
            <a:off x="9621484" y="5438887"/>
            <a:ext cx="751606" cy="533917"/>
          </a:xfrm>
          <a:prstGeom prst="rect">
            <a:avLst/>
          </a:prstGeom>
          <a:noFill/>
        </p:spPr>
        <p:txBody>
          <a:bodyPr wrap="none" lIns="179238" tIns="143391" rIns="179238" bIns="143391" rtlCol="0">
            <a:spAutoFit/>
          </a:bodyPr>
          <a:lstStyle/>
          <a:p>
            <a:pPr algn="ctr" defTabSz="914180">
              <a:lnSpc>
                <a:spcPct val="90000"/>
              </a:lnSpc>
              <a:spcAft>
                <a:spcPts val="588"/>
              </a:spcAft>
              <a:defRPr/>
            </a:pPr>
            <a:r>
              <a:rPr lang="en-US" sz="1764" dirty="0">
                <a:gradFill>
                  <a:gsLst>
                    <a:gs pos="2917">
                      <a:srgbClr val="505050"/>
                    </a:gs>
                    <a:gs pos="30000">
                      <a:srgbClr val="505050"/>
                    </a:gs>
                  </a:gsLst>
                  <a:lin ang="5400000" scaled="0"/>
                </a:gradFill>
                <a:latin typeface="Segoe UI"/>
              </a:rPr>
              <a:t>Vim</a:t>
            </a:r>
          </a:p>
        </p:txBody>
      </p:sp>
    </p:spTree>
    <p:extLst>
      <p:ext uri="{BB962C8B-B14F-4D97-AF65-F5344CB8AC3E}">
        <p14:creationId xmlns:p14="http://schemas.microsoft.com/office/powerpoint/2010/main" val="2007342696"/>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70018" name="Rectangle 2"/>
          <p:cNvSpPr>
            <a:spLocks noGrp="1" noChangeArrowheads="1"/>
          </p:cNvSpPr>
          <p:nvPr>
            <p:ph type="title"/>
          </p:nvPr>
        </p:nvSpPr>
        <p:spPr>
          <a:xfrm>
            <a:off x="608012" y="457200"/>
            <a:ext cx="11201400" cy="845299"/>
          </a:xfrm>
        </p:spPr>
        <p:txBody>
          <a:bodyPr/>
          <a:lstStyle/>
          <a:p>
            <a:r>
              <a:rPr lang="en-US"/>
              <a:t>What About The IDE?</a:t>
            </a:r>
            <a:endParaRPr lang="en-US" dirty="0"/>
          </a:p>
        </p:txBody>
      </p:sp>
      <p:sp>
        <p:nvSpPr>
          <p:cNvPr id="470019" name="Rectangle 3"/>
          <p:cNvSpPr>
            <a:spLocks noGrp="1" noChangeArrowheads="1"/>
          </p:cNvSpPr>
          <p:nvPr>
            <p:ph idx="4294967295"/>
          </p:nvPr>
        </p:nvSpPr>
        <p:spPr>
          <a:xfrm>
            <a:off x="608012" y="1434164"/>
            <a:ext cx="11201400" cy="5080936"/>
          </a:xfrm>
        </p:spPr>
        <p:txBody>
          <a:bodyPr/>
          <a:lstStyle/>
          <a:p>
            <a:r>
              <a:rPr lang="en-US" dirty="0"/>
              <a:t>We will use </a:t>
            </a:r>
            <a:r>
              <a:rPr lang="en-US" dirty="0">
                <a:solidFill>
                  <a:srgbClr val="0070C0"/>
                </a:solidFill>
              </a:rPr>
              <a:t>Visual Studio Code</a:t>
            </a:r>
          </a:p>
          <a:p>
            <a:pPr lvl="1"/>
            <a:r>
              <a:rPr lang="en-US" dirty="0"/>
              <a:t>But you may use whichever IDE you prefer</a:t>
            </a:r>
          </a:p>
          <a:p>
            <a:r>
              <a:rPr lang="en-US" dirty="0"/>
              <a:t>You don't need to install anything specifically</a:t>
            </a:r>
          </a:p>
          <a:p>
            <a:pPr lvl="1"/>
            <a:r>
              <a:rPr lang="en-US" dirty="0"/>
              <a:t>It supports TypeScript out of the box</a:t>
            </a:r>
          </a:p>
        </p:txBody>
      </p:sp>
      <p:sp>
        <p:nvSpPr>
          <p:cNvPr id="5" name="Slide Number Placeholder 3"/>
          <p:cNvSpPr>
            <a:spLocks noGrp="1"/>
          </p:cNvSpPr>
          <p:nvPr>
            <p:ph type="sldNum" sz="quarter" idx="4294967295"/>
          </p:nvPr>
        </p:nvSpPr>
        <p:spPr>
          <a:xfrm>
            <a:off x="11760200" y="6524625"/>
            <a:ext cx="428625" cy="196850"/>
          </a:xfrm>
          <a:prstGeom prst="rect">
            <a:avLst/>
          </a:prstGeom>
        </p:spPr>
        <p:txBody>
          <a:bodyPr/>
          <a:lstStyle/>
          <a:p>
            <a:fld id="{58452FF4-89E3-4D1B-9927-2DBDC00E58D7}" type="slidenum">
              <a:rPr lang="en-US" smtClean="0"/>
              <a:pPr/>
              <a:t>109</a:t>
            </a:fld>
            <a:endParaRPr lang="en-US" dirty="0"/>
          </a:p>
        </p:txBody>
      </p:sp>
    </p:spTree>
    <p:extLst>
      <p:ext uri="{BB962C8B-B14F-4D97-AF65-F5344CB8AC3E}">
        <p14:creationId xmlns:p14="http://schemas.microsoft.com/office/powerpoint/2010/main" val="94433550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Let's Hack Some Code</a:t>
            </a:r>
          </a:p>
        </p:txBody>
      </p:sp>
      <p:sp>
        <p:nvSpPr>
          <p:cNvPr id="6" name="Subtitle 5"/>
          <p:cNvSpPr>
            <a:spLocks noGrp="1"/>
          </p:cNvSpPr>
          <p:nvPr>
            <p:ph type="body" idx="1"/>
          </p:nvPr>
        </p:nvSpPr>
        <p:spPr/>
        <p:txBody>
          <a:bodyPr/>
          <a:lstStyle/>
          <a:p>
            <a:r>
              <a:rPr lang="en-US" dirty="0"/>
              <a:t>A simple Hello World!</a:t>
            </a:r>
          </a:p>
        </p:txBody>
      </p:sp>
    </p:spTree>
    <p:extLst>
      <p:ext uri="{BB962C8B-B14F-4D97-AF65-F5344CB8AC3E}">
        <p14:creationId xmlns:p14="http://schemas.microsoft.com/office/powerpoint/2010/main" val="797116028"/>
      </p:ext>
    </p:extLst>
  </p:cSld>
  <p:clrMapOvr>
    <a:masterClrMapping/>
  </p:clrMapOvr>
  <p:transition spd="med">
    <p:wipe dir="r"/>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4294967295"/>
          </p:nvPr>
        </p:nvSpPr>
        <p:spPr>
          <a:xfrm>
            <a:off x="1529384" y="6400802"/>
            <a:ext cx="10482604" cy="363552"/>
          </a:xfrm>
        </p:spPr>
        <p:txBody>
          <a:bodyPr>
            <a:normAutofit fontScale="77500" lnSpcReduction="20000"/>
          </a:bodyPr>
          <a:lstStyle/>
          <a:p>
            <a:r>
              <a:rPr lang="en-US" dirty="0">
                <a:hlinkClick r:id="rId3"/>
              </a:rPr>
              <a:t>https://softuni.bg/courses/angular-2-fundamentals</a:t>
            </a:r>
            <a:r>
              <a:rPr lang="en-US" dirty="0"/>
              <a:t> </a:t>
            </a:r>
          </a:p>
        </p:txBody>
      </p:sp>
      <p:sp>
        <p:nvSpPr>
          <p:cNvPr id="3" name="Title 2"/>
          <p:cNvSpPr>
            <a:spLocks noGrp="1"/>
          </p:cNvSpPr>
          <p:nvPr>
            <p:ph type="title"/>
          </p:nvPr>
        </p:nvSpPr>
        <p:spPr>
          <a:xfrm>
            <a:off x="760412" y="67142"/>
            <a:ext cx="11251576" cy="1110780"/>
          </a:xfrm>
        </p:spPr>
        <p:txBody>
          <a:bodyPr/>
          <a:lstStyle/>
          <a:p>
            <a:r>
              <a:rPr lang="en-US"/>
              <a:t>JavaScript Web – Angular Fundamentals</a:t>
            </a:r>
            <a:endParaRPr lang="en-US" dirty="0"/>
          </a:p>
        </p:txBody>
      </p:sp>
      <p:pic>
        <p:nvPicPr>
          <p:cNvPr id="20" name="Picture 19">
            <a:hlinkClick r:id="rId4"/>
          </p:cNvPr>
          <p:cNvPicPr>
            <a:picLocks noChangeAspect="1"/>
          </p:cNvPicPr>
          <p:nvPr/>
        </p:nvPicPr>
        <p:blipFill>
          <a:blip r:embed="rId5"/>
          <a:stretch>
            <a:fillRect/>
          </a:stretch>
        </p:blipFill>
        <p:spPr>
          <a:xfrm>
            <a:off x="9980612" y="2729472"/>
            <a:ext cx="1726158" cy="932887"/>
          </a:xfrm>
          <a:prstGeom prst="roundRect">
            <a:avLst>
              <a:gd name="adj" fmla="val 2953"/>
            </a:avLst>
          </a:prstGeom>
        </p:spPr>
      </p:pic>
      <p:pic>
        <p:nvPicPr>
          <p:cNvPr id="21" name="Picture 20">
            <a:hlinkClick r:id="rId6"/>
          </p:cNvPr>
          <p:cNvPicPr>
            <a:picLocks noChangeAspect="1"/>
          </p:cNvPicPr>
          <p:nvPr/>
        </p:nvPicPr>
        <p:blipFill>
          <a:blip r:embed="rId7"/>
          <a:stretch>
            <a:fillRect/>
          </a:stretch>
        </p:blipFill>
        <p:spPr>
          <a:xfrm>
            <a:off x="512764" y="1295401"/>
            <a:ext cx="1752600" cy="804224"/>
          </a:xfrm>
          <a:prstGeom prst="roundRect">
            <a:avLst>
              <a:gd name="adj" fmla="val 3159"/>
            </a:avLst>
          </a:prstGeom>
        </p:spPr>
      </p:pic>
      <p:pic>
        <p:nvPicPr>
          <p:cNvPr id="22" name="Picture 21">
            <a:hlinkClick r:id="rId8"/>
          </p:cNvPr>
          <p:cNvPicPr>
            <a:picLocks noChangeAspect="1"/>
          </p:cNvPicPr>
          <p:nvPr/>
        </p:nvPicPr>
        <p:blipFill>
          <a:blip r:embed="rId9"/>
          <a:stretch>
            <a:fillRect/>
          </a:stretch>
        </p:blipFill>
        <p:spPr>
          <a:xfrm>
            <a:off x="5468146" y="1295400"/>
            <a:ext cx="2040956" cy="804013"/>
          </a:xfrm>
          <a:prstGeom prst="roundRect">
            <a:avLst>
              <a:gd name="adj" fmla="val 3159"/>
            </a:avLst>
          </a:prstGeom>
        </p:spPr>
      </p:pic>
      <p:pic>
        <p:nvPicPr>
          <p:cNvPr id="23" name="Picture 22">
            <a:hlinkClick r:id="rId10"/>
          </p:cNvPr>
          <p:cNvPicPr>
            <a:picLocks noChangeAspect="1"/>
          </p:cNvPicPr>
          <p:nvPr/>
        </p:nvPicPr>
        <p:blipFill>
          <a:blip r:embed="rId11"/>
          <a:stretch>
            <a:fillRect/>
          </a:stretch>
        </p:blipFill>
        <p:spPr>
          <a:xfrm>
            <a:off x="2824428" y="1295400"/>
            <a:ext cx="2093874" cy="804013"/>
          </a:xfrm>
          <a:prstGeom prst="roundRect">
            <a:avLst>
              <a:gd name="adj" fmla="val 3159"/>
            </a:avLst>
          </a:prstGeom>
        </p:spPr>
      </p:pic>
      <p:pic>
        <p:nvPicPr>
          <p:cNvPr id="24" name="Picture 23">
            <a:hlinkClick r:id="rId12"/>
          </p:cNvPr>
          <p:cNvPicPr>
            <a:picLocks noChangeAspect="1"/>
          </p:cNvPicPr>
          <p:nvPr/>
        </p:nvPicPr>
        <p:blipFill>
          <a:blip r:embed="rId13"/>
          <a:stretch>
            <a:fillRect/>
          </a:stretch>
        </p:blipFill>
        <p:spPr>
          <a:xfrm>
            <a:off x="512764" y="5373443"/>
            <a:ext cx="3352800" cy="849557"/>
          </a:xfrm>
          <a:prstGeom prst="roundRect">
            <a:avLst>
              <a:gd name="adj" fmla="val 3159"/>
            </a:avLst>
          </a:prstGeom>
        </p:spPr>
      </p:pic>
      <p:pic>
        <p:nvPicPr>
          <p:cNvPr id="25" name="Picture 24">
            <a:hlinkClick r:id="rId14"/>
          </p:cNvPr>
          <p:cNvPicPr>
            <a:picLocks noChangeAspect="1"/>
          </p:cNvPicPr>
          <p:nvPr/>
        </p:nvPicPr>
        <p:blipFill>
          <a:blip r:embed="rId15"/>
          <a:stretch>
            <a:fillRect/>
          </a:stretch>
        </p:blipFill>
        <p:spPr>
          <a:xfrm>
            <a:off x="4358563" y="5373443"/>
            <a:ext cx="2753589" cy="849556"/>
          </a:xfrm>
          <a:prstGeom prst="roundRect">
            <a:avLst>
              <a:gd name="adj" fmla="val 2953"/>
            </a:avLst>
          </a:prstGeom>
        </p:spPr>
      </p:pic>
      <p:pic>
        <p:nvPicPr>
          <p:cNvPr id="26" name="Picture 25">
            <a:hlinkClick r:id="rId16"/>
          </p:cNvPr>
          <p:cNvPicPr>
            <a:picLocks noChangeAspect="1"/>
          </p:cNvPicPr>
          <p:nvPr/>
        </p:nvPicPr>
        <p:blipFill>
          <a:blip r:embed="rId17"/>
          <a:stretch>
            <a:fillRect/>
          </a:stretch>
        </p:blipFill>
        <p:spPr>
          <a:xfrm>
            <a:off x="7633728" y="5373443"/>
            <a:ext cx="4073042" cy="849556"/>
          </a:xfrm>
          <a:prstGeom prst="roundRect">
            <a:avLst>
              <a:gd name="adj" fmla="val 3159"/>
            </a:avLst>
          </a:prstGeom>
        </p:spPr>
      </p:pic>
      <p:pic>
        <p:nvPicPr>
          <p:cNvPr id="27" name="Picture 26">
            <a:hlinkClick r:id="rId18"/>
          </p:cNvPr>
          <p:cNvPicPr>
            <a:picLocks noChangeAspect="1"/>
          </p:cNvPicPr>
          <p:nvPr/>
        </p:nvPicPr>
        <p:blipFill>
          <a:blip r:embed="rId19"/>
          <a:stretch>
            <a:fillRect/>
          </a:stretch>
        </p:blipFill>
        <p:spPr>
          <a:xfrm>
            <a:off x="8075612" y="1316222"/>
            <a:ext cx="3631158" cy="783191"/>
          </a:xfrm>
          <a:prstGeom prst="roundRect">
            <a:avLst>
              <a:gd name="adj" fmla="val 3159"/>
            </a:avLst>
          </a:prstGeom>
        </p:spPr>
      </p:pic>
      <p:pic>
        <p:nvPicPr>
          <p:cNvPr id="28" name="Picture 27">
            <a:hlinkClick r:id="rId20"/>
          </p:cNvPr>
          <p:cNvPicPr>
            <a:picLocks noChangeAspect="1"/>
          </p:cNvPicPr>
          <p:nvPr/>
        </p:nvPicPr>
        <p:blipFill>
          <a:blip r:embed="rId21"/>
          <a:stretch>
            <a:fillRect/>
          </a:stretch>
        </p:blipFill>
        <p:spPr>
          <a:xfrm>
            <a:off x="5713413" y="4251041"/>
            <a:ext cx="5993358" cy="550371"/>
          </a:xfrm>
          <a:prstGeom prst="roundRect">
            <a:avLst>
              <a:gd name="adj" fmla="val 3159"/>
            </a:avLst>
          </a:prstGeom>
        </p:spPr>
      </p:pic>
    </p:spTree>
    <p:extLst>
      <p:ext uri="{BB962C8B-B14F-4D97-AF65-F5344CB8AC3E}">
        <p14:creationId xmlns:p14="http://schemas.microsoft.com/office/powerpoint/2010/main" val="108744252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7982" y="653142"/>
            <a:ext cx="10512862" cy="649357"/>
          </a:xfrm>
        </p:spPr>
        <p:txBody>
          <a:bodyPr/>
          <a:lstStyle/>
          <a:p>
            <a:r>
              <a:rPr lang="en-US" dirty="0"/>
              <a:t>TypeScript community</a:t>
            </a:r>
          </a:p>
        </p:txBody>
      </p:sp>
      <p:sp>
        <p:nvSpPr>
          <p:cNvPr id="3" name="Text Placeholder 2"/>
          <p:cNvSpPr>
            <a:spLocks noGrp="1"/>
          </p:cNvSpPr>
          <p:nvPr>
            <p:ph idx="4294967295"/>
          </p:nvPr>
        </p:nvSpPr>
        <p:spPr>
          <a:xfrm>
            <a:off x="837982" y="1434164"/>
            <a:ext cx="10512862" cy="5080936"/>
          </a:xfrm>
        </p:spPr>
        <p:txBody>
          <a:bodyPr>
            <a:normAutofit/>
          </a:bodyPr>
          <a:lstStyle/>
          <a:p>
            <a:r>
              <a:rPr lang="en-US" dirty="0"/>
              <a:t>GitHub</a:t>
            </a:r>
          </a:p>
          <a:p>
            <a:pPr lvl="1"/>
            <a:r>
              <a:rPr lang="en-US" dirty="0"/>
              <a:t>3,800+ commits in the last year</a:t>
            </a:r>
          </a:p>
          <a:p>
            <a:pPr lvl="1"/>
            <a:r>
              <a:rPr lang="en-US" dirty="0"/>
              <a:t>1,200+ forks</a:t>
            </a:r>
          </a:p>
          <a:p>
            <a:pPr lvl="1"/>
            <a:r>
              <a:rPr lang="en-US" dirty="0"/>
              <a:t>10,000+ stars</a:t>
            </a:r>
          </a:p>
          <a:p>
            <a:pPr lvl="1"/>
            <a:endParaRPr lang="en-US" dirty="0"/>
          </a:p>
          <a:p>
            <a:r>
              <a:rPr lang="en-US" dirty="0"/>
              <a:t>Stack Overflow</a:t>
            </a:r>
          </a:p>
          <a:p>
            <a:pPr lvl="1"/>
            <a:r>
              <a:rPr lang="en-US" dirty="0"/>
              <a:t>8,000+ questions, up more than 2x in the last year</a:t>
            </a:r>
          </a:p>
          <a:p>
            <a:pPr lvl="1"/>
            <a:endParaRPr lang="en-US" dirty="0"/>
          </a:p>
          <a:p>
            <a:r>
              <a:rPr lang="en-US" dirty="0"/>
              <a:t>Definitely Typed</a:t>
            </a:r>
          </a:p>
          <a:p>
            <a:pPr lvl="1"/>
            <a:r>
              <a:rPr lang="en-US" dirty="0"/>
              <a:t>1,600+ .</a:t>
            </a:r>
            <a:r>
              <a:rPr lang="en-US" dirty="0" err="1"/>
              <a:t>d.ts</a:t>
            </a:r>
            <a:r>
              <a:rPr lang="en-US" dirty="0"/>
              <a:t> declaration files, up 2x in the last year</a:t>
            </a:r>
          </a:p>
        </p:txBody>
      </p:sp>
    </p:spTree>
    <p:extLst>
      <p:ext uri="{BB962C8B-B14F-4D97-AF65-F5344CB8AC3E}">
        <p14:creationId xmlns:p14="http://schemas.microsoft.com/office/powerpoint/2010/main" val="1575894834"/>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TypeScript adoption</a:t>
            </a:r>
          </a:p>
        </p:txBody>
      </p:sp>
      <p:pic>
        <p:nvPicPr>
          <p:cNvPr id="5" name="Picture 4"/>
          <p:cNvPicPr>
            <a:picLocks noChangeAspect="1"/>
          </p:cNvPicPr>
          <p:nvPr/>
        </p:nvPicPr>
        <p:blipFill>
          <a:blip r:embed="rId2">
            <a:clrChange>
              <a:clrFrom>
                <a:srgbClr val="FFFFFF"/>
              </a:clrFrom>
              <a:clrTo>
                <a:srgbClr val="FFFFFF">
                  <a:alpha val="0"/>
                </a:srgbClr>
              </a:clrTo>
            </a:clrChange>
          </a:blip>
          <a:stretch>
            <a:fillRect/>
          </a:stretch>
        </p:blipFill>
        <p:spPr>
          <a:xfrm>
            <a:off x="493216" y="1561934"/>
            <a:ext cx="11202392" cy="4640490"/>
          </a:xfrm>
          <a:prstGeom prst="rect">
            <a:avLst/>
          </a:prstGeom>
          <a:ln>
            <a:solidFill>
              <a:schemeClr val="bg1">
                <a:lumMod val="85000"/>
              </a:schemeClr>
            </a:solidFill>
          </a:ln>
        </p:spPr>
      </p:pic>
    </p:spTree>
    <p:extLst>
      <p:ext uri="{BB962C8B-B14F-4D97-AF65-F5344CB8AC3E}">
        <p14:creationId xmlns:p14="http://schemas.microsoft.com/office/powerpoint/2010/main" val="2642166739"/>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8" descr="http://www.typescriptlang.org/content/images/logos/asana/asana_logo_highres.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31958" y="1905497"/>
            <a:ext cx="1607274" cy="28207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3" descr="https://upload.wikimedia.org/wikipedia/commons/thumb/e/e9/Ericsson_logo.svg/1135px-Ericsson_logo.svg.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05965" y="1580331"/>
            <a:ext cx="1055860" cy="95260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p:cNvPicPr>
            <a:picLocks noChangeAspect="1"/>
          </p:cNvPicPr>
          <p:nvPr/>
        </p:nvPicPr>
        <p:blipFill>
          <a:blip r:embed="rId4">
            <a:clrChange>
              <a:clrFrom>
                <a:srgbClr val="FFFFFF"/>
              </a:clrFrom>
              <a:clrTo>
                <a:srgbClr val="FFFFFF">
                  <a:alpha val="0"/>
                </a:srgbClr>
              </a:clrTo>
            </a:clrChange>
          </a:blip>
          <a:stretch>
            <a:fillRect/>
          </a:stretch>
        </p:blipFill>
        <p:spPr>
          <a:xfrm>
            <a:off x="7850542" y="2619507"/>
            <a:ext cx="993277" cy="874928"/>
          </a:xfrm>
          <a:prstGeom prst="rect">
            <a:avLst/>
          </a:prstGeom>
        </p:spPr>
      </p:pic>
      <p:pic>
        <p:nvPicPr>
          <p:cNvPr id="12" name="Picture 11"/>
          <p:cNvPicPr>
            <a:picLocks noChangeAspect="1"/>
          </p:cNvPicPr>
          <p:nvPr/>
        </p:nvPicPr>
        <p:blipFill>
          <a:blip r:embed="rId5"/>
          <a:stretch>
            <a:fillRect/>
          </a:stretch>
        </p:blipFill>
        <p:spPr>
          <a:xfrm>
            <a:off x="759561" y="5755475"/>
            <a:ext cx="1552071" cy="457212"/>
          </a:xfrm>
          <a:prstGeom prst="rect">
            <a:avLst/>
          </a:prstGeom>
        </p:spPr>
      </p:pic>
      <p:pic>
        <p:nvPicPr>
          <p:cNvPr id="13" name="Picture 4" descr="http://www.typescriptlang.org/content/images/logos/Palantir/Palantir.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700934" y="848137"/>
            <a:ext cx="1567662" cy="375336"/>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4" descr="https://www.peacehealth.org/sites/default/files/Output%20Library/PHKMC/EpicLogo.gif"/>
          <p:cNvPicPr>
            <a:picLocks noChangeAspect="1" noChangeArrowheads="1"/>
          </p:cNvPicPr>
          <p:nvPr/>
        </p:nvPicPr>
        <p:blipFill>
          <a:blip r:embed="rId7"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60537" y="811355"/>
            <a:ext cx="1063321" cy="399763"/>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descr="http://www.typescriptlang.org/content/images/logos/Wijmo/logo_wijmo_blue.pn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39329" y="2874250"/>
            <a:ext cx="1222497" cy="462092"/>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p:cNvPicPr>
            <a:picLocks noChangeAspect="1"/>
          </p:cNvPicPr>
          <p:nvPr/>
        </p:nvPicPr>
        <p:blipFill>
          <a:blip r:embed="rId9"/>
          <a:stretch>
            <a:fillRect/>
          </a:stretch>
        </p:blipFill>
        <p:spPr>
          <a:xfrm>
            <a:off x="2920096" y="3920850"/>
            <a:ext cx="1990646" cy="261173"/>
          </a:xfrm>
          <a:prstGeom prst="rect">
            <a:avLst/>
          </a:prstGeom>
        </p:spPr>
      </p:pic>
      <p:pic>
        <p:nvPicPr>
          <p:cNvPr id="17" name="Picture 12" descr="http://www.gainsight.com/wp-content/uploads/2015/09/logo.png"/>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407489" y="2990209"/>
            <a:ext cx="1400101" cy="308022"/>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0" descr="http://www.typescriptlang.org/content/images/logos/Wixcom/Black-Horizontal-Logo.png"/>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146930" y="482022"/>
            <a:ext cx="1969637" cy="1076522"/>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9"/>
          <p:cNvPicPr>
            <a:picLocks noChangeAspect="1"/>
          </p:cNvPicPr>
          <p:nvPr/>
        </p:nvPicPr>
        <p:blipFill>
          <a:blip r:embed="rId12"/>
          <a:stretch>
            <a:fillRect/>
          </a:stretch>
        </p:blipFill>
        <p:spPr>
          <a:xfrm>
            <a:off x="3289196" y="743980"/>
            <a:ext cx="1252449" cy="552607"/>
          </a:xfrm>
          <a:prstGeom prst="rect">
            <a:avLst/>
          </a:prstGeom>
        </p:spPr>
      </p:pic>
      <p:pic>
        <p:nvPicPr>
          <p:cNvPr id="21" name="Picture 6" descr="http://www.typescriptlang.org/content/images/logos/SitePen/logo_600.png"/>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9902686" y="811354"/>
            <a:ext cx="1638132" cy="413629"/>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1"/>
          <p:cNvPicPr>
            <a:picLocks noChangeAspect="1"/>
          </p:cNvPicPr>
          <p:nvPr/>
        </p:nvPicPr>
        <p:blipFill>
          <a:blip r:embed="rId14">
            <a:clrChange>
              <a:clrFrom>
                <a:srgbClr val="FFFFFF"/>
              </a:clrFrom>
              <a:clrTo>
                <a:srgbClr val="FFFFFF">
                  <a:alpha val="0"/>
                </a:srgbClr>
              </a:clrTo>
            </a:clrChange>
          </a:blip>
          <a:stretch>
            <a:fillRect/>
          </a:stretch>
        </p:blipFill>
        <p:spPr>
          <a:xfrm>
            <a:off x="10383425" y="2858774"/>
            <a:ext cx="791494" cy="373712"/>
          </a:xfrm>
          <a:prstGeom prst="rect">
            <a:avLst/>
          </a:prstGeom>
        </p:spPr>
      </p:pic>
      <p:pic>
        <p:nvPicPr>
          <p:cNvPr id="23" name="Picture 14" descr="https://images.webucator.com/sitedesign/logo.jpg"/>
          <p:cNvPicPr>
            <a:picLocks noChangeAspect="1" noChangeArrowheads="1"/>
          </p:cNvPicPr>
          <p:nvPr/>
        </p:nvPicPr>
        <p:blipFill>
          <a:blip r:embed="rId1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242379" y="4767752"/>
            <a:ext cx="1821150" cy="473500"/>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3"/>
          <p:cNvPicPr>
            <a:picLocks noChangeAspect="1"/>
          </p:cNvPicPr>
          <p:nvPr/>
        </p:nvPicPr>
        <p:blipFill>
          <a:blip r:embed="rId16">
            <a:clrChange>
              <a:clrFrom>
                <a:srgbClr val="FFFFFF"/>
              </a:clrFrom>
              <a:clrTo>
                <a:srgbClr val="FFFFFF">
                  <a:alpha val="0"/>
                </a:srgbClr>
              </a:clrTo>
            </a:clrChange>
          </a:blip>
          <a:stretch>
            <a:fillRect/>
          </a:stretch>
        </p:blipFill>
        <p:spPr>
          <a:xfrm>
            <a:off x="5422364" y="3827483"/>
            <a:ext cx="1370351" cy="388465"/>
          </a:xfrm>
          <a:prstGeom prst="rect">
            <a:avLst/>
          </a:prstGeom>
        </p:spPr>
      </p:pic>
      <p:pic>
        <p:nvPicPr>
          <p:cNvPr id="25" name="Picture 24"/>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5066608" y="1848408"/>
            <a:ext cx="2130278" cy="475030"/>
          </a:xfrm>
          <a:prstGeom prst="rect">
            <a:avLst/>
          </a:prstGeom>
        </p:spPr>
      </p:pic>
      <p:pic>
        <p:nvPicPr>
          <p:cNvPr id="26" name="Picture 25"/>
          <p:cNvPicPr>
            <a:picLocks noChangeAspect="1"/>
          </p:cNvPicPr>
          <p:nvPr/>
        </p:nvPicPr>
        <p:blipFill>
          <a:blip r:embed="rId18"/>
          <a:stretch>
            <a:fillRect/>
          </a:stretch>
        </p:blipFill>
        <p:spPr>
          <a:xfrm>
            <a:off x="5349738" y="5814762"/>
            <a:ext cx="1419847" cy="418522"/>
          </a:xfrm>
          <a:prstGeom prst="rect">
            <a:avLst/>
          </a:prstGeom>
        </p:spPr>
      </p:pic>
      <p:pic>
        <p:nvPicPr>
          <p:cNvPr id="28" name="Picture 12" descr="http://www.typescriptlang.org/content/images/logos/Superpowers/logo-text.png"/>
          <p:cNvPicPr>
            <a:picLocks noChangeAspect="1" noChangeArrowheads="1"/>
          </p:cNvPicPr>
          <p:nvPr/>
        </p:nvPicPr>
        <p:blipFill>
          <a:blip r:embed="rId19"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976219" y="4808087"/>
            <a:ext cx="1787284" cy="457546"/>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8"/>
          <p:cNvPicPr/>
          <p:nvPr/>
        </p:nvPicPr>
        <p:blipFill>
          <a:blip r:embed="rId20" cstate="print">
            <a:clrChange>
              <a:clrFrom>
                <a:srgbClr val="FEFEFE"/>
              </a:clrFrom>
              <a:clrTo>
                <a:srgbClr val="FEFEFE">
                  <a:alpha val="0"/>
                </a:srgbClr>
              </a:clrTo>
            </a:clrChange>
            <a:extLst>
              <a:ext uri="{28A0092B-C50C-407E-A947-70E740481C1C}">
                <a14:useLocalDpi xmlns:a14="http://schemas.microsoft.com/office/drawing/2010/main" val="0"/>
              </a:ext>
            </a:extLst>
          </a:blip>
          <a:stretch>
            <a:fillRect/>
          </a:stretch>
        </p:blipFill>
        <p:spPr>
          <a:xfrm>
            <a:off x="9887147" y="1645057"/>
            <a:ext cx="1752926" cy="872595"/>
          </a:xfrm>
          <a:prstGeom prst="rect">
            <a:avLst/>
          </a:prstGeom>
        </p:spPr>
      </p:pic>
      <p:pic>
        <p:nvPicPr>
          <p:cNvPr id="30" name="Picture 29"/>
          <p:cNvPicPr>
            <a:picLocks noChangeAspect="1"/>
          </p:cNvPicPr>
          <p:nvPr/>
        </p:nvPicPr>
        <p:blipFill>
          <a:blip r:embed="rId21">
            <a:clrChange>
              <a:clrFrom>
                <a:srgbClr val="FFFFFF"/>
              </a:clrFrom>
              <a:clrTo>
                <a:srgbClr val="FFFFFF">
                  <a:alpha val="0"/>
                </a:srgbClr>
              </a:clrTo>
            </a:clrChange>
          </a:blip>
          <a:stretch>
            <a:fillRect/>
          </a:stretch>
        </p:blipFill>
        <p:spPr>
          <a:xfrm>
            <a:off x="7886541" y="3661684"/>
            <a:ext cx="1030181" cy="779504"/>
          </a:xfrm>
          <a:prstGeom prst="rect">
            <a:avLst/>
          </a:prstGeom>
        </p:spPr>
      </p:pic>
      <p:pic>
        <p:nvPicPr>
          <p:cNvPr id="31" name="Picture 30"/>
          <p:cNvPicPr>
            <a:picLocks noChangeAspect="1"/>
          </p:cNvPicPr>
          <p:nvPr/>
        </p:nvPicPr>
        <p:blipFill>
          <a:blip r:embed="rId22"/>
          <a:stretch>
            <a:fillRect/>
          </a:stretch>
        </p:blipFill>
        <p:spPr>
          <a:xfrm>
            <a:off x="854281" y="3810828"/>
            <a:ext cx="1294461" cy="481213"/>
          </a:xfrm>
          <a:prstGeom prst="rect">
            <a:avLst/>
          </a:prstGeom>
        </p:spPr>
      </p:pic>
      <p:pic>
        <p:nvPicPr>
          <p:cNvPr id="32" name="Picture 26" descr="https://www.instartlogic.com/sites/all/themes/big01Theme/logo.png"/>
          <p:cNvPicPr>
            <a:picLocks noChangeAspect="1" noChangeArrowheads="1"/>
          </p:cNvPicPr>
          <p:nvPr/>
        </p:nvPicPr>
        <p:blipFill>
          <a:blip r:embed="rId2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132019" y="5847810"/>
            <a:ext cx="1480183" cy="352425"/>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32"/>
          <p:cNvPicPr>
            <a:picLocks noChangeAspect="1"/>
          </p:cNvPicPr>
          <p:nvPr/>
        </p:nvPicPr>
        <p:blipFill>
          <a:blip r:embed="rId24"/>
          <a:stretch>
            <a:fillRect/>
          </a:stretch>
        </p:blipFill>
        <p:spPr>
          <a:xfrm>
            <a:off x="7564183" y="4794534"/>
            <a:ext cx="1648444" cy="302776"/>
          </a:xfrm>
          <a:prstGeom prst="rect">
            <a:avLst/>
          </a:prstGeom>
        </p:spPr>
      </p:pic>
      <p:pic>
        <p:nvPicPr>
          <p:cNvPr id="35" name="Picture 34"/>
          <p:cNvPicPr>
            <a:picLocks noChangeAspect="1"/>
          </p:cNvPicPr>
          <p:nvPr/>
        </p:nvPicPr>
        <p:blipFill>
          <a:blip r:embed="rId25"/>
          <a:stretch>
            <a:fillRect/>
          </a:stretch>
        </p:blipFill>
        <p:spPr>
          <a:xfrm>
            <a:off x="867370" y="4807044"/>
            <a:ext cx="1187916" cy="572180"/>
          </a:xfrm>
          <a:prstGeom prst="rect">
            <a:avLst/>
          </a:prstGeom>
        </p:spPr>
      </p:pic>
      <p:pic>
        <p:nvPicPr>
          <p:cNvPr id="36" name="Picture 2" descr="http://www.typescriptlang.org/content/images/logos/Heap/logoCompactDark.png"/>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7681068" y="1811314"/>
            <a:ext cx="1414677" cy="397878"/>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36"/>
          <p:cNvPicPr>
            <a:picLocks noChangeAspect="1"/>
          </p:cNvPicPr>
          <p:nvPr/>
        </p:nvPicPr>
        <p:blipFill>
          <a:blip r:embed="rId27">
            <a:clrChange>
              <a:clrFrom>
                <a:srgbClr val="FFFFFF"/>
              </a:clrFrom>
              <a:clrTo>
                <a:srgbClr val="FFFFFF">
                  <a:alpha val="0"/>
                </a:srgbClr>
              </a:clrTo>
            </a:clrChange>
          </a:blip>
          <a:stretch>
            <a:fillRect/>
          </a:stretch>
        </p:blipFill>
        <p:spPr>
          <a:xfrm>
            <a:off x="7719127" y="5902291"/>
            <a:ext cx="1365008" cy="353587"/>
          </a:xfrm>
          <a:prstGeom prst="rect">
            <a:avLst/>
          </a:prstGeom>
        </p:spPr>
      </p:pic>
      <p:pic>
        <p:nvPicPr>
          <p:cNvPr id="38" name="Picture 37"/>
          <p:cNvPicPr>
            <a:picLocks noChangeAspect="1"/>
          </p:cNvPicPr>
          <p:nvPr/>
        </p:nvPicPr>
        <p:blipFill>
          <a:blip r:embed="rId28">
            <a:clrChange>
              <a:clrFrom>
                <a:srgbClr val="FFFFFF"/>
              </a:clrFrom>
              <a:clrTo>
                <a:srgbClr val="FFFFFF">
                  <a:alpha val="0"/>
                </a:srgbClr>
              </a:clrTo>
            </a:clrChange>
          </a:blip>
          <a:stretch>
            <a:fillRect/>
          </a:stretch>
        </p:blipFill>
        <p:spPr>
          <a:xfrm>
            <a:off x="9929005" y="4736030"/>
            <a:ext cx="1585493" cy="517183"/>
          </a:xfrm>
          <a:prstGeom prst="rect">
            <a:avLst/>
          </a:prstGeom>
        </p:spPr>
      </p:pic>
      <p:pic>
        <p:nvPicPr>
          <p:cNvPr id="39" name="Picture 18" descr="http://www.stimulsoft.com/images/stories/Stimulsoft.png"/>
          <p:cNvPicPr>
            <a:picLocks noChangeAspect="1" noChangeArrowheads="1"/>
          </p:cNvPicPr>
          <p:nvPr/>
        </p:nvPicPr>
        <p:blipFill>
          <a:blip r:embed="rId29" cstate="print">
            <a:extLst>
              <a:ext uri="{28A0092B-C50C-407E-A947-70E740481C1C}">
                <a14:useLocalDpi xmlns:a14="http://schemas.microsoft.com/office/drawing/2010/main" val="0"/>
              </a:ext>
            </a:extLst>
          </a:blip>
          <a:srcRect/>
          <a:stretch>
            <a:fillRect/>
          </a:stretch>
        </p:blipFill>
        <p:spPr bwMode="auto">
          <a:xfrm>
            <a:off x="9929005" y="5893969"/>
            <a:ext cx="1700336" cy="240938"/>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42"/>
          <p:cNvPicPr>
            <a:picLocks noChangeAspect="1"/>
          </p:cNvPicPr>
          <p:nvPr/>
        </p:nvPicPr>
        <p:blipFill>
          <a:blip r:embed="rId30">
            <a:clrChange>
              <a:clrFrom>
                <a:srgbClr val="FFFFFF"/>
              </a:clrFrom>
              <a:clrTo>
                <a:srgbClr val="FFFFFF">
                  <a:alpha val="0"/>
                </a:srgbClr>
              </a:clrTo>
            </a:clrChange>
          </a:blip>
          <a:stretch>
            <a:fillRect/>
          </a:stretch>
        </p:blipFill>
        <p:spPr>
          <a:xfrm>
            <a:off x="9872774" y="3783749"/>
            <a:ext cx="1733837" cy="474894"/>
          </a:xfrm>
          <a:prstGeom prst="rect">
            <a:avLst/>
          </a:prstGeom>
        </p:spPr>
      </p:pic>
      <p:pic>
        <p:nvPicPr>
          <p:cNvPr id="44" name="Picture 43"/>
          <p:cNvPicPr>
            <a:picLocks noChangeAspect="1"/>
          </p:cNvPicPr>
          <p:nvPr/>
        </p:nvPicPr>
        <p:blipFill>
          <a:blip r:embed="rId31">
            <a:clrChange>
              <a:clrFrom>
                <a:srgbClr val="FFFFFF"/>
              </a:clrFrom>
              <a:clrTo>
                <a:srgbClr val="FFFFFF">
                  <a:alpha val="0"/>
                </a:srgbClr>
              </a:clrTo>
            </a:clrChange>
          </a:blip>
          <a:stretch>
            <a:fillRect/>
          </a:stretch>
        </p:blipFill>
        <p:spPr>
          <a:xfrm>
            <a:off x="854282" y="2704370"/>
            <a:ext cx="1419160" cy="534616"/>
          </a:xfrm>
          <a:prstGeom prst="rect">
            <a:avLst/>
          </a:prstGeom>
        </p:spPr>
      </p:pic>
    </p:spTree>
    <p:extLst>
      <p:ext uri="{BB962C8B-B14F-4D97-AF65-F5344CB8AC3E}">
        <p14:creationId xmlns:p14="http://schemas.microsoft.com/office/powerpoint/2010/main" val="481911582"/>
      </p:ext>
    </p:extLst>
  </p:cSld>
  <p:clrMapOvr>
    <a:masterClrMapping/>
  </p:clrMapOvr>
  <p:transition spd="med">
    <p:wipe dir="r"/>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37982" y="365126"/>
            <a:ext cx="10512862" cy="661803"/>
          </a:xfrm>
        </p:spPr>
        <p:txBody>
          <a:bodyPr>
            <a:normAutofit/>
          </a:bodyPr>
          <a:lstStyle/>
          <a:p>
            <a:r>
              <a:rPr lang="en-US" dirty="0"/>
              <a:t>TypeScript and frameworks</a:t>
            </a:r>
          </a:p>
        </p:txBody>
      </p:sp>
      <p:sp>
        <p:nvSpPr>
          <p:cNvPr id="6" name="TextBox 5"/>
          <p:cNvSpPr txBox="1"/>
          <p:nvPr/>
        </p:nvSpPr>
        <p:spPr>
          <a:xfrm>
            <a:off x="1688138" y="1412570"/>
            <a:ext cx="10084472" cy="5652879"/>
          </a:xfrm>
          <a:prstGeom prst="rect">
            <a:avLst/>
          </a:prstGeom>
          <a:noFill/>
        </p:spPr>
        <p:txBody>
          <a:bodyPr wrap="square" lIns="179238" tIns="143391" rIns="179238" bIns="143391" rtlCol="0">
            <a:spAutoFit/>
          </a:bodyPr>
          <a:lstStyle/>
          <a:p>
            <a:pPr defTabSz="914180">
              <a:lnSpc>
                <a:spcPct val="90000"/>
              </a:lnSpc>
              <a:spcBef>
                <a:spcPct val="20000"/>
              </a:spcBef>
              <a:buSzPct val="90000"/>
              <a:defRPr/>
            </a:pPr>
            <a:r>
              <a:rPr lang="en-US" sz="1568" dirty="0">
                <a:gradFill>
                  <a:gsLst>
                    <a:gs pos="1250">
                      <a:srgbClr val="505050"/>
                    </a:gs>
                    <a:gs pos="100000">
                      <a:srgbClr val="505050"/>
                    </a:gs>
                  </a:gsLst>
                  <a:lin ang="5400000" scaled="0"/>
                </a:gradFill>
                <a:latin typeface="Segoe UI"/>
              </a:rPr>
              <a:t>“With TypeScript, several of our team members have said things like “I now actually understand most of our own code!” because they can easily traverse it and understand relationships much better.”</a:t>
            </a:r>
          </a:p>
          <a:p>
            <a:pPr algn="r" defTabSz="914180">
              <a:lnSpc>
                <a:spcPct val="90000"/>
              </a:lnSpc>
              <a:spcBef>
                <a:spcPct val="20000"/>
              </a:spcBef>
              <a:buSzPct val="90000"/>
              <a:defRPr/>
            </a:pPr>
            <a:r>
              <a:rPr lang="en-US" sz="1372" i="1" dirty="0">
                <a:gradFill>
                  <a:gsLst>
                    <a:gs pos="1250">
                      <a:srgbClr val="505050"/>
                    </a:gs>
                    <a:gs pos="100000">
                      <a:srgbClr val="505050"/>
                    </a:gs>
                  </a:gsLst>
                  <a:lin ang="5400000" scaled="0"/>
                </a:gradFill>
                <a:latin typeface="Segoe UI"/>
              </a:rPr>
              <a:t>-- Brad Green, Engineering Director at Google</a:t>
            </a:r>
          </a:p>
          <a:p>
            <a:pPr defTabSz="914180">
              <a:lnSpc>
                <a:spcPct val="90000"/>
              </a:lnSpc>
              <a:spcBef>
                <a:spcPct val="20000"/>
              </a:spcBef>
              <a:buSzPct val="90000"/>
              <a:defRPr/>
            </a:pPr>
            <a:endParaRPr lang="en-US" sz="1568" i="1" dirty="0">
              <a:gradFill>
                <a:gsLst>
                  <a:gs pos="1250">
                    <a:srgbClr val="505050"/>
                  </a:gs>
                  <a:gs pos="100000">
                    <a:srgbClr val="505050"/>
                  </a:gs>
                </a:gsLst>
                <a:lin ang="5400000" scaled="0"/>
              </a:gradFill>
              <a:latin typeface="Segoe UI"/>
              <a:ea typeface="Calibri" panose="020F0502020204030204" pitchFamily="34" charset="0"/>
            </a:endParaRPr>
          </a:p>
          <a:p>
            <a:pPr defTabSz="914180">
              <a:lnSpc>
                <a:spcPct val="90000"/>
              </a:lnSpc>
              <a:spcBef>
                <a:spcPct val="20000"/>
              </a:spcBef>
              <a:buSzPct val="90000"/>
              <a:defRPr/>
            </a:pPr>
            <a:r>
              <a:rPr lang="en-US" sz="1568" dirty="0">
                <a:gradFill>
                  <a:gsLst>
                    <a:gs pos="1250">
                      <a:srgbClr val="505050"/>
                    </a:gs>
                    <a:gs pos="100000">
                      <a:srgbClr val="505050"/>
                    </a:gs>
                  </a:gsLst>
                  <a:lin ang="5400000" scaled="0"/>
                </a:gradFill>
                <a:latin typeface="Segoe UI"/>
                <a:ea typeface="Calibri" panose="020F0502020204030204" pitchFamily="34" charset="0"/>
              </a:rPr>
              <a:t>“One of </a:t>
            </a:r>
            <a:r>
              <a:rPr lang="en-US" sz="1568" dirty="0" err="1">
                <a:gradFill>
                  <a:gsLst>
                    <a:gs pos="1250">
                      <a:srgbClr val="505050"/>
                    </a:gs>
                    <a:gs pos="100000">
                      <a:srgbClr val="505050"/>
                    </a:gs>
                  </a:gsLst>
                  <a:lin ang="5400000" scaled="0"/>
                </a:gradFill>
                <a:latin typeface="Segoe UI"/>
                <a:ea typeface="Calibri" panose="020F0502020204030204" pitchFamily="34" charset="0"/>
              </a:rPr>
              <a:t>Ionic's</a:t>
            </a:r>
            <a:r>
              <a:rPr lang="en-US" sz="1568" dirty="0">
                <a:gradFill>
                  <a:gsLst>
                    <a:gs pos="1250">
                      <a:srgbClr val="505050"/>
                    </a:gs>
                    <a:gs pos="100000">
                      <a:srgbClr val="505050"/>
                    </a:gs>
                  </a:gsLst>
                  <a:lin ang="5400000" scaled="0"/>
                </a:gradFill>
                <a:latin typeface="Segoe UI"/>
                <a:ea typeface="Calibri" panose="020F0502020204030204" pitchFamily="34" charset="0"/>
              </a:rPr>
              <a:t> main goals is to make app development as quick and easy as possible, and the tooling support TypeScript gives us with </a:t>
            </a:r>
            <a:r>
              <a:rPr lang="en-US" sz="1568" dirty="0" err="1">
                <a:gradFill>
                  <a:gsLst>
                    <a:gs pos="1250">
                      <a:srgbClr val="505050"/>
                    </a:gs>
                    <a:gs pos="100000">
                      <a:srgbClr val="505050"/>
                    </a:gs>
                  </a:gsLst>
                  <a:lin ang="5400000" scaled="0"/>
                </a:gradFill>
                <a:latin typeface="Segoe UI"/>
                <a:ea typeface="Calibri" panose="020F0502020204030204" pitchFamily="34" charset="0"/>
              </a:rPr>
              <a:t>autocompletion</a:t>
            </a:r>
            <a:r>
              <a:rPr lang="en-US" sz="1568" dirty="0">
                <a:gradFill>
                  <a:gsLst>
                    <a:gs pos="1250">
                      <a:srgbClr val="505050"/>
                    </a:gs>
                    <a:gs pos="100000">
                      <a:srgbClr val="505050"/>
                    </a:gs>
                  </a:gsLst>
                  <a:lin ang="5400000" scaled="0"/>
                </a:gradFill>
                <a:latin typeface="Segoe UI"/>
                <a:ea typeface="Calibri" panose="020F0502020204030204" pitchFamily="34" charset="0"/>
              </a:rPr>
              <a:t>, type checking and source documentation really aligns with that.”</a:t>
            </a:r>
          </a:p>
          <a:p>
            <a:pPr algn="r" defTabSz="914180">
              <a:lnSpc>
                <a:spcPct val="90000"/>
              </a:lnSpc>
              <a:spcBef>
                <a:spcPct val="20000"/>
              </a:spcBef>
              <a:buSzPct val="90000"/>
              <a:defRPr/>
            </a:pPr>
            <a:r>
              <a:rPr lang="en-US" sz="1372" i="1" dirty="0">
                <a:gradFill>
                  <a:gsLst>
                    <a:gs pos="1250">
                      <a:srgbClr val="505050"/>
                    </a:gs>
                    <a:gs pos="100000">
                      <a:srgbClr val="505050"/>
                    </a:gs>
                  </a:gsLst>
                  <a:lin ang="5400000" scaled="0"/>
                </a:gradFill>
                <a:latin typeface="Segoe UI"/>
              </a:rPr>
              <a:t>-- Tim </a:t>
            </a:r>
            <a:r>
              <a:rPr lang="en-US" sz="1372" i="1" dirty="0" err="1">
                <a:gradFill>
                  <a:gsLst>
                    <a:gs pos="1250">
                      <a:srgbClr val="505050"/>
                    </a:gs>
                    <a:gs pos="100000">
                      <a:srgbClr val="505050"/>
                    </a:gs>
                  </a:gsLst>
                  <a:lin ang="5400000" scaled="0"/>
                </a:gradFill>
                <a:latin typeface="Segoe UI"/>
              </a:rPr>
              <a:t>Lancina</a:t>
            </a:r>
            <a:r>
              <a:rPr lang="en-US" sz="1372" i="1" dirty="0">
                <a:gradFill>
                  <a:gsLst>
                    <a:gs pos="1250">
                      <a:srgbClr val="505050"/>
                    </a:gs>
                    <a:gs pos="100000">
                      <a:srgbClr val="505050"/>
                    </a:gs>
                  </a:gsLst>
                  <a:lin ang="5400000" scaled="0"/>
                </a:gradFill>
                <a:latin typeface="Segoe UI"/>
              </a:rPr>
              <a:t>, Tooling Developer at Ionic</a:t>
            </a:r>
          </a:p>
          <a:p>
            <a:pPr defTabSz="914180">
              <a:lnSpc>
                <a:spcPct val="90000"/>
              </a:lnSpc>
              <a:spcBef>
                <a:spcPct val="20000"/>
              </a:spcBef>
              <a:buSzPct val="90000"/>
              <a:defRPr/>
            </a:pPr>
            <a:endParaRPr lang="en-US" sz="1568" dirty="0">
              <a:gradFill>
                <a:gsLst>
                  <a:gs pos="1250">
                    <a:srgbClr val="505050"/>
                  </a:gs>
                  <a:gs pos="100000">
                    <a:srgbClr val="505050"/>
                  </a:gs>
                </a:gsLst>
                <a:lin ang="5400000" scaled="0"/>
              </a:gradFill>
              <a:latin typeface="Segoe UI"/>
              <a:ea typeface="Calibri" panose="020F0502020204030204" pitchFamily="34" charset="0"/>
            </a:endParaRPr>
          </a:p>
          <a:p>
            <a:pPr defTabSz="914180">
              <a:lnSpc>
                <a:spcPct val="90000"/>
              </a:lnSpc>
              <a:spcBef>
                <a:spcPct val="20000"/>
              </a:spcBef>
              <a:buSzPct val="90000"/>
              <a:defRPr/>
            </a:pPr>
            <a:r>
              <a:rPr lang="en-US" sz="1568" dirty="0">
                <a:gradFill>
                  <a:gsLst>
                    <a:gs pos="1250">
                      <a:srgbClr val="505050"/>
                    </a:gs>
                    <a:gs pos="100000">
                      <a:srgbClr val="505050"/>
                    </a:gs>
                  </a:gsLst>
                  <a:lin ang="5400000" scaled="0"/>
                </a:gradFill>
                <a:latin typeface="Segoe UI"/>
                <a:ea typeface="Calibri" panose="020F0502020204030204" pitchFamily="34" charset="0"/>
              </a:rPr>
              <a:t>“TypeScript helped us to reuse the team’s knowledge and to keep the same team velocity by providing the same excellent developer experience as C# ... A huge improvement over plain JavaScript.”</a:t>
            </a:r>
          </a:p>
          <a:p>
            <a:pPr algn="r" defTabSz="914180">
              <a:lnSpc>
                <a:spcPct val="90000"/>
              </a:lnSpc>
              <a:spcBef>
                <a:spcPct val="20000"/>
              </a:spcBef>
              <a:buSzPct val="90000"/>
              <a:defRPr/>
            </a:pPr>
            <a:r>
              <a:rPr lang="en-US" sz="1372" i="1" dirty="0">
                <a:gradFill>
                  <a:gsLst>
                    <a:gs pos="1250">
                      <a:srgbClr val="505050"/>
                    </a:gs>
                    <a:gs pos="100000">
                      <a:srgbClr val="505050"/>
                    </a:gs>
                  </a:gsLst>
                  <a:lin ang="5400000" scaled="0"/>
                </a:gradFill>
                <a:latin typeface="Segoe UI"/>
              </a:rPr>
              <a:t>-- </a:t>
            </a:r>
            <a:r>
              <a:rPr lang="en-US" sz="1372" i="1" dirty="0" err="1">
                <a:gradFill>
                  <a:gsLst>
                    <a:gs pos="1250">
                      <a:srgbClr val="505050"/>
                    </a:gs>
                    <a:gs pos="100000">
                      <a:srgbClr val="505050"/>
                    </a:gs>
                  </a:gsLst>
                  <a:lin ang="5400000" scaled="0"/>
                </a:gradFill>
                <a:latin typeface="Segoe UI"/>
              </a:rPr>
              <a:t>Valio</a:t>
            </a:r>
            <a:r>
              <a:rPr lang="en-US" sz="1372" i="1" dirty="0">
                <a:gradFill>
                  <a:gsLst>
                    <a:gs pos="1250">
                      <a:srgbClr val="505050"/>
                    </a:gs>
                    <a:gs pos="100000">
                      <a:srgbClr val="505050"/>
                    </a:gs>
                  </a:gsLst>
                  <a:lin ang="5400000" scaled="0"/>
                </a:gradFill>
                <a:latin typeface="Segoe UI"/>
              </a:rPr>
              <a:t> </a:t>
            </a:r>
            <a:r>
              <a:rPr lang="en-US" sz="1372" i="1" dirty="0" err="1">
                <a:gradFill>
                  <a:gsLst>
                    <a:gs pos="1250">
                      <a:srgbClr val="505050"/>
                    </a:gs>
                    <a:gs pos="100000">
                      <a:srgbClr val="505050"/>
                    </a:gs>
                  </a:gsLst>
                  <a:lin ang="5400000" scaled="0"/>
                </a:gradFill>
                <a:latin typeface="Segoe UI"/>
              </a:rPr>
              <a:t>Stoychev</a:t>
            </a:r>
            <a:r>
              <a:rPr lang="en-US" sz="1372" i="1" dirty="0">
                <a:gradFill>
                  <a:gsLst>
                    <a:gs pos="1250">
                      <a:srgbClr val="505050"/>
                    </a:gs>
                    <a:gs pos="100000">
                      <a:srgbClr val="505050"/>
                    </a:gs>
                  </a:gsLst>
                  <a:lin ang="5400000" scaled="0"/>
                </a:gradFill>
                <a:latin typeface="Segoe UI"/>
              </a:rPr>
              <a:t>, PM Lead </a:t>
            </a:r>
            <a:r>
              <a:rPr lang="en-US" sz="1372" i="1" dirty="0" err="1">
                <a:gradFill>
                  <a:gsLst>
                    <a:gs pos="1250">
                      <a:srgbClr val="505050"/>
                    </a:gs>
                    <a:gs pos="100000">
                      <a:srgbClr val="505050"/>
                    </a:gs>
                  </a:gsLst>
                  <a:lin ang="5400000" scaled="0"/>
                </a:gradFill>
                <a:latin typeface="Segoe UI"/>
              </a:rPr>
              <a:t>NativeScript</a:t>
            </a:r>
            <a:endParaRPr lang="en-US" sz="1372" i="1" dirty="0">
              <a:gradFill>
                <a:gsLst>
                  <a:gs pos="1250">
                    <a:srgbClr val="505050"/>
                  </a:gs>
                  <a:gs pos="100000">
                    <a:srgbClr val="505050"/>
                  </a:gs>
                </a:gsLst>
                <a:lin ang="5400000" scaled="0"/>
              </a:gradFill>
              <a:latin typeface="Segoe UI"/>
            </a:endParaRPr>
          </a:p>
          <a:p>
            <a:pPr defTabSz="914180">
              <a:lnSpc>
                <a:spcPct val="90000"/>
              </a:lnSpc>
              <a:spcBef>
                <a:spcPct val="20000"/>
              </a:spcBef>
              <a:buSzPct val="90000"/>
              <a:defRPr/>
            </a:pPr>
            <a:endParaRPr lang="en-US" sz="1372" dirty="0">
              <a:gradFill>
                <a:gsLst>
                  <a:gs pos="1250">
                    <a:srgbClr val="505050"/>
                  </a:gs>
                  <a:gs pos="100000">
                    <a:srgbClr val="505050"/>
                  </a:gs>
                </a:gsLst>
                <a:lin ang="5400000" scaled="0"/>
              </a:gradFill>
              <a:latin typeface="Segoe UI"/>
            </a:endParaRPr>
          </a:p>
          <a:p>
            <a:pPr defTabSz="914180">
              <a:lnSpc>
                <a:spcPct val="90000"/>
              </a:lnSpc>
              <a:spcBef>
                <a:spcPct val="20000"/>
              </a:spcBef>
              <a:buSzPct val="90000"/>
              <a:defRPr/>
            </a:pPr>
            <a:r>
              <a:rPr lang="en-US" sz="1568" dirty="0">
                <a:gradFill>
                  <a:gsLst>
                    <a:gs pos="1250">
                      <a:srgbClr val="505050"/>
                    </a:gs>
                    <a:gs pos="100000">
                      <a:srgbClr val="505050"/>
                    </a:gs>
                  </a:gsLst>
                  <a:lin ang="5400000" scaled="0"/>
                </a:gradFill>
                <a:latin typeface="Segoe UI"/>
              </a:rPr>
              <a:t>“By combining Aurelia with TypeScript for modern web, mobile and desktop development, we've seen what is perhaps the most beautiful and elegant app development workflow to date.”</a:t>
            </a:r>
          </a:p>
          <a:p>
            <a:pPr algn="r" defTabSz="914180">
              <a:lnSpc>
                <a:spcPct val="90000"/>
              </a:lnSpc>
              <a:spcBef>
                <a:spcPct val="20000"/>
              </a:spcBef>
              <a:buSzPct val="90000"/>
              <a:defRPr/>
            </a:pPr>
            <a:r>
              <a:rPr lang="en-US" sz="1372" i="1" dirty="0">
                <a:gradFill>
                  <a:gsLst>
                    <a:gs pos="1250">
                      <a:srgbClr val="505050"/>
                    </a:gs>
                    <a:gs pos="100000">
                      <a:srgbClr val="505050"/>
                    </a:gs>
                  </a:gsLst>
                  <a:lin ang="5400000" scaled="0"/>
                </a:gradFill>
                <a:latin typeface="Segoe UI"/>
              </a:rPr>
              <a:t>-- Rob Eisenberg, Architect - Aurelia</a:t>
            </a:r>
          </a:p>
          <a:p>
            <a:pPr defTabSz="914180">
              <a:lnSpc>
                <a:spcPct val="90000"/>
              </a:lnSpc>
              <a:spcBef>
                <a:spcPct val="20000"/>
              </a:spcBef>
              <a:buSzPct val="90000"/>
              <a:defRPr/>
            </a:pPr>
            <a:endParaRPr lang="en-US" sz="1568" dirty="0">
              <a:gradFill>
                <a:gsLst>
                  <a:gs pos="1250">
                    <a:srgbClr val="505050"/>
                  </a:gs>
                  <a:gs pos="100000">
                    <a:srgbClr val="505050"/>
                  </a:gs>
                </a:gsLst>
                <a:lin ang="5400000" scaled="0"/>
              </a:gradFill>
              <a:latin typeface="Segoe UI"/>
            </a:endParaRPr>
          </a:p>
          <a:p>
            <a:pPr defTabSz="914180">
              <a:lnSpc>
                <a:spcPct val="90000"/>
              </a:lnSpc>
              <a:spcBef>
                <a:spcPct val="20000"/>
              </a:spcBef>
              <a:buSzPct val="90000"/>
              <a:defRPr/>
            </a:pPr>
            <a:r>
              <a:rPr lang="en-US" sz="1568" dirty="0">
                <a:gradFill>
                  <a:gsLst>
                    <a:gs pos="1250">
                      <a:srgbClr val="505050"/>
                    </a:gs>
                    <a:gs pos="100000">
                      <a:srgbClr val="505050"/>
                    </a:gs>
                  </a:gsLst>
                  <a:lin ang="5400000" scaled="0"/>
                </a:gradFill>
                <a:latin typeface="Segoe UI"/>
              </a:rPr>
              <a:t>“TypeScript has helped ensure that Dojo 2 will be built on rock solid foundations, which will make enterprise development better. TS gives us all the benefits of ES6, plus more productivity, … and responsive support from the TypeScript team ”</a:t>
            </a:r>
          </a:p>
          <a:p>
            <a:pPr algn="r" defTabSz="914180">
              <a:lnSpc>
                <a:spcPct val="90000"/>
              </a:lnSpc>
              <a:spcBef>
                <a:spcPct val="20000"/>
              </a:spcBef>
              <a:buSzPct val="90000"/>
              <a:defRPr/>
            </a:pPr>
            <a:r>
              <a:rPr lang="en-US" sz="1372" i="1" dirty="0">
                <a:gradFill>
                  <a:gsLst>
                    <a:gs pos="1250">
                      <a:srgbClr val="505050"/>
                    </a:gs>
                    <a:gs pos="100000">
                      <a:srgbClr val="505050"/>
                    </a:gs>
                  </a:gsLst>
                  <a:lin ang="5400000" scaled="0"/>
                </a:gradFill>
                <a:latin typeface="Segoe UI"/>
              </a:rPr>
              <a:t>-- Dylan </a:t>
            </a:r>
            <a:r>
              <a:rPr lang="en-US" sz="1372" i="1" dirty="0" err="1">
                <a:gradFill>
                  <a:gsLst>
                    <a:gs pos="1250">
                      <a:srgbClr val="505050"/>
                    </a:gs>
                    <a:gs pos="100000">
                      <a:srgbClr val="505050"/>
                    </a:gs>
                  </a:gsLst>
                  <a:lin ang="5400000" scaled="0"/>
                </a:gradFill>
                <a:latin typeface="Segoe UI"/>
              </a:rPr>
              <a:t>Schiemann</a:t>
            </a:r>
            <a:r>
              <a:rPr lang="en-US" sz="1372" i="1" dirty="0">
                <a:gradFill>
                  <a:gsLst>
                    <a:gs pos="1250">
                      <a:srgbClr val="505050"/>
                    </a:gs>
                    <a:gs pos="100000">
                      <a:srgbClr val="505050"/>
                    </a:gs>
                  </a:gsLst>
                  <a:lin ang="5400000" scaled="0"/>
                </a:gradFill>
                <a:latin typeface="Segoe UI"/>
              </a:rPr>
              <a:t>, Co-founder - Dojo Toolkit, CEO - </a:t>
            </a:r>
            <a:r>
              <a:rPr lang="en-US" sz="1372" i="1" dirty="0" err="1">
                <a:gradFill>
                  <a:gsLst>
                    <a:gs pos="1250">
                      <a:srgbClr val="505050"/>
                    </a:gs>
                    <a:gs pos="100000">
                      <a:srgbClr val="505050"/>
                    </a:gs>
                  </a:gsLst>
                  <a:lin ang="5400000" scaled="0"/>
                </a:gradFill>
                <a:latin typeface="Segoe UI"/>
              </a:rPr>
              <a:t>SitePen</a:t>
            </a:r>
            <a:endParaRPr lang="en-US" sz="1372" i="1" dirty="0">
              <a:gradFill>
                <a:gsLst>
                  <a:gs pos="1250">
                    <a:srgbClr val="505050"/>
                  </a:gs>
                  <a:gs pos="100000">
                    <a:srgbClr val="505050"/>
                  </a:gs>
                </a:gsLst>
                <a:lin ang="5400000" scaled="0"/>
              </a:gradFill>
              <a:latin typeface="Segoe UI"/>
            </a:endParaRPr>
          </a:p>
          <a:p>
            <a:pPr defTabSz="914180">
              <a:lnSpc>
                <a:spcPct val="90000"/>
              </a:lnSpc>
              <a:spcBef>
                <a:spcPct val="20000"/>
              </a:spcBef>
              <a:buSzPct val="90000"/>
              <a:defRPr/>
            </a:pPr>
            <a:endParaRPr lang="en-US" sz="1568" dirty="0">
              <a:gradFill>
                <a:gsLst>
                  <a:gs pos="1250">
                    <a:srgbClr val="505050"/>
                  </a:gs>
                  <a:gs pos="100000">
                    <a:srgbClr val="505050"/>
                  </a:gs>
                </a:gsLst>
                <a:lin ang="5400000" scaled="0"/>
              </a:gradFill>
              <a:latin typeface="Segoe UI"/>
            </a:endParaRPr>
          </a:p>
          <a:p>
            <a:pPr defTabSz="914180">
              <a:lnSpc>
                <a:spcPct val="90000"/>
              </a:lnSpc>
              <a:spcAft>
                <a:spcPts val="588"/>
              </a:spcAft>
              <a:defRPr/>
            </a:pPr>
            <a:endParaRPr lang="en-US" sz="2352" dirty="0" err="1">
              <a:gradFill>
                <a:gsLst>
                  <a:gs pos="2917">
                    <a:srgbClr val="505050"/>
                  </a:gs>
                  <a:gs pos="30000">
                    <a:srgbClr val="505050"/>
                  </a:gs>
                </a:gsLst>
                <a:lin ang="5400000" scaled="0"/>
              </a:gradFill>
              <a:latin typeface="Segoe UI"/>
            </a:endParaRPr>
          </a:p>
        </p:txBody>
      </p:sp>
      <p:pic>
        <p:nvPicPr>
          <p:cNvPr id="7" name="Picture 21" descr="https://raw.githubusercontent.com/angular/angular.io/master/public/resources/images/logos/standard/shield-larg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2509" y="1325375"/>
            <a:ext cx="943943" cy="102602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http://blog.budacode.com/wp-content/uploads/2015/06/ionic-angularjs-ionic-logo-small.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7609" y="2585377"/>
            <a:ext cx="1245706" cy="44222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p:cNvPicPr>
            <a:picLocks noChangeAspect="1"/>
          </p:cNvPicPr>
          <p:nvPr/>
        </p:nvPicPr>
        <p:blipFill>
          <a:blip r:embed="rId4">
            <a:clrChange>
              <a:clrFrom>
                <a:srgbClr val="FFFFFF"/>
              </a:clrFrom>
              <a:clrTo>
                <a:srgbClr val="FFFFFF">
                  <a:alpha val="0"/>
                </a:srgbClr>
              </a:clrTo>
            </a:clrChange>
          </a:blip>
          <a:stretch>
            <a:fillRect/>
          </a:stretch>
        </p:blipFill>
        <p:spPr>
          <a:xfrm>
            <a:off x="476498" y="3326049"/>
            <a:ext cx="887929" cy="879006"/>
          </a:xfrm>
          <a:prstGeom prst="rect">
            <a:avLst/>
          </a:prstGeom>
        </p:spPr>
      </p:pic>
      <p:pic>
        <p:nvPicPr>
          <p:cNvPr id="10" name="Picture 9"/>
          <p:cNvPicPr>
            <a:picLocks noChangeAspect="1"/>
          </p:cNvPicPr>
          <p:nvPr/>
        </p:nvPicPr>
        <p:blipFill>
          <a:blip r:embed="rId5">
            <a:clrChange>
              <a:clrFrom>
                <a:srgbClr val="FFFFFF"/>
              </a:clrFrom>
              <a:clrTo>
                <a:srgbClr val="FFFFFF">
                  <a:alpha val="0"/>
                </a:srgbClr>
              </a:clrTo>
            </a:clrChange>
          </a:blip>
          <a:stretch>
            <a:fillRect/>
          </a:stretch>
        </p:blipFill>
        <p:spPr>
          <a:xfrm>
            <a:off x="313236" y="4474557"/>
            <a:ext cx="1302489" cy="373983"/>
          </a:xfrm>
          <a:prstGeom prst="rect">
            <a:avLst/>
          </a:prstGeom>
        </p:spPr>
      </p:pic>
      <p:pic>
        <p:nvPicPr>
          <p:cNvPr id="11" name="Picture 10" descr="http://maps.stlouisco.com/police/lib/sbar/lib/img/dojo.logo.big.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48543" y="5445431"/>
            <a:ext cx="831874" cy="5476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2161"/>
      </p:ext>
    </p:extLst>
  </p:cSld>
  <p:clrMapOvr>
    <a:masterClrMapping/>
  </p:clrMapOvr>
</p:sld>
</file>

<file path=ppt/theme/theme1.xml><?xml version="1.0" encoding="utf-8"?>
<a:theme xmlns:a="http://schemas.openxmlformats.org/drawingml/2006/main" name="Tema de Office">
  <a:themeElements>
    <a:clrScheme name="Personalizado 1">
      <a:dk1>
        <a:srgbClr val="1B1D39"/>
      </a:dk1>
      <a:lt1>
        <a:sysClr val="window" lastClr="FFFFFF"/>
      </a:lt1>
      <a:dk2>
        <a:srgbClr val="F5C200"/>
      </a:dk2>
      <a:lt2>
        <a:srgbClr val="E7E6E6"/>
      </a:lt2>
      <a:accent1>
        <a:srgbClr val="F5C200"/>
      </a:accent1>
      <a:accent2>
        <a:srgbClr val="1B1D39"/>
      </a:accent2>
      <a:accent3>
        <a:srgbClr val="A5A5A5"/>
      </a:accent3>
      <a:accent4>
        <a:srgbClr val="FFC000"/>
      </a:accent4>
      <a:accent5>
        <a:srgbClr val="F5C200"/>
      </a:accent5>
      <a:accent6>
        <a:srgbClr val="F5C200"/>
      </a:accent6>
      <a:hlink>
        <a:srgbClr val="0563C1"/>
      </a:hlink>
      <a:folHlink>
        <a:srgbClr val="954F72"/>
      </a:folHlink>
    </a:clrScheme>
    <a:fontScheme name="TecnoFor">
      <a:majorFont>
        <a:latin typeface="Lexend Bold"/>
        <a:ea typeface="Helvetica"/>
        <a:cs typeface="Helvetica"/>
      </a:majorFont>
      <a:minorFont>
        <a:latin typeface="Lexend"/>
        <a:ea typeface="Arial"/>
        <a:cs typeface="Arial"/>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w="76200">
          <a:solidFill>
            <a:srgbClr val="1C1E3B"/>
          </a:solidFill>
          <a:extLst>
            <a:ext uri="{C807C97D-BFC1-408E-A445-0C87EB9F89A2}">
              <ask:lineSketchStyleProps xmlns:ask="http://schemas.microsoft.com/office/drawing/2018/sketchyshapes">
                <ask:type>
                  <ask:lineSketchNone/>
                </ask:type>
              </ask:lineSketchStyleProps>
            </a:ext>
          </a:extLst>
        </a:ln>
      </a:spPr>
      <a:bodyPr lIns="72000" tIns="36000" rIns="72000" bIns="36000" rtlCol="0" anchor="ctr" anchorCtr="1"/>
      <a:lstStyle>
        <a:defPPr algn="ctr">
          <a:defRPr sz="4000" dirty="0">
            <a:solidFill>
              <a:srgbClr val="1C1E3B"/>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extraClrSchemeLst/>
</a:theme>
</file>

<file path=ppt/theme/theme3.xml><?xml version="1.0" encoding="utf-8"?>
<a:theme xmlns:a="http://schemas.openxmlformats.org/drawingml/2006/main" name="Office Theme">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3836F65B-1B07-41EE-A0E8-BC6EF385522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6581</Words>
  <Application>Microsoft Office PowerPoint</Application>
  <PresentationFormat>Personalizado</PresentationFormat>
  <Paragraphs>1100</Paragraphs>
  <Slides>115</Slides>
  <Notes>8</Notes>
  <HiddenSlides>2</HiddenSlides>
  <MMClips>0</MMClips>
  <ScaleCrop>false</ScaleCrop>
  <HeadingPairs>
    <vt:vector size="6" baseType="variant">
      <vt:variant>
        <vt:lpstr>Fuentes usadas</vt:lpstr>
      </vt:variant>
      <vt:variant>
        <vt:i4>12</vt:i4>
      </vt:variant>
      <vt:variant>
        <vt:lpstr>Tema</vt:lpstr>
      </vt:variant>
      <vt:variant>
        <vt:i4>1</vt:i4>
      </vt:variant>
      <vt:variant>
        <vt:lpstr>Títulos de diapositiva</vt:lpstr>
      </vt:variant>
      <vt:variant>
        <vt:i4>115</vt:i4>
      </vt:variant>
    </vt:vector>
  </HeadingPairs>
  <TitlesOfParts>
    <vt:vector size="128" baseType="lpstr">
      <vt:lpstr>Arial</vt:lpstr>
      <vt:lpstr>Calibri</vt:lpstr>
      <vt:lpstr>Consolas</vt:lpstr>
      <vt:lpstr>Courier</vt:lpstr>
      <vt:lpstr>Lexend</vt:lpstr>
      <vt:lpstr>Lexend Bold</vt:lpstr>
      <vt:lpstr>Lexend Light</vt:lpstr>
      <vt:lpstr>Menlo</vt:lpstr>
      <vt:lpstr>OpenSans</vt:lpstr>
      <vt:lpstr>OpenSans-Bold</vt:lpstr>
      <vt:lpstr>Segoe UI</vt:lpstr>
      <vt:lpstr>Wingdings 2</vt:lpstr>
      <vt:lpstr>Tema de Office</vt:lpstr>
      <vt:lpstr>Introduction  to TypeScript</vt:lpstr>
      <vt:lpstr>Table of Contents</vt:lpstr>
      <vt:lpstr>Presentación de PowerPoint</vt:lpstr>
      <vt:lpstr>Introduction To TypeScript</vt:lpstr>
      <vt:lpstr>TypeScript: JavaScript that scales</vt:lpstr>
      <vt:lpstr>A statically typed superset of JavaScript that compiles to plain JavaScript</vt:lpstr>
      <vt:lpstr>TypeScript</vt:lpstr>
      <vt:lpstr>¿Por qué TypeScript?</vt:lpstr>
      <vt:lpstr>Las alternativas</vt:lpstr>
      <vt:lpstr>Entorno de desarrollo</vt:lpstr>
      <vt:lpstr>TS Compiler</vt:lpstr>
      <vt:lpstr>La brecha de características</vt:lpstr>
      <vt:lpstr>La brecha de características</vt:lpstr>
      <vt:lpstr>Upss… One year, four releases</vt:lpstr>
      <vt:lpstr>TypeScript</vt:lpstr>
      <vt:lpstr>TypeScript</vt:lpstr>
      <vt:lpstr>TypeScript</vt:lpstr>
      <vt:lpstr>A Look at JavaScript </vt:lpstr>
      <vt:lpstr>var vs let</vt:lpstr>
      <vt:lpstr>Template literals</vt:lpstr>
      <vt:lpstr>Función arrow</vt:lpstr>
      <vt:lpstr>Operador spread</vt:lpstr>
      <vt:lpstr>A Look at JavaScript </vt:lpstr>
      <vt:lpstr>A Look at JavaScript: Dynamic Types </vt:lpstr>
      <vt:lpstr>A Look at JavaScript: Constructors</vt:lpstr>
      <vt:lpstr>A Look at JavaScript: IIFES - Immediately Invoked Function Expressions</vt:lpstr>
      <vt:lpstr>Presentación de PowerPoint</vt:lpstr>
      <vt:lpstr>Organización del código JavaScript</vt:lpstr>
      <vt:lpstr>npm</vt:lpstr>
      <vt:lpstr>Introduction To TypeScript</vt:lpstr>
      <vt:lpstr>Comandos npm</vt:lpstr>
      <vt:lpstr>Comandos npm</vt:lpstr>
      <vt:lpstr>Configuración proxy</vt:lpstr>
      <vt:lpstr>Lets start with simple JavaScript</vt:lpstr>
      <vt:lpstr>Please… help</vt:lpstr>
      <vt:lpstr>A Look at Typescript </vt:lpstr>
      <vt:lpstr>TS Syntax</vt:lpstr>
      <vt:lpstr>Data types</vt:lpstr>
      <vt:lpstr>Grammar Type Annotations</vt:lpstr>
      <vt:lpstr>Annotations and Inferences</vt:lpstr>
      <vt:lpstr>Dynamic and Static</vt:lpstr>
      <vt:lpstr>JavaScript’s Dynamic Types</vt:lpstr>
      <vt:lpstr>Arrays and Indexers</vt:lpstr>
      <vt:lpstr>Lets start with simple JavaScript</vt:lpstr>
      <vt:lpstr>Typescript: Adding types</vt:lpstr>
      <vt:lpstr>Primitive Types - Null</vt:lpstr>
      <vt:lpstr>Typescript: Non-nullable and control flow based types</vt:lpstr>
      <vt:lpstr>Non-Nullable Types in TypeScript</vt:lpstr>
      <vt:lpstr>Object Types</vt:lpstr>
      <vt:lpstr>Function Types </vt:lpstr>
      <vt:lpstr>Arrow Function Expressions</vt:lpstr>
      <vt:lpstr>Arrow Function Expressions</vt:lpstr>
      <vt:lpstr>var vs let</vt:lpstr>
      <vt:lpstr>Function parameters</vt:lpstr>
      <vt:lpstr>Function rest parameters</vt:lpstr>
      <vt:lpstr>Functions overloading</vt:lpstr>
      <vt:lpstr>Defining Constructors</vt:lpstr>
      <vt:lpstr>Defining Properties</vt:lpstr>
      <vt:lpstr>Module Flexibility</vt:lpstr>
      <vt:lpstr>You May Be a Module if …</vt:lpstr>
      <vt:lpstr>Ambient Declarations </vt:lpstr>
      <vt:lpstr>Objects</vt:lpstr>
      <vt:lpstr>Object Types </vt:lpstr>
      <vt:lpstr>Structural Subtyping</vt:lpstr>
      <vt:lpstr>Contextual Typing </vt:lpstr>
      <vt:lpstr>Classes </vt:lpstr>
      <vt:lpstr>Classes - constructor</vt:lpstr>
      <vt:lpstr>Classes</vt:lpstr>
      <vt:lpstr>Private/Public: Public by default</vt:lpstr>
      <vt:lpstr>Accessors</vt:lpstr>
      <vt:lpstr>Static properties</vt:lpstr>
      <vt:lpstr>Constructor function</vt:lpstr>
      <vt:lpstr>Using a class as an interface</vt:lpstr>
      <vt:lpstr>Typescript: Adding classes</vt:lpstr>
      <vt:lpstr>Interfaces</vt:lpstr>
      <vt:lpstr>Interfaces</vt:lpstr>
      <vt:lpstr>Interfaces: optional properties</vt:lpstr>
      <vt:lpstr>Interfaces: function types</vt:lpstr>
      <vt:lpstr>Interfaces: array types</vt:lpstr>
      <vt:lpstr>Interfaces: class types</vt:lpstr>
      <vt:lpstr>Interfaces: static/instance side of class</vt:lpstr>
      <vt:lpstr>Extending Interfaces</vt:lpstr>
      <vt:lpstr>Interfaces: Hybrid Types</vt:lpstr>
      <vt:lpstr>Typescript: Adding interface</vt:lpstr>
      <vt:lpstr>Classes - inheritance</vt:lpstr>
      <vt:lpstr>Enum Types</vt:lpstr>
      <vt:lpstr>Overloading on String Parameters </vt:lpstr>
      <vt:lpstr>Generic Types and Functions </vt:lpstr>
      <vt:lpstr>Presentación de PowerPoint</vt:lpstr>
      <vt:lpstr>Namespaces </vt:lpstr>
      <vt:lpstr>Modules </vt:lpstr>
      <vt:lpstr>Modules</vt:lpstr>
      <vt:lpstr>Modules</vt:lpstr>
      <vt:lpstr>Other features</vt:lpstr>
      <vt:lpstr>Generics</vt:lpstr>
      <vt:lpstr>Generics: </vt:lpstr>
      <vt:lpstr>Generic types: </vt:lpstr>
      <vt:lpstr>Generic Classes</vt:lpstr>
      <vt:lpstr>Generic constraints</vt:lpstr>
      <vt:lpstr>Using class type in generics</vt:lpstr>
      <vt:lpstr>Merging interfaces</vt:lpstr>
      <vt:lpstr>Merging modules</vt:lpstr>
      <vt:lpstr>Type Inference</vt:lpstr>
      <vt:lpstr>Contextual type</vt:lpstr>
      <vt:lpstr>Type Compatibility</vt:lpstr>
      <vt:lpstr>Typescript: Adding unions</vt:lpstr>
      <vt:lpstr>Let's Install It</vt:lpstr>
      <vt:lpstr>TypeScript tools</vt:lpstr>
      <vt:lpstr>What About The IDE?</vt:lpstr>
      <vt:lpstr>Let's Hack Some Code</vt:lpstr>
      <vt:lpstr>JavaScript Web – Angular Fundamentals</vt:lpstr>
      <vt:lpstr>TypeScript community</vt:lpstr>
      <vt:lpstr>TypeScript adoption</vt:lpstr>
      <vt:lpstr>Presentación de PowerPoint</vt:lpstr>
      <vt:lpstr>TypeScript and frameworks</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Template</dc:title>
  <dc:subject>Software Development Course</dc:subject>
  <dc:creator/>
  <cp:keywords>Template</cp:keywords>
  <dc:description>Software University Foundation - http://softuni.org</dc:description>
  <cp:lastModifiedBy/>
  <cp:revision>1</cp:revision>
  <dcterms:created xsi:type="dcterms:W3CDTF">2014-01-02T17:00:34Z</dcterms:created>
  <dcterms:modified xsi:type="dcterms:W3CDTF">2023-10-02T10:36:58Z</dcterms:modified>
  <cp:category>Template</cp:category>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TC027879909991</vt:lpwstr>
  </property>
</Properties>
</file>