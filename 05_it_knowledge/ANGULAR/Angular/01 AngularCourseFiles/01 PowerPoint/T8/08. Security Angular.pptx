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42" r:id="rId2"/>
  </p:sldMasterIdLst>
  <p:notesMasterIdLst>
    <p:notesMasterId r:id="rId26"/>
  </p:notesMasterIdLst>
  <p:handoutMasterIdLst>
    <p:handoutMasterId r:id="rId27"/>
  </p:handoutMasterIdLst>
  <p:sldIdLst>
    <p:sldId id="609" r:id="rId3"/>
    <p:sldId id="780" r:id="rId4"/>
    <p:sldId id="736" r:id="rId5"/>
    <p:sldId id="762" r:id="rId6"/>
    <p:sldId id="764" r:id="rId7"/>
    <p:sldId id="779" r:id="rId8"/>
    <p:sldId id="776" r:id="rId9"/>
    <p:sldId id="777" r:id="rId10"/>
    <p:sldId id="778" r:id="rId11"/>
    <p:sldId id="763" r:id="rId12"/>
    <p:sldId id="765" r:id="rId13"/>
    <p:sldId id="766" r:id="rId14"/>
    <p:sldId id="769" r:id="rId15"/>
    <p:sldId id="770" r:id="rId16"/>
    <p:sldId id="771" r:id="rId17"/>
    <p:sldId id="772" r:id="rId18"/>
    <p:sldId id="775" r:id="rId19"/>
    <p:sldId id="773" r:id="rId20"/>
    <p:sldId id="774" r:id="rId21"/>
    <p:sldId id="767" r:id="rId22"/>
    <p:sldId id="768" r:id="rId23"/>
    <p:sldId id="735" r:id="rId24"/>
    <p:sldId id="730" r:id="rId25"/>
  </p:sldIdLst>
  <p:sldSz cx="12188825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48D4357-E11A-4DE5-81E4-49C6B73B5D81}">
          <p14:sldIdLst>
            <p14:sldId id="609"/>
            <p14:sldId id="780"/>
            <p14:sldId id="736"/>
            <p14:sldId id="762"/>
            <p14:sldId id="764"/>
            <p14:sldId id="779"/>
            <p14:sldId id="776"/>
            <p14:sldId id="777"/>
            <p14:sldId id="778"/>
            <p14:sldId id="763"/>
            <p14:sldId id="765"/>
            <p14:sldId id="766"/>
            <p14:sldId id="769"/>
            <p14:sldId id="770"/>
            <p14:sldId id="771"/>
            <p14:sldId id="772"/>
            <p14:sldId id="775"/>
            <p14:sldId id="773"/>
            <p14:sldId id="774"/>
            <p14:sldId id="767"/>
            <p14:sldId id="768"/>
          </p14:sldIdLst>
        </p14:section>
        <p14:section name="Biblio" id="{4C6CD7CE-4C5C-4256-BE95-6EC46516E444}">
          <p14:sldIdLst>
            <p14:sldId id="735"/>
          </p14:sldIdLst>
        </p14:section>
        <p14:section name="Summary" id="{1888D697-2B49-43A6-BDC2-719250E583B8}">
          <p14:sldIdLst>
            <p14:sldId id="7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8AFA"/>
    <a:srgbClr val="FDFFFF"/>
    <a:srgbClr val="FFA72A"/>
    <a:srgbClr val="FFF0D9"/>
    <a:srgbClr val="F0F5FA"/>
    <a:srgbClr val="0097CC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53" autoAdjust="0"/>
    <p:restoredTop sz="95673" autoAdjust="0"/>
  </p:normalViewPr>
  <p:slideViewPr>
    <p:cSldViewPr>
      <p:cViewPr varScale="1">
        <p:scale>
          <a:sx n="111" d="100"/>
          <a:sy n="111" d="100"/>
        </p:scale>
        <p:origin x="432" y="10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1028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3134" y="101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10/6/2023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‹Nº›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10/6/2023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3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FA6BEF-0D01-42CD-AF49-6C72D33EA4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componente sirve para registrar o identificar usuarios. Cambia su comportamiento según el valor de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this.pageData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que viene determinado desde el enrutador. Esta es una manera sencilla de reutilizar componentes. Mira en 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credentials.routing.ts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para tener más detalles.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402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Digamos que exponemos el </a:t>
            </a:r>
            <a:r>
              <a:rPr lang="es-ES" sz="16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Observable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sólo lectura obtenido mediante la función .</a:t>
            </a:r>
            <a:r>
              <a:rPr lang="es-ES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asObservable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149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Angular promueven el uso de funciones y datos </a:t>
            </a:r>
            <a:r>
              <a:rPr lang="es-ES" sz="16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inmutables</a:t>
            </a:r>
            <a:r>
              <a:rPr lang="es-E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ahí que nos obliguen a clonar las cabeceras para modificarlas.</a:t>
            </a:r>
          </a:p>
          <a:p>
            <a:br>
              <a:rPr lang="es-ES" dirty="0"/>
            </a:br>
            <a:endParaRPr lang="es-E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/>
              <a:t>© Software University Foundation – </a:t>
            </a:r>
            <a:r>
              <a:rPr lang="en-US" sz="1000" u="sng">
                <a:hlinkClick r:id="rId3"/>
              </a:rPr>
              <a:t>http://softuni.org</a:t>
            </a:r>
            <a:endParaRPr lang="en-US" sz="1000"/>
          </a:p>
          <a:p>
            <a:r>
              <a:rPr lang="en-US" sz="100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/>
              <a:t>license.</a:t>
            </a:r>
            <a:endParaRPr lang="en-US" sz="100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488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limp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1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ctr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LOGO-FINAL.png" descr="LOGO-FINAL.png">
            <a:extLst>
              <a:ext uri="{FF2B5EF4-FFF2-40B4-BE49-F238E27FC236}">
                <a16:creationId xmlns:a16="http://schemas.microsoft.com/office/drawing/2014/main" id="{40C008DC-BE4A-D4B5-81FB-D8FC4CA2A7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362" y="3037100"/>
            <a:ext cx="3933202" cy="78380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2743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átula con image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06901E58-A1D8-A10A-D9D8-CE1515AF66D5}"/>
              </a:ext>
            </a:extLst>
          </p:cNvPr>
          <p:cNvSpPr/>
          <p:nvPr/>
        </p:nvSpPr>
        <p:spPr>
          <a:xfrm>
            <a:off x="5158485" y="-8466"/>
            <a:ext cx="7030341" cy="6858000"/>
          </a:xfrm>
          <a:prstGeom prst="rect">
            <a:avLst/>
          </a:prstGeom>
          <a:solidFill>
            <a:srgbClr val="1B1D39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noAutofit/>
          </a:bodyPr>
          <a:lstStyle/>
          <a:p>
            <a:pPr marL="0" marR="0" indent="0" algn="l" defTabSz="1218834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s-ES" sz="1799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1927" y="2003899"/>
            <a:ext cx="5759538" cy="2879387"/>
          </a:xfrm>
        </p:spPr>
        <p:txBody>
          <a:bodyPr anchor="ctr" anchorCtr="1">
            <a:noAutofit/>
          </a:bodyPr>
          <a:lstStyle>
            <a:lvl1pPr algn="ctr">
              <a:defRPr sz="3999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8" name="techie.png" descr="techie.png">
            <a:extLst>
              <a:ext uri="{FF2B5EF4-FFF2-40B4-BE49-F238E27FC236}">
                <a16:creationId xmlns:a16="http://schemas.microsoft.com/office/drawing/2014/main" id="{1153B63E-98A5-BBEE-9C6B-1057BEDC76E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8100000">
            <a:off x="4306441" y="2849298"/>
            <a:ext cx="1336200" cy="133654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Imagen 4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64B3FB7A-0102-D659-3C30-C1C4C3659A5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  <p:pic>
        <p:nvPicPr>
          <p:cNvPr id="6" name="Imagen 5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E0D610C9-30BB-C209-BCCA-3BCE95C72D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983" y="5840440"/>
            <a:ext cx="2457425" cy="46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00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dor">
    <p:bg>
      <p:bgPr>
        <a:solidFill>
          <a:srgbClr val="1C1E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AE9D3631-5A5C-021D-E659-1D384017DB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7468" y="6329921"/>
            <a:ext cx="1345323" cy="256799"/>
          </a:xfrm>
          <a:prstGeom prst="rect">
            <a:avLst/>
          </a:prstGeom>
        </p:spPr>
      </p:pic>
      <p:sp>
        <p:nvSpPr>
          <p:cNvPr id="4" name="Google Shape;48;p8">
            <a:extLst>
              <a:ext uri="{FF2B5EF4-FFF2-40B4-BE49-F238E27FC236}">
                <a16:creationId xmlns:a16="http://schemas.microsoft.com/office/drawing/2014/main" id="{3F57A50C-DED0-9A4A-F7C8-CD569FF06F43}"/>
              </a:ext>
            </a:extLst>
          </p:cNvPr>
          <p:cNvSpPr/>
          <p:nvPr/>
        </p:nvSpPr>
        <p:spPr>
          <a:xfrm>
            <a:off x="950719" y="-69"/>
            <a:ext cx="10287322" cy="6858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599" y="0"/>
                </a:lnTo>
                <a:lnTo>
                  <a:pt x="21600" y="0"/>
                </a:lnTo>
                <a:lnTo>
                  <a:pt x="18001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 sz="1799" dirty="0"/>
          </a:p>
        </p:txBody>
      </p:sp>
      <p:pic>
        <p:nvPicPr>
          <p:cNvPr id="5" name="techie.png" descr="techie.png">
            <a:extLst>
              <a:ext uri="{FF2B5EF4-FFF2-40B4-BE49-F238E27FC236}">
                <a16:creationId xmlns:a16="http://schemas.microsoft.com/office/drawing/2014/main" id="{4B8A62A0-CE43-5FE0-5996-117855E878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7818" y="775699"/>
            <a:ext cx="1180194" cy="118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techie.png" descr="techie.png">
            <a:extLst>
              <a:ext uri="{FF2B5EF4-FFF2-40B4-BE49-F238E27FC236}">
                <a16:creationId xmlns:a16="http://schemas.microsoft.com/office/drawing/2014/main" id="{F34A3DA2-C704-C58B-4D16-8D97BC00AAB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102611" y="4975166"/>
            <a:ext cx="1180194" cy="118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F3F2153-8EA8-5CEA-0F22-9F81F2479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931" y="1268413"/>
            <a:ext cx="7444903" cy="1349282"/>
          </a:xfrm>
        </p:spPr>
        <p:txBody>
          <a:bodyPr anchor="ctr" anchorCtr="1">
            <a:normAutofit/>
          </a:bodyPr>
          <a:lstStyle>
            <a:lvl1pPr algn="ctr">
              <a:defRPr sz="3299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238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F21244-DF76-B9A4-1238-3157FB675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457201"/>
            <a:ext cx="11201400" cy="533400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86D7AF6-E8C0-B5DD-B9A1-3CA878371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12" y="1066800"/>
            <a:ext cx="11201400" cy="5448300"/>
          </a:xfrm>
        </p:spPr>
        <p:txBody>
          <a:bodyPr/>
          <a:lstStyle>
            <a:lvl1pPr>
              <a:buFont typeface="Arial" panose="020B0604020202020204" pitchFamily="34" charset="0"/>
              <a:buChar char="•"/>
              <a:defRPr sz="2399">
                <a:solidFill>
                  <a:schemeClr val="accent2">
                    <a:lumMod val="75000"/>
                  </a:schemeClr>
                </a:solidFill>
              </a:defRPr>
            </a:lvl1pPr>
            <a:lvl2pPr>
              <a:buFont typeface="Arial" panose="020B0604020202020204" pitchFamily="34" charset="0"/>
              <a:buChar char="•"/>
              <a:defRPr sz="1999">
                <a:solidFill>
                  <a:schemeClr val="accent2">
                    <a:lumMod val="75000"/>
                  </a:schemeClr>
                </a:solidFill>
              </a:defRPr>
            </a:lvl2pPr>
            <a:lvl3pPr>
              <a:buFont typeface="Arial" panose="020B0604020202020204" pitchFamily="34" charset="0"/>
              <a:buChar char="•"/>
              <a:defRPr sz="1799">
                <a:solidFill>
                  <a:schemeClr val="accent2">
                    <a:lumMod val="75000"/>
                  </a:schemeClr>
                </a:solidFill>
              </a:defRPr>
            </a:lvl3pPr>
            <a:lvl4pPr>
              <a:buFont typeface="Arial" panose="020B0604020202020204" pitchFamily="34" charset="0"/>
              <a:buChar char="•"/>
              <a:defRPr sz="1600">
                <a:solidFill>
                  <a:schemeClr val="accent2">
                    <a:lumMod val="75000"/>
                  </a:schemeClr>
                </a:solidFill>
              </a:defRPr>
            </a:lvl4pPr>
            <a:lvl5pPr>
              <a:buFont typeface="Arial" panose="020B0604020202020204" pitchFamily="34" charset="0"/>
              <a:buChar char="•"/>
              <a:defRPr sz="1400">
                <a:solidFill>
                  <a:schemeClr val="accent2">
                    <a:lumMod val="75000"/>
                  </a:schemeClr>
                </a:solidFill>
              </a:defRPr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612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2833" y="4406902"/>
            <a:ext cx="10360501" cy="1362075"/>
          </a:xfrm>
          <a:prstGeom prst="rect">
            <a:avLst/>
          </a:prstGeom>
        </p:spPr>
        <p:txBody>
          <a:bodyPr/>
          <a:lstStyle>
            <a:lvl1pPr algn="l">
              <a:defRPr sz="3999" b="1" cap="all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999"/>
            </a:lvl1pPr>
            <a:lvl2pPr marL="457063" indent="0">
              <a:buNone/>
              <a:defRPr sz="1799"/>
            </a:lvl2pPr>
            <a:lvl3pPr marL="914126" indent="0">
              <a:buNone/>
              <a:defRPr sz="1600"/>
            </a:lvl3pPr>
            <a:lvl4pPr marL="1371189" indent="0">
              <a:buNone/>
              <a:defRPr sz="1400"/>
            </a:lvl4pPr>
            <a:lvl5pPr marL="1828251" indent="0">
              <a:buNone/>
              <a:defRPr sz="1400"/>
            </a:lvl5pPr>
            <a:lvl6pPr marL="2285314" indent="0">
              <a:buNone/>
              <a:defRPr sz="1400"/>
            </a:lvl6pPr>
            <a:lvl7pPr marL="2742377" indent="0">
              <a:buNone/>
              <a:defRPr sz="1400"/>
            </a:lvl7pPr>
            <a:lvl8pPr marL="3199440" indent="0">
              <a:buNone/>
              <a:defRPr sz="1400"/>
            </a:lvl8pPr>
            <a:lvl9pPr marL="3656503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01360304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25682E51-C6CE-76F7-769C-C200EAF00254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0" y="0"/>
                </a:moveTo>
                <a:lnTo>
                  <a:pt x="13004800" y="0"/>
                </a:lnTo>
                <a:lnTo>
                  <a:pt x="13004800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solidFill>
            <a:srgbClr val="393939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</p:spTree>
    <p:extLst>
      <p:ext uri="{BB962C8B-B14F-4D97-AF65-F5344CB8AC3E}">
        <p14:creationId xmlns:p14="http://schemas.microsoft.com/office/powerpoint/2010/main" val="3837157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006" y="2084187"/>
            <a:ext cx="5551407" cy="1793090"/>
          </a:xfrm>
          <a:noFill/>
        </p:spPr>
        <p:txBody>
          <a:bodyPr lIns="146304" tIns="91440" rIns="146304" bIns="91440" anchor="t" anchorCtr="0"/>
          <a:lstStyle>
            <a:lvl1pPr>
              <a:defRPr lang="en-US" dirty="0">
                <a:solidFill>
                  <a:schemeClr val="bg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006" y="3878574"/>
            <a:ext cx="5551408" cy="179232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lang="en-US" dirty="0">
                <a:solidFill>
                  <a:schemeClr val="bg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131087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554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4619" y="1268412"/>
            <a:ext cx="11299332" cy="48609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  <p:pic>
        <p:nvPicPr>
          <p:cNvPr id="9" name="LOGO-FINAL.png" descr="LOGO-FINAL.png">
            <a:extLst>
              <a:ext uri="{FF2B5EF4-FFF2-40B4-BE49-F238E27FC236}">
                <a16:creationId xmlns:a16="http://schemas.microsoft.com/office/drawing/2014/main" id="{FD1127DC-3633-9F91-EAC6-DF84F02D8D8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66564" y="6323743"/>
            <a:ext cx="1391279" cy="2772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techie.png" descr="techie.png">
            <a:extLst>
              <a:ext uri="{FF2B5EF4-FFF2-40B4-BE49-F238E27FC236}">
                <a16:creationId xmlns:a16="http://schemas.microsoft.com/office/drawing/2014/main" id="{E9C3B265-6261-C31F-6626-0F2960C3D376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70" y="206462"/>
            <a:ext cx="437900" cy="43801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4619" y="381000"/>
            <a:ext cx="11298538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56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</p:sldLayoutIdLst>
  <p:hf hdr="0" ft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3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0" hangingPunct="1">
        <a:lnSpc>
          <a:spcPct val="90000"/>
        </a:lnSpc>
        <a:spcBef>
          <a:spcPts val="1000"/>
        </a:spcBef>
        <a:buClr>
          <a:srgbClr val="F5C200"/>
        </a:buClr>
        <a:buFont typeface="Arial" panose="020B0604020202020204" pitchFamily="34" charset="0"/>
        <a:buChar char="•"/>
        <a:defRPr sz="2799" kern="1200">
          <a:solidFill>
            <a:srgbClr val="1C1E3B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23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2pPr>
      <a:lvl3pPr marL="1142657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9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3pPr>
      <a:lvl4pPr marL="1599720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4pPr>
      <a:lvl5pPr marL="2056783" indent="-228531" algn="l" defTabSz="914126" rtl="0" eaLnBrk="1" latinLnBrk="0" hangingPunct="1">
        <a:lnSpc>
          <a:spcPct val="90000"/>
        </a:lnSpc>
        <a:spcBef>
          <a:spcPts val="500"/>
        </a:spcBef>
        <a:buClr>
          <a:srgbClr val="F5C200"/>
        </a:buClr>
        <a:buFont typeface="Arial" panose="020B0604020202020204" pitchFamily="34" charset="0"/>
        <a:buChar char="•"/>
        <a:defRPr sz="1799" kern="1200">
          <a:solidFill>
            <a:srgbClr val="1C1E3B"/>
          </a:solidFill>
          <a:latin typeface="Lexend Light" pitchFamily="2" charset="0"/>
          <a:ea typeface="+mn-ea"/>
          <a:cs typeface="+mn-cs"/>
        </a:defRPr>
      </a:lvl5pPr>
      <a:lvl6pPr marL="2513846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45">
          <p15:clr>
            <a:srgbClr val="F26B43"/>
          </p15:clr>
        </p15:guide>
        <p15:guide id="2" pos="423">
          <p15:clr>
            <a:srgbClr val="F26B43"/>
          </p15:clr>
        </p15:guide>
        <p15:guide id="3" pos="14938">
          <p15:clr>
            <a:srgbClr val="F26B43"/>
          </p15:clr>
        </p15:guide>
        <p15:guide id="4" orient="horz" pos="1598">
          <p15:clr>
            <a:srgbClr val="F26B43"/>
          </p15:clr>
        </p15:guide>
        <p15:guide id="5" orient="horz" pos="79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ngular.io/guide/quickstart" TargetMode="External"/><Relationship Id="rId7" Type="http://schemas.openxmlformats.org/officeDocument/2006/relationships/hyperlink" Target="http://reactivex.io/rxjs" TargetMode="External"/><Relationship Id="rId2" Type="http://schemas.openxmlformats.org/officeDocument/2006/relationships/hyperlink" Target="http://angularexamples.io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angular.io/guide/styleguide" TargetMode="External"/><Relationship Id="rId5" Type="http://schemas.openxmlformats.org/officeDocument/2006/relationships/hyperlink" Target="https://www.slideshare.net/JoshuaBlack8/eswho-eswhat-eswow" TargetMode="External"/><Relationship Id="rId4" Type="http://schemas.openxmlformats.org/officeDocument/2006/relationships/hyperlink" Target="http://bit.ly/fem-ng2-simple-app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/>
              <a:t>Angular</a:t>
            </a:r>
            <a:br>
              <a:rPr lang="en-US" b="1" dirty="0"/>
            </a:br>
            <a:r>
              <a:rPr lang="es-ES" b="1" dirty="0"/>
              <a:t>Vigilancia y seguridad en Angular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70845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D6F3DEF-9331-ED29-F14A-8A208CB43118}"/>
              </a:ext>
            </a:extLst>
          </p:cNvPr>
          <p:cNvSpPr txBox="1"/>
          <p:nvPr/>
        </p:nvSpPr>
        <p:spPr>
          <a:xfrm>
            <a:off x="989012" y="468264"/>
            <a:ext cx="2362200" cy="147732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JWT</a:t>
            </a:r>
          </a:p>
          <a:p>
            <a:r>
              <a:rPr lang="es-ES" dirty="0"/>
              <a:t>Identidad</a:t>
            </a:r>
          </a:p>
          <a:p>
            <a:r>
              <a:rPr lang="es-ES" dirty="0"/>
              <a:t>	Roles</a:t>
            </a:r>
          </a:p>
          <a:p>
            <a:r>
              <a:rPr lang="es-ES" dirty="0"/>
              <a:t>	</a:t>
            </a:r>
            <a:r>
              <a:rPr lang="es-ES" dirty="0" err="1"/>
              <a:t>Groups</a:t>
            </a:r>
            <a:endParaRPr lang="es-ES" dirty="0"/>
          </a:p>
          <a:p>
            <a:r>
              <a:rPr lang="es-ES" dirty="0"/>
              <a:t>	</a:t>
            </a:r>
            <a:r>
              <a:rPr lang="es-ES" dirty="0" err="1"/>
              <a:t>Scopes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001A896-8597-CAC0-A591-5242514E55A8}"/>
              </a:ext>
            </a:extLst>
          </p:cNvPr>
          <p:cNvSpPr txBox="1"/>
          <p:nvPr/>
        </p:nvSpPr>
        <p:spPr>
          <a:xfrm>
            <a:off x="7491590" y="459573"/>
            <a:ext cx="2819400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Roles</a:t>
            </a:r>
          </a:p>
          <a:p>
            <a:r>
              <a:rPr lang="es-ES" dirty="0"/>
              <a:t>	</a:t>
            </a:r>
            <a:r>
              <a:rPr lang="es-ES" dirty="0" err="1"/>
              <a:t>Logica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E30226B-A500-331F-0471-8154489BF4C2}"/>
              </a:ext>
            </a:extLst>
          </p:cNvPr>
          <p:cNvSpPr txBox="1"/>
          <p:nvPr/>
        </p:nvSpPr>
        <p:spPr>
          <a:xfrm>
            <a:off x="7491590" y="1145373"/>
            <a:ext cx="2819400" cy="800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/>
              <a:t>Grupos</a:t>
            </a:r>
          </a:p>
          <a:p>
            <a:r>
              <a:rPr lang="es-ES" dirty="0"/>
              <a:t>	</a:t>
            </a:r>
            <a:r>
              <a:rPr lang="es-ES" dirty="0" err="1"/>
              <a:t>Logica</a:t>
            </a:r>
            <a:r>
              <a:rPr lang="es-ES" dirty="0"/>
              <a:t>/</a:t>
            </a:r>
            <a:r>
              <a:rPr lang="es-ES" sz="2800" dirty="0" err="1"/>
              <a:t>Fisica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D35566-A040-54DC-76FE-69DA8DD073BD}"/>
              </a:ext>
            </a:extLst>
          </p:cNvPr>
          <p:cNvSpPr txBox="1"/>
          <p:nvPr/>
        </p:nvSpPr>
        <p:spPr>
          <a:xfrm>
            <a:off x="7491590" y="2004589"/>
            <a:ext cx="2819400" cy="800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dirty="0" err="1"/>
              <a:t>Scopes</a:t>
            </a:r>
            <a:endParaRPr lang="es-ES" dirty="0"/>
          </a:p>
          <a:p>
            <a:r>
              <a:rPr lang="es-ES" dirty="0"/>
              <a:t>	</a:t>
            </a:r>
            <a:r>
              <a:rPr lang="es-ES" sz="2800" dirty="0" err="1"/>
              <a:t>Fisica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C91CA3-3B10-13E6-EC7E-2F96A704E336}"/>
              </a:ext>
            </a:extLst>
          </p:cNvPr>
          <p:cNvSpPr txBox="1"/>
          <p:nvPr/>
        </p:nvSpPr>
        <p:spPr>
          <a:xfrm>
            <a:off x="7494616" y="4090573"/>
            <a:ext cx="2819400" cy="800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lang="es-ES" dirty="0"/>
          </a:p>
          <a:p>
            <a:r>
              <a:rPr lang="es-ES" dirty="0"/>
              <a:t>	</a:t>
            </a:r>
            <a:r>
              <a:rPr lang="es-ES" sz="2800" dirty="0"/>
              <a:t>Física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D622B5A-BEF2-E2BC-523F-FE00793B38C4}"/>
              </a:ext>
            </a:extLst>
          </p:cNvPr>
          <p:cNvSpPr txBox="1"/>
          <p:nvPr/>
        </p:nvSpPr>
        <p:spPr>
          <a:xfrm>
            <a:off x="1932017" y="4069007"/>
            <a:ext cx="2819400" cy="8002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endParaRPr lang="es-ES" dirty="0"/>
          </a:p>
          <a:p>
            <a:r>
              <a:rPr lang="es-ES" dirty="0"/>
              <a:t>	</a:t>
            </a:r>
            <a:r>
              <a:rPr lang="es-ES" sz="2800" dirty="0"/>
              <a:t>Lógica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874E04-D37B-AB7C-86EA-E7655F3B1F0A}"/>
              </a:ext>
            </a:extLst>
          </p:cNvPr>
          <p:cNvSpPr txBox="1"/>
          <p:nvPr/>
        </p:nvSpPr>
        <p:spPr>
          <a:xfrm>
            <a:off x="7494616" y="5121273"/>
            <a:ext cx="2819400" cy="138499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2800" dirty="0"/>
              <a:t>Servicios</a:t>
            </a:r>
          </a:p>
          <a:p>
            <a:r>
              <a:rPr lang="es-ES" sz="2800" dirty="0"/>
              <a:t>	[</a:t>
            </a:r>
            <a:r>
              <a:rPr lang="es-ES" sz="2800" dirty="0" err="1"/>
              <a:t>Scopes</a:t>
            </a:r>
            <a:r>
              <a:rPr lang="es-ES" sz="2800" dirty="0"/>
              <a:t>]</a:t>
            </a:r>
          </a:p>
          <a:p>
            <a:r>
              <a:rPr lang="es-ES" sz="2800" dirty="0"/>
              <a:t>	</a:t>
            </a:r>
            <a:r>
              <a:rPr lang="es-ES" sz="2800" dirty="0" err="1"/>
              <a:t>Metodos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13E32A1-8DC1-A204-BF01-DF1A7CB4520F}"/>
              </a:ext>
            </a:extLst>
          </p:cNvPr>
          <p:cNvSpPr txBox="1"/>
          <p:nvPr/>
        </p:nvSpPr>
        <p:spPr>
          <a:xfrm>
            <a:off x="1932017" y="5148590"/>
            <a:ext cx="2819400" cy="523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2800" dirty="0"/>
              <a:t>Roles empresa</a:t>
            </a:r>
            <a:endParaRPr lang="es-ES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9F24B9E-5127-6DAC-CF6D-4C2A397D4F72}"/>
              </a:ext>
            </a:extLst>
          </p:cNvPr>
          <p:cNvSpPr txBox="1"/>
          <p:nvPr/>
        </p:nvSpPr>
        <p:spPr>
          <a:xfrm>
            <a:off x="2920837" y="921945"/>
            <a:ext cx="3552795" cy="230832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1200" dirty="0"/>
              <a:t>JWT</a:t>
            </a:r>
          </a:p>
          <a:p>
            <a:r>
              <a:rPr lang="es-ES" sz="1200" dirty="0"/>
              <a:t>Identidad (JORGE)</a:t>
            </a:r>
          </a:p>
          <a:p>
            <a:r>
              <a:rPr lang="es-ES" sz="1200" dirty="0"/>
              <a:t>	LOGICA</a:t>
            </a:r>
          </a:p>
          <a:p>
            <a:r>
              <a:rPr lang="es-ES" sz="1200" dirty="0"/>
              <a:t>	Roles 	Letrado, Bibliotecario</a:t>
            </a:r>
          </a:p>
          <a:p>
            <a:r>
              <a:rPr lang="es-ES" sz="1200" dirty="0"/>
              <a:t>	</a:t>
            </a:r>
            <a:r>
              <a:rPr lang="es-ES" sz="1200" dirty="0" err="1"/>
              <a:t>Groups</a:t>
            </a:r>
            <a:r>
              <a:rPr lang="es-ES" sz="1200" dirty="0"/>
              <a:t> 	Biblioteca</a:t>
            </a:r>
          </a:p>
          <a:p>
            <a:endParaRPr lang="es-ES" sz="1200" dirty="0"/>
          </a:p>
          <a:p>
            <a:r>
              <a:rPr lang="es-ES" sz="1200" dirty="0"/>
              <a:t>	FISICA</a:t>
            </a:r>
          </a:p>
          <a:p>
            <a:r>
              <a:rPr lang="es-ES" sz="1200" dirty="0"/>
              <a:t>	</a:t>
            </a:r>
            <a:r>
              <a:rPr lang="es-ES" sz="1200" dirty="0" err="1"/>
              <a:t>Scopes</a:t>
            </a:r>
            <a:r>
              <a:rPr lang="es-ES" sz="1200" dirty="0"/>
              <a:t>	(Permisos recursos)</a:t>
            </a:r>
          </a:p>
          <a:p>
            <a:r>
              <a:rPr lang="es-ES" sz="1200" dirty="0"/>
              <a:t>		Administrar Libros</a:t>
            </a:r>
          </a:p>
          <a:p>
            <a:r>
              <a:rPr lang="es-ES" sz="1200" dirty="0"/>
              <a:t>		Acceder al Almacén</a:t>
            </a:r>
          </a:p>
          <a:p>
            <a:r>
              <a:rPr lang="es-ES" sz="1200" dirty="0"/>
              <a:t>		…</a:t>
            </a:r>
          </a:p>
          <a:p>
            <a:r>
              <a:rPr lang="es-ES" sz="1200" dirty="0">
                <a:solidFill>
                  <a:srgbClr val="FF0000"/>
                </a:solidFill>
              </a:rPr>
              <a:t>¿y si crece demasiado?</a:t>
            </a:r>
          </a:p>
        </p:txBody>
      </p:sp>
    </p:spTree>
    <p:extLst>
      <p:ext uri="{BB962C8B-B14F-4D97-AF65-F5344CB8AC3E}">
        <p14:creationId xmlns:p14="http://schemas.microsoft.com/office/powerpoint/2010/main" val="264521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AB267D0-281D-4C1E-AF27-0A2DFEB47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Intro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13970CC-00B2-49BA-8AF6-3A37B88F7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s-ES" sz="2800" dirty="0"/>
              <a:t>La seguridad de los datos es una responsabilidad compartida entre el servidor y el cliente. </a:t>
            </a:r>
          </a:p>
          <a:p>
            <a:pPr fontAlgn="base"/>
            <a:r>
              <a:rPr lang="es-ES" sz="2800" dirty="0"/>
              <a:t>En Angular </a:t>
            </a:r>
            <a:r>
              <a:rPr lang="es-ES" sz="2800" b="1" dirty="0"/>
              <a:t>usaremos los interceptores </a:t>
            </a:r>
            <a:r>
              <a:rPr lang="es-ES" sz="2800" dirty="0"/>
              <a:t>para detectar intrusos y enviar credenciales. </a:t>
            </a:r>
          </a:p>
          <a:p>
            <a:pPr fontAlgn="base"/>
            <a:r>
              <a:rPr lang="es-ES" sz="2800" dirty="0"/>
              <a:t>La </a:t>
            </a:r>
            <a:r>
              <a:rPr lang="es-ES" sz="2800" b="1" dirty="0"/>
              <a:t>identificación de usuarios y el control de acceso </a:t>
            </a:r>
            <a:r>
              <a:rPr lang="es-ES" sz="2800" dirty="0"/>
              <a:t>es parte del trabajo de un desarrollador </a:t>
            </a:r>
            <a:r>
              <a:rPr lang="es-ES" sz="2800" dirty="0" err="1"/>
              <a:t>front-end</a:t>
            </a:r>
            <a:r>
              <a:rPr lang="es-ES" sz="2800" dirty="0"/>
              <a:t>.</a:t>
            </a:r>
          </a:p>
          <a:p>
            <a:pPr fontAlgn="base"/>
            <a:endParaRPr lang="es-ES" sz="28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A1D51F6-2235-47DB-A332-17D387EC8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147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4CE836-2C65-4E86-9037-AFFFDAB7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Intro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67E963-015A-4329-ADA6-AE8626FB4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Veremos nuevos usos de los </a:t>
            </a:r>
            <a:r>
              <a:rPr lang="es-ES" altLang="es-ES" sz="2800" i="1" dirty="0">
                <a:latin typeface="inherit"/>
              </a:rPr>
              <a:t>observables</a:t>
            </a:r>
            <a:r>
              <a:rPr lang="es-ES" altLang="es-ES" sz="2800" dirty="0">
                <a:latin typeface="Open Sans"/>
              </a:rPr>
              <a:t> y los servicios de la librería 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@angular/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common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/http</a:t>
            </a:r>
            <a:r>
              <a:rPr lang="es-ES" altLang="es-ES" sz="2800" dirty="0">
                <a:latin typeface="Open Sans"/>
              </a:rPr>
              <a:t> con los que tratar con los </a:t>
            </a:r>
            <a:r>
              <a:rPr lang="es-ES" altLang="es-ES" sz="2800" b="1" dirty="0">
                <a:latin typeface="inherit"/>
              </a:rPr>
              <a:t>tokens para comunicaciones seguras en Angular</a:t>
            </a:r>
            <a:r>
              <a:rPr lang="es-ES" altLang="es-ES" sz="2800" dirty="0">
                <a:latin typeface="Open Sans"/>
              </a:rPr>
              <a:t>.</a:t>
            </a:r>
          </a:p>
          <a:p>
            <a:pPr mar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altLang="es-ES" sz="2800" dirty="0">
              <a:solidFill>
                <a:schemeClr val="tx1"/>
              </a:solidFill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800" dirty="0">
                <a:latin typeface="Open Sans"/>
              </a:rPr>
              <a:t>Al finalizar tendrás una aplicación que identifica usuarios y se responsabiliza de almacenar y comunicar el </a:t>
            </a:r>
            <a:r>
              <a:rPr lang="es-ES" altLang="es-ES" sz="2800" i="1" dirty="0">
                <a:latin typeface="inherit"/>
              </a:rPr>
              <a:t>token</a:t>
            </a:r>
            <a:r>
              <a:rPr lang="es-ES" altLang="es-ES" sz="2800" dirty="0">
                <a:latin typeface="Open Sans"/>
              </a:rPr>
              <a:t> de seguridad de un servicio REST.</a:t>
            </a:r>
            <a:endParaRPr lang="es-ES" altLang="es-E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440431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61102C0-99D2-46C0-AFAF-00CBB7AB6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Seguridad</a:t>
            </a:r>
          </a:p>
        </p:txBody>
      </p:sp>
    </p:spTree>
    <p:extLst>
      <p:ext uri="{BB962C8B-B14F-4D97-AF65-F5344CB8AC3E}">
        <p14:creationId xmlns:p14="http://schemas.microsoft.com/office/powerpoint/2010/main" val="3892045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9EFABE50-4469-5160-7DDD-E5E09E6233CD}"/>
              </a:ext>
            </a:extLst>
          </p:cNvPr>
          <p:cNvSpPr txBox="1"/>
          <p:nvPr/>
        </p:nvSpPr>
        <p:spPr>
          <a:xfrm>
            <a:off x="3941762" y="5718645"/>
            <a:ext cx="228600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Servicios web</a:t>
            </a:r>
          </a:p>
          <a:p>
            <a:r>
              <a:rPr lang="es-ES" dirty="0"/>
              <a:t>Datos Privados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D84BDA-034D-93C8-6111-E59D5118EA58}"/>
              </a:ext>
            </a:extLst>
          </p:cNvPr>
          <p:cNvSpPr txBox="1"/>
          <p:nvPr/>
        </p:nvSpPr>
        <p:spPr>
          <a:xfrm>
            <a:off x="2493962" y="1908645"/>
            <a:ext cx="22860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Angular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3DD890-FB52-2462-4C05-11D85CF1C163}"/>
              </a:ext>
            </a:extLst>
          </p:cNvPr>
          <p:cNvSpPr txBox="1"/>
          <p:nvPr/>
        </p:nvSpPr>
        <p:spPr>
          <a:xfrm>
            <a:off x="1350962" y="5718645"/>
            <a:ext cx="228600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Servicios web</a:t>
            </a:r>
          </a:p>
          <a:p>
            <a:r>
              <a:rPr lang="es-ES" dirty="0"/>
              <a:t>Datos </a:t>
            </a:r>
            <a:r>
              <a:rPr lang="es-ES" dirty="0" err="1"/>
              <a:t>Publicos</a:t>
            </a:r>
            <a:endParaRPr lang="es-ES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63F92D59-CD16-DC58-18DC-10C9997FB772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2493962" y="2277977"/>
            <a:ext cx="1143000" cy="3440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2506A247-9604-4139-B12F-294FE1CEF1B5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3636962" y="2277977"/>
            <a:ext cx="1447800" cy="3440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767CD4E-0E15-D43E-6387-1C250DEB205C}"/>
              </a:ext>
            </a:extLst>
          </p:cNvPr>
          <p:cNvSpPr txBox="1"/>
          <p:nvPr/>
        </p:nvSpPr>
        <p:spPr>
          <a:xfrm>
            <a:off x="4327180" y="3802759"/>
            <a:ext cx="1329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Autenticado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DD49750-01B6-F073-FCE3-9A9C0ED2D702}"/>
              </a:ext>
            </a:extLst>
          </p:cNvPr>
          <p:cNvSpPr txBox="1"/>
          <p:nvPr/>
        </p:nvSpPr>
        <p:spPr>
          <a:xfrm>
            <a:off x="9323162" y="5640994"/>
            <a:ext cx="228600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Servicios </a:t>
            </a:r>
            <a:r>
              <a:rPr lang="es-ES" dirty="0" err="1"/>
              <a:t>Auth</a:t>
            </a:r>
            <a:endParaRPr lang="es-ES" dirty="0"/>
          </a:p>
          <a:p>
            <a:r>
              <a:rPr lang="es-ES" dirty="0"/>
              <a:t>token == Mochila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3F0D981-7BEC-4F2C-5BB7-81ABAA06BF07}"/>
              </a:ext>
            </a:extLst>
          </p:cNvPr>
          <p:cNvSpPr txBox="1"/>
          <p:nvPr/>
        </p:nvSpPr>
        <p:spPr>
          <a:xfrm>
            <a:off x="7911874" y="1631646"/>
            <a:ext cx="2286000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Usuario</a:t>
            </a:r>
          </a:p>
          <a:p>
            <a:r>
              <a:rPr lang="es-ES" dirty="0"/>
              <a:t>Contraseña</a:t>
            </a:r>
          </a:p>
        </p:txBody>
      </p: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E97378AD-4A1D-289D-8D66-31696AB69799}"/>
              </a:ext>
            </a:extLst>
          </p:cNvPr>
          <p:cNvCxnSpPr>
            <a:cxnSpLocks/>
          </p:cNvCxnSpPr>
          <p:nvPr/>
        </p:nvCxnSpPr>
        <p:spPr>
          <a:xfrm>
            <a:off x="9323162" y="2217381"/>
            <a:ext cx="1447800" cy="3423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76A3DB4-E1FC-8CEF-3ABF-1E65FA788632}"/>
              </a:ext>
            </a:extLst>
          </p:cNvPr>
          <p:cNvSpPr txBox="1"/>
          <p:nvPr/>
        </p:nvSpPr>
        <p:spPr>
          <a:xfrm>
            <a:off x="7418162" y="653773"/>
            <a:ext cx="4440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Token (</a:t>
            </a:r>
            <a:r>
              <a:rPr lang="es-ES" dirty="0" err="1"/>
              <a:t>identidad+grupos+roles+ámbitos</a:t>
            </a:r>
            <a:r>
              <a:rPr lang="es-ES" dirty="0"/>
              <a:t>)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C38D1BA8-5D3A-55DD-BE04-54AC42B726FC}"/>
              </a:ext>
            </a:extLst>
          </p:cNvPr>
          <p:cNvCxnSpPr>
            <a:cxnSpLocks/>
          </p:cNvCxnSpPr>
          <p:nvPr/>
        </p:nvCxnSpPr>
        <p:spPr>
          <a:xfrm flipH="1" flipV="1">
            <a:off x="8637362" y="2277977"/>
            <a:ext cx="1275556" cy="3363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6AB082FC-C1D3-E1DE-AFFE-49A7C82CCC23}"/>
              </a:ext>
            </a:extLst>
          </p:cNvPr>
          <p:cNvSpPr txBox="1"/>
          <p:nvPr/>
        </p:nvSpPr>
        <p:spPr>
          <a:xfrm>
            <a:off x="7418162" y="10844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b="0" i="0" dirty="0">
                <a:solidFill>
                  <a:srgbClr val="212121"/>
                </a:solidFill>
                <a:effectLst/>
                <a:latin typeface="Inter"/>
              </a:rPr>
              <a:t>eyJhbGciOiJIUzI1NiIsInR5cCI6IkpXVCJ9.eyJlbWFpbCI6ImFkbWluQGFwaS1iYXNlLmNvbSIsImlhdCI6MTY4NTM1NzQxMiwiZXhwIjoxNjg1MzYxMDEyfQ.91enLNmxekh3wST4aKz06mrsq7ORP7q8qrJbJNzhMrM</a:t>
            </a:r>
            <a:endParaRPr lang="es-ES" sz="900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7F1C613-3900-8673-C8B7-56206E095C4C}"/>
              </a:ext>
            </a:extLst>
          </p:cNvPr>
          <p:cNvSpPr txBox="1"/>
          <p:nvPr/>
        </p:nvSpPr>
        <p:spPr>
          <a:xfrm>
            <a:off x="10103418" y="372510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Usuario + Contraseña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ACFDC4F-E623-CCEB-9534-F21F0492F74E}"/>
              </a:ext>
            </a:extLst>
          </p:cNvPr>
          <p:cNvSpPr txBox="1"/>
          <p:nvPr/>
        </p:nvSpPr>
        <p:spPr>
          <a:xfrm>
            <a:off x="2626518" y="383863"/>
            <a:ext cx="240188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/>
              <a:t>{</a:t>
            </a:r>
          </a:p>
          <a:p>
            <a:r>
              <a:rPr lang="es-ES" sz="1100" dirty="0"/>
              <a:t>  "sub": "1234567890",</a:t>
            </a:r>
          </a:p>
          <a:p>
            <a:r>
              <a:rPr lang="es-ES" sz="1100" dirty="0"/>
              <a:t>  "</a:t>
            </a:r>
            <a:r>
              <a:rPr lang="es-ES" sz="1100" dirty="0" err="1"/>
              <a:t>name</a:t>
            </a:r>
            <a:r>
              <a:rPr lang="es-ES" sz="1100" dirty="0"/>
              <a:t>": "John </a:t>
            </a:r>
            <a:r>
              <a:rPr lang="es-ES" sz="1100" dirty="0" err="1"/>
              <a:t>Doe</a:t>
            </a:r>
            <a:r>
              <a:rPr lang="es-ES" sz="1100" dirty="0"/>
              <a:t>",</a:t>
            </a:r>
          </a:p>
          <a:p>
            <a:r>
              <a:rPr lang="es-ES" sz="1100" dirty="0"/>
              <a:t>  "</a:t>
            </a:r>
            <a:r>
              <a:rPr lang="es-ES" sz="1100" dirty="0" err="1"/>
              <a:t>iat</a:t>
            </a:r>
            <a:r>
              <a:rPr lang="es-ES" sz="1100" dirty="0"/>
              <a:t>": 1516239022</a:t>
            </a:r>
          </a:p>
          <a:p>
            <a:r>
              <a:rPr lang="es-ES" sz="1100" dirty="0"/>
              <a:t>   “roles”: [],</a:t>
            </a:r>
          </a:p>
          <a:p>
            <a:r>
              <a:rPr lang="es-ES" sz="1100" dirty="0"/>
              <a:t>   “</a:t>
            </a:r>
            <a:r>
              <a:rPr lang="es-ES" sz="1100" dirty="0" err="1"/>
              <a:t>groups</a:t>
            </a:r>
            <a:r>
              <a:rPr lang="es-ES" sz="1100" dirty="0"/>
              <a:t>”: [],</a:t>
            </a:r>
          </a:p>
          <a:p>
            <a:r>
              <a:rPr lang="es-ES" sz="1100" dirty="0"/>
              <a:t>   “</a:t>
            </a:r>
            <a:r>
              <a:rPr lang="es-ES" sz="1100" dirty="0" err="1"/>
              <a:t>scopes</a:t>
            </a:r>
            <a:r>
              <a:rPr lang="es-ES" sz="1100" dirty="0"/>
              <a:t>”: []</a:t>
            </a:r>
          </a:p>
          <a:p>
            <a:r>
              <a:rPr lang="es-ES" sz="1100" dirty="0"/>
              <a:t>}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F173E3-12BC-28DB-487B-2B5879773521}"/>
              </a:ext>
            </a:extLst>
          </p:cNvPr>
          <p:cNvSpPr txBox="1"/>
          <p:nvPr/>
        </p:nvSpPr>
        <p:spPr>
          <a:xfrm>
            <a:off x="3827462" y="4094440"/>
            <a:ext cx="27051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00" dirty="0"/>
              <a:t>Token (</a:t>
            </a:r>
            <a:r>
              <a:rPr lang="es-ES" sz="1000" dirty="0" err="1"/>
              <a:t>identidad+grupos+roles+ámbitos</a:t>
            </a:r>
            <a:r>
              <a:rPr lang="es-ES" sz="1000" dirty="0"/>
              <a:t>)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507686-BEA2-0AD9-CC46-10AF94747543}"/>
              </a:ext>
            </a:extLst>
          </p:cNvPr>
          <p:cNvSpPr txBox="1"/>
          <p:nvPr/>
        </p:nvSpPr>
        <p:spPr>
          <a:xfrm>
            <a:off x="6290426" y="3593801"/>
            <a:ext cx="3334544" cy="175432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900" dirty="0"/>
              <a:t>JWT</a:t>
            </a:r>
          </a:p>
          <a:p>
            <a:r>
              <a:rPr lang="es-ES" sz="900" dirty="0"/>
              <a:t>Identidad (JORGE)</a:t>
            </a:r>
          </a:p>
          <a:p>
            <a:r>
              <a:rPr lang="es-ES" sz="900" dirty="0"/>
              <a:t>	LOGICA</a:t>
            </a:r>
          </a:p>
          <a:p>
            <a:r>
              <a:rPr lang="es-ES" sz="900" dirty="0"/>
              <a:t>	Roles 	Letrado, Bibliotecario</a:t>
            </a:r>
          </a:p>
          <a:p>
            <a:r>
              <a:rPr lang="es-ES" sz="900" dirty="0"/>
              <a:t>	</a:t>
            </a:r>
            <a:r>
              <a:rPr lang="es-ES" sz="900" dirty="0" err="1"/>
              <a:t>Groups</a:t>
            </a:r>
            <a:r>
              <a:rPr lang="es-ES" sz="900" dirty="0"/>
              <a:t> 	Biblioteca</a:t>
            </a:r>
          </a:p>
          <a:p>
            <a:endParaRPr lang="es-ES" sz="900" dirty="0"/>
          </a:p>
          <a:p>
            <a:r>
              <a:rPr lang="es-ES" sz="900" dirty="0"/>
              <a:t>	FISICA</a:t>
            </a:r>
          </a:p>
          <a:p>
            <a:r>
              <a:rPr lang="es-ES" sz="900" dirty="0"/>
              <a:t>	</a:t>
            </a:r>
            <a:r>
              <a:rPr lang="es-ES" sz="900" dirty="0" err="1"/>
              <a:t>Scopes</a:t>
            </a:r>
            <a:r>
              <a:rPr lang="es-ES" sz="900" dirty="0"/>
              <a:t>	(Permisos recursos)</a:t>
            </a:r>
          </a:p>
          <a:p>
            <a:r>
              <a:rPr lang="es-ES" sz="900" dirty="0"/>
              <a:t>		Administrar Libros</a:t>
            </a:r>
          </a:p>
          <a:p>
            <a:r>
              <a:rPr lang="es-ES" sz="900" dirty="0"/>
              <a:t>		Acceder al Almacén</a:t>
            </a:r>
          </a:p>
          <a:p>
            <a:r>
              <a:rPr lang="es-ES" sz="900" dirty="0"/>
              <a:t>		…</a:t>
            </a:r>
          </a:p>
          <a:p>
            <a:r>
              <a:rPr lang="es-ES" sz="900" dirty="0"/>
              <a:t>¿y si crece demasiado?</a:t>
            </a:r>
          </a:p>
        </p:txBody>
      </p:sp>
    </p:spTree>
    <p:extLst>
      <p:ext uri="{BB962C8B-B14F-4D97-AF65-F5344CB8AC3E}">
        <p14:creationId xmlns:p14="http://schemas.microsoft.com/office/powerpoint/2010/main" val="3127477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5EDCCEC-7C25-8BC6-17FA-5C67B07C2480}"/>
              </a:ext>
            </a:extLst>
          </p:cNvPr>
          <p:cNvSpPr txBox="1"/>
          <p:nvPr/>
        </p:nvSpPr>
        <p:spPr>
          <a:xfrm>
            <a:off x="4295094" y="1337769"/>
            <a:ext cx="2286000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 Compartido</a:t>
            </a:r>
          </a:p>
          <a:p>
            <a:endParaRPr lang="es-ES" dirty="0"/>
          </a:p>
          <a:p>
            <a:r>
              <a:rPr lang="es-ES" dirty="0"/>
              <a:t>Tres Observables</a:t>
            </a:r>
          </a:p>
          <a:p>
            <a:r>
              <a:rPr lang="es-ES" dirty="0" err="1">
                <a:solidFill>
                  <a:srgbClr val="FF0000"/>
                </a:solidFill>
                <a:highlight>
                  <a:srgbClr val="FFFF00"/>
                </a:highlight>
              </a:rPr>
              <a:t>Subject</a:t>
            </a:r>
            <a:endParaRPr lang="es-ES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es-ES" dirty="0" err="1">
                <a:solidFill>
                  <a:srgbClr val="FF0000"/>
                </a:solidFill>
                <a:highlight>
                  <a:srgbClr val="FFFF00"/>
                </a:highlight>
              </a:rPr>
              <a:t>BSubject</a:t>
            </a:r>
            <a:endParaRPr lang="es-E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F308DA-DD8B-86F8-E721-A2C7148EA4B9}"/>
              </a:ext>
            </a:extLst>
          </p:cNvPr>
          <p:cNvSpPr txBox="1"/>
          <p:nvPr/>
        </p:nvSpPr>
        <p:spPr>
          <a:xfrm>
            <a:off x="486682" y="3988360"/>
            <a:ext cx="2286000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Interceptor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41B339-2D56-42B0-7648-875457059778}"/>
              </a:ext>
            </a:extLst>
          </p:cNvPr>
          <p:cNvSpPr txBox="1"/>
          <p:nvPr/>
        </p:nvSpPr>
        <p:spPr>
          <a:xfrm>
            <a:off x="9017906" y="4114800"/>
            <a:ext cx="286770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Modulo B -&gt; Componente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ED5E12C-AE25-0618-4D7E-F8A42E2A579F}"/>
              </a:ext>
            </a:extLst>
          </p:cNvPr>
          <p:cNvSpPr txBox="1"/>
          <p:nvPr/>
        </p:nvSpPr>
        <p:spPr>
          <a:xfrm>
            <a:off x="447788" y="4379463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Observador</a:t>
            </a:r>
            <a:r>
              <a:rPr lang="es-ES" dirty="0"/>
              <a:t> &gt; </a:t>
            </a:r>
            <a:r>
              <a:rPr lang="es-ES" dirty="0" err="1"/>
              <a:t>Messages</a:t>
            </a:r>
            <a:endParaRPr lang="es-ES" dirty="0"/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56D1BBF5-FE4E-A578-AB9A-E90B502FD821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2772682" y="2815097"/>
            <a:ext cx="2665412" cy="135792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E4E48FDB-4871-DA95-A665-0230A932BE7D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>
            <a:off x="5438094" y="2815098"/>
            <a:ext cx="3579812" cy="154259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99011D7-46A3-3ED9-27AE-83C4208976AA}"/>
              </a:ext>
            </a:extLst>
          </p:cNvPr>
          <p:cNvSpPr txBox="1"/>
          <p:nvPr/>
        </p:nvSpPr>
        <p:spPr>
          <a:xfrm>
            <a:off x="9019494" y="1034143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Emite uno nuevo &gt; Valor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FD8DFD1-2C4B-0F5F-8A51-4E92B7D82EBB}"/>
              </a:ext>
            </a:extLst>
          </p:cNvPr>
          <p:cNvSpPr txBox="1"/>
          <p:nvPr/>
        </p:nvSpPr>
        <p:spPr>
          <a:xfrm>
            <a:off x="9142412" y="4595336"/>
            <a:ext cx="2620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Observador</a:t>
            </a:r>
            <a:r>
              <a:rPr lang="es-ES" dirty="0"/>
              <a:t> &gt; </a:t>
            </a:r>
            <a:r>
              <a:rPr lang="es-ES" dirty="0" err="1"/>
              <a:t>Messages</a:t>
            </a:r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33ABBA1-AC51-1EBD-F1C7-68CD52F2BDD7}"/>
              </a:ext>
            </a:extLst>
          </p:cNvPr>
          <p:cNvSpPr txBox="1"/>
          <p:nvPr/>
        </p:nvSpPr>
        <p:spPr>
          <a:xfrm>
            <a:off x="9345035" y="1448825"/>
            <a:ext cx="228600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Modulo C</a:t>
            </a:r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81749314-F334-7AB5-3E5D-4539C3276DC0}"/>
              </a:ext>
            </a:extLst>
          </p:cNvPr>
          <p:cNvCxnSpPr>
            <a:cxnSpLocks/>
            <a:endCxn id="4" idx="3"/>
          </p:cNvCxnSpPr>
          <p:nvPr/>
        </p:nvCxnSpPr>
        <p:spPr>
          <a:xfrm rot="10800000" flipV="1">
            <a:off x="6581094" y="1634025"/>
            <a:ext cx="2743200" cy="4424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8A8901C-F079-113B-735D-AD75653EC9A6}"/>
              </a:ext>
            </a:extLst>
          </p:cNvPr>
          <p:cNvSpPr txBox="1"/>
          <p:nvPr/>
        </p:nvSpPr>
        <p:spPr>
          <a:xfrm>
            <a:off x="478857" y="4716138"/>
            <a:ext cx="4484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getUserToken</a:t>
            </a:r>
            <a:r>
              <a:rPr lang="es-E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E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getUserIsAnonymous</a:t>
            </a:r>
            <a:endParaRPr lang="es-E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endParaRPr lang="es-E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2E0E5E6-CE65-129A-2C3F-CA582EA1522B}"/>
              </a:ext>
            </a:extLst>
          </p:cNvPr>
          <p:cNvSpPr txBox="1"/>
          <p:nvPr/>
        </p:nvSpPr>
        <p:spPr>
          <a:xfrm>
            <a:off x="9507763" y="208480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setUserToken</a:t>
            </a:r>
            <a:endParaRPr lang="es-E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E646118-8749-C7DB-8F3C-E7053A5F43FB}"/>
              </a:ext>
            </a:extLst>
          </p:cNvPr>
          <p:cNvSpPr txBox="1"/>
          <p:nvPr/>
        </p:nvSpPr>
        <p:spPr>
          <a:xfrm>
            <a:off x="9277576" y="1835448"/>
            <a:ext cx="2309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credentials.module</a:t>
            </a:r>
            <a:endParaRPr lang="es-ES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55D3CE7-36FC-5A34-71B9-D58EF2E5EC7D}"/>
              </a:ext>
            </a:extLst>
          </p:cNvPr>
          <p:cNvSpPr txBox="1"/>
          <p:nvPr/>
        </p:nvSpPr>
        <p:spPr>
          <a:xfrm>
            <a:off x="9341757" y="2512837"/>
            <a:ext cx="4982256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userToken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userToken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userIsAnonymous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userIsAnonymous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69C94C1-C659-490A-AB92-374690D848AE}"/>
              </a:ext>
            </a:extLst>
          </p:cNvPr>
          <p:cNvSpPr txBox="1"/>
          <p:nvPr/>
        </p:nvSpPr>
        <p:spPr>
          <a:xfrm>
            <a:off x="5567135" y="2933276"/>
            <a:ext cx="2965677" cy="46166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userToken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 = “·”</a:t>
            </a:r>
            <a:endParaRPr lang="es-E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userIsAnonymous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 = “.”</a:t>
            </a:r>
            <a:endParaRPr lang="es-E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91C484DF-2D3A-0CD1-B326-223D758FDB28}"/>
              </a:ext>
            </a:extLst>
          </p:cNvPr>
          <p:cNvSpPr txBox="1"/>
          <p:nvPr/>
        </p:nvSpPr>
        <p:spPr>
          <a:xfrm>
            <a:off x="486682" y="5129909"/>
            <a:ext cx="24835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= “.”</a:t>
            </a:r>
            <a:endParaRPr lang="es-E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5DCFB4A-1367-D45B-10BC-602BDFA28AE9}"/>
              </a:ext>
            </a:extLst>
          </p:cNvPr>
          <p:cNvSpPr txBox="1"/>
          <p:nvPr/>
        </p:nvSpPr>
        <p:spPr>
          <a:xfrm>
            <a:off x="9142412" y="4836957"/>
            <a:ext cx="448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¿?/</a:t>
            </a:r>
            <a:r>
              <a:rPr lang="es-E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getUserIsAnonymous</a:t>
            </a:r>
            <a:endParaRPr lang="es-E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F79446A-E143-1924-338A-90C447956EF2}"/>
              </a:ext>
            </a:extLst>
          </p:cNvPr>
          <p:cNvSpPr txBox="1"/>
          <p:nvPr/>
        </p:nvSpPr>
        <p:spPr>
          <a:xfrm>
            <a:off x="496085" y="5414362"/>
            <a:ext cx="7678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getUserToken</a:t>
            </a:r>
            <a:r>
              <a:rPr lang="es-E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s-E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subscribe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setToken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4EB0811-47BD-873D-D068-5701C1A8C1D7}"/>
              </a:ext>
            </a:extLst>
          </p:cNvPr>
          <p:cNvSpPr txBox="1"/>
          <p:nvPr/>
        </p:nvSpPr>
        <p:spPr>
          <a:xfrm>
            <a:off x="8609012" y="5240872"/>
            <a:ext cx="76787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s-E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getUserToken</a:t>
            </a:r>
            <a:r>
              <a:rPr lang="es-E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s-E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subscribe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setToken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18E56B9-5F17-CFC0-C701-45F5B38BE8C6}"/>
              </a:ext>
            </a:extLst>
          </p:cNvPr>
          <p:cNvSpPr txBox="1"/>
          <p:nvPr/>
        </p:nvSpPr>
        <p:spPr>
          <a:xfrm>
            <a:off x="496085" y="5715000"/>
            <a:ext cx="50710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b-NO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nb-NO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b-NO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setToken</a:t>
            </a:r>
            <a:r>
              <a:rPr lang="nb-NO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nb-NO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nb-NO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nb-NO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any</a:t>
            </a:r>
            <a:r>
              <a:rPr lang="nb-NO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nb-NO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nb-NO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nb-NO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this.token </a:t>
            </a:r>
            <a:r>
              <a:rPr lang="nb-NO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nb-NO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token</a:t>
            </a:r>
            <a:r>
              <a:rPr lang="nb-NO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DD25A4-8606-7CBA-3258-2DADB0EB02FB}"/>
              </a:ext>
            </a:extLst>
          </p:cNvPr>
          <p:cNvSpPr txBox="1"/>
          <p:nvPr/>
        </p:nvSpPr>
        <p:spPr>
          <a:xfrm>
            <a:off x="380716" y="1179915"/>
            <a:ext cx="3334544" cy="175432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900" dirty="0"/>
              <a:t>JWT</a:t>
            </a:r>
          </a:p>
          <a:p>
            <a:r>
              <a:rPr lang="es-ES" sz="900" dirty="0"/>
              <a:t>Identidad (JORGE)</a:t>
            </a:r>
          </a:p>
          <a:p>
            <a:r>
              <a:rPr lang="es-ES" sz="900" dirty="0"/>
              <a:t>	LOGICA</a:t>
            </a:r>
          </a:p>
          <a:p>
            <a:r>
              <a:rPr lang="es-ES" sz="900" dirty="0"/>
              <a:t>	Roles 	Letrado, Bibliotecario</a:t>
            </a:r>
          </a:p>
          <a:p>
            <a:r>
              <a:rPr lang="es-ES" sz="900" dirty="0"/>
              <a:t>	</a:t>
            </a:r>
            <a:r>
              <a:rPr lang="es-ES" sz="900" dirty="0" err="1"/>
              <a:t>Groups</a:t>
            </a:r>
            <a:r>
              <a:rPr lang="es-ES" sz="900" dirty="0"/>
              <a:t> 	Biblioteca</a:t>
            </a:r>
          </a:p>
          <a:p>
            <a:endParaRPr lang="es-ES" sz="900" dirty="0"/>
          </a:p>
          <a:p>
            <a:r>
              <a:rPr lang="es-ES" sz="900" dirty="0"/>
              <a:t>	FISICA</a:t>
            </a:r>
          </a:p>
          <a:p>
            <a:r>
              <a:rPr lang="es-ES" sz="900" dirty="0"/>
              <a:t>	</a:t>
            </a:r>
            <a:r>
              <a:rPr lang="es-ES" sz="900" dirty="0" err="1"/>
              <a:t>Scopes</a:t>
            </a:r>
            <a:r>
              <a:rPr lang="es-ES" sz="900" dirty="0"/>
              <a:t>	(Permisos recursos)</a:t>
            </a:r>
          </a:p>
          <a:p>
            <a:r>
              <a:rPr lang="es-ES" sz="900" dirty="0"/>
              <a:t>		Administrar Libros</a:t>
            </a:r>
          </a:p>
          <a:p>
            <a:r>
              <a:rPr lang="es-ES" sz="900" dirty="0"/>
              <a:t>		Acceder al Almacén</a:t>
            </a:r>
          </a:p>
          <a:p>
            <a:r>
              <a:rPr lang="es-ES" sz="900" dirty="0"/>
              <a:t>		…</a:t>
            </a:r>
          </a:p>
          <a:p>
            <a:r>
              <a:rPr lang="es-ES" sz="900" dirty="0"/>
              <a:t>¿y si crece demasiado?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5AFC934-AD1A-D5F3-1FD6-05F32A4624F1}"/>
              </a:ext>
            </a:extLst>
          </p:cNvPr>
          <p:cNvSpPr txBox="1"/>
          <p:nvPr/>
        </p:nvSpPr>
        <p:spPr>
          <a:xfrm>
            <a:off x="9039764" y="5892159"/>
            <a:ext cx="2867706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Modulo D -&gt; Componente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0201F6-D443-7EFC-6FA3-6C2045D3C496}"/>
              </a:ext>
            </a:extLst>
          </p:cNvPr>
          <p:cNvSpPr txBox="1"/>
          <p:nvPr/>
        </p:nvSpPr>
        <p:spPr>
          <a:xfrm>
            <a:off x="9164270" y="6372695"/>
            <a:ext cx="2620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solidFill>
                  <a:srgbClr val="FF0000"/>
                </a:solidFill>
              </a:rPr>
              <a:t>Observador</a:t>
            </a:r>
            <a:r>
              <a:rPr lang="es-ES" dirty="0"/>
              <a:t> &gt; </a:t>
            </a:r>
            <a:r>
              <a:rPr lang="es-ES" dirty="0" err="1"/>
              <a:t>Messages</a:t>
            </a:r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B13EDB4-6BFB-68C2-21FB-BD03A5B317F6}"/>
              </a:ext>
            </a:extLst>
          </p:cNvPr>
          <p:cNvSpPr txBox="1"/>
          <p:nvPr/>
        </p:nvSpPr>
        <p:spPr>
          <a:xfrm>
            <a:off x="9164270" y="6614316"/>
            <a:ext cx="448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¿?/</a:t>
            </a:r>
            <a:r>
              <a:rPr lang="es-ES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getUserIsAnonymous</a:t>
            </a:r>
            <a:endParaRPr lang="es-ES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FD26BC3D-A88D-C04B-C251-64801D4BB644}"/>
              </a:ext>
            </a:extLst>
          </p:cNvPr>
          <p:cNvCxnSpPr>
            <a:cxnSpLocks/>
            <a:endCxn id="4" idx="2"/>
          </p:cNvCxnSpPr>
          <p:nvPr/>
        </p:nvCxnSpPr>
        <p:spPr>
          <a:xfrm rot="10800000">
            <a:off x="5438094" y="2815098"/>
            <a:ext cx="3629932" cy="327705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075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5EDCCEC-7C25-8BC6-17FA-5C67B07C2480}"/>
              </a:ext>
            </a:extLst>
          </p:cNvPr>
          <p:cNvSpPr txBox="1"/>
          <p:nvPr/>
        </p:nvSpPr>
        <p:spPr>
          <a:xfrm>
            <a:off x="4295094" y="1337769"/>
            <a:ext cx="2286000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 Compartido</a:t>
            </a:r>
          </a:p>
          <a:p>
            <a:endParaRPr lang="es-ES" dirty="0"/>
          </a:p>
          <a:p>
            <a:r>
              <a:rPr lang="es-ES" dirty="0"/>
              <a:t>Tres Observables</a:t>
            </a:r>
          </a:p>
          <a:p>
            <a:r>
              <a:rPr lang="es-ES" dirty="0"/>
              <a:t>	</a:t>
            </a:r>
            <a:r>
              <a:rPr lang="es-ES" dirty="0" err="1">
                <a:solidFill>
                  <a:srgbClr val="FF0000"/>
                </a:solidFill>
              </a:rPr>
              <a:t>Subject</a:t>
            </a:r>
            <a:endParaRPr lang="es-ES" dirty="0">
              <a:solidFill>
                <a:srgbClr val="FF0000"/>
              </a:solidFill>
            </a:endParaRPr>
          </a:p>
          <a:p>
            <a:r>
              <a:rPr lang="es-ES" dirty="0"/>
              <a:t>	</a:t>
            </a:r>
            <a:r>
              <a:rPr lang="es-ES" dirty="0" err="1"/>
              <a:t>BSubject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41B339-2D56-42B0-7648-875457059778}"/>
              </a:ext>
            </a:extLst>
          </p:cNvPr>
          <p:cNvSpPr txBox="1"/>
          <p:nvPr/>
        </p:nvSpPr>
        <p:spPr>
          <a:xfrm>
            <a:off x="7542212" y="5157495"/>
            <a:ext cx="4391706" cy="36933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Modulo B - </a:t>
            </a:r>
            <a:r>
              <a:rPr lang="es-ES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UserLoginComponent</a:t>
            </a:r>
            <a:endParaRPr lang="es-ES" dirty="0"/>
          </a:p>
        </p:txBody>
      </p:sp>
      <p:cxnSp>
        <p:nvCxnSpPr>
          <p:cNvPr id="12" name="Conector: angular 11">
            <a:extLst>
              <a:ext uri="{FF2B5EF4-FFF2-40B4-BE49-F238E27FC236}">
                <a16:creationId xmlns:a16="http://schemas.microsoft.com/office/drawing/2014/main" id="{E4E48FDB-4871-DA95-A665-0230A932BE7D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rot="10800000">
            <a:off x="5438094" y="2815097"/>
            <a:ext cx="2104118" cy="25270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99011D7-46A3-3ED9-27AE-83C4208976AA}"/>
              </a:ext>
            </a:extLst>
          </p:cNvPr>
          <p:cNvSpPr txBox="1"/>
          <p:nvPr/>
        </p:nvSpPr>
        <p:spPr>
          <a:xfrm>
            <a:off x="9019494" y="1034143"/>
            <a:ext cx="320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Emite uno nuevo &gt; </a:t>
            </a:r>
            <a:r>
              <a:rPr lang="es-ES" dirty="0" err="1"/>
              <a:t>Message</a:t>
            </a:r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33ABBA1-AC51-1EBD-F1C7-68CD52F2BDD7}"/>
              </a:ext>
            </a:extLst>
          </p:cNvPr>
          <p:cNvSpPr txBox="1"/>
          <p:nvPr/>
        </p:nvSpPr>
        <p:spPr>
          <a:xfrm>
            <a:off x="9476694" y="1449364"/>
            <a:ext cx="228600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Modulo C</a:t>
            </a:r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81749314-F334-7AB5-3E5D-4539C3276DC0}"/>
              </a:ext>
            </a:extLst>
          </p:cNvPr>
          <p:cNvCxnSpPr>
            <a:cxnSpLocks/>
            <a:endCxn id="4" idx="3"/>
          </p:cNvCxnSpPr>
          <p:nvPr/>
        </p:nvCxnSpPr>
        <p:spPr>
          <a:xfrm rot="10800000" flipV="1">
            <a:off x="6581094" y="1634025"/>
            <a:ext cx="2743200" cy="44240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C5B904C-F8A2-DF20-7C9F-EDD5F45FDE07}"/>
              </a:ext>
            </a:extLst>
          </p:cNvPr>
          <p:cNvSpPr txBox="1"/>
          <p:nvPr/>
        </p:nvSpPr>
        <p:spPr>
          <a:xfrm>
            <a:off x="7773759" y="5795122"/>
            <a:ext cx="3792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getUserIsAnonymous</a:t>
            </a:r>
            <a:endParaRPr lang="es-E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2E0E5E6-CE65-129A-2C3F-CA582EA1522B}"/>
              </a:ext>
            </a:extLst>
          </p:cNvPr>
          <p:cNvSpPr txBox="1"/>
          <p:nvPr/>
        </p:nvSpPr>
        <p:spPr>
          <a:xfrm>
            <a:off x="9507763" y="208480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setUserToken</a:t>
            </a:r>
            <a:endParaRPr lang="es-E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E646118-8749-C7DB-8F3C-E7053A5F43FB}"/>
              </a:ext>
            </a:extLst>
          </p:cNvPr>
          <p:cNvSpPr txBox="1"/>
          <p:nvPr/>
        </p:nvSpPr>
        <p:spPr>
          <a:xfrm>
            <a:off x="9277576" y="1835448"/>
            <a:ext cx="23093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 err="1"/>
              <a:t>credentials.module</a:t>
            </a:r>
            <a:endParaRPr lang="es-ES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55D3CE7-36FC-5A34-71B9-D58EF2E5EC7D}"/>
              </a:ext>
            </a:extLst>
          </p:cNvPr>
          <p:cNvSpPr txBox="1"/>
          <p:nvPr/>
        </p:nvSpPr>
        <p:spPr>
          <a:xfrm>
            <a:off x="9442449" y="2437061"/>
            <a:ext cx="51863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userToken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userToken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userIsAnonymous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userIsAnonymous</a:t>
            </a:r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69C94C1-C659-490A-AB92-374690D848AE}"/>
              </a:ext>
            </a:extLst>
          </p:cNvPr>
          <p:cNvSpPr txBox="1"/>
          <p:nvPr/>
        </p:nvSpPr>
        <p:spPr>
          <a:xfrm>
            <a:off x="5438094" y="2926301"/>
            <a:ext cx="31709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userToken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 = “·”</a:t>
            </a:r>
            <a:endParaRPr lang="es-E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2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userIsAnonymous</a:t>
            </a:r>
            <a:r>
              <a:rPr lang="es-E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 = “.”</a:t>
            </a:r>
            <a:endParaRPr lang="es-E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183352-A9A9-5133-8060-E3CC4FE0389B}"/>
              </a:ext>
            </a:extLst>
          </p:cNvPr>
          <p:cNvSpPr txBox="1"/>
          <p:nvPr/>
        </p:nvSpPr>
        <p:spPr>
          <a:xfrm>
            <a:off x="474888" y="5198313"/>
            <a:ext cx="439170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Modulo A – </a:t>
            </a:r>
            <a:r>
              <a:rPr lang="es-E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UserLogin2Component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DEA845-D9F5-9987-AD41-4EB05D0B548B}"/>
              </a:ext>
            </a:extLst>
          </p:cNvPr>
          <p:cNvSpPr txBox="1"/>
          <p:nvPr/>
        </p:nvSpPr>
        <p:spPr>
          <a:xfrm>
            <a:off x="706435" y="5835940"/>
            <a:ext cx="3792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getUserIsAnonymous</a:t>
            </a:r>
            <a:endParaRPr lang="es-E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Conector: angular 8">
            <a:extLst>
              <a:ext uri="{FF2B5EF4-FFF2-40B4-BE49-F238E27FC236}">
                <a16:creationId xmlns:a16="http://schemas.microsoft.com/office/drawing/2014/main" id="{3AC92BAC-2A61-768A-D07F-574EB3B1524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33067" y="3712272"/>
            <a:ext cx="2325251" cy="6981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6508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5EDCCEC-7C25-8BC6-17FA-5C67B07C2480}"/>
              </a:ext>
            </a:extLst>
          </p:cNvPr>
          <p:cNvSpPr txBox="1"/>
          <p:nvPr/>
        </p:nvSpPr>
        <p:spPr>
          <a:xfrm>
            <a:off x="4295094" y="1337769"/>
            <a:ext cx="2286000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Servicio Compartido</a:t>
            </a:r>
          </a:p>
          <a:p>
            <a:endParaRPr lang="es-ES" dirty="0"/>
          </a:p>
          <a:p>
            <a:r>
              <a:rPr lang="es-ES" dirty="0"/>
              <a:t>Observables</a:t>
            </a:r>
          </a:p>
          <a:p>
            <a:r>
              <a:rPr lang="es-ES" dirty="0"/>
              <a:t>	</a:t>
            </a:r>
            <a:r>
              <a:rPr lang="es-ES" dirty="0" err="1">
                <a:solidFill>
                  <a:srgbClr val="FF0000"/>
                </a:solidFill>
              </a:rPr>
              <a:t>Subject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99011D7-46A3-3ED9-27AE-83C4208976AA}"/>
              </a:ext>
            </a:extLst>
          </p:cNvPr>
          <p:cNvSpPr txBox="1"/>
          <p:nvPr/>
        </p:nvSpPr>
        <p:spPr>
          <a:xfrm>
            <a:off x="9527946" y="1799434"/>
            <a:ext cx="22347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dirty="0"/>
              <a:t>Emite uno nuevo &gt; </a:t>
            </a:r>
            <a:r>
              <a:rPr lang="es-ES" sz="1100" dirty="0" err="1"/>
              <a:t>Message</a:t>
            </a:r>
            <a:endParaRPr lang="es-ES" sz="1100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33ABBA1-AC51-1EBD-F1C7-68CD52F2BDD7}"/>
              </a:ext>
            </a:extLst>
          </p:cNvPr>
          <p:cNvSpPr txBox="1"/>
          <p:nvPr/>
        </p:nvSpPr>
        <p:spPr>
          <a:xfrm>
            <a:off x="9476694" y="1449364"/>
            <a:ext cx="2286000" cy="369332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Modulo </a:t>
            </a:r>
            <a:r>
              <a:rPr lang="es-ES" dirty="0" err="1"/>
              <a:t>About</a:t>
            </a:r>
            <a:endParaRPr lang="es-ES" dirty="0"/>
          </a:p>
        </p:txBody>
      </p: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81749314-F334-7AB5-3E5D-4539C3276DC0}"/>
              </a:ext>
            </a:extLst>
          </p:cNvPr>
          <p:cNvCxnSpPr>
            <a:cxnSpLocks/>
            <a:stCxn id="21" idx="1"/>
            <a:endCxn id="4" idx="3"/>
          </p:cNvCxnSpPr>
          <p:nvPr/>
        </p:nvCxnSpPr>
        <p:spPr>
          <a:xfrm rot="10800000" flipV="1">
            <a:off x="6581094" y="1634030"/>
            <a:ext cx="2895600" cy="3039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72E0E5E6-CE65-129A-2C3F-CA582EA1522B}"/>
              </a:ext>
            </a:extLst>
          </p:cNvPr>
          <p:cNvSpPr txBox="1"/>
          <p:nvPr/>
        </p:nvSpPr>
        <p:spPr>
          <a:xfrm>
            <a:off x="9507763" y="2084809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setUserMessage</a:t>
            </a:r>
            <a:endParaRPr lang="es-E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6EBB6FC-2F5A-D16C-5FDD-2C1ACCA86F11}"/>
              </a:ext>
            </a:extLst>
          </p:cNvPr>
          <p:cNvSpPr txBox="1"/>
          <p:nvPr/>
        </p:nvSpPr>
        <p:spPr>
          <a:xfrm>
            <a:off x="4295094" y="691438"/>
            <a:ext cx="2286000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Modulo Compartido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AD2472-1568-B954-82C0-CBA27A197F23}"/>
              </a:ext>
            </a:extLst>
          </p:cNvPr>
          <p:cNvSpPr txBox="1"/>
          <p:nvPr/>
        </p:nvSpPr>
        <p:spPr>
          <a:xfrm>
            <a:off x="1141412" y="691438"/>
            <a:ext cx="2286000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App</a:t>
            </a:r>
          </a:p>
          <a:p>
            <a:endParaRPr lang="es-ES" dirty="0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C6BA553-9CDF-A37C-4F74-34B6E8B49355}"/>
              </a:ext>
            </a:extLst>
          </p:cNvPr>
          <p:cNvCxnSpPr/>
          <p:nvPr/>
        </p:nvCxnSpPr>
        <p:spPr>
          <a:xfrm>
            <a:off x="3579812" y="1014603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B957ABE-C282-1A72-F12C-3E1CA8DEA3CC}"/>
              </a:ext>
            </a:extLst>
          </p:cNvPr>
          <p:cNvSpPr txBox="1"/>
          <p:nvPr/>
        </p:nvSpPr>
        <p:spPr>
          <a:xfrm>
            <a:off x="3610881" y="3034773"/>
            <a:ext cx="426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userMessage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US" sz="11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userMessage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93567FB-7897-B3BA-2AC0-5DFDDFB937A5}"/>
              </a:ext>
            </a:extLst>
          </p:cNvPr>
          <p:cNvSpPr txBox="1"/>
          <p:nvPr/>
        </p:nvSpPr>
        <p:spPr>
          <a:xfrm>
            <a:off x="3610881" y="2649692"/>
            <a:ext cx="647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userMessage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Subject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&gt;();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847E682-BED4-3E6C-A97B-D8D97179D1DF}"/>
              </a:ext>
            </a:extLst>
          </p:cNvPr>
          <p:cNvSpPr txBox="1"/>
          <p:nvPr/>
        </p:nvSpPr>
        <p:spPr>
          <a:xfrm>
            <a:off x="474888" y="5198313"/>
            <a:ext cx="439170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dirty="0"/>
              <a:t>Modulo </a:t>
            </a:r>
            <a:r>
              <a:rPr lang="es-ES" dirty="0" err="1"/>
              <a:t>NotFound</a:t>
            </a:r>
            <a:endParaRPr lang="es-ES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146A656-C173-2807-A508-8056C6AFADD6}"/>
              </a:ext>
            </a:extLst>
          </p:cNvPr>
          <p:cNvSpPr txBox="1"/>
          <p:nvPr/>
        </p:nvSpPr>
        <p:spPr>
          <a:xfrm>
            <a:off x="150812" y="5638800"/>
            <a:ext cx="7171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userMessage</a:t>
            </a: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s-E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s-E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getUserMessage</a:t>
            </a:r>
            <a:r>
              <a:rPr lang="es-E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endParaRPr lang="es-E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5F637E9A-7E76-66FB-5FB5-4413BC02B8E7}"/>
              </a:ext>
            </a:extLst>
          </p:cNvPr>
          <p:cNvSpPr txBox="1"/>
          <p:nvPr/>
        </p:nvSpPr>
        <p:spPr>
          <a:xfrm>
            <a:off x="160110" y="60293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{{</a:t>
            </a:r>
            <a:r>
              <a:rPr lang="es-E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userMessage</a:t>
            </a:r>
            <a:r>
              <a:rPr lang="es-E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async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s-E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s-E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}}</a:t>
            </a:r>
          </a:p>
        </p:txBody>
      </p: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77A998B6-6010-DEE0-F4F6-D34E11316BD7}"/>
              </a:ext>
            </a:extLst>
          </p:cNvPr>
          <p:cNvCxnSpPr>
            <a:cxnSpLocks/>
            <a:stCxn id="20" idx="0"/>
          </p:cNvCxnSpPr>
          <p:nvPr/>
        </p:nvCxnSpPr>
        <p:spPr>
          <a:xfrm rot="5400000" flipH="1" flipV="1">
            <a:off x="2707713" y="3259413"/>
            <a:ext cx="1901928" cy="197587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021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66714A-FEBC-4230-AFEE-0A28870BF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Token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4DC392-DA1C-45DD-9C6A-7F4426E8B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s-ES" dirty="0"/>
              <a:t>La seguridad de las comunicaciones con un servicio REST se resuelve habitualmente mediante una </a:t>
            </a:r>
            <a:r>
              <a:rPr lang="es-ES" b="1" dirty="0"/>
              <a:t>credencial generada por el servidor llamada </a:t>
            </a:r>
            <a:r>
              <a:rPr lang="es-ES" b="1" i="1" dirty="0"/>
              <a:t>token</a:t>
            </a:r>
            <a:r>
              <a:rPr lang="es-ES" dirty="0"/>
              <a:t>. </a:t>
            </a:r>
          </a:p>
          <a:p>
            <a:pPr fontAlgn="base"/>
            <a:r>
              <a:rPr lang="es-ES" dirty="0"/>
              <a:t>Un usuario registrado en el sistema puede hacer </a:t>
            </a:r>
            <a:r>
              <a:rPr lang="es-ES" i="1" dirty="0"/>
              <a:t>log in</a:t>
            </a:r>
            <a:r>
              <a:rPr lang="es-ES" dirty="0"/>
              <a:t> enviando una vez su identificador y contraseña. </a:t>
            </a:r>
          </a:p>
          <a:p>
            <a:pPr fontAlgn="base"/>
            <a:r>
              <a:rPr lang="es-ES" dirty="0"/>
              <a:t>Si todo va bien, a cambio el servidor le enviará un </a:t>
            </a:r>
            <a:r>
              <a:rPr lang="es-ES" i="1" dirty="0"/>
              <a:t>token</a:t>
            </a:r>
            <a:r>
              <a:rPr lang="es-ES" dirty="0"/>
              <a:t> que deberá usar en las siguientes llamadas. </a:t>
            </a:r>
          </a:p>
          <a:p>
            <a:pPr fontAlgn="base"/>
            <a:r>
              <a:rPr lang="es-ES" dirty="0"/>
              <a:t>Con esto el servidor será capaz de autentificar las llamadas y responder adecuadamente.</a:t>
            </a:r>
          </a:p>
        </p:txBody>
      </p:sp>
    </p:spTree>
    <p:extLst>
      <p:ext uri="{BB962C8B-B14F-4D97-AF65-F5344CB8AC3E}">
        <p14:creationId xmlns:p14="http://schemas.microsoft.com/office/powerpoint/2010/main" val="313178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AA30CE-6265-47EC-866C-9027A53EA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Detectar intrusos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B80FB0E-C0F7-43FC-BF36-4B7BD72A0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4723030" cy="4803775"/>
          </a:xfrm>
        </p:spPr>
        <p:txBody>
          <a:bodyPr>
            <a:normAutofit fontScale="92500" lnSpcReduction="20000"/>
          </a:bodyPr>
          <a:lstStyle/>
          <a:p>
            <a:r>
              <a:rPr lang="es-ES" altLang="es-ES" sz="2800" dirty="0">
                <a:latin typeface="Open Sans"/>
              </a:rPr>
              <a:t>En el ejercicio usamos el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CatchInterceptorService</a:t>
            </a:r>
            <a:r>
              <a:rPr lang="es-ES" altLang="es-ES" sz="2800" dirty="0">
                <a:latin typeface="Open Sans"/>
              </a:rPr>
              <a:t> para capturar los errores obtenidos del servidor. </a:t>
            </a:r>
          </a:p>
          <a:p>
            <a:r>
              <a:rPr lang="es-ES" altLang="es-ES" sz="2800" dirty="0">
                <a:latin typeface="Open Sans"/>
              </a:rPr>
              <a:t>Cuando nos llegue un código 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401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Unauthorized</a:t>
            </a:r>
            <a:r>
              <a:rPr lang="es-ES" altLang="es-ES" sz="2800" dirty="0">
                <a:latin typeface="Open Sans"/>
              </a:rPr>
              <a:t> querrá decir que el servidor no acepta las actuales credenciales del usuario. </a:t>
            </a:r>
          </a:p>
          <a:p>
            <a:r>
              <a:rPr lang="es-ES" altLang="es-ES" sz="2800" dirty="0">
                <a:latin typeface="Open Sans"/>
              </a:rPr>
              <a:t>Lo que hacemos es llevar al usuario a una página para que pueda registrarse o volver a identificarse en el sistema.</a:t>
            </a:r>
            <a:endParaRPr lang="es-ES" altLang="es-ES" sz="2800" dirty="0">
              <a:solidFill>
                <a:schemeClr val="tx1"/>
              </a:solidFill>
            </a:endParaRPr>
          </a:p>
          <a:p>
            <a:endParaRPr lang="es-ES" sz="28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9680CC5-1FAC-4063-BA7A-268171DC6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812" y="1366420"/>
            <a:ext cx="6019800" cy="526297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private catchError = err =&gt;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if (err instanceof HttpErrorResponse)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this.catchHttpError(err);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console.error(err.message);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this.store.setUserMessage(err.message);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private catchHttpError(err: HttpErrorResponse)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if (err.status === 401)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this.catchUnauthorized();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console.warn(err.statusText);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this.store.setUserMessage(err.statusText);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private catchUnauthorized()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console.log("Not authorized");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this.store.setUserMessage("Not authorized");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this.navigateToLogin();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private navigateToLogin()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this.router.navigateByUrl("/credentials/login");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8E7AC4D-0586-42E2-B9CC-045AEB678894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647F75E-5D79-42C8-8331-8004D99DDEE5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C:\Labs\T8\EX1</a:t>
            </a:r>
          </a:p>
        </p:txBody>
      </p:sp>
    </p:spTree>
    <p:extLst>
      <p:ext uri="{BB962C8B-B14F-4D97-AF65-F5344CB8AC3E}">
        <p14:creationId xmlns:p14="http://schemas.microsoft.com/office/powerpoint/2010/main" val="3517176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A094B-B191-4A4D-9A8D-554DCD22B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Obtener credenciales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836BCA5-A217-43C7-865D-EBB4FEF8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4113430" cy="4803775"/>
          </a:xfrm>
        </p:spPr>
        <p:txBody>
          <a:bodyPr>
            <a:normAutofit fontScale="92500" lnSpcReduction="10000"/>
          </a:bodyPr>
          <a:lstStyle/>
          <a:p>
            <a:r>
              <a:rPr lang="es-ES" altLang="es-ES" sz="2800" dirty="0">
                <a:latin typeface="Open Sans"/>
              </a:rPr>
              <a:t>Mediante un formulario preguntamos al usuario los datos de identificación estándar: </a:t>
            </a:r>
            <a:r>
              <a:rPr lang="es-ES" altLang="es-ES" sz="2800" i="1" dirty="0">
                <a:latin typeface="inherit"/>
              </a:rPr>
              <a:t>email y </a:t>
            </a:r>
            <a:r>
              <a:rPr lang="es-ES" altLang="es-ES" sz="2800" i="1" dirty="0" err="1">
                <a:latin typeface="inherit"/>
              </a:rPr>
              <a:t>password</a:t>
            </a:r>
            <a:r>
              <a:rPr lang="es-ES" altLang="es-ES" sz="2800" dirty="0">
                <a:latin typeface="Open Sans"/>
              </a:rPr>
              <a:t>.</a:t>
            </a:r>
          </a:p>
          <a:p>
            <a:r>
              <a:rPr lang="es-ES" altLang="es-ES" sz="2800" dirty="0">
                <a:latin typeface="Open Sans"/>
              </a:rPr>
              <a:t>Estos se envían al servidor para que registre un usuario nuevo o valide a uno existente según el caso. </a:t>
            </a:r>
          </a:p>
          <a:p>
            <a:r>
              <a:rPr lang="es-ES" altLang="es-ES" sz="2800" dirty="0">
                <a:latin typeface="Open Sans"/>
              </a:rPr>
              <a:t>Mira el código del fichero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credentials.component.ts</a:t>
            </a:r>
            <a:endParaRPr lang="es-ES" sz="2800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8DC838C-7F8A-499E-BDB9-D403F7CD1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1412" y="1875583"/>
            <a:ext cx="7006712" cy="483209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public sendCredential()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this.errorMessage = "";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const credential = this.pageData.credential;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const service = this.pageData.title;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this.credentialsService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.sendCredential(credential, service)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.subscribe(this.acceptedCredentials, this.invalidCredentials);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private acceptedCredentials = responseData =&gt;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if (responseData &amp;&amp; responseData.token)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  this.store.setUserToken(responseData.token);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this.router.navigateByUrl("/");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this.invalidCredentials();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private invalidCredentials = () =&gt;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   this.store.setUserToken("");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this.errorMessage = "Invalid Credentials";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};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81B1D80-6562-4A83-9917-D8B8ABBE731B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LAB1b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D05FF10-5719-4DCF-8D9B-02AA0687BC95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C:\Labs\T8\EX1</a:t>
            </a:r>
          </a:p>
        </p:txBody>
      </p:sp>
    </p:spTree>
    <p:extLst>
      <p:ext uri="{BB962C8B-B14F-4D97-AF65-F5344CB8AC3E}">
        <p14:creationId xmlns:p14="http://schemas.microsoft.com/office/powerpoint/2010/main" val="40059274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0503E-4603-4EF8-AD61-F1B392555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Almacenamiento del token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53BC11A-1114-4E1F-8C62-0FFEF5DC2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base"/>
            <a:r>
              <a:rPr lang="es-ES" sz="2800" dirty="0"/>
              <a:t>Si se aceptan las credenciales </a:t>
            </a:r>
            <a:r>
              <a:rPr lang="es-ES" sz="2800" b="1" dirty="0"/>
              <a:t>el servidor nos devolverá un objeto con el </a:t>
            </a:r>
            <a:r>
              <a:rPr lang="es-ES" sz="2800" b="1" i="1" dirty="0"/>
              <a:t>token</a:t>
            </a:r>
            <a:r>
              <a:rPr lang="es-ES" sz="2800" b="1" dirty="0"/>
              <a:t> de la sesión</a:t>
            </a:r>
            <a:r>
              <a:rPr lang="es-ES" sz="2800" dirty="0"/>
              <a:t> para el usuario. </a:t>
            </a:r>
          </a:p>
          <a:p>
            <a:pPr fontAlgn="base"/>
            <a:r>
              <a:rPr lang="es-ES" sz="2800" dirty="0"/>
              <a:t>Es habitual que envíe más información como roles, y preferencias del usuario… pero eso ya depende del API. </a:t>
            </a:r>
          </a:p>
          <a:p>
            <a:pPr fontAlgn="base"/>
            <a:r>
              <a:rPr lang="es-ES" sz="2800" dirty="0"/>
              <a:t>Lo que depende de ti es guardar ese </a:t>
            </a:r>
            <a:r>
              <a:rPr lang="es-ES" sz="2800" i="1" dirty="0"/>
              <a:t>token</a:t>
            </a:r>
            <a:r>
              <a:rPr lang="es-E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7365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00503E-4603-4EF8-AD61-F1B392555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Almacenamiento del token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53BC11A-1114-4E1F-8C62-0FFEF5DC2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altLang="es-ES" sz="2800" dirty="0">
                <a:latin typeface="Open Sans"/>
              </a:rPr>
              <a:t>El </a:t>
            </a:r>
            <a:r>
              <a:rPr lang="es-ES" altLang="es-ES" sz="2800" b="1" dirty="0">
                <a:latin typeface="inherit"/>
              </a:rPr>
              <a:t>almacenamiento recomendado en los navegadores es el </a:t>
            </a:r>
            <a:r>
              <a:rPr lang="es-ES" altLang="es-ES" sz="2800" b="1" dirty="0" err="1">
                <a:solidFill>
                  <a:srgbClr val="428AC7"/>
                </a:solidFill>
                <a:latin typeface="Source Code Pro"/>
              </a:rPr>
              <a:t>localStorage</a:t>
            </a:r>
            <a:r>
              <a:rPr lang="es-ES" altLang="es-ES" sz="2800" dirty="0">
                <a:latin typeface="Open Sans"/>
              </a:rPr>
              <a:t> pero en este ejemplo tendrás que conformarte con almacenarlo en la memoria. </a:t>
            </a:r>
          </a:p>
          <a:p>
            <a:r>
              <a:rPr lang="es-ES" altLang="es-ES" sz="2800" dirty="0">
                <a:latin typeface="Open Sans"/>
              </a:rPr>
              <a:t>Eso sí, necesitamos un lugar que sea accesible para un interceptor que aún no hemos visto: el 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TokenInterceptorService</a:t>
            </a:r>
            <a:r>
              <a:rPr lang="es-ES" altLang="es-ES" sz="2800" dirty="0">
                <a:latin typeface="Open Sans"/>
              </a:rPr>
              <a:t>, se encargará de enviar dicho </a:t>
            </a:r>
            <a:r>
              <a:rPr lang="es-ES" altLang="es-ES" sz="2800" i="1" dirty="0">
                <a:latin typeface="inherit"/>
              </a:rPr>
              <a:t>token</a:t>
            </a:r>
            <a:r>
              <a:rPr lang="es-ES" altLang="es-ES" sz="2800" dirty="0">
                <a:latin typeface="Open Sans"/>
              </a:rPr>
              <a:t> en todas las llamadas. </a:t>
            </a:r>
          </a:p>
          <a:p>
            <a:r>
              <a:rPr lang="es-ES" altLang="es-ES" sz="2800" dirty="0">
                <a:latin typeface="Open Sans"/>
              </a:rPr>
              <a:t>Para comunicar este componente de las credenciales con ese interceptor sin acoplarlos hemos decidido usar un servicio intermedio: el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StoreService</a:t>
            </a:r>
            <a:r>
              <a:rPr lang="es-ES" altLang="es-ES" sz="2800" dirty="0">
                <a:latin typeface="Open Sans"/>
              </a:rPr>
              <a:t>.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2783359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CC404-48E8-4DF2-9BC9-753688D9D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store </a:t>
            </a:r>
            <a:r>
              <a:rPr lang="es-ES" dirty="0" err="1"/>
              <a:t>service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29CA433-D79C-48C1-97CD-561A08D8C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400" dirty="0">
                <a:latin typeface="Open Sans"/>
              </a:rPr>
              <a:t>Este servicio del fichero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store.service.ts</a:t>
            </a:r>
            <a:r>
              <a:rPr lang="es-ES" altLang="es-ES" sz="2400" dirty="0">
                <a:latin typeface="Open Sans"/>
              </a:rPr>
              <a:t> es la implementación más sencilla del </a:t>
            </a:r>
            <a:r>
              <a:rPr lang="es-ES" altLang="es-ES" sz="2400" b="1" dirty="0">
                <a:latin typeface="Open Sans"/>
              </a:rPr>
              <a:t>patrón </a:t>
            </a:r>
            <a:r>
              <a:rPr lang="es-ES" altLang="es-ES" sz="2400" b="1" i="1" dirty="0" err="1">
                <a:latin typeface="inherit"/>
              </a:rPr>
              <a:t>Redux</a:t>
            </a:r>
            <a:r>
              <a:rPr lang="es-ES" altLang="es-ES" sz="2400" dirty="0">
                <a:latin typeface="Open Sans"/>
              </a:rPr>
              <a:t> que hemos podido crear.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000" dirty="0">
                <a:latin typeface="Open Sans"/>
              </a:rPr>
              <a:t>Se basa en utilizar la librería </a:t>
            </a:r>
            <a:r>
              <a:rPr lang="es-ES" altLang="es-ES" sz="2000" dirty="0" err="1">
                <a:solidFill>
                  <a:srgbClr val="428AC7"/>
                </a:solidFill>
                <a:latin typeface="Source Code Pro"/>
              </a:rPr>
              <a:t>RxJs</a:t>
            </a:r>
            <a:r>
              <a:rPr lang="es-ES" altLang="es-ES" sz="2000" dirty="0">
                <a:latin typeface="Open Sans"/>
              </a:rPr>
              <a:t> para emitir cambios en el estado de un modelo; y que otro servicio pueda subscribirse para ser notificado de dichos cambios.</a:t>
            </a:r>
            <a:endParaRPr lang="es-ES" altLang="es-ES" sz="2000" dirty="0">
              <a:solidFill>
                <a:schemeClr val="tx1"/>
              </a:solidFill>
            </a:endParaRP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400" b="1" dirty="0">
                <a:latin typeface="Open Sans"/>
              </a:rPr>
              <a:t>El emisor </a:t>
            </a:r>
            <a:r>
              <a:rPr lang="es-ES" altLang="es-ES" sz="2400" dirty="0">
                <a:latin typeface="Open Sans"/>
              </a:rPr>
              <a:t>será el componente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CredentialsComponent</a:t>
            </a:r>
            <a:r>
              <a:rPr lang="es-ES" altLang="es-ES" sz="2400" dirty="0">
                <a:latin typeface="Open Sans"/>
              </a:rPr>
              <a:t> que envía las credenciales al servidor y recibe el </a:t>
            </a:r>
            <a:r>
              <a:rPr lang="es-ES" altLang="es-ES" sz="2400" i="1" dirty="0">
                <a:latin typeface="inherit"/>
              </a:rPr>
              <a:t>token</a:t>
            </a:r>
            <a:r>
              <a:rPr lang="es-ES" altLang="es-ES" sz="2400" dirty="0">
                <a:latin typeface="Open Sans"/>
              </a:rPr>
              <a:t>.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400" b="1" dirty="0">
                <a:latin typeface="Open Sans"/>
              </a:rPr>
              <a:t>El subscriptor </a:t>
            </a:r>
            <a:r>
              <a:rPr lang="es-ES" altLang="es-ES" sz="2400" dirty="0">
                <a:latin typeface="Open Sans"/>
              </a:rPr>
              <a:t>será el servicio de interceptación 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TokenInterceptorService</a:t>
            </a:r>
            <a:r>
              <a:rPr lang="es-ES" altLang="es-ES" sz="2400" dirty="0">
                <a:latin typeface="Open Sans"/>
              </a:rPr>
              <a:t> que usará dicho </a:t>
            </a:r>
            <a:r>
              <a:rPr lang="es-ES" altLang="es-ES" sz="2400" i="1" dirty="0">
                <a:latin typeface="inherit"/>
              </a:rPr>
              <a:t>token</a:t>
            </a:r>
            <a:r>
              <a:rPr lang="es-ES" altLang="es-ES" sz="2400" dirty="0">
                <a:latin typeface="Open Sans"/>
              </a:rPr>
              <a:t> para identificar al usuario actual en todas las llamadas al servidor.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ES" altLang="es-ES" sz="2400" dirty="0">
                <a:latin typeface="Open Sans"/>
              </a:rPr>
              <a:t>Y </a:t>
            </a:r>
            <a:r>
              <a:rPr lang="es-ES" altLang="es-ES" sz="2400" b="1" dirty="0">
                <a:latin typeface="Open Sans"/>
              </a:rPr>
              <a:t>en el medio </a:t>
            </a:r>
            <a:r>
              <a:rPr lang="es-ES" altLang="es-ES" sz="2400" dirty="0">
                <a:latin typeface="Open Sans"/>
              </a:rPr>
              <a:t>está el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StoreService</a:t>
            </a:r>
            <a:r>
              <a:rPr lang="es-ES" altLang="es-ES" sz="2400" dirty="0">
                <a:latin typeface="Open Sans"/>
              </a:rPr>
              <a:t> que actúa de enlace entre ambos. 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558113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46A57-86DF-47A4-8CF4-1E22C3F1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Store </a:t>
            </a:r>
            <a:r>
              <a:rPr lang="es-ES" dirty="0" err="1"/>
              <a:t>service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0A4119-0526-463B-83BA-E2B2BC7A5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altLang="es-ES" sz="2400" dirty="0">
                <a:latin typeface="Open Sans"/>
              </a:rPr>
              <a:t>Este es el código necesario en el fichero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store.service.ts</a:t>
            </a:r>
            <a:r>
              <a:rPr lang="es-ES" altLang="es-ES" sz="2400" dirty="0">
                <a:latin typeface="Open Sans"/>
              </a:rPr>
              <a:t>:</a:t>
            </a:r>
          </a:p>
          <a:p>
            <a:endParaRPr lang="es-ES" altLang="es-E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s-ES" sz="2400" dirty="0"/>
          </a:p>
          <a:p>
            <a:endParaRPr lang="es-ES" sz="2400" dirty="0"/>
          </a:p>
          <a:p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endParaRPr lang="es-ES" sz="240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968B9A6-F43F-4A1B-85D6-06D563368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212" y="1707952"/>
            <a:ext cx="9599611" cy="4616648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private userToken$ = new Subject&lt;any&gt;();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constructor() {}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public getUserToken$(): Observable&lt;string&gt;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return this.userToken$.asObservable();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public getUserIsAnonymous$(): Observable&lt;boolean&gt;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return this.userIsAnonymous$.asObservable();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public setUserToken(userToken: string)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if (userToken)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this.state.userToken = userToken;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this.state.userIsAnonymous = false;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} else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this.state.userToken = "";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  this.state.userIsAnonymous = true;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this.userToken$.next(this.state.userToken);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this.userIsAnonymous$.next(this.state.userIsAnonymous);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E890B64-444E-449A-AE80-7F08B1D410B3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LAB1c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7073E44-6FA0-42E2-833B-8640F29BFD6C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C:\Labs\T8\EX1</a:t>
            </a:r>
          </a:p>
        </p:txBody>
      </p:sp>
    </p:spTree>
    <p:extLst>
      <p:ext uri="{BB962C8B-B14F-4D97-AF65-F5344CB8AC3E}">
        <p14:creationId xmlns:p14="http://schemas.microsoft.com/office/powerpoint/2010/main" val="2521603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CBC93-0D2D-4CB7-A590-8D0D7AD0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Store </a:t>
            </a:r>
            <a:r>
              <a:rPr lang="es-ES" dirty="0" err="1"/>
              <a:t>service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40B9A7-7EE8-4569-8BE9-66BF02F05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altLang="es-ES" sz="2400" dirty="0">
                <a:latin typeface="Open Sans"/>
              </a:rPr>
              <a:t>El tipo genérico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Subject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&lt;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any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&gt;</a:t>
            </a:r>
            <a:r>
              <a:rPr lang="es-ES" altLang="es-ES" sz="2400" dirty="0">
                <a:latin typeface="Open Sans"/>
              </a:rPr>
              <a:t> viene en la librería 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rxjs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/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Subject</a:t>
            </a:r>
            <a:r>
              <a:rPr lang="es-ES" altLang="es-ES" sz="2400" dirty="0">
                <a:latin typeface="Open Sans"/>
              </a:rPr>
              <a:t> y es el </a:t>
            </a:r>
            <a:r>
              <a:rPr lang="es-ES" altLang="es-ES" sz="2400" b="1" dirty="0">
                <a:latin typeface="Open Sans"/>
              </a:rPr>
              <a:t>hermano mayor del ya conocido</a:t>
            </a:r>
            <a:r>
              <a:rPr lang="es-ES" altLang="es-ES" sz="2400" dirty="0">
                <a:latin typeface="Open Sans"/>
              </a:rPr>
              <a:t> 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Observable&lt;</a:t>
            </a:r>
            <a:r>
              <a:rPr lang="es-ES" altLang="es-ES" sz="2400" dirty="0" err="1">
                <a:solidFill>
                  <a:srgbClr val="428AC7"/>
                </a:solidFill>
                <a:latin typeface="Source Code Pro"/>
              </a:rPr>
              <a:t>any</a:t>
            </a:r>
            <a:r>
              <a:rPr lang="es-ES" altLang="es-ES" sz="2400" dirty="0">
                <a:solidFill>
                  <a:srgbClr val="428AC7"/>
                </a:solidFill>
                <a:latin typeface="Source Code Pro"/>
              </a:rPr>
              <a:t>&gt;</a:t>
            </a:r>
            <a:r>
              <a:rPr lang="es-ES" altLang="es-ES" sz="2400" dirty="0">
                <a:latin typeface="Open Sans"/>
              </a:rPr>
              <a:t>. </a:t>
            </a:r>
          </a:p>
          <a:p>
            <a:pPr lvl="1"/>
            <a:r>
              <a:rPr lang="es-ES" altLang="es-ES" sz="2000" dirty="0">
                <a:latin typeface="Open Sans"/>
              </a:rPr>
              <a:t>En este caso permite además </a:t>
            </a:r>
            <a:r>
              <a:rPr lang="es-ES" altLang="es-ES" sz="2000" i="1" dirty="0">
                <a:latin typeface="inherit"/>
              </a:rPr>
              <a:t>emitir</a:t>
            </a:r>
            <a:r>
              <a:rPr lang="es-ES" altLang="es-ES" sz="2000" dirty="0">
                <a:latin typeface="Open Sans"/>
              </a:rPr>
              <a:t> valores que recibirán los subscriptores. La suscripción puede realizarse directamente contra la instancia del </a:t>
            </a:r>
            <a:r>
              <a:rPr lang="es-ES" altLang="es-ES" sz="2000" dirty="0" err="1">
                <a:solidFill>
                  <a:srgbClr val="428AC7"/>
                </a:solidFill>
                <a:latin typeface="Source Code Pro"/>
              </a:rPr>
              <a:t>Subject</a:t>
            </a:r>
            <a:r>
              <a:rPr lang="es-ES" altLang="es-ES" sz="2000" dirty="0">
                <a:latin typeface="Open Sans"/>
              </a:rPr>
              <a:t>, pero lo recomendable es que dicha instancia sea privada y que sólo exponga una parte de su funcionalidad.</a:t>
            </a:r>
            <a:endParaRPr lang="es-ES" altLang="es-ES" sz="2000" dirty="0">
              <a:solidFill>
                <a:schemeClr val="tx1"/>
              </a:solidFill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6713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C9E7E-FD58-4764-BEBA-BA2EA65D1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El Token Interceptor </a:t>
            </a:r>
            <a:r>
              <a:rPr lang="es-ES" dirty="0" err="1"/>
              <a:t>Service</a:t>
            </a:r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05F74EC-67F7-4767-9EF8-C458CEB4B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altLang="es-ES" sz="2800" dirty="0">
                <a:latin typeface="Open Sans"/>
              </a:rPr>
              <a:t>Ya sólo falta consumir ese </a:t>
            </a:r>
            <a:r>
              <a:rPr lang="es-ES" altLang="es-ES" sz="2800" i="1" dirty="0">
                <a:latin typeface="inherit"/>
              </a:rPr>
              <a:t>Observable</a:t>
            </a:r>
            <a:r>
              <a:rPr lang="es-ES" altLang="es-ES" sz="2800" dirty="0">
                <a:latin typeface="Open Sans"/>
              </a:rPr>
              <a:t> en el servicio interceptor </a:t>
            </a:r>
            <a:r>
              <a:rPr lang="es-ES" altLang="es-ES" sz="2800" dirty="0">
                <a:solidFill>
                  <a:srgbClr val="428AC7"/>
                </a:solidFill>
                <a:latin typeface="Source Code Pro"/>
              </a:rPr>
              <a:t>token-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interceptor.service.ts</a:t>
            </a:r>
            <a:r>
              <a:rPr lang="es-ES" altLang="es-ES" sz="2800" dirty="0">
                <a:latin typeface="Open Sans"/>
              </a:rPr>
              <a:t>. Para ello nos suscribimos a los cambios emitidos desde el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StoreService</a:t>
            </a:r>
            <a:r>
              <a:rPr lang="es-ES" altLang="es-ES" sz="2800" dirty="0">
                <a:latin typeface="Open Sans"/>
              </a:rPr>
              <a:t> y guardamos el token que nos envíen para su uso posterior.</a:t>
            </a:r>
            <a:endParaRPr lang="es-ES" altLang="es-ES" sz="2800" dirty="0">
              <a:solidFill>
                <a:schemeClr val="tx1"/>
              </a:solidFill>
            </a:endParaRPr>
          </a:p>
          <a:p>
            <a:endParaRPr lang="es-ES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1CC3E9-8419-409E-A324-A65080D99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2" y="3048000"/>
            <a:ext cx="9599611" cy="246221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private token: string = "";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constructor(private store: StoreService)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this.subscribeToTokenChanges();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private subscribeToTokenChanges()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  this.store.getUserToken$().subscribe(this.setToken);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4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400" b="1" noProof="1">
                <a:latin typeface="Consolas" pitchFamily="49" charset="0"/>
                <a:cs typeface="Consolas" pitchFamily="49" charset="0"/>
              </a:rPr>
              <a:t>  private setToken = token =&gt; (this.token = token);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12190F4-D37B-428A-A95C-1AF13C6D9C45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LAB1d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0BE8D4C-B857-41A9-83A8-E8A36FB46453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C:\Labs\T8\EX1</a:t>
            </a:r>
          </a:p>
        </p:txBody>
      </p:sp>
    </p:spTree>
    <p:extLst>
      <p:ext uri="{BB962C8B-B14F-4D97-AF65-F5344CB8AC3E}">
        <p14:creationId xmlns:p14="http://schemas.microsoft.com/office/powerpoint/2010/main" val="2747082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8C5F23A-8DA3-4C70-86CB-BFADEECA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Vigilancia</a:t>
            </a:r>
          </a:p>
        </p:txBody>
      </p:sp>
    </p:spTree>
    <p:extLst>
      <p:ext uri="{BB962C8B-B14F-4D97-AF65-F5344CB8AC3E}">
        <p14:creationId xmlns:p14="http://schemas.microsoft.com/office/powerpoint/2010/main" val="500831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D47EF-B151-43A9-9183-890CA78A3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dirty="0"/>
              <a:t>El servicio </a:t>
            </a:r>
            <a:r>
              <a:rPr lang="es-ES" altLang="es-ES" dirty="0" err="1"/>
              <a:t>TokenInterceptorService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EDB6B2-BB3E-4BD5-A410-3D1FB1A65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982" y="1825624"/>
            <a:ext cx="3275230" cy="4803775"/>
          </a:xfrm>
        </p:spPr>
        <p:txBody>
          <a:bodyPr>
            <a:noAutofit/>
          </a:bodyPr>
          <a:lstStyle/>
          <a:p>
            <a:r>
              <a:rPr lang="es-ES" altLang="es-ES" sz="1800" dirty="0">
                <a:latin typeface="Open Sans"/>
              </a:rPr>
              <a:t>El servicio </a:t>
            </a:r>
            <a:r>
              <a:rPr lang="es-ES" altLang="es-ES" sz="1800" dirty="0" err="1">
                <a:solidFill>
                  <a:srgbClr val="428AC7"/>
                </a:solidFill>
                <a:latin typeface="Source Code Pro"/>
              </a:rPr>
              <a:t>TokenInterceptorService</a:t>
            </a:r>
            <a:r>
              <a:rPr lang="es-ES" altLang="es-ES" sz="1800" dirty="0">
                <a:latin typeface="Open Sans"/>
              </a:rPr>
              <a:t> se encarga de enviar el </a:t>
            </a:r>
            <a:r>
              <a:rPr lang="es-ES" altLang="es-ES" sz="1800" i="1" dirty="0">
                <a:latin typeface="inherit"/>
              </a:rPr>
              <a:t>token</a:t>
            </a:r>
            <a:r>
              <a:rPr lang="es-ES" altLang="es-ES" sz="1800" dirty="0">
                <a:latin typeface="Open Sans"/>
              </a:rPr>
              <a:t> actual en cada llamada que pasa por sus manos. </a:t>
            </a:r>
          </a:p>
          <a:p>
            <a:r>
              <a:rPr lang="es-ES" altLang="es-ES" sz="1800" dirty="0">
                <a:latin typeface="Open Sans"/>
              </a:rPr>
              <a:t>Para ello implementa la interfaz </a:t>
            </a:r>
            <a:r>
              <a:rPr lang="es-ES" altLang="es-ES" sz="1800" dirty="0" err="1">
                <a:solidFill>
                  <a:srgbClr val="428AC7"/>
                </a:solidFill>
                <a:latin typeface="Source Code Pro"/>
              </a:rPr>
              <a:t>HttpInterceptor</a:t>
            </a:r>
            <a:r>
              <a:rPr lang="es-ES" altLang="es-ES" sz="1800" dirty="0">
                <a:latin typeface="Open Sans"/>
              </a:rPr>
              <a:t> en su método </a:t>
            </a:r>
            <a:r>
              <a:rPr lang="es-ES" altLang="es-ES" sz="1800" dirty="0" err="1">
                <a:solidFill>
                  <a:srgbClr val="428AC7"/>
                </a:solidFill>
                <a:latin typeface="Source Code Pro"/>
              </a:rPr>
              <a:t>intercept</a:t>
            </a:r>
            <a:r>
              <a:rPr lang="es-ES" altLang="es-ES" sz="1800" dirty="0">
                <a:solidFill>
                  <a:srgbClr val="428AC7"/>
                </a:solidFill>
                <a:latin typeface="Source Code Pro"/>
              </a:rPr>
              <a:t>()</a:t>
            </a:r>
            <a:r>
              <a:rPr lang="es-ES" altLang="es-ES" sz="1800" dirty="0">
                <a:latin typeface="Open Sans"/>
              </a:rPr>
              <a:t> con la lógica suficiente para enviar el token en una cabecera acordada con el API. </a:t>
            </a:r>
          </a:p>
          <a:p>
            <a:r>
              <a:rPr lang="es-ES" altLang="es-ES" sz="1800" dirty="0">
                <a:latin typeface="Open Sans"/>
              </a:rPr>
              <a:t>En este caso uso la estándar </a:t>
            </a:r>
            <a:r>
              <a:rPr lang="es-ES" altLang="es-ES" sz="1800" dirty="0" err="1">
                <a:solidFill>
                  <a:srgbClr val="428AC7"/>
                </a:solidFill>
                <a:latin typeface="Source Code Pro"/>
              </a:rPr>
              <a:t>Authorization</a:t>
            </a:r>
            <a:r>
              <a:rPr lang="es-ES" altLang="es-ES" sz="1800" dirty="0">
                <a:latin typeface="Open Sans"/>
              </a:rPr>
              <a:t>.</a:t>
            </a:r>
            <a:endParaRPr lang="es-ES" altLang="es-ES" sz="18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6D37BF-ED3B-4C1E-B730-7EF92EB03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2" y="2057400"/>
            <a:ext cx="7613579" cy="403187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1600" b="1" noProof="1"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public intercept(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req: HttpRequest&lt;any&gt;,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next: HttpHandler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): Observable&lt;HttpEvent&lt;any&gt;&gt;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const authorizationReq = this.setAuthHeader(req);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const handledRequest = next.handle(authorizationReq);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return handledRequest;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private setAuthHeader(req: HttpRequest&lt;any&gt;): HttpRequest&lt;any&gt;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const authToken = `Bearer ${this.token}`;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const headers = req.headers.set("Authorization", authToken);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const authorizedReq = req.clone({ headers });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  return authorizedReq;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1600" b="1" noProof="1">
                <a:latin typeface="Consolas" pitchFamily="49" charset="0"/>
                <a:cs typeface="Consolas" pitchFamily="49" charset="0"/>
              </a:rPr>
              <a:t>  }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2364CA8-7A1E-497D-BB24-44EC2A3711EF}"/>
              </a:ext>
            </a:extLst>
          </p:cNvPr>
          <p:cNvSpPr/>
          <p:nvPr/>
        </p:nvSpPr>
        <p:spPr>
          <a:xfrm>
            <a:off x="10216035" y="180232"/>
            <a:ext cx="18219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LAB2a </a:t>
            </a:r>
            <a:endParaRPr lang="es-ES" sz="4800" dirty="0">
              <a:solidFill>
                <a:srgbClr val="FF0000"/>
              </a:solidFill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590018F-C38E-4E24-AF90-C5DCE0493350}"/>
              </a:ext>
            </a:extLst>
          </p:cNvPr>
          <p:cNvSpPr/>
          <p:nvPr/>
        </p:nvSpPr>
        <p:spPr>
          <a:xfrm>
            <a:off x="10366848" y="874318"/>
            <a:ext cx="16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C:\Labs\T8\EX1</a:t>
            </a:r>
          </a:p>
        </p:txBody>
      </p:sp>
    </p:spTree>
    <p:extLst>
      <p:ext uri="{BB962C8B-B14F-4D97-AF65-F5344CB8AC3E}">
        <p14:creationId xmlns:p14="http://schemas.microsoft.com/office/powerpoint/2010/main" val="4136680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FDF67-DEFB-4F31-8081-371B966B9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altLang="es-ES" dirty="0"/>
              <a:t>El servicio </a:t>
            </a:r>
            <a:r>
              <a:rPr lang="es-ES" altLang="es-ES" dirty="0" err="1"/>
              <a:t>TokenInterceptorService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29A3B1-C0C3-49A2-8C6D-0B001DE1E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altLang="es-ES" sz="2800" dirty="0">
                <a:latin typeface="Open Sans"/>
              </a:rPr>
              <a:t>A parte de toda la </a:t>
            </a:r>
            <a:r>
              <a:rPr lang="es-ES" altLang="es-ES" sz="2800" i="1" dirty="0">
                <a:latin typeface="inherit"/>
              </a:rPr>
              <a:t>liturgia</a:t>
            </a:r>
            <a:r>
              <a:rPr lang="es-ES" altLang="es-ES" sz="2800" dirty="0">
                <a:latin typeface="Open Sans"/>
              </a:rPr>
              <a:t> a la que nos obliga el </a:t>
            </a:r>
            <a:r>
              <a:rPr lang="es-ES" altLang="es-ES" sz="2800" dirty="0" err="1">
                <a:solidFill>
                  <a:srgbClr val="428AC7"/>
                </a:solidFill>
                <a:latin typeface="Source Code Pro"/>
              </a:rPr>
              <a:t>HttpInterceptor</a:t>
            </a:r>
            <a:r>
              <a:rPr lang="es-ES" altLang="es-ES" sz="2800" dirty="0">
                <a:latin typeface="Open Sans"/>
              </a:rPr>
              <a:t>, al final la lógica es sencilla. Se trata de rellenar la cabecera con el token actual. Si es o no válido es algo que decidirá el servidor. Aquí simplemente envías lo que tienes.</a:t>
            </a:r>
            <a:endParaRPr lang="es-ES" altLang="es-ES" sz="2800" dirty="0">
              <a:solidFill>
                <a:schemeClr val="tx1"/>
              </a:solidFill>
            </a:endParaRPr>
          </a:p>
          <a:p>
            <a:pPr fontAlgn="base"/>
            <a:r>
              <a:rPr lang="es-ES" sz="2800" dirty="0"/>
              <a:t>Ya tenemos al usuario identificado y los datos se envían o reciben acompañados de una cabecera que el servidor interpreta como una firma; lo básico para un sistema mínimamente seguro.</a:t>
            </a:r>
          </a:p>
          <a:p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527875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40E7A45-2B26-46C5-BC83-6A5E0546A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Biblio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FEBD5A-6DDC-420B-ACCF-DAA5E82D2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https://academia-binaria.com/</a:t>
            </a:r>
          </a:p>
          <a:p>
            <a:r>
              <a:rPr lang="en-US" dirty="0">
                <a:hlinkClick r:id="rId3"/>
              </a:rPr>
              <a:t>https://angular.io/guide/quickstart </a:t>
            </a:r>
            <a:endParaRPr lang="en-US" dirty="0"/>
          </a:p>
          <a:p>
            <a:r>
              <a:rPr lang="en-US" dirty="0">
                <a:hlinkClick r:id="rId4"/>
              </a:rPr>
              <a:t>http://bit.ly/fem-ng2-simple-app</a:t>
            </a:r>
            <a:endParaRPr lang="en-US" dirty="0"/>
          </a:p>
          <a:p>
            <a:r>
              <a:rPr lang="en-US" dirty="0">
                <a:hlinkClick r:id="rId5"/>
              </a:rPr>
              <a:t>https://www.slideshare.net/JoshuaBlack8/eswho-eswhat-eswow</a:t>
            </a:r>
            <a:endParaRPr lang="en-US" dirty="0"/>
          </a:p>
          <a:p>
            <a:r>
              <a:rPr lang="en-US" dirty="0">
                <a:hlinkClick r:id="rId6"/>
              </a:rPr>
              <a:t>https://angular.io/guide/styleguide</a:t>
            </a:r>
            <a:endParaRPr lang="en-US" dirty="0"/>
          </a:p>
          <a:p>
            <a:r>
              <a:rPr lang="en-US" dirty="0">
                <a:hlinkClick r:id="rId7"/>
              </a:rPr>
              <a:t>http://reactivex.io/rxjs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82177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746029" y="4384477"/>
            <a:ext cx="2689175" cy="908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929"/>
            <a:r>
              <a:rPr sz="5906" b="1" spc="-98" dirty="0">
                <a:latin typeface="Trebuchet MS"/>
                <a:cs typeface="Trebuchet MS"/>
              </a:rPr>
              <a:t>Thanks!</a:t>
            </a:r>
            <a:endParaRPr sz="5906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6365" y="1151930"/>
            <a:ext cx="3036094" cy="33664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266"/>
          </a:p>
        </p:txBody>
      </p:sp>
    </p:spTree>
    <p:extLst>
      <p:ext uri="{BB962C8B-B14F-4D97-AF65-F5344CB8AC3E}">
        <p14:creationId xmlns:p14="http://schemas.microsoft.com/office/powerpoint/2010/main" val="4038209184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Personalizado 1">
      <a:dk1>
        <a:srgbClr val="1B1D39"/>
      </a:dk1>
      <a:lt1>
        <a:sysClr val="window" lastClr="FFFFFF"/>
      </a:lt1>
      <a:dk2>
        <a:srgbClr val="F5C200"/>
      </a:dk2>
      <a:lt2>
        <a:srgbClr val="E7E6E6"/>
      </a:lt2>
      <a:accent1>
        <a:srgbClr val="F5C200"/>
      </a:accent1>
      <a:accent2>
        <a:srgbClr val="1B1D39"/>
      </a:accent2>
      <a:accent3>
        <a:srgbClr val="A5A5A5"/>
      </a:accent3>
      <a:accent4>
        <a:srgbClr val="FFC000"/>
      </a:accent4>
      <a:accent5>
        <a:srgbClr val="F5C200"/>
      </a:accent5>
      <a:accent6>
        <a:srgbClr val="F5C200"/>
      </a:accent6>
      <a:hlink>
        <a:srgbClr val="0563C1"/>
      </a:hlink>
      <a:folHlink>
        <a:srgbClr val="954F72"/>
      </a:folHlink>
    </a:clrScheme>
    <a:fontScheme name="TecnoFor">
      <a:majorFont>
        <a:latin typeface="Lexend Bold"/>
        <a:ea typeface="Helvetica"/>
        <a:cs typeface="Helvetica"/>
      </a:majorFont>
      <a:minorFont>
        <a:latin typeface="Lexend"/>
        <a:ea typeface="Arial"/>
        <a:cs typeface="Arial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6200">
          <a:solidFill>
            <a:srgbClr val="1C1E3B"/>
          </a:solidFill>
          <a:extLst>
            <a:ext uri="{C807C97D-BFC1-408E-A445-0C87EB9F89A2}">
              <ask:lineSketchStyleProps xmlns:ask="http://schemas.microsoft.com/office/drawing/2018/sketchyshapes">
                <ask:type>
                  <ask:lineSketchNone/>
                </ask:type>
              </ask:lineSketchStyleProps>
            </a:ext>
          </a:extLst>
        </a:ln>
      </a:spPr>
      <a:bodyPr lIns="72000" tIns="36000" rIns="72000" bIns="36000" rtlCol="0" anchor="ctr" anchorCtr="1"/>
      <a:lstStyle>
        <a:defPPr algn="ctr">
          <a:defRPr sz="4000" dirty="0">
            <a:solidFill>
              <a:srgbClr val="1C1E3B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2140</Words>
  <Application>Microsoft Office PowerPoint</Application>
  <PresentationFormat>Personalizado</PresentationFormat>
  <Paragraphs>318</Paragraphs>
  <Slides>23</Slides>
  <Notes>4</Notes>
  <HiddenSlides>5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5" baseType="lpstr">
      <vt:lpstr>Arial</vt:lpstr>
      <vt:lpstr>Calibri</vt:lpstr>
      <vt:lpstr>Consolas</vt:lpstr>
      <vt:lpstr>inherit</vt:lpstr>
      <vt:lpstr>Inter</vt:lpstr>
      <vt:lpstr>Lexend</vt:lpstr>
      <vt:lpstr>Lexend Bold</vt:lpstr>
      <vt:lpstr>Lexend Light</vt:lpstr>
      <vt:lpstr>Open Sans</vt:lpstr>
      <vt:lpstr>Source Code Pro</vt:lpstr>
      <vt:lpstr>Trebuchet MS</vt:lpstr>
      <vt:lpstr>1_Tema de Office</vt:lpstr>
      <vt:lpstr>Angular Vigilancia y seguridad en Angular</vt:lpstr>
      <vt:lpstr>Presentación de PowerPoint</vt:lpstr>
      <vt:lpstr>Intro</vt:lpstr>
      <vt:lpstr>Intro</vt:lpstr>
      <vt:lpstr>Seguridad</vt:lpstr>
      <vt:lpstr>Presentación de PowerPoint</vt:lpstr>
      <vt:lpstr>Presentación de PowerPoint</vt:lpstr>
      <vt:lpstr>Presentación de PowerPoint</vt:lpstr>
      <vt:lpstr>Presentación de PowerPoint</vt:lpstr>
      <vt:lpstr>Token</vt:lpstr>
      <vt:lpstr>Detectar intrusos</vt:lpstr>
      <vt:lpstr>Obtener credenciales</vt:lpstr>
      <vt:lpstr>Almacenamiento del token</vt:lpstr>
      <vt:lpstr>Almacenamiento del token</vt:lpstr>
      <vt:lpstr>El store service</vt:lpstr>
      <vt:lpstr>El Store service</vt:lpstr>
      <vt:lpstr>El Store service</vt:lpstr>
      <vt:lpstr>El Token Interceptor Service</vt:lpstr>
      <vt:lpstr>Vigilancia</vt:lpstr>
      <vt:lpstr>El servicio TokenInterceptorService</vt:lpstr>
      <vt:lpstr>El servicio TokenInterceptorService</vt:lpstr>
      <vt:lpstr>Biblio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>Software Development Course</dc:subject>
  <dc:creator/>
  <cp:keywords>Template</cp:keywords>
  <dc:description>Software University Foundation - http://softuni.org</dc:description>
  <cp:lastModifiedBy/>
  <cp:revision>1</cp:revision>
  <dcterms:created xsi:type="dcterms:W3CDTF">2014-01-02T17:00:34Z</dcterms:created>
  <dcterms:modified xsi:type="dcterms:W3CDTF">2023-10-06T09:08:03Z</dcterms:modified>
  <cp:category>Template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